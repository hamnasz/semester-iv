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3" r:id="rId2"/>
    <p:sldId id="259" r:id="rId3"/>
    <p:sldId id="843" r:id="rId4"/>
    <p:sldId id="844" r:id="rId5"/>
    <p:sldId id="842" r:id="rId6"/>
    <p:sldId id="845" r:id="rId7"/>
    <p:sldId id="846" r:id="rId8"/>
    <p:sldId id="832" r:id="rId9"/>
    <p:sldId id="833" r:id="rId10"/>
    <p:sldId id="834" r:id="rId11"/>
    <p:sldId id="835" r:id="rId12"/>
    <p:sldId id="836" r:id="rId13"/>
    <p:sldId id="847" r:id="rId14"/>
    <p:sldId id="277" r:id="rId15"/>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2A2A"/>
    <a:srgbClr val="C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375" autoAdjust="0"/>
    <p:restoredTop sz="94660"/>
  </p:normalViewPr>
  <p:slideViewPr>
    <p:cSldViewPr snapToGrid="0">
      <p:cViewPr varScale="1">
        <p:scale>
          <a:sx n="86" d="100"/>
          <a:sy n="86" d="100"/>
        </p:scale>
        <p:origin x="63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F304D-9FBF-4B4D-AB5C-790149BB44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000C0F5D-325B-4660-8632-EBB9EC084D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3FBC7CD5-CB98-4F1C-8F4E-14A8F9EE1811}"/>
              </a:ext>
            </a:extLst>
          </p:cNvPr>
          <p:cNvSpPr>
            <a:spLocks noGrp="1"/>
          </p:cNvSpPr>
          <p:nvPr>
            <p:ph type="dt" sz="half" idx="10"/>
          </p:nvPr>
        </p:nvSpPr>
        <p:spPr/>
        <p:txBody>
          <a:bodyPr/>
          <a:lstStyle/>
          <a:p>
            <a:fld id="{3237A82C-AEEE-48DB-A866-3B1CA0AC9D5D}" type="datetimeFigureOut">
              <a:rPr lang="en-PK" smtClean="0"/>
              <a:t>04/05/2025</a:t>
            </a:fld>
            <a:endParaRPr lang="en-PK"/>
          </a:p>
        </p:txBody>
      </p:sp>
      <p:sp>
        <p:nvSpPr>
          <p:cNvPr id="5" name="Footer Placeholder 4">
            <a:extLst>
              <a:ext uri="{FF2B5EF4-FFF2-40B4-BE49-F238E27FC236}">
                <a16:creationId xmlns:a16="http://schemas.microsoft.com/office/drawing/2014/main" id="{9DA69AAB-D032-4740-999C-6FECB3BEC83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F1F2CE2C-3FF8-4ED5-9A0F-6E35B87E8B6F}"/>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1683214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11BF5-D802-48A8-8681-E64C843E4622}"/>
              </a:ext>
            </a:extLst>
          </p:cNvPr>
          <p:cNvSpPr>
            <a:spLocks noGrp="1"/>
          </p:cNvSpPr>
          <p:nvPr>
            <p:ph type="title"/>
          </p:nvPr>
        </p:nvSpPr>
        <p:spPr/>
        <p:txBody>
          <a:bodyPr/>
          <a:lstStyle/>
          <a:p>
            <a:r>
              <a:rPr lang="en-US" dirty="0"/>
              <a:t>Click to edit Master title style</a:t>
            </a:r>
            <a:endParaRPr lang="en-PK" dirty="0"/>
          </a:p>
        </p:txBody>
      </p:sp>
      <p:sp>
        <p:nvSpPr>
          <p:cNvPr id="3" name="Content Placeholder 2">
            <a:extLst>
              <a:ext uri="{FF2B5EF4-FFF2-40B4-BE49-F238E27FC236}">
                <a16:creationId xmlns:a16="http://schemas.microsoft.com/office/drawing/2014/main" id="{4D563E54-C420-46A7-95A3-D26D99CE95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9E21E6C-72DA-4925-94EE-0D245623B79C}"/>
              </a:ext>
            </a:extLst>
          </p:cNvPr>
          <p:cNvSpPr>
            <a:spLocks noGrp="1"/>
          </p:cNvSpPr>
          <p:nvPr>
            <p:ph type="dt" sz="half" idx="10"/>
          </p:nvPr>
        </p:nvSpPr>
        <p:spPr/>
        <p:txBody>
          <a:bodyPr/>
          <a:lstStyle/>
          <a:p>
            <a:fld id="{3237A82C-AEEE-48DB-A866-3B1CA0AC9D5D}" type="datetimeFigureOut">
              <a:rPr lang="en-PK" smtClean="0"/>
              <a:t>04/05/2025</a:t>
            </a:fld>
            <a:endParaRPr lang="en-PK"/>
          </a:p>
        </p:txBody>
      </p:sp>
      <p:sp>
        <p:nvSpPr>
          <p:cNvPr id="5" name="Footer Placeholder 4">
            <a:extLst>
              <a:ext uri="{FF2B5EF4-FFF2-40B4-BE49-F238E27FC236}">
                <a16:creationId xmlns:a16="http://schemas.microsoft.com/office/drawing/2014/main" id="{E316D8A9-019D-413B-8A1E-F14D6EE3561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6050099F-8C38-444A-A7F8-21336A623DAA}"/>
              </a:ext>
            </a:extLst>
          </p:cNvPr>
          <p:cNvSpPr>
            <a:spLocks noGrp="1"/>
          </p:cNvSpPr>
          <p:nvPr>
            <p:ph type="sldNum" sz="quarter" idx="12"/>
          </p:nvPr>
        </p:nvSpPr>
        <p:spPr/>
        <p:txBody>
          <a:bodyPr/>
          <a:lstStyle/>
          <a:p>
            <a:fld id="{6EB9F7D7-3C9C-4146-9FA1-B77DEB44278D}" type="slidenum">
              <a:rPr lang="en-PK" smtClean="0"/>
              <a:t>‹#›</a:t>
            </a:fld>
            <a:endParaRPr lang="en-PK"/>
          </a:p>
        </p:txBody>
      </p:sp>
      <p:grpSp>
        <p:nvGrpSpPr>
          <p:cNvPr id="7" name="Group 6">
            <a:extLst>
              <a:ext uri="{FF2B5EF4-FFF2-40B4-BE49-F238E27FC236}">
                <a16:creationId xmlns:a16="http://schemas.microsoft.com/office/drawing/2014/main" id="{F0218E89-FE91-00B4-51A7-30EDB0077FF4}"/>
              </a:ext>
            </a:extLst>
          </p:cNvPr>
          <p:cNvGrpSpPr/>
          <p:nvPr userDrawn="1"/>
        </p:nvGrpSpPr>
        <p:grpSpPr>
          <a:xfrm>
            <a:off x="0" y="0"/>
            <a:ext cx="12749348" cy="1115736"/>
            <a:chOff x="0" y="0"/>
            <a:chExt cx="12749348" cy="1115736"/>
          </a:xfrm>
        </p:grpSpPr>
        <p:sp>
          <p:nvSpPr>
            <p:cNvPr id="8" name="Rectangle 7">
              <a:extLst>
                <a:ext uri="{FF2B5EF4-FFF2-40B4-BE49-F238E27FC236}">
                  <a16:creationId xmlns:a16="http://schemas.microsoft.com/office/drawing/2014/main" id="{E37595A1-2135-3D78-300B-6424FD5AED4E}"/>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9" name="Picture 8">
              <a:extLst>
                <a:ext uri="{FF2B5EF4-FFF2-40B4-BE49-F238E27FC236}">
                  <a16:creationId xmlns:a16="http://schemas.microsoft.com/office/drawing/2014/main" id="{EBEB6545-D48A-0447-0BA5-0656B10AF9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0" name="TextBox 9">
              <a:extLst>
                <a:ext uri="{FF2B5EF4-FFF2-40B4-BE49-F238E27FC236}">
                  <a16:creationId xmlns:a16="http://schemas.microsoft.com/office/drawing/2014/main" id="{180CE087-3B89-F374-6DAC-24EEEF115F4B}"/>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1" name="Graphic 10">
              <a:extLst>
                <a:ext uri="{FF2B5EF4-FFF2-40B4-BE49-F238E27FC236}">
                  <a16:creationId xmlns:a16="http://schemas.microsoft.com/office/drawing/2014/main" id="{D59E33EF-663A-D56C-12B7-28125E3082D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12" name="TextBox 11">
              <a:extLst>
                <a:ext uri="{FF2B5EF4-FFF2-40B4-BE49-F238E27FC236}">
                  <a16:creationId xmlns:a16="http://schemas.microsoft.com/office/drawing/2014/main" id="{BC576DC8-6A73-451C-8C8B-8BC1A853D76E}"/>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3" name="Graphic 12">
              <a:extLst>
                <a:ext uri="{FF2B5EF4-FFF2-40B4-BE49-F238E27FC236}">
                  <a16:creationId xmlns:a16="http://schemas.microsoft.com/office/drawing/2014/main" id="{B3544839-1D07-040D-FC86-44ED873A095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4" name="Picture 13">
              <a:extLst>
                <a:ext uri="{FF2B5EF4-FFF2-40B4-BE49-F238E27FC236}">
                  <a16:creationId xmlns:a16="http://schemas.microsoft.com/office/drawing/2014/main" id="{7A9CA787-F66D-BEAC-0010-024AE8FB388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3175964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43EB3-C47B-49A1-BB67-347B61A6D7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61CE9B96-3C04-415D-86F4-32630CB36F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7AA9B9-E771-49B5-9E2D-06EAF24C17E6}"/>
              </a:ext>
            </a:extLst>
          </p:cNvPr>
          <p:cNvSpPr>
            <a:spLocks noGrp="1"/>
          </p:cNvSpPr>
          <p:nvPr>
            <p:ph type="dt" sz="half" idx="10"/>
          </p:nvPr>
        </p:nvSpPr>
        <p:spPr/>
        <p:txBody>
          <a:bodyPr/>
          <a:lstStyle/>
          <a:p>
            <a:fld id="{3237A82C-AEEE-48DB-A866-3B1CA0AC9D5D}" type="datetimeFigureOut">
              <a:rPr lang="en-PK" smtClean="0"/>
              <a:t>04/05/2025</a:t>
            </a:fld>
            <a:endParaRPr lang="en-PK"/>
          </a:p>
        </p:txBody>
      </p:sp>
      <p:sp>
        <p:nvSpPr>
          <p:cNvPr id="5" name="Footer Placeholder 4">
            <a:extLst>
              <a:ext uri="{FF2B5EF4-FFF2-40B4-BE49-F238E27FC236}">
                <a16:creationId xmlns:a16="http://schemas.microsoft.com/office/drawing/2014/main" id="{5AE7F1A7-FFC1-4BDE-908E-7A849372FAFE}"/>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6BE47FAB-5890-41CE-8DA9-CB5788221706}"/>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3464982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98E66-B67C-4351-89B6-A169553C061C}"/>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5C791AA4-B785-4E02-B612-05E57B25A9E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E410E598-0767-477D-B9E8-2BCCF5C5114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B86D8C23-6B26-4B19-BEEB-7AEFC2A18F66}"/>
              </a:ext>
            </a:extLst>
          </p:cNvPr>
          <p:cNvSpPr>
            <a:spLocks noGrp="1"/>
          </p:cNvSpPr>
          <p:nvPr>
            <p:ph type="dt" sz="half" idx="10"/>
          </p:nvPr>
        </p:nvSpPr>
        <p:spPr/>
        <p:txBody>
          <a:bodyPr/>
          <a:lstStyle/>
          <a:p>
            <a:fld id="{3237A82C-AEEE-48DB-A866-3B1CA0AC9D5D}" type="datetimeFigureOut">
              <a:rPr lang="en-PK" smtClean="0"/>
              <a:t>04/05/2025</a:t>
            </a:fld>
            <a:endParaRPr lang="en-PK"/>
          </a:p>
        </p:txBody>
      </p:sp>
      <p:sp>
        <p:nvSpPr>
          <p:cNvPr id="6" name="Footer Placeholder 5">
            <a:extLst>
              <a:ext uri="{FF2B5EF4-FFF2-40B4-BE49-F238E27FC236}">
                <a16:creationId xmlns:a16="http://schemas.microsoft.com/office/drawing/2014/main" id="{E8CB8FE9-ABD0-4AA5-986C-BC29ECC4F014}"/>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147F8042-F61C-495E-8C35-E7989AA7EE9D}"/>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2561973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21205-E47B-4E88-8DFD-1C6071B7AD79}"/>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7C64C0F1-91A6-4158-8855-0C72083701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AB615B-6DBF-4632-94D0-3791085A6C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B7CB3133-8FE9-4883-B870-D642C1DF03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8078B5-E153-4D81-A163-C758FDB897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D5D200C8-3958-4AE2-85B4-16A6511DDDE9}"/>
              </a:ext>
            </a:extLst>
          </p:cNvPr>
          <p:cNvSpPr>
            <a:spLocks noGrp="1"/>
          </p:cNvSpPr>
          <p:nvPr>
            <p:ph type="dt" sz="half" idx="10"/>
          </p:nvPr>
        </p:nvSpPr>
        <p:spPr/>
        <p:txBody>
          <a:bodyPr/>
          <a:lstStyle/>
          <a:p>
            <a:fld id="{3237A82C-AEEE-48DB-A866-3B1CA0AC9D5D}" type="datetimeFigureOut">
              <a:rPr lang="en-PK" smtClean="0"/>
              <a:t>04/05/2025</a:t>
            </a:fld>
            <a:endParaRPr lang="en-PK"/>
          </a:p>
        </p:txBody>
      </p:sp>
      <p:sp>
        <p:nvSpPr>
          <p:cNvPr id="8" name="Footer Placeholder 7">
            <a:extLst>
              <a:ext uri="{FF2B5EF4-FFF2-40B4-BE49-F238E27FC236}">
                <a16:creationId xmlns:a16="http://schemas.microsoft.com/office/drawing/2014/main" id="{6A253149-4D4C-46D5-8100-4A3D9F41B000}"/>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65B7D50A-B373-419E-9BDA-973DC1118760}"/>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2276628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3C455-2666-47C6-BF3E-44EE0A2900AC}"/>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2BCDB8A3-54C9-4DF0-AF58-847CC781E947}"/>
              </a:ext>
            </a:extLst>
          </p:cNvPr>
          <p:cNvSpPr>
            <a:spLocks noGrp="1"/>
          </p:cNvSpPr>
          <p:nvPr>
            <p:ph type="dt" sz="half" idx="10"/>
          </p:nvPr>
        </p:nvSpPr>
        <p:spPr/>
        <p:txBody>
          <a:bodyPr/>
          <a:lstStyle/>
          <a:p>
            <a:fld id="{3237A82C-AEEE-48DB-A866-3B1CA0AC9D5D}" type="datetimeFigureOut">
              <a:rPr lang="en-PK" smtClean="0"/>
              <a:t>04/05/2025</a:t>
            </a:fld>
            <a:endParaRPr lang="en-PK"/>
          </a:p>
        </p:txBody>
      </p:sp>
      <p:sp>
        <p:nvSpPr>
          <p:cNvPr id="4" name="Footer Placeholder 3">
            <a:extLst>
              <a:ext uri="{FF2B5EF4-FFF2-40B4-BE49-F238E27FC236}">
                <a16:creationId xmlns:a16="http://schemas.microsoft.com/office/drawing/2014/main" id="{CB3A80F5-1CBF-45BD-A6AD-6BE98C141DE2}"/>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67E03123-314A-4412-8618-E5C45344E1D4}"/>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3214327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FC5179-D82F-40FA-BF21-7AA507CE0823}"/>
              </a:ext>
            </a:extLst>
          </p:cNvPr>
          <p:cNvSpPr>
            <a:spLocks noGrp="1"/>
          </p:cNvSpPr>
          <p:nvPr>
            <p:ph type="dt" sz="half" idx="10"/>
          </p:nvPr>
        </p:nvSpPr>
        <p:spPr/>
        <p:txBody>
          <a:bodyPr/>
          <a:lstStyle/>
          <a:p>
            <a:fld id="{3237A82C-AEEE-48DB-A866-3B1CA0AC9D5D}" type="datetimeFigureOut">
              <a:rPr lang="en-PK" smtClean="0"/>
              <a:t>04/05/2025</a:t>
            </a:fld>
            <a:endParaRPr lang="en-PK"/>
          </a:p>
        </p:txBody>
      </p:sp>
      <p:sp>
        <p:nvSpPr>
          <p:cNvPr id="3" name="Footer Placeholder 2">
            <a:extLst>
              <a:ext uri="{FF2B5EF4-FFF2-40B4-BE49-F238E27FC236}">
                <a16:creationId xmlns:a16="http://schemas.microsoft.com/office/drawing/2014/main" id="{C1CC15DB-F842-49C3-B55B-A16E3884385C}"/>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38FDBBF2-4194-4BEA-AC76-A5704F3BBC05}"/>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3140227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38F8C-D3DE-403C-AF37-746C3367B6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58DF2B9D-4546-43D6-91C9-FFB86CF4EA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BF656608-3C52-495D-A214-A55C36D003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98E0AF-DD29-4C26-82C8-ACF8330BE670}"/>
              </a:ext>
            </a:extLst>
          </p:cNvPr>
          <p:cNvSpPr>
            <a:spLocks noGrp="1"/>
          </p:cNvSpPr>
          <p:nvPr>
            <p:ph type="dt" sz="half" idx="10"/>
          </p:nvPr>
        </p:nvSpPr>
        <p:spPr/>
        <p:txBody>
          <a:bodyPr/>
          <a:lstStyle/>
          <a:p>
            <a:fld id="{3237A82C-AEEE-48DB-A866-3B1CA0AC9D5D}" type="datetimeFigureOut">
              <a:rPr lang="en-PK" smtClean="0"/>
              <a:t>04/05/2025</a:t>
            </a:fld>
            <a:endParaRPr lang="en-PK"/>
          </a:p>
        </p:txBody>
      </p:sp>
      <p:sp>
        <p:nvSpPr>
          <p:cNvPr id="6" name="Footer Placeholder 5">
            <a:extLst>
              <a:ext uri="{FF2B5EF4-FFF2-40B4-BE49-F238E27FC236}">
                <a16:creationId xmlns:a16="http://schemas.microsoft.com/office/drawing/2014/main" id="{5BC35345-7A18-4D42-9681-50058B9D5D58}"/>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BCB22563-5A9D-4035-99DC-A96787B7BEA2}"/>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4221264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E83F7-E36A-48E5-8DCA-087E21BBE4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822A8EBF-99DA-4706-BCCE-9EBA54596A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124EF8FC-B1A6-401C-9069-13842D8C8A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A73258-FD4E-43EE-BF6C-3DADDEA90459}"/>
              </a:ext>
            </a:extLst>
          </p:cNvPr>
          <p:cNvSpPr>
            <a:spLocks noGrp="1"/>
          </p:cNvSpPr>
          <p:nvPr>
            <p:ph type="dt" sz="half" idx="10"/>
          </p:nvPr>
        </p:nvSpPr>
        <p:spPr/>
        <p:txBody>
          <a:bodyPr/>
          <a:lstStyle/>
          <a:p>
            <a:fld id="{3237A82C-AEEE-48DB-A866-3B1CA0AC9D5D}" type="datetimeFigureOut">
              <a:rPr lang="en-PK" smtClean="0"/>
              <a:t>04/05/2025</a:t>
            </a:fld>
            <a:endParaRPr lang="en-PK"/>
          </a:p>
        </p:txBody>
      </p:sp>
      <p:sp>
        <p:nvSpPr>
          <p:cNvPr id="6" name="Footer Placeholder 5">
            <a:extLst>
              <a:ext uri="{FF2B5EF4-FFF2-40B4-BE49-F238E27FC236}">
                <a16:creationId xmlns:a16="http://schemas.microsoft.com/office/drawing/2014/main" id="{170AB588-D788-4246-8BC5-FC3FB748507C}"/>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E7FFFD2F-0AC3-4390-8990-6C3DDE5525F5}"/>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916293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9B165-E271-4702-AC6D-63BC723EAB6A}"/>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1555CA41-5CBD-4E65-95AA-B3EFB8BD3B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E19ACED0-31DD-4C4F-B63A-02250626EB2F}"/>
              </a:ext>
            </a:extLst>
          </p:cNvPr>
          <p:cNvSpPr>
            <a:spLocks noGrp="1"/>
          </p:cNvSpPr>
          <p:nvPr>
            <p:ph type="dt" sz="half" idx="10"/>
          </p:nvPr>
        </p:nvSpPr>
        <p:spPr/>
        <p:txBody>
          <a:bodyPr/>
          <a:lstStyle/>
          <a:p>
            <a:fld id="{3237A82C-AEEE-48DB-A866-3B1CA0AC9D5D}" type="datetimeFigureOut">
              <a:rPr lang="en-PK" smtClean="0"/>
              <a:t>04/05/2025</a:t>
            </a:fld>
            <a:endParaRPr lang="en-PK"/>
          </a:p>
        </p:txBody>
      </p:sp>
      <p:sp>
        <p:nvSpPr>
          <p:cNvPr id="5" name="Footer Placeholder 4">
            <a:extLst>
              <a:ext uri="{FF2B5EF4-FFF2-40B4-BE49-F238E27FC236}">
                <a16:creationId xmlns:a16="http://schemas.microsoft.com/office/drawing/2014/main" id="{A995553D-FD7D-4432-BC5C-F78462D738A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31E46CDF-12B4-4900-A154-E219D22E95BB}"/>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57631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29BF1E-BE8B-4353-B936-AE8071F91CD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DB322873-176A-4EA9-9941-DC9941F475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DD35E231-43A9-48DA-833A-A8750A6CA7EC}"/>
              </a:ext>
            </a:extLst>
          </p:cNvPr>
          <p:cNvSpPr>
            <a:spLocks noGrp="1"/>
          </p:cNvSpPr>
          <p:nvPr>
            <p:ph type="dt" sz="half" idx="10"/>
          </p:nvPr>
        </p:nvSpPr>
        <p:spPr/>
        <p:txBody>
          <a:bodyPr/>
          <a:lstStyle/>
          <a:p>
            <a:fld id="{3237A82C-AEEE-48DB-A866-3B1CA0AC9D5D}" type="datetimeFigureOut">
              <a:rPr lang="en-PK" smtClean="0"/>
              <a:t>04/05/2025</a:t>
            </a:fld>
            <a:endParaRPr lang="en-PK"/>
          </a:p>
        </p:txBody>
      </p:sp>
      <p:sp>
        <p:nvSpPr>
          <p:cNvPr id="5" name="Footer Placeholder 4">
            <a:extLst>
              <a:ext uri="{FF2B5EF4-FFF2-40B4-BE49-F238E27FC236}">
                <a16:creationId xmlns:a16="http://schemas.microsoft.com/office/drawing/2014/main" id="{00B07A8C-6932-4260-BAAA-DBE1B12880FA}"/>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FAFE6F17-3B9F-4C75-98BF-F79F5D018AEB}"/>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42108414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media/image5.svg"/><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sv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339B51-54CA-49F5-8966-F46D83C422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2519CFAA-AD75-4697-91AC-85CEC6C6B2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54127230-2512-4F28-A281-14854D1474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37A82C-AEEE-48DB-A866-3B1CA0AC9D5D}" type="datetimeFigureOut">
              <a:rPr lang="en-PK" smtClean="0"/>
              <a:t>04/05/2025</a:t>
            </a:fld>
            <a:endParaRPr lang="en-PK"/>
          </a:p>
        </p:txBody>
      </p:sp>
      <p:sp>
        <p:nvSpPr>
          <p:cNvPr id="5" name="Footer Placeholder 4">
            <a:extLst>
              <a:ext uri="{FF2B5EF4-FFF2-40B4-BE49-F238E27FC236}">
                <a16:creationId xmlns:a16="http://schemas.microsoft.com/office/drawing/2014/main" id="{4FD06234-7A7A-4EED-8F6D-3D8EBC2D1F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AA549BF4-1286-4C31-9FB5-ED9DDFE1E6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B9F7D7-3C9C-4146-9FA1-B77DEB44278D}" type="slidenum">
              <a:rPr lang="en-PK" smtClean="0"/>
              <a:t>‹#›</a:t>
            </a:fld>
            <a:endParaRPr lang="en-PK"/>
          </a:p>
        </p:txBody>
      </p:sp>
      <p:grpSp>
        <p:nvGrpSpPr>
          <p:cNvPr id="7" name="Group 6">
            <a:extLst>
              <a:ext uri="{FF2B5EF4-FFF2-40B4-BE49-F238E27FC236}">
                <a16:creationId xmlns:a16="http://schemas.microsoft.com/office/drawing/2014/main" id="{B19BF24E-8857-15FB-35DC-63E8E05BDC44}"/>
              </a:ext>
            </a:extLst>
          </p:cNvPr>
          <p:cNvGrpSpPr/>
          <p:nvPr userDrawn="1"/>
        </p:nvGrpSpPr>
        <p:grpSpPr>
          <a:xfrm>
            <a:off x="0" y="0"/>
            <a:ext cx="12749348" cy="1115736"/>
            <a:chOff x="0" y="0"/>
            <a:chExt cx="12749348" cy="1115736"/>
          </a:xfrm>
        </p:grpSpPr>
        <p:sp>
          <p:nvSpPr>
            <p:cNvPr id="8" name="Rectangle 7">
              <a:extLst>
                <a:ext uri="{FF2B5EF4-FFF2-40B4-BE49-F238E27FC236}">
                  <a16:creationId xmlns:a16="http://schemas.microsoft.com/office/drawing/2014/main" id="{D73BBF49-CEAD-EB1E-4F95-D8617074BCBF}"/>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9" name="Picture 8">
              <a:extLst>
                <a:ext uri="{FF2B5EF4-FFF2-40B4-BE49-F238E27FC236}">
                  <a16:creationId xmlns:a16="http://schemas.microsoft.com/office/drawing/2014/main" id="{5179C005-0F7F-3F16-56A7-110BCB515BDA}"/>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0" name="TextBox 9">
              <a:extLst>
                <a:ext uri="{FF2B5EF4-FFF2-40B4-BE49-F238E27FC236}">
                  <a16:creationId xmlns:a16="http://schemas.microsoft.com/office/drawing/2014/main" id="{8FE68011-1363-83B0-5E92-A0541D3016C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1" name="Graphic 10">
              <a:extLst>
                <a:ext uri="{FF2B5EF4-FFF2-40B4-BE49-F238E27FC236}">
                  <a16:creationId xmlns:a16="http://schemas.microsoft.com/office/drawing/2014/main" id="{74624E39-ED07-3779-81D7-346EFACDFF0D}"/>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12" name="TextBox 11">
              <a:extLst>
                <a:ext uri="{FF2B5EF4-FFF2-40B4-BE49-F238E27FC236}">
                  <a16:creationId xmlns:a16="http://schemas.microsoft.com/office/drawing/2014/main" id="{4C3B84DB-A1EC-D7DD-EDFF-3EA1DE840F44}"/>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3" name="Graphic 12">
              <a:extLst>
                <a:ext uri="{FF2B5EF4-FFF2-40B4-BE49-F238E27FC236}">
                  <a16:creationId xmlns:a16="http://schemas.microsoft.com/office/drawing/2014/main" id="{7C8D8347-E136-3293-DD8A-B522E9102E50}"/>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14" name="Picture 13">
              <a:extLst>
                <a:ext uri="{FF2B5EF4-FFF2-40B4-BE49-F238E27FC236}">
                  <a16:creationId xmlns:a16="http://schemas.microsoft.com/office/drawing/2014/main" id="{AB363484-B7E9-D079-335D-5D969BC6C82C}"/>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40133889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EF21E1-2D98-4671-AEAF-A201BC9C40D1}"/>
              </a:ext>
            </a:extLst>
          </p:cNvPr>
          <p:cNvSpPr/>
          <p:nvPr/>
        </p:nvSpPr>
        <p:spPr>
          <a:xfrm>
            <a:off x="0" y="0"/>
            <a:ext cx="12192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5946CD5F-621C-4899-B8C5-417BE3F1ECD0}"/>
              </a:ext>
            </a:extLst>
          </p:cNvPr>
          <p:cNvSpPr>
            <a:spLocks noGrp="1"/>
          </p:cNvSpPr>
          <p:nvPr>
            <p:ph type="ctrTitle"/>
          </p:nvPr>
        </p:nvSpPr>
        <p:spPr>
          <a:xfrm>
            <a:off x="-162787" y="710215"/>
            <a:ext cx="12354787" cy="2545748"/>
          </a:xfrm>
        </p:spPr>
        <p:txBody>
          <a:bodyPr>
            <a:normAutofit fontScale="90000"/>
          </a:bodyPr>
          <a:lstStyle/>
          <a:p>
            <a:r>
              <a:rPr lang="en-US" b="1" dirty="0">
                <a:solidFill>
                  <a:schemeClr val="bg1"/>
                </a:solidFill>
                <a:latin typeface="Bahnschrift" panose="020B0502040204020203" pitchFamily="34" charset="0"/>
              </a:rPr>
              <a:t>Socialism, Introduction ,Definitions &amp;</a:t>
            </a:r>
            <a:br>
              <a:rPr lang="en-US" b="1" dirty="0">
                <a:solidFill>
                  <a:schemeClr val="bg1"/>
                </a:solidFill>
                <a:latin typeface="Bahnschrift" panose="020B0502040204020203" pitchFamily="34" charset="0"/>
              </a:rPr>
            </a:br>
            <a:r>
              <a:rPr lang="en-US" b="1" dirty="0">
                <a:solidFill>
                  <a:schemeClr val="bg1"/>
                </a:solidFill>
                <a:latin typeface="Bahnschrift" panose="020B0502040204020203" pitchFamily="34" charset="0"/>
              </a:rPr>
              <a:t> its Benefits and Drawbacks</a:t>
            </a:r>
            <a:br>
              <a:rPr lang="en-US" b="1" dirty="0">
                <a:solidFill>
                  <a:schemeClr val="bg1"/>
                </a:solidFill>
                <a:latin typeface="Bahnschrift" panose="020B0502040204020203" pitchFamily="34" charset="0"/>
              </a:rPr>
            </a:br>
            <a:endParaRPr lang="en-GB" dirty="0"/>
          </a:p>
        </p:txBody>
      </p:sp>
      <p:sp>
        <p:nvSpPr>
          <p:cNvPr id="3" name="Subtitle 2">
            <a:extLst>
              <a:ext uri="{FF2B5EF4-FFF2-40B4-BE49-F238E27FC236}">
                <a16:creationId xmlns:a16="http://schemas.microsoft.com/office/drawing/2014/main" id="{EC406DBB-5AF5-48F8-9377-D0A0ACE9B10B}"/>
              </a:ext>
            </a:extLst>
          </p:cNvPr>
          <p:cNvSpPr>
            <a:spLocks noGrp="1"/>
          </p:cNvSpPr>
          <p:nvPr>
            <p:ph type="subTitle" idx="1"/>
          </p:nvPr>
        </p:nvSpPr>
        <p:spPr>
          <a:xfrm>
            <a:off x="3694922" y="3602038"/>
            <a:ext cx="7557796" cy="1153160"/>
          </a:xfrm>
        </p:spPr>
        <p:txBody>
          <a:bodyPr>
            <a:noAutofit/>
          </a:bodyPr>
          <a:lstStyle/>
          <a:p>
            <a:pPr algn="l"/>
            <a:r>
              <a:rPr lang="en-GB" sz="3600" b="1" dirty="0">
                <a:solidFill>
                  <a:schemeClr val="bg1"/>
                </a:solidFill>
                <a:latin typeface="Bahnschrift" panose="020B0502040204020203" pitchFamily="34" charset="0"/>
              </a:rPr>
              <a:t>Economics in Islamic Perspective</a:t>
            </a:r>
          </a:p>
          <a:p>
            <a:r>
              <a:rPr lang="en-GB" sz="3600" b="1" dirty="0">
                <a:solidFill>
                  <a:schemeClr val="bg1"/>
                </a:solidFill>
                <a:latin typeface="Bahnschrift" panose="020B0502040204020203" pitchFamily="34" charset="0"/>
                <a:cs typeface="Arial" panose="020B0604020202020204" pitchFamily="34" charset="0"/>
              </a:rPr>
              <a:t>Lecture No: 6</a:t>
            </a:r>
            <a:endParaRPr lang="en-GB" sz="3600" b="1" dirty="0">
              <a:solidFill>
                <a:schemeClr val="bg2"/>
              </a:solidFill>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6DA394B8-F89E-45AC-9E3F-FEC161BFAFAB}"/>
              </a:ext>
            </a:extLst>
          </p:cNvPr>
          <p:cNvSpPr txBox="1">
            <a:spLocks/>
          </p:cNvSpPr>
          <p:nvPr/>
        </p:nvSpPr>
        <p:spPr>
          <a:xfrm>
            <a:off x="1158240" y="5331778"/>
            <a:ext cx="2828544" cy="719138"/>
          </a:xfrm>
          <a:prstGeom prst="rect">
            <a:avLst/>
          </a:prstGeom>
          <a:no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GB" sz="2000" b="1" dirty="0">
                <a:latin typeface="Arial" panose="020B0604020202020204" pitchFamily="34" charset="0"/>
                <a:cs typeface="Arial" panose="020B0604020202020204" pitchFamily="34" charset="0"/>
              </a:rPr>
              <a:t>06 April,  2025</a:t>
            </a:r>
          </a:p>
        </p:txBody>
      </p:sp>
      <p:pic>
        <p:nvPicPr>
          <p:cNvPr id="10" name="Graphic 9">
            <a:extLst>
              <a:ext uri="{FF2B5EF4-FFF2-40B4-BE49-F238E27FC236}">
                <a16:creationId xmlns:a16="http://schemas.microsoft.com/office/drawing/2014/main" id="{1C869FE1-C1C4-48A8-AA9E-99CAE025BEA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682361" y="0"/>
            <a:ext cx="3509638" cy="3611690"/>
          </a:xfrm>
          <a:prstGeom prst="rect">
            <a:avLst/>
          </a:prstGeom>
        </p:spPr>
      </p:pic>
    </p:spTree>
    <p:extLst>
      <p:ext uri="{BB962C8B-B14F-4D97-AF65-F5344CB8AC3E}">
        <p14:creationId xmlns:p14="http://schemas.microsoft.com/office/powerpoint/2010/main" val="524796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E409FE-0CBB-4EAD-8A22-C51F65DE1771}"/>
              </a:ext>
            </a:extLst>
          </p:cNvPr>
          <p:cNvSpPr>
            <a:spLocks noGrp="1"/>
          </p:cNvSpPr>
          <p:nvPr>
            <p:ph idx="1"/>
          </p:nvPr>
        </p:nvSpPr>
        <p:spPr/>
        <p:txBody>
          <a:bodyPr>
            <a:noAutofit/>
          </a:bodyPr>
          <a:lstStyle/>
          <a:p>
            <a:pPr indent="-457200" algn="just">
              <a:lnSpc>
                <a:spcPct val="150000"/>
              </a:lnSpc>
              <a:spcBef>
                <a:spcPts val="0"/>
              </a:spcBef>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Socialism is a political and economic ideology that advocates for collective or governmental control over the means of production, distribution, and exchange. </a:t>
            </a:r>
          </a:p>
          <a:p>
            <a:pPr indent="-457200" algn="just">
              <a:lnSpc>
                <a:spcPct val="150000"/>
              </a:lnSpc>
              <a:spcBef>
                <a:spcPts val="0"/>
              </a:spcBef>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It emphasizes reducing income inequality, providing public services like healthcare and education, and ensuring economic equality. </a:t>
            </a:r>
          </a:p>
          <a:p>
            <a:pPr indent="-457200" algn="just">
              <a:lnSpc>
                <a:spcPct val="150000"/>
              </a:lnSpc>
              <a:spcBef>
                <a:spcPts val="0"/>
              </a:spcBef>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Unlike capitalism, which supports private ownership, socialism seeks to distribute wealth more evenly among society.</a:t>
            </a:r>
          </a:p>
        </p:txBody>
      </p:sp>
      <p:grpSp>
        <p:nvGrpSpPr>
          <p:cNvPr id="8" name="Group 7">
            <a:extLst>
              <a:ext uri="{FF2B5EF4-FFF2-40B4-BE49-F238E27FC236}">
                <a16:creationId xmlns:a16="http://schemas.microsoft.com/office/drawing/2014/main" id="{BAEFE420-0C07-4D1B-9094-F2C452FF1011}"/>
              </a:ext>
            </a:extLst>
          </p:cNvPr>
          <p:cNvGrpSpPr/>
          <p:nvPr/>
        </p:nvGrpSpPr>
        <p:grpSpPr>
          <a:xfrm>
            <a:off x="0" y="0"/>
            <a:ext cx="12749348" cy="1115736"/>
            <a:chOff x="0" y="0"/>
            <a:chExt cx="12749348" cy="1115736"/>
          </a:xfrm>
        </p:grpSpPr>
        <p:sp>
          <p:nvSpPr>
            <p:cNvPr id="9" name="Rectangle 8">
              <a:extLst>
                <a:ext uri="{FF2B5EF4-FFF2-40B4-BE49-F238E27FC236}">
                  <a16:creationId xmlns:a16="http://schemas.microsoft.com/office/drawing/2014/main"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0" name="Picture 9">
              <a:extLst>
                <a:ext uri="{FF2B5EF4-FFF2-40B4-BE49-F238E27FC236}">
                  <a16:creationId xmlns:a16="http://schemas.microsoft.com/office/drawing/2014/main" id="{D279BBF0-3F01-4944-AF8F-73A34B5B9C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a16="http://schemas.microsoft.com/office/drawing/2014/main"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2" name="Graphic 11">
              <a:extLst>
                <a:ext uri="{FF2B5EF4-FFF2-40B4-BE49-F238E27FC236}">
                  <a16:creationId xmlns:a16="http://schemas.microsoft.com/office/drawing/2014/main" id="{75FFEA7F-8809-458D-BE80-99F7CFB965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a16="http://schemas.microsoft.com/office/drawing/2014/main"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4" name="Graphic 13">
              <a:extLst>
                <a:ext uri="{FF2B5EF4-FFF2-40B4-BE49-F238E27FC236}">
                  <a16:creationId xmlns:a16="http://schemas.microsoft.com/office/drawing/2014/main" id="{ACED766F-A0E3-4D45-8A6E-86CCFAFA5D9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a16="http://schemas.microsoft.com/office/drawing/2014/main" id="{F83660F3-45D1-4CA0-BE2A-E7E6C1B794A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Title 1">
            <a:extLst>
              <a:ext uri="{FF2B5EF4-FFF2-40B4-BE49-F238E27FC236}">
                <a16:creationId xmlns:a16="http://schemas.microsoft.com/office/drawing/2014/main" id="{6FC1E4C0-6CE2-D746-1DD1-D683AC0B374A}"/>
              </a:ext>
            </a:extLst>
          </p:cNvPr>
          <p:cNvSpPr>
            <a:spLocks noGrp="1"/>
          </p:cNvSpPr>
          <p:nvPr>
            <p:ph type="title"/>
          </p:nvPr>
        </p:nvSpPr>
        <p:spPr>
          <a:xfrm>
            <a:off x="838200" y="1138335"/>
            <a:ext cx="10515600" cy="687290"/>
          </a:xfrm>
        </p:spPr>
        <p:txBody>
          <a:bodyPr>
            <a:normAutofit fontScale="90000"/>
          </a:bodyPr>
          <a:lstStyle/>
          <a:p>
            <a:r>
              <a:rPr lang="en-US" b="1" dirty="0">
                <a:latin typeface="Times New Roman" panose="02020603050405020304" pitchFamily="18" charset="0"/>
                <a:cs typeface="Times New Roman" panose="02020603050405020304" pitchFamily="18" charset="0"/>
              </a:rPr>
              <a:t>Introduction to Socialism:</a:t>
            </a:r>
          </a:p>
        </p:txBody>
      </p:sp>
    </p:spTree>
    <p:extLst>
      <p:ext uri="{BB962C8B-B14F-4D97-AF65-F5344CB8AC3E}">
        <p14:creationId xmlns:p14="http://schemas.microsoft.com/office/powerpoint/2010/main" val="1438584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6B3DD-4C8E-68C6-EC4F-E9AC262C7A92}"/>
              </a:ext>
            </a:extLst>
          </p:cNvPr>
          <p:cNvSpPr>
            <a:spLocks noGrp="1"/>
          </p:cNvSpPr>
          <p:nvPr>
            <p:ph type="title"/>
          </p:nvPr>
        </p:nvSpPr>
        <p:spPr>
          <a:xfrm>
            <a:off x="838200" y="1115736"/>
            <a:ext cx="10515600" cy="980476"/>
          </a:xfrm>
        </p:spPr>
        <p:txBody>
          <a:bodyPr>
            <a:normAutofit fontScale="90000"/>
          </a:bodyPr>
          <a:lstStyle/>
          <a:p>
            <a:r>
              <a:rPr lang="en-US" b="1" i="0" dirty="0">
                <a:effectLst/>
                <a:latin typeface="Times New Roman" panose="02020603050405020304" pitchFamily="18" charset="0"/>
                <a:cs typeface="Times New Roman" panose="02020603050405020304" pitchFamily="18" charset="0"/>
              </a:rPr>
              <a:t>Definitions of Socialism by Four Western Thinkers:</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7FD3F65-A32F-7F84-39E9-2D728615CD96}"/>
              </a:ext>
            </a:extLst>
          </p:cNvPr>
          <p:cNvSpPr>
            <a:spLocks noGrp="1"/>
          </p:cNvSpPr>
          <p:nvPr>
            <p:ph idx="1"/>
          </p:nvPr>
        </p:nvSpPr>
        <p:spPr>
          <a:xfrm>
            <a:off x="0" y="2096212"/>
            <a:ext cx="12192000" cy="4761788"/>
          </a:xfrm>
        </p:spPr>
        <p:txBody>
          <a:bodyPr>
            <a:noAutofit/>
          </a:bodyPr>
          <a:lstStyle/>
          <a:p>
            <a:pPr marL="514350" indent="-514350" algn="ctr">
              <a:lnSpc>
                <a:spcPct val="160000"/>
              </a:lnSpc>
              <a:spcBef>
                <a:spcPts val="0"/>
              </a:spcBef>
              <a:buAutoNum type="arabicPeriod"/>
            </a:pPr>
            <a:r>
              <a:rPr lang="en-US" sz="2200" b="1" u="sng" dirty="0">
                <a:latin typeface="Times New Roman" panose="02020603050405020304" pitchFamily="18" charset="0"/>
                <a:cs typeface="Times New Roman" panose="02020603050405020304" pitchFamily="18" charset="0"/>
              </a:rPr>
              <a:t>Karl Marx (1818–1883)</a:t>
            </a:r>
          </a:p>
          <a:p>
            <a:pPr marL="0" indent="0">
              <a:lnSpc>
                <a:spcPct val="160000"/>
              </a:lnSpc>
              <a:spcBef>
                <a:spcPts val="0"/>
              </a:spcBef>
              <a:buNone/>
            </a:pPr>
            <a:r>
              <a:rPr lang="en-US" sz="2200" b="1" dirty="0">
                <a:latin typeface="Times New Roman" panose="02020603050405020304" pitchFamily="18" charset="0"/>
                <a:cs typeface="Times New Roman" panose="02020603050405020304" pitchFamily="18" charset="0"/>
              </a:rPr>
              <a:t>Definition: </a:t>
            </a:r>
          </a:p>
          <a:p>
            <a:pPr marL="0" indent="0" algn="just">
              <a:lnSpc>
                <a:spcPct val="160000"/>
              </a:lnSpc>
              <a:spcBef>
                <a:spcPts val="0"/>
              </a:spcBef>
              <a:buNone/>
            </a:pPr>
            <a:r>
              <a:rPr lang="en-US" sz="2200" dirty="0">
                <a:latin typeface="Times New Roman" panose="02020603050405020304" pitchFamily="18" charset="0"/>
                <a:cs typeface="Times New Roman" panose="02020603050405020304" pitchFamily="18" charset="0"/>
              </a:rPr>
              <a:t>Marx is the most famous socialist thinker and the father of Marxism. He viewed socialism as a transitional stage between capitalism and communism. </a:t>
            </a:r>
          </a:p>
          <a:p>
            <a:pPr marL="0" indent="0" algn="just">
              <a:lnSpc>
                <a:spcPct val="160000"/>
              </a:lnSpc>
              <a:spcBef>
                <a:spcPts val="0"/>
              </a:spcBef>
              <a:buNone/>
            </a:pPr>
            <a:r>
              <a:rPr lang="en-US" sz="2200" dirty="0">
                <a:latin typeface="Times New Roman" panose="02020603050405020304" pitchFamily="18" charset="0"/>
                <a:cs typeface="Times New Roman" panose="02020603050405020304" pitchFamily="18" charset="0"/>
              </a:rPr>
              <a:t>Marx argued that socialism would arise as a result of the proletariat (working class) overthrowing the bourgeoisie (capitalist class) in a revolution, eventually leading to a classless, stateless society (communism). </a:t>
            </a:r>
          </a:p>
          <a:p>
            <a:pPr marL="0" indent="0" algn="just">
              <a:lnSpc>
                <a:spcPct val="160000"/>
              </a:lnSpc>
              <a:spcBef>
                <a:spcPts val="0"/>
              </a:spcBef>
              <a:buNone/>
            </a:pPr>
            <a:r>
              <a:rPr lang="en-US" sz="2200" dirty="0">
                <a:latin typeface="Times New Roman" panose="02020603050405020304" pitchFamily="18" charset="0"/>
                <a:cs typeface="Times New Roman" panose="02020603050405020304" pitchFamily="18" charset="0"/>
              </a:rPr>
              <a:t>In his work The Communist Manifesto, he defined socialism as a system where the working class controls the means of production.   </a:t>
            </a:r>
          </a:p>
          <a:p>
            <a:pPr marL="0" indent="0" algn="just">
              <a:lnSpc>
                <a:spcPct val="160000"/>
              </a:lnSpc>
              <a:spcBef>
                <a:spcPts val="0"/>
              </a:spcBef>
              <a:buNone/>
            </a:pP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Key Idea: </a:t>
            </a:r>
            <a:r>
              <a:rPr lang="en-US" sz="2200" dirty="0">
                <a:latin typeface="Times New Roman" panose="02020603050405020304" pitchFamily="18" charset="0"/>
                <a:cs typeface="Times New Roman" panose="02020603050405020304" pitchFamily="18" charset="0"/>
              </a:rPr>
              <a:t>“From each according to his ability, to each according to his needs.”</a:t>
            </a:r>
          </a:p>
        </p:txBody>
      </p:sp>
    </p:spTree>
    <p:extLst>
      <p:ext uri="{BB962C8B-B14F-4D97-AF65-F5344CB8AC3E}">
        <p14:creationId xmlns:p14="http://schemas.microsoft.com/office/powerpoint/2010/main" val="3875047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3E5033-F5E8-4FDA-843D-15313B5389FE}"/>
              </a:ext>
            </a:extLst>
          </p:cNvPr>
          <p:cNvSpPr>
            <a:spLocks noGrp="1"/>
          </p:cNvSpPr>
          <p:nvPr>
            <p:ph idx="1"/>
          </p:nvPr>
        </p:nvSpPr>
        <p:spPr/>
        <p:txBody>
          <a:bodyPr>
            <a:normAutofit fontScale="92500" lnSpcReduction="20000"/>
          </a:bodyPr>
          <a:lstStyle/>
          <a:p>
            <a:pPr algn="just">
              <a:lnSpc>
                <a:spcPct val="150000"/>
              </a:lnSpc>
              <a:spcBef>
                <a:spcPts val="0"/>
              </a:spcBef>
              <a:buFont typeface="Wingdings" panose="05000000000000000000" pitchFamily="2" charset="2"/>
              <a:buChar char="§"/>
            </a:pPr>
            <a:r>
              <a:rPr lang="en-US" b="1" i="0" dirty="0">
                <a:solidFill>
                  <a:srgbClr val="000000"/>
                </a:solidFill>
                <a:effectLst/>
                <a:latin typeface="Times New Roman" panose="02020603050405020304" pitchFamily="18" charset="0"/>
                <a:cs typeface="Times New Roman" panose="02020603050405020304" pitchFamily="18" charset="0"/>
              </a:rPr>
              <a:t>Definition:</a:t>
            </a:r>
          </a:p>
          <a:p>
            <a:pPr algn="just">
              <a:lnSpc>
                <a:spcPct val="150000"/>
              </a:lnSpc>
              <a:spcBef>
                <a:spcPts val="0"/>
              </a:spcBef>
              <a:buFont typeface="Wingdings" panose="05000000000000000000" pitchFamily="2" charset="2"/>
              <a:buChar char="§"/>
            </a:pPr>
            <a:r>
              <a:rPr lang="en-US" b="0" i="0" dirty="0">
                <a:solidFill>
                  <a:srgbClr val="000000"/>
                </a:solidFill>
                <a:effectLst/>
                <a:latin typeface="Times New Roman" panose="02020603050405020304" pitchFamily="18" charset="0"/>
                <a:cs typeface="Times New Roman" panose="02020603050405020304" pitchFamily="18" charset="0"/>
              </a:rPr>
              <a:t>Engels, a collaborator with Marx, elaborated on socialist theory. He argued that the state should take control of industries, and eventually, the state itself would wither away as society becomes more egalitarian.</a:t>
            </a:r>
          </a:p>
          <a:p>
            <a:pPr algn="just">
              <a:lnSpc>
                <a:spcPct val="150000"/>
              </a:lnSpc>
              <a:spcBef>
                <a:spcPts val="0"/>
              </a:spcBef>
              <a:buFont typeface="Wingdings" panose="05000000000000000000" pitchFamily="2" charset="2"/>
              <a:buChar char="§"/>
            </a:pPr>
            <a:r>
              <a:rPr lang="en-US" b="0" i="0" dirty="0">
                <a:solidFill>
                  <a:srgbClr val="000000"/>
                </a:solidFill>
                <a:effectLst/>
                <a:latin typeface="Times New Roman" panose="02020603050405020304" pitchFamily="18" charset="0"/>
                <a:cs typeface="Times New Roman" panose="02020603050405020304" pitchFamily="18" charset="0"/>
              </a:rPr>
              <a:t> Engels believed that the state should play a role in managing the economy until the class distinctions disappear.   </a:t>
            </a:r>
            <a:endParaRPr lang="en-US" dirty="0">
              <a:solidFill>
                <a:srgbClr val="000000"/>
              </a:solidFill>
              <a:latin typeface="Times New Roman" panose="02020603050405020304" pitchFamily="18" charset="0"/>
              <a:cs typeface="Times New Roman" panose="02020603050405020304" pitchFamily="18" charset="0"/>
            </a:endParaRPr>
          </a:p>
          <a:p>
            <a:pPr algn="just">
              <a:lnSpc>
                <a:spcPct val="150000"/>
              </a:lnSpc>
              <a:spcBef>
                <a:spcPts val="0"/>
              </a:spcBef>
              <a:buFont typeface="Wingdings" panose="05000000000000000000" pitchFamily="2" charset="2"/>
              <a:buChar char="§"/>
            </a:pPr>
            <a:r>
              <a:rPr lang="en-US" b="1" i="0" dirty="0">
                <a:solidFill>
                  <a:srgbClr val="000000"/>
                </a:solidFill>
                <a:effectLst/>
                <a:latin typeface="Times New Roman" panose="02020603050405020304" pitchFamily="18" charset="0"/>
                <a:cs typeface="Times New Roman" panose="02020603050405020304" pitchFamily="18" charset="0"/>
              </a:rPr>
              <a:t>Key Idea: </a:t>
            </a:r>
            <a:r>
              <a:rPr lang="en-US" b="0" i="0" dirty="0">
                <a:solidFill>
                  <a:srgbClr val="000000"/>
                </a:solidFill>
                <a:effectLst/>
                <a:latin typeface="Times New Roman" panose="02020603050405020304" pitchFamily="18" charset="0"/>
                <a:cs typeface="Times New Roman" panose="02020603050405020304" pitchFamily="18" charset="0"/>
              </a:rPr>
              <a:t>Socialism is a natural progression from capitalism, facilitated by the working class’s revolution.</a:t>
            </a:r>
          </a:p>
        </p:txBody>
      </p:sp>
      <p:sp>
        <p:nvSpPr>
          <p:cNvPr id="6" name="Title 1">
            <a:extLst>
              <a:ext uri="{FF2B5EF4-FFF2-40B4-BE49-F238E27FC236}">
                <a16:creationId xmlns:a16="http://schemas.microsoft.com/office/drawing/2014/main" id="{E8654D8F-B021-7671-1B0B-FFE192407516}"/>
              </a:ext>
            </a:extLst>
          </p:cNvPr>
          <p:cNvSpPr>
            <a:spLocks noGrp="1"/>
          </p:cNvSpPr>
          <p:nvPr>
            <p:ph type="title"/>
          </p:nvPr>
        </p:nvSpPr>
        <p:spPr>
          <a:xfrm>
            <a:off x="485192" y="1115736"/>
            <a:ext cx="10982130" cy="936999"/>
          </a:xfrm>
        </p:spPr>
        <p:txBody>
          <a:bodyPr>
            <a:normAutofit/>
          </a:bodyPr>
          <a:lstStyle/>
          <a:p>
            <a:pPr algn="just"/>
            <a:r>
              <a:rPr lang="en-US" b="1" i="0" dirty="0">
                <a:solidFill>
                  <a:srgbClr val="000000"/>
                </a:solidFill>
                <a:effectLst/>
                <a:latin typeface="Times New Roman" panose="02020603050405020304" pitchFamily="18" charset="0"/>
                <a:cs typeface="Times New Roman" panose="02020603050405020304" pitchFamily="18" charset="0"/>
              </a:rPr>
              <a:t>2. Friedrich Engels (1820–1895):</a:t>
            </a:r>
          </a:p>
        </p:txBody>
      </p:sp>
    </p:spTree>
    <p:extLst>
      <p:ext uri="{BB962C8B-B14F-4D97-AF65-F5344CB8AC3E}">
        <p14:creationId xmlns:p14="http://schemas.microsoft.com/office/powerpoint/2010/main" val="3696527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01A34-5409-8A3D-B01E-D76F3BEDC17C}"/>
              </a:ext>
            </a:extLst>
          </p:cNvPr>
          <p:cNvSpPr>
            <a:spLocks noGrp="1"/>
          </p:cNvSpPr>
          <p:nvPr>
            <p:ph type="title"/>
          </p:nvPr>
        </p:nvSpPr>
        <p:spPr>
          <a:xfrm>
            <a:off x="838200" y="1149291"/>
            <a:ext cx="10515600" cy="676333"/>
          </a:xfrm>
        </p:spPr>
        <p:txBody>
          <a:bodyPr>
            <a:normAutofit fontScale="90000"/>
          </a:bodyPr>
          <a:lstStyle/>
          <a:p>
            <a:r>
              <a:rPr lang="nn-NO" b="1" dirty="0">
                <a:solidFill>
                  <a:srgbClr val="000000"/>
                </a:solidFill>
                <a:latin typeface="Times New Roman" panose="02020603050405020304" pitchFamily="18" charset="0"/>
                <a:cs typeface="Times New Roman" panose="02020603050405020304" pitchFamily="18" charset="0"/>
              </a:rPr>
              <a:t>3. John Stuart Mill (1806–1873):</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85C25E0-62FD-32CA-0032-22677C5EDDE6}"/>
              </a:ext>
            </a:extLst>
          </p:cNvPr>
          <p:cNvSpPr>
            <a:spLocks noGrp="1"/>
          </p:cNvSpPr>
          <p:nvPr>
            <p:ph idx="1"/>
          </p:nvPr>
        </p:nvSpPr>
        <p:spPr/>
        <p:txBody>
          <a:bodyPr>
            <a:normAutofit fontScale="85000" lnSpcReduction="20000"/>
          </a:bodyPr>
          <a:lstStyle/>
          <a:p>
            <a:pPr algn="just">
              <a:lnSpc>
                <a:spcPct val="150000"/>
              </a:lnSpc>
              <a:spcBef>
                <a:spcPts val="0"/>
              </a:spcBef>
            </a:pPr>
            <a:r>
              <a:rPr lang="en-US" b="1" i="0" dirty="0">
                <a:solidFill>
                  <a:srgbClr val="000000"/>
                </a:solidFill>
                <a:effectLst/>
                <a:latin typeface="Times New Roman" panose="02020603050405020304" pitchFamily="18" charset="0"/>
                <a:cs typeface="Times New Roman" panose="02020603050405020304" pitchFamily="18" charset="0"/>
              </a:rPr>
              <a:t>Definition: </a:t>
            </a:r>
          </a:p>
          <a:p>
            <a:pPr algn="just">
              <a:lnSpc>
                <a:spcPct val="150000"/>
              </a:lnSpc>
              <a:spcBef>
                <a:spcPts val="0"/>
              </a:spcBef>
            </a:pPr>
            <a:r>
              <a:rPr lang="en-US" b="0" i="0" dirty="0">
                <a:solidFill>
                  <a:srgbClr val="000000"/>
                </a:solidFill>
                <a:effectLst/>
                <a:latin typeface="Times New Roman" panose="02020603050405020304" pitchFamily="18" charset="0"/>
                <a:cs typeface="Times New Roman" panose="02020603050405020304" pitchFamily="18" charset="0"/>
              </a:rPr>
              <a:t>Mill was an advocate of utilitarianism and believed that socialism could help achieve the greatest happiness for the greatest number. </a:t>
            </a:r>
          </a:p>
          <a:p>
            <a:pPr algn="just">
              <a:lnSpc>
                <a:spcPct val="150000"/>
              </a:lnSpc>
              <a:spcBef>
                <a:spcPts val="0"/>
              </a:spcBef>
            </a:pPr>
            <a:r>
              <a:rPr lang="en-US" b="0" i="0" dirty="0">
                <a:solidFill>
                  <a:srgbClr val="000000"/>
                </a:solidFill>
                <a:effectLst/>
                <a:latin typeface="Times New Roman" panose="02020603050405020304" pitchFamily="18" charset="0"/>
                <a:cs typeface="Times New Roman" panose="02020603050405020304" pitchFamily="18" charset="0"/>
              </a:rPr>
              <a:t>While he wasn't a revolutionary like Marx, Mill supported social reforms such as workers' cooperatives and public ownership of key industries. </a:t>
            </a:r>
          </a:p>
          <a:p>
            <a:pPr algn="just">
              <a:lnSpc>
                <a:spcPct val="150000"/>
              </a:lnSpc>
              <a:spcBef>
                <a:spcPts val="0"/>
              </a:spcBef>
            </a:pPr>
            <a:r>
              <a:rPr lang="en-US" b="0" i="0" dirty="0">
                <a:solidFill>
                  <a:srgbClr val="000000"/>
                </a:solidFill>
                <a:effectLst/>
                <a:latin typeface="Times New Roman" panose="02020603050405020304" pitchFamily="18" charset="0"/>
                <a:cs typeface="Times New Roman" panose="02020603050405020304" pitchFamily="18" charset="0"/>
              </a:rPr>
              <a:t>He argued that the government could regulate economic activity to prevent the exploitation of workers and ensure social welfare.   </a:t>
            </a:r>
          </a:p>
          <a:p>
            <a:pPr algn="just">
              <a:lnSpc>
                <a:spcPct val="150000"/>
              </a:lnSpc>
              <a:spcBef>
                <a:spcPts val="0"/>
              </a:spcBef>
            </a:pPr>
            <a:r>
              <a:rPr lang="en-US" b="1" i="0" dirty="0">
                <a:solidFill>
                  <a:srgbClr val="000000"/>
                </a:solidFill>
                <a:effectLst/>
                <a:latin typeface="Times New Roman" panose="02020603050405020304" pitchFamily="18" charset="0"/>
                <a:cs typeface="Times New Roman" panose="02020603050405020304" pitchFamily="18" charset="0"/>
              </a:rPr>
              <a:t>Key Idea:  </a:t>
            </a:r>
            <a:r>
              <a:rPr lang="en-US" b="0" i="0" dirty="0">
                <a:solidFill>
                  <a:srgbClr val="000000"/>
                </a:solidFill>
                <a:effectLst/>
                <a:latin typeface="Times New Roman" panose="02020603050405020304" pitchFamily="18" charset="0"/>
                <a:cs typeface="Times New Roman" panose="02020603050405020304" pitchFamily="18" charset="0"/>
              </a:rPr>
              <a:t>Mill’s form of socialism emphasized individual freedom and personal development within a society that promoted economic equality.</a:t>
            </a:r>
          </a:p>
        </p:txBody>
      </p:sp>
    </p:spTree>
    <p:extLst>
      <p:ext uri="{BB962C8B-B14F-4D97-AF65-F5344CB8AC3E}">
        <p14:creationId xmlns:p14="http://schemas.microsoft.com/office/powerpoint/2010/main" val="66325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57F00-D6FC-DC2F-03EA-EAE43C30FBD4}"/>
              </a:ext>
            </a:extLst>
          </p:cNvPr>
          <p:cNvSpPr>
            <a:spLocks noGrp="1"/>
          </p:cNvSpPr>
          <p:nvPr>
            <p:ph type="title"/>
          </p:nvPr>
        </p:nvSpPr>
        <p:spPr>
          <a:xfrm>
            <a:off x="838200" y="1057726"/>
            <a:ext cx="10515600" cy="767899"/>
          </a:xfrm>
        </p:spPr>
        <p:txBody>
          <a:bodyPr>
            <a:normAutofit/>
          </a:bodyPr>
          <a:lstStyle/>
          <a:p>
            <a:r>
              <a:rPr lang="en-US" sz="4400" b="1" dirty="0">
                <a:latin typeface="Times New Roman" panose="02020603050405020304" pitchFamily="18" charset="0"/>
                <a:cs typeface="Times New Roman" panose="02020603050405020304" pitchFamily="18" charset="0"/>
              </a:rPr>
              <a:t>4. Eduard Bernstein (1850–1932)</a:t>
            </a:r>
            <a:endParaRPr lang="en-US" sz="4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B60B3E3-0E6D-016B-1A40-26BB6B8E19A3}"/>
              </a:ext>
            </a:extLst>
          </p:cNvPr>
          <p:cNvSpPr>
            <a:spLocks noGrp="1"/>
          </p:cNvSpPr>
          <p:nvPr>
            <p:ph idx="1"/>
          </p:nvPr>
        </p:nvSpPr>
        <p:spPr>
          <a:xfrm>
            <a:off x="0" y="1825624"/>
            <a:ext cx="12192000" cy="5032375"/>
          </a:xfrm>
        </p:spPr>
        <p:txBody>
          <a:bodyPr>
            <a:noAutofit/>
          </a:bodyPr>
          <a:lstStyle/>
          <a:p>
            <a:pPr algn="just">
              <a:lnSpc>
                <a:spcPct val="150000"/>
              </a:lnSpc>
              <a:spcBef>
                <a:spcPts val="0"/>
              </a:spcBef>
              <a:buFont typeface="Wingdings" panose="05000000000000000000" pitchFamily="2" charset="2"/>
              <a:buChar char="§"/>
            </a:pPr>
            <a:r>
              <a:rPr lang="en-US" sz="2400" b="1" i="0" dirty="0">
                <a:solidFill>
                  <a:srgbClr val="273239"/>
                </a:solidFill>
                <a:effectLst/>
                <a:latin typeface="Times New Roman" panose="02020603050405020304" pitchFamily="18" charset="0"/>
                <a:cs typeface="Times New Roman" panose="02020603050405020304" pitchFamily="18" charset="0"/>
              </a:rPr>
              <a:t>Definition:</a:t>
            </a:r>
          </a:p>
          <a:p>
            <a:pPr algn="just">
              <a:lnSpc>
                <a:spcPct val="150000"/>
              </a:lnSpc>
              <a:spcBef>
                <a:spcPts val="0"/>
              </a:spcBef>
              <a:buFont typeface="Wingdings" panose="05000000000000000000" pitchFamily="2" charset="2"/>
              <a:buChar char="§"/>
            </a:pPr>
            <a:r>
              <a:rPr lang="en-US" sz="2400" b="0" i="0" dirty="0">
                <a:solidFill>
                  <a:srgbClr val="273239"/>
                </a:solidFill>
                <a:effectLst/>
                <a:latin typeface="Times New Roman" panose="02020603050405020304" pitchFamily="18" charset="0"/>
                <a:cs typeface="Times New Roman" panose="02020603050405020304" pitchFamily="18" charset="0"/>
              </a:rPr>
              <a:t>Bernstein was a member of the Social Democratic movement and is known for his revisionist approach to Marxism.</a:t>
            </a:r>
          </a:p>
          <a:p>
            <a:pPr algn="just">
              <a:lnSpc>
                <a:spcPct val="150000"/>
              </a:lnSpc>
              <a:spcBef>
                <a:spcPts val="0"/>
              </a:spcBef>
              <a:buFont typeface="Wingdings" panose="05000000000000000000" pitchFamily="2" charset="2"/>
              <a:buChar char="§"/>
            </a:pPr>
            <a:r>
              <a:rPr lang="en-US" sz="2400" b="0" i="0" dirty="0">
                <a:solidFill>
                  <a:srgbClr val="273239"/>
                </a:solidFill>
                <a:effectLst/>
                <a:latin typeface="Times New Roman" panose="02020603050405020304" pitchFamily="18" charset="0"/>
                <a:cs typeface="Times New Roman" panose="02020603050405020304" pitchFamily="18" charset="0"/>
              </a:rPr>
              <a:t> He rejected Marx's revolutionary ideas and instead argued that socialism could be achieved through gradual, democratic means. </a:t>
            </a:r>
          </a:p>
          <a:p>
            <a:pPr algn="just">
              <a:lnSpc>
                <a:spcPct val="150000"/>
              </a:lnSpc>
              <a:spcBef>
                <a:spcPts val="0"/>
              </a:spcBef>
              <a:buFont typeface="Wingdings" panose="05000000000000000000" pitchFamily="2" charset="2"/>
              <a:buChar char="§"/>
            </a:pPr>
            <a:r>
              <a:rPr lang="en-US" sz="2400" b="0" i="0" dirty="0">
                <a:solidFill>
                  <a:srgbClr val="273239"/>
                </a:solidFill>
                <a:effectLst/>
                <a:latin typeface="Times New Roman" panose="02020603050405020304" pitchFamily="18" charset="0"/>
                <a:cs typeface="Times New Roman" panose="02020603050405020304" pitchFamily="18" charset="0"/>
              </a:rPr>
              <a:t>He advocated for reforms within the existing capitalist system, including universal suffrage, labor rights, and social welfare policies.   </a:t>
            </a:r>
            <a:endParaRPr lang="en-US" sz="2400" dirty="0">
              <a:solidFill>
                <a:srgbClr val="273239"/>
              </a:solidFill>
              <a:latin typeface="Times New Roman" panose="02020603050405020304" pitchFamily="18" charset="0"/>
              <a:cs typeface="Times New Roman" panose="02020603050405020304" pitchFamily="18" charset="0"/>
            </a:endParaRPr>
          </a:p>
          <a:p>
            <a:pPr algn="just">
              <a:lnSpc>
                <a:spcPct val="150000"/>
              </a:lnSpc>
              <a:spcBef>
                <a:spcPts val="0"/>
              </a:spcBef>
              <a:buFont typeface="Wingdings" panose="05000000000000000000" pitchFamily="2" charset="2"/>
              <a:buChar char="§"/>
            </a:pPr>
            <a:r>
              <a:rPr lang="en-US" sz="2400" b="1" i="0" dirty="0">
                <a:solidFill>
                  <a:srgbClr val="273239"/>
                </a:solidFill>
                <a:effectLst/>
                <a:latin typeface="Times New Roman" panose="02020603050405020304" pitchFamily="18" charset="0"/>
                <a:cs typeface="Times New Roman" panose="02020603050405020304" pitchFamily="18" charset="0"/>
              </a:rPr>
              <a:t>Key Idea:  </a:t>
            </a:r>
            <a:r>
              <a:rPr lang="en-US" sz="2400" b="0" i="0" dirty="0">
                <a:solidFill>
                  <a:srgbClr val="273239"/>
                </a:solidFill>
                <a:effectLst/>
                <a:latin typeface="Times New Roman" panose="02020603050405020304" pitchFamily="18" charset="0"/>
                <a:cs typeface="Times New Roman" panose="02020603050405020304" pitchFamily="18" charset="0"/>
              </a:rPr>
              <a:t>Socialism is not an abrupt revolution but a gradual transition through democratic reforms.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69570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C9A14-784F-2F8A-18D8-C8D8CF49BF70}"/>
              </a:ext>
            </a:extLst>
          </p:cNvPr>
          <p:cNvSpPr>
            <a:spLocks noGrp="1"/>
          </p:cNvSpPr>
          <p:nvPr>
            <p:ph type="title"/>
          </p:nvPr>
        </p:nvSpPr>
        <p:spPr>
          <a:xfrm>
            <a:off x="499872" y="1139772"/>
            <a:ext cx="11448288" cy="856541"/>
          </a:xfrm>
        </p:spPr>
        <p:txBody>
          <a:bodyPr>
            <a:normAutofit/>
          </a:bodyPr>
          <a:lstStyle/>
          <a:p>
            <a:r>
              <a:rPr lang="en-US" sz="4400" b="1" dirty="0">
                <a:latin typeface="Arial" panose="020B0604020202020204" pitchFamily="34" charset="0"/>
                <a:cs typeface="Arial" panose="020B0604020202020204" pitchFamily="34" charset="0"/>
              </a:rPr>
              <a:t>Benefits of Socialism:</a:t>
            </a:r>
            <a:endParaRPr lang="en-US" dirty="0"/>
          </a:p>
        </p:txBody>
      </p:sp>
      <p:sp>
        <p:nvSpPr>
          <p:cNvPr id="3" name="Content Placeholder 2">
            <a:extLst>
              <a:ext uri="{FF2B5EF4-FFF2-40B4-BE49-F238E27FC236}">
                <a16:creationId xmlns:a16="http://schemas.microsoft.com/office/drawing/2014/main" id="{7D1021F8-1E68-62C6-CCEF-45346D8FF394}"/>
              </a:ext>
            </a:extLst>
          </p:cNvPr>
          <p:cNvSpPr>
            <a:spLocks noGrp="1"/>
          </p:cNvSpPr>
          <p:nvPr>
            <p:ph idx="1"/>
          </p:nvPr>
        </p:nvSpPr>
        <p:spPr>
          <a:xfrm>
            <a:off x="838200" y="1996313"/>
            <a:ext cx="10515600" cy="4351338"/>
          </a:xfrm>
        </p:spPr>
        <p:txBody>
          <a:bodyPr>
            <a:normAutofit/>
          </a:bodyPr>
          <a:lstStyle/>
          <a:p>
            <a:pPr algn="just">
              <a:lnSpc>
                <a:spcPct val="150000"/>
              </a:lnSpc>
              <a:spcBef>
                <a:spcPts val="0"/>
              </a:spcBef>
              <a:buFont typeface="Wingdings" panose="05000000000000000000" pitchFamily="2" charset="2"/>
              <a:buChar char="§"/>
            </a:pPr>
            <a:r>
              <a:rPr lang="en-US" b="1" i="0" dirty="0">
                <a:solidFill>
                  <a:srgbClr val="273239"/>
                </a:solidFill>
                <a:effectLst/>
                <a:latin typeface="Times New Roman" panose="02020603050405020304" pitchFamily="18" charset="0"/>
                <a:cs typeface="Times New Roman" panose="02020603050405020304" pitchFamily="18" charset="0"/>
              </a:rPr>
              <a:t>1. Economic Equality:</a:t>
            </a:r>
          </a:p>
          <a:p>
            <a:pPr algn="just">
              <a:lnSpc>
                <a:spcPct val="150000"/>
              </a:lnSpc>
              <a:spcBef>
                <a:spcPts val="0"/>
              </a:spcBef>
              <a:buFont typeface="Wingdings" panose="05000000000000000000" pitchFamily="2" charset="2"/>
              <a:buChar char="§"/>
            </a:pPr>
            <a:r>
              <a:rPr lang="en-US" b="0" i="0" dirty="0">
                <a:solidFill>
                  <a:srgbClr val="273239"/>
                </a:solidFill>
                <a:effectLst/>
                <a:latin typeface="Times New Roman" panose="02020603050405020304" pitchFamily="18" charset="0"/>
                <a:cs typeface="Times New Roman" panose="02020603050405020304" pitchFamily="18" charset="0"/>
              </a:rPr>
              <a:t>Socialism aims to reduce the gap between the rich and the poor by redistributing wealth. </a:t>
            </a:r>
          </a:p>
          <a:p>
            <a:pPr algn="just">
              <a:lnSpc>
                <a:spcPct val="150000"/>
              </a:lnSpc>
              <a:spcBef>
                <a:spcPts val="0"/>
              </a:spcBef>
              <a:buFont typeface="Wingdings" panose="05000000000000000000" pitchFamily="2" charset="2"/>
              <a:buChar char="§"/>
            </a:pPr>
            <a:r>
              <a:rPr lang="en-US" b="0" i="0" dirty="0">
                <a:solidFill>
                  <a:srgbClr val="273239"/>
                </a:solidFill>
                <a:effectLst/>
                <a:latin typeface="Times New Roman" panose="02020603050405020304" pitchFamily="18" charset="0"/>
                <a:cs typeface="Times New Roman" panose="02020603050405020304" pitchFamily="18" charset="0"/>
              </a:rPr>
              <a:t>This ensures a more equitable distribution of resources, reducing poverty and class disparities.</a:t>
            </a:r>
            <a:endParaRPr lang="en-US"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8280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11807-248D-9BDB-8768-2BC5D4A1F214}"/>
              </a:ext>
            </a:extLst>
          </p:cNvPr>
          <p:cNvSpPr>
            <a:spLocks noGrp="1"/>
          </p:cNvSpPr>
          <p:nvPr>
            <p:ph type="title"/>
          </p:nvPr>
        </p:nvSpPr>
        <p:spPr>
          <a:xfrm>
            <a:off x="838200" y="1063689"/>
            <a:ext cx="10515600" cy="761935"/>
          </a:xfrm>
        </p:spPr>
        <p:txBody>
          <a:bodyPr>
            <a:normAutofit/>
          </a:bodyPr>
          <a:lstStyle/>
          <a:p>
            <a:r>
              <a:rPr lang="en-US" b="1" dirty="0">
                <a:latin typeface="Arial" panose="020B0604020202020204" pitchFamily="34" charset="0"/>
                <a:cs typeface="Arial" panose="020B0604020202020204" pitchFamily="34" charset="0"/>
              </a:rPr>
              <a:t>2. Universal Access to Basic Needs:</a:t>
            </a:r>
          </a:p>
        </p:txBody>
      </p:sp>
      <p:sp>
        <p:nvSpPr>
          <p:cNvPr id="3" name="Content Placeholder 2">
            <a:extLst>
              <a:ext uri="{FF2B5EF4-FFF2-40B4-BE49-F238E27FC236}">
                <a16:creationId xmlns:a16="http://schemas.microsoft.com/office/drawing/2014/main" id="{CEC54A06-7FE3-66EF-533D-139F85B79405}"/>
              </a:ext>
            </a:extLst>
          </p:cNvPr>
          <p:cNvSpPr>
            <a:spLocks noGrp="1"/>
          </p:cNvSpPr>
          <p:nvPr>
            <p:ph idx="1"/>
          </p:nvPr>
        </p:nvSpPr>
        <p:spPr/>
        <p:txBody>
          <a:bodyPr>
            <a:normAutofit/>
          </a:bodyPr>
          <a:lstStyle/>
          <a:p>
            <a:pPr algn="just">
              <a:lnSpc>
                <a:spcPct val="150000"/>
              </a:lnSpc>
              <a:spcBef>
                <a:spcPts val="0"/>
              </a:spcBef>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Under socialism, essential services like healthcare, education, and housing are typically made available to everyone, regardless of their economic status. </a:t>
            </a:r>
          </a:p>
          <a:p>
            <a:pPr algn="just">
              <a:lnSpc>
                <a:spcPct val="150000"/>
              </a:lnSpc>
              <a:spcBef>
                <a:spcPts val="0"/>
              </a:spcBef>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This ensures that all citizens have access to basic needs.</a:t>
            </a:r>
          </a:p>
        </p:txBody>
      </p:sp>
    </p:spTree>
    <p:extLst>
      <p:ext uri="{BB962C8B-B14F-4D97-AF65-F5344CB8AC3E}">
        <p14:creationId xmlns:p14="http://schemas.microsoft.com/office/powerpoint/2010/main" val="22833471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CDE3C-61DE-CD24-00E4-8A11B61D3B6E}"/>
              </a:ext>
            </a:extLst>
          </p:cNvPr>
          <p:cNvSpPr>
            <a:spLocks noGrp="1"/>
          </p:cNvSpPr>
          <p:nvPr>
            <p:ph type="title"/>
          </p:nvPr>
        </p:nvSpPr>
        <p:spPr>
          <a:xfrm>
            <a:off x="838200" y="1063690"/>
            <a:ext cx="10515600" cy="858416"/>
          </a:xfrm>
        </p:spPr>
        <p:txBody>
          <a:bodyPr>
            <a:normAutofit/>
          </a:bodyPr>
          <a:lstStyle/>
          <a:p>
            <a:r>
              <a:rPr lang="en-US" sz="4000" b="1" dirty="0">
                <a:latin typeface="Times New Roman" panose="02020603050405020304" pitchFamily="18" charset="0"/>
                <a:cs typeface="Times New Roman" panose="02020603050405020304" pitchFamily="18" charset="0"/>
              </a:rPr>
              <a:t>3. Reduced Exploitation of Workers:</a:t>
            </a:r>
          </a:p>
        </p:txBody>
      </p:sp>
      <p:sp>
        <p:nvSpPr>
          <p:cNvPr id="3" name="Content Placeholder 2">
            <a:extLst>
              <a:ext uri="{FF2B5EF4-FFF2-40B4-BE49-F238E27FC236}">
                <a16:creationId xmlns:a16="http://schemas.microsoft.com/office/drawing/2014/main" id="{E95C1FAC-5308-F718-BC49-AEE37EA50433}"/>
              </a:ext>
            </a:extLst>
          </p:cNvPr>
          <p:cNvSpPr>
            <a:spLocks noGrp="1"/>
          </p:cNvSpPr>
          <p:nvPr>
            <p:ph idx="1"/>
          </p:nvPr>
        </p:nvSpPr>
        <p:spPr/>
        <p:txBody>
          <a:bodyPr>
            <a:normAutofit/>
          </a:bodyPr>
          <a:lstStyle/>
          <a:p>
            <a:pPr algn="just">
              <a:lnSpc>
                <a:spcPct val="150000"/>
              </a:lnSpc>
              <a:spcBef>
                <a:spcPts val="0"/>
              </a:spcBef>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Socialism seeks to eliminate the exploitation of workers by capitalists, ensuring fair wages, decent working conditions, and labor rights.</a:t>
            </a:r>
          </a:p>
        </p:txBody>
      </p:sp>
    </p:spTree>
    <p:extLst>
      <p:ext uri="{BB962C8B-B14F-4D97-AF65-F5344CB8AC3E}">
        <p14:creationId xmlns:p14="http://schemas.microsoft.com/office/powerpoint/2010/main" val="11793799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3C9C8-F18E-1D97-1027-C1BBC248B7C9}"/>
              </a:ext>
            </a:extLst>
          </p:cNvPr>
          <p:cNvSpPr>
            <a:spLocks noGrp="1"/>
          </p:cNvSpPr>
          <p:nvPr>
            <p:ph type="title"/>
          </p:nvPr>
        </p:nvSpPr>
        <p:spPr>
          <a:xfrm>
            <a:off x="838200" y="1038687"/>
            <a:ext cx="10515600" cy="1242874"/>
          </a:xfrm>
        </p:spPr>
        <p:txBody>
          <a:bodyPr>
            <a:normAutofit fontScale="90000"/>
          </a:bodyPr>
          <a:lstStyle/>
          <a:p>
            <a:r>
              <a:rPr lang="en-US" b="1" dirty="0">
                <a:latin typeface="Times New Roman" panose="02020603050405020304" pitchFamily="18" charset="0"/>
                <a:cs typeface="Times New Roman" panose="02020603050405020304" pitchFamily="18" charset="0"/>
              </a:rPr>
              <a:t>4. Public Welfare and Security:</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5. Focus on Collective Good:</a:t>
            </a:r>
          </a:p>
        </p:txBody>
      </p:sp>
      <p:sp>
        <p:nvSpPr>
          <p:cNvPr id="3" name="Content Placeholder 2">
            <a:extLst>
              <a:ext uri="{FF2B5EF4-FFF2-40B4-BE49-F238E27FC236}">
                <a16:creationId xmlns:a16="http://schemas.microsoft.com/office/drawing/2014/main" id="{EBCA45CC-24EC-C8B8-ED13-C65993665F46}"/>
              </a:ext>
            </a:extLst>
          </p:cNvPr>
          <p:cNvSpPr>
            <a:spLocks noGrp="1"/>
          </p:cNvSpPr>
          <p:nvPr>
            <p:ph idx="1"/>
          </p:nvPr>
        </p:nvSpPr>
        <p:spPr>
          <a:xfrm>
            <a:off x="838200" y="2400771"/>
            <a:ext cx="10515600" cy="4351338"/>
          </a:xfrm>
        </p:spPr>
        <p:txBody>
          <a:bodyPr>
            <a:normAutofit lnSpcReduction="10000"/>
          </a:bodyPr>
          <a:lstStyle/>
          <a:p>
            <a:pPr algn="just">
              <a:lnSpc>
                <a:spcPct val="150000"/>
              </a:lnSpc>
              <a:spcBef>
                <a:spcPts val="0"/>
              </a:spcBef>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-Socialism supports the creation of welfare systems that provide social safety nets, such as unemployment benefits, pensions, and healthcare, to protect individuals from economic hardship.</a:t>
            </a:r>
          </a:p>
          <a:p>
            <a:pPr algn="just">
              <a:lnSpc>
                <a:spcPct val="150000"/>
              </a:lnSpc>
              <a:spcBef>
                <a:spcPts val="0"/>
              </a:spcBef>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 In socialism, the focus shifts from individual profit to the </a:t>
            </a:r>
            <a:r>
              <a:rPr lang="en-US" b="1" dirty="0">
                <a:latin typeface="Times New Roman" panose="02020603050405020304" pitchFamily="18" charset="0"/>
                <a:cs typeface="Times New Roman" panose="02020603050405020304" pitchFamily="18" charset="0"/>
              </a:rPr>
              <a:t>collective well-being</a:t>
            </a:r>
            <a:r>
              <a:rPr lang="en-US" dirty="0">
                <a:latin typeface="Times New Roman" panose="02020603050405020304" pitchFamily="18" charset="0"/>
                <a:cs typeface="Times New Roman" panose="02020603050405020304" pitchFamily="18" charset="0"/>
              </a:rPr>
              <a:t> of society. This can lead to policies that prioritize the environment, public health, and social justice over pure economic growth.</a:t>
            </a:r>
          </a:p>
        </p:txBody>
      </p:sp>
    </p:spTree>
    <p:extLst>
      <p:ext uri="{BB962C8B-B14F-4D97-AF65-F5344CB8AC3E}">
        <p14:creationId xmlns:p14="http://schemas.microsoft.com/office/powerpoint/2010/main" val="24932953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EB552-05DE-9023-87A5-CD298A045EAA}"/>
              </a:ext>
            </a:extLst>
          </p:cNvPr>
          <p:cNvSpPr>
            <a:spLocks noGrp="1"/>
          </p:cNvSpPr>
          <p:nvPr>
            <p:ph type="title"/>
          </p:nvPr>
        </p:nvSpPr>
        <p:spPr>
          <a:xfrm>
            <a:off x="838200" y="1047565"/>
            <a:ext cx="10515600" cy="923539"/>
          </a:xfrm>
        </p:spPr>
        <p:txBody>
          <a:bodyPr>
            <a:normAutofit/>
          </a:bodyPr>
          <a:lstStyle/>
          <a:p>
            <a:r>
              <a:rPr lang="en-US" b="1" dirty="0">
                <a:latin typeface="Times New Roman" panose="02020603050405020304" pitchFamily="18" charset="0"/>
                <a:cs typeface="Times New Roman" panose="02020603050405020304" pitchFamily="18" charset="0"/>
              </a:rPr>
              <a:t>Drawbacks of Socialism:</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EE9BD7E-86AD-7522-1F19-377CD6A103FA}"/>
              </a:ext>
            </a:extLst>
          </p:cNvPr>
          <p:cNvSpPr>
            <a:spLocks noGrp="1"/>
          </p:cNvSpPr>
          <p:nvPr>
            <p:ph idx="1"/>
          </p:nvPr>
        </p:nvSpPr>
        <p:spPr>
          <a:xfrm>
            <a:off x="-1" y="1825624"/>
            <a:ext cx="12126897" cy="5032376"/>
          </a:xfrm>
        </p:spPr>
        <p:txBody>
          <a:bodyPr>
            <a:noAutofit/>
          </a:bodyPr>
          <a:lstStyle/>
          <a:p>
            <a:pPr algn="just">
              <a:lnSpc>
                <a:spcPct val="150000"/>
              </a:lnSpc>
              <a:spcBef>
                <a:spcPts val="0"/>
              </a:spcBef>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1. Lack of Incentive:  </a:t>
            </a:r>
            <a:r>
              <a:rPr lang="en-US" dirty="0">
                <a:latin typeface="Times New Roman" panose="02020603050405020304" pitchFamily="18" charset="0"/>
                <a:cs typeface="Times New Roman" panose="02020603050405020304" pitchFamily="18" charset="0"/>
              </a:rPr>
              <a:t>Critics argue that socialism can reduce individuals' incentives to work hard or innovate, as income and rewards are not always directly tied to personal effort or achievement. This could potentially lead to inefficiencies.</a:t>
            </a:r>
          </a:p>
          <a:p>
            <a:pPr algn="just">
              <a:lnSpc>
                <a:spcPct val="150000"/>
              </a:lnSpc>
              <a:spcBef>
                <a:spcPts val="0"/>
              </a:spcBef>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2. Economic Inefficiency: </a:t>
            </a:r>
            <a:r>
              <a:rPr lang="en-US" dirty="0">
                <a:latin typeface="Times New Roman" panose="02020603050405020304" pitchFamily="18" charset="0"/>
                <a:cs typeface="Times New Roman" panose="02020603050405020304" pitchFamily="18" charset="0"/>
              </a:rPr>
              <a:t>Without competition, socialism may lead to inefficiencies in production and distribution. State-owned enterprises may become bureaucratic and sluggish, failing to adapt to changing market conditions.</a:t>
            </a:r>
          </a:p>
        </p:txBody>
      </p:sp>
    </p:spTree>
    <p:extLst>
      <p:ext uri="{BB962C8B-B14F-4D97-AF65-F5344CB8AC3E}">
        <p14:creationId xmlns:p14="http://schemas.microsoft.com/office/powerpoint/2010/main" val="3796995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31861F-7EF4-2279-0F86-97F21B6B8C52}"/>
              </a:ext>
            </a:extLst>
          </p:cNvPr>
          <p:cNvSpPr>
            <a:spLocks noGrp="1"/>
          </p:cNvSpPr>
          <p:nvPr>
            <p:ph idx="1"/>
          </p:nvPr>
        </p:nvSpPr>
        <p:spPr>
          <a:xfrm>
            <a:off x="0" y="1038687"/>
            <a:ext cx="12192000" cy="5819313"/>
          </a:xfrm>
        </p:spPr>
        <p:txBody>
          <a:bodyPr>
            <a:noAutofit/>
          </a:bodyPr>
          <a:lstStyle/>
          <a:p>
            <a:pPr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3.Government Overreach: </a:t>
            </a:r>
          </a:p>
          <a:p>
            <a:pPr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Socialism often requires a strong, centralized government to manage the economy, which can lead to excessive state control. </a:t>
            </a:r>
          </a:p>
          <a:p>
            <a:pPr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This can result in a lack of personal freedoms and, in extreme cases, authoritarian regimes.</a:t>
            </a:r>
          </a:p>
          <a:p>
            <a:pPr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4. Higher Taxes:  </a:t>
            </a:r>
            <a:r>
              <a:rPr lang="en-US" dirty="0">
                <a:latin typeface="Times New Roman" panose="02020603050405020304" pitchFamily="18" charset="0"/>
                <a:cs typeface="Times New Roman" panose="02020603050405020304" pitchFamily="18" charset="0"/>
              </a:rPr>
              <a:t>To fund social programs, governments in socialist systems may impose high taxes, which can be unpopular and may discourage investment and entrepreneurship.</a:t>
            </a:r>
          </a:p>
          <a:p>
            <a:pPr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5. Potential for Corruption:   </a:t>
            </a:r>
          </a:p>
          <a:p>
            <a:pPr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concentration of power in the hands of the state can lead to corruption, as individuals or groups may exploit their position to enrich themselves at the expense of the general population.</a:t>
            </a:r>
          </a:p>
        </p:txBody>
      </p:sp>
    </p:spTree>
    <p:extLst>
      <p:ext uri="{BB962C8B-B14F-4D97-AF65-F5344CB8AC3E}">
        <p14:creationId xmlns:p14="http://schemas.microsoft.com/office/powerpoint/2010/main" val="23308872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DDF00-83EF-C43F-C25D-88B162A05E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6BCD1C-EEA7-2BE6-5192-23463318CB36}"/>
              </a:ext>
            </a:extLst>
          </p:cNvPr>
          <p:cNvSpPr>
            <a:spLocks noGrp="1"/>
          </p:cNvSpPr>
          <p:nvPr>
            <p:ph type="title"/>
          </p:nvPr>
        </p:nvSpPr>
        <p:spPr>
          <a:xfrm>
            <a:off x="838200" y="1017037"/>
            <a:ext cx="10515600" cy="673651"/>
          </a:xfrm>
        </p:spPr>
        <p:txBody>
          <a:bodyPr>
            <a:normAutofit fontScale="90000"/>
          </a:bodyPr>
          <a:lstStyle/>
          <a:p>
            <a:r>
              <a:rPr lang="en-US" b="1" dirty="0">
                <a:latin typeface="Arial" panose="020B0604020202020204" pitchFamily="34" charset="0"/>
                <a:cs typeface="Arial" panose="020B0604020202020204" pitchFamily="34" charset="0"/>
              </a:rPr>
              <a:t>Summary</a:t>
            </a:r>
          </a:p>
        </p:txBody>
      </p:sp>
      <p:sp>
        <p:nvSpPr>
          <p:cNvPr id="3" name="Content Placeholder 2">
            <a:extLst>
              <a:ext uri="{FF2B5EF4-FFF2-40B4-BE49-F238E27FC236}">
                <a16:creationId xmlns:a16="http://schemas.microsoft.com/office/drawing/2014/main" id="{978C71AC-DF13-A02C-5FEA-EA7EDABD9A9C}"/>
              </a:ext>
            </a:extLst>
          </p:cNvPr>
          <p:cNvSpPr>
            <a:spLocks noGrp="1"/>
          </p:cNvSpPr>
          <p:nvPr>
            <p:ph idx="1"/>
          </p:nvPr>
        </p:nvSpPr>
        <p:spPr/>
        <p:txBody>
          <a:bodyPr>
            <a:noAutofit/>
          </a:bodyPr>
          <a:lstStyle/>
          <a:p>
            <a:pPr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Socialism is a multifaceted political and economic system with roots in the works of thinkers like Karl Marx, Friedrich Engels, John Stuart Mill, and Eduard Bernstein.</a:t>
            </a:r>
          </a:p>
          <a:p>
            <a:pPr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 While it promises equality, social welfare, and the elimination of exploitation, it also faces criticism for its potential inefficiencies, reduced incentives, and the risk of government overreach. </a:t>
            </a:r>
          </a:p>
          <a:p>
            <a:pPr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debate between socialism and capitalism continues to shape political discourse around the world.</a:t>
            </a:r>
          </a:p>
        </p:txBody>
      </p:sp>
    </p:spTree>
    <p:extLst>
      <p:ext uri="{BB962C8B-B14F-4D97-AF65-F5344CB8AC3E}">
        <p14:creationId xmlns:p14="http://schemas.microsoft.com/office/powerpoint/2010/main" val="29227113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Pakistan Map - GIS Geography">
            <a:extLst>
              <a:ext uri="{FF2B5EF4-FFF2-40B4-BE49-F238E27FC236}">
                <a16:creationId xmlns:a16="http://schemas.microsoft.com/office/drawing/2014/main" id="{7BA35F9B-DC44-4A02-8099-C408F3D346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1184" y="7147"/>
            <a:ext cx="7290816" cy="685085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7EC4A454-91BA-4ADA-AE55-AA65B686E9FE}"/>
              </a:ext>
            </a:extLst>
          </p:cNvPr>
          <p:cNvSpPr/>
          <p:nvPr/>
        </p:nvSpPr>
        <p:spPr>
          <a:xfrm>
            <a:off x="0" y="0"/>
            <a:ext cx="630936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1C8A68D2-CBC2-4A62-B5D4-3B09AEA58F2F}"/>
              </a:ext>
            </a:extLst>
          </p:cNvPr>
          <p:cNvSpPr>
            <a:spLocks noGrp="1"/>
          </p:cNvSpPr>
          <p:nvPr>
            <p:ph type="ctrTitle"/>
          </p:nvPr>
        </p:nvSpPr>
        <p:spPr>
          <a:xfrm>
            <a:off x="329184" y="2235200"/>
            <a:ext cx="9144000" cy="2387600"/>
          </a:xfrm>
        </p:spPr>
        <p:txBody>
          <a:bodyPr>
            <a:normAutofit/>
          </a:bodyPr>
          <a:lstStyle/>
          <a:p>
            <a:pPr algn="l"/>
            <a:r>
              <a:rPr lang="en-GB" sz="4800" b="1" dirty="0">
                <a:solidFill>
                  <a:schemeClr val="bg1"/>
                </a:solidFill>
                <a:latin typeface="Arial" panose="020B0604020202020204" pitchFamily="34" charset="0"/>
                <a:cs typeface="Arial" panose="020B0604020202020204" pitchFamily="34" charset="0"/>
              </a:rPr>
              <a:t>HOW THE YOUTH</a:t>
            </a:r>
            <a:br>
              <a:rPr lang="en-GB" sz="4800" b="1" dirty="0">
                <a:solidFill>
                  <a:schemeClr val="bg1"/>
                </a:solidFill>
                <a:latin typeface="Arial" panose="020B0604020202020204" pitchFamily="34" charset="0"/>
                <a:cs typeface="Arial" panose="020B0604020202020204" pitchFamily="34" charset="0"/>
              </a:rPr>
            </a:br>
            <a:r>
              <a:rPr lang="en-GB" sz="4800" b="1" dirty="0">
                <a:solidFill>
                  <a:schemeClr val="bg1"/>
                </a:solidFill>
                <a:latin typeface="Arial" panose="020B0604020202020204" pitchFamily="34" charset="0"/>
                <a:cs typeface="Arial" panose="020B0604020202020204" pitchFamily="34" charset="0"/>
              </a:rPr>
              <a:t>FEELS ABOUT</a:t>
            </a:r>
            <a:br>
              <a:rPr lang="en-GB" sz="4800" b="1" dirty="0">
                <a:solidFill>
                  <a:schemeClr val="bg1"/>
                </a:solidFill>
                <a:latin typeface="Arial" panose="020B0604020202020204" pitchFamily="34" charset="0"/>
                <a:cs typeface="Arial" panose="020B0604020202020204" pitchFamily="34" charset="0"/>
              </a:rPr>
            </a:br>
            <a:r>
              <a:rPr lang="en-GB" sz="4800" b="1" dirty="0">
                <a:solidFill>
                  <a:schemeClr val="bg1"/>
                </a:solidFill>
                <a:latin typeface="Arial" panose="020B0604020202020204" pitchFamily="34" charset="0"/>
                <a:cs typeface="Arial" panose="020B0604020202020204" pitchFamily="34" charset="0"/>
              </a:rPr>
              <a:t>TUF ??</a:t>
            </a:r>
          </a:p>
        </p:txBody>
      </p:sp>
    </p:spTree>
    <p:extLst>
      <p:ext uri="{BB962C8B-B14F-4D97-AF65-F5344CB8AC3E}">
        <p14:creationId xmlns:p14="http://schemas.microsoft.com/office/powerpoint/2010/main" val="22118924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836</TotalTime>
  <Words>976</Words>
  <Application>Microsoft Office PowerPoint</Application>
  <PresentationFormat>Widescreen</PresentationFormat>
  <Paragraphs>60</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Bahnschrift</vt:lpstr>
      <vt:lpstr>Calibri</vt:lpstr>
      <vt:lpstr>Calibri Light</vt:lpstr>
      <vt:lpstr>Times New Roman</vt:lpstr>
      <vt:lpstr>Wingdings</vt:lpstr>
      <vt:lpstr>Office Theme</vt:lpstr>
      <vt:lpstr>Socialism, Introduction ,Definitions &amp;  its Benefits and Drawbacks </vt:lpstr>
      <vt:lpstr>Introduction to Socialism:</vt:lpstr>
      <vt:lpstr>Definitions of Socialism by Four Western Thinkers:</vt:lpstr>
      <vt:lpstr>2. Friedrich Engels (1820–1895):</vt:lpstr>
      <vt:lpstr>3. John Stuart Mill (1806–1873):</vt:lpstr>
      <vt:lpstr>4. Eduard Bernstein (1850–1932)</vt:lpstr>
      <vt:lpstr>Benefits of Socialism:</vt:lpstr>
      <vt:lpstr>2. Universal Access to Basic Needs:</vt:lpstr>
      <vt:lpstr>3. Reduced Exploitation of Workers:</vt:lpstr>
      <vt:lpstr>4. Public Welfare and Security: 5. Focus on Collective Good:</vt:lpstr>
      <vt:lpstr>Drawbacks of Socialism:</vt:lpstr>
      <vt:lpstr>PowerPoint Presentation</vt:lpstr>
      <vt:lpstr>Summary</vt:lpstr>
      <vt:lpstr>HOW THE YOUTH FEELS ABOUT TUF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Sofia Sultana</dc:creator>
  <cp:lastModifiedBy>DELL</cp:lastModifiedBy>
  <cp:revision>35</cp:revision>
  <dcterms:created xsi:type="dcterms:W3CDTF">2024-06-21T09:49:54Z</dcterms:created>
  <dcterms:modified xsi:type="dcterms:W3CDTF">2025-04-05T15:17:58Z</dcterms:modified>
</cp:coreProperties>
</file>