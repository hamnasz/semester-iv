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9" r:id="rId3"/>
    <p:sldId id="843" r:id="rId4"/>
    <p:sldId id="844" r:id="rId5"/>
    <p:sldId id="842" r:id="rId6"/>
    <p:sldId id="845" r:id="rId7"/>
    <p:sldId id="846" r:id="rId8"/>
    <p:sldId id="832" r:id="rId9"/>
    <p:sldId id="833" r:id="rId10"/>
    <p:sldId id="834" r:id="rId11"/>
    <p:sldId id="835" r:id="rId12"/>
    <p:sldId id="836" r:id="rId13"/>
    <p:sldId id="847" r:id="rId14"/>
    <p:sldId id="848" r:id="rId15"/>
    <p:sldId id="849" r:id="rId16"/>
    <p:sldId id="850" r:id="rId17"/>
    <p:sldId id="851" r:id="rId18"/>
    <p:sldId id="852" r:id="rId19"/>
    <p:sldId id="853" r:id="rId20"/>
    <p:sldId id="277" r:id="rId21"/>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75" autoAdjust="0"/>
    <p:restoredTop sz="94660"/>
  </p:normalViewPr>
  <p:slideViewPr>
    <p:cSldViewPr snapToGrid="0">
      <p:cViewPr>
        <p:scale>
          <a:sx n="72" d="100"/>
          <a:sy n="72" d="100"/>
        </p:scale>
        <p:origin x="1176" y="3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F304D-9FBF-4B4D-AB5C-790149BB44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000C0F5D-325B-4660-8632-EBB9EC084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3FBC7CD5-CB98-4F1C-8F4E-14A8F9EE1811}"/>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5" name="Footer Placeholder 4">
            <a:extLst>
              <a:ext uri="{FF2B5EF4-FFF2-40B4-BE49-F238E27FC236}">
                <a16:creationId xmlns:a16="http://schemas.microsoft.com/office/drawing/2014/main" id="{9DA69AAB-D032-4740-999C-6FECB3BEC83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1F2CE2C-3FF8-4ED5-9A0F-6E35B87E8B6F}"/>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683214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1BF5-D802-48A8-8681-E64C843E4622}"/>
              </a:ext>
            </a:extLst>
          </p:cNvPr>
          <p:cNvSpPr>
            <a:spLocks noGrp="1"/>
          </p:cNvSpPr>
          <p:nvPr>
            <p:ph type="title"/>
          </p:nvPr>
        </p:nvSpPr>
        <p:spPr/>
        <p:txBody>
          <a:body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4D563E54-C420-46A7-95A3-D26D99CE95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9E21E6C-72DA-4925-94EE-0D245623B79C}"/>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5" name="Footer Placeholder 4">
            <a:extLst>
              <a:ext uri="{FF2B5EF4-FFF2-40B4-BE49-F238E27FC236}">
                <a16:creationId xmlns:a16="http://schemas.microsoft.com/office/drawing/2014/main" id="{E316D8A9-019D-413B-8A1E-F14D6EE356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050099F-8C38-444A-A7F8-21336A623DAA}"/>
              </a:ext>
            </a:extLst>
          </p:cNvPr>
          <p:cNvSpPr>
            <a:spLocks noGrp="1"/>
          </p:cNvSpPr>
          <p:nvPr>
            <p:ph type="sldNum" sz="quarter" idx="12"/>
          </p:nvPr>
        </p:nvSpPr>
        <p:spPr/>
        <p:txBody>
          <a:bodyPr/>
          <a:lstStyle/>
          <a:p>
            <a:fld id="{6EB9F7D7-3C9C-4146-9FA1-B77DEB44278D}" type="slidenum">
              <a:rPr lang="en-PK" smtClean="0"/>
              <a:t>‹#›</a:t>
            </a:fld>
            <a:endParaRPr lang="en-PK"/>
          </a:p>
        </p:txBody>
      </p:sp>
      <p:grpSp>
        <p:nvGrpSpPr>
          <p:cNvPr id="7" name="Group 6">
            <a:extLst>
              <a:ext uri="{FF2B5EF4-FFF2-40B4-BE49-F238E27FC236}">
                <a16:creationId xmlns:a16="http://schemas.microsoft.com/office/drawing/2014/main" id="{F0218E89-FE91-00B4-51A7-30EDB0077FF4}"/>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id="{E37595A1-2135-3D78-300B-6424FD5AED4E}"/>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9" name="Picture 8">
              <a:extLst>
                <a:ext uri="{FF2B5EF4-FFF2-40B4-BE49-F238E27FC236}">
                  <a16:creationId xmlns:a16="http://schemas.microsoft.com/office/drawing/2014/main" id="{EBEB6545-D48A-0447-0BA5-0656B10AF9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9">
              <a:extLst>
                <a:ext uri="{FF2B5EF4-FFF2-40B4-BE49-F238E27FC236}">
                  <a16:creationId xmlns:a16="http://schemas.microsoft.com/office/drawing/2014/main" id="{180CE087-3B89-F374-6DAC-24EEEF115F4B}"/>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1" name="Graphic 10">
              <a:extLst>
                <a:ext uri="{FF2B5EF4-FFF2-40B4-BE49-F238E27FC236}">
                  <a16:creationId xmlns:a16="http://schemas.microsoft.com/office/drawing/2014/main" id="{D59E33EF-663A-D56C-12B7-28125E3082D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2" name="TextBox 11">
              <a:extLst>
                <a:ext uri="{FF2B5EF4-FFF2-40B4-BE49-F238E27FC236}">
                  <a16:creationId xmlns:a16="http://schemas.microsoft.com/office/drawing/2014/main" id="{BC576DC8-6A73-451C-8C8B-8BC1A853D76E}"/>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3" name="Graphic 12">
              <a:extLst>
                <a:ext uri="{FF2B5EF4-FFF2-40B4-BE49-F238E27FC236}">
                  <a16:creationId xmlns:a16="http://schemas.microsoft.com/office/drawing/2014/main" id="{B3544839-1D07-040D-FC86-44ED873A095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7A9CA787-F66D-BEAC-0010-024AE8FB388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175964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43EB3-C47B-49A1-BB67-347B61A6D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61CE9B96-3C04-415D-86F4-32630CB36F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7AA9B9-E771-49B5-9E2D-06EAF24C17E6}"/>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5" name="Footer Placeholder 4">
            <a:extLst>
              <a:ext uri="{FF2B5EF4-FFF2-40B4-BE49-F238E27FC236}">
                <a16:creationId xmlns:a16="http://schemas.microsoft.com/office/drawing/2014/main" id="{5AE7F1A7-FFC1-4BDE-908E-7A849372FAF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BE47FAB-5890-41CE-8DA9-CB5788221706}"/>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46498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8E66-B67C-4351-89B6-A169553C061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5C791AA4-B785-4E02-B612-05E57B25A9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E410E598-0767-477D-B9E8-2BCCF5C511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B86D8C23-6B26-4B19-BEEB-7AEFC2A18F66}"/>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6" name="Footer Placeholder 5">
            <a:extLst>
              <a:ext uri="{FF2B5EF4-FFF2-40B4-BE49-F238E27FC236}">
                <a16:creationId xmlns:a16="http://schemas.microsoft.com/office/drawing/2014/main" id="{E8CB8FE9-ABD0-4AA5-986C-BC29ECC4F014}"/>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47F8042-F61C-495E-8C35-E7989AA7EE9D}"/>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561973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1205-E47B-4E88-8DFD-1C6071B7AD7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7C64C0F1-91A6-4158-8855-0C7208370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AB615B-6DBF-4632-94D0-3791085A6C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B7CB3133-8FE9-4883-B870-D642C1DF03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8078B5-E153-4D81-A163-C758FDB897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5D200C8-3958-4AE2-85B4-16A6511DDDE9}"/>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8" name="Footer Placeholder 7">
            <a:extLst>
              <a:ext uri="{FF2B5EF4-FFF2-40B4-BE49-F238E27FC236}">
                <a16:creationId xmlns:a16="http://schemas.microsoft.com/office/drawing/2014/main" id="{6A253149-4D4C-46D5-8100-4A3D9F41B000}"/>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65B7D50A-B373-419E-9BDA-973DC1118760}"/>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27662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C455-2666-47C6-BF3E-44EE0A2900AC}"/>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2BCDB8A3-54C9-4DF0-AF58-847CC781E947}"/>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4" name="Footer Placeholder 3">
            <a:extLst>
              <a:ext uri="{FF2B5EF4-FFF2-40B4-BE49-F238E27FC236}">
                <a16:creationId xmlns:a16="http://schemas.microsoft.com/office/drawing/2014/main" id="{CB3A80F5-1CBF-45BD-A6AD-6BE98C141DE2}"/>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67E03123-314A-4412-8618-E5C45344E1D4}"/>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214327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FC5179-D82F-40FA-BF21-7AA507CE0823}"/>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3" name="Footer Placeholder 2">
            <a:extLst>
              <a:ext uri="{FF2B5EF4-FFF2-40B4-BE49-F238E27FC236}">
                <a16:creationId xmlns:a16="http://schemas.microsoft.com/office/drawing/2014/main" id="{C1CC15DB-F842-49C3-B55B-A16E3884385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38FDBBF2-4194-4BEA-AC76-A5704F3BBC0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140227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38F8C-D3DE-403C-AF37-746C3367B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8DF2B9D-4546-43D6-91C9-FFB86CF4EA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BF656608-3C52-495D-A214-A55C36D00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98E0AF-DD29-4C26-82C8-ACF8330BE670}"/>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6" name="Footer Placeholder 5">
            <a:extLst>
              <a:ext uri="{FF2B5EF4-FFF2-40B4-BE49-F238E27FC236}">
                <a16:creationId xmlns:a16="http://schemas.microsoft.com/office/drawing/2014/main" id="{5BC35345-7A18-4D42-9681-50058B9D5D5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CB22563-5A9D-4035-99DC-A96787B7BEA2}"/>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22126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83F7-E36A-48E5-8DCA-087E21BBE4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822A8EBF-99DA-4706-BCCE-9EBA54596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124EF8FC-B1A6-401C-9069-13842D8C8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A73258-FD4E-43EE-BF6C-3DADDEA90459}"/>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6" name="Footer Placeholder 5">
            <a:extLst>
              <a:ext uri="{FF2B5EF4-FFF2-40B4-BE49-F238E27FC236}">
                <a16:creationId xmlns:a16="http://schemas.microsoft.com/office/drawing/2014/main" id="{170AB588-D788-4246-8BC5-FC3FB748507C}"/>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7FFFD2F-0AC3-4390-8990-6C3DDE5525F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91629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B165-E271-4702-AC6D-63BC723EAB6A}"/>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1555CA41-5CBD-4E65-95AA-B3EFB8BD3B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19ACED0-31DD-4C4F-B63A-02250626EB2F}"/>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5" name="Footer Placeholder 4">
            <a:extLst>
              <a:ext uri="{FF2B5EF4-FFF2-40B4-BE49-F238E27FC236}">
                <a16:creationId xmlns:a16="http://schemas.microsoft.com/office/drawing/2014/main" id="{A995553D-FD7D-4432-BC5C-F78462D738A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1E46CDF-12B4-4900-A154-E219D22E95B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57631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29BF1E-BE8B-4353-B936-AE8071F91C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B322873-176A-4EA9-9941-DC9941F475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DD35E231-43A9-48DA-833A-A8750A6CA7EC}"/>
              </a:ext>
            </a:extLst>
          </p:cNvPr>
          <p:cNvSpPr>
            <a:spLocks noGrp="1"/>
          </p:cNvSpPr>
          <p:nvPr>
            <p:ph type="dt" sz="half" idx="10"/>
          </p:nvPr>
        </p:nvSpPr>
        <p:spPr/>
        <p:txBody>
          <a:bodyPr/>
          <a:lstStyle/>
          <a:p>
            <a:fld id="{3237A82C-AEEE-48DB-A866-3B1CA0AC9D5D}" type="datetimeFigureOut">
              <a:rPr lang="en-PK" smtClean="0"/>
              <a:t>03/15/2025</a:t>
            </a:fld>
            <a:endParaRPr lang="en-PK"/>
          </a:p>
        </p:txBody>
      </p:sp>
      <p:sp>
        <p:nvSpPr>
          <p:cNvPr id="5" name="Footer Placeholder 4">
            <a:extLst>
              <a:ext uri="{FF2B5EF4-FFF2-40B4-BE49-F238E27FC236}">
                <a16:creationId xmlns:a16="http://schemas.microsoft.com/office/drawing/2014/main" id="{00B07A8C-6932-4260-BAAA-DBE1B12880F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AFE6F17-3B9F-4C75-98BF-F79F5D018AE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210841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sv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339B51-54CA-49F5-8966-F46D83C42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2519CFAA-AD75-4697-91AC-85CEC6C6B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4127230-2512-4F28-A281-14854D147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en-PK" smtClean="0"/>
              <a:t>03/15/2025</a:t>
            </a:fld>
            <a:endParaRPr lang="en-PK"/>
          </a:p>
        </p:txBody>
      </p:sp>
      <p:sp>
        <p:nvSpPr>
          <p:cNvPr id="5" name="Footer Placeholder 4">
            <a:extLst>
              <a:ext uri="{FF2B5EF4-FFF2-40B4-BE49-F238E27FC236}">
                <a16:creationId xmlns:a16="http://schemas.microsoft.com/office/drawing/2014/main" id="{4FD06234-7A7A-4EED-8F6D-3D8EBC2D1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AA549BF4-1286-4C31-9FB5-ED9DDFE1E6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en-PK" smtClean="0"/>
              <a:t>‹#›</a:t>
            </a:fld>
            <a:endParaRPr lang="en-PK"/>
          </a:p>
        </p:txBody>
      </p:sp>
      <p:grpSp>
        <p:nvGrpSpPr>
          <p:cNvPr id="7" name="Group 6">
            <a:extLst>
              <a:ext uri="{FF2B5EF4-FFF2-40B4-BE49-F238E27FC236}">
                <a16:creationId xmlns:a16="http://schemas.microsoft.com/office/drawing/2014/main" id="{B19BF24E-8857-15FB-35DC-63E8E05BDC44}"/>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id="{D73BBF49-CEAD-EB1E-4F95-D8617074BCBF}"/>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9" name="Picture 8">
              <a:extLst>
                <a:ext uri="{FF2B5EF4-FFF2-40B4-BE49-F238E27FC236}">
                  <a16:creationId xmlns:a16="http://schemas.microsoft.com/office/drawing/2014/main" id="{5179C005-0F7F-3F16-56A7-110BCB515BD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9">
              <a:extLst>
                <a:ext uri="{FF2B5EF4-FFF2-40B4-BE49-F238E27FC236}">
                  <a16:creationId xmlns:a16="http://schemas.microsoft.com/office/drawing/2014/main" id="{8FE68011-1363-83B0-5E92-A0541D3016C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1" name="Graphic 10">
              <a:extLst>
                <a:ext uri="{FF2B5EF4-FFF2-40B4-BE49-F238E27FC236}">
                  <a16:creationId xmlns:a16="http://schemas.microsoft.com/office/drawing/2014/main" id="{74624E39-ED07-3779-81D7-346EFACDFF0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12" name="TextBox 11">
              <a:extLst>
                <a:ext uri="{FF2B5EF4-FFF2-40B4-BE49-F238E27FC236}">
                  <a16:creationId xmlns:a16="http://schemas.microsoft.com/office/drawing/2014/main" id="{4C3B84DB-A1EC-D7DD-EDFF-3EA1DE840F4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3" name="Graphic 12">
              <a:extLst>
                <a:ext uri="{FF2B5EF4-FFF2-40B4-BE49-F238E27FC236}">
                  <a16:creationId xmlns:a16="http://schemas.microsoft.com/office/drawing/2014/main" id="{7C8D8347-E136-3293-DD8A-B522E9102E5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AB363484-B7E9-D079-335D-5D969BC6C82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4013388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EF21E1-2D98-4671-AEAF-A201BC9C40D1}"/>
              </a:ext>
            </a:extLst>
          </p:cNvPr>
          <p:cNvSpPr/>
          <p:nvPr/>
        </p:nvSpPr>
        <p:spPr>
          <a:xfrm>
            <a:off x="0"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946CD5F-621C-4899-B8C5-417BE3F1ECD0}"/>
              </a:ext>
            </a:extLst>
          </p:cNvPr>
          <p:cNvSpPr>
            <a:spLocks noGrp="1"/>
          </p:cNvSpPr>
          <p:nvPr>
            <p:ph type="ctrTitle"/>
          </p:nvPr>
        </p:nvSpPr>
        <p:spPr>
          <a:xfrm>
            <a:off x="-162787" y="0"/>
            <a:ext cx="12192000" cy="3255963"/>
          </a:xfrm>
        </p:spPr>
        <p:txBody>
          <a:bodyPr>
            <a:normAutofit fontScale="90000"/>
          </a:bodyPr>
          <a:lstStyle/>
          <a:p>
            <a:r>
              <a:rPr lang="en-US" b="1" dirty="0">
                <a:solidFill>
                  <a:schemeClr val="bg1"/>
                </a:solidFill>
                <a:latin typeface="Bahnschrift" panose="020B0502040204020203" pitchFamily="34" charset="0"/>
              </a:rPr>
              <a:t>Islamic Concepts of Halal o Haram and its Economic</a:t>
            </a:r>
            <a:br>
              <a:rPr lang="en-US" b="1" dirty="0">
                <a:solidFill>
                  <a:schemeClr val="bg1"/>
                </a:solidFill>
                <a:latin typeface="Bahnschrift" panose="020B0502040204020203" pitchFamily="34" charset="0"/>
              </a:rPr>
            </a:br>
            <a:r>
              <a:rPr lang="en-US" b="1" dirty="0">
                <a:solidFill>
                  <a:schemeClr val="bg1"/>
                </a:solidFill>
                <a:latin typeface="Bahnschrift" panose="020B0502040204020203" pitchFamily="34" charset="0"/>
              </a:rPr>
              <a:t> &amp;</a:t>
            </a:r>
            <a:br>
              <a:rPr lang="en-US" b="1" dirty="0">
                <a:solidFill>
                  <a:schemeClr val="bg1"/>
                </a:solidFill>
                <a:latin typeface="Bahnschrift" panose="020B0502040204020203" pitchFamily="34" charset="0"/>
              </a:rPr>
            </a:br>
            <a:r>
              <a:rPr lang="en-US" b="1" dirty="0">
                <a:solidFill>
                  <a:schemeClr val="bg1"/>
                </a:solidFill>
                <a:latin typeface="Bahnschrift" panose="020B0502040204020203" pitchFamily="34" charset="0"/>
              </a:rPr>
              <a:t> Social Impacts on daily Life</a:t>
            </a:r>
            <a:endParaRPr lang="en-GB" dirty="0"/>
          </a:p>
        </p:txBody>
      </p:sp>
      <p:sp>
        <p:nvSpPr>
          <p:cNvPr id="3" name="Subtitle 2">
            <a:extLst>
              <a:ext uri="{FF2B5EF4-FFF2-40B4-BE49-F238E27FC236}">
                <a16:creationId xmlns:a16="http://schemas.microsoft.com/office/drawing/2014/main" id="{EC406DBB-5AF5-48F8-9377-D0A0ACE9B10B}"/>
              </a:ext>
            </a:extLst>
          </p:cNvPr>
          <p:cNvSpPr>
            <a:spLocks noGrp="1"/>
          </p:cNvSpPr>
          <p:nvPr>
            <p:ph type="subTitle" idx="1"/>
          </p:nvPr>
        </p:nvSpPr>
        <p:spPr>
          <a:xfrm>
            <a:off x="4569071" y="4081685"/>
            <a:ext cx="7557796" cy="1153160"/>
          </a:xfrm>
        </p:spPr>
        <p:txBody>
          <a:bodyPr>
            <a:noAutofit/>
          </a:bodyPr>
          <a:lstStyle/>
          <a:p>
            <a:pPr algn="l"/>
            <a:r>
              <a:rPr lang="en-GB" sz="3600" b="1" dirty="0">
                <a:solidFill>
                  <a:schemeClr val="bg1"/>
                </a:solidFill>
                <a:latin typeface="Bahnschrift" panose="020B0502040204020203" pitchFamily="34" charset="0"/>
              </a:rPr>
              <a:t>Economics in Islamic Perspective</a:t>
            </a:r>
          </a:p>
          <a:p>
            <a:r>
              <a:rPr lang="en-GB" sz="3600" b="1" dirty="0">
                <a:solidFill>
                  <a:schemeClr val="bg1"/>
                </a:solidFill>
                <a:latin typeface="Bahnschrift" panose="020B0502040204020203" pitchFamily="34" charset="0"/>
                <a:cs typeface="Arial" panose="020B0604020202020204" pitchFamily="34" charset="0"/>
              </a:rPr>
              <a:t>Lecture No: 5</a:t>
            </a:r>
            <a:endParaRPr lang="en-GB" sz="3600" b="1" dirty="0">
              <a:solidFill>
                <a:schemeClr val="bg2"/>
              </a:solidFill>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6DA394B8-F89E-45AC-9E3F-FEC161BFAFAB}"/>
              </a:ext>
            </a:extLst>
          </p:cNvPr>
          <p:cNvSpPr txBox="1">
            <a:spLocks/>
          </p:cNvSpPr>
          <p:nvPr/>
        </p:nvSpPr>
        <p:spPr>
          <a:xfrm>
            <a:off x="1158240" y="5331778"/>
            <a:ext cx="2828544" cy="719138"/>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b="1" dirty="0">
                <a:latin typeface="Arial" panose="020B0604020202020204" pitchFamily="34" charset="0"/>
                <a:cs typeface="Arial" panose="020B0604020202020204" pitchFamily="34" charset="0"/>
              </a:rPr>
              <a:t>16 March  2025</a:t>
            </a:r>
          </a:p>
        </p:txBody>
      </p:sp>
      <p:pic>
        <p:nvPicPr>
          <p:cNvPr id="10" name="Graphic 9">
            <a:extLst>
              <a:ext uri="{FF2B5EF4-FFF2-40B4-BE49-F238E27FC236}">
                <a16:creationId xmlns:a16="http://schemas.microsoft.com/office/drawing/2014/main" id="{1C869FE1-C1C4-48A8-AA9E-99CAE025BE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62283" y="0"/>
            <a:ext cx="3611690" cy="3611690"/>
          </a:xfrm>
          <a:prstGeom prst="rect">
            <a:avLst/>
          </a:prstGeom>
        </p:spPr>
      </p:pic>
    </p:spTree>
    <p:extLst>
      <p:ext uri="{BB962C8B-B14F-4D97-AF65-F5344CB8AC3E}">
        <p14:creationId xmlns:p14="http://schemas.microsoft.com/office/powerpoint/2010/main" val="52479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E409FE-0CBB-4EAD-8A22-C51F65DE1771}"/>
              </a:ext>
            </a:extLst>
          </p:cNvPr>
          <p:cNvSpPr>
            <a:spLocks noGrp="1"/>
          </p:cNvSpPr>
          <p:nvPr>
            <p:ph idx="1"/>
          </p:nvPr>
        </p:nvSpPr>
        <p:spPr/>
        <p:txBody>
          <a:bodyPr>
            <a:noAutofit/>
          </a:bodyPr>
          <a:lstStyle/>
          <a:p>
            <a:pPr indent="-457200"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concepts of halal (permissible) and haram (forbidden) in Islam are fundamental and are derived primarily from the Quran and the Sunnah (the practices of the Holy Prophet Muhammad, peace be upon him).</a:t>
            </a:r>
          </a:p>
          <a:p>
            <a:pPr indent="-457200"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Here’s a breakdown of these concepts based on Quranic verses and Hadith:</a:t>
            </a:r>
          </a:p>
        </p:txBody>
      </p:sp>
      <p:grpSp>
        <p:nvGrpSpPr>
          <p:cNvPr id="8" name="Group 7">
            <a:extLst>
              <a:ext uri="{FF2B5EF4-FFF2-40B4-BE49-F238E27FC236}">
                <a16:creationId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0" name="Picture 9">
              <a:extLst>
                <a:ext uri="{FF2B5EF4-FFF2-40B4-BE49-F238E27FC236}">
                  <a16:creationId xmlns:a16="http://schemas.microsoft.com/office/drawing/2014/main" id="{D279BBF0-3F01-4944-AF8F-73A34B5B9C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2"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4"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id="{F83660F3-45D1-4CA0-BE2A-E7E6C1B794A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Title 1">
            <a:extLst>
              <a:ext uri="{FF2B5EF4-FFF2-40B4-BE49-F238E27FC236}">
                <a16:creationId xmlns:a16="http://schemas.microsoft.com/office/drawing/2014/main" id="{6FC1E4C0-6CE2-D746-1DD1-D683AC0B374A}"/>
              </a:ext>
            </a:extLst>
          </p:cNvPr>
          <p:cNvSpPr>
            <a:spLocks noGrp="1"/>
          </p:cNvSpPr>
          <p:nvPr>
            <p:ph type="title"/>
          </p:nvPr>
        </p:nvSpPr>
        <p:spPr>
          <a:xfrm>
            <a:off x="838200" y="1138335"/>
            <a:ext cx="10515600" cy="687290"/>
          </a:xfrm>
        </p:spPr>
        <p:txBody>
          <a:bodyPr>
            <a:normAutofit fontScale="90000"/>
          </a:bodyPr>
          <a:lstStyle/>
          <a:p>
            <a:r>
              <a:rPr lang="en-US" b="1" dirty="0">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1438584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6B3DD-4C8E-68C6-EC4F-E9AC262C7A92}"/>
              </a:ext>
            </a:extLst>
          </p:cNvPr>
          <p:cNvSpPr>
            <a:spLocks noGrp="1"/>
          </p:cNvSpPr>
          <p:nvPr>
            <p:ph type="title"/>
          </p:nvPr>
        </p:nvSpPr>
        <p:spPr>
          <a:xfrm>
            <a:off x="838200" y="1115736"/>
            <a:ext cx="10515600" cy="980476"/>
          </a:xfrm>
        </p:spPr>
        <p:txBody>
          <a:bodyPr>
            <a:normAutofit/>
          </a:bodyPr>
          <a:lstStyle/>
          <a:p>
            <a:r>
              <a:rPr lang="en-US" b="1" i="0" dirty="0">
                <a:effectLst/>
                <a:latin typeface="Times New Roman" panose="02020603050405020304" pitchFamily="18" charset="0"/>
                <a:cs typeface="Times New Roman" panose="02020603050405020304" pitchFamily="18" charset="0"/>
              </a:rPr>
              <a:t>1. Halal (Permissible)</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7FD3F65-A32F-7F84-39E9-2D728615CD96}"/>
              </a:ext>
            </a:extLst>
          </p:cNvPr>
          <p:cNvSpPr>
            <a:spLocks noGrp="1"/>
          </p:cNvSpPr>
          <p:nvPr>
            <p:ph idx="1"/>
          </p:nvPr>
        </p:nvSpPr>
        <p:spPr>
          <a:xfrm>
            <a:off x="0" y="1917577"/>
            <a:ext cx="12192000" cy="4940423"/>
          </a:xfrm>
        </p:spPr>
        <p:txBody>
          <a:bodyPr>
            <a:noAutofit/>
          </a:bodyPr>
          <a:lstStyle/>
          <a:p>
            <a:pPr marL="0" indent="0">
              <a:lnSpc>
                <a:spcPct val="160000"/>
              </a:lnSpc>
              <a:spcBef>
                <a:spcPts val="0"/>
              </a:spcBef>
              <a:buNone/>
            </a:pPr>
            <a:r>
              <a:rPr lang="en-US" sz="2000" dirty="0">
                <a:latin typeface="Times New Roman" panose="02020603050405020304" pitchFamily="18" charset="0"/>
                <a:cs typeface="Times New Roman" panose="02020603050405020304" pitchFamily="18" charset="0"/>
              </a:rPr>
              <a:t>Things that are halal are those actions, foods, behaviors, and practices that are allowed or encouraged in Islam. </a:t>
            </a:r>
          </a:p>
          <a:p>
            <a:pPr marL="0" indent="0">
              <a:lnSpc>
                <a:spcPct val="160000"/>
              </a:lnSpc>
              <a:spcBef>
                <a:spcPts val="0"/>
              </a:spcBef>
              <a:buNone/>
            </a:pPr>
            <a:r>
              <a:rPr lang="en-US" sz="2000" dirty="0">
                <a:latin typeface="Times New Roman" panose="02020603050405020304" pitchFamily="18" charset="0"/>
                <a:cs typeface="Times New Roman" panose="02020603050405020304" pitchFamily="18" charset="0"/>
              </a:rPr>
              <a:t>The Quran and Hadith give specific guidelines for what is considered permissible.</a:t>
            </a:r>
          </a:p>
          <a:p>
            <a:pPr marL="0" indent="0">
              <a:lnSpc>
                <a:spcPct val="160000"/>
              </a:lnSpc>
              <a:spcBef>
                <a:spcPts val="0"/>
              </a:spcBef>
              <a:buNone/>
            </a:pPr>
            <a:r>
              <a:rPr lang="en-US" sz="2000" dirty="0">
                <a:latin typeface="Times New Roman" panose="02020603050405020304" pitchFamily="18" charset="0"/>
                <a:cs typeface="Times New Roman" panose="02020603050405020304" pitchFamily="18" charset="0"/>
              </a:rPr>
              <a:t>Quranic Verses on Halal:</a:t>
            </a:r>
          </a:p>
          <a:p>
            <a:pPr marL="0" indent="0">
              <a:lnSpc>
                <a:spcPct val="160000"/>
              </a:lnSpc>
              <a:spcBef>
                <a:spcPts val="0"/>
              </a:spcBef>
              <a:buNone/>
            </a:pPr>
            <a:r>
              <a:rPr lang="en-US" sz="2000" b="1" dirty="0">
                <a:latin typeface="Times New Roman" panose="02020603050405020304" pitchFamily="18" charset="0"/>
                <a:cs typeface="Times New Roman" panose="02020603050405020304" pitchFamily="18" charset="0"/>
              </a:rPr>
              <a:t>Food and Drink:</a:t>
            </a:r>
          </a:p>
          <a:p>
            <a:pPr marL="0" indent="0">
              <a:lnSpc>
                <a:spcPct val="160000"/>
              </a:lnSpc>
              <a:spcBef>
                <a:spcPts val="0"/>
              </a:spcBef>
              <a:buNone/>
            </a:pPr>
            <a:r>
              <a:rPr lang="en-US" sz="2000" dirty="0">
                <a:latin typeface="Times New Roman" panose="02020603050405020304" pitchFamily="18" charset="0"/>
                <a:cs typeface="Times New Roman" panose="02020603050405020304" pitchFamily="18" charset="0"/>
              </a:rPr>
              <a:t>"O you who have believed, eat from the good things which We have provided for you and be grateful to Allah if it is [indeed] Him that you worship. He has only forbidden you dead meat, blood, the flesh of swine, and that on which has been invoked the name of other than Allah, that which has been killed by strangling, or by a violent blow, or by a fall, or by being gored to death; that which has been (sacrificed) on the altars [of idols]; [forbidden is also] that you seek to divide by casting lots with arrows: that is impiety. "Surah Al-Baqarah (2:172-173):</a:t>
            </a:r>
          </a:p>
          <a:p>
            <a:pPr marL="0" indent="0">
              <a:lnSpc>
                <a:spcPct val="160000"/>
              </a:lnSpc>
              <a:spcBef>
                <a:spcPts val="0"/>
              </a:spcBef>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5047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3E5033-F5E8-4FDA-843D-15313B5389FE}"/>
              </a:ext>
            </a:extLst>
          </p:cNvPr>
          <p:cNvSpPr>
            <a:spLocks noGrp="1"/>
          </p:cNvSpPr>
          <p:nvPr>
            <p:ph idx="1"/>
          </p:nvPr>
        </p:nvSpPr>
        <p:spPr/>
        <p:txBody>
          <a:bodyPr>
            <a:normAutofit fontScale="92500" lnSpcReduction="20000"/>
          </a:bodyPr>
          <a:lstStyle/>
          <a:p>
            <a:pPr algn="just">
              <a:lnSpc>
                <a:spcPct val="150000"/>
              </a:lnSpc>
              <a:spcBef>
                <a:spcPts val="0"/>
              </a:spcBef>
              <a:buFont typeface="Wingdings" panose="05000000000000000000" pitchFamily="2" charset="2"/>
              <a:buChar char="§"/>
            </a:pPr>
            <a:r>
              <a:rPr lang="en-US" b="1" i="0" dirty="0">
                <a:solidFill>
                  <a:srgbClr val="000000"/>
                </a:solidFill>
                <a:effectLst/>
                <a:latin typeface="Times New Roman" panose="02020603050405020304" pitchFamily="18" charset="0"/>
                <a:cs typeface="Times New Roman" panose="02020603050405020304" pitchFamily="18" charset="0"/>
              </a:rPr>
              <a:t>Surah Al-</a:t>
            </a:r>
            <a:r>
              <a:rPr lang="en-US" b="1" i="0" dirty="0" err="1">
                <a:solidFill>
                  <a:srgbClr val="000000"/>
                </a:solidFill>
                <a:effectLst/>
                <a:latin typeface="Times New Roman" panose="02020603050405020304" pitchFamily="18" charset="0"/>
                <a:cs typeface="Times New Roman" panose="02020603050405020304" pitchFamily="18" charset="0"/>
              </a:rPr>
              <a:t>Ma’idah</a:t>
            </a:r>
            <a:r>
              <a:rPr lang="en-US" b="1" i="0" dirty="0">
                <a:solidFill>
                  <a:srgbClr val="000000"/>
                </a:solidFill>
                <a:effectLst/>
                <a:latin typeface="Times New Roman" panose="02020603050405020304" pitchFamily="18" charset="0"/>
                <a:cs typeface="Times New Roman" panose="02020603050405020304" pitchFamily="18" charset="0"/>
              </a:rPr>
              <a:t> (5:4):</a:t>
            </a:r>
          </a:p>
          <a:p>
            <a:pPr marL="0" indent="0" algn="just">
              <a:lnSpc>
                <a:spcPct val="150000"/>
              </a:lnSpc>
              <a:spcBef>
                <a:spcPts val="0"/>
              </a:spcBef>
              <a:buNone/>
            </a:pPr>
            <a:r>
              <a:rPr lang="en-US" b="0" i="0" dirty="0">
                <a:solidFill>
                  <a:srgbClr val="000000"/>
                </a:solidFill>
                <a:effectLst/>
                <a:latin typeface="Times New Roman" panose="02020603050405020304" pitchFamily="18" charset="0"/>
                <a:cs typeface="Times New Roman" panose="02020603050405020304" pitchFamily="18" charset="0"/>
              </a:rPr>
              <a:t>"This day [all] good foods have been made lawful, and the food of those who were given the Scripture is lawful for you, and your food is lawful for them...</a:t>
            </a:r>
          </a:p>
          <a:p>
            <a:pPr algn="just">
              <a:lnSpc>
                <a:spcPct val="150000"/>
              </a:lnSpc>
              <a:spcBef>
                <a:spcPts val="0"/>
              </a:spcBef>
              <a:buFont typeface="Wingdings" panose="05000000000000000000" pitchFamily="2" charset="2"/>
              <a:buChar char="§"/>
            </a:pPr>
            <a:r>
              <a:rPr lang="en-US" b="1" i="0" dirty="0">
                <a:solidFill>
                  <a:srgbClr val="000000"/>
                </a:solidFill>
                <a:effectLst/>
                <a:latin typeface="Times New Roman" panose="02020603050405020304" pitchFamily="18" charset="0"/>
                <a:cs typeface="Times New Roman" panose="02020603050405020304" pitchFamily="18" charset="0"/>
              </a:rPr>
              <a:t>"Surah Al-</a:t>
            </a:r>
            <a:r>
              <a:rPr lang="en-US" b="1" i="0" dirty="0" err="1">
                <a:solidFill>
                  <a:srgbClr val="000000"/>
                </a:solidFill>
                <a:effectLst/>
                <a:latin typeface="Times New Roman" panose="02020603050405020304" pitchFamily="18" charset="0"/>
                <a:cs typeface="Times New Roman" panose="02020603050405020304" pitchFamily="18" charset="0"/>
              </a:rPr>
              <a:t>Ma’idah</a:t>
            </a:r>
            <a:r>
              <a:rPr lang="en-US" b="1" i="0" dirty="0">
                <a:solidFill>
                  <a:srgbClr val="000000"/>
                </a:solidFill>
                <a:effectLst/>
                <a:latin typeface="Times New Roman" panose="02020603050405020304" pitchFamily="18" charset="0"/>
                <a:cs typeface="Times New Roman" panose="02020603050405020304" pitchFamily="18" charset="0"/>
              </a:rPr>
              <a:t> (5:3):</a:t>
            </a:r>
          </a:p>
          <a:p>
            <a:pPr marL="0" indent="0" algn="just">
              <a:lnSpc>
                <a:spcPct val="150000"/>
              </a:lnSpc>
              <a:spcBef>
                <a:spcPts val="0"/>
              </a:spcBef>
              <a:buNone/>
            </a:pPr>
            <a:r>
              <a:rPr lang="en-US" b="0" i="0" dirty="0">
                <a:solidFill>
                  <a:srgbClr val="000000"/>
                </a:solidFill>
                <a:effectLst/>
                <a:latin typeface="Times New Roman" panose="02020603050405020304" pitchFamily="18" charset="0"/>
                <a:cs typeface="Times New Roman" panose="02020603050405020304" pitchFamily="18" charset="0"/>
              </a:rPr>
              <a:t>"This day I have perfected for you your religion and completed My favor upon you and have approved for you Islam as religion. So whoever is forced by hunger, with no inclination to transgression, then indeed, Allah is Forgiving and Merciful."</a:t>
            </a:r>
          </a:p>
        </p:txBody>
      </p:sp>
      <p:sp>
        <p:nvSpPr>
          <p:cNvPr id="6" name="Title 1">
            <a:extLst>
              <a:ext uri="{FF2B5EF4-FFF2-40B4-BE49-F238E27FC236}">
                <a16:creationId xmlns:a16="http://schemas.microsoft.com/office/drawing/2014/main" id="{E8654D8F-B021-7671-1B0B-FFE192407516}"/>
              </a:ext>
            </a:extLst>
          </p:cNvPr>
          <p:cNvSpPr>
            <a:spLocks noGrp="1"/>
          </p:cNvSpPr>
          <p:nvPr>
            <p:ph type="title"/>
          </p:nvPr>
        </p:nvSpPr>
        <p:spPr>
          <a:xfrm>
            <a:off x="485192" y="1115736"/>
            <a:ext cx="10982130" cy="936999"/>
          </a:xfrm>
        </p:spPr>
        <p:txBody>
          <a:bodyPr>
            <a:normAutofit/>
          </a:bodyPr>
          <a:lstStyle/>
          <a:p>
            <a:pPr algn="just"/>
            <a:r>
              <a:rPr lang="en-US" b="1" i="0" dirty="0">
                <a:effectLst/>
                <a:latin typeface="Times New Roman" panose="02020603050405020304" pitchFamily="18" charset="0"/>
                <a:cs typeface="Times New Roman" panose="02020603050405020304" pitchFamily="18" charset="0"/>
              </a:rPr>
              <a:t>1. Halal (Permissible)</a:t>
            </a:r>
            <a:endParaRPr lang="en-US" b="1"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527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01A34-5409-8A3D-B01E-D76F3BEDC17C}"/>
              </a:ext>
            </a:extLst>
          </p:cNvPr>
          <p:cNvSpPr>
            <a:spLocks noGrp="1"/>
          </p:cNvSpPr>
          <p:nvPr>
            <p:ph type="title"/>
          </p:nvPr>
        </p:nvSpPr>
        <p:spPr>
          <a:xfrm>
            <a:off x="838200" y="1149291"/>
            <a:ext cx="10515600" cy="676333"/>
          </a:xfrm>
        </p:spPr>
        <p:txBody>
          <a:bodyPr>
            <a:normAutofit fontScale="90000"/>
          </a:bodyPr>
          <a:lstStyle/>
          <a:p>
            <a:r>
              <a:rPr lang="en-US" b="1" dirty="0">
                <a:solidFill>
                  <a:srgbClr val="000000"/>
                </a:solidFill>
                <a:latin typeface="Times New Roman" panose="02020603050405020304" pitchFamily="18" charset="0"/>
                <a:cs typeface="Times New Roman" panose="02020603050405020304" pitchFamily="18" charset="0"/>
              </a:rPr>
              <a:t>Hadith on Halal:</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85C25E0-62FD-32CA-0032-22677C5EDDE6}"/>
              </a:ext>
            </a:extLst>
          </p:cNvPr>
          <p:cNvSpPr>
            <a:spLocks noGrp="1"/>
          </p:cNvSpPr>
          <p:nvPr>
            <p:ph idx="1"/>
          </p:nvPr>
        </p:nvSpPr>
        <p:spPr/>
        <p:txBody>
          <a:bodyPr>
            <a:normAutofit/>
          </a:bodyPr>
          <a:lstStyle/>
          <a:p>
            <a:pPr algn="just">
              <a:lnSpc>
                <a:spcPct val="150000"/>
              </a:lnSpc>
              <a:spcBef>
                <a:spcPts val="0"/>
              </a:spcBef>
            </a:pPr>
            <a:r>
              <a:rPr lang="en-US" sz="2400" b="1" i="0" dirty="0">
                <a:solidFill>
                  <a:srgbClr val="000000"/>
                </a:solidFill>
                <a:effectLst/>
                <a:latin typeface="Times New Roman" panose="02020603050405020304" pitchFamily="18" charset="0"/>
                <a:cs typeface="Times New Roman" panose="02020603050405020304" pitchFamily="18" charset="0"/>
              </a:rPr>
              <a:t>The Prophet Muhammad (PBUH) said:</a:t>
            </a:r>
          </a:p>
          <a:p>
            <a:pPr marL="0" indent="0" algn="just">
              <a:lnSpc>
                <a:spcPct val="150000"/>
              </a:lnSpc>
              <a:spcBef>
                <a:spcPts val="0"/>
              </a:spcBef>
              <a:buNone/>
            </a:pPr>
            <a:r>
              <a:rPr lang="en-US" sz="2400" b="0" i="0" dirty="0">
                <a:solidFill>
                  <a:srgbClr val="000000"/>
                </a:solidFill>
                <a:effectLst/>
                <a:latin typeface="Times New Roman" panose="02020603050405020304" pitchFamily="18" charset="0"/>
                <a:cs typeface="Times New Roman" panose="02020603050405020304" pitchFamily="18" charset="0"/>
              </a:rPr>
              <a:t>"That which is lawful is clear and that which is unlawful is clear, and between them are ambiguous matters about which many people do not know."(Sahih al-Bukhari)</a:t>
            </a:r>
          </a:p>
          <a:p>
            <a:pPr algn="just">
              <a:lnSpc>
                <a:spcPct val="150000"/>
              </a:lnSpc>
              <a:spcBef>
                <a:spcPts val="0"/>
              </a:spcBef>
            </a:pPr>
            <a:r>
              <a:rPr lang="en-US" sz="2400" b="1" i="0" dirty="0">
                <a:solidFill>
                  <a:srgbClr val="000000"/>
                </a:solidFill>
                <a:effectLst/>
                <a:latin typeface="Times New Roman" panose="02020603050405020304" pitchFamily="18" charset="0"/>
                <a:cs typeface="Times New Roman" panose="02020603050405020304" pitchFamily="18" charset="0"/>
              </a:rPr>
              <a:t>In another Hadith, the Prophet (PBUH) said:</a:t>
            </a:r>
          </a:p>
          <a:p>
            <a:pPr marL="0" indent="0" algn="just">
              <a:lnSpc>
                <a:spcPct val="150000"/>
              </a:lnSpc>
              <a:spcBef>
                <a:spcPts val="0"/>
              </a:spcBef>
              <a:buNone/>
            </a:pPr>
            <a:r>
              <a:rPr lang="en-US" sz="2400" b="0" i="0" dirty="0">
                <a:solidFill>
                  <a:srgbClr val="000000"/>
                </a:solidFill>
                <a:effectLst/>
                <a:latin typeface="Times New Roman" panose="02020603050405020304" pitchFamily="18" charset="0"/>
                <a:cs typeface="Times New Roman" panose="02020603050405020304" pitchFamily="18" charset="0"/>
              </a:rPr>
              <a:t>"The halal is clear and the haram is clear, and between the two are doubtful matters about which many people do not know. So whoever avoids doubtful matters has cleared himself in regard to his religion and his honor."(Sahih Muslim)</a:t>
            </a:r>
          </a:p>
        </p:txBody>
      </p:sp>
    </p:spTree>
    <p:extLst>
      <p:ext uri="{BB962C8B-B14F-4D97-AF65-F5344CB8AC3E}">
        <p14:creationId xmlns:p14="http://schemas.microsoft.com/office/powerpoint/2010/main" val="66325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57F00-D6FC-DC2F-03EA-EAE43C30FBD4}"/>
              </a:ext>
            </a:extLst>
          </p:cNvPr>
          <p:cNvSpPr>
            <a:spLocks noGrp="1"/>
          </p:cNvSpPr>
          <p:nvPr>
            <p:ph type="title"/>
          </p:nvPr>
        </p:nvSpPr>
        <p:spPr>
          <a:xfrm>
            <a:off x="838200" y="1057726"/>
            <a:ext cx="10515600" cy="767899"/>
          </a:xfrm>
        </p:spPr>
        <p:txBody>
          <a:bodyPr>
            <a:normAutofit/>
          </a:bodyPr>
          <a:lstStyle/>
          <a:p>
            <a:r>
              <a:rPr lang="en-US" sz="4400" b="1" dirty="0">
                <a:latin typeface="Times New Roman" panose="02020603050405020304" pitchFamily="18" charset="0"/>
                <a:cs typeface="Times New Roman" panose="02020603050405020304" pitchFamily="18" charset="0"/>
              </a:rPr>
              <a:t>2. Haram (Forbidden)</a:t>
            </a:r>
            <a:endParaRPr lang="en-US"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B60B3E3-0E6D-016B-1A40-26BB6B8E19A3}"/>
              </a:ext>
            </a:extLst>
          </p:cNvPr>
          <p:cNvSpPr>
            <a:spLocks noGrp="1"/>
          </p:cNvSpPr>
          <p:nvPr>
            <p:ph idx="1"/>
          </p:nvPr>
        </p:nvSpPr>
        <p:spPr/>
        <p:txBody>
          <a:bodyPr>
            <a:noAutofit/>
          </a:bodyPr>
          <a:lstStyle/>
          <a:p>
            <a:pPr algn="just">
              <a:lnSpc>
                <a:spcPct val="150000"/>
              </a:lnSpc>
              <a:spcBef>
                <a:spcPts val="0"/>
              </a:spcBef>
              <a:buFont typeface="Wingdings" panose="05000000000000000000" pitchFamily="2" charset="2"/>
              <a:buChar char="§"/>
            </a:pPr>
            <a:r>
              <a:rPr lang="en-US" sz="2400" b="0" i="0" dirty="0">
                <a:solidFill>
                  <a:srgbClr val="273239"/>
                </a:solidFill>
                <a:effectLst/>
                <a:latin typeface="Times New Roman" panose="02020603050405020304" pitchFamily="18" charset="0"/>
                <a:cs typeface="Times New Roman" panose="02020603050405020304" pitchFamily="18" charset="0"/>
              </a:rPr>
              <a:t>The things that are haram are those which are explicitly prohibited by the Quran or Sunnah. Engaging in these acts is considered sinful and can lead to spiritual consequences.</a:t>
            </a:r>
          </a:p>
          <a:p>
            <a:pPr algn="just">
              <a:lnSpc>
                <a:spcPct val="150000"/>
              </a:lnSpc>
              <a:spcBef>
                <a:spcPts val="0"/>
              </a:spcBef>
              <a:buFont typeface="Wingdings" panose="05000000000000000000" pitchFamily="2" charset="2"/>
              <a:buChar char="§"/>
            </a:pPr>
            <a:r>
              <a:rPr lang="en-US" sz="2400" b="1" i="0" dirty="0">
                <a:solidFill>
                  <a:srgbClr val="273239"/>
                </a:solidFill>
                <a:effectLst/>
                <a:latin typeface="Times New Roman" panose="02020603050405020304" pitchFamily="18" charset="0"/>
                <a:cs typeface="Times New Roman" panose="02020603050405020304" pitchFamily="18" charset="0"/>
              </a:rPr>
              <a:t>Quranic Verses on Haram:</a:t>
            </a:r>
          </a:p>
          <a:p>
            <a:pPr algn="just">
              <a:lnSpc>
                <a:spcPct val="150000"/>
              </a:lnSpc>
              <a:spcBef>
                <a:spcPts val="0"/>
              </a:spcBef>
              <a:buFont typeface="Wingdings" panose="05000000000000000000" pitchFamily="2" charset="2"/>
              <a:buChar char="§"/>
            </a:pPr>
            <a:r>
              <a:rPr lang="en-US" sz="2400" b="1" i="0" dirty="0">
                <a:solidFill>
                  <a:srgbClr val="273239"/>
                </a:solidFill>
                <a:effectLst/>
                <a:latin typeface="Times New Roman" panose="02020603050405020304" pitchFamily="18" charset="0"/>
                <a:cs typeface="Times New Roman" panose="02020603050405020304" pitchFamily="18" charset="0"/>
              </a:rPr>
              <a:t>Surah Al-Baqarah (2:219):</a:t>
            </a:r>
          </a:p>
          <a:p>
            <a:pPr marL="0" indent="0" algn="just">
              <a:lnSpc>
                <a:spcPct val="150000"/>
              </a:lnSpc>
              <a:spcBef>
                <a:spcPts val="0"/>
              </a:spcBef>
              <a:buNone/>
            </a:pPr>
            <a:r>
              <a:rPr lang="en-US" sz="2400" b="0" i="0" dirty="0">
                <a:solidFill>
                  <a:srgbClr val="273239"/>
                </a:solidFill>
                <a:effectLst/>
                <a:latin typeface="Times New Roman" panose="02020603050405020304" pitchFamily="18" charset="0"/>
                <a:cs typeface="Times New Roman" panose="02020603050405020304" pitchFamily="18" charset="0"/>
              </a:rPr>
              <a:t>"They ask you about wine and gambling. Say, 'In them is great sin and [yet, some] benefit for people. But their sin is greater than their benefit.'"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6957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C9A14-784F-2F8A-18D8-C8D8CF49BF70}"/>
              </a:ext>
            </a:extLst>
          </p:cNvPr>
          <p:cNvSpPr>
            <a:spLocks noGrp="1"/>
          </p:cNvSpPr>
          <p:nvPr>
            <p:ph type="title"/>
          </p:nvPr>
        </p:nvSpPr>
        <p:spPr>
          <a:xfrm>
            <a:off x="499872" y="1139772"/>
            <a:ext cx="11448288" cy="856541"/>
          </a:xfrm>
        </p:spPr>
        <p:txBody>
          <a:bodyPr>
            <a:normAutofit/>
          </a:bodyPr>
          <a:lstStyle/>
          <a:p>
            <a:r>
              <a:rPr lang="en-US" sz="4400" b="1" dirty="0">
                <a:latin typeface="Times New Roman" panose="02020603050405020304" pitchFamily="18" charset="0"/>
                <a:cs typeface="Times New Roman" panose="02020603050405020304" pitchFamily="18" charset="0"/>
              </a:rPr>
              <a:t>2. Haram (Forbidden)</a:t>
            </a:r>
            <a:endParaRPr lang="en-US" dirty="0"/>
          </a:p>
        </p:txBody>
      </p:sp>
      <p:sp>
        <p:nvSpPr>
          <p:cNvPr id="3" name="Content Placeholder 2">
            <a:extLst>
              <a:ext uri="{FF2B5EF4-FFF2-40B4-BE49-F238E27FC236}">
                <a16:creationId xmlns:a16="http://schemas.microsoft.com/office/drawing/2014/main" id="{7D1021F8-1E68-62C6-CCEF-45346D8FF394}"/>
              </a:ext>
            </a:extLst>
          </p:cNvPr>
          <p:cNvSpPr>
            <a:spLocks noGrp="1"/>
          </p:cNvSpPr>
          <p:nvPr>
            <p:ph idx="1"/>
          </p:nvPr>
        </p:nvSpPr>
        <p:spPr>
          <a:xfrm>
            <a:off x="838200" y="1996313"/>
            <a:ext cx="10515600" cy="4351338"/>
          </a:xfrm>
        </p:spPr>
        <p:txBody>
          <a:bodyPr>
            <a:normAutofit fontScale="85000" lnSpcReduction="10000"/>
          </a:bodyPr>
          <a:lstStyle/>
          <a:p>
            <a:pPr algn="just">
              <a:lnSpc>
                <a:spcPct val="150000"/>
              </a:lnSpc>
              <a:spcBef>
                <a:spcPts val="0"/>
              </a:spcBef>
              <a:buFont typeface="Wingdings" panose="05000000000000000000" pitchFamily="2" charset="2"/>
              <a:buChar char="§"/>
            </a:pPr>
            <a:r>
              <a:rPr lang="en-US" b="1" i="0" dirty="0">
                <a:solidFill>
                  <a:srgbClr val="273239"/>
                </a:solidFill>
                <a:effectLst/>
                <a:latin typeface="Times New Roman" panose="02020603050405020304" pitchFamily="18" charset="0"/>
                <a:cs typeface="Times New Roman" panose="02020603050405020304" pitchFamily="18" charset="0"/>
              </a:rPr>
              <a:t>Surah Al-</a:t>
            </a:r>
            <a:r>
              <a:rPr lang="en-US" b="1" i="0" dirty="0" err="1">
                <a:solidFill>
                  <a:srgbClr val="273239"/>
                </a:solidFill>
                <a:effectLst/>
                <a:latin typeface="Times New Roman" panose="02020603050405020304" pitchFamily="18" charset="0"/>
                <a:cs typeface="Times New Roman" panose="02020603050405020304" pitchFamily="18" charset="0"/>
              </a:rPr>
              <a:t>Ma’idah</a:t>
            </a:r>
            <a:r>
              <a:rPr lang="en-US" b="1" i="0" dirty="0">
                <a:solidFill>
                  <a:srgbClr val="273239"/>
                </a:solidFill>
                <a:effectLst/>
                <a:latin typeface="Times New Roman" panose="02020603050405020304" pitchFamily="18" charset="0"/>
                <a:cs typeface="Times New Roman" panose="02020603050405020304" pitchFamily="18" charset="0"/>
              </a:rPr>
              <a:t> (5:90):</a:t>
            </a:r>
          </a:p>
          <a:p>
            <a:pPr marL="0" indent="0" algn="just">
              <a:lnSpc>
                <a:spcPct val="150000"/>
              </a:lnSpc>
              <a:spcBef>
                <a:spcPts val="0"/>
              </a:spcBef>
              <a:buNone/>
            </a:pPr>
            <a:r>
              <a:rPr lang="en-US" b="0" i="0" dirty="0">
                <a:solidFill>
                  <a:srgbClr val="273239"/>
                </a:solidFill>
                <a:effectLst/>
                <a:latin typeface="Times New Roman" panose="02020603050405020304" pitchFamily="18" charset="0"/>
                <a:cs typeface="Times New Roman" panose="02020603050405020304" pitchFamily="18" charset="0"/>
              </a:rPr>
              <a:t>"O you who have believed, indeed, intoxicants, gambling, [sacrificing on] stone alters [to other than Allah], and divining arrows are but defilement from the work of Satan, so avoid it that you may be successful.</a:t>
            </a:r>
          </a:p>
          <a:p>
            <a:pPr algn="just">
              <a:lnSpc>
                <a:spcPct val="150000"/>
              </a:lnSpc>
              <a:spcBef>
                <a:spcPts val="0"/>
              </a:spcBef>
              <a:buFont typeface="Wingdings" panose="05000000000000000000" pitchFamily="2" charset="2"/>
              <a:buChar char="§"/>
            </a:pPr>
            <a:r>
              <a:rPr lang="en-US" b="1" i="0" dirty="0">
                <a:solidFill>
                  <a:srgbClr val="273239"/>
                </a:solidFill>
                <a:effectLst/>
                <a:latin typeface="Times New Roman" panose="02020603050405020304" pitchFamily="18" charset="0"/>
                <a:cs typeface="Times New Roman" panose="02020603050405020304" pitchFamily="18" charset="0"/>
              </a:rPr>
              <a:t>"Surah An-Nisa (4:29):</a:t>
            </a:r>
          </a:p>
          <a:p>
            <a:pPr marL="0" indent="0" algn="just">
              <a:lnSpc>
                <a:spcPct val="150000"/>
              </a:lnSpc>
              <a:spcBef>
                <a:spcPts val="0"/>
              </a:spcBef>
              <a:buNone/>
            </a:pPr>
            <a:r>
              <a:rPr lang="en-US" b="0" i="0" dirty="0">
                <a:solidFill>
                  <a:srgbClr val="273239"/>
                </a:solidFill>
                <a:effectLst/>
                <a:latin typeface="Times New Roman" panose="02020603050405020304" pitchFamily="18" charset="0"/>
                <a:cs typeface="Times New Roman" panose="02020603050405020304" pitchFamily="18" charset="0"/>
              </a:rPr>
              <a:t>"O you who have believed, do not consume one another's wealth unjustly or send it [in bribery] to the rulers in order that [they might aid] you [to] consume a portion of the wealth of the people in sin, while you know [it is unlawful]."</a:t>
            </a:r>
            <a:endParaRPr lang="en-US"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8280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11807-248D-9BDB-8768-2BC5D4A1F214}"/>
              </a:ext>
            </a:extLst>
          </p:cNvPr>
          <p:cNvSpPr>
            <a:spLocks noGrp="1"/>
          </p:cNvSpPr>
          <p:nvPr>
            <p:ph type="title"/>
          </p:nvPr>
        </p:nvSpPr>
        <p:spPr>
          <a:xfrm>
            <a:off x="838200" y="1063689"/>
            <a:ext cx="10515600" cy="761935"/>
          </a:xfrm>
        </p:spPr>
        <p:txBody>
          <a:bodyPr>
            <a:normAutofit/>
          </a:bodyPr>
          <a:lstStyle/>
          <a:p>
            <a:r>
              <a:rPr lang="en-US" b="1" dirty="0">
                <a:latin typeface="Arial" panose="020B0604020202020204" pitchFamily="34" charset="0"/>
                <a:cs typeface="Arial" panose="020B0604020202020204" pitchFamily="34" charset="0"/>
              </a:rPr>
              <a:t>Hadith on Haram:</a:t>
            </a:r>
          </a:p>
        </p:txBody>
      </p:sp>
      <p:sp>
        <p:nvSpPr>
          <p:cNvPr id="3" name="Content Placeholder 2">
            <a:extLst>
              <a:ext uri="{FF2B5EF4-FFF2-40B4-BE49-F238E27FC236}">
                <a16:creationId xmlns:a16="http://schemas.microsoft.com/office/drawing/2014/main" id="{CEC54A06-7FE3-66EF-533D-139F85B79405}"/>
              </a:ext>
            </a:extLst>
          </p:cNvPr>
          <p:cNvSpPr>
            <a:spLocks noGrp="1"/>
          </p:cNvSpPr>
          <p:nvPr>
            <p:ph idx="1"/>
          </p:nvPr>
        </p:nvSpPr>
        <p:spPr/>
        <p:txBody>
          <a:bodyPr>
            <a:normAutofit/>
          </a:bodyPr>
          <a:lstStyle/>
          <a:p>
            <a:pPr algn="just">
              <a:lnSpc>
                <a:spcPct val="150000"/>
              </a:lnSpc>
              <a:spcBef>
                <a:spcPts val="0"/>
              </a:spcBef>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The Prophet Muhammad (PBUH) said:</a:t>
            </a:r>
          </a:p>
          <a:p>
            <a:pPr marL="0" indent="0" algn="just">
              <a:lnSpc>
                <a:spcPct val="150000"/>
              </a:lnSpc>
              <a:spcBef>
                <a:spcPts val="0"/>
              </a:spcBef>
              <a:buNone/>
            </a:pPr>
            <a:r>
              <a:rPr lang="en-US" dirty="0">
                <a:latin typeface="Times New Roman" panose="02020603050405020304" pitchFamily="18" charset="0"/>
                <a:cs typeface="Times New Roman" panose="02020603050405020304" pitchFamily="18" charset="0"/>
              </a:rPr>
              <a:t>"The blood of a Muslim may not be taken except in three cases: adultery, apostasy, and murder</a:t>
            </a:r>
            <a:r>
              <a:rPr lang="en-US" b="1" dirty="0">
                <a:latin typeface="Times New Roman" panose="02020603050405020304" pitchFamily="18" charset="0"/>
                <a:cs typeface="Times New Roman" panose="02020603050405020304" pitchFamily="18" charset="0"/>
              </a:rPr>
              <a:t>."(Sahih al-Bukhari)</a:t>
            </a:r>
          </a:p>
          <a:p>
            <a:pPr marL="0" indent="0" algn="just">
              <a:lnSpc>
                <a:spcPct val="150000"/>
              </a:lnSpc>
              <a:spcBef>
                <a:spcPts val="0"/>
              </a:spcBef>
              <a:buNone/>
            </a:pPr>
            <a:r>
              <a:rPr lang="en-US" b="1" dirty="0">
                <a:latin typeface="Times New Roman" panose="02020603050405020304" pitchFamily="18" charset="0"/>
                <a:cs typeface="Times New Roman" panose="02020603050405020304" pitchFamily="18" charset="0"/>
              </a:rPr>
              <a:t>Another famous Hadith states:</a:t>
            </a:r>
          </a:p>
          <a:p>
            <a:pPr marL="0" indent="0" algn="just">
              <a:lnSpc>
                <a:spcPct val="150000"/>
              </a:lnSpc>
              <a:spcBef>
                <a:spcPts val="0"/>
              </a:spcBef>
              <a:buNone/>
            </a:pP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What Allah and His Messenger have declared haram, is haram until the Day of Judgment</a:t>
            </a:r>
            <a:r>
              <a:rPr lang="en-US" b="1" dirty="0">
                <a:latin typeface="Times New Roman" panose="02020603050405020304" pitchFamily="18" charset="0"/>
                <a:cs typeface="Times New Roman" panose="02020603050405020304" pitchFamily="18" charset="0"/>
              </a:rPr>
              <a:t>."(Sunan Ibn Majah)</a:t>
            </a:r>
          </a:p>
        </p:txBody>
      </p:sp>
    </p:spTree>
    <p:extLst>
      <p:ext uri="{BB962C8B-B14F-4D97-AF65-F5344CB8AC3E}">
        <p14:creationId xmlns:p14="http://schemas.microsoft.com/office/powerpoint/2010/main" val="2283347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CDE3C-61DE-CD24-00E4-8A11B61D3B6E}"/>
              </a:ext>
            </a:extLst>
          </p:cNvPr>
          <p:cNvSpPr>
            <a:spLocks noGrp="1"/>
          </p:cNvSpPr>
          <p:nvPr>
            <p:ph type="title"/>
          </p:nvPr>
        </p:nvSpPr>
        <p:spPr>
          <a:xfrm>
            <a:off x="838200" y="1063690"/>
            <a:ext cx="10515600" cy="858416"/>
          </a:xfrm>
        </p:spPr>
        <p:txBody>
          <a:bodyPr>
            <a:normAutofit/>
          </a:bodyPr>
          <a:lstStyle/>
          <a:p>
            <a:r>
              <a:rPr lang="en-US" sz="4000" b="1" dirty="0">
                <a:latin typeface="Times New Roman" panose="02020603050405020304" pitchFamily="18" charset="0"/>
                <a:cs typeface="Times New Roman" panose="02020603050405020304" pitchFamily="18" charset="0"/>
              </a:rPr>
              <a:t>3. Ambiguous Matters:</a:t>
            </a:r>
          </a:p>
        </p:txBody>
      </p:sp>
      <p:sp>
        <p:nvSpPr>
          <p:cNvPr id="3" name="Content Placeholder 2">
            <a:extLst>
              <a:ext uri="{FF2B5EF4-FFF2-40B4-BE49-F238E27FC236}">
                <a16:creationId xmlns:a16="http://schemas.microsoft.com/office/drawing/2014/main" id="{E95C1FAC-5308-F718-BC49-AEE37EA50433}"/>
              </a:ext>
            </a:extLst>
          </p:cNvPr>
          <p:cNvSpPr>
            <a:spLocks noGrp="1"/>
          </p:cNvSpPr>
          <p:nvPr>
            <p:ph idx="1"/>
          </p:nvPr>
        </p:nvSpPr>
        <p:spPr/>
        <p:txBody>
          <a:bodyPr>
            <a:normAutofit fontScale="85000" lnSpcReduction="20000"/>
          </a:bodyPr>
          <a:lstStyle/>
          <a:p>
            <a:pPr marL="0" indent="0" algn="just">
              <a:lnSpc>
                <a:spcPct val="150000"/>
              </a:lnSpc>
              <a:spcBef>
                <a:spcPts val="0"/>
              </a:spcBef>
              <a:buNone/>
            </a:pPr>
            <a:r>
              <a:rPr lang="en-US" dirty="0">
                <a:latin typeface="Times New Roman" panose="02020603050405020304" pitchFamily="18" charset="0"/>
                <a:cs typeface="Times New Roman" panose="02020603050405020304" pitchFamily="18" charset="0"/>
              </a:rPr>
              <a:t>There are also things that are neither clearly halal nor haram. These are called </a:t>
            </a:r>
            <a:r>
              <a:rPr lang="en-US" dirty="0" err="1">
                <a:latin typeface="Times New Roman" panose="02020603050405020304" pitchFamily="18" charset="0"/>
                <a:cs typeface="Times New Roman" panose="02020603050405020304" pitchFamily="18" charset="0"/>
              </a:rPr>
              <a:t>mashbooh</a:t>
            </a:r>
            <a:r>
              <a:rPr lang="en-US" dirty="0">
                <a:latin typeface="Times New Roman" panose="02020603050405020304" pitchFamily="18" charset="0"/>
                <a:cs typeface="Times New Roman" panose="02020603050405020304" pitchFamily="18" charset="0"/>
              </a:rPr>
              <a:t> (doubtful) and require caution. The Prophet (PBUH) encouraged Muslims to avoid these ambiguous matters to protect their faith.</a:t>
            </a:r>
          </a:p>
          <a:p>
            <a:pPr algn="just">
              <a:lnSpc>
                <a:spcPct val="150000"/>
              </a:lnSpc>
              <a:spcBef>
                <a:spcPts val="0"/>
              </a:spcBef>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Sahih Muslim:</a:t>
            </a:r>
          </a:p>
          <a:p>
            <a:pPr marL="0" indent="0" algn="just">
              <a:lnSpc>
                <a:spcPct val="150000"/>
              </a:lnSpc>
              <a:spcBef>
                <a:spcPts val="0"/>
              </a:spcBef>
              <a:buNone/>
            </a:pPr>
            <a:r>
              <a:rPr lang="en-US" dirty="0">
                <a:latin typeface="Times New Roman" panose="02020603050405020304" pitchFamily="18" charset="0"/>
                <a:cs typeface="Times New Roman" panose="02020603050405020304" pitchFamily="18" charset="0"/>
              </a:rPr>
              <a:t>"Leave that which makes you doubt for that which does not make you doubt.“</a:t>
            </a:r>
          </a:p>
          <a:p>
            <a:pPr algn="just">
              <a:lnSpc>
                <a:spcPct val="150000"/>
              </a:lnSpc>
              <a:spcBef>
                <a:spcPts val="0"/>
              </a:spcBef>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Sunan </a:t>
            </a:r>
            <a:r>
              <a:rPr lang="en-US" b="1" dirty="0" err="1">
                <a:latin typeface="Times New Roman" panose="02020603050405020304" pitchFamily="18" charset="0"/>
                <a:cs typeface="Times New Roman" panose="02020603050405020304" pitchFamily="18" charset="0"/>
              </a:rPr>
              <a:t>Tirmidhi</a:t>
            </a:r>
            <a:r>
              <a:rPr lang="en-US" b="1" dirty="0">
                <a:latin typeface="Times New Roman" panose="02020603050405020304" pitchFamily="18" charset="0"/>
                <a:cs typeface="Times New Roman" panose="02020603050405020304" pitchFamily="18" charset="0"/>
              </a:rPr>
              <a:t>:</a:t>
            </a:r>
          </a:p>
          <a:p>
            <a:pPr marL="0" indent="0" algn="just">
              <a:lnSpc>
                <a:spcPct val="150000"/>
              </a:lnSpc>
              <a:spcBef>
                <a:spcPts val="0"/>
              </a:spcBef>
              <a:buNone/>
            </a:pPr>
            <a:r>
              <a:rPr lang="en-US" dirty="0">
                <a:latin typeface="Times New Roman" panose="02020603050405020304" pitchFamily="18" charset="0"/>
                <a:cs typeface="Times New Roman" panose="02020603050405020304" pitchFamily="18" charset="0"/>
              </a:rPr>
              <a:t>"There are things that are permissible, and there are things that are forbidden, but in between there are things that are unclear. And whoever avoids the unclear things has protected his religion and honor."</a:t>
            </a:r>
          </a:p>
        </p:txBody>
      </p:sp>
    </p:spTree>
    <p:extLst>
      <p:ext uri="{BB962C8B-B14F-4D97-AF65-F5344CB8AC3E}">
        <p14:creationId xmlns:p14="http://schemas.microsoft.com/office/powerpoint/2010/main" val="1179379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3C9C8-F18E-1D97-1027-C1BBC248B7C9}"/>
              </a:ext>
            </a:extLst>
          </p:cNvPr>
          <p:cNvSpPr>
            <a:spLocks noGrp="1"/>
          </p:cNvSpPr>
          <p:nvPr>
            <p:ph type="title"/>
          </p:nvPr>
        </p:nvSpPr>
        <p:spPr>
          <a:xfrm>
            <a:off x="838200" y="1398675"/>
            <a:ext cx="10515600" cy="682982"/>
          </a:xfrm>
        </p:spPr>
        <p:txBody>
          <a:bodyPr>
            <a:normAutofit fontScale="90000"/>
          </a:bodyPr>
          <a:lstStyle/>
          <a:p>
            <a:r>
              <a:rPr lang="en-US"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BCA45CC-24EC-C8B8-ED13-C65993665F46}"/>
              </a:ext>
            </a:extLst>
          </p:cNvPr>
          <p:cNvSpPr>
            <a:spLocks noGrp="1"/>
          </p:cNvSpPr>
          <p:nvPr>
            <p:ph idx="1"/>
          </p:nvPr>
        </p:nvSpPr>
        <p:spPr>
          <a:xfrm>
            <a:off x="0" y="1975331"/>
            <a:ext cx="12192000" cy="5162522"/>
          </a:xfrm>
        </p:spPr>
        <p:txBody>
          <a:bodyPr>
            <a:noAutofit/>
          </a:bodyPr>
          <a:lstStyle/>
          <a:p>
            <a:pPr algn="just">
              <a:lnSpc>
                <a:spcPct val="150000"/>
              </a:lnSpc>
              <a:spcBef>
                <a:spcPts val="0"/>
              </a:spcBef>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 Islam, the boundaries of halal and haram are well defined, but there are also ambiguous areas where one must exercise caution. The guidance from the Quran and Sunnah is clear that Muslims are encouraged to adhere to the lawful and avoid the forbidden. </a:t>
            </a:r>
          </a:p>
          <a:p>
            <a:pPr algn="just">
              <a:lnSpc>
                <a:spcPct val="150000"/>
              </a:lnSpc>
              <a:spcBef>
                <a:spcPts val="0"/>
              </a:spcBef>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avoidance of doubtful matters is also emphasized to preserve both one's religion and integrity.</a:t>
            </a:r>
          </a:p>
          <a:p>
            <a:pPr algn="just">
              <a:lnSpc>
                <a:spcPct val="150000"/>
              </a:lnSpc>
              <a:spcBef>
                <a:spcPts val="0"/>
              </a:spcBef>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concepts of "Halal" (permissible) and "Haram"(forbidden) in Islam have significant social and economic impacts on Muslim societies. </a:t>
            </a:r>
          </a:p>
          <a:p>
            <a:pPr algn="just">
              <a:lnSpc>
                <a:spcPct val="150000"/>
              </a:lnSpc>
              <a:spcBef>
                <a:spcPts val="0"/>
              </a:spcBef>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These concepts are not just religious guidelines but also shape the behaviors, values, and functioning of communities. </a:t>
            </a:r>
          </a:p>
        </p:txBody>
      </p:sp>
    </p:spTree>
    <p:extLst>
      <p:ext uri="{BB962C8B-B14F-4D97-AF65-F5344CB8AC3E}">
        <p14:creationId xmlns:p14="http://schemas.microsoft.com/office/powerpoint/2010/main" val="2493295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EB552-05DE-9023-87A5-CD298A045EAA}"/>
              </a:ext>
            </a:extLst>
          </p:cNvPr>
          <p:cNvSpPr>
            <a:spLocks noGrp="1"/>
          </p:cNvSpPr>
          <p:nvPr>
            <p:ph type="title"/>
          </p:nvPr>
        </p:nvSpPr>
        <p:spPr>
          <a:xfrm>
            <a:off x="838200" y="1418751"/>
            <a:ext cx="10515600" cy="552353"/>
          </a:xfrm>
        </p:spPr>
        <p:txBody>
          <a:bodyPr>
            <a:normAutofit fontScale="90000"/>
          </a:bodyPr>
          <a:lstStyle/>
          <a:p>
            <a:r>
              <a:rPr lang="en-US" b="1" dirty="0">
                <a:latin typeface="Times New Roman" panose="02020603050405020304" pitchFamily="18" charset="0"/>
                <a:cs typeface="Times New Roman" panose="02020603050405020304" pitchFamily="18" charset="0"/>
              </a:rPr>
              <a:t>Social Impacts;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EE9BD7E-86AD-7522-1F19-377CD6A103FA}"/>
              </a:ext>
            </a:extLst>
          </p:cNvPr>
          <p:cNvSpPr>
            <a:spLocks noGrp="1"/>
          </p:cNvSpPr>
          <p:nvPr>
            <p:ph idx="1"/>
          </p:nvPr>
        </p:nvSpPr>
        <p:spPr>
          <a:xfrm>
            <a:off x="316992" y="1825624"/>
            <a:ext cx="11618976" cy="4806823"/>
          </a:xfrm>
        </p:spPr>
        <p:txBody>
          <a:bodyPr>
            <a:noAutofit/>
          </a:bodyPr>
          <a:lstStyle/>
          <a:p>
            <a:pPr algn="just">
              <a:lnSpc>
                <a:spcPct val="150000"/>
              </a:lnSpc>
              <a:spcBef>
                <a:spcPts val="0"/>
              </a:spcBef>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1. Social Cohesion and Identity:  </a:t>
            </a:r>
          </a:p>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The adherence to Halal and the avoidance of Haram creates a strong sense of community and identity within Muslim societies. These practices promote a shared understanding of right and wrong, fostering unity among individuals who follow the same ethical standards.   - Halal certification helps Muslims recognize products and services that align with their faith, creating a sense of trust and solidarity within the community.</a:t>
            </a:r>
          </a:p>
        </p:txBody>
      </p:sp>
    </p:spTree>
    <p:extLst>
      <p:ext uri="{BB962C8B-B14F-4D97-AF65-F5344CB8AC3E}">
        <p14:creationId xmlns:p14="http://schemas.microsoft.com/office/powerpoint/2010/main" val="379699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6DFFF-FFF2-B17C-7E05-B6E88D183C33}"/>
              </a:ext>
            </a:extLst>
          </p:cNvPr>
          <p:cNvSpPr>
            <a:spLocks noGrp="1"/>
          </p:cNvSpPr>
          <p:nvPr>
            <p:ph type="title"/>
          </p:nvPr>
        </p:nvSpPr>
        <p:spPr>
          <a:xfrm>
            <a:off x="838200" y="1017037"/>
            <a:ext cx="10515600" cy="673651"/>
          </a:xfrm>
        </p:spPr>
        <p:txBody>
          <a:bodyPr>
            <a:normAutofit fontScale="90000"/>
          </a:bodyPr>
          <a:lstStyle/>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2. Cultural Preservation:   </a:t>
            </a:r>
          </a:p>
        </p:txBody>
      </p:sp>
      <p:sp>
        <p:nvSpPr>
          <p:cNvPr id="3" name="Content Placeholder 2">
            <a:extLst>
              <a:ext uri="{FF2B5EF4-FFF2-40B4-BE49-F238E27FC236}">
                <a16:creationId xmlns:a16="http://schemas.microsoft.com/office/drawing/2014/main" id="{C831861F-7EF4-2279-0F86-97F21B6B8C52}"/>
              </a:ext>
            </a:extLst>
          </p:cNvPr>
          <p:cNvSpPr>
            <a:spLocks noGrp="1"/>
          </p:cNvSpPr>
          <p:nvPr>
            <p:ph idx="1"/>
          </p:nvPr>
        </p:nvSpPr>
        <p:spPr/>
        <p:txBody>
          <a:bodyPr>
            <a:noAutofit/>
          </a:bodyPr>
          <a:lstStyle/>
          <a:p>
            <a:pPr algn="just">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Halal food practices, for example, serve as a tool for cultural preservation. Islamic dietary laws, such as the prohibition of pork and alcohol, reinforce cultural identity and provide a sense of belonging, especially in multi-faith societies.  </a:t>
            </a:r>
          </a:p>
          <a:p>
            <a:pPr algn="just">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 Islamic practices, such as ethical business dealings, honesty, and fairness, contribute to the development of a distinct ethical culture in Muslim-majority communities.</a:t>
            </a:r>
          </a:p>
        </p:txBody>
      </p:sp>
    </p:spTree>
    <p:extLst>
      <p:ext uri="{BB962C8B-B14F-4D97-AF65-F5344CB8AC3E}">
        <p14:creationId xmlns:p14="http://schemas.microsoft.com/office/powerpoint/2010/main" val="2330887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BC5C0-AD0A-C7CE-AB28-EC9BEA8BC5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19276-62FF-3E53-D467-56A0059AA18C}"/>
              </a:ext>
            </a:extLst>
          </p:cNvPr>
          <p:cNvSpPr>
            <a:spLocks noGrp="1"/>
          </p:cNvSpPr>
          <p:nvPr>
            <p:ph type="title"/>
          </p:nvPr>
        </p:nvSpPr>
        <p:spPr>
          <a:xfrm>
            <a:off x="838200" y="1017037"/>
            <a:ext cx="10515600" cy="673651"/>
          </a:xfrm>
        </p:spPr>
        <p:txBody>
          <a:bodyPr>
            <a:normAutofit fontScale="90000"/>
          </a:bodyPr>
          <a:lstStyle/>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3. Social Welfare and Charity: </a:t>
            </a:r>
          </a:p>
        </p:txBody>
      </p:sp>
      <p:sp>
        <p:nvSpPr>
          <p:cNvPr id="3" name="Content Placeholder 2">
            <a:extLst>
              <a:ext uri="{FF2B5EF4-FFF2-40B4-BE49-F238E27FC236}">
                <a16:creationId xmlns:a16="http://schemas.microsoft.com/office/drawing/2014/main" id="{38B055DD-008C-2500-5979-D3585CF438D3}"/>
              </a:ext>
            </a:extLst>
          </p:cNvPr>
          <p:cNvSpPr>
            <a:spLocks noGrp="1"/>
          </p:cNvSpPr>
          <p:nvPr>
            <p:ph idx="1"/>
          </p:nvPr>
        </p:nvSpPr>
        <p:spPr/>
        <p:txBody>
          <a:bodyPr>
            <a:noAutofit/>
          </a:bodyPr>
          <a:lstStyle/>
          <a:p>
            <a:pPr algn="just"/>
            <a:r>
              <a:rPr lang="en-US" sz="3600" dirty="0">
                <a:latin typeface="Times New Roman" panose="02020603050405020304" pitchFamily="18" charset="0"/>
                <a:cs typeface="Times New Roman" panose="02020603050405020304" pitchFamily="18" charset="0"/>
              </a:rPr>
              <a:t> Many halal practices, such as "Zakat*" (obligatory charity) and "Sadaqah"(voluntary charity), have direct social welfare impacts, contributing to the reduction of poverty and inequality in society. </a:t>
            </a:r>
          </a:p>
          <a:p>
            <a:pPr algn="just"/>
            <a:r>
              <a:rPr lang="en-US" sz="3600" dirty="0">
                <a:latin typeface="Times New Roman" panose="02020603050405020304" pitchFamily="18" charset="0"/>
                <a:cs typeface="Times New Roman" panose="02020603050405020304" pitchFamily="18" charset="0"/>
              </a:rPr>
              <a:t> The focus on fairness in trade and business practices also encourages ethical economic behavior and promotes social justice.</a:t>
            </a:r>
          </a:p>
        </p:txBody>
      </p:sp>
    </p:spTree>
    <p:extLst>
      <p:ext uri="{BB962C8B-B14F-4D97-AF65-F5344CB8AC3E}">
        <p14:creationId xmlns:p14="http://schemas.microsoft.com/office/powerpoint/2010/main" val="2824955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CD716-E3F1-5C4C-E793-46AC637A3A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AA4A3-6794-9D2B-D3CC-A3B409CD6DE0}"/>
              </a:ext>
            </a:extLst>
          </p:cNvPr>
          <p:cNvSpPr>
            <a:spLocks noGrp="1"/>
          </p:cNvSpPr>
          <p:nvPr>
            <p:ph type="title"/>
          </p:nvPr>
        </p:nvSpPr>
        <p:spPr>
          <a:xfrm>
            <a:off x="838200" y="1017037"/>
            <a:ext cx="10515600" cy="673651"/>
          </a:xfrm>
        </p:spPr>
        <p:txBody>
          <a:bodyPr>
            <a:normAutofit fontScale="90000"/>
          </a:bodyPr>
          <a:lstStyle/>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Economic Impacts:</a:t>
            </a:r>
          </a:p>
        </p:txBody>
      </p:sp>
      <p:sp>
        <p:nvSpPr>
          <p:cNvPr id="3" name="Content Placeholder 2">
            <a:extLst>
              <a:ext uri="{FF2B5EF4-FFF2-40B4-BE49-F238E27FC236}">
                <a16:creationId xmlns:a16="http://schemas.microsoft.com/office/drawing/2014/main" id="{11CA7453-5E81-D301-4220-16CBEE41FD91}"/>
              </a:ext>
            </a:extLst>
          </p:cNvPr>
          <p:cNvSpPr>
            <a:spLocks noGrp="1"/>
          </p:cNvSpPr>
          <p:nvPr>
            <p:ph idx="1"/>
          </p:nvPr>
        </p:nvSpPr>
        <p:spPr/>
        <p:txBody>
          <a:bodyPr>
            <a:noAutofit/>
          </a:bodyPr>
          <a:lstStyle/>
          <a:p>
            <a:pPr marL="514350" indent="-514350" algn="just">
              <a:buAutoNum type="arabicPeriod"/>
            </a:pPr>
            <a:r>
              <a:rPr lang="en-US" sz="3200" b="1" dirty="0">
                <a:latin typeface="Times New Roman" panose="02020603050405020304" pitchFamily="18" charset="0"/>
                <a:cs typeface="Times New Roman" panose="02020603050405020304" pitchFamily="18" charset="0"/>
              </a:rPr>
              <a:t>Halal Economy  </a:t>
            </a:r>
          </a:p>
          <a:p>
            <a:pPr algn="just"/>
            <a:r>
              <a:rPr lang="en-US" sz="3200" dirty="0">
                <a:latin typeface="Times New Roman" panose="02020603050405020304" pitchFamily="18" charset="0"/>
                <a:cs typeface="Times New Roman" panose="02020603050405020304" pitchFamily="18" charset="0"/>
              </a:rPr>
              <a:t>The global *Halal industry* is a booming market that includes Halal food, pharmaceuticals, cosmetics, fashion, and tourism. The economic significance of Halal is growing, with Muslim consumers increasingly seeking products and services that comply with their religious principles.   </a:t>
            </a:r>
          </a:p>
          <a:p>
            <a:pPr algn="just"/>
            <a:r>
              <a:rPr lang="en-US" sz="3200" dirty="0">
                <a:latin typeface="Times New Roman" panose="02020603050405020304" pitchFamily="18" charset="0"/>
                <a:cs typeface="Times New Roman" panose="02020603050405020304" pitchFamily="18" charset="0"/>
              </a:rPr>
              <a:t> The Halal food market alone is worth billions of dollars globally, driving growth in agriculture, manufacturing, and retail sectors in Muslim-majority countries and beyond.</a:t>
            </a:r>
          </a:p>
        </p:txBody>
      </p:sp>
    </p:spTree>
    <p:extLst>
      <p:ext uri="{BB962C8B-B14F-4D97-AF65-F5344CB8AC3E}">
        <p14:creationId xmlns:p14="http://schemas.microsoft.com/office/powerpoint/2010/main" val="41132356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C4C0D-B544-DB23-66EE-E98BCEA793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B2FFD-ACB3-6737-45DA-F2ADCB82C000}"/>
              </a:ext>
            </a:extLst>
          </p:cNvPr>
          <p:cNvSpPr>
            <a:spLocks noGrp="1"/>
          </p:cNvSpPr>
          <p:nvPr>
            <p:ph type="title"/>
          </p:nvPr>
        </p:nvSpPr>
        <p:spPr>
          <a:xfrm>
            <a:off x="838200" y="1017037"/>
            <a:ext cx="10515600" cy="673651"/>
          </a:xfrm>
        </p:spPr>
        <p:txBody>
          <a:bodyPr>
            <a:normAutofit fontScale="90000"/>
          </a:bodyPr>
          <a:lstStyle/>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2. Employment and Business Opportunities</a:t>
            </a:r>
          </a:p>
        </p:txBody>
      </p:sp>
      <p:sp>
        <p:nvSpPr>
          <p:cNvPr id="3" name="Content Placeholder 2">
            <a:extLst>
              <a:ext uri="{FF2B5EF4-FFF2-40B4-BE49-F238E27FC236}">
                <a16:creationId xmlns:a16="http://schemas.microsoft.com/office/drawing/2014/main" id="{1096CBC4-F2FA-8BC6-8BA5-5B854567BD83}"/>
              </a:ext>
            </a:extLst>
          </p:cNvPr>
          <p:cNvSpPr>
            <a:spLocks noGrp="1"/>
          </p:cNvSpPr>
          <p:nvPr>
            <p:ph idx="1"/>
          </p:nvPr>
        </p:nvSpPr>
        <p:spPr>
          <a:xfrm>
            <a:off x="838200" y="1825625"/>
            <a:ext cx="10515600" cy="4862254"/>
          </a:xfrm>
        </p:spPr>
        <p:txBody>
          <a:bodyPr>
            <a:noAutofit/>
          </a:bodyPr>
          <a:lstStyle/>
          <a:p>
            <a:pPr algn="just"/>
            <a:r>
              <a:rPr lang="en-US" sz="3200" dirty="0">
                <a:latin typeface="Times New Roman" panose="02020603050405020304" pitchFamily="18" charset="0"/>
                <a:cs typeface="Times New Roman" panose="02020603050405020304" pitchFamily="18" charset="0"/>
              </a:rPr>
              <a:t>Halal businesses create jobs within Muslim communities, especially in the food, beverage, fashion, and banking sectors. Halal-certified products often require specialized knowledge and skills, leading to the development of industries and professions focused on Halal certification and quality control.</a:t>
            </a:r>
          </a:p>
          <a:p>
            <a:pPr algn="just"/>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Islamic finance: </a:t>
            </a:r>
          </a:p>
          <a:p>
            <a:pPr marL="0" indent="0" algn="just">
              <a:buNone/>
            </a:pPr>
            <a:r>
              <a:rPr lang="en-US" sz="3200" dirty="0">
                <a:latin typeface="Times New Roman" panose="02020603050405020304" pitchFamily="18" charset="0"/>
                <a:cs typeface="Times New Roman" panose="02020603050405020304" pitchFamily="18" charset="0"/>
              </a:rPr>
              <a:t>which prohibits interest (Riba), fosters a unique financial ecosystem with opportunities for investors and entrepreneurs who prefer ethical, interest-free alternatives to conventional finance.</a:t>
            </a:r>
          </a:p>
        </p:txBody>
      </p:sp>
    </p:spTree>
    <p:extLst>
      <p:ext uri="{BB962C8B-B14F-4D97-AF65-F5344CB8AC3E}">
        <p14:creationId xmlns:p14="http://schemas.microsoft.com/office/powerpoint/2010/main" val="1563984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20E91-1DF3-DD7C-F342-20C05CD91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613BC-163B-7B3A-BAC4-1349F4E850FD}"/>
              </a:ext>
            </a:extLst>
          </p:cNvPr>
          <p:cNvSpPr>
            <a:spLocks noGrp="1"/>
          </p:cNvSpPr>
          <p:nvPr>
            <p:ph type="title"/>
          </p:nvPr>
        </p:nvSpPr>
        <p:spPr>
          <a:xfrm>
            <a:off x="838200" y="1017037"/>
            <a:ext cx="10515600" cy="673651"/>
          </a:xfrm>
        </p:spPr>
        <p:txBody>
          <a:bodyPr>
            <a:normAutofit fontScale="90000"/>
          </a:bodyPr>
          <a:lstStyle/>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3. Consumer Behavior</a:t>
            </a:r>
          </a:p>
        </p:txBody>
      </p:sp>
      <p:sp>
        <p:nvSpPr>
          <p:cNvPr id="3" name="Content Placeholder 2">
            <a:extLst>
              <a:ext uri="{FF2B5EF4-FFF2-40B4-BE49-F238E27FC236}">
                <a16:creationId xmlns:a16="http://schemas.microsoft.com/office/drawing/2014/main" id="{E2CE4E26-C594-39BA-C462-4EAF8481C9F4}"/>
              </a:ext>
            </a:extLst>
          </p:cNvPr>
          <p:cNvSpPr>
            <a:spLocks noGrp="1"/>
          </p:cNvSpPr>
          <p:nvPr>
            <p:ph idx="1"/>
          </p:nvPr>
        </p:nvSpPr>
        <p:spPr/>
        <p:txBody>
          <a:bodyPr>
            <a:noAutofit/>
          </a:bodyPr>
          <a:lstStyle/>
          <a:p>
            <a:pPr algn="just"/>
            <a:r>
              <a:rPr lang="en-US" sz="3200" dirty="0">
                <a:latin typeface="Times New Roman" panose="02020603050405020304" pitchFamily="18" charset="0"/>
                <a:cs typeface="Times New Roman" panose="02020603050405020304" pitchFamily="18" charset="0"/>
              </a:rPr>
              <a:t> Halal and Haram have a significant influence on consumer choices. Muslims are more likely to buy Halal-certified goods and services, leading to the growth of niche markets catering to this demand. This behavior drives companies to adopt Halal certification standards to capture a portion of the Muslim market.  </a:t>
            </a:r>
          </a:p>
          <a:p>
            <a:pPr algn="just"/>
            <a:r>
              <a:rPr lang="en-US" sz="3200" dirty="0">
                <a:latin typeface="Times New Roman" panose="02020603050405020304" pitchFamily="18" charset="0"/>
                <a:cs typeface="Times New Roman" panose="02020603050405020304" pitchFamily="18" charset="0"/>
              </a:rPr>
              <a:t> The demand for Halal tourism, which includes Halal-friendly hotels, resorts, and travel services, has spurred economic growth in the travel and hospitality industries, especially in countries like Malaysia, Turkey, and the UAE.</a:t>
            </a:r>
          </a:p>
        </p:txBody>
      </p:sp>
    </p:spTree>
    <p:extLst>
      <p:ext uri="{BB962C8B-B14F-4D97-AF65-F5344CB8AC3E}">
        <p14:creationId xmlns:p14="http://schemas.microsoft.com/office/powerpoint/2010/main" val="541898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513D4-214B-185C-6602-6A096EBD1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6DF3B5-E98F-4C45-B443-6BD8C6B4AB31}"/>
              </a:ext>
            </a:extLst>
          </p:cNvPr>
          <p:cNvSpPr>
            <a:spLocks noGrp="1"/>
          </p:cNvSpPr>
          <p:nvPr>
            <p:ph type="title"/>
          </p:nvPr>
        </p:nvSpPr>
        <p:spPr>
          <a:xfrm>
            <a:off x="838200" y="1017037"/>
            <a:ext cx="10515600" cy="673651"/>
          </a:xfrm>
        </p:spPr>
        <p:txBody>
          <a:bodyPr>
            <a:normAutofit fontScale="90000"/>
          </a:bodyPr>
          <a:lstStyle/>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4. Economic Exclusion of Haram Practices</a:t>
            </a:r>
          </a:p>
        </p:txBody>
      </p:sp>
      <p:sp>
        <p:nvSpPr>
          <p:cNvPr id="3" name="Content Placeholder 2">
            <a:extLst>
              <a:ext uri="{FF2B5EF4-FFF2-40B4-BE49-F238E27FC236}">
                <a16:creationId xmlns:a16="http://schemas.microsoft.com/office/drawing/2014/main" id="{275B539F-167D-C831-4B99-0E7FB71343CF}"/>
              </a:ext>
            </a:extLst>
          </p:cNvPr>
          <p:cNvSpPr>
            <a:spLocks noGrp="1"/>
          </p:cNvSpPr>
          <p:nvPr>
            <p:ph idx="1"/>
          </p:nvPr>
        </p:nvSpPr>
        <p:spPr/>
        <p:txBody>
          <a:bodyPr>
            <a:noAutofit/>
          </a:bodyPr>
          <a:lstStyle/>
          <a:p>
            <a:pPr algn="just"/>
            <a:r>
              <a:rPr lang="en-US" sz="3200" dirty="0">
                <a:latin typeface="Times New Roman" panose="02020603050405020304" pitchFamily="18" charset="0"/>
                <a:cs typeface="Times New Roman" panose="02020603050405020304" pitchFamily="18" charset="0"/>
              </a:rPr>
              <a:t>The prohibition of Haram activities, such as gambling, alcohol production, and interest-based finance, has both positive and negative economic implications. While it prevents the growth of industries that are deemed unethical, it also pushes the development of alternatives, such as Islamic finance institutions and Halal products.   </a:t>
            </a:r>
          </a:p>
          <a:p>
            <a:pPr algn="just"/>
            <a:r>
              <a:rPr lang="en-US" sz="3200" dirty="0">
                <a:latin typeface="Times New Roman" panose="02020603050405020304" pitchFamily="18" charset="0"/>
                <a:cs typeface="Times New Roman" panose="02020603050405020304" pitchFamily="18" charset="0"/>
              </a:rPr>
              <a:t> There is also the potential for economic exclusion in certain areas where these Haram industries are significant, particularly in Western countries where alcohol and gambling industries are major contributors to the economy.</a:t>
            </a:r>
          </a:p>
        </p:txBody>
      </p:sp>
    </p:spTree>
    <p:extLst>
      <p:ext uri="{BB962C8B-B14F-4D97-AF65-F5344CB8AC3E}">
        <p14:creationId xmlns:p14="http://schemas.microsoft.com/office/powerpoint/2010/main" val="1820378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CB789-6B34-F16E-06F4-4F827AD403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CFC73E-D1B7-5549-EC43-77548002B0DD}"/>
              </a:ext>
            </a:extLst>
          </p:cNvPr>
          <p:cNvSpPr>
            <a:spLocks noGrp="1"/>
          </p:cNvSpPr>
          <p:nvPr>
            <p:ph type="title"/>
          </p:nvPr>
        </p:nvSpPr>
        <p:spPr>
          <a:xfrm>
            <a:off x="838200" y="1017037"/>
            <a:ext cx="10515600" cy="673651"/>
          </a:xfrm>
        </p:spPr>
        <p:txBody>
          <a:bodyPr>
            <a:normAutofit fontScale="90000"/>
          </a:bodyPr>
          <a:lstStyle/>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5.International Trade and Diplomacy:</a:t>
            </a:r>
          </a:p>
        </p:txBody>
      </p:sp>
      <p:sp>
        <p:nvSpPr>
          <p:cNvPr id="3" name="Content Placeholder 2">
            <a:extLst>
              <a:ext uri="{FF2B5EF4-FFF2-40B4-BE49-F238E27FC236}">
                <a16:creationId xmlns:a16="http://schemas.microsoft.com/office/drawing/2014/main" id="{776DD59A-4CEA-FC98-5EAD-FBD52601028A}"/>
              </a:ext>
            </a:extLst>
          </p:cNvPr>
          <p:cNvSpPr>
            <a:spLocks noGrp="1"/>
          </p:cNvSpPr>
          <p:nvPr>
            <p:ph idx="1"/>
          </p:nvPr>
        </p:nvSpPr>
        <p:spPr/>
        <p:txBody>
          <a:bodyPr>
            <a:noAutofit/>
          </a:bodyPr>
          <a:lstStyle/>
          <a:p>
            <a:pPr algn="just"/>
            <a:r>
              <a:rPr lang="en-US" dirty="0">
                <a:latin typeface="Times New Roman" panose="02020603050405020304" pitchFamily="18" charset="0"/>
                <a:cs typeface="Times New Roman" panose="02020603050405020304" pitchFamily="18" charset="0"/>
              </a:rPr>
              <a:t>Halal certification has become an important element in international trade. Countries with significant Muslim populations, such as Indonesia, Malaysia, and Saudi Arabia, have established strict Halal certification systems, which affect trade relations and the flow of goods and services.   </a:t>
            </a:r>
          </a:p>
          <a:p>
            <a:pPr algn="just"/>
            <a:r>
              <a:rPr lang="en-US" dirty="0">
                <a:latin typeface="Times New Roman" panose="02020603050405020304" pitchFamily="18" charset="0"/>
                <a:cs typeface="Times New Roman" panose="02020603050405020304" pitchFamily="18" charset="0"/>
              </a:rPr>
              <a:t> Exporters from non-Muslim-majority countries seeking to access Muslim markets must comply with Halal standards, creating opportunities for businesses globally but also necessitating investment in Halal certification processes.</a:t>
            </a:r>
          </a:p>
        </p:txBody>
      </p:sp>
    </p:spTree>
    <p:extLst>
      <p:ext uri="{BB962C8B-B14F-4D97-AF65-F5344CB8AC3E}">
        <p14:creationId xmlns:p14="http://schemas.microsoft.com/office/powerpoint/2010/main" val="31711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46605-8282-DE63-66C5-0EB4C622A5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821441-3503-8936-1F62-33A90B59F556}"/>
              </a:ext>
            </a:extLst>
          </p:cNvPr>
          <p:cNvSpPr>
            <a:spLocks noGrp="1"/>
          </p:cNvSpPr>
          <p:nvPr>
            <p:ph type="title"/>
          </p:nvPr>
        </p:nvSpPr>
        <p:spPr>
          <a:xfrm>
            <a:off x="838200" y="1017037"/>
            <a:ext cx="10515600" cy="673651"/>
          </a:xfrm>
        </p:spPr>
        <p:txBody>
          <a:bodyPr>
            <a:normAutofit fontScale="90000"/>
          </a:bodyPr>
          <a:lstStyle/>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34F52BDB-40A6-786A-3AA5-DA7AFB39A869}"/>
              </a:ext>
            </a:extLst>
          </p:cNvPr>
          <p:cNvSpPr>
            <a:spLocks noGrp="1"/>
          </p:cNvSpPr>
          <p:nvPr>
            <p:ph idx="1"/>
          </p:nvPr>
        </p:nvSpPr>
        <p:spPr/>
        <p:txBody>
          <a:bodyPr>
            <a:noAutofit/>
          </a:bodyPr>
          <a:lstStyle/>
          <a:p>
            <a:pPr marL="0" indent="0" algn="just">
              <a:buNone/>
            </a:pPr>
            <a:r>
              <a:rPr lang="en-US" dirty="0">
                <a:latin typeface="Times New Roman" panose="02020603050405020304" pitchFamily="18" charset="0"/>
                <a:cs typeface="Times New Roman" panose="02020603050405020304" pitchFamily="18" charset="0"/>
              </a:rPr>
              <a:t>The Halal and Haram concepts significantly shape both the social fabric and economic landscape of Muslim societies. </a:t>
            </a:r>
          </a:p>
          <a:p>
            <a:pPr marL="0" indent="0" algn="just">
              <a:buNone/>
            </a:pPr>
            <a:r>
              <a:rPr lang="en-US" dirty="0">
                <a:latin typeface="Times New Roman" panose="02020603050405020304" pitchFamily="18" charset="0"/>
                <a:cs typeface="Times New Roman" panose="02020603050405020304" pitchFamily="18" charset="0"/>
              </a:rPr>
              <a:t>The growing Halal economy presents numerous opportunities for growth in various sectors, while the emphasis on ethical behavior and social justice aligns with broader societal goals. </a:t>
            </a:r>
          </a:p>
          <a:p>
            <a:pPr marL="0" indent="0" algn="just">
              <a:buNone/>
            </a:pPr>
            <a:r>
              <a:rPr lang="en-US" dirty="0">
                <a:latin typeface="Times New Roman" panose="02020603050405020304" pitchFamily="18" charset="0"/>
                <a:cs typeface="Times New Roman" panose="02020603050405020304" pitchFamily="18" charset="0"/>
              </a:rPr>
              <a:t>However, challenges remain, especially in ensuring consistency and understanding across diverse global markets. </a:t>
            </a:r>
          </a:p>
          <a:p>
            <a:pPr marL="0" indent="0" algn="just">
              <a:buNone/>
            </a:pPr>
            <a:r>
              <a:rPr lang="en-US" dirty="0">
                <a:latin typeface="Times New Roman" panose="02020603050405020304" pitchFamily="18" charset="0"/>
                <a:cs typeface="Times New Roman" panose="02020603050405020304" pitchFamily="18" charset="0"/>
              </a:rPr>
              <a:t>The continued expansion of Halal industries worldwide reflects the deep social and economic importance of these religious principles.</a:t>
            </a:r>
          </a:p>
        </p:txBody>
      </p:sp>
    </p:spTree>
    <p:extLst>
      <p:ext uri="{BB962C8B-B14F-4D97-AF65-F5344CB8AC3E}">
        <p14:creationId xmlns:p14="http://schemas.microsoft.com/office/powerpoint/2010/main" val="688646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Pakistan Map - GIS Geography">
            <a:extLst>
              <a:ext uri="{FF2B5EF4-FFF2-40B4-BE49-F238E27FC236}">
                <a16:creationId xmlns:a16="http://schemas.microsoft.com/office/drawing/2014/main" id="{7BA35F9B-DC44-4A02-8099-C408F3D346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1184" y="7147"/>
            <a:ext cx="7290816" cy="685085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EC4A454-91BA-4ADA-AE55-AA65B686E9FE}"/>
              </a:ext>
            </a:extLst>
          </p:cNvPr>
          <p:cNvSpPr/>
          <p:nvPr/>
        </p:nvSpPr>
        <p:spPr>
          <a:xfrm>
            <a:off x="0" y="0"/>
            <a:ext cx="630936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C8A68D2-CBC2-4A62-B5D4-3B09AEA58F2F}"/>
              </a:ext>
            </a:extLst>
          </p:cNvPr>
          <p:cNvSpPr>
            <a:spLocks noGrp="1"/>
          </p:cNvSpPr>
          <p:nvPr>
            <p:ph type="ctrTitle"/>
          </p:nvPr>
        </p:nvSpPr>
        <p:spPr>
          <a:xfrm>
            <a:off x="329184" y="2235200"/>
            <a:ext cx="9144000" cy="2387600"/>
          </a:xfrm>
        </p:spPr>
        <p:txBody>
          <a:bodyPr>
            <a:normAutofit/>
          </a:bodyPr>
          <a:lstStyle/>
          <a:p>
            <a:pPr algn="l"/>
            <a:r>
              <a:rPr lang="en-GB" sz="4800" b="1" dirty="0">
                <a:solidFill>
                  <a:schemeClr val="bg1"/>
                </a:solidFill>
                <a:latin typeface="Arial" panose="020B0604020202020204" pitchFamily="34" charset="0"/>
                <a:cs typeface="Arial" panose="020B0604020202020204" pitchFamily="34" charset="0"/>
              </a:rPr>
              <a:t>HOW THE YOUTH</a:t>
            </a:r>
            <a:br>
              <a:rPr lang="en-GB" sz="4800" b="1" dirty="0">
                <a:solidFill>
                  <a:schemeClr val="bg1"/>
                </a:solidFill>
                <a:latin typeface="Arial" panose="020B0604020202020204" pitchFamily="34" charset="0"/>
                <a:cs typeface="Arial" panose="020B0604020202020204" pitchFamily="34" charset="0"/>
              </a:rPr>
            </a:br>
            <a:r>
              <a:rPr lang="en-GB" sz="4800" b="1" dirty="0">
                <a:solidFill>
                  <a:schemeClr val="bg1"/>
                </a:solidFill>
                <a:latin typeface="Arial" panose="020B0604020202020204" pitchFamily="34" charset="0"/>
                <a:cs typeface="Arial" panose="020B0604020202020204" pitchFamily="34" charset="0"/>
              </a:rPr>
              <a:t>FEELS ABOUT</a:t>
            </a:r>
            <a:br>
              <a:rPr lang="en-GB" sz="4800" b="1" dirty="0">
                <a:solidFill>
                  <a:schemeClr val="bg1"/>
                </a:solidFill>
                <a:latin typeface="Arial" panose="020B0604020202020204" pitchFamily="34" charset="0"/>
                <a:cs typeface="Arial" panose="020B0604020202020204" pitchFamily="34" charset="0"/>
              </a:rPr>
            </a:br>
            <a:r>
              <a:rPr lang="en-GB" sz="4800" b="1" dirty="0">
                <a:solidFill>
                  <a:schemeClr val="bg1"/>
                </a:solidFill>
                <a:latin typeface="Arial" panose="020B0604020202020204" pitchFamily="34" charset="0"/>
                <a:cs typeface="Arial" panose="020B0604020202020204" pitchFamily="34" charset="0"/>
              </a:rPr>
              <a:t>TUF ??</a:t>
            </a:r>
          </a:p>
        </p:txBody>
      </p:sp>
    </p:spTree>
    <p:extLst>
      <p:ext uri="{BB962C8B-B14F-4D97-AF65-F5344CB8AC3E}">
        <p14:creationId xmlns:p14="http://schemas.microsoft.com/office/powerpoint/2010/main" val="2211892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856</TotalTime>
  <Words>1717</Words>
  <Application>Microsoft Office PowerPoint</Application>
  <PresentationFormat>Widescreen</PresentationFormat>
  <Paragraphs>83</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Bahnschrift</vt:lpstr>
      <vt:lpstr>Calibri</vt:lpstr>
      <vt:lpstr>Calibri Light</vt:lpstr>
      <vt:lpstr>Times New Roman</vt:lpstr>
      <vt:lpstr>Wingdings</vt:lpstr>
      <vt:lpstr>Office Theme</vt:lpstr>
      <vt:lpstr>Islamic Concepts of Halal o Haram and its Economic  &amp;  Social Impacts on daily Life</vt:lpstr>
      <vt:lpstr>Introduction:</vt:lpstr>
      <vt:lpstr>1. Halal (Permissible)</vt:lpstr>
      <vt:lpstr>1. Halal (Permissible)</vt:lpstr>
      <vt:lpstr>Hadith on Halal:</vt:lpstr>
      <vt:lpstr>2. Haram (Forbidden)</vt:lpstr>
      <vt:lpstr>2. Haram (Forbidden)</vt:lpstr>
      <vt:lpstr>Hadith on Haram:</vt:lpstr>
      <vt:lpstr>3. Ambiguous Matters:</vt:lpstr>
      <vt:lpstr>Abstract</vt:lpstr>
      <vt:lpstr>Social Impacts;</vt:lpstr>
      <vt:lpstr>2. Cultural Preservation:   </vt:lpstr>
      <vt:lpstr>3. Social Welfare and Charity: </vt:lpstr>
      <vt:lpstr>Economic Impacts:</vt:lpstr>
      <vt:lpstr>2. Employment and Business Opportunities</vt:lpstr>
      <vt:lpstr>3. Consumer Behavior</vt:lpstr>
      <vt:lpstr>4. Economic Exclusion of Haram Practices</vt:lpstr>
      <vt:lpstr>5.International Trade and Diplomacy:</vt:lpstr>
      <vt:lpstr>Conclusion</vt:lpstr>
      <vt:lpstr>HOW THE YOUTH FEELS ABOUT TUF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DELL</cp:lastModifiedBy>
  <cp:revision>37</cp:revision>
  <dcterms:created xsi:type="dcterms:W3CDTF">2024-06-21T09:49:54Z</dcterms:created>
  <dcterms:modified xsi:type="dcterms:W3CDTF">2025-03-15T18:00:44Z</dcterms:modified>
</cp:coreProperties>
</file>