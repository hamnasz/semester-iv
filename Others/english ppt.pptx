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7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3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8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4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4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3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3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E0D19-8AD3-44BD-80A9-C6AF85E4367C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8DE4B-4B38-4DD5-9A0F-5CA25C942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8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39E0B-2A61-62BF-D1D3-F01E9A8BF2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6540" r="25404" b="-1"/>
          <a:stretch>
            <a:fillRect/>
          </a:stretch>
        </p:blipFill>
        <p:spPr>
          <a:xfrm>
            <a:off x="0" y="4926"/>
            <a:ext cx="845031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24EAFC-6385-2704-2822-0F263A317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293793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u="sng" dirty="0">
                <a:solidFill>
                  <a:srgbClr val="FFFFFF"/>
                </a:solidFill>
                <a:latin typeface="+mn-lt"/>
              </a:rPr>
              <a:t>Presented by </a:t>
            </a:r>
            <a:r>
              <a:rPr lang="en-US" sz="4400" b="1" dirty="0">
                <a:solidFill>
                  <a:srgbClr val="FFFFFF"/>
                </a:solidFill>
                <a:latin typeface="+mn-lt"/>
              </a:rPr>
              <a:t>: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3200" dirty="0">
                <a:solidFill>
                  <a:srgbClr val="FFFFFF"/>
                </a:solidFill>
              </a:rPr>
              <a:t> Zain Asif                                             Husnain Ali</a:t>
            </a:r>
            <a:br>
              <a:rPr lang="en-US" sz="3200" dirty="0">
                <a:solidFill>
                  <a:srgbClr val="FFFFFF"/>
                </a:solidFill>
              </a:rPr>
            </a:b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24FD6-4E18-56EC-9A68-71D36E9B0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112" y="3581400"/>
            <a:ext cx="5199717" cy="2471778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4400" b="1" u="sng" dirty="0">
                <a:solidFill>
                  <a:srgbClr val="FFFFFF"/>
                </a:solidFill>
              </a:rPr>
              <a:t>Topic name :</a:t>
            </a:r>
          </a:p>
          <a:p>
            <a:pPr algn="l"/>
            <a:r>
              <a:rPr lang="en-US" sz="3200" dirty="0">
                <a:solidFill>
                  <a:srgbClr val="FFFFFF"/>
                </a:solidFill>
              </a:rPr>
              <a:t>Sustainable business practices</a:t>
            </a:r>
          </a:p>
        </p:txBody>
      </p:sp>
      <p:pic>
        <p:nvPicPr>
          <p:cNvPr id="1028" name="Picture 4" descr="National Textile University Karachi Campus">
            <a:extLst>
              <a:ext uri="{FF2B5EF4-FFF2-40B4-BE49-F238E27FC236}">
                <a16:creationId xmlns:a16="http://schemas.microsoft.com/office/drawing/2014/main" id="{4349A31A-80E7-614E-7E12-2F85ED17D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2" r="7011"/>
          <a:stretch>
            <a:fillRect/>
          </a:stretch>
        </p:blipFill>
        <p:spPr bwMode="auto"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78D66682-7C6B-1443-A1E0-1508CF3112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7538358-F094-7878-C27E-735E7C0D948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400800" y="3429000"/>
            <a:ext cx="4572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B7724D3F-151D-D287-EBBB-090F742990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64363057-B560-C87E-0508-4F148E9F84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365504"/>
            <a:ext cx="2520696" cy="2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4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ustomer trust and loyalty">
            <a:extLst>
              <a:ext uri="{FF2B5EF4-FFF2-40B4-BE49-F238E27FC236}">
                <a16:creationId xmlns:a16="http://schemas.microsoft.com/office/drawing/2014/main" id="{675C5B8A-5881-A6B1-125C-3316D78CB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r="-1" b="-1"/>
          <a:stretch>
            <a:fillRect/>
          </a:stretch>
        </p:blipFill>
        <p:spPr bwMode="auto">
          <a:xfrm>
            <a:off x="2555441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Rectangle 205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85DBB-CECD-ED08-E5C3-43181478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3700"/>
              <a:t>Why sustainability matters in a business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ED97-3E4E-9F4D-A68E-AAB5ED1F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Sustainability is no longer optional—it's a strategic imperative .</a:t>
            </a:r>
          </a:p>
          <a:p>
            <a:pPr marL="0" indent="0">
              <a:buNone/>
            </a:pPr>
            <a:r>
              <a:rPr lang="en-US" sz="2000"/>
              <a:t>Companies that prioritize environmental, social, and economic sustainability are more resilient, attract loyal customers, and often outperform competitors.</a:t>
            </a:r>
          </a:p>
        </p:txBody>
      </p:sp>
    </p:spTree>
    <p:extLst>
      <p:ext uri="{BB962C8B-B14F-4D97-AF65-F5344CB8AC3E}">
        <p14:creationId xmlns:p14="http://schemas.microsoft.com/office/powerpoint/2010/main" val="7721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6 effective ways to build a sustainable business | Entrepreneur">
            <a:extLst>
              <a:ext uri="{FF2B5EF4-FFF2-40B4-BE49-F238E27FC236}">
                <a16:creationId xmlns:a16="http://schemas.microsoft.com/office/drawing/2014/main" id="{F86B9667-E2F7-AB5F-1AAB-F4E09053B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Rectangle 308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55210-9D8D-6947-F001-FA5D92B6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Defining Sustainability in Business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B6B6-B7B2-8CC3-B74A-A98B73452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Minimizing environmental impact </a:t>
            </a:r>
          </a:p>
          <a:p>
            <a:pPr marL="0" indent="0">
              <a:buNone/>
            </a:pPr>
            <a:r>
              <a:rPr lang="en-US" sz="2000"/>
              <a:t>Promoting social responsibility</a:t>
            </a:r>
          </a:p>
          <a:p>
            <a:pPr marL="0" indent="0">
              <a:buNone/>
            </a:pPr>
            <a:r>
              <a:rPr lang="en-US" sz="2000"/>
              <a:t>Ensuring long-term economic viability</a:t>
            </a:r>
          </a:p>
          <a:p>
            <a:pPr marL="0" indent="0">
              <a:buNone/>
            </a:pPr>
            <a:r>
              <a:rPr lang="en-US" sz="2000"/>
              <a:t>True sustainability balances people, planet, and profit—the triple bottom line. Makes a win , win situation</a:t>
            </a:r>
          </a:p>
        </p:txBody>
      </p:sp>
    </p:spTree>
    <p:extLst>
      <p:ext uri="{BB962C8B-B14F-4D97-AF65-F5344CB8AC3E}">
        <p14:creationId xmlns:p14="http://schemas.microsoft.com/office/powerpoint/2010/main" val="366643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2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10 Green Business Ideas For Eco-Minded Business owners">
            <a:extLst>
              <a:ext uri="{FF2B5EF4-FFF2-40B4-BE49-F238E27FC236}">
                <a16:creationId xmlns:a16="http://schemas.microsoft.com/office/drawing/2014/main" id="{16C29B3A-62A2-B32D-3E48-BD937E6F0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862212-B7B9-9C94-3D72-18415D26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Reducing Environmental Impact</a:t>
            </a:r>
          </a:p>
        </p:txBody>
      </p:sp>
      <p:sp>
        <p:nvSpPr>
          <p:cNvPr id="4174" name="Rectangle 417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76" name="Rectangle 417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2" name="Content Placeholder 2">
            <a:extLst>
              <a:ext uri="{FF2B5EF4-FFF2-40B4-BE49-F238E27FC236}">
                <a16:creationId xmlns:a16="http://schemas.microsoft.com/office/drawing/2014/main" id="{55A789CE-C0BA-EDD1-9956-7B4651358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Energy efficiency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Waste reduction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Renewable energy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Sustainable sourcing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Examples: Using solar power, reducing plastic packaging, optimizing logistics to reduce emissions.</a:t>
            </a:r>
          </a:p>
        </p:txBody>
      </p:sp>
    </p:spTree>
    <p:extLst>
      <p:ext uri="{BB962C8B-B14F-4D97-AF65-F5344CB8AC3E}">
        <p14:creationId xmlns:p14="http://schemas.microsoft.com/office/powerpoint/2010/main" val="265212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6" name="Rectangle 514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FEE8-EF3B-146A-7E87-94789568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Social Responsibility</a:t>
            </a:r>
          </a:p>
        </p:txBody>
      </p:sp>
      <p:sp>
        <p:nvSpPr>
          <p:cNvPr id="514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7F958-58E8-88CD-131A-A5369D7B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Fair labor practices</a:t>
            </a:r>
          </a:p>
          <a:p>
            <a:r>
              <a:rPr lang="en-US" sz="2200"/>
              <a:t>Diversity and inclusion</a:t>
            </a:r>
          </a:p>
          <a:p>
            <a:r>
              <a:rPr lang="en-US" sz="2200"/>
              <a:t>Community engagement </a:t>
            </a:r>
          </a:p>
          <a:p>
            <a:r>
              <a:rPr lang="en-US" sz="2200"/>
              <a:t>Ethical sourcing</a:t>
            </a:r>
          </a:p>
          <a:p>
            <a:r>
              <a:rPr lang="en-US" sz="2200"/>
              <a:t>Companies must respect workers' rights, support communities, and build ethical supply chains.</a:t>
            </a:r>
          </a:p>
        </p:txBody>
      </p:sp>
      <p:pic>
        <p:nvPicPr>
          <p:cNvPr id="5122" name="Picture 2" descr="Business Sustainability Strategy">
            <a:extLst>
              <a:ext uri="{FF2B5EF4-FFF2-40B4-BE49-F238E27FC236}">
                <a16:creationId xmlns:a16="http://schemas.microsoft.com/office/drawing/2014/main" id="{74A393F6-A7C7-B20D-9032-91693FBA7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r="10425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631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6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160" name="Group 6159">
            <a:extLst>
              <a:ext uri="{FF2B5EF4-FFF2-40B4-BE49-F238E27FC236}">
                <a16:creationId xmlns:a16="http://schemas.microsoft.com/office/drawing/2014/main" id="{E56E71F1-5A87-4A96-B42F-2DFA1B766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6154" name="Color Cover">
              <a:extLst>
                <a:ext uri="{FF2B5EF4-FFF2-40B4-BE49-F238E27FC236}">
                  <a16:creationId xmlns:a16="http://schemas.microsoft.com/office/drawing/2014/main" id="{CF5215DD-02E8-49F2-8F73-D509B6A02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55" name="Color Cover">
              <a:extLst>
                <a:ext uri="{FF2B5EF4-FFF2-40B4-BE49-F238E27FC236}">
                  <a16:creationId xmlns:a16="http://schemas.microsoft.com/office/drawing/2014/main" id="{8E743EB7-3A15-4D51-A603-1F3C290AA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57" name="Group 6156">
            <a:extLst>
              <a:ext uri="{FF2B5EF4-FFF2-40B4-BE49-F238E27FC236}">
                <a16:creationId xmlns:a16="http://schemas.microsoft.com/office/drawing/2014/main" id="{C733FE3C-12C4-4FA2-A795-87D2F6776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6158" name="Color">
              <a:extLst>
                <a:ext uri="{FF2B5EF4-FFF2-40B4-BE49-F238E27FC236}">
                  <a16:creationId xmlns:a16="http://schemas.microsoft.com/office/drawing/2014/main" id="{66F1E4BF-D491-4254-81A6-5119D1672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59" name="Color">
              <a:extLst>
                <a:ext uri="{FF2B5EF4-FFF2-40B4-BE49-F238E27FC236}">
                  <a16:creationId xmlns:a16="http://schemas.microsoft.com/office/drawing/2014/main" id="{98C6C0CF-E3BD-4627-9DDF-246EAF2D4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146" name="Picture 2" descr="Let Us Help You to Grow Sustainable Profitability | Marquee Incentives">
            <a:extLst>
              <a:ext uri="{FF2B5EF4-FFF2-40B4-BE49-F238E27FC236}">
                <a16:creationId xmlns:a16="http://schemas.microsoft.com/office/drawing/2014/main" id="{C2C983FB-8A1E-C821-09E7-5E0A6E223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3" r="26147" b="-1"/>
          <a:stretch>
            <a:fillRect/>
          </a:stretch>
        </p:blipFill>
        <p:spPr bwMode="auto">
          <a:xfrm>
            <a:off x="7082810" y="841663"/>
            <a:ext cx="4166151" cy="518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0C2B5F12-8A82-4A59-9400-3164CBF47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52" cy="6858000"/>
            <a:chOff x="0" y="0"/>
            <a:chExt cx="12188952" cy="6858000"/>
          </a:xfrm>
        </p:grpSpPr>
        <p:sp>
          <p:nvSpPr>
            <p:cNvPr id="6162" name="Freeform: Shape 6161">
              <a:extLst>
                <a:ext uri="{FF2B5EF4-FFF2-40B4-BE49-F238E27FC236}">
                  <a16:creationId xmlns:a16="http://schemas.microsoft.com/office/drawing/2014/main" id="{574BC7CB-EC69-421D-B286-57CAFE86D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3" name="Freeform: Shape 6162">
              <a:extLst>
                <a:ext uri="{FF2B5EF4-FFF2-40B4-BE49-F238E27FC236}">
                  <a16:creationId xmlns:a16="http://schemas.microsoft.com/office/drawing/2014/main" id="{82D86EA2-D090-4E0C-B153-3ECE91311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4" name="Freeform: Shape 6163">
              <a:extLst>
                <a:ext uri="{FF2B5EF4-FFF2-40B4-BE49-F238E27FC236}">
                  <a16:creationId xmlns:a16="http://schemas.microsoft.com/office/drawing/2014/main" id="{4AC29764-D054-4F76-9FE5-49811EDB6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5" name="Freeform: Shape 6164">
              <a:extLst>
                <a:ext uri="{FF2B5EF4-FFF2-40B4-BE49-F238E27FC236}">
                  <a16:creationId xmlns:a16="http://schemas.microsoft.com/office/drawing/2014/main" id="{4D9BB18B-7B57-4D1E-B87E-D2A7214F7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6" name="Freeform: Shape 6165">
              <a:extLst>
                <a:ext uri="{FF2B5EF4-FFF2-40B4-BE49-F238E27FC236}">
                  <a16:creationId xmlns:a16="http://schemas.microsoft.com/office/drawing/2014/main" id="{C0A98EF1-1185-4EFF-A3C0-25DEBE8CD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7" name="Freeform: Shape 6166">
              <a:extLst>
                <a:ext uri="{FF2B5EF4-FFF2-40B4-BE49-F238E27FC236}">
                  <a16:creationId xmlns:a16="http://schemas.microsoft.com/office/drawing/2014/main" id="{ACDA8723-DE3F-48D0-8822-0269EE207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8" name="Freeform: Shape 6167">
              <a:extLst>
                <a:ext uri="{FF2B5EF4-FFF2-40B4-BE49-F238E27FC236}">
                  <a16:creationId xmlns:a16="http://schemas.microsoft.com/office/drawing/2014/main" id="{22B072E5-03AC-4D0A-A767-43EFB55BE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0E0682-CAB6-1702-9FDB-02CADC3E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19015"/>
            <a:ext cx="5821537" cy="2353362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Long-Term 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A3DF1-37AC-9480-76FE-9AD95C0D9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3442089"/>
            <a:ext cx="5821537" cy="25968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Sustainable growth strategies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Innovation and circular economy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Risk management and resilience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Businesses need to think long-term, using sustainable models to mitigate risks like resource scarcity or regulatory pressure.</a:t>
            </a:r>
          </a:p>
        </p:txBody>
      </p:sp>
    </p:spTree>
    <p:extLst>
      <p:ext uri="{BB962C8B-B14F-4D97-AF65-F5344CB8AC3E}">
        <p14:creationId xmlns:p14="http://schemas.microsoft.com/office/powerpoint/2010/main" val="324354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30 Ways to Make Your Workplace Culture More Eco-Friendly | Cooleaf">
            <a:extLst>
              <a:ext uri="{FF2B5EF4-FFF2-40B4-BE49-F238E27FC236}">
                <a16:creationId xmlns:a16="http://schemas.microsoft.com/office/drawing/2014/main" id="{D3F7E6CB-E22A-E4C5-7363-120A828E2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7" r="9090" b="-1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30FD7-C4FB-AA77-48B9-3097C7AC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Success Stories</a:t>
            </a:r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94C3D-0443-E9D3-B4D9-78E2C8A8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BYD :Become world no.1 ev. selling company</a:t>
            </a:r>
          </a:p>
          <a:p>
            <a:r>
              <a:rPr lang="en-US" sz="1700">
                <a:solidFill>
                  <a:schemeClr val="bg1"/>
                </a:solidFill>
              </a:rPr>
              <a:t>IKEA: Commitment to 100% renewable energy</a:t>
            </a:r>
          </a:p>
          <a:p>
            <a:r>
              <a:rPr lang="en-US" sz="1700">
                <a:solidFill>
                  <a:schemeClr val="bg1"/>
                </a:solidFill>
              </a:rPr>
              <a:t>Unilever: Sustainable Living Plan</a:t>
            </a:r>
          </a:p>
          <a:p>
            <a:r>
              <a:rPr lang="en-US" sz="1700">
                <a:solidFill>
                  <a:schemeClr val="bg1"/>
                </a:solidFill>
              </a:rPr>
              <a:t>These companies prove that sustainability can drive success and customer loyalty.</a:t>
            </a:r>
          </a:p>
        </p:txBody>
      </p:sp>
    </p:spTree>
    <p:extLst>
      <p:ext uri="{BB962C8B-B14F-4D97-AF65-F5344CB8AC3E}">
        <p14:creationId xmlns:p14="http://schemas.microsoft.com/office/powerpoint/2010/main" val="241816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66E4F-334A-2448-2A2B-4FE09D8C5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Pakistan is too far in this field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59C9-5437-A51D-EB6B-B33263B16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 u="sng" dirty="0"/>
              <a:t>Lack of Awareness and Education</a:t>
            </a:r>
          </a:p>
          <a:p>
            <a:pPr marL="0" indent="0">
              <a:buNone/>
            </a:pPr>
            <a:r>
              <a:rPr lang="en-US" sz="2000" dirty="0"/>
              <a:t>Many businesses lack knowledge about sustainability and its long-term benefits .</a:t>
            </a:r>
          </a:p>
          <a:p>
            <a:pPr marL="0" indent="0">
              <a:buNone/>
            </a:pPr>
            <a:r>
              <a:rPr lang="en-US" sz="2000" dirty="0"/>
              <a:t> Eco-conscious consumer demand is still developing, so businesses don’t feel strong pressure to adapt.</a:t>
            </a:r>
          </a:p>
          <a:p>
            <a:r>
              <a:rPr lang="en-US" sz="2000" b="1" u="sng" dirty="0"/>
              <a:t>Cost and Financial Constraints</a:t>
            </a:r>
          </a:p>
          <a:p>
            <a:pPr marL="0" indent="0">
              <a:buNone/>
            </a:pPr>
            <a:r>
              <a:rPr lang="en-US" sz="2000" dirty="0"/>
              <a:t>Eco-friendly materials and technologies often have higher  upfront costs . Small and medium-sized enterprises (SMEs), which make up a large part of Pakistan’s economy, may not have the capital to invest in sustainable practices.</a:t>
            </a:r>
          </a:p>
        </p:txBody>
      </p:sp>
    </p:spTree>
    <p:extLst>
      <p:ext uri="{BB962C8B-B14F-4D97-AF65-F5344CB8AC3E}">
        <p14:creationId xmlns:p14="http://schemas.microsoft.com/office/powerpoint/2010/main" val="52194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AC123-C1CF-E195-719B-C6CC53A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But There Is Growing Potential</a:t>
            </a:r>
            <a:endParaRPr lang="en-US" dirty="0"/>
          </a:p>
        </p:txBody>
      </p:sp>
      <p:pic>
        <p:nvPicPr>
          <p:cNvPr id="8194" name="Picture 2" descr="Green Pakistan Government Logo Design Illustrious Stock ...">
            <a:extLst>
              <a:ext uri="{FF2B5EF4-FFF2-40B4-BE49-F238E27FC236}">
                <a16:creationId xmlns:a16="http://schemas.microsoft.com/office/drawing/2014/main" id="{F9FE65A9-B51D-2642-1CE4-C6B350D11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8" r="15000" b="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706D5-FB19-07C1-4D4B-93D0F200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2000"/>
              <a:t>Young entrepreneurs and export-oriented companies (especially in textiles and agriculture) are increasingly exploring eco-certifications and green practices to enter global markets .</a:t>
            </a:r>
          </a:p>
          <a:p>
            <a:r>
              <a:rPr lang="en-US" sz="2000"/>
              <a:t>Growing environmental movements and media attention are slowly shifting public and business mindsets.</a:t>
            </a:r>
          </a:p>
        </p:txBody>
      </p:sp>
    </p:spTree>
    <p:extLst>
      <p:ext uri="{BB962C8B-B14F-4D97-AF65-F5344CB8AC3E}">
        <p14:creationId xmlns:p14="http://schemas.microsoft.com/office/powerpoint/2010/main" val="377168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ank You Images - Free Download on Freepik">
            <a:extLst>
              <a:ext uri="{FF2B5EF4-FFF2-40B4-BE49-F238E27FC236}">
                <a16:creationId xmlns:a16="http://schemas.microsoft.com/office/drawing/2014/main" id="{DF504B6A-FCCA-EE58-E840-CE8CA4BD87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6" y="643466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64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</TotalTime>
  <Words>343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2013 - 2022 Theme</vt:lpstr>
      <vt:lpstr>Presented by :  Zain Asif                                             Husnain Ali </vt:lpstr>
      <vt:lpstr>Why sustainability matters in a business ?</vt:lpstr>
      <vt:lpstr>Defining Sustainability in Business ?</vt:lpstr>
      <vt:lpstr>Reducing Environmental Impact</vt:lpstr>
      <vt:lpstr>Social Responsibility</vt:lpstr>
      <vt:lpstr>Long-Term Profitability</vt:lpstr>
      <vt:lpstr>Success Stories</vt:lpstr>
      <vt:lpstr>Why Pakistan is too far in this field ?</vt:lpstr>
      <vt:lpstr>But There Is Growing Potential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24-NTU-BA-FL-2325</dc:creator>
  <cp:lastModifiedBy>24-NTU-BA-FL-2325</cp:lastModifiedBy>
  <cp:revision>1</cp:revision>
  <dcterms:created xsi:type="dcterms:W3CDTF">2025-05-19T14:26:09Z</dcterms:created>
  <dcterms:modified xsi:type="dcterms:W3CDTF">2025-05-19T16:51:15Z</dcterms:modified>
</cp:coreProperties>
</file>