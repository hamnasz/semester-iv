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3" r:id="rId2"/>
    <p:sldId id="259" r:id="rId3"/>
    <p:sldId id="843" r:id="rId4"/>
    <p:sldId id="844" r:id="rId5"/>
    <p:sldId id="842" r:id="rId6"/>
    <p:sldId id="845" r:id="rId7"/>
    <p:sldId id="846" r:id="rId8"/>
    <p:sldId id="832" r:id="rId9"/>
    <p:sldId id="833" r:id="rId10"/>
    <p:sldId id="834" r:id="rId11"/>
    <p:sldId id="835" r:id="rId12"/>
    <p:sldId id="836" r:id="rId13"/>
    <p:sldId id="847" r:id="rId14"/>
    <p:sldId id="848" r:id="rId15"/>
    <p:sldId id="849" r:id="rId16"/>
    <p:sldId id="850" r:id="rId17"/>
    <p:sldId id="851" r:id="rId18"/>
    <p:sldId id="277" r:id="rId19"/>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32A2A"/>
    <a:srgbClr val="C000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375" autoAdjust="0"/>
    <p:restoredTop sz="94660"/>
  </p:normalViewPr>
  <p:slideViewPr>
    <p:cSldViewPr snapToGrid="0">
      <p:cViewPr varScale="1">
        <p:scale>
          <a:sx n="86" d="100"/>
          <a:sy n="86" d="100"/>
        </p:scale>
        <p:origin x="634"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F304D-9FBF-4B4D-AB5C-790149BB44A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K"/>
          </a:p>
        </p:txBody>
      </p:sp>
      <p:sp>
        <p:nvSpPr>
          <p:cNvPr id="3" name="Subtitle 2">
            <a:extLst>
              <a:ext uri="{FF2B5EF4-FFF2-40B4-BE49-F238E27FC236}">
                <a16:creationId xmlns:a16="http://schemas.microsoft.com/office/drawing/2014/main" id="{000C0F5D-325B-4660-8632-EBB9EC084D3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K"/>
          </a:p>
        </p:txBody>
      </p:sp>
      <p:sp>
        <p:nvSpPr>
          <p:cNvPr id="4" name="Date Placeholder 3">
            <a:extLst>
              <a:ext uri="{FF2B5EF4-FFF2-40B4-BE49-F238E27FC236}">
                <a16:creationId xmlns:a16="http://schemas.microsoft.com/office/drawing/2014/main" id="{3FBC7CD5-CB98-4F1C-8F4E-14A8F9EE1811}"/>
              </a:ext>
            </a:extLst>
          </p:cNvPr>
          <p:cNvSpPr>
            <a:spLocks noGrp="1"/>
          </p:cNvSpPr>
          <p:nvPr>
            <p:ph type="dt" sz="half" idx="10"/>
          </p:nvPr>
        </p:nvSpPr>
        <p:spPr/>
        <p:txBody>
          <a:bodyPr/>
          <a:lstStyle/>
          <a:p>
            <a:fld id="{3237A82C-AEEE-48DB-A866-3B1CA0AC9D5D}" type="datetimeFigureOut">
              <a:rPr lang="en-PK" smtClean="0"/>
              <a:t>03/15/2025</a:t>
            </a:fld>
            <a:endParaRPr lang="en-PK"/>
          </a:p>
        </p:txBody>
      </p:sp>
      <p:sp>
        <p:nvSpPr>
          <p:cNvPr id="5" name="Footer Placeholder 4">
            <a:extLst>
              <a:ext uri="{FF2B5EF4-FFF2-40B4-BE49-F238E27FC236}">
                <a16:creationId xmlns:a16="http://schemas.microsoft.com/office/drawing/2014/main" id="{9DA69AAB-D032-4740-999C-6FECB3BEC838}"/>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F1F2CE2C-3FF8-4ED5-9A0F-6E35B87E8B6F}"/>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16832143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11BF5-D802-48A8-8681-E64C843E4622}"/>
              </a:ext>
            </a:extLst>
          </p:cNvPr>
          <p:cNvSpPr>
            <a:spLocks noGrp="1"/>
          </p:cNvSpPr>
          <p:nvPr>
            <p:ph type="title"/>
          </p:nvPr>
        </p:nvSpPr>
        <p:spPr/>
        <p:txBody>
          <a:bodyPr/>
          <a:lstStyle/>
          <a:p>
            <a:r>
              <a:rPr lang="en-US" dirty="0"/>
              <a:t>Click to edit Master title style</a:t>
            </a:r>
            <a:endParaRPr lang="en-PK" dirty="0"/>
          </a:p>
        </p:txBody>
      </p:sp>
      <p:sp>
        <p:nvSpPr>
          <p:cNvPr id="3" name="Content Placeholder 2">
            <a:extLst>
              <a:ext uri="{FF2B5EF4-FFF2-40B4-BE49-F238E27FC236}">
                <a16:creationId xmlns:a16="http://schemas.microsoft.com/office/drawing/2014/main" id="{4D563E54-C420-46A7-95A3-D26D99CE95B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09E21E6C-72DA-4925-94EE-0D245623B79C}"/>
              </a:ext>
            </a:extLst>
          </p:cNvPr>
          <p:cNvSpPr>
            <a:spLocks noGrp="1"/>
          </p:cNvSpPr>
          <p:nvPr>
            <p:ph type="dt" sz="half" idx="10"/>
          </p:nvPr>
        </p:nvSpPr>
        <p:spPr/>
        <p:txBody>
          <a:bodyPr/>
          <a:lstStyle/>
          <a:p>
            <a:fld id="{3237A82C-AEEE-48DB-A866-3B1CA0AC9D5D}" type="datetimeFigureOut">
              <a:rPr lang="en-PK" smtClean="0"/>
              <a:t>03/15/2025</a:t>
            </a:fld>
            <a:endParaRPr lang="en-PK"/>
          </a:p>
        </p:txBody>
      </p:sp>
      <p:sp>
        <p:nvSpPr>
          <p:cNvPr id="5" name="Footer Placeholder 4">
            <a:extLst>
              <a:ext uri="{FF2B5EF4-FFF2-40B4-BE49-F238E27FC236}">
                <a16:creationId xmlns:a16="http://schemas.microsoft.com/office/drawing/2014/main" id="{E316D8A9-019D-413B-8A1E-F14D6EE35618}"/>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6050099F-8C38-444A-A7F8-21336A623DAA}"/>
              </a:ext>
            </a:extLst>
          </p:cNvPr>
          <p:cNvSpPr>
            <a:spLocks noGrp="1"/>
          </p:cNvSpPr>
          <p:nvPr>
            <p:ph type="sldNum" sz="quarter" idx="12"/>
          </p:nvPr>
        </p:nvSpPr>
        <p:spPr/>
        <p:txBody>
          <a:bodyPr/>
          <a:lstStyle/>
          <a:p>
            <a:fld id="{6EB9F7D7-3C9C-4146-9FA1-B77DEB44278D}" type="slidenum">
              <a:rPr lang="en-PK" smtClean="0"/>
              <a:t>‹#›</a:t>
            </a:fld>
            <a:endParaRPr lang="en-PK"/>
          </a:p>
        </p:txBody>
      </p:sp>
      <p:grpSp>
        <p:nvGrpSpPr>
          <p:cNvPr id="7" name="Group 6">
            <a:extLst>
              <a:ext uri="{FF2B5EF4-FFF2-40B4-BE49-F238E27FC236}">
                <a16:creationId xmlns:a16="http://schemas.microsoft.com/office/drawing/2014/main" id="{F0218E89-FE91-00B4-51A7-30EDB0077FF4}"/>
              </a:ext>
            </a:extLst>
          </p:cNvPr>
          <p:cNvGrpSpPr/>
          <p:nvPr userDrawn="1"/>
        </p:nvGrpSpPr>
        <p:grpSpPr>
          <a:xfrm>
            <a:off x="0" y="0"/>
            <a:ext cx="12749348" cy="1115736"/>
            <a:chOff x="0" y="0"/>
            <a:chExt cx="12749348" cy="1115736"/>
          </a:xfrm>
        </p:grpSpPr>
        <p:sp>
          <p:nvSpPr>
            <p:cNvPr id="8" name="Rectangle 7">
              <a:extLst>
                <a:ext uri="{FF2B5EF4-FFF2-40B4-BE49-F238E27FC236}">
                  <a16:creationId xmlns:a16="http://schemas.microsoft.com/office/drawing/2014/main" id="{E37595A1-2135-3D78-300B-6424FD5AED4E}"/>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9" name="Picture 8">
              <a:extLst>
                <a:ext uri="{FF2B5EF4-FFF2-40B4-BE49-F238E27FC236}">
                  <a16:creationId xmlns:a16="http://schemas.microsoft.com/office/drawing/2014/main" id="{EBEB6545-D48A-0447-0BA5-0656B10AF9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0" name="TextBox 9">
              <a:extLst>
                <a:ext uri="{FF2B5EF4-FFF2-40B4-BE49-F238E27FC236}">
                  <a16:creationId xmlns:a16="http://schemas.microsoft.com/office/drawing/2014/main" id="{180CE087-3B89-F374-6DAC-24EEEF115F4B}"/>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11" name="Graphic 10">
              <a:extLst>
                <a:ext uri="{FF2B5EF4-FFF2-40B4-BE49-F238E27FC236}">
                  <a16:creationId xmlns:a16="http://schemas.microsoft.com/office/drawing/2014/main" id="{D59E33EF-663A-D56C-12B7-28125E3082D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06056" y="403986"/>
              <a:ext cx="261610" cy="261610"/>
            </a:xfrm>
            <a:prstGeom prst="rect">
              <a:avLst/>
            </a:prstGeom>
          </p:spPr>
        </p:pic>
        <p:sp>
          <p:nvSpPr>
            <p:cNvPr id="12" name="TextBox 11">
              <a:extLst>
                <a:ext uri="{FF2B5EF4-FFF2-40B4-BE49-F238E27FC236}">
                  <a16:creationId xmlns:a16="http://schemas.microsoft.com/office/drawing/2014/main" id="{BC576DC8-6A73-451C-8C8B-8BC1A853D76E}"/>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3" name="Graphic 12">
              <a:extLst>
                <a:ext uri="{FF2B5EF4-FFF2-40B4-BE49-F238E27FC236}">
                  <a16:creationId xmlns:a16="http://schemas.microsoft.com/office/drawing/2014/main" id="{B3544839-1D07-040D-FC86-44ED873A095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591033" y="741997"/>
              <a:ext cx="171450" cy="171450"/>
            </a:xfrm>
            <a:prstGeom prst="rect">
              <a:avLst/>
            </a:prstGeom>
          </p:spPr>
        </p:pic>
        <p:pic>
          <p:nvPicPr>
            <p:cNvPr id="14" name="Picture 13">
              <a:extLst>
                <a:ext uri="{FF2B5EF4-FFF2-40B4-BE49-F238E27FC236}">
                  <a16:creationId xmlns:a16="http://schemas.microsoft.com/office/drawing/2014/main" id="{7A9CA787-F66D-BEAC-0010-024AE8FB388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31759640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43EB3-C47B-49A1-BB67-347B61A6D7F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K"/>
          </a:p>
        </p:txBody>
      </p:sp>
      <p:sp>
        <p:nvSpPr>
          <p:cNvPr id="3" name="Text Placeholder 2">
            <a:extLst>
              <a:ext uri="{FF2B5EF4-FFF2-40B4-BE49-F238E27FC236}">
                <a16:creationId xmlns:a16="http://schemas.microsoft.com/office/drawing/2014/main" id="{61CE9B96-3C04-415D-86F4-32630CB36F5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F7AA9B9-E771-49B5-9E2D-06EAF24C17E6}"/>
              </a:ext>
            </a:extLst>
          </p:cNvPr>
          <p:cNvSpPr>
            <a:spLocks noGrp="1"/>
          </p:cNvSpPr>
          <p:nvPr>
            <p:ph type="dt" sz="half" idx="10"/>
          </p:nvPr>
        </p:nvSpPr>
        <p:spPr/>
        <p:txBody>
          <a:bodyPr/>
          <a:lstStyle/>
          <a:p>
            <a:fld id="{3237A82C-AEEE-48DB-A866-3B1CA0AC9D5D}" type="datetimeFigureOut">
              <a:rPr lang="en-PK" smtClean="0"/>
              <a:t>03/15/2025</a:t>
            </a:fld>
            <a:endParaRPr lang="en-PK"/>
          </a:p>
        </p:txBody>
      </p:sp>
      <p:sp>
        <p:nvSpPr>
          <p:cNvPr id="5" name="Footer Placeholder 4">
            <a:extLst>
              <a:ext uri="{FF2B5EF4-FFF2-40B4-BE49-F238E27FC236}">
                <a16:creationId xmlns:a16="http://schemas.microsoft.com/office/drawing/2014/main" id="{5AE7F1A7-FFC1-4BDE-908E-7A849372FAFE}"/>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6BE47FAB-5890-41CE-8DA9-CB5788221706}"/>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34649825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398E66-B67C-4351-89B6-A169553C061C}"/>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5C791AA4-B785-4E02-B612-05E57B25A9E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Content Placeholder 3">
            <a:extLst>
              <a:ext uri="{FF2B5EF4-FFF2-40B4-BE49-F238E27FC236}">
                <a16:creationId xmlns:a16="http://schemas.microsoft.com/office/drawing/2014/main" id="{E410E598-0767-477D-B9E8-2BCCF5C5114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id="{B86D8C23-6B26-4B19-BEEB-7AEFC2A18F66}"/>
              </a:ext>
            </a:extLst>
          </p:cNvPr>
          <p:cNvSpPr>
            <a:spLocks noGrp="1"/>
          </p:cNvSpPr>
          <p:nvPr>
            <p:ph type="dt" sz="half" idx="10"/>
          </p:nvPr>
        </p:nvSpPr>
        <p:spPr/>
        <p:txBody>
          <a:bodyPr/>
          <a:lstStyle/>
          <a:p>
            <a:fld id="{3237A82C-AEEE-48DB-A866-3B1CA0AC9D5D}" type="datetimeFigureOut">
              <a:rPr lang="en-PK" smtClean="0"/>
              <a:t>03/15/2025</a:t>
            </a:fld>
            <a:endParaRPr lang="en-PK"/>
          </a:p>
        </p:txBody>
      </p:sp>
      <p:sp>
        <p:nvSpPr>
          <p:cNvPr id="6" name="Footer Placeholder 5">
            <a:extLst>
              <a:ext uri="{FF2B5EF4-FFF2-40B4-BE49-F238E27FC236}">
                <a16:creationId xmlns:a16="http://schemas.microsoft.com/office/drawing/2014/main" id="{E8CB8FE9-ABD0-4AA5-986C-BC29ECC4F014}"/>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147F8042-F61C-495E-8C35-E7989AA7EE9D}"/>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25619730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E21205-E47B-4E88-8DFD-1C6071B7AD79}"/>
              </a:ext>
            </a:extLst>
          </p:cNvPr>
          <p:cNvSpPr>
            <a:spLocks noGrp="1"/>
          </p:cNvSpPr>
          <p:nvPr>
            <p:ph type="title"/>
          </p:nvPr>
        </p:nvSpPr>
        <p:spPr>
          <a:xfrm>
            <a:off x="839788" y="365125"/>
            <a:ext cx="10515600" cy="1325563"/>
          </a:xfrm>
        </p:spPr>
        <p:txBody>
          <a:bodyPr/>
          <a:lstStyle/>
          <a:p>
            <a:r>
              <a:rPr lang="en-US"/>
              <a:t>Click to edit Master title style</a:t>
            </a:r>
            <a:endParaRPr lang="en-PK"/>
          </a:p>
        </p:txBody>
      </p:sp>
      <p:sp>
        <p:nvSpPr>
          <p:cNvPr id="3" name="Text Placeholder 2">
            <a:extLst>
              <a:ext uri="{FF2B5EF4-FFF2-40B4-BE49-F238E27FC236}">
                <a16:creationId xmlns:a16="http://schemas.microsoft.com/office/drawing/2014/main" id="{7C64C0F1-91A6-4158-8855-0C72083701B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4AB615B-6DBF-4632-94D0-3791085A6C9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Text Placeholder 4">
            <a:extLst>
              <a:ext uri="{FF2B5EF4-FFF2-40B4-BE49-F238E27FC236}">
                <a16:creationId xmlns:a16="http://schemas.microsoft.com/office/drawing/2014/main" id="{B7CB3133-8FE9-4883-B870-D642C1DF037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98078B5-E153-4D81-A163-C758FDB8978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7" name="Date Placeholder 6">
            <a:extLst>
              <a:ext uri="{FF2B5EF4-FFF2-40B4-BE49-F238E27FC236}">
                <a16:creationId xmlns:a16="http://schemas.microsoft.com/office/drawing/2014/main" id="{D5D200C8-3958-4AE2-85B4-16A6511DDDE9}"/>
              </a:ext>
            </a:extLst>
          </p:cNvPr>
          <p:cNvSpPr>
            <a:spLocks noGrp="1"/>
          </p:cNvSpPr>
          <p:nvPr>
            <p:ph type="dt" sz="half" idx="10"/>
          </p:nvPr>
        </p:nvSpPr>
        <p:spPr/>
        <p:txBody>
          <a:bodyPr/>
          <a:lstStyle/>
          <a:p>
            <a:fld id="{3237A82C-AEEE-48DB-A866-3B1CA0AC9D5D}" type="datetimeFigureOut">
              <a:rPr lang="en-PK" smtClean="0"/>
              <a:t>03/15/2025</a:t>
            </a:fld>
            <a:endParaRPr lang="en-PK"/>
          </a:p>
        </p:txBody>
      </p:sp>
      <p:sp>
        <p:nvSpPr>
          <p:cNvPr id="8" name="Footer Placeholder 7">
            <a:extLst>
              <a:ext uri="{FF2B5EF4-FFF2-40B4-BE49-F238E27FC236}">
                <a16:creationId xmlns:a16="http://schemas.microsoft.com/office/drawing/2014/main" id="{6A253149-4D4C-46D5-8100-4A3D9F41B000}"/>
              </a:ext>
            </a:extLst>
          </p:cNvPr>
          <p:cNvSpPr>
            <a:spLocks noGrp="1"/>
          </p:cNvSpPr>
          <p:nvPr>
            <p:ph type="ftr" sz="quarter" idx="11"/>
          </p:nvPr>
        </p:nvSpPr>
        <p:spPr/>
        <p:txBody>
          <a:bodyPr/>
          <a:lstStyle/>
          <a:p>
            <a:endParaRPr lang="en-PK"/>
          </a:p>
        </p:txBody>
      </p:sp>
      <p:sp>
        <p:nvSpPr>
          <p:cNvPr id="9" name="Slide Number Placeholder 8">
            <a:extLst>
              <a:ext uri="{FF2B5EF4-FFF2-40B4-BE49-F238E27FC236}">
                <a16:creationId xmlns:a16="http://schemas.microsoft.com/office/drawing/2014/main" id="{65B7D50A-B373-419E-9BDA-973DC1118760}"/>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22766287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3C455-2666-47C6-BF3E-44EE0A2900AC}"/>
              </a:ext>
            </a:extLst>
          </p:cNvPr>
          <p:cNvSpPr>
            <a:spLocks noGrp="1"/>
          </p:cNvSpPr>
          <p:nvPr>
            <p:ph type="title"/>
          </p:nvPr>
        </p:nvSpPr>
        <p:spPr/>
        <p:txBody>
          <a:bodyPr/>
          <a:lstStyle/>
          <a:p>
            <a:r>
              <a:rPr lang="en-US"/>
              <a:t>Click to edit Master title style</a:t>
            </a:r>
            <a:endParaRPr lang="en-PK"/>
          </a:p>
        </p:txBody>
      </p:sp>
      <p:sp>
        <p:nvSpPr>
          <p:cNvPr id="3" name="Date Placeholder 2">
            <a:extLst>
              <a:ext uri="{FF2B5EF4-FFF2-40B4-BE49-F238E27FC236}">
                <a16:creationId xmlns:a16="http://schemas.microsoft.com/office/drawing/2014/main" id="{2BCDB8A3-54C9-4DF0-AF58-847CC781E947}"/>
              </a:ext>
            </a:extLst>
          </p:cNvPr>
          <p:cNvSpPr>
            <a:spLocks noGrp="1"/>
          </p:cNvSpPr>
          <p:nvPr>
            <p:ph type="dt" sz="half" idx="10"/>
          </p:nvPr>
        </p:nvSpPr>
        <p:spPr/>
        <p:txBody>
          <a:bodyPr/>
          <a:lstStyle/>
          <a:p>
            <a:fld id="{3237A82C-AEEE-48DB-A866-3B1CA0AC9D5D}" type="datetimeFigureOut">
              <a:rPr lang="en-PK" smtClean="0"/>
              <a:t>03/15/2025</a:t>
            </a:fld>
            <a:endParaRPr lang="en-PK"/>
          </a:p>
        </p:txBody>
      </p:sp>
      <p:sp>
        <p:nvSpPr>
          <p:cNvPr id="4" name="Footer Placeholder 3">
            <a:extLst>
              <a:ext uri="{FF2B5EF4-FFF2-40B4-BE49-F238E27FC236}">
                <a16:creationId xmlns:a16="http://schemas.microsoft.com/office/drawing/2014/main" id="{CB3A80F5-1CBF-45BD-A6AD-6BE98C141DE2}"/>
              </a:ext>
            </a:extLst>
          </p:cNvPr>
          <p:cNvSpPr>
            <a:spLocks noGrp="1"/>
          </p:cNvSpPr>
          <p:nvPr>
            <p:ph type="ftr" sz="quarter" idx="11"/>
          </p:nvPr>
        </p:nvSpPr>
        <p:spPr/>
        <p:txBody>
          <a:bodyPr/>
          <a:lstStyle/>
          <a:p>
            <a:endParaRPr lang="en-PK"/>
          </a:p>
        </p:txBody>
      </p:sp>
      <p:sp>
        <p:nvSpPr>
          <p:cNvPr id="5" name="Slide Number Placeholder 4">
            <a:extLst>
              <a:ext uri="{FF2B5EF4-FFF2-40B4-BE49-F238E27FC236}">
                <a16:creationId xmlns:a16="http://schemas.microsoft.com/office/drawing/2014/main" id="{67E03123-314A-4412-8618-E5C45344E1D4}"/>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32143271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EFC5179-D82F-40FA-BF21-7AA507CE0823}"/>
              </a:ext>
            </a:extLst>
          </p:cNvPr>
          <p:cNvSpPr>
            <a:spLocks noGrp="1"/>
          </p:cNvSpPr>
          <p:nvPr>
            <p:ph type="dt" sz="half" idx="10"/>
          </p:nvPr>
        </p:nvSpPr>
        <p:spPr/>
        <p:txBody>
          <a:bodyPr/>
          <a:lstStyle/>
          <a:p>
            <a:fld id="{3237A82C-AEEE-48DB-A866-3B1CA0AC9D5D}" type="datetimeFigureOut">
              <a:rPr lang="en-PK" smtClean="0"/>
              <a:t>03/15/2025</a:t>
            </a:fld>
            <a:endParaRPr lang="en-PK"/>
          </a:p>
        </p:txBody>
      </p:sp>
      <p:sp>
        <p:nvSpPr>
          <p:cNvPr id="3" name="Footer Placeholder 2">
            <a:extLst>
              <a:ext uri="{FF2B5EF4-FFF2-40B4-BE49-F238E27FC236}">
                <a16:creationId xmlns:a16="http://schemas.microsoft.com/office/drawing/2014/main" id="{C1CC15DB-F842-49C3-B55B-A16E3884385C}"/>
              </a:ext>
            </a:extLst>
          </p:cNvPr>
          <p:cNvSpPr>
            <a:spLocks noGrp="1"/>
          </p:cNvSpPr>
          <p:nvPr>
            <p:ph type="ftr" sz="quarter" idx="11"/>
          </p:nvPr>
        </p:nvSpPr>
        <p:spPr/>
        <p:txBody>
          <a:bodyPr/>
          <a:lstStyle/>
          <a:p>
            <a:endParaRPr lang="en-PK"/>
          </a:p>
        </p:txBody>
      </p:sp>
      <p:sp>
        <p:nvSpPr>
          <p:cNvPr id="4" name="Slide Number Placeholder 3">
            <a:extLst>
              <a:ext uri="{FF2B5EF4-FFF2-40B4-BE49-F238E27FC236}">
                <a16:creationId xmlns:a16="http://schemas.microsoft.com/office/drawing/2014/main" id="{38FDBBF2-4194-4BEA-AC76-A5704F3BBC05}"/>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31402277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38F8C-D3DE-403C-AF37-746C3367B6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58DF2B9D-4546-43D6-91C9-FFB86CF4EAF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BF656608-3C52-495D-A214-A55C36D003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898E0AF-DD29-4C26-82C8-ACF8330BE670}"/>
              </a:ext>
            </a:extLst>
          </p:cNvPr>
          <p:cNvSpPr>
            <a:spLocks noGrp="1"/>
          </p:cNvSpPr>
          <p:nvPr>
            <p:ph type="dt" sz="half" idx="10"/>
          </p:nvPr>
        </p:nvSpPr>
        <p:spPr/>
        <p:txBody>
          <a:bodyPr/>
          <a:lstStyle/>
          <a:p>
            <a:fld id="{3237A82C-AEEE-48DB-A866-3B1CA0AC9D5D}" type="datetimeFigureOut">
              <a:rPr lang="en-PK" smtClean="0"/>
              <a:t>03/15/2025</a:t>
            </a:fld>
            <a:endParaRPr lang="en-PK"/>
          </a:p>
        </p:txBody>
      </p:sp>
      <p:sp>
        <p:nvSpPr>
          <p:cNvPr id="6" name="Footer Placeholder 5">
            <a:extLst>
              <a:ext uri="{FF2B5EF4-FFF2-40B4-BE49-F238E27FC236}">
                <a16:creationId xmlns:a16="http://schemas.microsoft.com/office/drawing/2014/main" id="{5BC35345-7A18-4D42-9681-50058B9D5D58}"/>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BCB22563-5A9D-4035-99DC-A96787B7BEA2}"/>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42212643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E83F7-E36A-48E5-8DCA-087E21BBE4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Picture Placeholder 2">
            <a:extLst>
              <a:ext uri="{FF2B5EF4-FFF2-40B4-BE49-F238E27FC236}">
                <a16:creationId xmlns:a16="http://schemas.microsoft.com/office/drawing/2014/main" id="{822A8EBF-99DA-4706-BCCE-9EBA54596A9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124EF8FC-B1A6-401C-9069-13842D8C8A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A73258-FD4E-43EE-BF6C-3DADDEA90459}"/>
              </a:ext>
            </a:extLst>
          </p:cNvPr>
          <p:cNvSpPr>
            <a:spLocks noGrp="1"/>
          </p:cNvSpPr>
          <p:nvPr>
            <p:ph type="dt" sz="half" idx="10"/>
          </p:nvPr>
        </p:nvSpPr>
        <p:spPr/>
        <p:txBody>
          <a:bodyPr/>
          <a:lstStyle/>
          <a:p>
            <a:fld id="{3237A82C-AEEE-48DB-A866-3B1CA0AC9D5D}" type="datetimeFigureOut">
              <a:rPr lang="en-PK" smtClean="0"/>
              <a:t>03/15/2025</a:t>
            </a:fld>
            <a:endParaRPr lang="en-PK"/>
          </a:p>
        </p:txBody>
      </p:sp>
      <p:sp>
        <p:nvSpPr>
          <p:cNvPr id="6" name="Footer Placeholder 5">
            <a:extLst>
              <a:ext uri="{FF2B5EF4-FFF2-40B4-BE49-F238E27FC236}">
                <a16:creationId xmlns:a16="http://schemas.microsoft.com/office/drawing/2014/main" id="{170AB588-D788-4246-8BC5-FC3FB748507C}"/>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E7FFFD2F-0AC3-4390-8990-6C3DDE5525F5}"/>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9162938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C9B165-E271-4702-AC6D-63BC723EAB6A}"/>
              </a:ext>
            </a:extLst>
          </p:cNvPr>
          <p:cNvSpPr>
            <a:spLocks noGrp="1"/>
          </p:cNvSpPr>
          <p:nvPr>
            <p:ph type="title"/>
          </p:nvPr>
        </p:nvSpPr>
        <p:spPr/>
        <p:txBody>
          <a:bodyPr/>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1555CA41-5CBD-4E65-95AA-B3EFB8BD3B4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E19ACED0-31DD-4C4F-B63A-02250626EB2F}"/>
              </a:ext>
            </a:extLst>
          </p:cNvPr>
          <p:cNvSpPr>
            <a:spLocks noGrp="1"/>
          </p:cNvSpPr>
          <p:nvPr>
            <p:ph type="dt" sz="half" idx="10"/>
          </p:nvPr>
        </p:nvSpPr>
        <p:spPr/>
        <p:txBody>
          <a:bodyPr/>
          <a:lstStyle/>
          <a:p>
            <a:fld id="{3237A82C-AEEE-48DB-A866-3B1CA0AC9D5D}" type="datetimeFigureOut">
              <a:rPr lang="en-PK" smtClean="0"/>
              <a:t>03/15/2025</a:t>
            </a:fld>
            <a:endParaRPr lang="en-PK"/>
          </a:p>
        </p:txBody>
      </p:sp>
      <p:sp>
        <p:nvSpPr>
          <p:cNvPr id="5" name="Footer Placeholder 4">
            <a:extLst>
              <a:ext uri="{FF2B5EF4-FFF2-40B4-BE49-F238E27FC236}">
                <a16:creationId xmlns:a16="http://schemas.microsoft.com/office/drawing/2014/main" id="{A995553D-FD7D-4432-BC5C-F78462D738A8}"/>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31E46CDF-12B4-4900-A154-E219D22E95BB}"/>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576310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B29BF1E-BE8B-4353-B936-AE8071F91CD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DB322873-176A-4EA9-9941-DC9941F4750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DD35E231-43A9-48DA-833A-A8750A6CA7EC}"/>
              </a:ext>
            </a:extLst>
          </p:cNvPr>
          <p:cNvSpPr>
            <a:spLocks noGrp="1"/>
          </p:cNvSpPr>
          <p:nvPr>
            <p:ph type="dt" sz="half" idx="10"/>
          </p:nvPr>
        </p:nvSpPr>
        <p:spPr/>
        <p:txBody>
          <a:bodyPr/>
          <a:lstStyle/>
          <a:p>
            <a:fld id="{3237A82C-AEEE-48DB-A866-3B1CA0AC9D5D}" type="datetimeFigureOut">
              <a:rPr lang="en-PK" smtClean="0"/>
              <a:t>03/15/2025</a:t>
            </a:fld>
            <a:endParaRPr lang="en-PK"/>
          </a:p>
        </p:txBody>
      </p:sp>
      <p:sp>
        <p:nvSpPr>
          <p:cNvPr id="5" name="Footer Placeholder 4">
            <a:extLst>
              <a:ext uri="{FF2B5EF4-FFF2-40B4-BE49-F238E27FC236}">
                <a16:creationId xmlns:a16="http://schemas.microsoft.com/office/drawing/2014/main" id="{00B07A8C-6932-4260-BAAA-DBE1B12880FA}"/>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FAFE6F17-3B9F-4C75-98BF-F79F5D018AEB}"/>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42108414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18" Type="http://schemas.openxmlformats.org/officeDocument/2006/relationships/image" Target="../media/image6.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image" Target="../media/image5.svg"/><Relationship Id="rId2" Type="http://schemas.openxmlformats.org/officeDocument/2006/relationships/slideLayout" Target="../slideLayouts/slideLayout2.xml"/><Relationship Id="rId16"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sv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4339B51-54CA-49F5-8966-F46D83C4226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K"/>
          </a:p>
        </p:txBody>
      </p:sp>
      <p:sp>
        <p:nvSpPr>
          <p:cNvPr id="3" name="Text Placeholder 2">
            <a:extLst>
              <a:ext uri="{FF2B5EF4-FFF2-40B4-BE49-F238E27FC236}">
                <a16:creationId xmlns:a16="http://schemas.microsoft.com/office/drawing/2014/main" id="{2519CFAA-AD75-4697-91AC-85CEC6C6B26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54127230-2512-4F28-A281-14854D14747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237A82C-AEEE-48DB-A866-3B1CA0AC9D5D}" type="datetimeFigureOut">
              <a:rPr lang="en-PK" smtClean="0"/>
              <a:t>03/15/2025</a:t>
            </a:fld>
            <a:endParaRPr lang="en-PK"/>
          </a:p>
        </p:txBody>
      </p:sp>
      <p:sp>
        <p:nvSpPr>
          <p:cNvPr id="5" name="Footer Placeholder 4">
            <a:extLst>
              <a:ext uri="{FF2B5EF4-FFF2-40B4-BE49-F238E27FC236}">
                <a16:creationId xmlns:a16="http://schemas.microsoft.com/office/drawing/2014/main" id="{4FD06234-7A7A-4EED-8F6D-3D8EBC2D1F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K"/>
          </a:p>
        </p:txBody>
      </p:sp>
      <p:sp>
        <p:nvSpPr>
          <p:cNvPr id="6" name="Slide Number Placeholder 5">
            <a:extLst>
              <a:ext uri="{FF2B5EF4-FFF2-40B4-BE49-F238E27FC236}">
                <a16:creationId xmlns:a16="http://schemas.microsoft.com/office/drawing/2014/main" id="{AA549BF4-1286-4C31-9FB5-ED9DDFE1E62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EB9F7D7-3C9C-4146-9FA1-B77DEB44278D}" type="slidenum">
              <a:rPr lang="en-PK" smtClean="0"/>
              <a:t>‹#›</a:t>
            </a:fld>
            <a:endParaRPr lang="en-PK"/>
          </a:p>
        </p:txBody>
      </p:sp>
      <p:grpSp>
        <p:nvGrpSpPr>
          <p:cNvPr id="7" name="Group 6">
            <a:extLst>
              <a:ext uri="{FF2B5EF4-FFF2-40B4-BE49-F238E27FC236}">
                <a16:creationId xmlns:a16="http://schemas.microsoft.com/office/drawing/2014/main" id="{B19BF24E-8857-15FB-35DC-63E8E05BDC44}"/>
              </a:ext>
            </a:extLst>
          </p:cNvPr>
          <p:cNvGrpSpPr/>
          <p:nvPr userDrawn="1"/>
        </p:nvGrpSpPr>
        <p:grpSpPr>
          <a:xfrm>
            <a:off x="0" y="0"/>
            <a:ext cx="12749348" cy="1115736"/>
            <a:chOff x="0" y="0"/>
            <a:chExt cx="12749348" cy="1115736"/>
          </a:xfrm>
        </p:grpSpPr>
        <p:sp>
          <p:nvSpPr>
            <p:cNvPr id="8" name="Rectangle 7">
              <a:extLst>
                <a:ext uri="{FF2B5EF4-FFF2-40B4-BE49-F238E27FC236}">
                  <a16:creationId xmlns:a16="http://schemas.microsoft.com/office/drawing/2014/main" id="{D73BBF49-CEAD-EB1E-4F95-D8617074BCBF}"/>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9" name="Picture 8">
              <a:extLst>
                <a:ext uri="{FF2B5EF4-FFF2-40B4-BE49-F238E27FC236}">
                  <a16:creationId xmlns:a16="http://schemas.microsoft.com/office/drawing/2014/main" id="{5179C005-0F7F-3F16-56A7-110BCB515BDA}"/>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0" name="TextBox 9">
              <a:extLst>
                <a:ext uri="{FF2B5EF4-FFF2-40B4-BE49-F238E27FC236}">
                  <a16:creationId xmlns:a16="http://schemas.microsoft.com/office/drawing/2014/main" id="{8FE68011-1363-83B0-5E92-A0541D3016CA}"/>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11" name="Graphic 10">
              <a:extLst>
                <a:ext uri="{FF2B5EF4-FFF2-40B4-BE49-F238E27FC236}">
                  <a16:creationId xmlns:a16="http://schemas.microsoft.com/office/drawing/2014/main" id="{74624E39-ED07-3779-81D7-346EFACDFF0D}"/>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9906056" y="403986"/>
              <a:ext cx="261610" cy="261610"/>
            </a:xfrm>
            <a:prstGeom prst="rect">
              <a:avLst/>
            </a:prstGeom>
          </p:spPr>
        </p:pic>
        <p:sp>
          <p:nvSpPr>
            <p:cNvPr id="12" name="TextBox 11">
              <a:extLst>
                <a:ext uri="{FF2B5EF4-FFF2-40B4-BE49-F238E27FC236}">
                  <a16:creationId xmlns:a16="http://schemas.microsoft.com/office/drawing/2014/main" id="{4C3B84DB-A1EC-D7DD-EDFF-3EA1DE840F44}"/>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3" name="Graphic 12">
              <a:extLst>
                <a:ext uri="{FF2B5EF4-FFF2-40B4-BE49-F238E27FC236}">
                  <a16:creationId xmlns:a16="http://schemas.microsoft.com/office/drawing/2014/main" id="{7C8D8347-E136-3293-DD8A-B522E9102E50}"/>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0591033" y="741997"/>
              <a:ext cx="171450" cy="171450"/>
            </a:xfrm>
            <a:prstGeom prst="rect">
              <a:avLst/>
            </a:prstGeom>
          </p:spPr>
        </p:pic>
        <p:pic>
          <p:nvPicPr>
            <p:cNvPr id="14" name="Picture 13">
              <a:extLst>
                <a:ext uri="{FF2B5EF4-FFF2-40B4-BE49-F238E27FC236}">
                  <a16:creationId xmlns:a16="http://schemas.microsoft.com/office/drawing/2014/main" id="{AB363484-B7E9-D079-335D-5D969BC6C82C}"/>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40133889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BEF21E1-2D98-4671-AEAF-A201BC9C40D1}"/>
              </a:ext>
            </a:extLst>
          </p:cNvPr>
          <p:cNvSpPr/>
          <p:nvPr/>
        </p:nvSpPr>
        <p:spPr>
          <a:xfrm>
            <a:off x="0" y="0"/>
            <a:ext cx="12192000" cy="6858000"/>
          </a:xfrm>
          <a:prstGeom prst="rect">
            <a:avLst/>
          </a:prstGeom>
          <a:solidFill>
            <a:srgbClr val="D32A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5946CD5F-621C-4899-B8C5-417BE3F1ECD0}"/>
              </a:ext>
            </a:extLst>
          </p:cNvPr>
          <p:cNvSpPr>
            <a:spLocks noGrp="1"/>
          </p:cNvSpPr>
          <p:nvPr>
            <p:ph type="ctrTitle"/>
          </p:nvPr>
        </p:nvSpPr>
        <p:spPr>
          <a:xfrm>
            <a:off x="-162787" y="0"/>
            <a:ext cx="12192000" cy="3255963"/>
          </a:xfrm>
        </p:spPr>
        <p:txBody>
          <a:bodyPr>
            <a:normAutofit fontScale="90000"/>
          </a:bodyPr>
          <a:lstStyle/>
          <a:p>
            <a:r>
              <a:rPr lang="en-US" b="1" dirty="0">
                <a:solidFill>
                  <a:schemeClr val="bg1"/>
                </a:solidFill>
                <a:latin typeface="Bahnschrift" panose="020B0502040204020203" pitchFamily="34" charset="0"/>
              </a:rPr>
              <a:t>Capitalism, Definitions, its Merits </a:t>
            </a:r>
            <a:br>
              <a:rPr lang="en-US" b="1" dirty="0">
                <a:solidFill>
                  <a:schemeClr val="bg1"/>
                </a:solidFill>
                <a:latin typeface="Bahnschrift" panose="020B0502040204020203" pitchFamily="34" charset="0"/>
              </a:rPr>
            </a:br>
            <a:r>
              <a:rPr lang="en-US" b="1" dirty="0">
                <a:solidFill>
                  <a:schemeClr val="bg1"/>
                </a:solidFill>
                <a:latin typeface="Bahnschrift" panose="020B0502040204020203" pitchFamily="34" charset="0"/>
              </a:rPr>
              <a:t>&amp; Demerits</a:t>
            </a:r>
            <a:br>
              <a:rPr lang="en-US" b="1" dirty="0">
                <a:solidFill>
                  <a:schemeClr val="bg1"/>
                </a:solidFill>
                <a:latin typeface="Bahnschrift" panose="020B0502040204020203" pitchFamily="34" charset="0"/>
              </a:rPr>
            </a:br>
            <a:r>
              <a:rPr lang="en-US" b="1" dirty="0">
                <a:solidFill>
                  <a:schemeClr val="bg1"/>
                </a:solidFill>
                <a:latin typeface="Bahnschrift" panose="020B0502040204020203" pitchFamily="34" charset="0"/>
              </a:rPr>
              <a:t>(A Comparison between Islam &amp;  Capitalism)</a:t>
            </a:r>
            <a:endParaRPr lang="en-GB" dirty="0"/>
          </a:p>
        </p:txBody>
      </p:sp>
      <p:sp>
        <p:nvSpPr>
          <p:cNvPr id="3" name="Subtitle 2">
            <a:extLst>
              <a:ext uri="{FF2B5EF4-FFF2-40B4-BE49-F238E27FC236}">
                <a16:creationId xmlns:a16="http://schemas.microsoft.com/office/drawing/2014/main" id="{EC406DBB-5AF5-48F8-9377-D0A0ACE9B10B}"/>
              </a:ext>
            </a:extLst>
          </p:cNvPr>
          <p:cNvSpPr>
            <a:spLocks noGrp="1"/>
          </p:cNvSpPr>
          <p:nvPr>
            <p:ph type="subTitle" idx="1"/>
          </p:nvPr>
        </p:nvSpPr>
        <p:spPr>
          <a:xfrm>
            <a:off x="4569071" y="4081685"/>
            <a:ext cx="7557796" cy="1153160"/>
          </a:xfrm>
        </p:spPr>
        <p:txBody>
          <a:bodyPr>
            <a:noAutofit/>
          </a:bodyPr>
          <a:lstStyle/>
          <a:p>
            <a:pPr algn="l"/>
            <a:r>
              <a:rPr lang="en-GB" sz="3600" b="1" dirty="0">
                <a:solidFill>
                  <a:schemeClr val="bg1"/>
                </a:solidFill>
                <a:latin typeface="Bahnschrift" panose="020B0502040204020203" pitchFamily="34" charset="0"/>
              </a:rPr>
              <a:t>Economics in Islamic Perspective</a:t>
            </a:r>
          </a:p>
          <a:p>
            <a:r>
              <a:rPr lang="en-GB" sz="3600" b="1" dirty="0">
                <a:solidFill>
                  <a:schemeClr val="bg1"/>
                </a:solidFill>
                <a:latin typeface="Bahnschrift" panose="020B0502040204020203" pitchFamily="34" charset="0"/>
                <a:cs typeface="Arial" panose="020B0604020202020204" pitchFamily="34" charset="0"/>
              </a:rPr>
              <a:t>Lecture No: 4</a:t>
            </a:r>
            <a:endParaRPr lang="en-GB" sz="3600" b="1" dirty="0">
              <a:solidFill>
                <a:schemeClr val="bg2"/>
              </a:solidFill>
              <a:latin typeface="Arial" panose="020B0604020202020204" pitchFamily="34" charset="0"/>
              <a:cs typeface="Arial" panose="020B0604020202020204" pitchFamily="34" charset="0"/>
            </a:endParaRPr>
          </a:p>
        </p:txBody>
      </p:sp>
      <p:sp>
        <p:nvSpPr>
          <p:cNvPr id="5" name="Subtitle 2">
            <a:extLst>
              <a:ext uri="{FF2B5EF4-FFF2-40B4-BE49-F238E27FC236}">
                <a16:creationId xmlns:a16="http://schemas.microsoft.com/office/drawing/2014/main" id="{6DA394B8-F89E-45AC-9E3F-FEC161BFAFAB}"/>
              </a:ext>
            </a:extLst>
          </p:cNvPr>
          <p:cNvSpPr txBox="1">
            <a:spLocks/>
          </p:cNvSpPr>
          <p:nvPr/>
        </p:nvSpPr>
        <p:spPr>
          <a:xfrm>
            <a:off x="1158240" y="5331778"/>
            <a:ext cx="2828544" cy="719138"/>
          </a:xfrm>
          <a:prstGeom prst="rect">
            <a:avLst/>
          </a:prstGeom>
          <a:noFill/>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GB" sz="2000" b="1" dirty="0">
                <a:latin typeface="Arial" panose="020B0604020202020204" pitchFamily="34" charset="0"/>
                <a:cs typeface="Arial" panose="020B0604020202020204" pitchFamily="34" charset="0"/>
              </a:rPr>
              <a:t>16 March  2025</a:t>
            </a:r>
          </a:p>
        </p:txBody>
      </p:sp>
      <p:pic>
        <p:nvPicPr>
          <p:cNvPr id="10" name="Graphic 9">
            <a:extLst>
              <a:ext uri="{FF2B5EF4-FFF2-40B4-BE49-F238E27FC236}">
                <a16:creationId xmlns:a16="http://schemas.microsoft.com/office/drawing/2014/main" id="{1C869FE1-C1C4-48A8-AA9E-99CAE025BEA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362283" y="0"/>
            <a:ext cx="3611690" cy="3611690"/>
          </a:xfrm>
          <a:prstGeom prst="rect">
            <a:avLst/>
          </a:prstGeom>
        </p:spPr>
      </p:pic>
    </p:spTree>
    <p:extLst>
      <p:ext uri="{BB962C8B-B14F-4D97-AF65-F5344CB8AC3E}">
        <p14:creationId xmlns:p14="http://schemas.microsoft.com/office/powerpoint/2010/main" val="5247964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5E409FE-0CBB-4EAD-8A22-C51F65DE1771}"/>
              </a:ext>
            </a:extLst>
          </p:cNvPr>
          <p:cNvSpPr>
            <a:spLocks noGrp="1"/>
          </p:cNvSpPr>
          <p:nvPr>
            <p:ph idx="1"/>
          </p:nvPr>
        </p:nvSpPr>
        <p:spPr>
          <a:xfrm>
            <a:off x="0" y="1695636"/>
            <a:ext cx="12260062" cy="5162364"/>
          </a:xfrm>
        </p:spPr>
        <p:txBody>
          <a:bodyPr>
            <a:noAutofit/>
          </a:bodyPr>
          <a:lstStyle/>
          <a:p>
            <a:pPr indent="-457200" algn="just">
              <a:lnSpc>
                <a:spcPct val="150000"/>
              </a:lnSpc>
              <a:spcBef>
                <a:spcPts val="0"/>
              </a:spcBef>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slam has been interpreted by many thinkers from different angles, often with diverse perspectives on its role in society, politics, and the economy. Here are some key definitions from various thinkers:</a:t>
            </a:r>
          </a:p>
          <a:p>
            <a:pPr indent="-457200" algn="just">
              <a:lnSpc>
                <a:spcPct val="150000"/>
              </a:lnSpc>
              <a:spcBef>
                <a:spcPts val="0"/>
              </a:spcBef>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Al-Ghazali (1058–1111): </a:t>
            </a:r>
          </a:p>
          <a:p>
            <a:pPr marL="0" indent="0" algn="just">
              <a:lnSpc>
                <a:spcPct val="150000"/>
              </a:lnSpc>
              <a:spcBef>
                <a:spcPts val="0"/>
              </a:spcBef>
              <a:buNone/>
            </a:pPr>
            <a:r>
              <a:rPr lang="en-US" dirty="0">
                <a:latin typeface="Times New Roman" panose="02020603050405020304" pitchFamily="18" charset="0"/>
                <a:cs typeface="Times New Roman" panose="02020603050405020304" pitchFamily="18" charset="0"/>
              </a:rPr>
              <a:t>Islam is the submission to the will of God (Allah), characterized by five pillars of faith: Shahada (faith), Salat (prayer), Zakat (charity), Sawm (fasting), and Hajj (pilgrimage). It is a holistic way of life that governs personal, social, political, and economic spheres based on Islamic law (Shariah).</a:t>
            </a:r>
          </a:p>
        </p:txBody>
      </p:sp>
      <p:grpSp>
        <p:nvGrpSpPr>
          <p:cNvPr id="8" name="Group 7">
            <a:extLst>
              <a:ext uri="{FF2B5EF4-FFF2-40B4-BE49-F238E27FC236}">
                <a16:creationId xmlns:a16="http://schemas.microsoft.com/office/drawing/2014/main" id="{BAEFE420-0C07-4D1B-9094-F2C452FF1011}"/>
              </a:ext>
            </a:extLst>
          </p:cNvPr>
          <p:cNvGrpSpPr/>
          <p:nvPr/>
        </p:nvGrpSpPr>
        <p:grpSpPr>
          <a:xfrm>
            <a:off x="0" y="0"/>
            <a:ext cx="12749348" cy="1115736"/>
            <a:chOff x="0" y="0"/>
            <a:chExt cx="12749348" cy="1115736"/>
          </a:xfrm>
        </p:grpSpPr>
        <p:sp>
          <p:nvSpPr>
            <p:cNvPr id="9" name="Rectangle 8">
              <a:extLst>
                <a:ext uri="{FF2B5EF4-FFF2-40B4-BE49-F238E27FC236}">
                  <a16:creationId xmlns:a16="http://schemas.microsoft.com/office/drawing/2014/main" id="{6FBB4837-678E-4FCE-A1B7-2AE1B9432890}"/>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10" name="Picture 9">
              <a:extLst>
                <a:ext uri="{FF2B5EF4-FFF2-40B4-BE49-F238E27FC236}">
                  <a16:creationId xmlns:a16="http://schemas.microsoft.com/office/drawing/2014/main" id="{D279BBF0-3F01-4944-AF8F-73A34B5B9C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1" name="TextBox 10">
              <a:extLst>
                <a:ext uri="{FF2B5EF4-FFF2-40B4-BE49-F238E27FC236}">
                  <a16:creationId xmlns:a16="http://schemas.microsoft.com/office/drawing/2014/main" id="{650112A7-3B60-423A-8682-3EC1CCAA7ABE}"/>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12" name="Graphic 11">
              <a:extLst>
                <a:ext uri="{FF2B5EF4-FFF2-40B4-BE49-F238E27FC236}">
                  <a16:creationId xmlns:a16="http://schemas.microsoft.com/office/drawing/2014/main" id="{75FFEA7F-8809-458D-BE80-99F7CFB965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06056" y="403986"/>
              <a:ext cx="261610" cy="261610"/>
            </a:xfrm>
            <a:prstGeom prst="rect">
              <a:avLst/>
            </a:prstGeom>
          </p:spPr>
        </p:pic>
        <p:sp>
          <p:nvSpPr>
            <p:cNvPr id="13" name="TextBox 12">
              <a:extLst>
                <a:ext uri="{FF2B5EF4-FFF2-40B4-BE49-F238E27FC236}">
                  <a16:creationId xmlns:a16="http://schemas.microsoft.com/office/drawing/2014/main" id="{B3F075CD-8CB0-4BD0-B756-BA559BF9DF2D}"/>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4" name="Graphic 13">
              <a:extLst>
                <a:ext uri="{FF2B5EF4-FFF2-40B4-BE49-F238E27FC236}">
                  <a16:creationId xmlns:a16="http://schemas.microsoft.com/office/drawing/2014/main" id="{ACED766F-A0E3-4D45-8A6E-86CCFAFA5D9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591033" y="741997"/>
              <a:ext cx="171450" cy="171450"/>
            </a:xfrm>
            <a:prstGeom prst="rect">
              <a:avLst/>
            </a:prstGeom>
          </p:spPr>
        </p:pic>
        <p:pic>
          <p:nvPicPr>
            <p:cNvPr id="15" name="Picture 14">
              <a:extLst>
                <a:ext uri="{FF2B5EF4-FFF2-40B4-BE49-F238E27FC236}">
                  <a16:creationId xmlns:a16="http://schemas.microsoft.com/office/drawing/2014/main" id="{F83660F3-45D1-4CA0-BE2A-E7E6C1B794A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
        <p:nvSpPr>
          <p:cNvPr id="2" name="Title 1">
            <a:extLst>
              <a:ext uri="{FF2B5EF4-FFF2-40B4-BE49-F238E27FC236}">
                <a16:creationId xmlns:a16="http://schemas.microsoft.com/office/drawing/2014/main" id="{6FC1E4C0-6CE2-D746-1DD1-D683AC0B374A}"/>
              </a:ext>
            </a:extLst>
          </p:cNvPr>
          <p:cNvSpPr>
            <a:spLocks noGrp="1"/>
          </p:cNvSpPr>
          <p:nvPr>
            <p:ph type="title"/>
          </p:nvPr>
        </p:nvSpPr>
        <p:spPr>
          <a:xfrm>
            <a:off x="838200" y="1138335"/>
            <a:ext cx="10515600" cy="687290"/>
          </a:xfrm>
        </p:spPr>
        <p:txBody>
          <a:bodyPr>
            <a:normAutofit fontScale="90000"/>
          </a:bodyPr>
          <a:lstStyle/>
          <a:p>
            <a:r>
              <a:rPr lang="en-US" b="1" dirty="0">
                <a:latin typeface="Times New Roman" panose="02020603050405020304" pitchFamily="18" charset="0"/>
                <a:cs typeface="Times New Roman" panose="02020603050405020304" pitchFamily="18" charset="0"/>
              </a:rPr>
              <a:t>Islam:</a:t>
            </a:r>
          </a:p>
        </p:txBody>
      </p:sp>
    </p:spTree>
    <p:extLst>
      <p:ext uri="{BB962C8B-B14F-4D97-AF65-F5344CB8AC3E}">
        <p14:creationId xmlns:p14="http://schemas.microsoft.com/office/powerpoint/2010/main" val="14385840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26B3DD-4C8E-68C6-EC4F-E9AC262C7A92}"/>
              </a:ext>
            </a:extLst>
          </p:cNvPr>
          <p:cNvSpPr>
            <a:spLocks noGrp="1"/>
          </p:cNvSpPr>
          <p:nvPr>
            <p:ph type="title"/>
          </p:nvPr>
        </p:nvSpPr>
        <p:spPr>
          <a:xfrm>
            <a:off x="838200" y="1115736"/>
            <a:ext cx="10515600" cy="980476"/>
          </a:xfrm>
        </p:spPr>
        <p:txBody>
          <a:bodyPr>
            <a:normAutofit/>
          </a:bodyPr>
          <a:lstStyle/>
          <a:p>
            <a:r>
              <a:rPr lang="en-US" sz="4400" b="1" dirty="0">
                <a:latin typeface="Times New Roman" panose="02020603050405020304" pitchFamily="18" charset="0"/>
                <a:cs typeface="Times New Roman" panose="02020603050405020304" pitchFamily="18" charset="0"/>
              </a:rPr>
              <a:t>Sayyid Qutb (1906–1966):</a:t>
            </a:r>
            <a:endParaRPr lang="en-US"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7FD3F65-A32F-7F84-39E9-2D728615CD96}"/>
              </a:ext>
            </a:extLst>
          </p:cNvPr>
          <p:cNvSpPr>
            <a:spLocks noGrp="1"/>
          </p:cNvSpPr>
          <p:nvPr>
            <p:ph idx="1"/>
          </p:nvPr>
        </p:nvSpPr>
        <p:spPr>
          <a:xfrm>
            <a:off x="559294" y="2096212"/>
            <a:ext cx="10670959" cy="3824687"/>
          </a:xfrm>
        </p:spPr>
        <p:txBody>
          <a:bodyPr>
            <a:noAutofit/>
          </a:bodyPr>
          <a:lstStyle/>
          <a:p>
            <a:pPr algn="just">
              <a:lnSpc>
                <a:spcPct val="160000"/>
              </a:lnSpc>
              <a:spcBef>
                <a:spcPts val="0"/>
              </a:spcBef>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Qutb viewed Islam as a comprehensive system that governs all aspects of life.</a:t>
            </a:r>
          </a:p>
          <a:p>
            <a:pPr algn="just">
              <a:lnSpc>
                <a:spcPct val="160000"/>
              </a:lnSpc>
              <a:spcBef>
                <a:spcPts val="0"/>
              </a:spcBef>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 He argued that Islam is not just a religion but a total way of life that opposes any political or economic system that does not follow the principles outlined in the Qur'an</a:t>
            </a:r>
          </a:p>
        </p:txBody>
      </p:sp>
    </p:spTree>
    <p:extLst>
      <p:ext uri="{BB962C8B-B14F-4D97-AF65-F5344CB8AC3E}">
        <p14:creationId xmlns:p14="http://schemas.microsoft.com/office/powerpoint/2010/main" val="38750470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D3E5033-F5E8-4FDA-843D-15313B5389FE}"/>
              </a:ext>
            </a:extLst>
          </p:cNvPr>
          <p:cNvSpPr>
            <a:spLocks noGrp="1"/>
          </p:cNvSpPr>
          <p:nvPr>
            <p:ph idx="1"/>
          </p:nvPr>
        </p:nvSpPr>
        <p:spPr/>
        <p:txBody>
          <a:bodyPr>
            <a:normAutofit/>
          </a:bodyPr>
          <a:lstStyle/>
          <a:p>
            <a:pPr algn="just">
              <a:lnSpc>
                <a:spcPct val="150000"/>
              </a:lnSpc>
              <a:spcBef>
                <a:spcPts val="0"/>
              </a:spcBef>
              <a:buFont typeface="Wingdings" panose="05000000000000000000" pitchFamily="2" charset="2"/>
              <a:buChar char="§"/>
            </a:pPr>
            <a:r>
              <a:rPr lang="en-US" sz="3200" i="0" dirty="0">
                <a:solidFill>
                  <a:srgbClr val="000000"/>
                </a:solidFill>
                <a:effectLst/>
                <a:latin typeface="Times New Roman" panose="02020603050405020304" pitchFamily="18" charset="0"/>
                <a:cs typeface="Times New Roman" panose="02020603050405020304" pitchFamily="18" charset="0"/>
              </a:rPr>
              <a:t>Capitalism, as an economic and political system, has been analyzed and critiqued by numerous thinkers over the years. </a:t>
            </a:r>
          </a:p>
          <a:p>
            <a:pPr algn="just">
              <a:lnSpc>
                <a:spcPct val="150000"/>
              </a:lnSpc>
              <a:spcBef>
                <a:spcPts val="0"/>
              </a:spcBef>
              <a:buFont typeface="Wingdings" panose="05000000000000000000" pitchFamily="2" charset="2"/>
              <a:buChar char="§"/>
            </a:pPr>
            <a:r>
              <a:rPr lang="en-US" sz="3200" i="0" dirty="0">
                <a:solidFill>
                  <a:srgbClr val="000000"/>
                </a:solidFill>
                <a:effectLst/>
                <a:latin typeface="Times New Roman" panose="02020603050405020304" pitchFamily="18" charset="0"/>
                <a:cs typeface="Times New Roman" panose="02020603050405020304" pitchFamily="18" charset="0"/>
              </a:rPr>
              <a:t>Different thinkers have seen it from a variety of angles, focusing on its mechanisms, impact, and ethical considerations:</a:t>
            </a:r>
          </a:p>
        </p:txBody>
      </p:sp>
      <p:sp>
        <p:nvSpPr>
          <p:cNvPr id="6" name="Title 1">
            <a:extLst>
              <a:ext uri="{FF2B5EF4-FFF2-40B4-BE49-F238E27FC236}">
                <a16:creationId xmlns:a16="http://schemas.microsoft.com/office/drawing/2014/main" id="{E8654D8F-B021-7671-1B0B-FFE192407516}"/>
              </a:ext>
            </a:extLst>
          </p:cNvPr>
          <p:cNvSpPr>
            <a:spLocks noGrp="1"/>
          </p:cNvSpPr>
          <p:nvPr>
            <p:ph type="title"/>
          </p:nvPr>
        </p:nvSpPr>
        <p:spPr>
          <a:xfrm>
            <a:off x="485192" y="1115736"/>
            <a:ext cx="10982130" cy="936999"/>
          </a:xfrm>
        </p:spPr>
        <p:txBody>
          <a:bodyPr>
            <a:normAutofit/>
          </a:bodyPr>
          <a:lstStyle/>
          <a:p>
            <a:pPr algn="just"/>
            <a:r>
              <a:rPr lang="en-US" b="1" i="0" dirty="0">
                <a:solidFill>
                  <a:srgbClr val="000000"/>
                </a:solidFill>
                <a:effectLst/>
                <a:latin typeface="Times New Roman" panose="02020603050405020304" pitchFamily="18" charset="0"/>
                <a:cs typeface="Times New Roman" panose="02020603050405020304" pitchFamily="18" charset="0"/>
              </a:rPr>
              <a:t>Capitalism</a:t>
            </a:r>
          </a:p>
        </p:txBody>
      </p:sp>
    </p:spTree>
    <p:extLst>
      <p:ext uri="{BB962C8B-B14F-4D97-AF65-F5344CB8AC3E}">
        <p14:creationId xmlns:p14="http://schemas.microsoft.com/office/powerpoint/2010/main" val="36965270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01A34-5409-8A3D-B01E-D76F3BEDC17C}"/>
              </a:ext>
            </a:extLst>
          </p:cNvPr>
          <p:cNvSpPr>
            <a:spLocks noGrp="1"/>
          </p:cNvSpPr>
          <p:nvPr>
            <p:ph type="title"/>
          </p:nvPr>
        </p:nvSpPr>
        <p:spPr>
          <a:xfrm>
            <a:off x="838200" y="1149291"/>
            <a:ext cx="10515600" cy="676333"/>
          </a:xfrm>
        </p:spPr>
        <p:txBody>
          <a:bodyPr>
            <a:normAutofit fontScale="90000"/>
          </a:bodyPr>
          <a:lstStyle/>
          <a:p>
            <a:r>
              <a:rPr lang="en-US" b="1" dirty="0">
                <a:solidFill>
                  <a:srgbClr val="000000"/>
                </a:solidFill>
                <a:latin typeface="Times New Roman" panose="02020603050405020304" pitchFamily="18" charset="0"/>
                <a:cs typeface="Times New Roman" panose="02020603050405020304" pitchFamily="18" charset="0"/>
              </a:rPr>
              <a:t>D</a:t>
            </a:r>
            <a:r>
              <a:rPr lang="en-US" sz="4400" b="1" i="0" dirty="0">
                <a:solidFill>
                  <a:srgbClr val="000000"/>
                </a:solidFill>
                <a:effectLst/>
                <a:latin typeface="Times New Roman" panose="02020603050405020304" pitchFamily="18" charset="0"/>
                <a:cs typeface="Times New Roman" panose="02020603050405020304" pitchFamily="18" charset="0"/>
              </a:rPr>
              <a:t>am Smith (1723–1790):</a:t>
            </a:r>
            <a:endParaRPr lang="en-US"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85C25E0-62FD-32CA-0032-22677C5EDDE6}"/>
              </a:ext>
            </a:extLst>
          </p:cNvPr>
          <p:cNvSpPr>
            <a:spLocks noGrp="1"/>
          </p:cNvSpPr>
          <p:nvPr>
            <p:ph idx="1"/>
          </p:nvPr>
        </p:nvSpPr>
        <p:spPr/>
        <p:txBody>
          <a:bodyPr>
            <a:normAutofit/>
          </a:bodyPr>
          <a:lstStyle/>
          <a:p>
            <a:pPr algn="just">
              <a:lnSpc>
                <a:spcPct val="150000"/>
              </a:lnSpc>
              <a:spcBef>
                <a:spcPts val="0"/>
              </a:spcBef>
            </a:pPr>
            <a:r>
              <a:rPr lang="en-US" i="0" dirty="0">
                <a:solidFill>
                  <a:srgbClr val="000000"/>
                </a:solidFill>
                <a:effectLst/>
                <a:latin typeface="Times New Roman" panose="02020603050405020304" pitchFamily="18" charset="0"/>
                <a:cs typeface="Times New Roman" panose="02020603050405020304" pitchFamily="18" charset="0"/>
              </a:rPr>
              <a:t>Often regarded as the father of modern economics, Smith defined capitalism as a system based on private ownership of the means of production and free markets.</a:t>
            </a:r>
          </a:p>
          <a:p>
            <a:pPr algn="just">
              <a:lnSpc>
                <a:spcPct val="150000"/>
              </a:lnSpc>
              <a:spcBef>
                <a:spcPts val="0"/>
              </a:spcBef>
            </a:pPr>
            <a:r>
              <a:rPr lang="en-US" i="0" dirty="0">
                <a:solidFill>
                  <a:srgbClr val="000000"/>
                </a:solidFill>
                <a:effectLst/>
                <a:latin typeface="Times New Roman" panose="02020603050405020304" pitchFamily="18" charset="0"/>
                <a:cs typeface="Times New Roman" panose="02020603050405020304" pitchFamily="18" charset="0"/>
              </a:rPr>
              <a:t>In The Wealth of Nations, he argued that individuals acting in their own self-interest would unintentionally promote the public good through the "invisible hand" of the market.</a:t>
            </a:r>
          </a:p>
        </p:txBody>
      </p:sp>
    </p:spTree>
    <p:extLst>
      <p:ext uri="{BB962C8B-B14F-4D97-AF65-F5344CB8AC3E}">
        <p14:creationId xmlns:p14="http://schemas.microsoft.com/office/powerpoint/2010/main" val="663250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657F00-D6FC-DC2F-03EA-EAE43C30FBD4}"/>
              </a:ext>
            </a:extLst>
          </p:cNvPr>
          <p:cNvSpPr>
            <a:spLocks noGrp="1"/>
          </p:cNvSpPr>
          <p:nvPr>
            <p:ph type="title"/>
          </p:nvPr>
        </p:nvSpPr>
        <p:spPr>
          <a:xfrm>
            <a:off x="838200" y="1057726"/>
            <a:ext cx="10515600" cy="767899"/>
          </a:xfrm>
        </p:spPr>
        <p:txBody>
          <a:bodyPr>
            <a:normAutofit/>
          </a:bodyPr>
          <a:lstStyle/>
          <a:p>
            <a:r>
              <a:rPr lang="en-US" sz="4400" b="1" i="0" dirty="0">
                <a:solidFill>
                  <a:srgbClr val="273239"/>
                </a:solidFill>
                <a:effectLst/>
                <a:latin typeface="Times New Roman" panose="02020603050405020304" pitchFamily="18" charset="0"/>
                <a:cs typeface="Times New Roman" panose="02020603050405020304" pitchFamily="18" charset="0"/>
              </a:rPr>
              <a:t>John Locke (1632–1704):</a:t>
            </a:r>
            <a:endParaRPr lang="en-US" sz="44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B60B3E3-0E6D-016B-1A40-26BB6B8E19A3}"/>
              </a:ext>
            </a:extLst>
          </p:cNvPr>
          <p:cNvSpPr>
            <a:spLocks noGrp="1"/>
          </p:cNvSpPr>
          <p:nvPr>
            <p:ph idx="1"/>
          </p:nvPr>
        </p:nvSpPr>
        <p:spPr/>
        <p:txBody>
          <a:bodyPr>
            <a:noAutofit/>
          </a:bodyPr>
          <a:lstStyle/>
          <a:p>
            <a:pPr algn="just">
              <a:lnSpc>
                <a:spcPct val="150000"/>
              </a:lnSpc>
              <a:spcBef>
                <a:spcPts val="0"/>
              </a:spcBef>
              <a:buFont typeface="Wingdings" panose="05000000000000000000" pitchFamily="2" charset="2"/>
              <a:buChar char="§"/>
            </a:pPr>
            <a:r>
              <a:rPr lang="en-US" sz="3200" b="0" i="0" dirty="0">
                <a:solidFill>
                  <a:srgbClr val="273239"/>
                </a:solidFill>
                <a:effectLst/>
                <a:latin typeface="Times New Roman" panose="02020603050405020304" pitchFamily="18" charset="0"/>
                <a:cs typeface="Times New Roman" panose="02020603050405020304" pitchFamily="18" charset="0"/>
              </a:rPr>
              <a:t>Locke's theories of private property and individual rights were foundational to capitalist thought. </a:t>
            </a:r>
          </a:p>
          <a:p>
            <a:pPr algn="just">
              <a:lnSpc>
                <a:spcPct val="150000"/>
              </a:lnSpc>
              <a:spcBef>
                <a:spcPts val="0"/>
              </a:spcBef>
              <a:buFont typeface="Wingdings" panose="05000000000000000000" pitchFamily="2" charset="2"/>
              <a:buChar char="§"/>
            </a:pPr>
            <a:r>
              <a:rPr lang="en-US" sz="3200" b="0" i="0" dirty="0">
                <a:solidFill>
                  <a:srgbClr val="273239"/>
                </a:solidFill>
                <a:effectLst/>
                <a:latin typeface="Times New Roman" panose="02020603050405020304" pitchFamily="18" charset="0"/>
                <a:cs typeface="Times New Roman" panose="02020603050405020304" pitchFamily="18" charset="0"/>
              </a:rPr>
              <a:t>He argued that individuals have a natural right to property, and through labor, </a:t>
            </a:r>
          </a:p>
          <a:p>
            <a:pPr algn="just">
              <a:lnSpc>
                <a:spcPct val="150000"/>
              </a:lnSpc>
              <a:spcBef>
                <a:spcPts val="0"/>
              </a:spcBef>
              <a:buFont typeface="Wingdings" panose="05000000000000000000" pitchFamily="2" charset="2"/>
              <a:buChar char="§"/>
            </a:pPr>
            <a:r>
              <a:rPr lang="en-US" sz="3200" b="0" i="0" dirty="0">
                <a:solidFill>
                  <a:srgbClr val="273239"/>
                </a:solidFill>
                <a:effectLst/>
                <a:latin typeface="Times New Roman" panose="02020603050405020304" pitchFamily="18" charset="0"/>
                <a:cs typeface="Times New Roman" panose="02020603050405020304" pitchFamily="18" charset="0"/>
              </a:rPr>
              <a:t>they can claim ownership of resources, </a:t>
            </a:r>
          </a:p>
          <a:p>
            <a:pPr algn="just">
              <a:lnSpc>
                <a:spcPct val="150000"/>
              </a:lnSpc>
              <a:spcBef>
                <a:spcPts val="0"/>
              </a:spcBef>
              <a:buFont typeface="Wingdings" panose="05000000000000000000" pitchFamily="2" charset="2"/>
              <a:buChar char="§"/>
            </a:pPr>
            <a:r>
              <a:rPr lang="en-US" sz="3200" b="0" i="0" dirty="0">
                <a:solidFill>
                  <a:srgbClr val="273239"/>
                </a:solidFill>
                <a:effectLst/>
                <a:latin typeface="Times New Roman" panose="02020603050405020304" pitchFamily="18" charset="0"/>
                <a:cs typeface="Times New Roman" panose="02020603050405020304" pitchFamily="18" charset="0"/>
              </a:rPr>
              <a:t>which is a cornerstone of capitalist economies.</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269570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FC9A14-784F-2F8A-18D8-C8D8CF49BF70}"/>
              </a:ext>
            </a:extLst>
          </p:cNvPr>
          <p:cNvSpPr>
            <a:spLocks noGrp="1"/>
          </p:cNvSpPr>
          <p:nvPr>
            <p:ph type="title"/>
          </p:nvPr>
        </p:nvSpPr>
        <p:spPr>
          <a:xfrm>
            <a:off x="499872" y="1139772"/>
            <a:ext cx="11448288" cy="856541"/>
          </a:xfrm>
        </p:spPr>
        <p:txBody>
          <a:bodyPr>
            <a:normAutofit/>
          </a:bodyPr>
          <a:lstStyle/>
          <a:p>
            <a:r>
              <a:rPr lang="en-US" sz="4400" b="1" dirty="0">
                <a:latin typeface="Times New Roman" panose="02020603050405020304" pitchFamily="18" charset="0"/>
                <a:cs typeface="Times New Roman" panose="02020603050405020304" pitchFamily="18" charset="0"/>
              </a:rPr>
              <a:t>Abstract:</a:t>
            </a:r>
            <a:endParaRPr lang="en-US" dirty="0"/>
          </a:p>
        </p:txBody>
      </p:sp>
      <p:sp>
        <p:nvSpPr>
          <p:cNvPr id="3" name="Content Placeholder 2">
            <a:extLst>
              <a:ext uri="{FF2B5EF4-FFF2-40B4-BE49-F238E27FC236}">
                <a16:creationId xmlns:a16="http://schemas.microsoft.com/office/drawing/2014/main" id="{7D1021F8-1E68-62C6-CCEF-45346D8FF394}"/>
              </a:ext>
            </a:extLst>
          </p:cNvPr>
          <p:cNvSpPr>
            <a:spLocks noGrp="1"/>
          </p:cNvSpPr>
          <p:nvPr>
            <p:ph idx="1"/>
          </p:nvPr>
        </p:nvSpPr>
        <p:spPr>
          <a:xfrm>
            <a:off x="838200" y="1996313"/>
            <a:ext cx="10515600" cy="4351338"/>
          </a:xfrm>
        </p:spPr>
        <p:txBody>
          <a:bodyPr>
            <a:normAutofit fontScale="85000" lnSpcReduction="10000"/>
          </a:bodyPr>
          <a:lstStyle/>
          <a:p>
            <a:pPr algn="just">
              <a:lnSpc>
                <a:spcPct val="150000"/>
              </a:lnSpc>
              <a:spcBef>
                <a:spcPts val="0"/>
              </a:spcBef>
              <a:buFont typeface="Wingdings" panose="05000000000000000000" pitchFamily="2" charset="2"/>
              <a:buChar char="§"/>
            </a:pPr>
            <a:r>
              <a:rPr lang="en-US" i="0" dirty="0">
                <a:solidFill>
                  <a:srgbClr val="273239"/>
                </a:solidFill>
                <a:effectLst/>
                <a:latin typeface="Times New Roman" panose="02020603050405020304" pitchFamily="18" charset="0"/>
                <a:cs typeface="Times New Roman" panose="02020603050405020304" pitchFamily="18" charset="0"/>
              </a:rPr>
              <a:t>Islam is defined by various thinkers as both a religious and social system, governing the moral, legal, political, and economic aspects of life. It is seen as a holistic way of life that offers guidance for every aspect of human existence.</a:t>
            </a:r>
          </a:p>
          <a:p>
            <a:pPr algn="just">
              <a:lnSpc>
                <a:spcPct val="150000"/>
              </a:lnSpc>
              <a:spcBef>
                <a:spcPts val="0"/>
              </a:spcBef>
              <a:buFont typeface="Wingdings" panose="05000000000000000000" pitchFamily="2" charset="2"/>
              <a:buChar char="§"/>
            </a:pPr>
            <a:r>
              <a:rPr lang="en-US" i="0" dirty="0">
                <a:solidFill>
                  <a:srgbClr val="273239"/>
                </a:solidFill>
                <a:effectLst/>
                <a:latin typeface="Times New Roman" panose="02020603050405020304" pitchFamily="18" charset="0"/>
                <a:cs typeface="Times New Roman" panose="02020603050405020304" pitchFamily="18" charset="0"/>
              </a:rPr>
              <a:t>Capitalism is defined as an economic system based on private property, free markets, and profit-seeking motives.</a:t>
            </a:r>
          </a:p>
          <a:p>
            <a:pPr algn="just">
              <a:lnSpc>
                <a:spcPct val="150000"/>
              </a:lnSpc>
              <a:spcBef>
                <a:spcPts val="0"/>
              </a:spcBef>
              <a:buFont typeface="Wingdings" panose="05000000000000000000" pitchFamily="2" charset="2"/>
              <a:buChar char="§"/>
            </a:pPr>
            <a:r>
              <a:rPr lang="en-US" i="0" dirty="0">
                <a:solidFill>
                  <a:srgbClr val="273239"/>
                </a:solidFill>
                <a:effectLst/>
                <a:latin typeface="Times New Roman" panose="02020603050405020304" pitchFamily="18" charset="0"/>
                <a:cs typeface="Times New Roman" panose="02020603050405020304" pitchFamily="18" charset="0"/>
              </a:rPr>
              <a:t> Thinkers from Adam Smith to Marx have debated its virtues and shortcomings, with some highlighting its potential to promote individual freedom and wealth, while others critique it for leading to inequality and exploitation.</a:t>
            </a:r>
            <a:endParaRPr lang="en-US"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582809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C11807-248D-9BDB-8768-2BC5D4A1F214}"/>
              </a:ext>
            </a:extLst>
          </p:cNvPr>
          <p:cNvSpPr>
            <a:spLocks noGrp="1"/>
          </p:cNvSpPr>
          <p:nvPr>
            <p:ph type="title"/>
          </p:nvPr>
        </p:nvSpPr>
        <p:spPr>
          <a:xfrm>
            <a:off x="838200" y="1063689"/>
            <a:ext cx="10515600" cy="761935"/>
          </a:xfrm>
        </p:spPr>
        <p:txBody>
          <a:bodyPr>
            <a:normAutofit/>
          </a:bodyPr>
          <a:lstStyle/>
          <a:p>
            <a:r>
              <a:rPr lang="en-US" b="1" dirty="0">
                <a:latin typeface="Arial" panose="020B0604020202020204" pitchFamily="34" charset="0"/>
                <a:cs typeface="Arial" panose="020B0604020202020204" pitchFamily="34" charset="0"/>
              </a:rPr>
              <a:t>Comparison of Islam &amp; Capitalism:</a:t>
            </a:r>
          </a:p>
        </p:txBody>
      </p:sp>
      <p:sp>
        <p:nvSpPr>
          <p:cNvPr id="3" name="Content Placeholder 2">
            <a:extLst>
              <a:ext uri="{FF2B5EF4-FFF2-40B4-BE49-F238E27FC236}">
                <a16:creationId xmlns:a16="http://schemas.microsoft.com/office/drawing/2014/main" id="{CEC54A06-7FE3-66EF-533D-139F85B79405}"/>
              </a:ext>
            </a:extLst>
          </p:cNvPr>
          <p:cNvSpPr>
            <a:spLocks noGrp="1"/>
          </p:cNvSpPr>
          <p:nvPr>
            <p:ph idx="1"/>
          </p:nvPr>
        </p:nvSpPr>
        <p:spPr/>
        <p:txBody>
          <a:bodyPr>
            <a:normAutofit fontScale="85000" lnSpcReduction="20000"/>
          </a:bodyPr>
          <a:lstStyle/>
          <a:p>
            <a:pPr algn="just">
              <a:lnSpc>
                <a:spcPct val="150000"/>
              </a:lnSpc>
              <a:spcBef>
                <a:spcPts val="0"/>
              </a:spcBef>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Islam and capitalism are two distinct systems—one primarily religious and the other economic—that offer different approaches to life, society, and resources. Here's a comparison based on several key aspects:</a:t>
            </a:r>
          </a:p>
          <a:p>
            <a:pPr algn="just">
              <a:lnSpc>
                <a:spcPct val="150000"/>
              </a:lnSpc>
              <a:spcBef>
                <a:spcPts val="0"/>
              </a:spcBef>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1. Philosophical Foundation:</a:t>
            </a:r>
          </a:p>
          <a:p>
            <a:pPr algn="just">
              <a:lnSpc>
                <a:spcPct val="150000"/>
              </a:lnSpc>
              <a:spcBef>
                <a:spcPts val="0"/>
              </a:spcBef>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Islam: </a:t>
            </a:r>
            <a:r>
              <a:rPr lang="en-US" dirty="0">
                <a:latin typeface="Times New Roman" panose="02020603050405020304" pitchFamily="18" charset="0"/>
                <a:cs typeface="Times New Roman" panose="02020603050405020304" pitchFamily="18" charset="0"/>
              </a:rPr>
              <a:t>Islam is a monotheistic religion based on the teachings of the Qur'an and the Hadith (sayings and actions of the Prophet Muhammad). It provides a comprehensive way of life, covering spirituality, ethics, law, and social conduct. Islam emphasizes justice, charity, and the welfare of society, with the belief that wealth should be distributed fairly and used responsibly.</a:t>
            </a:r>
          </a:p>
        </p:txBody>
      </p:sp>
    </p:spTree>
    <p:extLst>
      <p:ext uri="{BB962C8B-B14F-4D97-AF65-F5344CB8AC3E}">
        <p14:creationId xmlns:p14="http://schemas.microsoft.com/office/powerpoint/2010/main" val="22833471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8CDE3C-61DE-CD24-00E4-8A11B61D3B6E}"/>
              </a:ext>
            </a:extLst>
          </p:cNvPr>
          <p:cNvSpPr>
            <a:spLocks noGrp="1"/>
          </p:cNvSpPr>
          <p:nvPr>
            <p:ph type="title"/>
          </p:nvPr>
        </p:nvSpPr>
        <p:spPr>
          <a:xfrm>
            <a:off x="838200" y="1063690"/>
            <a:ext cx="10515600" cy="858416"/>
          </a:xfrm>
        </p:spPr>
        <p:txBody>
          <a:bodyPr>
            <a:normAutofit/>
          </a:bodyPr>
          <a:lstStyle/>
          <a:p>
            <a:r>
              <a:rPr lang="en-US" b="1" dirty="0">
                <a:latin typeface="Times New Roman" panose="02020603050405020304" pitchFamily="18" charset="0"/>
                <a:cs typeface="Times New Roman" panose="02020603050405020304" pitchFamily="18" charset="0"/>
              </a:rPr>
              <a:t>Capitalism:</a:t>
            </a:r>
          </a:p>
        </p:txBody>
      </p:sp>
      <p:sp>
        <p:nvSpPr>
          <p:cNvPr id="3" name="Content Placeholder 2">
            <a:extLst>
              <a:ext uri="{FF2B5EF4-FFF2-40B4-BE49-F238E27FC236}">
                <a16:creationId xmlns:a16="http://schemas.microsoft.com/office/drawing/2014/main" id="{E95C1FAC-5308-F718-BC49-AEE37EA50433}"/>
              </a:ext>
            </a:extLst>
          </p:cNvPr>
          <p:cNvSpPr>
            <a:spLocks noGrp="1"/>
          </p:cNvSpPr>
          <p:nvPr>
            <p:ph idx="1"/>
          </p:nvPr>
        </p:nvSpPr>
        <p:spPr/>
        <p:txBody>
          <a:bodyPr>
            <a:normAutofit lnSpcReduction="10000"/>
          </a:bodyPr>
          <a:lstStyle/>
          <a:p>
            <a:pPr algn="just">
              <a:lnSpc>
                <a:spcPct val="150000"/>
              </a:lnSpc>
              <a:spcBef>
                <a:spcPts val="0"/>
              </a:spcBef>
            </a:pPr>
            <a:r>
              <a:rPr lang="en-US" dirty="0">
                <a:latin typeface="Times New Roman" panose="02020603050405020304" pitchFamily="18" charset="0"/>
                <a:cs typeface="Times New Roman" panose="02020603050405020304" pitchFamily="18" charset="0"/>
              </a:rPr>
              <a:t>Capitalism is an economic system that is based on private ownership of the means of production, with the goal of profit maximization.</a:t>
            </a:r>
          </a:p>
          <a:p>
            <a:pPr algn="just">
              <a:lnSpc>
                <a:spcPct val="150000"/>
              </a:lnSpc>
              <a:spcBef>
                <a:spcPts val="0"/>
              </a:spcBef>
            </a:pPr>
            <a:r>
              <a:rPr lang="en-US" dirty="0">
                <a:latin typeface="Times New Roman" panose="02020603050405020304" pitchFamily="18" charset="0"/>
                <a:cs typeface="Times New Roman" panose="02020603050405020304" pitchFamily="18" charset="0"/>
              </a:rPr>
              <a:t> It values individualism, competition, and the pursuit of personal interests. </a:t>
            </a:r>
          </a:p>
          <a:p>
            <a:pPr algn="just">
              <a:lnSpc>
                <a:spcPct val="150000"/>
              </a:lnSpc>
              <a:spcBef>
                <a:spcPts val="0"/>
              </a:spcBef>
            </a:pPr>
            <a:r>
              <a:rPr lang="en-US" dirty="0">
                <a:latin typeface="Times New Roman" panose="02020603050405020304" pitchFamily="18" charset="0"/>
                <a:cs typeface="Times New Roman" panose="02020603050405020304" pitchFamily="18" charset="0"/>
              </a:rPr>
              <a:t>In capitalism, wealth is distributed based on market forces, and there is less emphasis on the welfare of society as a whole in comparison to the individual's pursuit of wealth.</a:t>
            </a:r>
          </a:p>
        </p:txBody>
      </p:sp>
    </p:spTree>
    <p:extLst>
      <p:ext uri="{BB962C8B-B14F-4D97-AF65-F5344CB8AC3E}">
        <p14:creationId xmlns:p14="http://schemas.microsoft.com/office/powerpoint/2010/main" val="11793799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3C9C8-F18E-1D97-1027-C1BBC248B7C9}"/>
              </a:ext>
            </a:extLst>
          </p:cNvPr>
          <p:cNvSpPr>
            <a:spLocks noGrp="1"/>
          </p:cNvSpPr>
          <p:nvPr>
            <p:ph type="title"/>
          </p:nvPr>
        </p:nvSpPr>
        <p:spPr>
          <a:xfrm>
            <a:off x="838200" y="1398675"/>
            <a:ext cx="10515600" cy="682982"/>
          </a:xfrm>
        </p:spPr>
        <p:txBody>
          <a:bodyPr>
            <a:normAutofit fontScale="90000"/>
          </a:bodyPr>
          <a:lstStyle/>
          <a:p>
            <a:r>
              <a:rPr lang="en-US" b="1" dirty="0">
                <a:latin typeface="Times New Roman" panose="02020603050405020304" pitchFamily="18" charset="0"/>
                <a:cs typeface="Times New Roman" panose="02020603050405020304" pitchFamily="18" charset="0"/>
              </a:rPr>
              <a:t>2. Economic System:</a:t>
            </a:r>
          </a:p>
        </p:txBody>
      </p:sp>
      <p:sp>
        <p:nvSpPr>
          <p:cNvPr id="3" name="Content Placeholder 2">
            <a:extLst>
              <a:ext uri="{FF2B5EF4-FFF2-40B4-BE49-F238E27FC236}">
                <a16:creationId xmlns:a16="http://schemas.microsoft.com/office/drawing/2014/main" id="{EBCA45CC-24EC-C8B8-ED13-C65993665F46}"/>
              </a:ext>
            </a:extLst>
          </p:cNvPr>
          <p:cNvSpPr>
            <a:spLocks noGrp="1"/>
          </p:cNvSpPr>
          <p:nvPr>
            <p:ph idx="1"/>
          </p:nvPr>
        </p:nvSpPr>
        <p:spPr>
          <a:xfrm>
            <a:off x="0" y="1975331"/>
            <a:ext cx="12192000" cy="4882669"/>
          </a:xfrm>
        </p:spPr>
        <p:txBody>
          <a:bodyPr>
            <a:noAutofit/>
          </a:bodyPr>
          <a:lstStyle/>
          <a:p>
            <a:pPr algn="just">
              <a:lnSpc>
                <a:spcPct val="150000"/>
              </a:lnSpc>
              <a:spcBef>
                <a:spcPts val="0"/>
              </a:spcBef>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Islam: </a:t>
            </a:r>
            <a:r>
              <a:rPr lang="en-US" sz="2000" dirty="0">
                <a:latin typeface="Times New Roman" panose="02020603050405020304" pitchFamily="18" charset="0"/>
                <a:cs typeface="Times New Roman" panose="02020603050405020304" pitchFamily="18" charset="0"/>
              </a:rPr>
              <a:t>In Islam, economic activities should align with ethical principles. For example, it forbids interest (</a:t>
            </a:r>
            <a:r>
              <a:rPr lang="en-US" sz="2000" dirty="0" err="1">
                <a:latin typeface="Times New Roman" panose="02020603050405020304" pitchFamily="18" charset="0"/>
                <a:cs typeface="Times New Roman" panose="02020603050405020304" pitchFamily="18" charset="0"/>
              </a:rPr>
              <a:t>riba</a:t>
            </a:r>
            <a:r>
              <a:rPr lang="en-US" sz="2000" dirty="0">
                <a:latin typeface="Times New Roman" panose="02020603050405020304" pitchFamily="18" charset="0"/>
                <a:cs typeface="Times New Roman" panose="02020603050405020304" pitchFamily="18" charset="0"/>
              </a:rPr>
              <a:t>) and unethical practices like exploitation, fraud, and hoarding. Zakat (almsgiving) is a key principle, where Muslims are required to give a portion of their wealth (usually 2.5%) to help those in need. There’s a strong emphasis on social justice, with wealth considered a trust that should be used responsibly.</a:t>
            </a:r>
          </a:p>
          <a:p>
            <a:pPr algn="just">
              <a:lnSpc>
                <a:spcPct val="150000"/>
              </a:lnSpc>
              <a:spcBef>
                <a:spcPts val="0"/>
              </a:spcBef>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Capitalism: </a:t>
            </a:r>
          </a:p>
          <a:p>
            <a:pPr algn="just">
              <a:lnSpc>
                <a:spcPct val="150000"/>
              </a:lnSpc>
              <a:spcBef>
                <a:spcPts val="0"/>
              </a:spcBef>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Capitalism encourages free-market competition, where prices and production are dictated by supply and demand. Profit maximization is a central goal. Wealth is seen as a reward for individual initiative and entrepreneurial success, with minimal government intervention in the economy. This system doesn’t inherently promote wealth redistribution or social justice, although governments may intervene through taxation and welfare programs.</a:t>
            </a:r>
          </a:p>
        </p:txBody>
      </p:sp>
    </p:spTree>
    <p:extLst>
      <p:ext uri="{BB962C8B-B14F-4D97-AF65-F5344CB8AC3E}">
        <p14:creationId xmlns:p14="http://schemas.microsoft.com/office/powerpoint/2010/main" val="24932953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FEB552-05DE-9023-87A5-CD298A045EAA}"/>
              </a:ext>
            </a:extLst>
          </p:cNvPr>
          <p:cNvSpPr>
            <a:spLocks noGrp="1"/>
          </p:cNvSpPr>
          <p:nvPr>
            <p:ph type="title"/>
          </p:nvPr>
        </p:nvSpPr>
        <p:spPr>
          <a:xfrm>
            <a:off x="447582" y="1143543"/>
            <a:ext cx="10515600" cy="552353"/>
          </a:xfrm>
        </p:spPr>
        <p:txBody>
          <a:bodyPr>
            <a:normAutofit fontScale="90000"/>
          </a:bodyPr>
          <a:lstStyle/>
          <a:p>
            <a:r>
              <a:rPr lang="en-US" b="1" dirty="0">
                <a:latin typeface="Times New Roman" panose="02020603050405020304" pitchFamily="18" charset="0"/>
                <a:cs typeface="Times New Roman" panose="02020603050405020304" pitchFamily="18" charset="0"/>
              </a:rPr>
              <a:t>3. Wealth Distribution:</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EE9BD7E-86AD-7522-1F19-377CD6A103FA}"/>
              </a:ext>
            </a:extLst>
          </p:cNvPr>
          <p:cNvSpPr>
            <a:spLocks noGrp="1"/>
          </p:cNvSpPr>
          <p:nvPr>
            <p:ph idx="1"/>
          </p:nvPr>
        </p:nvSpPr>
        <p:spPr>
          <a:xfrm>
            <a:off x="0" y="1580225"/>
            <a:ext cx="12192000" cy="5277775"/>
          </a:xfrm>
        </p:spPr>
        <p:txBody>
          <a:bodyPr>
            <a:noAutofit/>
          </a:bodyPr>
          <a:lstStyle/>
          <a:p>
            <a:pPr algn="just">
              <a:lnSpc>
                <a:spcPct val="150000"/>
              </a:lnSpc>
              <a:spcBef>
                <a:spcPts val="0"/>
              </a:spcBef>
              <a:buFont typeface="Wingdings" panose="05000000000000000000" pitchFamily="2" charset="2"/>
              <a:buChar char="§"/>
            </a:pPr>
            <a:r>
              <a:rPr lang="en-US" sz="2400" b="1" dirty="0">
                <a:latin typeface="Times New Roman" panose="02020603050405020304" pitchFamily="18" charset="0"/>
                <a:cs typeface="Times New Roman" panose="02020603050405020304" pitchFamily="18" charset="0"/>
              </a:rPr>
              <a:t>Islam: </a:t>
            </a:r>
            <a:r>
              <a:rPr lang="en-US" sz="2400" dirty="0">
                <a:latin typeface="Times New Roman" panose="02020603050405020304" pitchFamily="18" charset="0"/>
                <a:cs typeface="Times New Roman" panose="02020603050405020304" pitchFamily="18" charset="0"/>
              </a:rPr>
              <a:t>Islam stresses equitable distribution of wealth and social justice. It recognizes the inequality in wealth but encourages mechanisms to ensure the poor and vulnerable are supported. Zakat is one such mechanism, and Islamic teachings stress that the wealthy have a duty to assist the less fortunate.</a:t>
            </a:r>
          </a:p>
          <a:p>
            <a:pPr algn="just">
              <a:lnSpc>
                <a:spcPct val="150000"/>
              </a:lnSpc>
              <a:spcBef>
                <a:spcPts val="0"/>
              </a:spcBef>
              <a:buFont typeface="Wingdings" panose="05000000000000000000" pitchFamily="2" charset="2"/>
              <a:buChar char="§"/>
            </a:pPr>
            <a:r>
              <a:rPr lang="en-US" sz="2400" b="1" dirty="0">
                <a:latin typeface="Times New Roman" panose="02020603050405020304" pitchFamily="18" charset="0"/>
                <a:cs typeface="Times New Roman" panose="02020603050405020304" pitchFamily="18" charset="0"/>
              </a:rPr>
              <a:t>Capitalism: </a:t>
            </a:r>
            <a:r>
              <a:rPr lang="en-US" sz="2400" dirty="0">
                <a:latin typeface="Times New Roman" panose="02020603050405020304" pitchFamily="18" charset="0"/>
                <a:cs typeface="Times New Roman" panose="02020603050405020304" pitchFamily="18" charset="0"/>
              </a:rPr>
              <a:t>Capitalism, by its nature, tends to result in wealth inequality, as wealth is distributed based on one's ability to generate profits. There is little emphasis on redistribution through the system itself, although governments may implement social safety nets, like welfare programs or progressive taxation, to address disparities.</a:t>
            </a:r>
          </a:p>
        </p:txBody>
      </p:sp>
    </p:spTree>
    <p:extLst>
      <p:ext uri="{BB962C8B-B14F-4D97-AF65-F5344CB8AC3E}">
        <p14:creationId xmlns:p14="http://schemas.microsoft.com/office/powerpoint/2010/main" val="3796995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6DFFF-FFF2-B17C-7E05-B6E88D183C33}"/>
              </a:ext>
            </a:extLst>
          </p:cNvPr>
          <p:cNvSpPr>
            <a:spLocks noGrp="1"/>
          </p:cNvSpPr>
          <p:nvPr>
            <p:ph type="title"/>
          </p:nvPr>
        </p:nvSpPr>
        <p:spPr>
          <a:xfrm>
            <a:off x="838200" y="1017037"/>
            <a:ext cx="10515600" cy="673651"/>
          </a:xfrm>
        </p:spPr>
        <p:txBody>
          <a:bodyPr>
            <a:normAutofit fontScale="90000"/>
          </a:bodyPr>
          <a:lstStyle/>
          <a:p>
            <a:pPr algn="just">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4. Role of the State:</a:t>
            </a:r>
          </a:p>
        </p:txBody>
      </p:sp>
      <p:sp>
        <p:nvSpPr>
          <p:cNvPr id="3" name="Content Placeholder 2">
            <a:extLst>
              <a:ext uri="{FF2B5EF4-FFF2-40B4-BE49-F238E27FC236}">
                <a16:creationId xmlns:a16="http://schemas.microsoft.com/office/drawing/2014/main" id="{C831861F-7EF4-2279-0F86-97F21B6B8C52}"/>
              </a:ext>
            </a:extLst>
          </p:cNvPr>
          <p:cNvSpPr>
            <a:spLocks noGrp="1"/>
          </p:cNvSpPr>
          <p:nvPr>
            <p:ph idx="1"/>
          </p:nvPr>
        </p:nvSpPr>
        <p:spPr/>
        <p:txBody>
          <a:bodyPr>
            <a:noAutofit/>
          </a:bodyPr>
          <a:lstStyle/>
          <a:p>
            <a:pPr algn="just">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Islam: </a:t>
            </a:r>
            <a:r>
              <a:rPr lang="en-US" dirty="0">
                <a:latin typeface="Times New Roman" panose="02020603050405020304" pitchFamily="18" charset="0"/>
                <a:cs typeface="Times New Roman" panose="02020603050405020304" pitchFamily="18" charset="0"/>
              </a:rPr>
              <a:t>While Islam allows for private ownership, it also advocates for a role of governance in ensuring justice and welfare, especially in matters like fair trade, preventing exploitation, and ensuring that public resources are used for the benefit of society. Sharia law offers guidelines for ethical behavior in business, finance, and trade.</a:t>
            </a:r>
          </a:p>
          <a:p>
            <a:pPr algn="just">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Capitalism: </a:t>
            </a:r>
            <a:r>
              <a:rPr lang="en-US" dirty="0">
                <a:latin typeface="Times New Roman" panose="02020603050405020304" pitchFamily="18" charset="0"/>
                <a:cs typeface="Times New Roman" panose="02020603050405020304" pitchFamily="18" charset="0"/>
              </a:rPr>
              <a:t>In capitalism, the state typically plays a minimal role in economic affairs, allowing the market forces to operate freely. Government intervention is generally limited to enforcing property rights, maintaining order, and occasionally providing welfare. The state’s role is not to ensure social welfare but to protect individual rights.</a:t>
            </a:r>
          </a:p>
        </p:txBody>
      </p:sp>
    </p:spTree>
    <p:extLst>
      <p:ext uri="{BB962C8B-B14F-4D97-AF65-F5344CB8AC3E}">
        <p14:creationId xmlns:p14="http://schemas.microsoft.com/office/powerpoint/2010/main" val="23308872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8BC5C0-AD0A-C7CE-AB28-EC9BEA8BC5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819276-62FF-3E53-D467-56A0059AA18C}"/>
              </a:ext>
            </a:extLst>
          </p:cNvPr>
          <p:cNvSpPr>
            <a:spLocks noGrp="1"/>
          </p:cNvSpPr>
          <p:nvPr>
            <p:ph type="title"/>
          </p:nvPr>
        </p:nvSpPr>
        <p:spPr>
          <a:xfrm>
            <a:off x="838200" y="1017037"/>
            <a:ext cx="10515600" cy="673651"/>
          </a:xfrm>
        </p:spPr>
        <p:txBody>
          <a:bodyPr>
            <a:normAutofit fontScale="90000"/>
          </a:bodyPr>
          <a:lstStyle/>
          <a:p>
            <a:pPr algn="just">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5. Ethical Considerations:</a:t>
            </a:r>
          </a:p>
        </p:txBody>
      </p:sp>
      <p:sp>
        <p:nvSpPr>
          <p:cNvPr id="3" name="Content Placeholder 2">
            <a:extLst>
              <a:ext uri="{FF2B5EF4-FFF2-40B4-BE49-F238E27FC236}">
                <a16:creationId xmlns:a16="http://schemas.microsoft.com/office/drawing/2014/main" id="{38B055DD-008C-2500-5979-D3585CF438D3}"/>
              </a:ext>
            </a:extLst>
          </p:cNvPr>
          <p:cNvSpPr>
            <a:spLocks noGrp="1"/>
          </p:cNvSpPr>
          <p:nvPr>
            <p:ph idx="1"/>
          </p:nvPr>
        </p:nvSpPr>
        <p:spPr/>
        <p:txBody>
          <a:bodyPr>
            <a:noAutofit/>
          </a:bodyPr>
          <a:lstStyle/>
          <a:p>
            <a:pPr algn="just"/>
            <a:r>
              <a:rPr lang="en-US" b="1" dirty="0">
                <a:latin typeface="Times New Roman" panose="02020603050405020304" pitchFamily="18" charset="0"/>
                <a:cs typeface="Times New Roman" panose="02020603050405020304" pitchFamily="18" charset="0"/>
              </a:rPr>
              <a:t>Islam: </a:t>
            </a:r>
            <a:r>
              <a:rPr lang="en-US" dirty="0">
                <a:latin typeface="Times New Roman" panose="02020603050405020304" pitchFamily="18" charset="0"/>
                <a:cs typeface="Times New Roman" panose="02020603050405020304" pitchFamily="18" charset="0"/>
              </a:rPr>
              <a:t>Islam has a strict ethical code that governs personal behavior, including how wealth should be earned and spent. Activities like gambling, speculation, and unethical business practices are prohibited. Additionally, Islam promotes cooperation, fairness, and responsibility towards the community.</a:t>
            </a:r>
          </a:p>
          <a:p>
            <a:pPr algn="just"/>
            <a:r>
              <a:rPr lang="en-US" b="1" dirty="0">
                <a:latin typeface="Times New Roman" panose="02020603050405020304" pitchFamily="18" charset="0"/>
                <a:cs typeface="Times New Roman" panose="02020603050405020304" pitchFamily="18" charset="0"/>
              </a:rPr>
              <a:t>Capitalism: </a:t>
            </a:r>
            <a:r>
              <a:rPr lang="en-US" dirty="0">
                <a:latin typeface="Times New Roman" panose="02020603050405020304" pitchFamily="18" charset="0"/>
                <a:cs typeface="Times New Roman" panose="02020603050405020304" pitchFamily="18" charset="0"/>
              </a:rPr>
              <a:t>Capitalism doesn’t have a prescribed ethical framework. It focuses on individual freedom and the right to pursue self-interest. While some forms of capitalism may operate ethically, there is no inherent requirement for businesses or individuals to prioritize ethical considerations over profit-making, which can lead to exploitation or harm to the environment.</a:t>
            </a:r>
          </a:p>
        </p:txBody>
      </p:sp>
    </p:spTree>
    <p:extLst>
      <p:ext uri="{BB962C8B-B14F-4D97-AF65-F5344CB8AC3E}">
        <p14:creationId xmlns:p14="http://schemas.microsoft.com/office/powerpoint/2010/main" val="28249556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3CD716-E3F1-5C4C-E793-46AC637A3A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9AA4A3-6794-9D2B-D3CC-A3B409CD6DE0}"/>
              </a:ext>
            </a:extLst>
          </p:cNvPr>
          <p:cNvSpPr>
            <a:spLocks noGrp="1"/>
          </p:cNvSpPr>
          <p:nvPr>
            <p:ph type="title"/>
          </p:nvPr>
        </p:nvSpPr>
        <p:spPr>
          <a:xfrm>
            <a:off x="838200" y="1017037"/>
            <a:ext cx="10515600" cy="673651"/>
          </a:xfrm>
        </p:spPr>
        <p:txBody>
          <a:bodyPr>
            <a:normAutofit fontScale="90000"/>
          </a:bodyPr>
          <a:lstStyle/>
          <a:p>
            <a:pPr algn="just">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6. Work Ethic and Social Responsibility:</a:t>
            </a:r>
          </a:p>
        </p:txBody>
      </p:sp>
      <p:sp>
        <p:nvSpPr>
          <p:cNvPr id="3" name="Content Placeholder 2">
            <a:extLst>
              <a:ext uri="{FF2B5EF4-FFF2-40B4-BE49-F238E27FC236}">
                <a16:creationId xmlns:a16="http://schemas.microsoft.com/office/drawing/2014/main" id="{11CA7453-5E81-D301-4220-16CBEE41FD91}"/>
              </a:ext>
            </a:extLst>
          </p:cNvPr>
          <p:cNvSpPr>
            <a:spLocks noGrp="1"/>
          </p:cNvSpPr>
          <p:nvPr>
            <p:ph idx="1"/>
          </p:nvPr>
        </p:nvSpPr>
        <p:spPr/>
        <p:txBody>
          <a:bodyPr>
            <a:noAutofit/>
          </a:bodyPr>
          <a:lstStyle/>
          <a:p>
            <a:pPr marL="0" indent="0" algn="just">
              <a:buNone/>
            </a:pPr>
            <a:r>
              <a:rPr lang="en-US" b="1" dirty="0">
                <a:latin typeface="Times New Roman" panose="02020603050405020304" pitchFamily="18" charset="0"/>
                <a:cs typeface="Times New Roman" panose="02020603050405020304" pitchFamily="18" charset="0"/>
              </a:rPr>
              <a:t>Islam: </a:t>
            </a:r>
            <a:r>
              <a:rPr lang="en-US" dirty="0">
                <a:latin typeface="Times New Roman" panose="02020603050405020304" pitchFamily="18" charset="0"/>
                <a:cs typeface="Times New Roman" panose="02020603050405020304" pitchFamily="18" charset="0"/>
              </a:rPr>
              <a:t>Islam encourages hard work, honesty, and the pursuit of knowledge. It views work as a form of worship if done with the right intentions and in accordance with ethical principles. Muslims are encouraged to seek a balance between personal success and contributing to society's well-being.</a:t>
            </a:r>
          </a:p>
          <a:p>
            <a:pPr marL="0" indent="0" algn="just">
              <a:buNone/>
            </a:pPr>
            <a:r>
              <a:rPr lang="en-US" b="1" dirty="0">
                <a:latin typeface="Times New Roman" panose="02020603050405020304" pitchFamily="18" charset="0"/>
                <a:cs typeface="Times New Roman" panose="02020603050405020304" pitchFamily="18" charset="0"/>
              </a:rPr>
              <a:t>Capitalism: </a:t>
            </a:r>
            <a:r>
              <a:rPr lang="en-US" dirty="0">
                <a:latin typeface="Times New Roman" panose="02020603050405020304" pitchFamily="18" charset="0"/>
                <a:cs typeface="Times New Roman" panose="02020603050405020304" pitchFamily="18" charset="0"/>
              </a:rPr>
              <a:t>Capitalism values efficiency, productivity, and innovation. Individuals and companies are motivated by profit incentives and competition. While a strong work ethic is also valued, the primary goal is personal success rather than collective social responsibility, though some businesses may adopt corporate social responsibility initiatives.</a:t>
            </a:r>
          </a:p>
        </p:txBody>
      </p:sp>
    </p:spTree>
    <p:extLst>
      <p:ext uri="{BB962C8B-B14F-4D97-AF65-F5344CB8AC3E}">
        <p14:creationId xmlns:p14="http://schemas.microsoft.com/office/powerpoint/2010/main" val="41132356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4C4C0D-B544-DB23-66EE-E98BCEA793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FB2FFD-ACB3-6737-45DA-F2ADCB82C000}"/>
              </a:ext>
            </a:extLst>
          </p:cNvPr>
          <p:cNvSpPr>
            <a:spLocks noGrp="1"/>
          </p:cNvSpPr>
          <p:nvPr>
            <p:ph type="title"/>
          </p:nvPr>
        </p:nvSpPr>
        <p:spPr>
          <a:xfrm>
            <a:off x="838200" y="1017037"/>
            <a:ext cx="10515600" cy="673651"/>
          </a:xfrm>
        </p:spPr>
        <p:txBody>
          <a:bodyPr>
            <a:normAutofit fontScale="90000"/>
          </a:bodyPr>
          <a:lstStyle/>
          <a:p>
            <a:pPr algn="just">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7. Interest (Riba) and Finance:</a:t>
            </a:r>
          </a:p>
        </p:txBody>
      </p:sp>
      <p:sp>
        <p:nvSpPr>
          <p:cNvPr id="3" name="Content Placeholder 2">
            <a:extLst>
              <a:ext uri="{FF2B5EF4-FFF2-40B4-BE49-F238E27FC236}">
                <a16:creationId xmlns:a16="http://schemas.microsoft.com/office/drawing/2014/main" id="{1096CBC4-F2FA-8BC6-8BA5-5B854567BD83}"/>
              </a:ext>
            </a:extLst>
          </p:cNvPr>
          <p:cNvSpPr>
            <a:spLocks noGrp="1"/>
          </p:cNvSpPr>
          <p:nvPr>
            <p:ph idx="1"/>
          </p:nvPr>
        </p:nvSpPr>
        <p:spPr>
          <a:xfrm>
            <a:off x="838200" y="1825625"/>
            <a:ext cx="10515600" cy="4862254"/>
          </a:xfrm>
        </p:spPr>
        <p:txBody>
          <a:bodyPr>
            <a:noAutofit/>
          </a:bodyPr>
          <a:lstStyle/>
          <a:p>
            <a:pPr algn="just"/>
            <a:r>
              <a:rPr lang="en-US" sz="3200" b="1" dirty="0">
                <a:latin typeface="Times New Roman" panose="02020603050405020304" pitchFamily="18" charset="0"/>
                <a:cs typeface="Times New Roman" panose="02020603050405020304" pitchFamily="18" charset="0"/>
              </a:rPr>
              <a:t>Islam: </a:t>
            </a:r>
            <a:r>
              <a:rPr lang="en-US" sz="3200" dirty="0">
                <a:latin typeface="Times New Roman" panose="02020603050405020304" pitchFamily="18" charset="0"/>
                <a:cs typeface="Times New Roman" panose="02020603050405020304" pitchFamily="18" charset="0"/>
              </a:rPr>
              <a:t>Interest (</a:t>
            </a:r>
            <a:r>
              <a:rPr lang="en-US" sz="3200" dirty="0" err="1">
                <a:latin typeface="Times New Roman" panose="02020603050405020304" pitchFamily="18" charset="0"/>
                <a:cs typeface="Times New Roman" panose="02020603050405020304" pitchFamily="18" charset="0"/>
              </a:rPr>
              <a:t>riba</a:t>
            </a:r>
            <a:r>
              <a:rPr lang="en-US" sz="3200" dirty="0">
                <a:latin typeface="Times New Roman" panose="02020603050405020304" pitchFamily="18" charset="0"/>
                <a:cs typeface="Times New Roman" panose="02020603050405020304" pitchFamily="18" charset="0"/>
              </a:rPr>
              <a:t>) is strictly forbidden in Islam. It is considered exploitative and unjust because it leads to the accumulation of wealth for the lender without any productive work. Islamic finance promotes risk-sharing, partnership-based ventures, and interest-free loans.</a:t>
            </a:r>
          </a:p>
          <a:p>
            <a:pPr algn="just"/>
            <a:r>
              <a:rPr lang="en-US" sz="3200" b="1" dirty="0">
                <a:latin typeface="Times New Roman" panose="02020603050405020304" pitchFamily="18" charset="0"/>
                <a:cs typeface="Times New Roman" panose="02020603050405020304" pitchFamily="18" charset="0"/>
              </a:rPr>
              <a:t>Capitalism: </a:t>
            </a:r>
            <a:r>
              <a:rPr lang="en-US" sz="3200" dirty="0">
                <a:latin typeface="Times New Roman" panose="02020603050405020304" pitchFamily="18" charset="0"/>
                <a:cs typeface="Times New Roman" panose="02020603050405020304" pitchFamily="18" charset="0"/>
              </a:rPr>
              <a:t>Capitalism operates largely on interest-based finance, with banks and financial institutions providing loans with interest. Interest is seen as a way to compensate lenders for the risk of lending money, and it plays a central role in the capitalist economic system.</a:t>
            </a:r>
          </a:p>
        </p:txBody>
      </p:sp>
    </p:spTree>
    <p:extLst>
      <p:ext uri="{BB962C8B-B14F-4D97-AF65-F5344CB8AC3E}">
        <p14:creationId xmlns:p14="http://schemas.microsoft.com/office/powerpoint/2010/main" val="15639848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20E91-1DF3-DD7C-F342-20C05CD914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8613BC-163B-7B3A-BAC4-1349F4E850FD}"/>
              </a:ext>
            </a:extLst>
          </p:cNvPr>
          <p:cNvSpPr>
            <a:spLocks noGrp="1"/>
          </p:cNvSpPr>
          <p:nvPr>
            <p:ph type="title"/>
          </p:nvPr>
        </p:nvSpPr>
        <p:spPr>
          <a:xfrm>
            <a:off x="838200" y="1017037"/>
            <a:ext cx="10515600" cy="673651"/>
          </a:xfrm>
        </p:spPr>
        <p:txBody>
          <a:bodyPr>
            <a:normAutofit fontScale="90000"/>
          </a:bodyPr>
          <a:lstStyle/>
          <a:p>
            <a:pPr algn="just">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8. Environmental Concerns:</a:t>
            </a:r>
          </a:p>
        </p:txBody>
      </p:sp>
      <p:sp>
        <p:nvSpPr>
          <p:cNvPr id="3" name="Content Placeholder 2">
            <a:extLst>
              <a:ext uri="{FF2B5EF4-FFF2-40B4-BE49-F238E27FC236}">
                <a16:creationId xmlns:a16="http://schemas.microsoft.com/office/drawing/2014/main" id="{E2CE4E26-C594-39BA-C462-4EAF8481C9F4}"/>
              </a:ext>
            </a:extLst>
          </p:cNvPr>
          <p:cNvSpPr>
            <a:spLocks noGrp="1"/>
          </p:cNvSpPr>
          <p:nvPr>
            <p:ph idx="1"/>
          </p:nvPr>
        </p:nvSpPr>
        <p:spPr/>
        <p:txBody>
          <a:bodyPr>
            <a:noAutofit/>
          </a:bodyPr>
          <a:lstStyle/>
          <a:p>
            <a:pPr algn="just"/>
            <a:r>
              <a:rPr lang="en-US" b="1" dirty="0">
                <a:latin typeface="Times New Roman" panose="02020603050405020304" pitchFamily="18" charset="0"/>
                <a:cs typeface="Times New Roman" panose="02020603050405020304" pitchFamily="18" charset="0"/>
              </a:rPr>
              <a:t>Islam: </a:t>
            </a:r>
            <a:r>
              <a:rPr lang="en-US" dirty="0">
                <a:latin typeface="Times New Roman" panose="02020603050405020304" pitchFamily="18" charset="0"/>
                <a:cs typeface="Times New Roman" panose="02020603050405020304" pitchFamily="18" charset="0"/>
              </a:rPr>
              <a:t>Islam teaches the principle of stewardship of the Earth (khalifah), which includes ethical treatment of the environment. Humans are considered caretakers of the Earth, with a duty to avoid waste and harm.</a:t>
            </a:r>
          </a:p>
          <a:p>
            <a:pPr algn="just"/>
            <a:r>
              <a:rPr lang="en-US" b="1" dirty="0">
                <a:latin typeface="Times New Roman" panose="02020603050405020304" pitchFamily="18" charset="0"/>
                <a:cs typeface="Times New Roman" panose="02020603050405020304" pitchFamily="18" charset="0"/>
              </a:rPr>
              <a:t>Capitalism: </a:t>
            </a:r>
            <a:r>
              <a:rPr lang="en-US" dirty="0">
                <a:latin typeface="Times New Roman" panose="02020603050405020304" pitchFamily="18" charset="0"/>
                <a:cs typeface="Times New Roman" panose="02020603050405020304" pitchFamily="18" charset="0"/>
              </a:rPr>
              <a:t>Capitalism does not inherently prioritize environmental protection, as the system is often driven by profit maximization. While some businesses may adopt green practices, environmental degradation is sometimes a byproduct of industrial growth and consumerism under capitalism, although this has been changing with increasing awareness.</a:t>
            </a:r>
          </a:p>
        </p:txBody>
      </p:sp>
    </p:spTree>
    <p:extLst>
      <p:ext uri="{BB962C8B-B14F-4D97-AF65-F5344CB8AC3E}">
        <p14:creationId xmlns:p14="http://schemas.microsoft.com/office/powerpoint/2010/main" val="5418989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1513D4-214B-185C-6602-6A096EBD12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6DF3B5-E98F-4C45-B443-6BD8C6B4AB31}"/>
              </a:ext>
            </a:extLst>
          </p:cNvPr>
          <p:cNvSpPr>
            <a:spLocks noGrp="1"/>
          </p:cNvSpPr>
          <p:nvPr>
            <p:ph type="title"/>
          </p:nvPr>
        </p:nvSpPr>
        <p:spPr>
          <a:xfrm>
            <a:off x="838200" y="1017037"/>
            <a:ext cx="10515600" cy="673651"/>
          </a:xfrm>
        </p:spPr>
        <p:txBody>
          <a:bodyPr>
            <a:normAutofit fontScale="90000"/>
          </a:bodyPr>
          <a:lstStyle/>
          <a:p>
            <a:pPr algn="just">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Abstract</a:t>
            </a:r>
          </a:p>
        </p:txBody>
      </p:sp>
      <p:sp>
        <p:nvSpPr>
          <p:cNvPr id="3" name="Content Placeholder 2">
            <a:extLst>
              <a:ext uri="{FF2B5EF4-FFF2-40B4-BE49-F238E27FC236}">
                <a16:creationId xmlns:a16="http://schemas.microsoft.com/office/drawing/2014/main" id="{275B539F-167D-C831-4B99-0E7FB71343CF}"/>
              </a:ext>
            </a:extLst>
          </p:cNvPr>
          <p:cNvSpPr>
            <a:spLocks noGrp="1"/>
          </p:cNvSpPr>
          <p:nvPr>
            <p:ph idx="1"/>
          </p:nvPr>
        </p:nvSpPr>
        <p:spPr>
          <a:xfrm>
            <a:off x="381740" y="1825624"/>
            <a:ext cx="11496582" cy="4619563"/>
          </a:xfrm>
        </p:spPr>
        <p:txBody>
          <a:bodyPr>
            <a:noAutofit/>
          </a:bodyPr>
          <a:lstStyle/>
          <a:p>
            <a:pPr algn="just"/>
            <a:r>
              <a:rPr lang="en-US" sz="3200" dirty="0">
                <a:latin typeface="Times New Roman" panose="02020603050405020304" pitchFamily="18" charset="0"/>
                <a:cs typeface="Times New Roman" panose="02020603050405020304" pitchFamily="18" charset="0"/>
              </a:rPr>
              <a:t>Islam and capitalism differ in their approach to wealth, social justice, and ethical conduct. While Islam emphasizes equity, fairness, and social responsibility through ethical guidelines and the prohibition of exploitative practices like interest, capitalism promotes individual freedom, competition, and the pursuit of personal profit. </a:t>
            </a:r>
          </a:p>
          <a:p>
            <a:pPr algn="just"/>
            <a:r>
              <a:rPr lang="en-US" sz="3200" dirty="0">
                <a:latin typeface="Times New Roman" panose="02020603050405020304" pitchFamily="18" charset="0"/>
                <a:cs typeface="Times New Roman" panose="02020603050405020304" pitchFamily="18" charset="0"/>
              </a:rPr>
              <a:t>The challenge for Islamic societies adopting capitalism lies in balancing economic growth with ethical and social obligations, ensuring that the pursuit of wealth does not undermine moral and communal values.</a:t>
            </a:r>
          </a:p>
        </p:txBody>
      </p:sp>
    </p:spTree>
    <p:extLst>
      <p:ext uri="{BB962C8B-B14F-4D97-AF65-F5344CB8AC3E}">
        <p14:creationId xmlns:p14="http://schemas.microsoft.com/office/powerpoint/2010/main" val="18203782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Pakistan Map - GIS Geography">
            <a:extLst>
              <a:ext uri="{FF2B5EF4-FFF2-40B4-BE49-F238E27FC236}">
                <a16:creationId xmlns:a16="http://schemas.microsoft.com/office/drawing/2014/main" id="{7BA35F9B-DC44-4A02-8099-C408F3D346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01184" y="7147"/>
            <a:ext cx="7290816" cy="6850853"/>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7EC4A454-91BA-4ADA-AE55-AA65B686E9FE}"/>
              </a:ext>
            </a:extLst>
          </p:cNvPr>
          <p:cNvSpPr/>
          <p:nvPr/>
        </p:nvSpPr>
        <p:spPr>
          <a:xfrm>
            <a:off x="0" y="0"/>
            <a:ext cx="6309360" cy="6858000"/>
          </a:xfrm>
          <a:prstGeom prst="rect">
            <a:avLst/>
          </a:prstGeom>
          <a:solidFill>
            <a:srgbClr val="D32A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1C8A68D2-CBC2-4A62-B5D4-3B09AEA58F2F}"/>
              </a:ext>
            </a:extLst>
          </p:cNvPr>
          <p:cNvSpPr>
            <a:spLocks noGrp="1"/>
          </p:cNvSpPr>
          <p:nvPr>
            <p:ph type="ctrTitle"/>
          </p:nvPr>
        </p:nvSpPr>
        <p:spPr>
          <a:xfrm>
            <a:off x="329184" y="2235200"/>
            <a:ext cx="9144000" cy="2387600"/>
          </a:xfrm>
        </p:spPr>
        <p:txBody>
          <a:bodyPr>
            <a:normAutofit/>
          </a:bodyPr>
          <a:lstStyle/>
          <a:p>
            <a:pPr algn="l"/>
            <a:r>
              <a:rPr lang="en-GB" sz="4800" b="1" dirty="0">
                <a:solidFill>
                  <a:schemeClr val="bg1"/>
                </a:solidFill>
                <a:latin typeface="Arial" panose="020B0604020202020204" pitchFamily="34" charset="0"/>
                <a:cs typeface="Arial" panose="020B0604020202020204" pitchFamily="34" charset="0"/>
              </a:rPr>
              <a:t>HOW THE YOUTH</a:t>
            </a:r>
            <a:br>
              <a:rPr lang="en-GB" sz="4800" b="1" dirty="0">
                <a:solidFill>
                  <a:schemeClr val="bg1"/>
                </a:solidFill>
                <a:latin typeface="Arial" panose="020B0604020202020204" pitchFamily="34" charset="0"/>
                <a:cs typeface="Arial" panose="020B0604020202020204" pitchFamily="34" charset="0"/>
              </a:rPr>
            </a:br>
            <a:r>
              <a:rPr lang="en-GB" sz="4800" b="1" dirty="0">
                <a:solidFill>
                  <a:schemeClr val="bg1"/>
                </a:solidFill>
                <a:latin typeface="Arial" panose="020B0604020202020204" pitchFamily="34" charset="0"/>
                <a:cs typeface="Arial" panose="020B0604020202020204" pitchFamily="34" charset="0"/>
              </a:rPr>
              <a:t>FEELS ABOUT</a:t>
            </a:r>
            <a:br>
              <a:rPr lang="en-GB" sz="4800" b="1" dirty="0">
                <a:solidFill>
                  <a:schemeClr val="bg1"/>
                </a:solidFill>
                <a:latin typeface="Arial" panose="020B0604020202020204" pitchFamily="34" charset="0"/>
                <a:cs typeface="Arial" panose="020B0604020202020204" pitchFamily="34" charset="0"/>
              </a:rPr>
            </a:br>
            <a:r>
              <a:rPr lang="en-GB" sz="4800" b="1" dirty="0">
                <a:solidFill>
                  <a:schemeClr val="bg1"/>
                </a:solidFill>
                <a:latin typeface="Arial" panose="020B0604020202020204" pitchFamily="34" charset="0"/>
                <a:cs typeface="Arial" panose="020B0604020202020204" pitchFamily="34" charset="0"/>
              </a:rPr>
              <a:t>TUF ??</a:t>
            </a:r>
          </a:p>
        </p:txBody>
      </p:sp>
    </p:spTree>
    <p:extLst>
      <p:ext uri="{BB962C8B-B14F-4D97-AF65-F5344CB8AC3E}">
        <p14:creationId xmlns:p14="http://schemas.microsoft.com/office/powerpoint/2010/main" val="22118924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880</TotalTime>
  <Words>1566</Words>
  <Application>Microsoft Office PowerPoint</Application>
  <PresentationFormat>Widescreen</PresentationFormat>
  <Paragraphs>62</Paragraphs>
  <Slides>18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Bahnschrift</vt:lpstr>
      <vt:lpstr>Calibri</vt:lpstr>
      <vt:lpstr>Calibri Light</vt:lpstr>
      <vt:lpstr>Times New Roman</vt:lpstr>
      <vt:lpstr>Wingdings</vt:lpstr>
      <vt:lpstr>Office Theme</vt:lpstr>
      <vt:lpstr>Capitalism, Definitions, its Merits  &amp; Demerits (A Comparison between Islam &amp;  Capitalism)</vt:lpstr>
      <vt:lpstr>Islam:</vt:lpstr>
      <vt:lpstr>Sayyid Qutb (1906–1966):</vt:lpstr>
      <vt:lpstr>Capitalism</vt:lpstr>
      <vt:lpstr>Dam Smith (1723–1790):</vt:lpstr>
      <vt:lpstr>John Locke (1632–1704):</vt:lpstr>
      <vt:lpstr>Abstract:</vt:lpstr>
      <vt:lpstr>Comparison of Islam &amp; Capitalism:</vt:lpstr>
      <vt:lpstr>Capitalism:</vt:lpstr>
      <vt:lpstr>2. Economic System:</vt:lpstr>
      <vt:lpstr>3. Wealth Distribution:</vt:lpstr>
      <vt:lpstr>4. Role of the State:</vt:lpstr>
      <vt:lpstr>5. Ethical Considerations:</vt:lpstr>
      <vt:lpstr>6. Work Ethic and Social Responsibility:</vt:lpstr>
      <vt:lpstr>7. Interest (Riba) and Finance:</vt:lpstr>
      <vt:lpstr>8. Environmental Concerns:</vt:lpstr>
      <vt:lpstr>Abstract</vt:lpstr>
      <vt:lpstr>HOW THE YOUTH FEELS ABOUT TUF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Sofia Sultana</dc:creator>
  <cp:lastModifiedBy>DELL</cp:lastModifiedBy>
  <cp:revision>39</cp:revision>
  <dcterms:created xsi:type="dcterms:W3CDTF">2024-06-21T09:49:54Z</dcterms:created>
  <dcterms:modified xsi:type="dcterms:W3CDTF">2025-03-15T18:27:22Z</dcterms:modified>
</cp:coreProperties>
</file>