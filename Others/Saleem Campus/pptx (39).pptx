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319" r:id="rId2"/>
    <p:sldId id="323" r:id="rId3"/>
    <p:sldId id="350" r:id="rId4"/>
    <p:sldId id="351" r:id="rId5"/>
    <p:sldId id="353" r:id="rId6"/>
    <p:sldId id="356" r:id="rId7"/>
    <p:sldId id="359" r:id="rId8"/>
    <p:sldId id="360" r:id="rId9"/>
    <p:sldId id="358" r:id="rId10"/>
    <p:sldId id="357" r:id="rId11"/>
    <p:sldId id="352" r:id="rId12"/>
    <p:sldId id="355" r:id="rId13"/>
    <p:sldId id="361" r:id="rId14"/>
    <p:sldId id="362" r:id="rId15"/>
    <p:sldId id="363" r:id="rId16"/>
    <p:sldId id="365" r:id="rId17"/>
    <p:sldId id="366" r:id="rId18"/>
    <p:sldId id="364" r:id="rId19"/>
    <p:sldId id="367" r:id="rId20"/>
    <p:sldId id="368" r:id="rId21"/>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4660"/>
  </p:normalViewPr>
  <p:slideViewPr>
    <p:cSldViewPr snapToGrid="0" showGuides="1">
      <p:cViewPr>
        <p:scale>
          <a:sx n="79" d="100"/>
          <a:sy n="79" d="100"/>
        </p:scale>
        <p:origin x="-342" y="21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27534995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10/26/2024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10/26/2024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x-none" smtClean="0"/>
              <a:t>10/26/2024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p:cNvSpPr>
            <a:spLocks noGrp="1"/>
          </p:cNvSpPr>
          <p:nvPr>
            <p:ph type="dt" sz="half" idx="10"/>
          </p:nvPr>
        </p:nvSpPr>
        <p:spPr/>
        <p:txBody>
          <a:bodyPr/>
          <a:lstStyle/>
          <a:p>
            <a:fld id="{3237A82C-AEEE-48DB-A866-3B1CA0AC9D5D}" type="datetimeFigureOut">
              <a:rPr lang="x-none" smtClean="0"/>
              <a:t>10/26/2024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p:cNvSpPr>
            <a:spLocks noGrp="1"/>
          </p:cNvSpPr>
          <p:nvPr>
            <p:ph type="dt" sz="half" idx="10"/>
          </p:nvPr>
        </p:nvSpPr>
        <p:spPr/>
        <p:txBody>
          <a:bodyPr/>
          <a:lstStyle/>
          <a:p>
            <a:fld id="{3237A82C-AEEE-48DB-A866-3B1CA0AC9D5D}" type="datetimeFigureOut">
              <a:rPr lang="x-none" smtClean="0"/>
              <a:t>10/26/2024</a:t>
            </a:fld>
            <a:endParaRPr lang="x-none"/>
          </a:p>
        </p:txBody>
      </p:sp>
      <p:sp>
        <p:nvSpPr>
          <p:cNvPr id="8" name="Footer Placeholder 7"/>
          <p:cNvSpPr>
            <a:spLocks noGrp="1"/>
          </p:cNvSpPr>
          <p:nvPr>
            <p:ph type="ftr" sz="quarter" idx="11"/>
          </p:nvPr>
        </p:nvSpPr>
        <p:spPr/>
        <p:txBody>
          <a:bodyPr/>
          <a:lstStyle/>
          <a:p>
            <a:endParaRPr lang="x-none"/>
          </a:p>
        </p:txBody>
      </p:sp>
      <p:sp>
        <p:nvSpPr>
          <p:cNvPr id="9" name="Slide Number Placeholder 8"/>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Date Placeholder 2"/>
          <p:cNvSpPr>
            <a:spLocks noGrp="1"/>
          </p:cNvSpPr>
          <p:nvPr>
            <p:ph type="dt" sz="half" idx="10"/>
          </p:nvPr>
        </p:nvSpPr>
        <p:spPr/>
        <p:txBody>
          <a:bodyPr/>
          <a:lstStyle/>
          <a:p>
            <a:fld id="{3237A82C-AEEE-48DB-A866-3B1CA0AC9D5D}" type="datetimeFigureOut">
              <a:rPr lang="x-none" smtClean="0"/>
              <a:t>10/26/2024</a:t>
            </a:fld>
            <a:endParaRPr lang="x-none"/>
          </a:p>
        </p:txBody>
      </p:sp>
      <p:sp>
        <p:nvSpPr>
          <p:cNvPr id="4" name="Footer Placeholder 3"/>
          <p:cNvSpPr>
            <a:spLocks noGrp="1"/>
          </p:cNvSpPr>
          <p:nvPr>
            <p:ph type="ftr" sz="quarter" idx="11"/>
          </p:nvPr>
        </p:nvSpPr>
        <p:spPr/>
        <p:txBody>
          <a:bodyPr/>
          <a:lstStyle/>
          <a:p>
            <a:endParaRPr lang="x-none"/>
          </a:p>
        </p:txBody>
      </p:sp>
      <p:sp>
        <p:nvSpPr>
          <p:cNvPr id="5" name="Slide Number Placeholder 4"/>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x-none" smtClean="0"/>
              <a:t>10/26/2024</a:t>
            </a:fld>
            <a:endParaRPr lang="x-none"/>
          </a:p>
        </p:txBody>
      </p:sp>
      <p:sp>
        <p:nvSpPr>
          <p:cNvPr id="3" name="Footer Placeholder 2"/>
          <p:cNvSpPr>
            <a:spLocks noGrp="1"/>
          </p:cNvSpPr>
          <p:nvPr>
            <p:ph type="ftr" sz="quarter" idx="11"/>
          </p:nvPr>
        </p:nvSpPr>
        <p:spPr/>
        <p:txBody>
          <a:bodyPr/>
          <a:lstStyle/>
          <a:p>
            <a:endParaRPr lang="x-none"/>
          </a:p>
        </p:txBody>
      </p:sp>
      <p:sp>
        <p:nvSpPr>
          <p:cNvPr id="4" name="Slide Number Placeholder 3"/>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10/26/2024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x-none" smtClean="0"/>
              <a:t>10/26/2024</a:t>
            </a:fld>
            <a:endParaRPr lang="x-none"/>
          </a:p>
        </p:txBody>
      </p:sp>
      <p:sp>
        <p:nvSpPr>
          <p:cNvPr id="6" name="Footer Placeholder 5"/>
          <p:cNvSpPr>
            <a:spLocks noGrp="1"/>
          </p:cNvSpPr>
          <p:nvPr>
            <p:ph type="ftr" sz="quarter" idx="11"/>
          </p:nvPr>
        </p:nvSpPr>
        <p:spPr/>
        <p:txBody>
          <a:bodyPr/>
          <a:lstStyle/>
          <a:p>
            <a:endParaRPr lang="x-none"/>
          </a:p>
        </p:txBody>
      </p:sp>
      <p:sp>
        <p:nvSpPr>
          <p:cNvPr id="7" name="Slide Number Placeholder 6"/>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x-non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10/26/2024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10"/>
          </p:nvPr>
        </p:nvSpPr>
        <p:spPr/>
        <p:txBody>
          <a:bodyPr/>
          <a:lstStyle/>
          <a:p>
            <a:fld id="{3237A82C-AEEE-48DB-A866-3B1CA0AC9D5D}" type="datetimeFigureOut">
              <a:rPr lang="x-none" smtClean="0"/>
              <a:t>10/26/2024</a:t>
            </a:fld>
            <a:endParaRPr lang="x-none"/>
          </a:p>
        </p:txBody>
      </p:sp>
      <p:sp>
        <p:nvSpPr>
          <p:cNvPr id="5" name="Footer Placeholder 4"/>
          <p:cNvSpPr>
            <a:spLocks noGrp="1"/>
          </p:cNvSpPr>
          <p:nvPr>
            <p:ph type="ftr" sz="quarter" idx="11"/>
          </p:nvPr>
        </p:nvSpPr>
        <p:spPr/>
        <p:txBody>
          <a:bodyPr/>
          <a:lstStyle/>
          <a:p>
            <a:endParaRPr lang="x-none"/>
          </a:p>
        </p:txBody>
      </p:sp>
      <p:sp>
        <p:nvSpPr>
          <p:cNvPr id="6" name="Slide Number Placeholder 5"/>
          <p:cNvSpPr>
            <a:spLocks noGrp="1"/>
          </p:cNvSpPr>
          <p:nvPr>
            <p:ph type="sldNum" sz="quarter" idx="12"/>
          </p:nvPr>
        </p:nvSpPr>
        <p:spPr/>
        <p:txBody>
          <a:bodyPr/>
          <a:lstStyle/>
          <a:p>
            <a:fld id="{6EB9F7D7-3C9C-4146-9FA1-B77DEB44278D}" type="slidenum">
              <a:rPr lang="x-none" smtClean="0"/>
              <a:t>‹#›</a:t>
            </a:fld>
            <a:endParaRPr lang="x-non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10/26/2024</a:t>
            </a:fld>
            <a:endParaRPr lang="x-non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how-do-you-live-in-the-present-5204439"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types-of-nonverbal-communication-2795397"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how-do-i-maintain-good-eye-contact-3024392"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an-overview-of-the-types-of-emotions-4163976"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how-to-be-more-patient-6361682"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 Id="rId9" Type="http://schemas.openxmlformats.org/officeDocument/2006/relationships/hyperlink" Target="https://www.verywellmind.com/how-to-develop-empathy-in-relationships-1717547"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10" Type="http://schemas.openxmlformats.org/officeDocument/2006/relationships/hyperlink" Target="https://www.verywellmind.com/learning-study-guide-2795698" TargetMode="External"/><Relationship Id="rId4" Type="http://schemas.openxmlformats.org/officeDocument/2006/relationships/image" Target="../media/image5.svg"/><Relationship Id="rId9" Type="http://schemas.openxmlformats.org/officeDocument/2006/relationships/hyperlink" Target="https://www.verywellmind.com/small-talk-topics-3024421" TargetMode="External"/></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2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32"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721895" y="1275347"/>
            <a:ext cx="8915400" cy="2093681"/>
          </a:xfrm>
        </p:spPr>
        <p:txBody>
          <a:bodyPr>
            <a:normAutofit fontScale="90000"/>
          </a:bodyPr>
          <a:lstStyle/>
          <a:p>
            <a:r>
              <a:rPr lang="en-US" altLang="en-GB" b="1" dirty="0" smtClean="0"/>
              <a:t>Technical and Business Writing  </a:t>
            </a:r>
            <a:br>
              <a:rPr lang="en-US" altLang="en-GB" b="1" dirty="0" smtClean="0"/>
            </a:br>
            <a:endParaRPr lang="en-US" altLang="en-GB" b="1" dirty="0"/>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
        <p:nvSpPr>
          <p:cNvPr id="8" name="TextBox 7">
            <a:extLst>
              <a:ext uri="{FF2B5EF4-FFF2-40B4-BE49-F238E27FC236}">
                <a16:creationId xmlns="" xmlns:a16="http://schemas.microsoft.com/office/drawing/2014/main" id="{A978B433-14DE-44B9-B3D5-660505C9095A}"/>
              </a:ext>
            </a:extLst>
          </p:cNvPr>
          <p:cNvSpPr txBox="1"/>
          <p:nvPr/>
        </p:nvSpPr>
        <p:spPr>
          <a:xfrm>
            <a:off x="1158240" y="3369028"/>
            <a:ext cx="8335384" cy="1569660"/>
          </a:xfrm>
          <a:prstGeom prst="rect">
            <a:avLst/>
          </a:prstGeom>
          <a:noFill/>
        </p:spPr>
        <p:txBody>
          <a:bodyPr wrap="square" rtlCol="0">
            <a:spAutoFit/>
          </a:bodyPr>
          <a:lstStyle/>
          <a:p>
            <a:pPr algn="ctr"/>
            <a:r>
              <a:rPr lang="en-US" sz="3200" i="1" dirty="0" smtClean="0"/>
              <a:t>Miss. Aqsa Ashraf</a:t>
            </a:r>
          </a:p>
          <a:p>
            <a:pPr algn="ctr"/>
            <a:r>
              <a:rPr lang="en-US" sz="3200" i="1" dirty="0" smtClean="0"/>
              <a:t>ENG-201</a:t>
            </a:r>
          </a:p>
          <a:p>
            <a:pPr algn="ctr"/>
            <a:r>
              <a:rPr lang="en-US" sz="3200" i="1" dirty="0" smtClean="0"/>
              <a:t>Week </a:t>
            </a:r>
            <a:r>
              <a:rPr lang="en-US" sz="3200" i="1" dirty="0" smtClean="0"/>
              <a:t>5</a:t>
            </a:r>
            <a:endParaRPr lang="x-none" sz="3200" i="1" dirty="0"/>
          </a:p>
        </p:txBody>
      </p:sp>
    </p:spTree>
    <p:extLst>
      <p:ext uri="{BB962C8B-B14F-4D97-AF65-F5344CB8AC3E}">
        <p14:creationId xmlns:p14="http://schemas.microsoft.com/office/powerpoint/2010/main" val="1572502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2032" y="0"/>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0" b="1" dirty="0" smtClean="0"/>
              <a:t>  Active Listening for better writing</a:t>
            </a:r>
            <a:endParaRPr lang="en-US" sz="8000" b="1" dirty="0"/>
          </a:p>
        </p:txBody>
      </p:sp>
      <p:sp>
        <p:nvSpPr>
          <p:cNvPr id="2" name="Title 1"/>
          <p:cNvSpPr>
            <a:spLocks noGrp="1"/>
          </p:cNvSpPr>
          <p:nvPr>
            <p:ph type="ctrTitle"/>
          </p:nvPr>
        </p:nvSpPr>
        <p:spPr>
          <a:xfrm>
            <a:off x="721895" y="986589"/>
            <a:ext cx="8915400" cy="2382439"/>
          </a:xfrm>
        </p:spPr>
        <p:txBody>
          <a:bodyPr>
            <a:normAutofit/>
          </a:bodyPr>
          <a:lstStyle/>
          <a:p>
            <a:r>
              <a:rPr lang="en-US" altLang="en-GB" b="1" dirty="0" smtClean="0"/>
              <a:t/>
            </a:r>
            <a:br>
              <a:rPr lang="en-US" altLang="en-GB" b="1" dirty="0" smtClean="0"/>
            </a:br>
            <a:endParaRPr lang="en-US" altLang="en-GB" b="1" dirty="0"/>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GB" sz="2000" b="1" dirty="0">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2803786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r>
              <a:rPr lang="en-US" b="1" dirty="0"/>
              <a:t>What is active listening?</a:t>
            </a:r>
          </a:p>
          <a:p>
            <a:r>
              <a:rPr lang="en-US" dirty="0"/>
              <a:t>It is the act of </a:t>
            </a:r>
            <a:r>
              <a:rPr lang="en-US" dirty="0" err="1"/>
              <a:t>focussing</a:t>
            </a:r>
            <a:r>
              <a:rPr lang="en-US" dirty="0"/>
              <a:t> on a speaker to comprehend their message to then be able to respond thoughtfully. On the other hand, passive listening is the act of hearing a speaker without retaining much of the information shared.</a:t>
            </a:r>
          </a:p>
          <a:p>
            <a:r>
              <a:rPr lang="en-US" dirty="0"/>
              <a:t>Active listening results in enhanced engagement and interaction, and enables you to recall important details in the future. Hence, it is a critical skill for technical writers — to understand and translate complex product knowledge into consumable, easily understood chunks of information.</a:t>
            </a:r>
          </a:p>
          <a:p>
            <a:endParaRPr lang="en-US" dirty="0"/>
          </a:p>
        </p:txBody>
      </p:sp>
    </p:spTree>
    <p:extLst>
      <p:ext uri="{BB962C8B-B14F-4D97-AF65-F5344CB8AC3E}">
        <p14:creationId xmlns:p14="http://schemas.microsoft.com/office/powerpoint/2010/main" val="1542524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3" name="Rectangle 2"/>
          <p:cNvSpPr/>
          <p:nvPr/>
        </p:nvSpPr>
        <p:spPr>
          <a:xfrm>
            <a:off x="-1" y="2828836"/>
            <a:ext cx="12016799" cy="3477875"/>
          </a:xfrm>
          <a:prstGeom prst="rect">
            <a:avLst/>
          </a:prstGeom>
        </p:spPr>
        <p:txBody>
          <a:bodyPr wrap="square">
            <a:spAutoFit/>
          </a:bodyPr>
          <a:lstStyle/>
          <a:p>
            <a:r>
              <a:rPr lang="en-US" sz="4400" dirty="0"/>
              <a:t>The most important technique to listen well is to train yourself to keep your attention on the speaker and their spoken words instead of being distracted by prematurely formulating a response in your mind.</a:t>
            </a:r>
            <a:endParaRPr lang="en-US" sz="4400" dirty="0"/>
          </a:p>
        </p:txBody>
      </p:sp>
    </p:spTree>
    <p:extLst>
      <p:ext uri="{BB962C8B-B14F-4D97-AF65-F5344CB8AC3E}">
        <p14:creationId xmlns:p14="http://schemas.microsoft.com/office/powerpoint/2010/main" val="14993343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r>
              <a:rPr lang="en-US" b="1" dirty="0"/>
              <a:t>The benefits of active listening</a:t>
            </a:r>
          </a:p>
          <a:p>
            <a:r>
              <a:rPr lang="en-US" dirty="0"/>
              <a:t>Because active listening helps you retain information, it also helps you to better understand new topics and retain what you have learned so that you can apply it in the future.</a:t>
            </a:r>
          </a:p>
          <a:p>
            <a:r>
              <a:rPr lang="en-US" dirty="0"/>
              <a:t>Due to the high level of engagement with the speaker, active listeners are capable of deep learning and recalling specific details. This is especially important during training or knowledge transfer sessions on a new process/product for which you are responsible to later relay this knowledge accurately to others.</a:t>
            </a:r>
          </a:p>
          <a:p>
            <a:endParaRPr lang="en-US" dirty="0"/>
          </a:p>
        </p:txBody>
      </p:sp>
    </p:spTree>
    <p:extLst>
      <p:ext uri="{BB962C8B-B14F-4D97-AF65-F5344CB8AC3E}">
        <p14:creationId xmlns:p14="http://schemas.microsoft.com/office/powerpoint/2010/main" val="398772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normAutofit fontScale="92500" lnSpcReduction="10000"/>
          </a:bodyPr>
          <a:lstStyle/>
          <a:p>
            <a:r>
              <a:rPr lang="en-US" b="1" dirty="0"/>
              <a:t>How to listen better?</a:t>
            </a:r>
          </a:p>
          <a:p>
            <a:r>
              <a:rPr lang="en-US" dirty="0"/>
              <a:t>If you want to listen better:</a:t>
            </a:r>
          </a:p>
          <a:p>
            <a:r>
              <a:rPr lang="en-US" dirty="0"/>
              <a:t>Carefully consider the speaker’s words.</a:t>
            </a:r>
          </a:p>
          <a:p>
            <a:r>
              <a:rPr lang="en-US" dirty="0"/>
              <a:t>Commit the information to memory.</a:t>
            </a:r>
          </a:p>
          <a:p>
            <a:r>
              <a:rPr lang="en-US" dirty="0"/>
              <a:t>Paraphrase. Or, ask again to confirm if you have understood the speaker correctly.</a:t>
            </a:r>
          </a:p>
          <a:p>
            <a:r>
              <a:rPr lang="en-US" dirty="0"/>
              <a:t>Pause, if necessary, and process the information. Formulate your thoughts.</a:t>
            </a:r>
          </a:p>
          <a:p>
            <a:r>
              <a:rPr lang="en-US" dirty="0"/>
              <a:t>Respond.</a:t>
            </a:r>
          </a:p>
          <a:p>
            <a:r>
              <a:rPr lang="en-US" dirty="0"/>
              <a:t>It sounds like a lot, but in practice, it only takes a few additional seconds and the results bear long-term positive implications.</a:t>
            </a:r>
          </a:p>
          <a:p>
            <a:endParaRPr lang="en-US" dirty="0"/>
          </a:p>
        </p:txBody>
      </p:sp>
    </p:spTree>
    <p:extLst>
      <p:ext uri="{BB962C8B-B14F-4D97-AF65-F5344CB8AC3E}">
        <p14:creationId xmlns:p14="http://schemas.microsoft.com/office/powerpoint/2010/main" val="287462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normAutofit lnSpcReduction="10000"/>
          </a:bodyPr>
          <a:lstStyle/>
          <a:p>
            <a:r>
              <a:rPr lang="en-US" b="1" dirty="0"/>
              <a:t>Your active listening toolkit</a:t>
            </a:r>
          </a:p>
          <a:p>
            <a:r>
              <a:rPr lang="en-US" dirty="0"/>
              <a:t/>
            </a:r>
            <a:br>
              <a:rPr lang="en-US" dirty="0"/>
            </a:br>
            <a:r>
              <a:rPr lang="en-US" dirty="0"/>
              <a:t>A few basic skills and tools will help you listen, comprehend, and retain knowledge better. Here they are:</a:t>
            </a:r>
          </a:p>
          <a:p>
            <a:r>
              <a:rPr lang="en-US" dirty="0"/>
              <a:t>Have empathy and respect for the speaker</a:t>
            </a:r>
          </a:p>
          <a:p>
            <a:r>
              <a:rPr lang="en-US" dirty="0"/>
              <a:t>Ask open-ended or probing questions to learn in depth</a:t>
            </a:r>
          </a:p>
          <a:p>
            <a:r>
              <a:rPr lang="en-US" dirty="0"/>
              <a:t>Recall and connect new information to previously acquired knowledge</a:t>
            </a:r>
          </a:p>
          <a:p>
            <a:r>
              <a:rPr lang="en-US" dirty="0"/>
              <a:t>Borrow from “</a:t>
            </a:r>
            <a:r>
              <a:rPr lang="en-US" dirty="0" err="1"/>
              <a:t>Improv</a:t>
            </a:r>
            <a:r>
              <a:rPr lang="en-US" dirty="0"/>
              <a:t>”. Use the “Yes, and…” technique to learn more about the topic of discussion: </a:t>
            </a:r>
            <a:r>
              <a:rPr lang="en-US" b="1" dirty="0"/>
              <a:t>Listen ➜ Agree ➜ Enquire</a:t>
            </a:r>
            <a:endParaRPr lang="en-US" dirty="0"/>
          </a:p>
          <a:p>
            <a:endParaRPr lang="en-US" dirty="0"/>
          </a:p>
        </p:txBody>
      </p:sp>
    </p:spTree>
    <p:extLst>
      <p:ext uri="{BB962C8B-B14F-4D97-AF65-F5344CB8AC3E}">
        <p14:creationId xmlns:p14="http://schemas.microsoft.com/office/powerpoint/2010/main" val="1600146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r>
              <a:rPr lang="en-US" b="1" u="sng" dirty="0"/>
              <a:t>7 Active Listening Techniques</a:t>
            </a:r>
          </a:p>
          <a:p>
            <a:pPr fontAlgn="base"/>
            <a:r>
              <a:rPr lang="en-US" dirty="0"/>
              <a:t>The word "active" implies that you are taking some type of action when listening to others. This involves the use of certain strategies or techniques. Here are seven active listening techniques to consider.</a:t>
            </a:r>
            <a:r>
              <a:rPr lang="en-US" baseline="30000" dirty="0"/>
              <a:t>1</a:t>
            </a:r>
            <a:r>
              <a:rPr lang="en-US" dirty="0"/>
              <a:t/>
            </a:r>
            <a:br>
              <a:rPr lang="en-US" dirty="0"/>
            </a:br>
            <a:endParaRPr lang="en-US" dirty="0"/>
          </a:p>
          <a:p>
            <a:pPr fontAlgn="base"/>
            <a:r>
              <a:rPr lang="en-US" b="1" dirty="0"/>
              <a:t>1. Be Fully Present</a:t>
            </a:r>
          </a:p>
          <a:p>
            <a:pPr fontAlgn="base"/>
            <a:r>
              <a:rPr lang="en-US" dirty="0"/>
              <a:t>Active listening requires being fully present in the conversation. This enables you to concentrate on what is being said. </a:t>
            </a:r>
            <a:r>
              <a:rPr lang="en-US" u="sng" dirty="0">
                <a:hlinkClick r:id="rId9"/>
              </a:rPr>
              <a:t>Being present</a:t>
            </a:r>
            <a:r>
              <a:rPr lang="en-US" dirty="0"/>
              <a:t> involves listening with all your senses (sight, sound, etc.) and giving your full attention to the speaker.</a:t>
            </a:r>
          </a:p>
          <a:p>
            <a:endParaRPr lang="en-US" dirty="0"/>
          </a:p>
        </p:txBody>
      </p:sp>
    </p:spTree>
    <p:extLst>
      <p:ext uri="{BB962C8B-B14F-4D97-AF65-F5344CB8AC3E}">
        <p14:creationId xmlns:p14="http://schemas.microsoft.com/office/powerpoint/2010/main" val="1371434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dirty="0"/>
              <a:t>"Being fully present involves the skill of tuning into the other person’s inner world while stepping away from your own. This is a power skill in deeply connecting and sitting with another’s emotions," says Romanoff.</a:t>
            </a:r>
          </a:p>
          <a:p>
            <a:pPr fontAlgn="base"/>
            <a:r>
              <a:rPr lang="en-US" dirty="0"/>
              <a:t>To use this active listening technique effectively, put away your cell phone, ignore distractions, avoid daydreaming, and shut down your internal dialogue. Place your focus on your conversation partner and let everything else slip away.</a:t>
            </a:r>
          </a:p>
          <a:p>
            <a:endParaRPr lang="en-US" dirty="0"/>
          </a:p>
        </p:txBody>
      </p:sp>
    </p:spTree>
    <p:extLst>
      <p:ext uri="{BB962C8B-B14F-4D97-AF65-F5344CB8AC3E}">
        <p14:creationId xmlns:p14="http://schemas.microsoft.com/office/powerpoint/2010/main" val="1868837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b="1" dirty="0"/>
              <a:t>2. Pay Attention to Non-Verbal Cues</a:t>
            </a:r>
          </a:p>
          <a:p>
            <a:pPr fontAlgn="base"/>
            <a:r>
              <a:rPr lang="en-US" dirty="0"/>
              <a:t>As much as 65% of a person's communication is unspoken.</a:t>
            </a:r>
            <a:r>
              <a:rPr lang="en-US" baseline="30000" dirty="0"/>
              <a:t>2</a:t>
            </a:r>
            <a:r>
              <a:rPr lang="en-US" dirty="0"/>
              <a:t> Paying attention to these </a:t>
            </a:r>
            <a:r>
              <a:rPr lang="en-US" u="sng" dirty="0">
                <a:hlinkClick r:id="rId9"/>
              </a:rPr>
              <a:t>nonverbal cues</a:t>
            </a:r>
            <a:r>
              <a:rPr lang="en-US" dirty="0"/>
              <a:t> can tell you a lot about the person and what they are trying to say. If they talk fast, for instance, this could be a sign that they are nervous or anxious. If they talk slowly, they may be tired or trying to carefully choose their words.</a:t>
            </a:r>
          </a:p>
          <a:p>
            <a:r>
              <a:rPr lang="en-US" dirty="0"/>
              <a:t>During active listening, your non-verbal behaviors are just as important. To show the person you're truly tuned in, use open, non-threatening body language. This involves not folding your arms, smiling while listening, leaning in, and nodding at key junctures.</a:t>
            </a:r>
            <a:endParaRPr lang="en-US" dirty="0"/>
          </a:p>
        </p:txBody>
      </p:sp>
    </p:spTree>
    <p:extLst>
      <p:ext uri="{BB962C8B-B14F-4D97-AF65-F5344CB8AC3E}">
        <p14:creationId xmlns:p14="http://schemas.microsoft.com/office/powerpoint/2010/main" val="2811215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b="1" dirty="0"/>
              <a:t>3. Keep Good Eye Contact</a:t>
            </a:r>
          </a:p>
          <a:p>
            <a:pPr fontAlgn="base"/>
            <a:r>
              <a:rPr lang="en-US" dirty="0"/>
              <a:t>When engaged in active listening, making </a:t>
            </a:r>
            <a:r>
              <a:rPr lang="en-US" u="sng" dirty="0">
                <a:hlinkClick r:id="rId9"/>
              </a:rPr>
              <a:t>eye contact</a:t>
            </a:r>
            <a:r>
              <a:rPr lang="en-US" dirty="0"/>
              <a:t> is especially important. This tells the other person that you are present and listening to what they say. It also shows that you aren't distracted by anything else around you.</a:t>
            </a:r>
          </a:p>
          <a:p>
            <a:pPr fontAlgn="base"/>
            <a:r>
              <a:rPr lang="en-US" dirty="0"/>
              <a:t>At the same time, you don't want to use so much eye contact that the conversation feels weird. To keep this from happening, follow the 50/70 rule. This involves maintaining eye contact for 50% to 70% of the time spent listening, holding the contact for four to five seconds before briefly looking away.</a:t>
            </a:r>
          </a:p>
          <a:p>
            <a:endParaRPr lang="en-US" dirty="0"/>
          </a:p>
        </p:txBody>
      </p:sp>
    </p:spTree>
    <p:extLst>
      <p:ext uri="{BB962C8B-B14F-4D97-AF65-F5344CB8AC3E}">
        <p14:creationId xmlns:p14="http://schemas.microsoft.com/office/powerpoint/2010/main" val="789742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b="1" dirty="0"/>
              <a:t>4. Ask Open-Ended Questions</a:t>
            </a:r>
          </a:p>
          <a:p>
            <a:pPr fontAlgn="base"/>
            <a:r>
              <a:rPr lang="en-US" dirty="0"/>
              <a:t>Asking "yes or no" questions often produce dead-end answers. This isn't helpful during active listening as it keeps the conversation from flowing. It also makes it difficult to truly listen to the other person because there isn't much you can gain from a short, non-descriptive response.</a:t>
            </a:r>
          </a:p>
          <a:p>
            <a:pPr fontAlgn="base"/>
            <a:r>
              <a:rPr lang="en-US" dirty="0"/>
              <a:t>Instead, ask open-ended questions to show that you are interested in the conversation and the other person. Examples of open-ended questions you may use when active listening include:</a:t>
            </a:r>
          </a:p>
          <a:p>
            <a:endParaRPr lang="en-US" dirty="0"/>
          </a:p>
        </p:txBody>
      </p:sp>
    </p:spTree>
    <p:extLst>
      <p:ext uri="{BB962C8B-B14F-4D97-AF65-F5344CB8AC3E}">
        <p14:creationId xmlns:p14="http://schemas.microsoft.com/office/powerpoint/2010/main" val="612106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dirty="0"/>
              <a:t>Can you tell me a bit more about that?</a:t>
            </a:r>
          </a:p>
          <a:p>
            <a:pPr fontAlgn="base"/>
            <a:r>
              <a:rPr lang="en-US" dirty="0"/>
              <a:t>What did you think about that?</a:t>
            </a:r>
          </a:p>
          <a:p>
            <a:pPr fontAlgn="base"/>
            <a:r>
              <a:rPr lang="en-US" dirty="0"/>
              <a:t>What do you think is the best path moving forward?</a:t>
            </a:r>
          </a:p>
          <a:p>
            <a:pPr fontAlgn="base"/>
            <a:r>
              <a:rPr lang="en-US" dirty="0"/>
              <a:t>How do you think you could have responded differently?</a:t>
            </a:r>
          </a:p>
          <a:p>
            <a:pPr fontAlgn="base"/>
            <a:r>
              <a:rPr lang="en-US" dirty="0"/>
              <a:t>The key to open-ended questions is to have a framework of curiosity about the other person. It signals genuine interest – making the other person feel valued and enables you to better understand them," adds Romanoff.</a:t>
            </a:r>
          </a:p>
          <a:p>
            <a:endParaRPr lang="en-US" dirty="0"/>
          </a:p>
        </p:txBody>
      </p:sp>
    </p:spTree>
    <p:extLst>
      <p:ext uri="{BB962C8B-B14F-4D97-AF65-F5344CB8AC3E}">
        <p14:creationId xmlns:p14="http://schemas.microsoft.com/office/powerpoint/2010/main" val="266276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dirty="0"/>
              <a:t>5. Reflect What You Hear</a:t>
            </a:r>
          </a:p>
          <a:p>
            <a:pPr fontAlgn="base"/>
            <a:r>
              <a:rPr lang="en-US" dirty="0"/>
              <a:t>After the person has spoken, tell them what you heard. This active listening technique ensures that you've captured their thoughts, ideas, and/or </a:t>
            </a:r>
            <a:r>
              <a:rPr lang="en-US" u="sng" dirty="0">
                <a:hlinkClick r:id="rId9"/>
              </a:rPr>
              <a:t>emotions</a:t>
            </a:r>
            <a:r>
              <a:rPr lang="en-US" dirty="0"/>
              <a:t> accurately. It also helps the other person feel validated and understood while keeping any potential miscommunications to a minimum.</a:t>
            </a:r>
          </a:p>
          <a:p>
            <a:pPr fontAlgn="base"/>
            <a:r>
              <a:rPr lang="en-US" dirty="0"/>
              <a:t>One way to reflect what you've heard is to paraphrase. For example, you might say, "In other words, what you are saying is that you're frustrated" or "I'm hearing that you're frustrated about this situation.</a:t>
            </a:r>
          </a:p>
          <a:p>
            <a:endParaRPr lang="en-US" dirty="0"/>
          </a:p>
        </p:txBody>
      </p:sp>
    </p:spTree>
    <p:extLst>
      <p:ext uri="{BB962C8B-B14F-4D97-AF65-F5344CB8AC3E}">
        <p14:creationId xmlns:p14="http://schemas.microsoft.com/office/powerpoint/2010/main" val="950501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pPr fontAlgn="base"/>
            <a:r>
              <a:rPr lang="en-US" b="1" dirty="0" smtClean="0"/>
              <a:t>6.</a:t>
            </a:r>
            <a:r>
              <a:rPr lang="en-US" b="1" dirty="0"/>
              <a:t> Be Patient</a:t>
            </a:r>
          </a:p>
          <a:p>
            <a:pPr fontAlgn="base"/>
            <a:r>
              <a:rPr lang="en-US" dirty="0"/>
              <a:t>Patience is an important active listening technique because it allows the other person to speak without interruption. It also gives them the time to say what they are thinking without having to try to finish their sentences for them.</a:t>
            </a:r>
          </a:p>
          <a:p>
            <a:pPr fontAlgn="base"/>
            <a:r>
              <a:rPr lang="en-US" u="sng" dirty="0">
                <a:hlinkClick r:id="rId9"/>
              </a:rPr>
              <a:t>Being patient</a:t>
            </a:r>
            <a:r>
              <a:rPr lang="en-US" dirty="0"/>
              <a:t> involves not trying to fill periods of silence with your own thoughts or stories. It also requires listening to understand, not to respond. That is, don't prepare a reply while the other person is still speaking. Also, don't change the subject too abruptly as this conveys boredom and impatience.</a:t>
            </a:r>
          </a:p>
          <a:p>
            <a:endParaRPr lang="en-US" dirty="0"/>
          </a:p>
        </p:txBody>
      </p:sp>
    </p:spTree>
    <p:extLst>
      <p:ext uri="{BB962C8B-B14F-4D97-AF65-F5344CB8AC3E}">
        <p14:creationId xmlns:p14="http://schemas.microsoft.com/office/powerpoint/2010/main" val="3983019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normAutofit fontScale="92500" lnSpcReduction="10000"/>
          </a:bodyPr>
          <a:lstStyle/>
          <a:p>
            <a:pPr fontAlgn="base"/>
            <a:r>
              <a:rPr lang="en-US" b="1" dirty="0" smtClean="0"/>
              <a:t>7. Withhold </a:t>
            </a:r>
            <a:r>
              <a:rPr lang="en-US" b="1" dirty="0"/>
              <a:t>Judgment</a:t>
            </a:r>
          </a:p>
          <a:p>
            <a:pPr fontAlgn="base"/>
            <a:r>
              <a:rPr lang="en-US" dirty="0"/>
              <a:t>Remaining neutral and non-judgmental in your responses enables the other person to feel comfortable with sharing their thoughts. It makes the conversation to a safe zone where they can trust that they won't be shamed, criticized, blamed, or otherwise negatively received.</a:t>
            </a:r>
          </a:p>
          <a:p>
            <a:pPr fontAlgn="base"/>
            <a:r>
              <a:rPr lang="en-US" dirty="0"/>
              <a:t>Ways to be less judgmental when listening include:</a:t>
            </a:r>
          </a:p>
          <a:p>
            <a:pPr fontAlgn="base"/>
            <a:r>
              <a:rPr lang="en-US" u="sng" dirty="0">
                <a:hlinkClick r:id="rId9"/>
              </a:rPr>
              <a:t>Expressing empathy</a:t>
            </a:r>
            <a:r>
              <a:rPr lang="en-US" dirty="0"/>
              <a:t> for the person or their situation</a:t>
            </a:r>
          </a:p>
          <a:p>
            <a:pPr fontAlgn="base"/>
            <a:r>
              <a:rPr lang="en-US" dirty="0"/>
              <a:t>Learning more about different people and cultures</a:t>
            </a:r>
          </a:p>
          <a:p>
            <a:pPr fontAlgn="base"/>
            <a:r>
              <a:rPr lang="en-US" dirty="0"/>
              <a:t>Practicing acceptance of others</a:t>
            </a:r>
          </a:p>
          <a:p>
            <a:pPr fontAlgn="base"/>
            <a:r>
              <a:rPr lang="en-US" dirty="0"/>
              <a:t>Recognizing when you may be judging the other person, then stopping those thoughts</a:t>
            </a:r>
          </a:p>
          <a:p>
            <a:endParaRPr lang="en-US" dirty="0"/>
          </a:p>
        </p:txBody>
      </p:sp>
    </p:spTree>
    <p:extLst>
      <p:ext uri="{BB962C8B-B14F-4D97-AF65-F5344CB8AC3E}">
        <p14:creationId xmlns:p14="http://schemas.microsoft.com/office/powerpoint/2010/main" val="488153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normAutofit lnSpcReduction="10000"/>
          </a:bodyPr>
          <a:lstStyle/>
          <a:p>
            <a:pPr fontAlgn="base"/>
            <a:r>
              <a:rPr lang="en-US" b="1" u="sng" dirty="0"/>
              <a:t>Ways to Improve Active Listening</a:t>
            </a:r>
          </a:p>
          <a:p>
            <a:pPr fontAlgn="base"/>
            <a:r>
              <a:rPr lang="en-US" dirty="0"/>
              <a:t>We've all been in situations where our "listeners" were distracted or disinterested. Or maybe you want to improve your own active listening skills so you don't do this to others.</a:t>
            </a:r>
          </a:p>
          <a:p>
            <a:pPr fontAlgn="base"/>
            <a:r>
              <a:rPr lang="en-US" dirty="0"/>
              <a:t>Here are a few ways to be a better active listener yourself, or to encourage others to do the same:</a:t>
            </a:r>
          </a:p>
          <a:p>
            <a:pPr fontAlgn="base"/>
            <a:r>
              <a:rPr lang="en-US" b="1" dirty="0"/>
              <a:t>Encourage your own curiosity</a:t>
            </a:r>
            <a:r>
              <a:rPr lang="en-US" dirty="0"/>
              <a:t>. The more curious you are about something, the easier it becomes to want to know more. This naturally causes you to ask more questions and to seek to understand, which are two of the core foundations of active listening in communication.</a:t>
            </a:r>
          </a:p>
          <a:p>
            <a:endParaRPr lang="en-US" dirty="0"/>
          </a:p>
        </p:txBody>
      </p:sp>
    </p:spTree>
    <p:extLst>
      <p:ext uri="{BB962C8B-B14F-4D97-AF65-F5344CB8AC3E}">
        <p14:creationId xmlns:p14="http://schemas.microsoft.com/office/powerpoint/2010/main" val="24956968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normAutofit/>
          </a:bodyPr>
          <a:lstStyle/>
          <a:p>
            <a:pPr fontAlgn="base"/>
            <a:r>
              <a:rPr lang="en-US" b="1" dirty="0"/>
              <a:t>Find a topic that interests you both</a:t>
            </a:r>
            <a:r>
              <a:rPr lang="en-US" dirty="0"/>
              <a:t>. This works particularly well when engaging in </a:t>
            </a:r>
            <a:r>
              <a:rPr lang="en-US" u="sng" dirty="0">
                <a:hlinkClick r:id="rId9"/>
              </a:rPr>
              <a:t>small talk</a:t>
            </a:r>
            <a:r>
              <a:rPr lang="en-US" dirty="0"/>
              <a:t> as you get to know one another. If you both have passion for the topic, it becomes easier to stay fully engaged in the conversation.</a:t>
            </a:r>
          </a:p>
          <a:p>
            <a:pPr fontAlgn="base"/>
            <a:r>
              <a:rPr lang="en-US" b="1" dirty="0"/>
              <a:t>Practice your active listening skills</a:t>
            </a:r>
            <a:r>
              <a:rPr lang="en-US" dirty="0"/>
              <a:t>. Like with any skill, being good at active listening takes some practice. Be patient with yourself as you go through the </a:t>
            </a:r>
            <a:r>
              <a:rPr lang="en-US" u="sng" dirty="0">
                <a:hlinkClick r:id="rId10"/>
              </a:rPr>
              <a:t>learning process</a:t>
            </a:r>
            <a:r>
              <a:rPr lang="en-US" dirty="0"/>
              <a:t>. Continuing to practice these skills may just inspire the person you're conversing with to do the same. By seeing you demonstrate active listening, they might become a better listener too.</a:t>
            </a:r>
          </a:p>
          <a:p>
            <a:endParaRPr lang="en-US" dirty="0"/>
          </a:p>
        </p:txBody>
      </p:sp>
    </p:spTree>
    <p:extLst>
      <p:ext uri="{BB962C8B-B14F-4D97-AF65-F5344CB8AC3E}">
        <p14:creationId xmlns:p14="http://schemas.microsoft.com/office/powerpoint/2010/main" val="1391183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p:txBody>
          <a:bodyPr/>
          <a:lstStyle/>
          <a:p>
            <a:r>
              <a:rPr lang="en-US" b="1" dirty="0"/>
              <a:t>Understand when exiting the conversation is best</a:t>
            </a:r>
            <a:r>
              <a:rPr lang="en-US" dirty="0"/>
              <a:t>. If you're talking with another person and they are clearly uninterested in the conversation, it may be best to end that conversation respectfully. This can help keep you from feeling annoyed and unheard.</a:t>
            </a:r>
          </a:p>
          <a:p>
            <a:endParaRPr lang="en-US" dirty="0"/>
          </a:p>
        </p:txBody>
      </p:sp>
    </p:spTree>
    <p:extLst>
      <p:ext uri="{BB962C8B-B14F-4D97-AF65-F5344CB8AC3E}">
        <p14:creationId xmlns:p14="http://schemas.microsoft.com/office/powerpoint/2010/main" val="13219950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39C4D88C-3B42-4F0C-983C-5D361896A0BA}"/>
              </a:ext>
            </a:extLst>
          </p:cNvPr>
          <p:cNvGrpSpPr/>
          <p:nvPr/>
        </p:nvGrpSpPr>
        <p:grpSpPr>
          <a:xfrm>
            <a:off x="0" y="0"/>
            <a:ext cx="12749348" cy="1115736"/>
            <a:chOff x="0" y="0"/>
            <a:chExt cx="12749348" cy="1115736"/>
          </a:xfrm>
        </p:grpSpPr>
        <p:sp>
          <p:nvSpPr>
            <p:cNvPr id="6" name="Rectangle 5">
              <a:extLst>
                <a:ext uri="{FF2B5EF4-FFF2-40B4-BE49-F238E27FC236}">
                  <a16:creationId xmlns="" xmlns:a16="http://schemas.microsoft.com/office/drawing/2014/main" id="{2D07B982-2120-464E-825F-C912366259C8}"/>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pic>
          <p:nvPicPr>
            <p:cNvPr id="7" name="Picture 6">
              <a:extLst>
                <a:ext uri="{FF2B5EF4-FFF2-40B4-BE49-F238E27FC236}">
                  <a16:creationId xmlns="" xmlns:a16="http://schemas.microsoft.com/office/drawing/2014/main" id="{C612DDE6-6330-4541-9E3E-FC4A47C23A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8" name="TextBox 7">
              <a:extLst>
                <a:ext uri="{FF2B5EF4-FFF2-40B4-BE49-F238E27FC236}">
                  <a16:creationId xmlns="" xmlns:a16="http://schemas.microsoft.com/office/drawing/2014/main" id="{16143A8E-5D2D-4752-8D32-107C75024BE9}"/>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9" name="Graphic 8">
              <a:extLst>
                <a:ext uri="{FF2B5EF4-FFF2-40B4-BE49-F238E27FC236}">
                  <a16:creationId xmlns="" xmlns:a16="http://schemas.microsoft.com/office/drawing/2014/main" id="{E0A7FE5A-D6FA-4390-BC4B-5D875EF728C2}"/>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9906056" y="403986"/>
              <a:ext cx="261610" cy="261610"/>
            </a:xfrm>
            <a:prstGeom prst="rect">
              <a:avLst/>
            </a:prstGeom>
          </p:spPr>
        </p:pic>
        <p:sp>
          <p:nvSpPr>
            <p:cNvPr id="10" name="TextBox 9">
              <a:extLst>
                <a:ext uri="{FF2B5EF4-FFF2-40B4-BE49-F238E27FC236}">
                  <a16:creationId xmlns="" xmlns:a16="http://schemas.microsoft.com/office/drawing/2014/main" id="{2664A2EC-C5C3-4377-9C85-52FAE2A44420}"/>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1" name="Graphic 10">
              <a:extLst>
                <a:ext uri="{FF2B5EF4-FFF2-40B4-BE49-F238E27FC236}">
                  <a16:creationId xmlns="" xmlns:a16="http://schemas.microsoft.com/office/drawing/2014/main" id="{F1F98BB4-B39C-43BB-AEF6-82CB9487586B}"/>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10591033" y="741997"/>
              <a:ext cx="171450" cy="171450"/>
            </a:xfrm>
            <a:prstGeom prst="rect">
              <a:avLst/>
            </a:prstGeom>
          </p:spPr>
        </p:pic>
        <p:pic>
          <p:nvPicPr>
            <p:cNvPr id="12" name="Picture 11">
              <a:extLst>
                <a:ext uri="{FF2B5EF4-FFF2-40B4-BE49-F238E27FC236}">
                  <a16:creationId xmlns="" xmlns:a16="http://schemas.microsoft.com/office/drawing/2014/main" id="{F7E7FFF8-876A-4B45-8420-0752EA8DA40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5" name="Picture 14">
            <a:extLst>
              <a:ext uri="{FF2B5EF4-FFF2-40B4-BE49-F238E27FC236}">
                <a16:creationId xmlns="" xmlns:a16="http://schemas.microsoft.com/office/drawing/2014/main" id="{CB96D1EF-2F53-4C5C-8A3E-7FC11817DAA4}"/>
              </a:ext>
            </a:extLst>
          </p:cNvPr>
          <p:cNvPicPr>
            <a:picLocks noChangeAspect="1"/>
          </p:cNvPicPr>
          <p:nvPr/>
        </p:nvPicPr>
        <p:blipFill>
          <a:blip r:embed="rId8"/>
          <a:stretch>
            <a:fillRect/>
          </a:stretch>
        </p:blipFill>
        <p:spPr>
          <a:xfrm>
            <a:off x="9974462" y="1462528"/>
            <a:ext cx="2042337" cy="5145470"/>
          </a:xfrm>
          <a:prstGeom prst="rect">
            <a:avLst/>
          </a:prstGeom>
        </p:spPr>
      </p:pic>
      <p:sp>
        <p:nvSpPr>
          <p:cNvPr id="2" name="Content Placeholder 1"/>
          <p:cNvSpPr>
            <a:spLocks noGrp="1"/>
          </p:cNvSpPr>
          <p:nvPr>
            <p:ph idx="1"/>
          </p:nvPr>
        </p:nvSpPr>
        <p:spPr>
          <a:xfrm>
            <a:off x="838200" y="2851483"/>
            <a:ext cx="10515600" cy="1913021"/>
          </a:xfrm>
        </p:spPr>
        <p:txBody>
          <a:bodyPr>
            <a:normAutofit/>
          </a:bodyPr>
          <a:lstStyle/>
          <a:p>
            <a:pPr marL="0" indent="0" algn="ctr">
              <a:buNone/>
            </a:pPr>
            <a:r>
              <a:rPr lang="en-US" sz="9600" dirty="0" smtClean="0"/>
              <a:t>Thank you </a:t>
            </a:r>
            <a:endParaRPr lang="en-US" sz="9600" dirty="0"/>
          </a:p>
        </p:txBody>
      </p:sp>
    </p:spTree>
    <p:extLst>
      <p:ext uri="{BB962C8B-B14F-4D97-AF65-F5344CB8AC3E}">
        <p14:creationId xmlns:p14="http://schemas.microsoft.com/office/powerpoint/2010/main" val="3575939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579</TotalTime>
  <Words>1014</Words>
  <Application>Microsoft Office PowerPoint</Application>
  <PresentationFormat>Custom</PresentationFormat>
  <Paragraphs>104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Technical and Business Writing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63</cp:revision>
  <dcterms:created xsi:type="dcterms:W3CDTF">2024-06-21T09:49:00Z</dcterms:created>
  <dcterms:modified xsi:type="dcterms:W3CDTF">2024-10-26T14:31:13Z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746BA2BC228C464D8DA6A1456E503FEB_13</vt:lpwstr>
  </property>
  <property fmtid="{D5CDD505-2E9C-101B-9397-08002B2CF9AE}" pid="3" name="KSOProductBuildVer">
    <vt:lpwstr>1033-12.2.0.18283</vt:lpwstr>
  </property>
</Properties>
</file>