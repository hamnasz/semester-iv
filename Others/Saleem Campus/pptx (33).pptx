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875" r:id="rId2"/>
    <p:sldId id="869" r:id="rId3"/>
    <p:sldId id="868" r:id="rId4"/>
    <p:sldId id="871" r:id="rId5"/>
    <p:sldId id="826" r:id="rId6"/>
    <p:sldId id="872" r:id="rId7"/>
    <p:sldId id="873" r:id="rId8"/>
    <p:sldId id="8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2A2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7691" autoAdjust="0"/>
  </p:normalViewPr>
  <p:slideViewPr>
    <p:cSldViewPr snapToGrid="0" showGuides="1">
      <p:cViewPr>
        <p:scale>
          <a:sx n="70" d="100"/>
          <a:sy n="70" d="100"/>
        </p:scale>
        <p:origin x="-714"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50640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10/9/2024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10/9/2024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10/9/2024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US" smtClean="0"/>
              <a:t>10/9/2024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en.wikipedia.org/wiki/Communications-electronics"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01675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679450" y="2449195"/>
            <a:ext cx="8822055" cy="1153160"/>
          </a:xfrm>
        </p:spPr>
        <p:txBody>
          <a:bodyPr>
            <a:normAutofit fontScale="90000"/>
          </a:bodyPr>
          <a:lstStyle/>
          <a:p>
            <a:r>
              <a:rPr lang="en-US" altLang="en-GB" b="1" dirty="0" smtClean="0">
                <a:solidFill>
                  <a:schemeClr val="bg1"/>
                </a:solidFill>
              </a:rPr>
              <a:t>Technical and Business Writing</a:t>
            </a:r>
            <a:endParaRPr lang="en-US" altLang="en-GB" b="1" dirty="0">
              <a:solidFill>
                <a:schemeClr val="bg1"/>
              </a:solidFill>
            </a:endParaRPr>
          </a:p>
        </p:txBody>
      </p:sp>
      <p:sp>
        <p:nvSpPr>
          <p:cNvPr id="3" name="Subtitle 2"/>
          <p:cNvSpPr>
            <a:spLocks noGrp="1"/>
          </p:cNvSpPr>
          <p:nvPr>
            <p:ph type="subTitle" idx="1"/>
          </p:nvPr>
        </p:nvSpPr>
        <p:spPr>
          <a:xfrm>
            <a:off x="1158494" y="3602038"/>
            <a:ext cx="8955024" cy="1153160"/>
          </a:xfrm>
        </p:spPr>
        <p:txBody>
          <a:bodyPr>
            <a:noAutofit/>
          </a:bodyPr>
          <a:lstStyle/>
          <a:p>
            <a:pPr algn="l"/>
            <a:r>
              <a:rPr lang="en-US" altLang="en-GB" sz="2800" b="1" dirty="0">
                <a:solidFill>
                  <a:schemeClr val="bg1"/>
                </a:solidFill>
                <a:latin typeface="Bahnschrift" panose="020B0502040204020203" pitchFamily="34" charset="0"/>
              </a:rPr>
              <a:t>                   </a:t>
            </a:r>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smtClean="0">
                <a:solidFill>
                  <a:schemeClr val="bg1"/>
                </a:solidFill>
                <a:latin typeface="Arial" panose="020B0604020202020204" pitchFamily="34" charset="0"/>
                <a:cs typeface="Arial" panose="020B0604020202020204" pitchFamily="34" charset="0"/>
              </a:rPr>
              <a:t>Aqsa Ashraf</a:t>
            </a:r>
          </a:p>
          <a:p>
            <a:pPr algn="l"/>
            <a:r>
              <a:rPr lang="en-US" sz="2000" b="1" dirty="0" smtClean="0">
                <a:solidFill>
                  <a:schemeClr val="bg1"/>
                </a:solidFill>
                <a:latin typeface="Arial" panose="020B0604020202020204" pitchFamily="34" charset="0"/>
                <a:cs typeface="Arial" panose="020B0604020202020204" pitchFamily="34" charset="0"/>
              </a:rPr>
              <a:t>ENG-201</a:t>
            </a:r>
          </a:p>
          <a:p>
            <a:pPr algn="l"/>
            <a:r>
              <a:rPr lang="en-US" sz="2000" b="1" dirty="0" smtClean="0">
                <a:solidFill>
                  <a:schemeClr val="bg1"/>
                </a:solidFill>
                <a:latin typeface="Arial" panose="020B0604020202020204" pitchFamily="34" charset="0"/>
                <a:cs typeface="Arial" panose="020B0604020202020204" pitchFamily="34" charset="0"/>
              </a:rPr>
              <a:t>Week3, Lecture 1</a:t>
            </a:r>
            <a:endParaRPr lang="en-GB" sz="2000" b="1" dirty="0">
              <a:solidFill>
                <a:schemeClr val="bg1"/>
              </a:solidFill>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9525"/>
            <a:ext cx="3611690" cy="3611690"/>
          </a:xfrm>
          <a:prstGeom prst="rect">
            <a:avLst/>
          </a:prstGeom>
        </p:spPr>
      </p:pic>
      <p:pic>
        <p:nvPicPr>
          <p:cNvPr id="6" name="Picture 5" descr="Department of English Language and Literature"/>
          <p:cNvPicPr>
            <a:picLocks noChangeAspect="1"/>
          </p:cNvPicPr>
          <p:nvPr/>
        </p:nvPicPr>
        <p:blipFill>
          <a:blip r:embed="rId4" cstate="print"/>
          <a:stretch>
            <a:fillRect/>
          </a:stretch>
        </p:blipFill>
        <p:spPr>
          <a:xfrm>
            <a:off x="309245" y="259715"/>
            <a:ext cx="2382520" cy="1418590"/>
          </a:xfrm>
          <a:prstGeom prst="rect">
            <a:avLst/>
          </a:prstGeom>
        </p:spPr>
      </p:pic>
    </p:spTree>
    <p:extLst>
      <p:ext uri="{BB962C8B-B14F-4D97-AF65-F5344CB8AC3E}">
        <p14:creationId xmlns:p14="http://schemas.microsoft.com/office/powerpoint/2010/main" val="34037472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15737"/>
            <a:ext cx="10515600" cy="4361226"/>
          </a:xfrm>
        </p:spPr>
        <p:txBody>
          <a:bodyPr>
            <a:normAutofit/>
          </a:bodyPr>
          <a:lstStyle/>
          <a:p>
            <a:pPr marL="0" indent="0">
              <a:lnSpc>
                <a:spcPct val="150000"/>
              </a:lnSpc>
              <a:spcBef>
                <a:spcPts val="600"/>
              </a:spcBef>
              <a:buNone/>
            </a:pPr>
            <a:endParaRPr lang="en-US" sz="1600" dirty="0" smtClean="0">
              <a:latin typeface="Arial" panose="020B0604020202020204" pitchFamily="34" charset="0"/>
              <a:ea typeface="Arial" panose="020B0604020202020204" pitchFamily="34" charset="0"/>
              <a:cs typeface="Arial" panose="020B0604020202020204" pitchFamily="34" charset="0"/>
            </a:endParaRPr>
          </a:p>
          <a:p>
            <a:pPr marL="0" indent="0">
              <a:lnSpc>
                <a:spcPct val="150000"/>
              </a:lnSpc>
              <a:spcBef>
                <a:spcPts val="600"/>
              </a:spcBef>
              <a:buNone/>
            </a:pP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8" name="Group 7"/>
          <p:cNvGrpSpPr/>
          <p:nvPr/>
        </p:nvGrpSpPr>
        <p:grpSpPr>
          <a:xfrm>
            <a:off x="0" y="-26126"/>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17" name="Rectangle 16"/>
          <p:cNvSpPr/>
          <p:nvPr/>
        </p:nvSpPr>
        <p:spPr>
          <a:xfrm>
            <a:off x="2415654" y="5911333"/>
            <a:ext cx="7490402" cy="446276"/>
          </a:xfrm>
          <a:prstGeom prst="rect">
            <a:avLst/>
          </a:prstGeom>
        </p:spPr>
        <p:txBody>
          <a:bodyPr wrap="square">
            <a:spAutoFit/>
          </a:bodyPr>
          <a:lstStyle/>
          <a:p>
            <a:pPr algn="ctr"/>
            <a:endParaRPr lang="en-US" sz="2300" b="1" dirty="0"/>
          </a:p>
        </p:txBody>
      </p:sp>
      <p:sp>
        <p:nvSpPr>
          <p:cNvPr id="18" name="Rectangle 17"/>
          <p:cNvSpPr/>
          <p:nvPr/>
        </p:nvSpPr>
        <p:spPr>
          <a:xfrm>
            <a:off x="1645921" y="5911333"/>
            <a:ext cx="8792974" cy="815608"/>
          </a:xfrm>
          <a:prstGeom prst="rect">
            <a:avLst/>
          </a:prstGeom>
        </p:spPr>
        <p:txBody>
          <a:bodyPr wrap="square">
            <a:spAutoFit/>
          </a:bodyPr>
          <a:lstStyle/>
          <a:p>
            <a:pPr algn="ctr"/>
            <a:r>
              <a:rPr lang="en-US" sz="2400" b="1" dirty="0" smtClean="0">
                <a:latin typeface="Arial" panose="020B0604020202020204" pitchFamily="34" charset="0"/>
                <a:cs typeface="Arial" panose="020B0604020202020204" pitchFamily="34" charset="0"/>
              </a:rPr>
              <a:t> </a:t>
            </a:r>
            <a:r>
              <a:rPr lang="en-US" sz="2300" b="1" dirty="0" smtClean="0">
                <a:latin typeface="Arial" panose="020B0604020202020204" pitchFamily="34" charset="0"/>
                <a:cs typeface="Arial" panose="020B0604020202020204" pitchFamily="34" charset="0"/>
              </a:rPr>
              <a:t/>
            </a:r>
            <a:br>
              <a:rPr lang="en-US" sz="2300" b="1" dirty="0" smtClean="0">
                <a:latin typeface="Arial" panose="020B0604020202020204" pitchFamily="34" charset="0"/>
                <a:cs typeface="Arial" panose="020B0604020202020204" pitchFamily="34" charset="0"/>
              </a:rPr>
            </a:br>
            <a:endParaRPr lang="en-US" sz="2300" b="1" dirty="0"/>
          </a:p>
        </p:txBody>
      </p:sp>
      <p:sp>
        <p:nvSpPr>
          <p:cNvPr id="2" name="Rectangle 1"/>
          <p:cNvSpPr/>
          <p:nvPr/>
        </p:nvSpPr>
        <p:spPr>
          <a:xfrm>
            <a:off x="491319" y="1528547"/>
            <a:ext cx="10228433" cy="4524315"/>
          </a:xfrm>
          <a:prstGeom prst="rect">
            <a:avLst/>
          </a:prstGeom>
        </p:spPr>
        <p:txBody>
          <a:bodyPr wrap="square">
            <a:spAutoFit/>
          </a:bodyPr>
          <a:lstStyle/>
          <a:p>
            <a:pPr fontAlgn="base"/>
            <a:r>
              <a:rPr lang="en-US" sz="3200" b="1" dirty="0"/>
              <a:t>Blogging</a:t>
            </a:r>
            <a:endParaRPr lang="en-US" sz="3200" dirty="0"/>
          </a:p>
          <a:p>
            <a:pPr fontAlgn="base"/>
            <a:r>
              <a:rPr lang="en-US" sz="3200" dirty="0"/>
              <a:t>At present, blogging is the most preferable communication method. This is a type of online journaling, which can be updated daily, or many times a day. It covers all the information or a particular topic</a:t>
            </a:r>
            <a:r>
              <a:rPr lang="en-US" sz="3200" dirty="0" smtClean="0"/>
              <a:t>.</a:t>
            </a:r>
            <a:r>
              <a:rPr lang="en-US" sz="3200" dirty="0"/>
              <a:t> By using such blogs, one can share, follow, or even post comments. This kind of communication is extremely suitable. This is the reason why people utilize blogs very often. Additionally, by using the internet, people can access, read &amp; follow it worldwide.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0"/>
            <a:ext cx="12749348" cy="1115736"/>
            <a:chOff x="0" y="0"/>
            <a:chExt cx="12749348" cy="1115736"/>
          </a:xfrm>
        </p:grpSpPr>
        <p:sp>
          <p:nvSpPr>
            <p:cNvPr id="6" name="Rectangle 5"/>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8" name="TextBox 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0" name="TextBox 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13" name="Rectangle 12"/>
          <p:cNvSpPr/>
          <p:nvPr/>
        </p:nvSpPr>
        <p:spPr>
          <a:xfrm>
            <a:off x="1959661" y="6011912"/>
            <a:ext cx="8077200" cy="815608"/>
          </a:xfrm>
          <a:prstGeom prst="rect">
            <a:avLst/>
          </a:prstGeom>
        </p:spPr>
        <p:txBody>
          <a:bodyPr wrap="square">
            <a:spAutoFit/>
          </a:bodyPr>
          <a:lstStyle/>
          <a:p>
            <a:pPr algn="ctr"/>
            <a:r>
              <a:rPr lang="en-US" sz="2400" b="1" dirty="0" smtClean="0">
                <a:latin typeface="Arial" panose="020B0604020202020204" pitchFamily="34" charset="0"/>
                <a:cs typeface="Arial" panose="020B0604020202020204" pitchFamily="34" charset="0"/>
              </a:rPr>
              <a:t> </a:t>
            </a:r>
            <a:r>
              <a:rPr lang="en-US" sz="2300" b="1" dirty="0" smtClean="0">
                <a:latin typeface="Arial" panose="020B0604020202020204" pitchFamily="34" charset="0"/>
                <a:cs typeface="Arial" panose="020B0604020202020204" pitchFamily="34" charset="0"/>
              </a:rPr>
              <a:t/>
            </a:r>
            <a:br>
              <a:rPr lang="en-US" sz="2300" b="1" dirty="0" smtClean="0">
                <a:latin typeface="Arial" panose="020B0604020202020204" pitchFamily="34" charset="0"/>
                <a:cs typeface="Arial" panose="020B0604020202020204" pitchFamily="34" charset="0"/>
              </a:rPr>
            </a:br>
            <a:endParaRPr lang="en-US" sz="2300" b="1" dirty="0"/>
          </a:p>
        </p:txBody>
      </p:sp>
      <p:sp>
        <p:nvSpPr>
          <p:cNvPr id="3" name="Content Placeholder 2"/>
          <p:cNvSpPr>
            <a:spLocks noGrp="1"/>
          </p:cNvSpPr>
          <p:nvPr>
            <p:ph idx="1"/>
          </p:nvPr>
        </p:nvSpPr>
        <p:spPr/>
        <p:txBody>
          <a:bodyPr>
            <a:normAutofit lnSpcReduction="10000"/>
          </a:bodyPr>
          <a:lstStyle/>
          <a:p>
            <a:pPr marL="0" indent="0" fontAlgn="base">
              <a:buNone/>
            </a:pPr>
            <a:r>
              <a:rPr lang="en-US" b="1" dirty="0"/>
              <a:t>Video Chat</a:t>
            </a:r>
            <a:endParaRPr lang="en-US" dirty="0"/>
          </a:p>
          <a:p>
            <a:pPr fontAlgn="base"/>
            <a:r>
              <a:rPr lang="en-US" dirty="0"/>
              <a:t>This type of communication can be done by adding web cameras for video calling application. By using this application, one can communicate with others and also they can observe with whom they are speaking. The webcam can be connected to the computer externally and also we need to use applications like Skype, Hangouts, etc.</a:t>
            </a:r>
          </a:p>
          <a:p>
            <a:pPr fontAlgn="base"/>
            <a:r>
              <a:rPr lang="en-US" dirty="0"/>
              <a:t>There are many benefits to using video chatting. We can contact anybody immediately. We can communicate with more than one person at a time by using the feature like business conference feature. Also, we can share PPTs, data sheets online.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fontAlgn="base">
              <a:buNone/>
            </a:pPr>
            <a:r>
              <a:rPr lang="en-US" b="1" dirty="0"/>
              <a:t>Social Networking</a:t>
            </a:r>
            <a:endParaRPr lang="en-US" dirty="0"/>
          </a:p>
          <a:p>
            <a:pPr fontAlgn="base"/>
            <a:r>
              <a:rPr lang="en-US" dirty="0"/>
              <a:t>Social media is one kind of communication between people, which is used with their general advantage otherwise for relationships. In this, mostly Facebook, as well as LinkedIn, give places for people to work together, sometimes in real-time. There is a Micro-blogging service namely Twitter, which allows the short message of more than 140 characters to be transmitted to a huge audience</a:t>
            </a:r>
            <a:r>
              <a:rPr lang="en-US" sz="3200" dirty="0" smtClean="0"/>
              <a:t>.</a:t>
            </a:r>
            <a:r>
              <a:rPr lang="en-US" sz="3200" dirty="0"/>
              <a:t> Not like text messages, it sends to simply tiny groups. The posts like Microblog are intended to be seen by all the followers and users can repost texts that they desire to share with their followers. Therefore, a microblog post can reach rapidly and a viral post is s message which reports widely.</a:t>
            </a:r>
          </a:p>
          <a:p>
            <a:pPr marL="0" indent="0">
              <a:lnSpc>
                <a:spcPct val="150000"/>
              </a:lnSpc>
              <a:spcBef>
                <a:spcPts val="600"/>
              </a:spcBef>
              <a:buNone/>
            </a:pP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4</a:t>
            </a:fld>
            <a:endParaRPr lang="en-US"/>
          </a:p>
        </p:txBody>
      </p:sp>
    </p:spTree>
    <p:extLst>
      <p:ext uri="{BB962C8B-B14F-4D97-AF65-F5344CB8AC3E}">
        <p14:creationId xmlns:p14="http://schemas.microsoft.com/office/powerpoint/2010/main" val="23144881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fontAlgn="base">
              <a:buNone/>
            </a:pPr>
            <a:r>
              <a:rPr lang="en-US" b="1" dirty="0"/>
              <a:t>Telex</a:t>
            </a:r>
            <a:endParaRPr lang="en-US" dirty="0"/>
          </a:p>
          <a:p>
            <a:pPr fontAlgn="base"/>
            <a:r>
              <a:rPr lang="en-US" dirty="0"/>
              <a:t>This is a significant device for current electronic communication. This system uses a </a:t>
            </a:r>
            <a:r>
              <a:rPr lang="en-US" dirty="0" err="1"/>
              <a:t>teleprinter</a:t>
            </a:r>
            <a:r>
              <a:rPr lang="en-US" dirty="0"/>
              <a:t> to communicate from one position to another using a machine. It includes mainly two parts like keyboard transmitter as well as a receiver</a:t>
            </a:r>
            <a:r>
              <a:rPr lang="en-US" dirty="0" smtClean="0"/>
              <a:t>.</a:t>
            </a:r>
            <a:r>
              <a:rPr lang="en-US" dirty="0"/>
              <a:t> Whenever a text is to be sent, then the user presses a push-button, and stays for the call tone, calls the number preferred &amp; enters the massage on a tiny paper strip at the end of receiver end because it is entered within the creating office. This method is the quickest &amp; most exact methods for exchanging written posts.</a:t>
            </a:r>
          </a:p>
          <a:p>
            <a:pPr marL="0" indent="0">
              <a:lnSpc>
                <a:spcPct val="150000"/>
              </a:lnSpc>
              <a:spcBef>
                <a:spcPts val="600"/>
              </a:spcBef>
              <a:buNone/>
            </a:pP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sz="2400" b="1" dirty="0"/>
              <a:t>Fax</a:t>
            </a:r>
            <a:endParaRPr lang="en-US" sz="2400" dirty="0"/>
          </a:p>
          <a:p>
            <a:pPr marL="0" indent="0" fontAlgn="base">
              <a:buNone/>
            </a:pPr>
            <a:r>
              <a:rPr lang="en-US" sz="2400" dirty="0"/>
              <a:t>The Fax machine is a kind of communications and use of this is increasing gradually to transmit materials which are visual like illustrations, diagrams, picture, etc. Here, this machine can be connected using a telephonic.</a:t>
            </a:r>
          </a:p>
          <a:p>
            <a:pPr marL="0" indent="0" fontAlgn="base">
              <a:buNone/>
            </a:pPr>
            <a:r>
              <a:rPr lang="en-US" sz="2400" dirty="0"/>
              <a:t>The transmitted document can be fed throughout the machine, after that it is scanned electronically &amp; signals are broadcasted to the end of receiver wherever an equal document copy is replicated on a plain paper sheet using the receiving machine.</a:t>
            </a:r>
          </a:p>
          <a:p>
            <a:pPr marL="0" indent="0">
              <a:buNone/>
            </a:pPr>
            <a:r>
              <a:rPr lang="en-US" sz="2400" dirty="0" smtClean="0"/>
              <a:t>This </a:t>
            </a:r>
            <a:r>
              <a:rPr lang="en-US" sz="2400" dirty="0"/>
              <a:t>machine has made it achievable to send important documents copies which include testimonials, certificates, degrees, contracts, agreements from one location to another in a telephone call speed. Because of this reason, it is a commonly used technique for communication.</a:t>
            </a: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6</a:t>
            </a:fld>
            <a:endParaRPr lang="en-US"/>
          </a:p>
        </p:txBody>
      </p:sp>
    </p:spTree>
    <p:extLst>
      <p:ext uri="{BB962C8B-B14F-4D97-AF65-F5344CB8AC3E}">
        <p14:creationId xmlns:p14="http://schemas.microsoft.com/office/powerpoint/2010/main" val="5994017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b="1" dirty="0"/>
              <a:t>Multimedia</a:t>
            </a:r>
            <a:endParaRPr lang="en-US" dirty="0"/>
          </a:p>
          <a:p>
            <a:pPr fontAlgn="base"/>
            <a:r>
              <a:rPr lang="en-US" dirty="0"/>
              <a:t>The multimedia is one kind of communication system and it is an excellent innovation to improve the communication system. This is a blend of several media which bring mutually to transmit messages. The multimedia mainly includes a photo, graphics, voice, music, animation, and message. Whenever all these media are located jointly otherwise computer screen then becomes multimedia. This can be used efficiently for marketing and advertising campaigns. This type of communication is extremely powerful.</a:t>
            </a:r>
          </a:p>
          <a:p>
            <a:pPr fontAlgn="base"/>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7</a:t>
            </a:fld>
            <a:endParaRPr lang="en-US"/>
          </a:p>
        </p:txBody>
      </p:sp>
    </p:spTree>
    <p:extLst>
      <p:ext uri="{BB962C8B-B14F-4D97-AF65-F5344CB8AC3E}">
        <p14:creationId xmlns:p14="http://schemas.microsoft.com/office/powerpoint/2010/main" val="38463025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fontAlgn="base">
              <a:buNone/>
            </a:pPr>
            <a:endParaRPr lang="en-US" sz="3200" dirty="0" smtClean="0"/>
          </a:p>
          <a:p>
            <a:pPr marL="0" indent="0" fontAlgn="base">
              <a:buNone/>
            </a:pPr>
            <a:r>
              <a:rPr lang="en-US" sz="3200" dirty="0" smtClean="0"/>
              <a:t>Thus</a:t>
            </a:r>
            <a:r>
              <a:rPr lang="en-US" sz="3200" dirty="0"/>
              <a:t>, this is all about </a:t>
            </a:r>
            <a:r>
              <a:rPr lang="en-US" sz="3200" dirty="0">
                <a:hlinkClick r:id="rId2"/>
              </a:rPr>
              <a:t>electronic communication principles</a:t>
            </a:r>
            <a:r>
              <a:rPr lang="en-US" sz="3200" dirty="0"/>
              <a:t> which include immediate messaging, websites, social networking voicemail, e-mail, and text messaging. This communication has changed completely the way people communicate with each other. This can be used for personal, business, etc. By using this, it is extremely simple to communicate with the entire world.</a:t>
            </a:r>
          </a:p>
          <a:p>
            <a:pPr fontAlgn="base"/>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4"/>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5"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8</a:t>
            </a:fld>
            <a:endParaRPr lang="en-US"/>
          </a:p>
        </p:txBody>
      </p:sp>
    </p:spTree>
    <p:extLst>
      <p:ext uri="{BB962C8B-B14F-4D97-AF65-F5344CB8AC3E}">
        <p14:creationId xmlns:p14="http://schemas.microsoft.com/office/powerpoint/2010/main" val="1096357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777</Words>
  <Application>Microsoft Office PowerPoint</Application>
  <PresentationFormat>Custom</PresentationFormat>
  <Paragraphs>43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Technical and Business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108</cp:revision>
  <dcterms:created xsi:type="dcterms:W3CDTF">2024-06-21T09:49:00Z</dcterms:created>
  <dcterms:modified xsi:type="dcterms:W3CDTF">2024-10-09T12:10:53Z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E48CE66456BC42688DB7678D65527672_13</vt:lpwstr>
  </property>
  <property fmtid="{D5CDD505-2E9C-101B-9397-08002B2CF9AE}" pid="3" name="KSOProductBuildVer">
    <vt:lpwstr>1033-12.2.0.17562</vt:lpwstr>
  </property>
</Properties>
</file>