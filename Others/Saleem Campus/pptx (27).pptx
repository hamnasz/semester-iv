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9" r:id="rId3"/>
    <p:sldId id="812" r:id="rId4"/>
    <p:sldId id="814" r:id="rId5"/>
    <p:sldId id="854" r:id="rId6"/>
    <p:sldId id="815" r:id="rId7"/>
    <p:sldId id="845" r:id="rId8"/>
    <p:sldId id="856" r:id="rId9"/>
    <p:sldId id="857" r:id="rId10"/>
    <p:sldId id="858" r:id="rId1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1" d="100"/>
          <a:sy n="81" d="100"/>
        </p:scale>
        <p:origin x="-258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646" y="2458530"/>
            <a:ext cx="8780585" cy="1153160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Technical and Business Writing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224" y="3602038"/>
            <a:ext cx="8955024" cy="1153160"/>
          </a:xfrm>
        </p:spPr>
        <p:txBody>
          <a:bodyPr>
            <a:noAutofit/>
          </a:bodyPr>
          <a:lstStyle/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Aqsa Ashraf</a:t>
            </a:r>
          </a:p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ENG-201</a:t>
            </a:r>
          </a:p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Week 1, Lecture 1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=""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462" y="1735015"/>
            <a:ext cx="7303476" cy="4267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TECHNICAL WRITING</a:t>
            </a:r>
            <a:br>
              <a:rPr lang="en-US" sz="4800" dirty="0"/>
            </a:b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 smtClean="0"/>
              <a:t>            vs</a:t>
            </a:r>
            <a:r>
              <a:rPr lang="en-US" sz="4800" dirty="0"/>
              <a:t>.</a:t>
            </a:r>
            <a:br>
              <a:rPr lang="en-US" sz="4800" dirty="0"/>
            </a:b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ACADEMIC WRITING</a:t>
            </a:r>
            <a:r>
              <a:rPr lang="en-US" sz="1200" dirty="0"/>
              <a:t/>
            </a:r>
            <a:br>
              <a:rPr lang="en-US" sz="1200" dirty="0"/>
            </a:br>
            <a:endParaRPr lang="en-US" sz="1600" dirty="0"/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537252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2919046" y="372665"/>
            <a:ext cx="43829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4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58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sz="3200" dirty="0"/>
              <a:t>Academic writings are supposed to be written for scholars, students or the general public of a journal or magazine, </a:t>
            </a:r>
          </a:p>
          <a:p>
            <a:pPr marL="0" indent="0" algn="ctr">
              <a:buFont typeface="Wingdings 2" pitchFamily="18" charset="2"/>
              <a:buNone/>
              <a:defRPr/>
            </a:pPr>
            <a:r>
              <a:rPr lang="en-US" sz="3200" i="1" dirty="0">
                <a:solidFill>
                  <a:srgbClr val="FF0000"/>
                </a:solidFill>
              </a:rPr>
              <a:t>Whereas</a:t>
            </a:r>
          </a:p>
          <a:p>
            <a:pPr marL="0" indent="0" algn="ctr">
              <a:buFont typeface="Wingdings 2" pitchFamily="18" charset="2"/>
              <a:buNone/>
              <a:defRPr/>
            </a:pPr>
            <a:endParaRPr lang="en-US" sz="3200" i="1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US" sz="3200" dirty="0"/>
              <a:t> Technical writing is meant for the users of that particular product or the individuals who are interested to enquire about the usability of the service.</a:t>
            </a: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-29959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Rectangle 4"/>
          <p:cNvSpPr/>
          <p:nvPr/>
        </p:nvSpPr>
        <p:spPr>
          <a:xfrm>
            <a:off x="4914781" y="435610"/>
            <a:ext cx="21514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  GENERAL IDEA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67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                       Differences</a:t>
            </a:r>
          </a:p>
          <a:p>
            <a:pPr marL="514350" indent="-514350">
              <a:buFont typeface="Georgia" pitchFamily="18" charset="0"/>
              <a:buAutoNum type="arabicPeriod"/>
            </a:pPr>
            <a:r>
              <a:rPr lang="en-US" dirty="0"/>
              <a:t>Audiences</a:t>
            </a:r>
          </a:p>
          <a:p>
            <a:pPr marL="514350" indent="-514350">
              <a:buFont typeface="Georgia" pitchFamily="18" charset="0"/>
              <a:buAutoNum type="arabicPeriod"/>
            </a:pPr>
            <a:r>
              <a:rPr lang="en-US" dirty="0"/>
              <a:t>Purposes</a:t>
            </a:r>
          </a:p>
          <a:p>
            <a:pPr marL="514350" indent="-514350">
              <a:buFont typeface="Georgia" pitchFamily="18" charset="0"/>
              <a:buAutoNum type="arabicPeriod"/>
            </a:pPr>
            <a:r>
              <a:rPr lang="en-US" dirty="0"/>
              <a:t>Evaluation Criteria</a:t>
            </a:r>
          </a:p>
          <a:p>
            <a:pPr marL="514350" indent="-514350">
              <a:buFont typeface="Georgia" pitchFamily="18" charset="0"/>
              <a:buAutoNum type="arabicPeriod"/>
            </a:pPr>
            <a:r>
              <a:rPr lang="en-US" dirty="0"/>
              <a:t>Applications</a:t>
            </a:r>
          </a:p>
          <a:p>
            <a:pPr marL="514350" indent="-514350">
              <a:buFont typeface="Georgia" pitchFamily="18" charset="0"/>
              <a:buAutoNum type="arabicPeriod"/>
            </a:pPr>
            <a:r>
              <a:rPr lang="en-US" dirty="0"/>
              <a:t>Disciplines</a:t>
            </a:r>
          </a:p>
          <a:p>
            <a:pPr marL="514350" indent="-514350">
              <a:buFont typeface="Georgia" pitchFamily="18" charset="0"/>
              <a:buAutoNum type="arabicPeriod"/>
            </a:pPr>
            <a:r>
              <a:rPr lang="en-US" dirty="0"/>
              <a:t>Components</a:t>
            </a:r>
          </a:p>
          <a:p>
            <a:pPr marL="0" indent="0">
              <a:buNone/>
            </a:pPr>
            <a:endParaRPr lang="x-none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547297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977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>
                    <a:shade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3">
                    <a:shade val="75000"/>
                  </a:schemeClr>
                </a:solidFill>
              </a:rPr>
              <a:t>                                                    AUDIENCES</a:t>
            </a:r>
          </a:p>
          <a:p>
            <a:pPr marL="0" indent="0">
              <a:buNone/>
            </a:pPr>
            <a:endParaRPr lang="en-US" dirty="0" smtClean="0">
              <a:solidFill>
                <a:schemeClr val="accent3">
                  <a:shade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Rectangle 15"/>
          <p:cNvSpPr>
            <a:spLocks noGrp="1" noChangeArrowheads="1"/>
          </p:cNvSpPr>
          <p:nvPr/>
        </p:nvSpPr>
        <p:spPr bwMode="auto">
          <a:xfrm>
            <a:off x="550986" y="2250830"/>
            <a:ext cx="3341076" cy="3730869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sz="2600" u="sng" smtClean="0">
                <a:solidFill>
                  <a:srgbClr val="0033CC"/>
                </a:solidFill>
              </a:rPr>
              <a:t>Specific Audiences</a:t>
            </a:r>
          </a:p>
          <a:p>
            <a:pPr eaLnBrk="1" hangingPunct="1"/>
            <a:r>
              <a:rPr lang="en-US" sz="2600" smtClean="0"/>
              <a:t>boss</a:t>
            </a:r>
          </a:p>
          <a:p>
            <a:pPr eaLnBrk="1" hangingPunct="1"/>
            <a:r>
              <a:rPr lang="en-US" sz="2600" smtClean="0"/>
              <a:t>supervisor </a:t>
            </a:r>
          </a:p>
          <a:p>
            <a:pPr eaLnBrk="1" hangingPunct="1"/>
            <a:r>
              <a:rPr lang="en-US" sz="2600" smtClean="0"/>
              <a:t>team</a:t>
            </a:r>
          </a:p>
          <a:p>
            <a:pPr eaLnBrk="1" hangingPunct="1"/>
            <a:r>
              <a:rPr lang="en-US" sz="2600" smtClean="0"/>
              <a:t>committee</a:t>
            </a:r>
          </a:p>
          <a:p>
            <a:pPr eaLnBrk="1" hangingPunct="1"/>
            <a:r>
              <a:rPr lang="en-US" sz="2600" smtClean="0"/>
              <a:t>politicians</a:t>
            </a:r>
          </a:p>
          <a:p>
            <a:pPr eaLnBrk="1" hangingPunct="1"/>
            <a:r>
              <a:rPr lang="en-US" sz="2600" smtClean="0"/>
              <a:t>bank officers</a:t>
            </a:r>
          </a:p>
          <a:p>
            <a:pPr eaLnBrk="1" hangingPunct="1"/>
            <a:r>
              <a:rPr lang="en-US" sz="2600" smtClean="0"/>
              <a:t>general public</a:t>
            </a:r>
          </a:p>
        </p:txBody>
      </p:sp>
      <p:sp>
        <p:nvSpPr>
          <p:cNvPr id="17" name="Rectangle 16"/>
          <p:cNvSpPr>
            <a:spLocks noGrp="1" noChangeArrowheads="1"/>
          </p:cNvSpPr>
          <p:nvPr/>
        </p:nvSpPr>
        <p:spPr bwMode="auto">
          <a:xfrm>
            <a:off x="4935414" y="2708030"/>
            <a:ext cx="4888523" cy="3273669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sz="2600" u="sng" smtClean="0">
                <a:solidFill>
                  <a:srgbClr val="0033CC"/>
                </a:solidFill>
              </a:rPr>
              <a:t>General Audience</a:t>
            </a:r>
          </a:p>
          <a:p>
            <a:pPr eaLnBrk="1" hangingPunct="1"/>
            <a:r>
              <a:rPr lang="en-US" sz="2600" smtClean="0"/>
              <a:t>generic reader</a:t>
            </a:r>
          </a:p>
          <a:p>
            <a:pPr eaLnBrk="1" hangingPunct="1"/>
            <a:r>
              <a:rPr lang="en-US" sz="2600" smtClean="0"/>
              <a:t>teacher</a:t>
            </a:r>
          </a:p>
          <a:p>
            <a:pPr eaLnBrk="1" hangingPunct="1"/>
            <a:r>
              <a:rPr lang="en-US" sz="2600" smtClean="0"/>
              <a:t>perhaps fellow students</a:t>
            </a:r>
          </a:p>
        </p:txBody>
      </p:sp>
    </p:spTree>
    <p:extLst>
      <p:ext uri="{BB962C8B-B14F-4D97-AF65-F5344CB8AC3E}">
        <p14:creationId xmlns:p14="http://schemas.microsoft.com/office/powerpoint/2010/main" val="2154884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2400" u="sng" dirty="0">
                <a:solidFill>
                  <a:srgbClr val="0033CC"/>
                </a:solidFill>
              </a:rPr>
              <a:t>1 Document = Many Readers</a:t>
            </a:r>
            <a:r>
              <a:rPr lang="en-US" sz="2400" dirty="0">
                <a:solidFill>
                  <a:srgbClr val="0033CC"/>
                </a:solidFill>
              </a:rPr>
              <a:t>:</a:t>
            </a:r>
            <a:r>
              <a:rPr lang="en-US" dirty="0"/>
              <a:t>  </a:t>
            </a:r>
            <a:endParaRPr lang="en-US" dirty="0" smtClean="0"/>
          </a:p>
          <a:p>
            <a:pPr algn="ctr">
              <a:buNone/>
            </a:pPr>
            <a:r>
              <a:rPr lang="en-US" sz="2000" dirty="0" smtClean="0"/>
              <a:t>(</a:t>
            </a:r>
            <a:r>
              <a:rPr lang="en-US" sz="2000" dirty="0"/>
              <a:t>Many Readers = Many Needs)</a:t>
            </a:r>
          </a:p>
          <a:p>
            <a:r>
              <a:rPr lang="en-US" dirty="0"/>
              <a:t>boss, supervisor </a:t>
            </a:r>
          </a:p>
          <a:p>
            <a:r>
              <a:rPr lang="en-US" dirty="0"/>
              <a:t>team</a:t>
            </a:r>
          </a:p>
          <a:p>
            <a:r>
              <a:rPr lang="en-US" dirty="0"/>
              <a:t>engineers</a:t>
            </a:r>
          </a:p>
          <a:p>
            <a:r>
              <a:rPr lang="en-US" dirty="0"/>
              <a:t>workers</a:t>
            </a:r>
          </a:p>
          <a:p>
            <a:r>
              <a:rPr lang="en-US" dirty="0"/>
              <a:t>politicians </a:t>
            </a:r>
          </a:p>
          <a:p>
            <a:r>
              <a:rPr lang="en-US" dirty="0"/>
              <a:t>bank officers</a:t>
            </a:r>
          </a:p>
          <a:p>
            <a:r>
              <a:rPr lang="en-US" dirty="0"/>
              <a:t>general public</a:t>
            </a:r>
          </a:p>
          <a:p>
            <a:endParaRPr lang="x-none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6" name="Rectangle 15"/>
          <p:cNvSpPr>
            <a:spLocks noGrp="1" noChangeArrowheads="1"/>
          </p:cNvSpPr>
          <p:nvPr/>
        </p:nvSpPr>
        <p:spPr bwMode="auto">
          <a:xfrm>
            <a:off x="9120554" y="2461845"/>
            <a:ext cx="2325592" cy="3307923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sz="2000" u="sng" smtClean="0">
                <a:solidFill>
                  <a:srgbClr val="0033CC"/>
                </a:solidFill>
              </a:rPr>
              <a:t>1 Document = 1 Reader</a:t>
            </a:r>
            <a:r>
              <a:rPr lang="en-US" sz="2000" smtClean="0">
                <a:solidFill>
                  <a:srgbClr val="0033CC"/>
                </a:solidFill>
              </a:rPr>
              <a:t>:</a:t>
            </a:r>
          </a:p>
          <a:p>
            <a:pPr algn="ctr" eaLnBrk="1" hangingPunct="1">
              <a:buFontTx/>
              <a:buNone/>
            </a:pPr>
            <a:r>
              <a:rPr lang="en-US" sz="1900" smtClean="0"/>
              <a:t>(1 Reader = 1 Need)</a:t>
            </a:r>
          </a:p>
          <a:p>
            <a:pPr eaLnBrk="1" hangingPunct="1"/>
            <a:r>
              <a:rPr lang="en-US" sz="2600" smtClean="0"/>
              <a:t>teacher</a:t>
            </a:r>
          </a:p>
          <a:p>
            <a:pPr eaLnBrk="1" hangingPunct="1">
              <a:buFontTx/>
              <a:buNone/>
            </a:pPr>
            <a:r>
              <a:rPr lang="en-US" sz="260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5015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                                              PURPOSES</a:t>
            </a:r>
          </a:p>
          <a:p>
            <a:pPr marL="0" indent="0">
              <a:buNone/>
            </a:pPr>
            <a:endParaRPr lang="x-none" sz="32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6" name="Rectangle 15"/>
          <p:cNvSpPr>
            <a:spLocks noGrp="1" noChangeArrowheads="1"/>
          </p:cNvSpPr>
          <p:nvPr/>
        </p:nvSpPr>
        <p:spPr bwMode="auto">
          <a:xfrm>
            <a:off x="662731" y="2438400"/>
            <a:ext cx="4214070" cy="3619500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sz="2600" u="sng" smtClean="0">
                <a:solidFill>
                  <a:srgbClr val="0033CC"/>
                </a:solidFill>
              </a:rPr>
              <a:t>Situation-Oriented</a:t>
            </a:r>
          </a:p>
          <a:p>
            <a:pPr eaLnBrk="1" hangingPunct="1"/>
            <a:r>
              <a:rPr lang="en-US" sz="2600" smtClean="0"/>
              <a:t>see a need — </a:t>
            </a:r>
          </a:p>
          <a:p>
            <a:pPr eaLnBrk="1" hangingPunct="1"/>
            <a:r>
              <a:rPr lang="en-US" sz="2600" smtClean="0"/>
              <a:t>address a need</a:t>
            </a:r>
          </a:p>
          <a:p>
            <a:pPr eaLnBrk="1" hangingPunct="1"/>
            <a:r>
              <a:rPr lang="en-US" sz="2600" smtClean="0"/>
              <a:t>internal motivation</a:t>
            </a:r>
          </a:p>
          <a:p>
            <a:pPr eaLnBrk="1" hangingPunct="1"/>
            <a:r>
              <a:rPr lang="en-US" sz="2600" smtClean="0"/>
              <a:t>professional motivation</a:t>
            </a:r>
          </a:p>
          <a:p>
            <a:pPr eaLnBrk="1" hangingPunct="1"/>
            <a:r>
              <a:rPr lang="en-US" sz="2600" smtClean="0"/>
              <a:t>outcome-oriented: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9876" y="2413338"/>
            <a:ext cx="397412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u="sng" dirty="0">
                <a:solidFill>
                  <a:srgbClr val="0033CC"/>
                </a:solidFill>
              </a:rPr>
              <a:t>Assignment-Oriented</a:t>
            </a:r>
          </a:p>
          <a:p>
            <a:r>
              <a:rPr lang="en-US" dirty="0"/>
              <a:t>passive (vs. active)</a:t>
            </a:r>
          </a:p>
          <a:p>
            <a:r>
              <a:rPr lang="en-US" dirty="0"/>
              <a:t>given a topic, test</a:t>
            </a:r>
          </a:p>
          <a:p>
            <a:r>
              <a:rPr lang="en-US" dirty="0"/>
              <a:t>given an assignment</a:t>
            </a:r>
          </a:p>
          <a:p>
            <a:r>
              <a:rPr lang="en-US" dirty="0"/>
              <a:t>external motivation</a:t>
            </a:r>
          </a:p>
          <a:p>
            <a:r>
              <a:rPr lang="en-US" dirty="0"/>
              <a:t>scholastic motivation</a:t>
            </a:r>
          </a:p>
          <a:p>
            <a:r>
              <a:rPr lang="en-US" dirty="0"/>
              <a:t>grade-oriented</a:t>
            </a:r>
          </a:p>
        </p:txBody>
      </p:sp>
    </p:spTree>
    <p:extLst>
      <p:ext uri="{BB962C8B-B14F-4D97-AF65-F5344CB8AC3E}">
        <p14:creationId xmlns:p14="http://schemas.microsoft.com/office/powerpoint/2010/main" val="2965530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 EVALUATION CRITERIA</a:t>
            </a:r>
          </a:p>
          <a:p>
            <a:pPr marL="0" indent="0">
              <a:buNone/>
            </a:pPr>
            <a:r>
              <a:rPr lang="en-US" u="sng" dirty="0" smtClean="0">
                <a:solidFill>
                  <a:srgbClr val="0033CC"/>
                </a:solidFill>
              </a:rPr>
              <a:t>Success</a:t>
            </a:r>
            <a:endParaRPr lang="en-US" u="sng" dirty="0">
              <a:solidFill>
                <a:srgbClr val="0033CC"/>
              </a:solidFill>
            </a:endParaRPr>
          </a:p>
          <a:p>
            <a:r>
              <a:rPr lang="en-US" dirty="0"/>
              <a:t>satisfaction of the needs of all readers</a:t>
            </a:r>
          </a:p>
          <a:p>
            <a:r>
              <a:rPr lang="en-US" dirty="0"/>
              <a:t>something was done</a:t>
            </a:r>
          </a:p>
          <a:p>
            <a:r>
              <a:rPr lang="en-US" dirty="0"/>
              <a:t>informed</a:t>
            </a:r>
          </a:p>
          <a:p>
            <a:r>
              <a:rPr lang="en-US" dirty="0" smtClean="0"/>
              <a:t>Persuaded</a:t>
            </a:r>
          </a:p>
          <a:p>
            <a:r>
              <a:rPr lang="en-US" u="sng" dirty="0" smtClean="0">
                <a:solidFill>
                  <a:srgbClr val="0033CC"/>
                </a:solidFill>
              </a:rPr>
              <a:t>Success</a:t>
            </a:r>
            <a:endParaRPr lang="en-US" u="sng" dirty="0">
              <a:solidFill>
                <a:srgbClr val="0033CC"/>
              </a:solidFill>
            </a:endParaRPr>
          </a:p>
          <a:p>
            <a:r>
              <a:rPr lang="en-US" dirty="0"/>
              <a:t>correct answer</a:t>
            </a:r>
          </a:p>
          <a:p>
            <a:r>
              <a:rPr lang="en-US" dirty="0"/>
              <a:t>right information</a:t>
            </a:r>
          </a:p>
          <a:p>
            <a:r>
              <a:rPr lang="en-US" dirty="0"/>
              <a:t>unity, coherence</a:t>
            </a:r>
          </a:p>
          <a:p>
            <a:r>
              <a:rPr lang="en-US" dirty="0"/>
              <a:t>support, detail</a:t>
            </a:r>
          </a:p>
          <a:p>
            <a:r>
              <a:rPr lang="en-US" dirty="0"/>
              <a:t>grammar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03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          APPLICATIONS</a:t>
            </a:r>
          </a:p>
          <a:p>
            <a:pPr algn="ctr">
              <a:buNone/>
            </a:pPr>
            <a:r>
              <a:rPr lang="en-US" u="sng" dirty="0">
                <a:solidFill>
                  <a:srgbClr val="0033CC"/>
                </a:solidFill>
              </a:rPr>
              <a:t>Real-World Applications</a:t>
            </a:r>
          </a:p>
          <a:p>
            <a:r>
              <a:rPr lang="en-US" dirty="0"/>
              <a:t>case studies</a:t>
            </a:r>
          </a:p>
          <a:p>
            <a:r>
              <a:rPr lang="en-US" dirty="0"/>
              <a:t>illustrative scenarios</a:t>
            </a:r>
          </a:p>
          <a:p>
            <a:r>
              <a:rPr lang="en-US" dirty="0"/>
              <a:t>operations management</a:t>
            </a:r>
          </a:p>
          <a:p>
            <a:r>
              <a:rPr lang="en-US" dirty="0"/>
              <a:t>for a job</a:t>
            </a:r>
          </a:p>
          <a:p>
            <a:r>
              <a:rPr lang="en-US" dirty="0"/>
              <a:t>for a raise or promotion</a:t>
            </a:r>
          </a:p>
          <a:p>
            <a:r>
              <a:rPr lang="en-US" dirty="0"/>
              <a:t>for a </a:t>
            </a:r>
            <a:r>
              <a:rPr lang="en-US" dirty="0" smtClean="0"/>
              <a:t>bid</a:t>
            </a:r>
          </a:p>
          <a:p>
            <a:r>
              <a:rPr lang="en-US" i="1" dirty="0" smtClean="0"/>
              <a:t>practical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2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          APPLICATIONS</a:t>
            </a:r>
          </a:p>
          <a:p>
            <a:pPr marL="0" indent="0">
              <a:buNone/>
            </a:pPr>
            <a:r>
              <a:rPr lang="en-US" u="sng" dirty="0" smtClean="0">
                <a:solidFill>
                  <a:srgbClr val="0033CC"/>
                </a:solidFill>
              </a:rPr>
              <a:t>College </a:t>
            </a:r>
            <a:r>
              <a:rPr lang="en-US" u="sng" dirty="0">
                <a:solidFill>
                  <a:srgbClr val="0033CC"/>
                </a:solidFill>
              </a:rPr>
              <a:t>Application</a:t>
            </a:r>
          </a:p>
          <a:p>
            <a:r>
              <a:rPr lang="en-US" dirty="0"/>
              <a:t>“academic” writing</a:t>
            </a:r>
          </a:p>
          <a:p>
            <a:r>
              <a:rPr lang="en-US" dirty="0"/>
              <a:t>essays</a:t>
            </a:r>
          </a:p>
          <a:p>
            <a:r>
              <a:rPr lang="en-US" dirty="0"/>
              <a:t>essay exams</a:t>
            </a:r>
          </a:p>
          <a:p>
            <a:r>
              <a:rPr lang="en-US" dirty="0"/>
              <a:t>for academics</a:t>
            </a:r>
          </a:p>
          <a:p>
            <a:r>
              <a:rPr lang="en-US" dirty="0"/>
              <a:t>for grade</a:t>
            </a:r>
          </a:p>
          <a:p>
            <a:r>
              <a:rPr lang="en-US" dirty="0"/>
              <a:t>for degree</a:t>
            </a:r>
          </a:p>
          <a:p>
            <a:r>
              <a:rPr lang="en-US" dirty="0"/>
              <a:t>“show what you know”</a:t>
            </a:r>
          </a:p>
          <a:p>
            <a:pPr>
              <a:buFont typeface="Wingdings" pitchFamily="2" charset="2"/>
              <a:buChar char="v"/>
            </a:pPr>
            <a:r>
              <a:rPr lang="en-US" i="1" dirty="0"/>
              <a:t>demonstrative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067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368</Words>
  <Application>Microsoft Office PowerPoint</Application>
  <PresentationFormat>Custom</PresentationFormat>
  <Paragraphs>106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Technical and Business Writing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One</cp:lastModifiedBy>
  <cp:revision>66</cp:revision>
  <dcterms:created xsi:type="dcterms:W3CDTF">2024-06-21T09:49:54Z</dcterms:created>
  <dcterms:modified xsi:type="dcterms:W3CDTF">2024-10-09T07:30:51Z</dcterms:modified>
</cp:coreProperties>
</file>