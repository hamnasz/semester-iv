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12"/>
  </p:notesMasterIdLst>
  <p:sldIdLst>
    <p:sldId id="273" r:id="rId2"/>
    <p:sldId id="870" r:id="rId3"/>
    <p:sldId id="261" r:id="rId4"/>
    <p:sldId id="821" r:id="rId5"/>
    <p:sldId id="820" r:id="rId6"/>
    <p:sldId id="863" r:id="rId7"/>
    <p:sldId id="864" r:id="rId8"/>
    <p:sldId id="866" r:id="rId9"/>
    <p:sldId id="872" r:id="rId10"/>
    <p:sldId id="874"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D32A2A"/>
    <a:srgbClr val="C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717" autoAdjust="0"/>
    <p:restoredTop sz="97691" autoAdjust="0"/>
  </p:normalViewPr>
  <p:slideViewPr>
    <p:cSldViewPr snapToGrid="0" showGuides="1">
      <p:cViewPr>
        <p:scale>
          <a:sx n="70" d="100"/>
          <a:sy n="70" d="100"/>
        </p:scale>
        <p:origin x="-714" y="-13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t>10/15/2024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t>‹#›</a:t>
            </a:fld>
            <a:endParaRPr lang="en-US"/>
          </a:p>
        </p:txBody>
      </p:sp>
    </p:spTree>
    <p:extLst>
      <p:ext uri="{BB962C8B-B14F-4D97-AF65-F5344CB8AC3E}">
        <p14:creationId xmlns:p14="http://schemas.microsoft.com/office/powerpoint/2010/main" val="15064021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3237A82C-AEEE-48DB-A866-3B1CA0AC9D5D}" type="datetimeFigureOut">
              <a:rPr lang="en-US" smtClean="0"/>
              <a:t>10/15/2024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EB9F7D7-3C9C-4146-9FA1-B77DEB44278D}" type="slidenum">
              <a:rPr lang="en-US" smtClean="0"/>
              <a:t>‹#›</a:t>
            </a:fld>
            <a:endParaRPr lang="en-US"/>
          </a:p>
        </p:txBody>
      </p:sp>
    </p:spTree>
  </p:cSld>
  <p:clrMapOvr>
    <a:masterClrMapping/>
  </p:clrMapOvr>
  <p:hf hd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237A82C-AEEE-48DB-A866-3B1CA0AC9D5D}" type="datetimeFigureOut">
              <a:rPr lang="en-US" smtClean="0"/>
              <a:t>10/15/2024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EB9F7D7-3C9C-4146-9FA1-B77DEB44278D}" type="slidenum">
              <a:rPr lang="en-US" smtClean="0"/>
              <a:t>‹#›</a:t>
            </a:fld>
            <a:endParaRPr lang="en-US"/>
          </a:p>
        </p:txBody>
      </p:sp>
    </p:spTree>
  </p:cSld>
  <p:clrMapOvr>
    <a:masterClrMapping/>
  </p:clrMapOvr>
  <p:hf hd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237A82C-AEEE-48DB-A866-3B1CA0AC9D5D}" type="datetimeFigureOut">
              <a:rPr lang="en-US" smtClean="0"/>
              <a:t>10/15/2024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EB9F7D7-3C9C-4146-9FA1-B77DEB44278D}" type="slidenum">
              <a:rPr lang="en-US" smtClean="0"/>
              <a:t>‹#›</a:t>
            </a:fld>
            <a:endParaRPr lang="en-US"/>
          </a:p>
        </p:txBody>
      </p:sp>
    </p:spTree>
  </p:cSld>
  <p:clrMapOvr>
    <a:masterClrMapping/>
  </p:clrMapOvr>
  <p:hf hd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3237A82C-AEEE-48DB-A866-3B1CA0AC9D5D}" type="datetimeFigureOut">
              <a:rPr lang="en-US" smtClean="0"/>
              <a:t>10/15/2024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EB9F7D7-3C9C-4146-9FA1-B77DEB44278D}" type="slidenum">
              <a:rPr lang="en-US" smtClean="0"/>
              <a:t>‹#›</a:t>
            </a:fld>
            <a:endParaRPr lang="en-US"/>
          </a:p>
        </p:txBody>
      </p:sp>
    </p:spTree>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3237A82C-AEEE-48DB-A866-3B1CA0AC9D5D}" type="datetimeFigureOut">
              <a:rPr lang="en-US" smtClean="0"/>
              <a:t>10/15/2024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EB9F7D7-3C9C-4146-9FA1-B77DEB44278D}" type="slidenum">
              <a:rPr lang="en-US" smtClean="0"/>
              <a:t>‹#›</a:t>
            </a:fld>
            <a:endParaRPr lang="en-US"/>
          </a:p>
        </p:txBody>
      </p:sp>
    </p:spTree>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3237A82C-AEEE-48DB-A866-3B1CA0AC9D5D}" type="datetimeFigureOut">
              <a:rPr lang="en-US" smtClean="0"/>
              <a:t>10/15/2024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EB9F7D7-3C9C-4146-9FA1-B77DEB44278D}" type="slidenum">
              <a:rPr lang="en-US" smtClean="0"/>
              <a:t>‹#›</a:t>
            </a:fld>
            <a:endParaRPr lang="en-US"/>
          </a:p>
        </p:txBody>
      </p:sp>
    </p:spTree>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237A82C-AEEE-48DB-A866-3B1CA0AC9D5D}" type="datetimeFigureOut">
              <a:rPr lang="en-US" smtClean="0"/>
              <a:t>10/15/2024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EB9F7D7-3C9C-4146-9FA1-B77DEB44278D}" type="slidenum">
              <a:rPr lang="en-US" smtClean="0"/>
              <a:t>‹#›</a:t>
            </a:fld>
            <a:endParaRPr lang="en-US"/>
          </a:p>
        </p:txBody>
      </p:sp>
    </p:spTree>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237A82C-AEEE-48DB-A866-3B1CA0AC9D5D}" type="datetimeFigureOut">
              <a:rPr lang="en-US" smtClean="0"/>
              <a:t>10/15/2024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EB9F7D7-3C9C-4146-9FA1-B77DEB44278D}" type="slidenum">
              <a:rPr lang="en-US" smtClean="0"/>
              <a:t>‹#›</a:t>
            </a:fld>
            <a:endParaRPr lang="en-US"/>
          </a:p>
        </p:txBody>
      </p:sp>
    </p:spTree>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237A82C-AEEE-48DB-A866-3B1CA0AC9D5D}" type="datetimeFigureOut">
              <a:rPr lang="en-US" smtClean="0"/>
              <a:t>10/15/2024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EB9F7D7-3C9C-4146-9FA1-B77DEB44278D}" type="slidenum">
              <a:rPr lang="en-US" smtClean="0"/>
              <a:t>‹#›</a:t>
            </a:fld>
            <a:endParaRPr lang="en-US"/>
          </a:p>
        </p:txBody>
      </p:sp>
    </p:spTree>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237A82C-AEEE-48DB-A866-3B1CA0AC9D5D}" type="datetimeFigureOut">
              <a:rPr lang="en-US" smtClean="0"/>
              <a:t>10/15/2024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EB9F7D7-3C9C-4146-9FA1-B77DEB44278D}" type="slidenum">
              <a:rPr lang="en-US" smtClean="0"/>
              <a:t>‹#›</a:t>
            </a:fld>
            <a:endParaRPr lang="en-US"/>
          </a:p>
        </p:txBody>
      </p:sp>
    </p:spTree>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237A82C-AEEE-48DB-A866-3B1CA0AC9D5D}" type="datetimeFigureOut">
              <a:rPr lang="en-US" smtClean="0"/>
              <a:t>10/15/2024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EB9F7D7-3C9C-4146-9FA1-B77DEB44278D}" type="slidenum">
              <a:rPr lang="en-US" smtClean="0"/>
              <a:t>‹#›</a:t>
            </a:fld>
            <a:endParaRPr lang="en-US"/>
          </a:p>
        </p:txBody>
      </p:sp>
    </p:spTree>
  </p:cSld>
  <p:clrMapOvr>
    <a:masterClrMapping/>
  </p:clrMapOvr>
  <p:hf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237A82C-AEEE-48DB-A866-3B1CA0AC9D5D}" type="datetimeFigureOut">
              <a:rPr lang="en-US" smtClean="0"/>
              <a:t>10/15/2024</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EB9F7D7-3C9C-4146-9FA1-B77DEB44278D}"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11.svg"/><Relationship Id="rId3" Type="http://schemas.openxmlformats.org/officeDocument/2006/relationships/image" Target="../media/image5.svg"/><Relationship Id="rId7" Type="http://schemas.openxmlformats.org/officeDocument/2006/relationships/image" Target="../media/image6.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7.svg"/><Relationship Id="rId4" Type="http://schemas.openxmlformats.org/officeDocument/2006/relationships/image" Target="../media/image4.png"/><Relationship Id="rId9" Type="http://schemas.openxmlformats.org/officeDocument/2006/relationships/image" Target="../media/image7.png"/></Relationships>
</file>

<file path=ppt/slides/_rels/slide3.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3.png"/><Relationship Id="rId7" Type="http://schemas.openxmlformats.org/officeDocument/2006/relationships/image" Target="../media/image5.png"/><Relationship Id="rId2" Type="http://schemas.openxmlformats.org/officeDocument/2006/relationships/hyperlink" Target="https://www.elprocus.com/what-is-a-communication-system-and-its-basic-elements/" TargetMode="External"/><Relationship Id="rId1" Type="http://schemas.openxmlformats.org/officeDocument/2006/relationships/slideLayout" Target="../slideLayouts/slideLayout2.xml"/><Relationship Id="rId6" Type="http://schemas.openxmlformats.org/officeDocument/2006/relationships/image" Target="../media/image7.svg"/><Relationship Id="rId5" Type="http://schemas.openxmlformats.org/officeDocument/2006/relationships/image" Target="../media/image4.png"/><Relationship Id="rId4" Type="http://schemas.openxmlformats.org/officeDocument/2006/relationships/image" Target="../media/image5.svg"/></Relationships>
</file>

<file path=ppt/slides/_rels/slide4.xml.rels><?xml version="1.0" encoding="UTF-8" standalone="yes"?>
<Relationships xmlns="http://schemas.openxmlformats.org/package/2006/relationships"><Relationship Id="rId3" Type="http://schemas.openxmlformats.org/officeDocument/2006/relationships/image" Target="../media/image5.svg"/><Relationship Id="rId7" Type="http://schemas.openxmlformats.org/officeDocument/2006/relationships/image" Target="../media/image7.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7.sv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5.png"/><Relationship Id="rId2" Type="http://schemas.openxmlformats.org/officeDocument/2006/relationships/hyperlink" Target="https://www.elprocus.com/types-of-wireless-communication-applications/" TargetMode="External"/><Relationship Id="rId1" Type="http://schemas.openxmlformats.org/officeDocument/2006/relationships/slideLayout" Target="../slideLayouts/slideLayout2.xml"/><Relationship Id="rId6" Type="http://schemas.openxmlformats.org/officeDocument/2006/relationships/image" Target="../media/image7.svg"/><Relationship Id="rId5" Type="http://schemas.openxmlformats.org/officeDocument/2006/relationships/image" Target="../media/image4.png"/><Relationship Id="rId4" Type="http://schemas.openxmlformats.org/officeDocument/2006/relationships/image" Target="../media/image5.sv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10.png"/><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7.svg"/><Relationship Id="rId5" Type="http://schemas.openxmlformats.org/officeDocument/2006/relationships/image" Target="../media/image9.png"/><Relationship Id="rId4" Type="http://schemas.openxmlformats.org/officeDocument/2006/relationships/image" Target="../media/image5.sv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10.png"/><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7.svg"/><Relationship Id="rId5" Type="http://schemas.openxmlformats.org/officeDocument/2006/relationships/image" Target="../media/image9.png"/><Relationship Id="rId4" Type="http://schemas.openxmlformats.org/officeDocument/2006/relationships/image" Target="../media/image5.svg"/></Relationships>
</file>

<file path=ppt/slides/_rels/slide8.xml.rels><?xml version="1.0" encoding="UTF-8" standalone="yes"?>
<Relationships xmlns="http://schemas.openxmlformats.org/package/2006/relationships"><Relationship Id="rId8" Type="http://schemas.openxmlformats.org/officeDocument/2006/relationships/hyperlink" Target="https://www.elprocus.com/an-overview-of-li-fi-technology-and-its-benefits/" TargetMode="External"/><Relationship Id="rId3" Type="http://schemas.openxmlformats.org/officeDocument/2006/relationships/image" Target="../media/image3.png"/><Relationship Id="rId7" Type="http://schemas.openxmlformats.org/officeDocument/2006/relationships/image" Target="../media/image10.png"/><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7.svg"/><Relationship Id="rId5" Type="http://schemas.openxmlformats.org/officeDocument/2006/relationships/image" Target="../media/image9.png"/><Relationship Id="rId4" Type="http://schemas.openxmlformats.org/officeDocument/2006/relationships/image" Target="../media/image5.svg"/><Relationship Id="rId9" Type="http://schemas.openxmlformats.org/officeDocument/2006/relationships/hyperlink" Target="https://www.elprocus.com/future-technology-internet-of-things/" TargetMode="Externa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hyperlink" Target="https://en.wikipedia.org/wiki/Communications-electronics" TargetMode="Externa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4.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12192000" cy="7016750"/>
          </a:xfrm>
          <a:prstGeom prst="rect">
            <a:avLst/>
          </a:prstGeom>
          <a:solidFill>
            <a:srgbClr val="D32A2A"/>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 name="Title 1"/>
          <p:cNvSpPr>
            <a:spLocks noGrp="1"/>
          </p:cNvSpPr>
          <p:nvPr>
            <p:ph type="ctrTitle"/>
          </p:nvPr>
        </p:nvSpPr>
        <p:spPr>
          <a:xfrm>
            <a:off x="679450" y="2449195"/>
            <a:ext cx="8822055" cy="1153160"/>
          </a:xfrm>
        </p:spPr>
        <p:txBody>
          <a:bodyPr>
            <a:normAutofit fontScale="90000"/>
          </a:bodyPr>
          <a:lstStyle/>
          <a:p>
            <a:r>
              <a:rPr lang="en-US" altLang="en-GB" b="1" dirty="0" smtClean="0">
                <a:solidFill>
                  <a:schemeClr val="bg1"/>
                </a:solidFill>
              </a:rPr>
              <a:t>Technical and Business Writing</a:t>
            </a:r>
            <a:endParaRPr lang="en-US" altLang="en-GB" b="1" dirty="0">
              <a:solidFill>
                <a:schemeClr val="bg1"/>
              </a:solidFill>
            </a:endParaRPr>
          </a:p>
        </p:txBody>
      </p:sp>
      <p:sp>
        <p:nvSpPr>
          <p:cNvPr id="3" name="Subtitle 2"/>
          <p:cNvSpPr>
            <a:spLocks noGrp="1"/>
          </p:cNvSpPr>
          <p:nvPr>
            <p:ph type="subTitle" idx="1"/>
          </p:nvPr>
        </p:nvSpPr>
        <p:spPr>
          <a:xfrm>
            <a:off x="1158494" y="3602038"/>
            <a:ext cx="8955024" cy="1153160"/>
          </a:xfrm>
        </p:spPr>
        <p:txBody>
          <a:bodyPr>
            <a:noAutofit/>
          </a:bodyPr>
          <a:lstStyle/>
          <a:p>
            <a:pPr algn="l"/>
            <a:r>
              <a:rPr lang="en-US" altLang="en-GB" sz="2800" b="1" dirty="0">
                <a:solidFill>
                  <a:schemeClr val="bg1"/>
                </a:solidFill>
                <a:latin typeface="Bahnschrift" panose="020B0502040204020203" pitchFamily="34" charset="0"/>
              </a:rPr>
              <a:t>                   </a:t>
            </a:r>
          </a:p>
        </p:txBody>
      </p:sp>
      <p:sp>
        <p:nvSpPr>
          <p:cNvPr id="5" name="Subtitle 2"/>
          <p:cNvSpPr txBox="1"/>
          <p:nvPr/>
        </p:nvSpPr>
        <p:spPr>
          <a:xfrm>
            <a:off x="1158240" y="5331778"/>
            <a:ext cx="2828544" cy="719138"/>
          </a:xfrm>
          <a:prstGeom prst="rect">
            <a:avLst/>
          </a:prstGeom>
          <a:noFill/>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2000" b="1" dirty="0" smtClean="0">
                <a:solidFill>
                  <a:schemeClr val="bg1"/>
                </a:solidFill>
                <a:latin typeface="Arial" panose="020B0604020202020204" pitchFamily="34" charset="0"/>
                <a:cs typeface="Arial" panose="020B0604020202020204" pitchFamily="34" charset="0"/>
              </a:rPr>
              <a:t>Aqsa Ashraf</a:t>
            </a:r>
          </a:p>
          <a:p>
            <a:pPr algn="l"/>
            <a:r>
              <a:rPr lang="en-US" sz="2000" b="1" dirty="0" smtClean="0">
                <a:solidFill>
                  <a:schemeClr val="bg1"/>
                </a:solidFill>
                <a:latin typeface="Arial" panose="020B0604020202020204" pitchFamily="34" charset="0"/>
                <a:cs typeface="Arial" panose="020B0604020202020204" pitchFamily="34" charset="0"/>
              </a:rPr>
              <a:t>ENG-201</a:t>
            </a:r>
          </a:p>
          <a:p>
            <a:pPr algn="l"/>
            <a:r>
              <a:rPr lang="en-US" sz="2000" b="1" dirty="0" smtClean="0">
                <a:solidFill>
                  <a:schemeClr val="bg1"/>
                </a:solidFill>
                <a:latin typeface="Arial" panose="020B0604020202020204" pitchFamily="34" charset="0"/>
                <a:cs typeface="Arial" panose="020B0604020202020204" pitchFamily="34" charset="0"/>
              </a:rPr>
              <a:t>Week2, Lecture 3</a:t>
            </a:r>
            <a:endParaRPr lang="en-GB" sz="2000" b="1" dirty="0">
              <a:solidFill>
                <a:schemeClr val="bg1"/>
              </a:solidFill>
              <a:latin typeface="Arial" panose="020B0604020202020204" pitchFamily="34" charset="0"/>
              <a:cs typeface="Arial" panose="020B0604020202020204" pitchFamily="34" charset="0"/>
            </a:endParaRPr>
          </a:p>
        </p:txBody>
      </p:sp>
      <p:pic>
        <p:nvPicPr>
          <p:cNvPr id="10" name="Graphic 9"/>
          <p:cNvPicPr>
            <a:picLocks noChangeAspect="1"/>
          </p:cNvPicPr>
          <p:nvPr/>
        </p:nvPicPr>
        <p:blipFill>
          <a:blip r:embed="rId2">
            <a:extLst>
              <a:ext uri="{96DAC541-7B7A-43D3-8B79-37D633B846F1}">
                <asvg:svgBlip xmlns:asvg="http://schemas.microsoft.com/office/drawing/2016/SVG/main" xmlns="" r:embed="rId3"/>
              </a:ext>
            </a:extLst>
          </a:blip>
          <a:stretch>
            <a:fillRect/>
          </a:stretch>
        </p:blipFill>
        <p:spPr>
          <a:xfrm>
            <a:off x="8362283" y="-9525"/>
            <a:ext cx="3611690" cy="3611690"/>
          </a:xfrm>
          <a:prstGeom prst="rect">
            <a:avLst/>
          </a:prstGeom>
        </p:spPr>
      </p:pic>
      <p:pic>
        <p:nvPicPr>
          <p:cNvPr id="6" name="Picture 5" descr="Department of English Language and Literature"/>
          <p:cNvPicPr>
            <a:picLocks noChangeAspect="1"/>
          </p:cNvPicPr>
          <p:nvPr/>
        </p:nvPicPr>
        <p:blipFill>
          <a:blip r:embed="rId4" cstate="print"/>
          <a:stretch>
            <a:fillRect/>
          </a:stretch>
        </p:blipFill>
        <p:spPr>
          <a:xfrm>
            <a:off x="309245" y="259715"/>
            <a:ext cx="2382520" cy="1418590"/>
          </a:xfrm>
          <a:prstGeom prst="rect">
            <a:avLst/>
          </a:prstGeom>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1"/>
          <p:cNvSpPr>
            <a:spLocks noGrp="1"/>
          </p:cNvSpPr>
          <p:nvPr>
            <p:ph idx="1"/>
          </p:nvPr>
        </p:nvSpPr>
        <p:spPr>
          <a:xfrm>
            <a:off x="906145" y="2223135"/>
            <a:ext cx="9000490" cy="2294274"/>
          </a:xfrm>
        </p:spPr>
        <p:txBody>
          <a:bodyPr/>
          <a:lstStyle/>
          <a:p>
            <a:pPr marL="0" indent="0" algn="l">
              <a:lnSpc>
                <a:spcPct val="110000"/>
              </a:lnSpc>
              <a:buNone/>
            </a:pPr>
            <a:r>
              <a:rPr lang="en-GB" sz="5400" dirty="0" smtClean="0">
                <a:latin typeface="Arial" panose="020B0604020202020204" pitchFamily="34" charset="0"/>
                <a:ea typeface="Arial" panose="020B0604020202020204" pitchFamily="34" charset="0"/>
                <a:cs typeface="Arial" panose="020B0604020202020204" pitchFamily="34" charset="0"/>
              </a:rPr>
              <a:t>Electronic Communication</a:t>
            </a:r>
            <a:endParaRPr lang="en-GB" sz="5400" dirty="0">
              <a:latin typeface="Arial" panose="020B0604020202020204" pitchFamily="34" charset="0"/>
              <a:ea typeface="Arial" panose="020B0604020202020204" pitchFamily="34" charset="0"/>
              <a:cs typeface="Arial" panose="020B0604020202020204" pitchFamily="34" charset="0"/>
            </a:endParaRPr>
          </a:p>
          <a:p>
            <a:pPr marL="0" indent="0" algn="l">
              <a:lnSpc>
                <a:spcPct val="110000"/>
              </a:lnSpc>
              <a:buNone/>
            </a:pPr>
            <a:endParaRPr lang="en-GB" sz="1600" dirty="0">
              <a:latin typeface="Arial" panose="020B0604020202020204" pitchFamily="34" charset="0"/>
              <a:ea typeface="Arial" panose="020B0604020202020204" pitchFamily="34" charset="0"/>
              <a:cs typeface="Arial" panose="020B0604020202020204" pitchFamily="34" charset="0"/>
            </a:endParaRPr>
          </a:p>
        </p:txBody>
      </p:sp>
      <p:grpSp>
        <p:nvGrpSpPr>
          <p:cNvPr id="11" name="Group 10"/>
          <p:cNvGrpSpPr/>
          <p:nvPr/>
        </p:nvGrpSpPr>
        <p:grpSpPr>
          <a:xfrm>
            <a:off x="0" y="0"/>
            <a:ext cx="12749348" cy="1115736"/>
            <a:chOff x="0" y="0"/>
            <a:chExt cx="12749348" cy="1115736"/>
          </a:xfrm>
        </p:grpSpPr>
        <p:sp>
          <p:nvSpPr>
            <p:cNvPr id="12" name="Rectangle 11"/>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TextBox 13"/>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en-US" sz="1100" dirty="0">
                <a:solidFill>
                  <a:schemeClr val="bg1"/>
                </a:solidFill>
              </a:endParaRPr>
            </a:p>
          </p:txBody>
        </p:sp>
        <p:pic>
          <p:nvPicPr>
            <p:cNvPr id="15" name="Graphic 14"/>
            <p:cNvPicPr>
              <a:picLocks noChangeAspect="1"/>
            </p:cNvPicPr>
            <p:nvPr/>
          </p:nvPicPr>
          <p:blipFill>
            <a:blip r:embed="rId2">
              <a:extLst>
                <a:ext uri="{96DAC541-7B7A-43D3-8B79-37D633B846F1}">
                  <asvg:svgBlip xmlns:asvg="http://schemas.microsoft.com/office/drawing/2016/SVG/main" xmlns="" r:embed="rId3"/>
                </a:ext>
              </a:extLst>
            </a:blip>
            <a:stretch>
              <a:fillRect/>
            </a:stretch>
          </p:blipFill>
          <p:spPr>
            <a:xfrm>
              <a:off x="9906056" y="403986"/>
              <a:ext cx="261610" cy="261610"/>
            </a:xfrm>
            <a:prstGeom prst="rect">
              <a:avLst/>
            </a:prstGeom>
          </p:spPr>
        </p:pic>
        <p:sp>
          <p:nvSpPr>
            <p:cNvPr id="16" name="TextBox 15"/>
            <p:cNvSpPr txBox="1"/>
            <p:nvPr/>
          </p:nvSpPr>
          <p:spPr>
            <a:xfrm>
              <a:off x="10142944" y="350125"/>
              <a:ext cx="2606404" cy="369332"/>
            </a:xfrm>
            <a:prstGeom prst="rect">
              <a:avLst/>
            </a:prstGeom>
            <a:noFill/>
          </p:spPr>
          <p:txBody>
            <a:bodyPr wrap="square" rtlCol="0">
              <a:spAutoFit/>
            </a:bodyPr>
            <a:lstStyle/>
            <a:p>
              <a:r>
                <a:rPr lang="en-US" dirty="0">
                  <a:solidFill>
                    <a:schemeClr val="bg1"/>
                  </a:solidFill>
                </a:rPr>
                <a:t>www.tuf.edu.pk</a:t>
              </a:r>
            </a:p>
          </p:txBody>
        </p:sp>
        <p:pic>
          <p:nvPicPr>
            <p:cNvPr id="17" name="Graphic 16"/>
            <p:cNvPicPr>
              <a:picLocks noChangeAspect="1"/>
            </p:cNvPicPr>
            <p:nvPr/>
          </p:nvPicPr>
          <p:blipFill>
            <a:blip r:embed="rId4" cstate="print">
              <a:extLst>
                <a:ext uri="{96DAC541-7B7A-43D3-8B79-37D633B846F1}">
                  <asvg:svgBlip xmlns:asvg="http://schemas.microsoft.com/office/drawing/2016/SVG/main" xmlns="" r:embed="rId5"/>
                </a:ext>
              </a:extLst>
            </a:blip>
            <a:stretch>
              <a:fillRect/>
            </a:stretch>
          </p:blipFill>
          <p:spPr>
            <a:xfrm>
              <a:off x="10591033" y="741997"/>
              <a:ext cx="171450" cy="171450"/>
            </a:xfrm>
            <a:prstGeom prst="rect">
              <a:avLst/>
            </a:prstGeom>
          </p:spPr>
        </p:pic>
        <p:pic>
          <p:nvPicPr>
            <p:cNvPr id="18" name="Picture 17"/>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pic>
        <p:nvPicPr>
          <p:cNvPr id="6" name="Graphic 5"/>
          <p:cNvPicPr>
            <a:picLocks noChangeAspect="1"/>
          </p:cNvPicPr>
          <p:nvPr/>
        </p:nvPicPr>
        <p:blipFill>
          <a:blip r:embed="rId7">
            <a:extLst>
              <a:ext uri="{96DAC541-7B7A-43D3-8B79-37D633B846F1}">
                <asvg:svgBlip xmlns:asvg="http://schemas.microsoft.com/office/drawing/2016/SVG/main" xmlns="" r:embed="rId8"/>
              </a:ext>
            </a:extLst>
          </a:blip>
          <a:stretch>
            <a:fillRect/>
          </a:stretch>
        </p:blipFill>
        <p:spPr>
          <a:xfrm>
            <a:off x="9847252" y="1519722"/>
            <a:ext cx="2039974" cy="5144283"/>
          </a:xfrm>
          <a:prstGeom prst="rect">
            <a:avLst/>
          </a:prstGeom>
        </p:spPr>
      </p:pic>
      <p:pic>
        <p:nvPicPr>
          <p:cNvPr id="13" name="Picture 12"/>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662730" y="157713"/>
            <a:ext cx="1504919" cy="800309"/>
          </a:xfrm>
          <a:prstGeom prst="rect">
            <a:avLst/>
          </a:prstGeom>
        </p:spPr>
      </p:pic>
      <p:sp>
        <p:nvSpPr>
          <p:cNvPr id="2" name="Slide Number Placeholder 1"/>
          <p:cNvSpPr>
            <a:spLocks noGrp="1"/>
          </p:cNvSpPr>
          <p:nvPr>
            <p:ph type="sldNum" sz="quarter" idx="12"/>
          </p:nvPr>
        </p:nvSpPr>
        <p:spPr/>
        <p:txBody>
          <a:bodyPr/>
          <a:lstStyle/>
          <a:p>
            <a:fld id="{6EB9F7D7-3C9C-4146-9FA1-B77DEB44278D}" type="slidenum">
              <a:rPr lang="en-US" smtClean="0"/>
              <a:t>2</a:t>
            </a:fld>
            <a:endParaRPr lang="en-US"/>
          </a:p>
        </p:txBody>
      </p:sp>
    </p:spTree>
    <p:extLst>
      <p:ext uri="{BB962C8B-B14F-4D97-AF65-F5344CB8AC3E}">
        <p14:creationId xmlns:p14="http://schemas.microsoft.com/office/powerpoint/2010/main" val="285198859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23081" y="1214651"/>
            <a:ext cx="8475259" cy="5258579"/>
          </a:xfrm>
        </p:spPr>
        <p:txBody>
          <a:bodyPr>
            <a:normAutofit fontScale="80000" lnSpcReduction="20000"/>
          </a:bodyPr>
          <a:lstStyle/>
          <a:p>
            <a:pPr marL="285750" indent="-285750" algn="just">
              <a:lnSpc>
                <a:spcPct val="200000"/>
              </a:lnSpc>
              <a:spcBef>
                <a:spcPts val="600"/>
              </a:spcBef>
            </a:pPr>
            <a:r>
              <a:rPr lang="en-US" sz="3200" dirty="0"/>
              <a:t>In ancient days, </a:t>
            </a:r>
            <a:r>
              <a:rPr lang="en-US" sz="3200" dirty="0">
                <a:hlinkClick r:id="rId2"/>
              </a:rPr>
              <a:t>the communication</a:t>
            </a:r>
            <a:r>
              <a:rPr lang="en-US" sz="3200" dirty="0"/>
              <a:t> can be done using Morse code in the telegraphs. These telegraphs use Morse code for long-distance communication over wires. Afterward, the wired telephone, the TV &amp; the wireless radio was invented by the electronic industry. But at present, the information can be shared easily with each other at any place and anytime using e-communication.</a:t>
            </a:r>
          </a:p>
        </p:txBody>
      </p:sp>
      <p:grpSp>
        <p:nvGrpSpPr>
          <p:cNvPr id="8" name="Group 7"/>
          <p:cNvGrpSpPr/>
          <p:nvPr/>
        </p:nvGrpSpPr>
        <p:grpSpPr>
          <a:xfrm>
            <a:off x="0" y="0"/>
            <a:ext cx="12749348" cy="1115736"/>
            <a:chOff x="0" y="0"/>
            <a:chExt cx="12749348" cy="1115736"/>
          </a:xfrm>
        </p:grpSpPr>
        <p:sp>
          <p:nvSpPr>
            <p:cNvPr id="9" name="Rectangle 8"/>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TextBox 10"/>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en-US" sz="1100" dirty="0">
                <a:solidFill>
                  <a:schemeClr val="bg1"/>
                </a:solidFill>
              </a:endParaRPr>
            </a:p>
          </p:txBody>
        </p:sp>
        <p:pic>
          <p:nvPicPr>
            <p:cNvPr id="12" name="Graphic 11"/>
            <p:cNvPicPr>
              <a:picLocks noChangeAspect="1"/>
            </p:cNvPicPr>
            <p:nvPr/>
          </p:nvPicPr>
          <p:blipFill>
            <a:blip r:embed="rId3">
              <a:extLst>
                <a:ext uri="{96DAC541-7B7A-43D3-8B79-37D633B846F1}">
                  <asvg:svgBlip xmlns:asvg="http://schemas.microsoft.com/office/drawing/2016/SVG/main" xmlns="" r:embed="rId4"/>
                </a:ext>
              </a:extLst>
            </a:blip>
            <a:stretch>
              <a:fillRect/>
            </a:stretch>
          </p:blipFill>
          <p:spPr>
            <a:xfrm>
              <a:off x="9906056" y="403986"/>
              <a:ext cx="261610" cy="261610"/>
            </a:xfrm>
            <a:prstGeom prst="rect">
              <a:avLst/>
            </a:prstGeom>
          </p:spPr>
        </p:pic>
        <p:sp>
          <p:nvSpPr>
            <p:cNvPr id="13" name="TextBox 12"/>
            <p:cNvSpPr txBox="1"/>
            <p:nvPr/>
          </p:nvSpPr>
          <p:spPr>
            <a:xfrm>
              <a:off x="10142944" y="350125"/>
              <a:ext cx="2606404" cy="369332"/>
            </a:xfrm>
            <a:prstGeom prst="rect">
              <a:avLst/>
            </a:prstGeom>
            <a:noFill/>
          </p:spPr>
          <p:txBody>
            <a:bodyPr wrap="square" rtlCol="0">
              <a:spAutoFit/>
            </a:bodyPr>
            <a:lstStyle/>
            <a:p>
              <a:r>
                <a:rPr lang="en-US" dirty="0">
                  <a:solidFill>
                    <a:schemeClr val="bg1"/>
                  </a:solidFill>
                </a:rPr>
                <a:t>www.tuf.edu.pk</a:t>
              </a:r>
            </a:p>
          </p:txBody>
        </p:sp>
        <p:pic>
          <p:nvPicPr>
            <p:cNvPr id="14" name="Graphic 13"/>
            <p:cNvPicPr>
              <a:picLocks noChangeAspect="1"/>
            </p:cNvPicPr>
            <p:nvPr/>
          </p:nvPicPr>
          <p:blipFill>
            <a:blip r:embed="rId5" cstate="print">
              <a:extLst>
                <a:ext uri="{96DAC541-7B7A-43D3-8B79-37D633B846F1}">
                  <asvg:svgBlip xmlns:asvg="http://schemas.microsoft.com/office/drawing/2016/SVG/main" xmlns="" r:embed="rId6"/>
                </a:ext>
              </a:extLst>
            </a:blip>
            <a:stretch>
              <a:fillRect/>
            </a:stretch>
          </p:blipFill>
          <p:spPr>
            <a:xfrm>
              <a:off x="10591033" y="741997"/>
              <a:ext cx="171450" cy="171450"/>
            </a:xfrm>
            <a:prstGeom prst="rect">
              <a:avLst/>
            </a:prstGeom>
          </p:spPr>
        </p:pic>
        <p:pic>
          <p:nvPicPr>
            <p:cNvPr id="15" name="Picture 14"/>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pic>
        <p:nvPicPr>
          <p:cNvPr id="16" name="Picture 15"/>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662730" y="157713"/>
            <a:ext cx="1504919" cy="800309"/>
          </a:xfrm>
          <a:prstGeom prst="rect">
            <a:avLst/>
          </a:prstGeom>
        </p:spPr>
      </p:pic>
      <p:sp>
        <p:nvSpPr>
          <p:cNvPr id="2" name="Slide Number Placeholder 1"/>
          <p:cNvSpPr>
            <a:spLocks noGrp="1"/>
          </p:cNvSpPr>
          <p:nvPr>
            <p:ph type="sldNum" sz="quarter" idx="12"/>
          </p:nvPr>
        </p:nvSpPr>
        <p:spPr/>
        <p:txBody>
          <a:bodyPr/>
          <a:lstStyle/>
          <a:p>
            <a:fld id="{6EB9F7D7-3C9C-4146-9FA1-B77DEB44278D}" type="slidenum">
              <a:rPr lang="en-US" smtClean="0"/>
              <a:t>3</a:t>
            </a:fld>
            <a:endParaRPr lang="en-US"/>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825625"/>
            <a:ext cx="8742528" cy="4351338"/>
          </a:xfrm>
        </p:spPr>
        <p:txBody>
          <a:bodyPr>
            <a:normAutofit/>
          </a:bodyPr>
          <a:lstStyle/>
          <a:p>
            <a:pPr marL="0" indent="0" algn="just">
              <a:buNone/>
            </a:pPr>
            <a:endParaRPr sz="1600" spc="-5" dirty="0">
              <a:latin typeface="Arial" panose="020B0604020202020204" pitchFamily="34" charset="0"/>
              <a:cs typeface="Arial" panose="020B0604020202020204" pitchFamily="34" charset="0"/>
              <a:sym typeface="+mn-ea"/>
            </a:endParaRPr>
          </a:p>
          <a:p>
            <a:pPr algn="just"/>
            <a:endParaRPr lang="en-US" sz="1600" dirty="0">
              <a:latin typeface="Arial" panose="020B0604020202020204" pitchFamily="34" charset="0"/>
              <a:cs typeface="Arial" panose="020B0604020202020204" pitchFamily="34" charset="0"/>
            </a:endParaRPr>
          </a:p>
        </p:txBody>
      </p:sp>
      <p:grpSp>
        <p:nvGrpSpPr>
          <p:cNvPr id="4" name="Group 3"/>
          <p:cNvGrpSpPr/>
          <p:nvPr/>
        </p:nvGrpSpPr>
        <p:grpSpPr>
          <a:xfrm>
            <a:off x="-1097540" y="-123368"/>
            <a:ext cx="12749348" cy="1216025"/>
            <a:chOff x="0" y="0"/>
            <a:chExt cx="12749348" cy="1216025"/>
          </a:xfrm>
        </p:grpSpPr>
        <p:sp>
          <p:nvSpPr>
            <p:cNvPr id="5" name="Rectangle 8"/>
            <p:cNvSpPr/>
            <p:nvPr/>
          </p:nvSpPr>
          <p:spPr>
            <a:xfrm>
              <a:off x="0" y="0"/>
              <a:ext cx="12192000" cy="1216025"/>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10"/>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en-US" sz="1100" dirty="0">
                <a:solidFill>
                  <a:schemeClr val="bg1"/>
                </a:solidFill>
              </a:endParaRPr>
            </a:p>
          </p:txBody>
        </p:sp>
        <p:pic>
          <p:nvPicPr>
            <p:cNvPr id="7" name="Graphic 11"/>
            <p:cNvPicPr>
              <a:picLocks noChangeAspect="1"/>
            </p:cNvPicPr>
            <p:nvPr/>
          </p:nvPicPr>
          <p:blipFill>
            <a:blip r:embed="rId2">
              <a:extLst>
                <a:ext uri="{96DAC541-7B7A-43D3-8B79-37D633B846F1}">
                  <asvg:svgBlip xmlns:asvg="http://schemas.microsoft.com/office/drawing/2016/SVG/main" xmlns="" r:embed="rId3"/>
                </a:ext>
              </a:extLst>
            </a:blip>
            <a:stretch>
              <a:fillRect/>
            </a:stretch>
          </p:blipFill>
          <p:spPr>
            <a:xfrm>
              <a:off x="9906056" y="403986"/>
              <a:ext cx="261610" cy="261610"/>
            </a:xfrm>
            <a:prstGeom prst="rect">
              <a:avLst/>
            </a:prstGeom>
          </p:spPr>
        </p:pic>
        <p:sp>
          <p:nvSpPr>
            <p:cNvPr id="10" name="TextBox 12"/>
            <p:cNvSpPr txBox="1"/>
            <p:nvPr/>
          </p:nvSpPr>
          <p:spPr>
            <a:xfrm>
              <a:off x="10142944" y="350125"/>
              <a:ext cx="2606404" cy="369332"/>
            </a:xfrm>
            <a:prstGeom prst="rect">
              <a:avLst/>
            </a:prstGeom>
            <a:noFill/>
          </p:spPr>
          <p:txBody>
            <a:bodyPr wrap="square" rtlCol="0">
              <a:spAutoFit/>
            </a:bodyPr>
            <a:lstStyle/>
            <a:p>
              <a:r>
                <a:rPr lang="en-US" dirty="0">
                  <a:solidFill>
                    <a:schemeClr val="bg1"/>
                  </a:solidFill>
                </a:rPr>
                <a:t>www.tuf.edu.pk</a:t>
              </a:r>
            </a:p>
          </p:txBody>
        </p:sp>
        <p:pic>
          <p:nvPicPr>
            <p:cNvPr id="16" name="Graphic 13"/>
            <p:cNvPicPr>
              <a:picLocks noChangeAspect="1"/>
            </p:cNvPicPr>
            <p:nvPr/>
          </p:nvPicPr>
          <p:blipFill>
            <a:blip r:embed="rId4" cstate="print">
              <a:extLst>
                <a:ext uri="{96DAC541-7B7A-43D3-8B79-37D633B846F1}">
                  <asvg:svgBlip xmlns:asvg="http://schemas.microsoft.com/office/drawing/2016/SVG/main" xmlns="" r:embed="rId5"/>
                </a:ext>
              </a:extLst>
            </a:blip>
            <a:stretch>
              <a:fillRect/>
            </a:stretch>
          </p:blipFill>
          <p:spPr>
            <a:xfrm>
              <a:off x="10591033" y="741997"/>
              <a:ext cx="171450" cy="171450"/>
            </a:xfrm>
            <a:prstGeom prst="rect">
              <a:avLst/>
            </a:prstGeom>
          </p:spPr>
        </p:pic>
        <p:pic>
          <p:nvPicPr>
            <p:cNvPr id="17" name="Picture 16"/>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pic>
        <p:nvPicPr>
          <p:cNvPr id="11" name="Picture 10"/>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662730" y="157713"/>
            <a:ext cx="1504919" cy="800309"/>
          </a:xfrm>
          <a:prstGeom prst="rect">
            <a:avLst/>
          </a:prstGeom>
        </p:spPr>
      </p:pic>
      <p:sp>
        <p:nvSpPr>
          <p:cNvPr id="2" name="Slide Number Placeholder 1"/>
          <p:cNvSpPr>
            <a:spLocks noGrp="1"/>
          </p:cNvSpPr>
          <p:nvPr>
            <p:ph type="sldNum" sz="quarter" idx="12"/>
          </p:nvPr>
        </p:nvSpPr>
        <p:spPr/>
        <p:txBody>
          <a:bodyPr/>
          <a:lstStyle/>
          <a:p>
            <a:fld id="{6EB9F7D7-3C9C-4146-9FA1-B77DEB44278D}" type="slidenum">
              <a:rPr lang="en-US" smtClean="0"/>
              <a:t>4</a:t>
            </a:fld>
            <a:endParaRPr lang="en-US"/>
          </a:p>
        </p:txBody>
      </p:sp>
      <p:sp>
        <p:nvSpPr>
          <p:cNvPr id="8" name="Rectangle 7"/>
          <p:cNvSpPr/>
          <p:nvPr/>
        </p:nvSpPr>
        <p:spPr>
          <a:xfrm>
            <a:off x="409432" y="2555881"/>
            <a:ext cx="8256896" cy="3416320"/>
          </a:xfrm>
          <a:prstGeom prst="rect">
            <a:avLst/>
          </a:prstGeom>
        </p:spPr>
        <p:txBody>
          <a:bodyPr wrap="square">
            <a:spAutoFit/>
          </a:bodyPr>
          <a:lstStyle/>
          <a:p>
            <a:r>
              <a:rPr lang="en-US" sz="3600" dirty="0"/>
              <a:t>The communication is mandatory in different fields for processing, controlling, making decisions, and planning. The different fields are finance, accounting, establishment, personal, market, sales, purchase, production, etc.</a:t>
            </a: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848298"/>
            <a:ext cx="10515600" cy="588645"/>
          </a:xfrm>
        </p:spPr>
        <p:txBody>
          <a:bodyPr>
            <a:normAutofit fontScale="90000"/>
          </a:bodyPr>
          <a:lstStyle/>
          <a:p>
            <a:r>
              <a:rPr lang="en-US" sz="2400" b="1" dirty="0"/>
              <a:t>What is an Electronic Communication?</a:t>
            </a:r>
            <a:br>
              <a:rPr lang="en-US" sz="2400" b="1" dirty="0"/>
            </a:br>
            <a:endParaRPr lang="en-US" sz="2400" dirty="0">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838200" y="2609850"/>
            <a:ext cx="10515600" cy="3567430"/>
          </a:xfrm>
        </p:spPr>
        <p:txBody>
          <a:bodyPr>
            <a:normAutofit/>
          </a:bodyPr>
          <a:lstStyle/>
          <a:p>
            <a:pPr fontAlgn="base"/>
            <a:r>
              <a:rPr lang="en-US" sz="2400" dirty="0"/>
              <a:t>Electronic communication can be defined as, the communication which uses electronic media to transmit the information or message using computers, e-mail, telephone, video calling, FAX machine, etc. This </a:t>
            </a:r>
            <a:r>
              <a:rPr lang="en-US" sz="2400" dirty="0">
                <a:hlinkClick r:id="rId2"/>
              </a:rPr>
              <a:t>type of communication</a:t>
            </a:r>
            <a:r>
              <a:rPr lang="en-US" sz="2400" dirty="0"/>
              <a:t> can be developed by sharing data like images, graphics, sound, pictures, maps, software, and many things.</a:t>
            </a:r>
          </a:p>
          <a:p>
            <a:pPr fontAlgn="base"/>
            <a:r>
              <a:rPr lang="en-US" sz="2400" dirty="0"/>
              <a:t>Because of this e-communication, there is a lot of changes have occurred in work areas, society, etc. Thus, people can simply access global communication with no physical movement.</a:t>
            </a:r>
          </a:p>
          <a:p>
            <a:pPr marL="469900" marR="5080" indent="-457200" algn="just">
              <a:lnSpc>
                <a:spcPct val="150000"/>
              </a:lnSpc>
              <a:spcBef>
                <a:spcPts val="670"/>
              </a:spcBef>
              <a:buFont typeface="Arial MT"/>
              <a:buChar char="•"/>
              <a:tabLst>
                <a:tab pos="469900" algn="l"/>
              </a:tabLst>
            </a:pPr>
            <a:endParaRPr lang="en-GB" sz="1600" spc="-5" dirty="0">
              <a:latin typeface="Arial" panose="020B0604020202020204" pitchFamily="34" charset="0"/>
              <a:cs typeface="Arial" panose="020B0604020202020204" pitchFamily="34" charset="0"/>
              <a:sym typeface="+mn-ea"/>
            </a:endParaRPr>
          </a:p>
        </p:txBody>
      </p:sp>
      <p:grpSp>
        <p:nvGrpSpPr>
          <p:cNvPr id="4" name="Group 3"/>
          <p:cNvGrpSpPr/>
          <p:nvPr/>
        </p:nvGrpSpPr>
        <p:grpSpPr>
          <a:xfrm>
            <a:off x="0" y="0"/>
            <a:ext cx="12749348" cy="1367155"/>
            <a:chOff x="0" y="0"/>
            <a:chExt cx="12749348" cy="1367155"/>
          </a:xfrm>
        </p:grpSpPr>
        <p:sp>
          <p:nvSpPr>
            <p:cNvPr id="5" name="Rectangle 8"/>
            <p:cNvSpPr/>
            <p:nvPr/>
          </p:nvSpPr>
          <p:spPr>
            <a:xfrm>
              <a:off x="0" y="0"/>
              <a:ext cx="12192000" cy="1367155"/>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extBox 10"/>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en-US" sz="1100" dirty="0">
                <a:solidFill>
                  <a:schemeClr val="bg1"/>
                </a:solidFill>
              </a:endParaRPr>
            </a:p>
          </p:txBody>
        </p:sp>
        <p:pic>
          <p:nvPicPr>
            <p:cNvPr id="7" name="Graphic 11"/>
            <p:cNvPicPr>
              <a:picLocks noChangeAspect="1"/>
            </p:cNvPicPr>
            <p:nvPr/>
          </p:nvPicPr>
          <p:blipFill>
            <a:blip r:embed="rId3">
              <a:extLst>
                <a:ext uri="{96DAC541-7B7A-43D3-8B79-37D633B846F1}">
                  <asvg:svgBlip xmlns:asvg="http://schemas.microsoft.com/office/drawing/2016/SVG/main" xmlns="" r:embed="rId4"/>
                </a:ext>
              </a:extLst>
            </a:blip>
            <a:stretch>
              <a:fillRect/>
            </a:stretch>
          </p:blipFill>
          <p:spPr>
            <a:xfrm>
              <a:off x="9906056" y="403986"/>
              <a:ext cx="261610" cy="261610"/>
            </a:xfrm>
            <a:prstGeom prst="rect">
              <a:avLst/>
            </a:prstGeom>
          </p:spPr>
        </p:pic>
        <p:sp>
          <p:nvSpPr>
            <p:cNvPr id="10" name="TextBox 12"/>
            <p:cNvSpPr txBox="1"/>
            <p:nvPr/>
          </p:nvSpPr>
          <p:spPr>
            <a:xfrm>
              <a:off x="10142944" y="350125"/>
              <a:ext cx="2606404" cy="369332"/>
            </a:xfrm>
            <a:prstGeom prst="rect">
              <a:avLst/>
            </a:prstGeom>
            <a:noFill/>
          </p:spPr>
          <p:txBody>
            <a:bodyPr wrap="square" rtlCol="0">
              <a:spAutoFit/>
            </a:bodyPr>
            <a:lstStyle/>
            <a:p>
              <a:r>
                <a:rPr lang="en-US" dirty="0">
                  <a:solidFill>
                    <a:schemeClr val="bg1"/>
                  </a:solidFill>
                </a:rPr>
                <a:t>www.tuf.edu.pk</a:t>
              </a:r>
            </a:p>
          </p:txBody>
        </p:sp>
        <p:pic>
          <p:nvPicPr>
            <p:cNvPr id="16" name="Graphic 13"/>
            <p:cNvPicPr>
              <a:picLocks noChangeAspect="1"/>
            </p:cNvPicPr>
            <p:nvPr/>
          </p:nvPicPr>
          <p:blipFill>
            <a:blip r:embed="rId5" cstate="print">
              <a:extLst>
                <a:ext uri="{96DAC541-7B7A-43D3-8B79-37D633B846F1}">
                  <asvg:svgBlip xmlns:asvg="http://schemas.microsoft.com/office/drawing/2016/SVG/main" xmlns="" r:embed="rId6"/>
                </a:ext>
              </a:extLst>
            </a:blip>
            <a:stretch>
              <a:fillRect/>
            </a:stretch>
          </p:blipFill>
          <p:spPr>
            <a:xfrm>
              <a:off x="10591033" y="741997"/>
              <a:ext cx="171450" cy="171450"/>
            </a:xfrm>
            <a:prstGeom prst="rect">
              <a:avLst/>
            </a:prstGeom>
          </p:spPr>
        </p:pic>
        <p:pic>
          <p:nvPicPr>
            <p:cNvPr id="17" name="Picture 16"/>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pic>
        <p:nvPicPr>
          <p:cNvPr id="18" name="Picture 17" descr="Department of English Language and Literature"/>
          <p:cNvPicPr>
            <a:picLocks noChangeAspect="1"/>
          </p:cNvPicPr>
          <p:nvPr/>
        </p:nvPicPr>
        <p:blipFill>
          <a:blip r:embed="rId8" cstate="print"/>
          <a:stretch>
            <a:fillRect/>
          </a:stretch>
        </p:blipFill>
        <p:spPr>
          <a:xfrm>
            <a:off x="309245" y="201295"/>
            <a:ext cx="2382520" cy="965200"/>
          </a:xfrm>
          <a:prstGeom prst="rect">
            <a:avLst/>
          </a:prstGeom>
        </p:spPr>
      </p:pic>
      <p:sp>
        <p:nvSpPr>
          <p:cNvPr id="8" name="Slide Number Placeholder 7"/>
          <p:cNvSpPr>
            <a:spLocks noGrp="1"/>
          </p:cNvSpPr>
          <p:nvPr>
            <p:ph type="sldNum" sz="quarter" idx="12"/>
          </p:nvPr>
        </p:nvSpPr>
        <p:spPr/>
        <p:txBody>
          <a:bodyPr/>
          <a:lstStyle/>
          <a:p>
            <a:fld id="{6EB9F7D7-3C9C-4146-9FA1-B77DEB44278D}" type="slidenum">
              <a:rPr lang="en-US" smtClean="0"/>
              <a:t>5</a:t>
            </a:fld>
            <a:endParaRPr lang="en-US"/>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marL="0" indent="0" fontAlgn="base">
              <a:buNone/>
            </a:pPr>
            <a:r>
              <a:rPr lang="en-US" sz="3600" b="1" dirty="0" smtClean="0">
                <a:latin typeface="Arial" panose="020B0604020202020204" pitchFamily="34" charset="0"/>
                <a:ea typeface="Arial" panose="020B0604020202020204" pitchFamily="34" charset="0"/>
                <a:cs typeface="Arial" panose="020B0604020202020204" pitchFamily="34" charset="0"/>
              </a:rPr>
              <a:t> </a:t>
            </a:r>
            <a:r>
              <a:rPr lang="en-US" sz="3600" b="1" dirty="0"/>
              <a:t>Types of Electronic Communication</a:t>
            </a:r>
          </a:p>
          <a:p>
            <a:pPr fontAlgn="base"/>
            <a:r>
              <a:rPr lang="en-US" sz="3600" dirty="0"/>
              <a:t>Electronic communication can be classified into different types like messaging, voice call, e-mail, social media, etc. We know that e-communication has changed due to the way public interact and communicate with each other for different purposes like personal or business. By using this, it is very simple to communicate with the world.</a:t>
            </a:r>
          </a:p>
          <a:p>
            <a:pPr marL="0" indent="0">
              <a:lnSpc>
                <a:spcPct val="100000"/>
              </a:lnSpc>
              <a:spcBef>
                <a:spcPts val="600"/>
              </a:spcBef>
              <a:buNone/>
            </a:pPr>
            <a:endParaRPr lang="en-US" sz="2400" b="1" dirty="0">
              <a:latin typeface="Arial" panose="020B0604020202020204" pitchFamily="34" charset="0"/>
              <a:ea typeface="Arial" panose="020B0604020202020204" pitchFamily="34" charset="0"/>
              <a:cs typeface="Arial" panose="020B0604020202020204" pitchFamily="34" charset="0"/>
            </a:endParaRPr>
          </a:p>
        </p:txBody>
      </p:sp>
      <p:grpSp>
        <p:nvGrpSpPr>
          <p:cNvPr id="8" name="Group 7"/>
          <p:cNvGrpSpPr/>
          <p:nvPr/>
        </p:nvGrpSpPr>
        <p:grpSpPr>
          <a:xfrm>
            <a:off x="0" y="0"/>
            <a:ext cx="12749348" cy="1115736"/>
            <a:chOff x="0" y="0"/>
            <a:chExt cx="12749348" cy="1115736"/>
          </a:xfrm>
        </p:grpSpPr>
        <p:sp>
          <p:nvSpPr>
            <p:cNvPr id="9" name="Rectangle 8"/>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x-none" dirty="0"/>
            </a:p>
          </p:txBody>
        </p:sp>
        <p:pic>
          <p:nvPicPr>
            <p:cNvPr id="10" name="Picture 9"/>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62730" y="157713"/>
              <a:ext cx="1504919" cy="800309"/>
            </a:xfrm>
            <a:prstGeom prst="rect">
              <a:avLst/>
            </a:prstGeom>
          </p:spPr>
        </p:pic>
        <p:sp>
          <p:nvSpPr>
            <p:cNvPr id="11" name="TextBox 10"/>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x-none" sz="1100" dirty="0">
                <a:solidFill>
                  <a:schemeClr val="bg1"/>
                </a:solidFill>
              </a:endParaRPr>
            </a:p>
          </p:txBody>
        </p:sp>
        <p:pic>
          <p:nvPicPr>
            <p:cNvPr id="12" name="Graphic 11"/>
            <p:cNvPicPr>
              <a:picLocks noChangeAspect="1"/>
            </p:cNvPicPr>
            <p:nvPr/>
          </p:nvPicPr>
          <p:blipFill>
            <a:blip r:embed="rId3">
              <a:extLst>
                <a:ext uri="{96DAC541-7B7A-43D3-8B79-37D633B846F1}">
                  <asvg:svgBlip xmlns:asvg="http://schemas.microsoft.com/office/drawing/2016/SVG/main" xmlns="" r:embed="rId4"/>
                </a:ext>
              </a:extLst>
            </a:blip>
            <a:stretch>
              <a:fillRect/>
            </a:stretch>
          </p:blipFill>
          <p:spPr>
            <a:xfrm>
              <a:off x="9906056" y="403986"/>
              <a:ext cx="261610" cy="261610"/>
            </a:xfrm>
            <a:prstGeom prst="rect">
              <a:avLst/>
            </a:prstGeom>
          </p:spPr>
        </p:pic>
        <p:sp>
          <p:nvSpPr>
            <p:cNvPr id="13" name="TextBox 12"/>
            <p:cNvSpPr txBox="1"/>
            <p:nvPr/>
          </p:nvSpPr>
          <p:spPr>
            <a:xfrm>
              <a:off x="10142944" y="350125"/>
              <a:ext cx="2606404" cy="369332"/>
            </a:xfrm>
            <a:prstGeom prst="rect">
              <a:avLst/>
            </a:prstGeom>
            <a:noFill/>
          </p:spPr>
          <p:txBody>
            <a:bodyPr wrap="square" rtlCol="0">
              <a:spAutoFit/>
            </a:bodyPr>
            <a:lstStyle/>
            <a:p>
              <a:r>
                <a:rPr lang="x-none" dirty="0">
                  <a:solidFill>
                    <a:schemeClr val="bg1"/>
                  </a:solidFill>
                </a:rPr>
                <a:t>w</a:t>
              </a:r>
              <a:r>
                <a:rPr lang="en-US" dirty="0">
                  <a:solidFill>
                    <a:schemeClr val="bg1"/>
                  </a:solidFill>
                </a:rPr>
                <a:t>w</a:t>
              </a:r>
              <a:r>
                <a:rPr lang="x-none" dirty="0">
                  <a:solidFill>
                    <a:schemeClr val="bg1"/>
                  </a:solidFill>
                </a:rPr>
                <a:t>w.</a:t>
              </a:r>
              <a:r>
                <a:rPr lang="en-US" dirty="0">
                  <a:solidFill>
                    <a:schemeClr val="bg1"/>
                  </a:solidFill>
                </a:rPr>
                <a:t>t</a:t>
              </a:r>
              <a:r>
                <a:rPr lang="x-none" dirty="0">
                  <a:solidFill>
                    <a:schemeClr val="bg1"/>
                  </a:solidFill>
                </a:rPr>
                <a:t>u</a:t>
              </a:r>
              <a:r>
                <a:rPr lang="en-US" dirty="0">
                  <a:solidFill>
                    <a:schemeClr val="bg1"/>
                  </a:solidFill>
                </a:rPr>
                <a:t>f</a:t>
              </a:r>
              <a:r>
                <a:rPr lang="x-none" dirty="0">
                  <a:solidFill>
                    <a:schemeClr val="bg1"/>
                  </a:solidFill>
                </a:rPr>
                <a:t>.</a:t>
              </a:r>
              <a:r>
                <a:rPr lang="en-US" dirty="0">
                  <a:solidFill>
                    <a:schemeClr val="bg1"/>
                  </a:solidFill>
                </a:rPr>
                <a:t>e</a:t>
              </a:r>
              <a:r>
                <a:rPr lang="x-none" dirty="0">
                  <a:solidFill>
                    <a:schemeClr val="bg1"/>
                  </a:solidFill>
                </a:rPr>
                <a:t>d</a:t>
              </a:r>
              <a:r>
                <a:rPr lang="en-US" dirty="0">
                  <a:solidFill>
                    <a:schemeClr val="bg1"/>
                  </a:solidFill>
                </a:rPr>
                <a:t>u</a:t>
              </a:r>
              <a:r>
                <a:rPr lang="x-none" dirty="0">
                  <a:solidFill>
                    <a:schemeClr val="bg1"/>
                  </a:solidFill>
                </a:rPr>
                <a:t>.</a:t>
              </a:r>
              <a:r>
                <a:rPr lang="en-US" dirty="0">
                  <a:solidFill>
                    <a:schemeClr val="bg1"/>
                  </a:solidFill>
                </a:rPr>
                <a:t>p</a:t>
              </a:r>
              <a:r>
                <a:rPr lang="x-none" dirty="0">
                  <a:solidFill>
                    <a:schemeClr val="bg1"/>
                  </a:solidFill>
                </a:rPr>
                <a:t>k</a:t>
              </a:r>
            </a:p>
          </p:txBody>
        </p:sp>
        <p:pic>
          <p:nvPicPr>
            <p:cNvPr id="14" name="Graphic 13"/>
            <p:cNvPicPr>
              <a:picLocks noChangeAspect="1"/>
            </p:cNvPicPr>
            <p:nvPr/>
          </p:nvPicPr>
          <p:blipFill>
            <a:blip r:embed="rId5">
              <a:extLst>
                <a:ext uri="{96DAC541-7B7A-43D3-8B79-37D633B846F1}">
                  <asvg:svgBlip xmlns:asvg="http://schemas.microsoft.com/office/drawing/2016/SVG/main" xmlns="" r:embed="rId6"/>
                </a:ext>
              </a:extLst>
            </a:blip>
            <a:stretch>
              <a:fillRect/>
            </a:stretch>
          </p:blipFill>
          <p:spPr>
            <a:xfrm>
              <a:off x="10591033" y="741997"/>
              <a:ext cx="171450" cy="171450"/>
            </a:xfrm>
            <a:prstGeom prst="rect">
              <a:avLst/>
            </a:prstGeom>
          </p:spPr>
        </p:pic>
        <p:pic>
          <p:nvPicPr>
            <p:cNvPr id="15" name="Picture 14"/>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lnSpc>
                <a:spcPct val="150000"/>
              </a:lnSpc>
              <a:spcBef>
                <a:spcPts val="600"/>
              </a:spcBef>
            </a:pPr>
            <a:endParaRPr lang="en-US" sz="1600" dirty="0">
              <a:latin typeface="Arial" panose="020B0604020202020204" pitchFamily="34" charset="0"/>
              <a:ea typeface="Arial" panose="020B0604020202020204" pitchFamily="34" charset="0"/>
              <a:cs typeface="Arial" panose="020B0604020202020204" pitchFamily="34" charset="0"/>
            </a:endParaRPr>
          </a:p>
          <a:p>
            <a:pPr fontAlgn="base"/>
            <a:r>
              <a:rPr lang="en-US" b="1" dirty="0"/>
              <a:t>E-Mail</a:t>
            </a:r>
            <a:endParaRPr lang="en-US" dirty="0"/>
          </a:p>
          <a:p>
            <a:pPr marL="0" indent="0" fontAlgn="base">
              <a:buNone/>
            </a:pPr>
            <a:r>
              <a:rPr lang="en-US" dirty="0"/>
              <a:t>E-Mail or electronic mail is the most used type of electronic communication. By using this communication, one can send a message to another person through a mail immediately. For that, we need to create an account to send an e-mail, media files, photos, documents, etc. This type of communication has replaced many conventional types of communication due to many benefits</a:t>
            </a:r>
            <a:r>
              <a:rPr lang="en-US" dirty="0" smtClean="0"/>
              <a:t>.</a:t>
            </a:r>
            <a:r>
              <a:rPr lang="en-US" dirty="0"/>
              <a:t> So this type of communication is more suitable for different methods of communication. The benefits of this communication are ease of usage, completely free, etc.</a:t>
            </a:r>
          </a:p>
          <a:p>
            <a:pPr>
              <a:lnSpc>
                <a:spcPct val="150000"/>
              </a:lnSpc>
              <a:spcBef>
                <a:spcPts val="600"/>
              </a:spcBef>
            </a:pPr>
            <a:endParaRPr lang="en-US" sz="1600" dirty="0" smtClean="0">
              <a:latin typeface="Arial" panose="020B0604020202020204" pitchFamily="34" charset="0"/>
              <a:ea typeface="Arial" panose="020B0604020202020204" pitchFamily="34" charset="0"/>
              <a:cs typeface="Arial" panose="020B0604020202020204" pitchFamily="34" charset="0"/>
            </a:endParaRPr>
          </a:p>
        </p:txBody>
      </p:sp>
      <p:grpSp>
        <p:nvGrpSpPr>
          <p:cNvPr id="8" name="Group 7"/>
          <p:cNvGrpSpPr/>
          <p:nvPr/>
        </p:nvGrpSpPr>
        <p:grpSpPr>
          <a:xfrm>
            <a:off x="0" y="-26126"/>
            <a:ext cx="12749348" cy="1115736"/>
            <a:chOff x="0" y="0"/>
            <a:chExt cx="12749348" cy="1115736"/>
          </a:xfrm>
        </p:grpSpPr>
        <p:sp>
          <p:nvSpPr>
            <p:cNvPr id="9" name="Rectangle 8"/>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x-none" dirty="0"/>
            </a:p>
          </p:txBody>
        </p:sp>
        <p:pic>
          <p:nvPicPr>
            <p:cNvPr id="10" name="Picture 9"/>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62730" y="157713"/>
              <a:ext cx="1504919" cy="800309"/>
            </a:xfrm>
            <a:prstGeom prst="rect">
              <a:avLst/>
            </a:prstGeom>
          </p:spPr>
        </p:pic>
        <p:sp>
          <p:nvSpPr>
            <p:cNvPr id="11" name="TextBox 10"/>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x-none" sz="1100" dirty="0">
                <a:solidFill>
                  <a:schemeClr val="bg1"/>
                </a:solidFill>
              </a:endParaRPr>
            </a:p>
          </p:txBody>
        </p:sp>
        <p:pic>
          <p:nvPicPr>
            <p:cNvPr id="12" name="Graphic 11"/>
            <p:cNvPicPr>
              <a:picLocks noChangeAspect="1"/>
            </p:cNvPicPr>
            <p:nvPr/>
          </p:nvPicPr>
          <p:blipFill>
            <a:blip r:embed="rId3">
              <a:extLst>
                <a:ext uri="{96DAC541-7B7A-43D3-8B79-37D633B846F1}">
                  <asvg:svgBlip xmlns:asvg="http://schemas.microsoft.com/office/drawing/2016/SVG/main" xmlns="" r:embed="rId4"/>
                </a:ext>
              </a:extLst>
            </a:blip>
            <a:stretch>
              <a:fillRect/>
            </a:stretch>
          </p:blipFill>
          <p:spPr>
            <a:xfrm>
              <a:off x="9906056" y="403986"/>
              <a:ext cx="261610" cy="261610"/>
            </a:xfrm>
            <a:prstGeom prst="rect">
              <a:avLst/>
            </a:prstGeom>
          </p:spPr>
        </p:pic>
        <p:sp>
          <p:nvSpPr>
            <p:cNvPr id="13" name="TextBox 12"/>
            <p:cNvSpPr txBox="1"/>
            <p:nvPr/>
          </p:nvSpPr>
          <p:spPr>
            <a:xfrm>
              <a:off x="10142944" y="350125"/>
              <a:ext cx="2606404" cy="369332"/>
            </a:xfrm>
            <a:prstGeom prst="rect">
              <a:avLst/>
            </a:prstGeom>
            <a:noFill/>
          </p:spPr>
          <p:txBody>
            <a:bodyPr wrap="square" rtlCol="0">
              <a:spAutoFit/>
            </a:bodyPr>
            <a:lstStyle/>
            <a:p>
              <a:r>
                <a:rPr lang="x-none" dirty="0">
                  <a:solidFill>
                    <a:schemeClr val="bg1"/>
                  </a:solidFill>
                </a:rPr>
                <a:t>w</a:t>
              </a:r>
              <a:r>
                <a:rPr lang="en-US" dirty="0">
                  <a:solidFill>
                    <a:schemeClr val="bg1"/>
                  </a:solidFill>
                </a:rPr>
                <a:t>w</a:t>
              </a:r>
              <a:r>
                <a:rPr lang="x-none" dirty="0">
                  <a:solidFill>
                    <a:schemeClr val="bg1"/>
                  </a:solidFill>
                </a:rPr>
                <a:t>w.</a:t>
              </a:r>
              <a:r>
                <a:rPr lang="en-US" dirty="0">
                  <a:solidFill>
                    <a:schemeClr val="bg1"/>
                  </a:solidFill>
                </a:rPr>
                <a:t>t</a:t>
              </a:r>
              <a:r>
                <a:rPr lang="x-none" dirty="0">
                  <a:solidFill>
                    <a:schemeClr val="bg1"/>
                  </a:solidFill>
                </a:rPr>
                <a:t>u</a:t>
              </a:r>
              <a:r>
                <a:rPr lang="en-US" dirty="0">
                  <a:solidFill>
                    <a:schemeClr val="bg1"/>
                  </a:solidFill>
                </a:rPr>
                <a:t>f</a:t>
              </a:r>
              <a:r>
                <a:rPr lang="x-none" dirty="0">
                  <a:solidFill>
                    <a:schemeClr val="bg1"/>
                  </a:solidFill>
                </a:rPr>
                <a:t>.</a:t>
              </a:r>
              <a:r>
                <a:rPr lang="en-US" dirty="0">
                  <a:solidFill>
                    <a:schemeClr val="bg1"/>
                  </a:solidFill>
                </a:rPr>
                <a:t>e</a:t>
              </a:r>
              <a:r>
                <a:rPr lang="x-none" dirty="0">
                  <a:solidFill>
                    <a:schemeClr val="bg1"/>
                  </a:solidFill>
                </a:rPr>
                <a:t>d</a:t>
              </a:r>
              <a:r>
                <a:rPr lang="en-US" dirty="0">
                  <a:solidFill>
                    <a:schemeClr val="bg1"/>
                  </a:solidFill>
                </a:rPr>
                <a:t>u</a:t>
              </a:r>
              <a:r>
                <a:rPr lang="x-none" dirty="0">
                  <a:solidFill>
                    <a:schemeClr val="bg1"/>
                  </a:solidFill>
                </a:rPr>
                <a:t>.</a:t>
              </a:r>
              <a:r>
                <a:rPr lang="en-US" dirty="0">
                  <a:solidFill>
                    <a:schemeClr val="bg1"/>
                  </a:solidFill>
                </a:rPr>
                <a:t>p</a:t>
              </a:r>
              <a:r>
                <a:rPr lang="x-none" dirty="0">
                  <a:solidFill>
                    <a:schemeClr val="bg1"/>
                  </a:solidFill>
                </a:rPr>
                <a:t>k</a:t>
              </a:r>
            </a:p>
          </p:txBody>
        </p:sp>
        <p:pic>
          <p:nvPicPr>
            <p:cNvPr id="14" name="Graphic 13"/>
            <p:cNvPicPr>
              <a:picLocks noChangeAspect="1"/>
            </p:cNvPicPr>
            <p:nvPr/>
          </p:nvPicPr>
          <p:blipFill>
            <a:blip r:embed="rId5">
              <a:extLst>
                <a:ext uri="{96DAC541-7B7A-43D3-8B79-37D633B846F1}">
                  <asvg:svgBlip xmlns:asvg="http://schemas.microsoft.com/office/drawing/2016/SVG/main" xmlns="" r:embed="rId6"/>
                </a:ext>
              </a:extLst>
            </a:blip>
            <a:stretch>
              <a:fillRect/>
            </a:stretch>
          </p:blipFill>
          <p:spPr>
            <a:xfrm>
              <a:off x="10591033" y="741997"/>
              <a:ext cx="171450" cy="171450"/>
            </a:xfrm>
            <a:prstGeom prst="rect">
              <a:avLst/>
            </a:prstGeom>
          </p:spPr>
        </p:pic>
        <p:pic>
          <p:nvPicPr>
            <p:cNvPr id="15" name="Picture 14"/>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a:lnSpc>
                <a:spcPct val="150000"/>
              </a:lnSpc>
              <a:spcBef>
                <a:spcPts val="600"/>
              </a:spcBef>
            </a:pPr>
            <a:endParaRPr lang="en-US" sz="1600" dirty="0" smtClean="0">
              <a:latin typeface="Arial" panose="020B0604020202020204" pitchFamily="34" charset="0"/>
              <a:ea typeface="Arial" panose="020B0604020202020204" pitchFamily="34" charset="0"/>
              <a:cs typeface="Arial" panose="020B0604020202020204" pitchFamily="34" charset="0"/>
            </a:endParaRPr>
          </a:p>
          <a:p>
            <a:pPr marL="0" indent="0">
              <a:lnSpc>
                <a:spcPct val="150000"/>
              </a:lnSpc>
              <a:spcBef>
                <a:spcPts val="600"/>
              </a:spcBef>
              <a:buNone/>
            </a:pPr>
            <a:endParaRPr lang="en-US" sz="1600" dirty="0">
              <a:latin typeface="Arial" panose="020B0604020202020204" pitchFamily="34" charset="0"/>
              <a:ea typeface="Arial" panose="020B0604020202020204" pitchFamily="34" charset="0"/>
              <a:cs typeface="Arial" panose="020B0604020202020204" pitchFamily="34" charset="0"/>
            </a:endParaRPr>
          </a:p>
        </p:txBody>
      </p:sp>
      <p:grpSp>
        <p:nvGrpSpPr>
          <p:cNvPr id="8" name="Group 7"/>
          <p:cNvGrpSpPr/>
          <p:nvPr/>
        </p:nvGrpSpPr>
        <p:grpSpPr>
          <a:xfrm>
            <a:off x="0" y="-26126"/>
            <a:ext cx="12749348" cy="1115736"/>
            <a:chOff x="0" y="0"/>
            <a:chExt cx="12749348" cy="1115736"/>
          </a:xfrm>
        </p:grpSpPr>
        <p:sp>
          <p:nvSpPr>
            <p:cNvPr id="9" name="Rectangle 8"/>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x-none" dirty="0"/>
            </a:p>
          </p:txBody>
        </p:sp>
        <p:pic>
          <p:nvPicPr>
            <p:cNvPr id="10" name="Picture 9"/>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62730" y="157713"/>
              <a:ext cx="1504919" cy="800309"/>
            </a:xfrm>
            <a:prstGeom prst="rect">
              <a:avLst/>
            </a:prstGeom>
          </p:spPr>
        </p:pic>
        <p:sp>
          <p:nvSpPr>
            <p:cNvPr id="11" name="TextBox 10"/>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x-none" sz="1100" dirty="0">
                <a:solidFill>
                  <a:schemeClr val="bg1"/>
                </a:solidFill>
              </a:endParaRPr>
            </a:p>
          </p:txBody>
        </p:sp>
        <p:pic>
          <p:nvPicPr>
            <p:cNvPr id="12" name="Graphic 11"/>
            <p:cNvPicPr>
              <a:picLocks noChangeAspect="1"/>
            </p:cNvPicPr>
            <p:nvPr/>
          </p:nvPicPr>
          <p:blipFill>
            <a:blip r:embed="rId3">
              <a:extLst>
                <a:ext uri="{96DAC541-7B7A-43D3-8B79-37D633B846F1}">
                  <asvg:svgBlip xmlns:asvg="http://schemas.microsoft.com/office/drawing/2016/SVG/main" xmlns="" r:embed="rId4"/>
                </a:ext>
              </a:extLst>
            </a:blip>
            <a:stretch>
              <a:fillRect/>
            </a:stretch>
          </p:blipFill>
          <p:spPr>
            <a:xfrm>
              <a:off x="9906056" y="403986"/>
              <a:ext cx="261610" cy="261610"/>
            </a:xfrm>
            <a:prstGeom prst="rect">
              <a:avLst/>
            </a:prstGeom>
          </p:spPr>
        </p:pic>
        <p:sp>
          <p:nvSpPr>
            <p:cNvPr id="13" name="TextBox 12"/>
            <p:cNvSpPr txBox="1"/>
            <p:nvPr/>
          </p:nvSpPr>
          <p:spPr>
            <a:xfrm>
              <a:off x="10142944" y="350125"/>
              <a:ext cx="2606404" cy="369332"/>
            </a:xfrm>
            <a:prstGeom prst="rect">
              <a:avLst/>
            </a:prstGeom>
            <a:noFill/>
          </p:spPr>
          <p:txBody>
            <a:bodyPr wrap="square" rtlCol="0">
              <a:spAutoFit/>
            </a:bodyPr>
            <a:lstStyle/>
            <a:p>
              <a:r>
                <a:rPr lang="x-none" dirty="0">
                  <a:solidFill>
                    <a:schemeClr val="bg1"/>
                  </a:solidFill>
                </a:rPr>
                <a:t>w</a:t>
              </a:r>
              <a:r>
                <a:rPr lang="en-US" dirty="0">
                  <a:solidFill>
                    <a:schemeClr val="bg1"/>
                  </a:solidFill>
                </a:rPr>
                <a:t>w</a:t>
              </a:r>
              <a:r>
                <a:rPr lang="x-none" dirty="0">
                  <a:solidFill>
                    <a:schemeClr val="bg1"/>
                  </a:solidFill>
                </a:rPr>
                <a:t>w.</a:t>
              </a:r>
              <a:r>
                <a:rPr lang="en-US" dirty="0">
                  <a:solidFill>
                    <a:schemeClr val="bg1"/>
                  </a:solidFill>
                </a:rPr>
                <a:t>t</a:t>
              </a:r>
              <a:r>
                <a:rPr lang="x-none" dirty="0">
                  <a:solidFill>
                    <a:schemeClr val="bg1"/>
                  </a:solidFill>
                </a:rPr>
                <a:t>u</a:t>
              </a:r>
              <a:r>
                <a:rPr lang="en-US" dirty="0">
                  <a:solidFill>
                    <a:schemeClr val="bg1"/>
                  </a:solidFill>
                </a:rPr>
                <a:t>f</a:t>
              </a:r>
              <a:r>
                <a:rPr lang="x-none" dirty="0">
                  <a:solidFill>
                    <a:schemeClr val="bg1"/>
                  </a:solidFill>
                </a:rPr>
                <a:t>.</a:t>
              </a:r>
              <a:r>
                <a:rPr lang="en-US" dirty="0">
                  <a:solidFill>
                    <a:schemeClr val="bg1"/>
                  </a:solidFill>
                </a:rPr>
                <a:t>e</a:t>
              </a:r>
              <a:r>
                <a:rPr lang="x-none" dirty="0">
                  <a:solidFill>
                    <a:schemeClr val="bg1"/>
                  </a:solidFill>
                </a:rPr>
                <a:t>d</a:t>
              </a:r>
              <a:r>
                <a:rPr lang="en-US" dirty="0">
                  <a:solidFill>
                    <a:schemeClr val="bg1"/>
                  </a:solidFill>
                </a:rPr>
                <a:t>u</a:t>
              </a:r>
              <a:r>
                <a:rPr lang="x-none" dirty="0">
                  <a:solidFill>
                    <a:schemeClr val="bg1"/>
                  </a:solidFill>
                </a:rPr>
                <a:t>.</a:t>
              </a:r>
              <a:r>
                <a:rPr lang="en-US" dirty="0">
                  <a:solidFill>
                    <a:schemeClr val="bg1"/>
                  </a:solidFill>
                </a:rPr>
                <a:t>p</a:t>
              </a:r>
              <a:r>
                <a:rPr lang="x-none" dirty="0">
                  <a:solidFill>
                    <a:schemeClr val="bg1"/>
                  </a:solidFill>
                </a:rPr>
                <a:t>k</a:t>
              </a:r>
            </a:p>
          </p:txBody>
        </p:sp>
        <p:pic>
          <p:nvPicPr>
            <p:cNvPr id="14" name="Graphic 13"/>
            <p:cNvPicPr>
              <a:picLocks noChangeAspect="1"/>
            </p:cNvPicPr>
            <p:nvPr/>
          </p:nvPicPr>
          <p:blipFill>
            <a:blip r:embed="rId5">
              <a:extLst>
                <a:ext uri="{96DAC541-7B7A-43D3-8B79-37D633B846F1}">
                  <asvg:svgBlip xmlns:asvg="http://schemas.microsoft.com/office/drawing/2016/SVG/main" xmlns="" r:embed="rId6"/>
                </a:ext>
              </a:extLst>
            </a:blip>
            <a:stretch>
              <a:fillRect/>
            </a:stretch>
          </p:blipFill>
          <p:spPr>
            <a:xfrm>
              <a:off x="10591033" y="741997"/>
              <a:ext cx="171450" cy="171450"/>
            </a:xfrm>
            <a:prstGeom prst="rect">
              <a:avLst/>
            </a:prstGeom>
          </p:spPr>
        </p:pic>
        <p:pic>
          <p:nvPicPr>
            <p:cNvPr id="15" name="Picture 14"/>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sp>
        <p:nvSpPr>
          <p:cNvPr id="2" name="Rectangle 1"/>
          <p:cNvSpPr/>
          <p:nvPr/>
        </p:nvSpPr>
        <p:spPr>
          <a:xfrm>
            <a:off x="906425" y="1514902"/>
            <a:ext cx="8999631" cy="6247864"/>
          </a:xfrm>
          <a:prstGeom prst="rect">
            <a:avLst/>
          </a:prstGeom>
        </p:spPr>
        <p:txBody>
          <a:bodyPr wrap="square">
            <a:spAutoFit/>
          </a:bodyPr>
          <a:lstStyle/>
          <a:p>
            <a:pPr fontAlgn="base"/>
            <a:r>
              <a:rPr lang="en-US" sz="2800" b="1" dirty="0"/>
              <a:t>Messaging</a:t>
            </a:r>
            <a:endParaRPr lang="en-US" sz="2800" dirty="0"/>
          </a:p>
          <a:p>
            <a:pPr fontAlgn="base"/>
            <a:r>
              <a:rPr lang="en-US" sz="2800" dirty="0"/>
              <a:t>This type of communication allows people to interact with others who are far away from us. This is possible only due to </a:t>
            </a:r>
            <a:r>
              <a:rPr lang="en-US" sz="2800" dirty="0">
                <a:hlinkClick r:id="rId8"/>
              </a:rPr>
              <a:t>technology</a:t>
            </a:r>
            <a:r>
              <a:rPr lang="en-US" sz="2800" dirty="0"/>
              <a:t> as well as usage of </a:t>
            </a:r>
            <a:r>
              <a:rPr lang="en-US" sz="2800" dirty="0">
                <a:hlinkClick r:id="rId9"/>
              </a:rPr>
              <a:t>the internet</a:t>
            </a:r>
            <a:r>
              <a:rPr lang="en-US" sz="2800" dirty="0"/>
              <a:t>. There are different types of messengers are available like Skype, Windows Live, Gmail, etc. These messengers help in chatting or sending messages to our beloved ones or friends</a:t>
            </a:r>
            <a:r>
              <a:rPr lang="en-US" sz="2800" dirty="0" smtClean="0"/>
              <a:t>.</a:t>
            </a:r>
            <a:r>
              <a:rPr lang="en-US" sz="2800" dirty="0"/>
              <a:t> There are many benefits by using this kind of communication like the message which we sent &amp; the response are immediate. But in some cases, some files include nil although bug can stop the functioning of your computer by giving you lots of trouble.</a:t>
            </a:r>
          </a:p>
          <a:p>
            <a:r>
              <a:rPr lang="en-US" sz="3200" dirty="0"/>
              <a:t/>
            </a:r>
            <a:br>
              <a:rPr lang="en-US" sz="3200" dirty="0"/>
            </a:br>
            <a:endParaRPr lang="en-US" sz="3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Autofit/>
          </a:bodyPr>
          <a:lstStyle/>
          <a:p>
            <a:pPr fontAlgn="base"/>
            <a:r>
              <a:rPr lang="en-US" sz="2400" b="1" dirty="0"/>
              <a:t>Fax</a:t>
            </a:r>
            <a:endParaRPr lang="en-US" sz="2400" dirty="0"/>
          </a:p>
          <a:p>
            <a:pPr marL="0" indent="0" fontAlgn="base">
              <a:buNone/>
            </a:pPr>
            <a:r>
              <a:rPr lang="en-US" sz="2400" dirty="0"/>
              <a:t>The Fax machine is a kind of communications and use of this is increasing gradually to transmit materials which are visual like illustrations, diagrams, picture, etc. Here, this machine can be connected using a telephonic.</a:t>
            </a:r>
          </a:p>
          <a:p>
            <a:pPr marL="0" indent="0" fontAlgn="base">
              <a:buNone/>
            </a:pPr>
            <a:r>
              <a:rPr lang="en-US" sz="2400" dirty="0"/>
              <a:t>The transmitted document can be fed throughout the machine, after that it is scanned electronically &amp; signals are broadcasted to the end of receiver wherever an equal document copy is replicated on a plain paper sheet using the receiving machine.</a:t>
            </a:r>
          </a:p>
          <a:p>
            <a:pPr marL="0" indent="0">
              <a:buNone/>
            </a:pPr>
            <a:r>
              <a:rPr lang="en-US" sz="2400" dirty="0" smtClean="0"/>
              <a:t>This </a:t>
            </a:r>
            <a:r>
              <a:rPr lang="en-US" sz="2400" dirty="0"/>
              <a:t>machine has made it achievable to send important documents copies which include testimonials, certificates, degrees, contracts, agreements from one location to another in a telephone call speed. Because of this reason, it is a commonly used technique for communication.</a:t>
            </a:r>
            <a:endParaRPr lang="en-US" sz="2400" dirty="0">
              <a:latin typeface="Arial" panose="020B0604020202020204" pitchFamily="34" charset="0"/>
              <a:ea typeface="Arial" panose="020B0604020202020204" pitchFamily="34" charset="0"/>
              <a:cs typeface="Arial" panose="020B0604020202020204" pitchFamily="34" charset="0"/>
            </a:endParaRPr>
          </a:p>
        </p:txBody>
      </p:sp>
      <p:grpSp>
        <p:nvGrpSpPr>
          <p:cNvPr id="17" name="Group 16"/>
          <p:cNvGrpSpPr/>
          <p:nvPr/>
        </p:nvGrpSpPr>
        <p:grpSpPr>
          <a:xfrm>
            <a:off x="0" y="0"/>
            <a:ext cx="12749348" cy="1115736"/>
            <a:chOff x="0" y="0"/>
            <a:chExt cx="12749348" cy="1115736"/>
          </a:xfrm>
        </p:grpSpPr>
        <p:sp>
          <p:nvSpPr>
            <p:cNvPr id="18" name="Rectangle 17"/>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x-none" dirty="0"/>
            </a:p>
          </p:txBody>
        </p:sp>
        <p:pic>
          <p:nvPicPr>
            <p:cNvPr id="19" name="Picture 1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62730" y="157713"/>
              <a:ext cx="1504919" cy="800309"/>
            </a:xfrm>
            <a:prstGeom prst="rect">
              <a:avLst/>
            </a:prstGeom>
          </p:spPr>
        </p:pic>
        <p:sp>
          <p:nvSpPr>
            <p:cNvPr id="20" name="TextBox 19"/>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x-none" sz="1100" dirty="0">
                <a:solidFill>
                  <a:schemeClr val="bg1"/>
                </a:solidFill>
              </a:endParaRPr>
            </a:p>
          </p:txBody>
        </p:sp>
        <p:pic>
          <p:nvPicPr>
            <p:cNvPr id="21" name="Graphic 11"/>
            <p:cNvPicPr>
              <a:picLocks noChangeAspect="1"/>
            </p:cNvPicPr>
            <p:nvPr/>
          </p:nvPicPr>
          <p:blipFill>
            <a:blip r:embed="rId3"/>
            <a:stretch>
              <a:fillRect/>
            </a:stretch>
          </p:blipFill>
          <p:spPr>
            <a:xfrm>
              <a:off x="9906056" y="403986"/>
              <a:ext cx="261610" cy="261610"/>
            </a:xfrm>
            <a:prstGeom prst="rect">
              <a:avLst/>
            </a:prstGeom>
          </p:spPr>
        </p:pic>
        <p:sp>
          <p:nvSpPr>
            <p:cNvPr id="22" name="TextBox 21"/>
            <p:cNvSpPr txBox="1"/>
            <p:nvPr/>
          </p:nvSpPr>
          <p:spPr>
            <a:xfrm>
              <a:off x="10142944" y="350125"/>
              <a:ext cx="2606404" cy="369332"/>
            </a:xfrm>
            <a:prstGeom prst="rect">
              <a:avLst/>
            </a:prstGeom>
            <a:noFill/>
          </p:spPr>
          <p:txBody>
            <a:bodyPr wrap="square" rtlCol="0">
              <a:spAutoFit/>
            </a:bodyPr>
            <a:lstStyle/>
            <a:p>
              <a:r>
                <a:rPr lang="x-none" dirty="0">
                  <a:solidFill>
                    <a:schemeClr val="bg1"/>
                  </a:solidFill>
                </a:rPr>
                <a:t>w</a:t>
              </a:r>
              <a:r>
                <a:rPr lang="en-US" dirty="0">
                  <a:solidFill>
                    <a:schemeClr val="bg1"/>
                  </a:solidFill>
                </a:rPr>
                <a:t>w</a:t>
              </a:r>
              <a:r>
                <a:rPr lang="x-none" dirty="0">
                  <a:solidFill>
                    <a:schemeClr val="bg1"/>
                  </a:solidFill>
                </a:rPr>
                <a:t>w.</a:t>
              </a:r>
              <a:r>
                <a:rPr lang="en-US" dirty="0">
                  <a:solidFill>
                    <a:schemeClr val="bg1"/>
                  </a:solidFill>
                </a:rPr>
                <a:t>t</a:t>
              </a:r>
              <a:r>
                <a:rPr lang="x-none" dirty="0">
                  <a:solidFill>
                    <a:schemeClr val="bg1"/>
                  </a:solidFill>
                </a:rPr>
                <a:t>u</a:t>
              </a:r>
              <a:r>
                <a:rPr lang="en-US" dirty="0">
                  <a:solidFill>
                    <a:schemeClr val="bg1"/>
                  </a:solidFill>
                </a:rPr>
                <a:t>f</a:t>
              </a:r>
              <a:r>
                <a:rPr lang="x-none" dirty="0">
                  <a:solidFill>
                    <a:schemeClr val="bg1"/>
                  </a:solidFill>
                </a:rPr>
                <a:t>.</a:t>
              </a:r>
              <a:r>
                <a:rPr lang="en-US" dirty="0">
                  <a:solidFill>
                    <a:schemeClr val="bg1"/>
                  </a:solidFill>
                </a:rPr>
                <a:t>e</a:t>
              </a:r>
              <a:r>
                <a:rPr lang="x-none" dirty="0">
                  <a:solidFill>
                    <a:schemeClr val="bg1"/>
                  </a:solidFill>
                </a:rPr>
                <a:t>d</a:t>
              </a:r>
              <a:r>
                <a:rPr lang="en-US" dirty="0">
                  <a:solidFill>
                    <a:schemeClr val="bg1"/>
                  </a:solidFill>
                </a:rPr>
                <a:t>u</a:t>
              </a:r>
              <a:r>
                <a:rPr lang="x-none" dirty="0">
                  <a:solidFill>
                    <a:schemeClr val="bg1"/>
                  </a:solidFill>
                </a:rPr>
                <a:t>.</a:t>
              </a:r>
              <a:r>
                <a:rPr lang="en-US" dirty="0">
                  <a:solidFill>
                    <a:schemeClr val="bg1"/>
                  </a:solidFill>
                </a:rPr>
                <a:t>p</a:t>
              </a:r>
              <a:r>
                <a:rPr lang="x-none" dirty="0">
                  <a:solidFill>
                    <a:schemeClr val="bg1"/>
                  </a:solidFill>
                </a:rPr>
                <a:t>k</a:t>
              </a:r>
            </a:p>
          </p:txBody>
        </p:sp>
        <p:pic>
          <p:nvPicPr>
            <p:cNvPr id="23" name="Graphic 13"/>
            <p:cNvPicPr>
              <a:picLocks noChangeAspect="1"/>
            </p:cNvPicPr>
            <p:nvPr/>
          </p:nvPicPr>
          <p:blipFill>
            <a:blip r:embed="rId4" cstate="print"/>
            <a:stretch>
              <a:fillRect/>
            </a:stretch>
          </p:blipFill>
          <p:spPr>
            <a:xfrm>
              <a:off x="10591033" y="741997"/>
              <a:ext cx="171450" cy="171450"/>
            </a:xfrm>
            <a:prstGeom prst="rect">
              <a:avLst/>
            </a:prstGeom>
          </p:spPr>
        </p:pic>
        <p:pic>
          <p:nvPicPr>
            <p:cNvPr id="24" name="Picture 23"/>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sp>
        <p:nvSpPr>
          <p:cNvPr id="2" name="Slide Number Placeholder 1"/>
          <p:cNvSpPr>
            <a:spLocks noGrp="1"/>
          </p:cNvSpPr>
          <p:nvPr>
            <p:ph type="sldNum" sz="quarter" idx="12"/>
          </p:nvPr>
        </p:nvSpPr>
        <p:spPr/>
        <p:txBody>
          <a:bodyPr/>
          <a:lstStyle/>
          <a:p>
            <a:fld id="{6EB9F7D7-3C9C-4146-9FA1-B77DEB44278D}" type="slidenum">
              <a:rPr lang="en-US" smtClean="0"/>
              <a:t>9</a:t>
            </a:fld>
            <a:endParaRPr lang="en-US"/>
          </a:p>
        </p:txBody>
      </p:sp>
    </p:spTree>
    <p:extLst>
      <p:ext uri="{BB962C8B-B14F-4D97-AF65-F5344CB8AC3E}">
        <p14:creationId xmlns:p14="http://schemas.microsoft.com/office/powerpoint/2010/main" val="59940175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Autofit/>
          </a:bodyPr>
          <a:lstStyle/>
          <a:p>
            <a:pPr marL="0" indent="0" fontAlgn="base">
              <a:buNone/>
            </a:pPr>
            <a:endParaRPr lang="en-US" sz="3200" dirty="0" smtClean="0"/>
          </a:p>
          <a:p>
            <a:pPr marL="0" indent="0" fontAlgn="base">
              <a:buNone/>
            </a:pPr>
            <a:r>
              <a:rPr lang="en-US" sz="3200" dirty="0" smtClean="0"/>
              <a:t>Thus</a:t>
            </a:r>
            <a:r>
              <a:rPr lang="en-US" sz="3200" dirty="0"/>
              <a:t>, this is all about </a:t>
            </a:r>
            <a:r>
              <a:rPr lang="en-US" sz="3200" dirty="0">
                <a:hlinkClick r:id="rId2"/>
              </a:rPr>
              <a:t>electronic communication principles</a:t>
            </a:r>
            <a:r>
              <a:rPr lang="en-US" sz="3200" dirty="0"/>
              <a:t> which include immediate messaging, websites, social networking voicemail, e-mail, and text messaging. This communication has changed completely the way people communicate with each other. This can be used for personal, business, etc. By using this, it is extremely simple to communicate with the entire world.</a:t>
            </a:r>
          </a:p>
          <a:p>
            <a:pPr fontAlgn="base"/>
            <a:endParaRPr lang="en-US" sz="2400" dirty="0">
              <a:latin typeface="Arial" panose="020B0604020202020204" pitchFamily="34" charset="0"/>
              <a:ea typeface="Arial" panose="020B0604020202020204" pitchFamily="34" charset="0"/>
              <a:cs typeface="Arial" panose="020B0604020202020204" pitchFamily="34" charset="0"/>
            </a:endParaRPr>
          </a:p>
        </p:txBody>
      </p:sp>
      <p:grpSp>
        <p:nvGrpSpPr>
          <p:cNvPr id="17" name="Group 16"/>
          <p:cNvGrpSpPr/>
          <p:nvPr/>
        </p:nvGrpSpPr>
        <p:grpSpPr>
          <a:xfrm>
            <a:off x="0" y="0"/>
            <a:ext cx="12749348" cy="1115736"/>
            <a:chOff x="0" y="0"/>
            <a:chExt cx="12749348" cy="1115736"/>
          </a:xfrm>
        </p:grpSpPr>
        <p:sp>
          <p:nvSpPr>
            <p:cNvPr id="18" name="Rectangle 17"/>
            <p:cNvSpPr/>
            <p:nvPr/>
          </p:nvSpPr>
          <p:spPr>
            <a:xfrm>
              <a:off x="0" y="0"/>
              <a:ext cx="12192000" cy="1115736"/>
            </a:xfrm>
            <a:prstGeom prst="rect">
              <a:avLst/>
            </a:prstGeom>
            <a:solidFill>
              <a:srgbClr val="D32A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x-none" dirty="0"/>
            </a:p>
          </p:txBody>
        </p:sp>
        <p:pic>
          <p:nvPicPr>
            <p:cNvPr id="19" name="Picture 1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62730" y="157713"/>
              <a:ext cx="1504919" cy="800309"/>
            </a:xfrm>
            <a:prstGeom prst="rect">
              <a:avLst/>
            </a:prstGeom>
          </p:spPr>
        </p:pic>
        <p:sp>
          <p:nvSpPr>
            <p:cNvPr id="20" name="TextBox 19"/>
            <p:cNvSpPr txBox="1"/>
            <p:nvPr/>
          </p:nvSpPr>
          <p:spPr>
            <a:xfrm>
              <a:off x="10719753" y="696917"/>
              <a:ext cx="1619033" cy="261610"/>
            </a:xfrm>
            <a:prstGeom prst="rect">
              <a:avLst/>
            </a:prstGeom>
            <a:noFill/>
          </p:spPr>
          <p:txBody>
            <a:bodyPr wrap="square" rtlCol="0">
              <a:spAutoFit/>
            </a:bodyPr>
            <a:lstStyle/>
            <a:p>
              <a:r>
                <a:rPr lang="en-US" sz="1100" dirty="0" err="1">
                  <a:solidFill>
                    <a:schemeClr val="bg1"/>
                  </a:solidFill>
                </a:rPr>
                <a:t>unioffaisalabad</a:t>
              </a:r>
              <a:endParaRPr lang="x-none" sz="1100" dirty="0">
                <a:solidFill>
                  <a:schemeClr val="bg1"/>
                </a:solidFill>
              </a:endParaRPr>
            </a:p>
          </p:txBody>
        </p:sp>
        <p:pic>
          <p:nvPicPr>
            <p:cNvPr id="21" name="Graphic 11"/>
            <p:cNvPicPr>
              <a:picLocks noChangeAspect="1"/>
            </p:cNvPicPr>
            <p:nvPr/>
          </p:nvPicPr>
          <p:blipFill>
            <a:blip r:embed="rId4"/>
            <a:stretch>
              <a:fillRect/>
            </a:stretch>
          </p:blipFill>
          <p:spPr>
            <a:xfrm>
              <a:off x="9906056" y="403986"/>
              <a:ext cx="261610" cy="261610"/>
            </a:xfrm>
            <a:prstGeom prst="rect">
              <a:avLst/>
            </a:prstGeom>
          </p:spPr>
        </p:pic>
        <p:sp>
          <p:nvSpPr>
            <p:cNvPr id="22" name="TextBox 21"/>
            <p:cNvSpPr txBox="1"/>
            <p:nvPr/>
          </p:nvSpPr>
          <p:spPr>
            <a:xfrm>
              <a:off x="10142944" y="350125"/>
              <a:ext cx="2606404" cy="369332"/>
            </a:xfrm>
            <a:prstGeom prst="rect">
              <a:avLst/>
            </a:prstGeom>
            <a:noFill/>
          </p:spPr>
          <p:txBody>
            <a:bodyPr wrap="square" rtlCol="0">
              <a:spAutoFit/>
            </a:bodyPr>
            <a:lstStyle/>
            <a:p>
              <a:r>
                <a:rPr lang="x-none" dirty="0">
                  <a:solidFill>
                    <a:schemeClr val="bg1"/>
                  </a:solidFill>
                </a:rPr>
                <a:t>w</a:t>
              </a:r>
              <a:r>
                <a:rPr lang="en-US" dirty="0">
                  <a:solidFill>
                    <a:schemeClr val="bg1"/>
                  </a:solidFill>
                </a:rPr>
                <a:t>w</a:t>
              </a:r>
              <a:r>
                <a:rPr lang="x-none" dirty="0">
                  <a:solidFill>
                    <a:schemeClr val="bg1"/>
                  </a:solidFill>
                </a:rPr>
                <a:t>w.</a:t>
              </a:r>
              <a:r>
                <a:rPr lang="en-US" dirty="0">
                  <a:solidFill>
                    <a:schemeClr val="bg1"/>
                  </a:solidFill>
                </a:rPr>
                <a:t>t</a:t>
              </a:r>
              <a:r>
                <a:rPr lang="x-none" dirty="0">
                  <a:solidFill>
                    <a:schemeClr val="bg1"/>
                  </a:solidFill>
                </a:rPr>
                <a:t>u</a:t>
              </a:r>
              <a:r>
                <a:rPr lang="en-US" dirty="0">
                  <a:solidFill>
                    <a:schemeClr val="bg1"/>
                  </a:solidFill>
                </a:rPr>
                <a:t>f</a:t>
              </a:r>
              <a:r>
                <a:rPr lang="x-none" dirty="0">
                  <a:solidFill>
                    <a:schemeClr val="bg1"/>
                  </a:solidFill>
                </a:rPr>
                <a:t>.</a:t>
              </a:r>
              <a:r>
                <a:rPr lang="en-US" dirty="0">
                  <a:solidFill>
                    <a:schemeClr val="bg1"/>
                  </a:solidFill>
                </a:rPr>
                <a:t>e</a:t>
              </a:r>
              <a:r>
                <a:rPr lang="x-none" dirty="0">
                  <a:solidFill>
                    <a:schemeClr val="bg1"/>
                  </a:solidFill>
                </a:rPr>
                <a:t>d</a:t>
              </a:r>
              <a:r>
                <a:rPr lang="en-US" dirty="0">
                  <a:solidFill>
                    <a:schemeClr val="bg1"/>
                  </a:solidFill>
                </a:rPr>
                <a:t>u</a:t>
              </a:r>
              <a:r>
                <a:rPr lang="x-none" dirty="0">
                  <a:solidFill>
                    <a:schemeClr val="bg1"/>
                  </a:solidFill>
                </a:rPr>
                <a:t>.</a:t>
              </a:r>
              <a:r>
                <a:rPr lang="en-US" dirty="0">
                  <a:solidFill>
                    <a:schemeClr val="bg1"/>
                  </a:solidFill>
                </a:rPr>
                <a:t>p</a:t>
              </a:r>
              <a:r>
                <a:rPr lang="x-none" dirty="0">
                  <a:solidFill>
                    <a:schemeClr val="bg1"/>
                  </a:solidFill>
                </a:rPr>
                <a:t>k</a:t>
              </a:r>
            </a:p>
          </p:txBody>
        </p:sp>
        <p:pic>
          <p:nvPicPr>
            <p:cNvPr id="23" name="Graphic 13"/>
            <p:cNvPicPr>
              <a:picLocks noChangeAspect="1"/>
            </p:cNvPicPr>
            <p:nvPr/>
          </p:nvPicPr>
          <p:blipFill>
            <a:blip r:embed="rId5" cstate="print"/>
            <a:stretch>
              <a:fillRect/>
            </a:stretch>
          </p:blipFill>
          <p:spPr>
            <a:xfrm>
              <a:off x="10591033" y="741997"/>
              <a:ext cx="171450" cy="171450"/>
            </a:xfrm>
            <a:prstGeom prst="rect">
              <a:avLst/>
            </a:prstGeom>
          </p:spPr>
        </p:pic>
        <p:pic>
          <p:nvPicPr>
            <p:cNvPr id="24" name="Picture 23"/>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0353170" y="749176"/>
              <a:ext cx="171451" cy="171451"/>
            </a:xfrm>
            <a:prstGeom prst="rect">
              <a:avLst/>
            </a:prstGeom>
          </p:spPr>
        </p:pic>
      </p:grpSp>
      <p:sp>
        <p:nvSpPr>
          <p:cNvPr id="2" name="Slide Number Placeholder 1"/>
          <p:cNvSpPr>
            <a:spLocks noGrp="1"/>
          </p:cNvSpPr>
          <p:nvPr>
            <p:ph type="sldNum" sz="quarter" idx="12"/>
          </p:nvPr>
        </p:nvSpPr>
        <p:spPr/>
        <p:txBody>
          <a:bodyPr/>
          <a:lstStyle/>
          <a:p>
            <a:fld id="{6EB9F7D7-3C9C-4146-9FA1-B77DEB44278D}" type="slidenum">
              <a:rPr lang="en-US" smtClean="0"/>
              <a:t>10</a:t>
            </a:fld>
            <a:endParaRPr lang="en-US"/>
          </a:p>
        </p:txBody>
      </p:sp>
    </p:spTree>
    <p:extLst>
      <p:ext uri="{BB962C8B-B14F-4D97-AF65-F5344CB8AC3E}">
        <p14:creationId xmlns:p14="http://schemas.microsoft.com/office/powerpoint/2010/main" val="1096357906"/>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67</TotalTime>
  <Words>509</Words>
  <Application>Microsoft Office PowerPoint</Application>
  <PresentationFormat>Custom</PresentationFormat>
  <Paragraphs>49</Paragraphs>
  <Slides>10</Slides>
  <Notes>0</Notes>
  <HiddenSlides>0</HiddenSlides>
  <MMClips>0</MMClips>
  <ScaleCrop>false</ScaleCrop>
  <HeadingPairs>
    <vt:vector size="4" baseType="variant">
      <vt:variant>
        <vt:lpstr>Theme</vt:lpstr>
      </vt:variant>
      <vt:variant>
        <vt:i4>1</vt:i4>
      </vt:variant>
      <vt:variant>
        <vt:lpstr>Slide Titles</vt:lpstr>
      </vt:variant>
      <vt:variant>
        <vt:i4>10</vt:i4>
      </vt:variant>
    </vt:vector>
  </HeadingPairs>
  <TitlesOfParts>
    <vt:vector size="11" baseType="lpstr">
      <vt:lpstr>Office Theme</vt:lpstr>
      <vt:lpstr>Technical and Business Writing</vt:lpstr>
      <vt:lpstr>PowerPoint Presentation</vt:lpstr>
      <vt:lpstr>PowerPoint Presentation</vt:lpstr>
      <vt:lpstr>PowerPoint Presentation</vt:lpstr>
      <vt:lpstr>What is an Electronic Communication? </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Sofia Sultana</dc:creator>
  <cp:lastModifiedBy>One</cp:lastModifiedBy>
  <cp:revision>108</cp:revision>
  <dcterms:created xsi:type="dcterms:W3CDTF">2024-06-21T09:49:00Z</dcterms:created>
  <dcterms:modified xsi:type="dcterms:W3CDTF">2024-10-15T08:53:34Z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E48CE66456BC42688DB7678D65527672_13</vt:lpwstr>
  </property>
  <property fmtid="{D5CDD505-2E9C-101B-9397-08002B2CF9AE}" pid="3" name="KSOProductBuildVer">
    <vt:lpwstr>1033-12.2.0.17562</vt:lpwstr>
  </property>
</Properties>
</file>