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69" r:id="rId2"/>
    <p:sldId id="859" r:id="rId3"/>
    <p:sldId id="860" r:id="rId4"/>
    <p:sldId id="861" r:id="rId5"/>
    <p:sldId id="862" r:id="rId6"/>
    <p:sldId id="867" r:id="rId7"/>
    <p:sldId id="868" r:id="rId8"/>
    <p:sldId id="863" r:id="rId9"/>
    <p:sldId id="864" r:id="rId10"/>
    <p:sldId id="865" r:id="rId11"/>
    <p:sldId id="866" r:id="rId12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1" d="100"/>
          <a:sy n="81" d="100"/>
        </p:scale>
        <p:origin x="-258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11723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646" y="2458530"/>
            <a:ext cx="8780585" cy="115316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Technical and Business Writing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Aqsa Ashraf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ENG-201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Week 1, Lecture 2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6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           DISCIPLINES</a:t>
            </a:r>
          </a:p>
          <a:p>
            <a:pPr algn="ctr">
              <a:buNone/>
            </a:pPr>
            <a:r>
              <a:rPr lang="en-US" sz="2600" u="sng" dirty="0">
                <a:solidFill>
                  <a:srgbClr val="0033CC"/>
                </a:solidFill>
              </a:rPr>
              <a:t>Across Disciplines</a:t>
            </a:r>
          </a:p>
          <a:p>
            <a:r>
              <a:rPr lang="en-US" sz="2600" dirty="0"/>
              <a:t>“interdisciplinary”</a:t>
            </a:r>
          </a:p>
          <a:p>
            <a:r>
              <a:rPr lang="en-US" sz="2600" dirty="0"/>
              <a:t>computer sciences</a:t>
            </a:r>
          </a:p>
          <a:p>
            <a:r>
              <a:rPr lang="en-US" sz="2600" dirty="0"/>
              <a:t>psychology</a:t>
            </a:r>
          </a:p>
          <a:p>
            <a:r>
              <a:rPr lang="en-US" sz="2600" dirty="0"/>
              <a:t>mixture of:</a:t>
            </a:r>
          </a:p>
          <a:p>
            <a:pPr lvl="1"/>
            <a:r>
              <a:rPr lang="en-US" dirty="0"/>
              <a:t>history</a:t>
            </a:r>
          </a:p>
          <a:p>
            <a:pPr lvl="1"/>
            <a:r>
              <a:rPr lang="en-US" dirty="0"/>
              <a:t>math</a:t>
            </a:r>
          </a:p>
          <a:p>
            <a:pPr lvl="1"/>
            <a:r>
              <a:rPr lang="en-US" dirty="0"/>
              <a:t>science</a:t>
            </a:r>
          </a:p>
          <a:p>
            <a:pPr lvl="1"/>
            <a:r>
              <a:rPr lang="en-US" dirty="0"/>
              <a:t>technology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4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           DISCIPLINES</a:t>
            </a:r>
          </a:p>
          <a:p>
            <a:pPr algn="ctr">
              <a:buNone/>
            </a:pPr>
            <a:r>
              <a:rPr lang="en-US" sz="2600" u="sng" dirty="0">
                <a:solidFill>
                  <a:srgbClr val="0033CC"/>
                </a:solidFill>
              </a:rPr>
              <a:t>Single Discipline</a:t>
            </a:r>
          </a:p>
          <a:p>
            <a:r>
              <a:rPr lang="en-US" sz="2600" dirty="0"/>
              <a:t>“discipline-specific”</a:t>
            </a:r>
          </a:p>
          <a:p>
            <a:pPr lvl="1"/>
            <a:r>
              <a:rPr lang="en-US" dirty="0"/>
              <a:t>literary data for an English paper</a:t>
            </a:r>
          </a:p>
          <a:p>
            <a:pPr lvl="1"/>
            <a:r>
              <a:rPr lang="en-US" dirty="0"/>
              <a:t>historical information on a history paper</a:t>
            </a:r>
          </a:p>
          <a:p>
            <a:pPr lvl="1"/>
            <a:r>
              <a:rPr lang="en-US" dirty="0"/>
              <a:t>psychological ideas on a psychology test</a:t>
            </a:r>
          </a:p>
          <a:p>
            <a:r>
              <a:rPr lang="en-US" sz="2600" dirty="0"/>
              <a:t>rarely a mixture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8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  COMPONENTS</a:t>
            </a:r>
          </a:p>
          <a:p>
            <a:pPr algn="ctr">
              <a:buNone/>
            </a:pPr>
            <a:r>
              <a:rPr lang="en-US" u="sng" dirty="0">
                <a:solidFill>
                  <a:srgbClr val="0033CC"/>
                </a:solidFill>
              </a:rPr>
              <a:t>Oral, Visual, Written</a:t>
            </a:r>
          </a:p>
          <a:p>
            <a:r>
              <a:rPr lang="en-US" dirty="0"/>
              <a:t>produce documents</a:t>
            </a:r>
          </a:p>
          <a:p>
            <a:r>
              <a:rPr lang="en-US" dirty="0"/>
              <a:t>present documents</a:t>
            </a:r>
          </a:p>
          <a:p>
            <a:r>
              <a:rPr lang="en-US" dirty="0"/>
              <a:t>write to be </a:t>
            </a:r>
            <a:r>
              <a:rPr lang="en-US" i="1" dirty="0"/>
              <a:t>read</a:t>
            </a:r>
            <a:r>
              <a:rPr lang="en-US" dirty="0"/>
              <a:t> </a:t>
            </a:r>
          </a:p>
          <a:p>
            <a:r>
              <a:rPr lang="en-US" dirty="0"/>
              <a:t>write to be </a:t>
            </a:r>
            <a:r>
              <a:rPr lang="en-US" i="1" dirty="0"/>
              <a:t>seen</a:t>
            </a:r>
            <a:r>
              <a:rPr lang="en-US" dirty="0"/>
              <a:t> </a:t>
            </a:r>
          </a:p>
          <a:p>
            <a:r>
              <a:rPr lang="en-US" dirty="0"/>
              <a:t>write to be </a:t>
            </a:r>
            <a:r>
              <a:rPr lang="en-US" i="1" dirty="0"/>
              <a:t>heard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  COMPONENTS</a:t>
            </a:r>
          </a:p>
          <a:p>
            <a:pPr algn="ctr">
              <a:buNone/>
            </a:pPr>
            <a:r>
              <a:rPr lang="en-US" sz="2600" u="sng" dirty="0">
                <a:solidFill>
                  <a:srgbClr val="0033CC"/>
                </a:solidFill>
              </a:rPr>
              <a:t>Written</a:t>
            </a:r>
            <a:r>
              <a:rPr lang="en-US" sz="2600" dirty="0"/>
              <a:t> </a:t>
            </a:r>
          </a:p>
          <a:p>
            <a:r>
              <a:rPr lang="en-US" sz="2600" dirty="0"/>
              <a:t>infrequent oral and visual components</a:t>
            </a:r>
          </a:p>
          <a:p>
            <a:r>
              <a:rPr lang="en-US" sz="2600" dirty="0"/>
              <a:t>predominant written component</a:t>
            </a:r>
          </a:p>
          <a:p>
            <a:r>
              <a:rPr lang="en-US" sz="2600" dirty="0"/>
              <a:t>write to be read </a:t>
            </a:r>
          </a:p>
          <a:p>
            <a:pPr lvl="1"/>
            <a:r>
              <a:rPr lang="en-US" dirty="0"/>
              <a:t>by teacher</a:t>
            </a:r>
          </a:p>
          <a:p>
            <a:r>
              <a:rPr lang="en-US" sz="2600" dirty="0"/>
              <a:t>write to be graded</a:t>
            </a:r>
          </a:p>
          <a:p>
            <a:r>
              <a:rPr lang="en-US" sz="2600" dirty="0"/>
              <a:t>not to be seen or heard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8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/>
              <a:t>Similarities</a:t>
            </a:r>
          </a:p>
          <a:p>
            <a:pPr>
              <a:defRPr/>
            </a:pPr>
            <a:r>
              <a:rPr lang="en-US" sz="3600" u="sng" dirty="0"/>
              <a:t>Grammar</a:t>
            </a:r>
            <a:r>
              <a:rPr lang="en-US" sz="3600" dirty="0"/>
              <a:t>:</a:t>
            </a:r>
          </a:p>
          <a:p>
            <a:pPr lvl="1">
              <a:defRPr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active voice</a:t>
            </a:r>
          </a:p>
          <a:p>
            <a:pPr lvl="1">
              <a:defRPr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descriptive writing</a:t>
            </a:r>
          </a:p>
          <a:p>
            <a:pPr lvl="1">
              <a:defRPr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concise sentences</a:t>
            </a:r>
          </a:p>
          <a:p>
            <a:pPr lvl="1">
              <a:defRPr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spelling!</a:t>
            </a:r>
          </a:p>
          <a:p>
            <a:pPr lvl="1">
              <a:defRPr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proofread!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00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/>
              <a:t>Similarities</a:t>
            </a:r>
          </a:p>
          <a:p>
            <a:pPr>
              <a:defRPr/>
            </a:pPr>
            <a:r>
              <a:rPr lang="en-US" sz="4000" u="sng" dirty="0"/>
              <a:t>Writing as a Process</a:t>
            </a:r>
            <a:r>
              <a:rPr lang="en-US" sz="4000" dirty="0"/>
              <a:t>:</a:t>
            </a:r>
          </a:p>
          <a:p>
            <a:pPr lvl="1">
              <a:defRPr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Planning</a:t>
            </a:r>
          </a:p>
          <a:p>
            <a:pPr lvl="1">
              <a:defRPr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Drafting</a:t>
            </a:r>
          </a:p>
          <a:p>
            <a:pPr lvl="1">
              <a:defRPr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 Revising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14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>
                <a:solidFill>
                  <a:srgbClr val="7B9899"/>
                </a:solidFill>
              </a:rPr>
              <a:t>CONCLUSIONS</a:t>
            </a:r>
          </a:p>
          <a:p>
            <a:r>
              <a:rPr lang="en-US" u="sng" dirty="0">
                <a:solidFill>
                  <a:srgbClr val="0033CC"/>
                </a:solidFill>
              </a:rPr>
              <a:t>Technical Communication</a:t>
            </a:r>
            <a:r>
              <a:rPr lang="en-US" dirty="0">
                <a:solidFill>
                  <a:srgbClr val="0033CC"/>
                </a:solidFill>
              </a:rPr>
              <a:t>:  </a:t>
            </a:r>
          </a:p>
          <a:p>
            <a:pPr lvl="1"/>
            <a:r>
              <a:rPr lang="en-US" dirty="0"/>
              <a:t>Practicality in the employment world</a:t>
            </a:r>
          </a:p>
          <a:p>
            <a:pPr lvl="1"/>
            <a:r>
              <a:rPr lang="en-US" dirty="0"/>
              <a:t>Real-World application</a:t>
            </a:r>
          </a:p>
          <a:p>
            <a:endParaRPr lang="en-US" u="sng" dirty="0"/>
          </a:p>
          <a:p>
            <a:r>
              <a:rPr lang="en-US" u="sng" dirty="0">
                <a:solidFill>
                  <a:srgbClr val="0033CC"/>
                </a:solidFill>
              </a:rPr>
              <a:t>Academic Writing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Demonstration of knowledge</a:t>
            </a:r>
          </a:p>
          <a:p>
            <a:pPr lvl="1"/>
            <a:r>
              <a:rPr lang="en-US" dirty="0"/>
              <a:t>Limited to academia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4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>
                <a:solidFill>
                  <a:srgbClr val="7B9899"/>
                </a:solidFill>
              </a:rPr>
              <a:t>CONCLUSIONS</a:t>
            </a:r>
          </a:p>
          <a:p>
            <a:r>
              <a:rPr lang="en-US" u="sng" dirty="0">
                <a:solidFill>
                  <a:srgbClr val="0033CC"/>
                </a:solidFill>
              </a:rPr>
              <a:t>Technical Communication</a:t>
            </a:r>
            <a:r>
              <a:rPr lang="en-US" dirty="0">
                <a:solidFill>
                  <a:srgbClr val="0033CC"/>
                </a:solidFill>
              </a:rPr>
              <a:t>:  </a:t>
            </a:r>
          </a:p>
          <a:p>
            <a:pPr lvl="1"/>
            <a:r>
              <a:rPr lang="en-US" dirty="0"/>
              <a:t>By an informed writer </a:t>
            </a:r>
          </a:p>
          <a:p>
            <a:pPr lvl="1"/>
            <a:r>
              <a:rPr lang="en-US" dirty="0"/>
              <a:t>Conveying necessary information </a:t>
            </a:r>
          </a:p>
          <a:p>
            <a:pPr lvl="1"/>
            <a:r>
              <a:rPr lang="en-US" dirty="0"/>
              <a:t>Both visually &amp; verbally </a:t>
            </a:r>
          </a:p>
          <a:p>
            <a:pPr lvl="1"/>
            <a:r>
              <a:rPr lang="en-US" dirty="0"/>
              <a:t>To a lesser-informed reader </a:t>
            </a:r>
          </a:p>
          <a:p>
            <a:pPr lvl="2"/>
            <a:r>
              <a:rPr lang="en-US" dirty="0"/>
              <a:t>(</a:t>
            </a:r>
            <a:r>
              <a:rPr lang="en-US" dirty="0">
                <a:solidFill>
                  <a:schemeClr val="accent2"/>
                </a:solidFill>
              </a:rPr>
              <a:t>writer = teacher</a:t>
            </a:r>
            <a:r>
              <a:rPr lang="en-US" dirty="0"/>
              <a:t>)</a:t>
            </a:r>
          </a:p>
          <a:p>
            <a:r>
              <a:rPr lang="en-US" u="sng" dirty="0" smtClean="0">
                <a:solidFill>
                  <a:srgbClr val="0033CC"/>
                </a:solidFill>
              </a:rPr>
              <a:t>Academic </a:t>
            </a:r>
            <a:r>
              <a:rPr lang="en-US" u="sng" dirty="0">
                <a:solidFill>
                  <a:srgbClr val="0033CC"/>
                </a:solidFill>
              </a:rPr>
              <a:t>Writing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By a student-learner for an expert reader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6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>
                <a:solidFill>
                  <a:srgbClr val="7B9899"/>
                </a:solidFill>
              </a:rPr>
              <a:t>CONCLUSIONS</a:t>
            </a:r>
          </a:p>
          <a:p>
            <a:r>
              <a:rPr lang="en-US" u="sng" dirty="0">
                <a:solidFill>
                  <a:srgbClr val="0033CC"/>
                </a:solidFill>
              </a:rPr>
              <a:t>Technical Communication</a:t>
            </a:r>
            <a:r>
              <a:rPr lang="en-US" dirty="0">
                <a:solidFill>
                  <a:srgbClr val="0033CC"/>
                </a:solidFill>
              </a:rPr>
              <a:t>:  </a:t>
            </a:r>
          </a:p>
          <a:p>
            <a:pPr lvl="1"/>
            <a:r>
              <a:rPr lang="en-US" dirty="0"/>
              <a:t>Read by many, </a:t>
            </a:r>
          </a:p>
          <a:p>
            <a:pPr lvl="1"/>
            <a:r>
              <a:rPr lang="en-US" dirty="0"/>
              <a:t>To satisfy the needs of many</a:t>
            </a:r>
          </a:p>
          <a:p>
            <a:endParaRPr lang="en-US" u="sng" dirty="0"/>
          </a:p>
          <a:p>
            <a:r>
              <a:rPr lang="en-US" u="sng" dirty="0">
                <a:solidFill>
                  <a:srgbClr val="0033CC"/>
                </a:solidFill>
              </a:rPr>
              <a:t>Academic Writing</a:t>
            </a:r>
            <a:r>
              <a:rPr lang="en-US" dirty="0">
                <a:solidFill>
                  <a:srgbClr val="0033CC"/>
                </a:solidFill>
              </a:rPr>
              <a:t>: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Read by one, </a:t>
            </a:r>
          </a:p>
          <a:p>
            <a:pPr lvl="1"/>
            <a:r>
              <a:rPr lang="en-US" dirty="0"/>
              <a:t>To appease the criteria of one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8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3">
                    <a:shade val="75000"/>
                  </a:schemeClr>
                </a:solidFill>
              </a:rPr>
              <a:t>                                                 </a:t>
            </a:r>
            <a:r>
              <a:rPr lang="en-US" dirty="0" smtClean="0">
                <a:solidFill>
                  <a:srgbClr val="7B9899"/>
                </a:solidFill>
              </a:rPr>
              <a:t>CONCLUSIONS</a:t>
            </a:r>
          </a:p>
          <a:p>
            <a:r>
              <a:rPr lang="en-US" u="sng" dirty="0">
                <a:solidFill>
                  <a:srgbClr val="0033CC"/>
                </a:solidFill>
              </a:rPr>
              <a:t>Technical Communication</a:t>
            </a:r>
            <a:r>
              <a:rPr lang="en-US" dirty="0">
                <a:solidFill>
                  <a:srgbClr val="0033CC"/>
                </a:solidFill>
              </a:rPr>
              <a:t>:  </a:t>
            </a:r>
          </a:p>
          <a:p>
            <a:pPr lvl="1"/>
            <a:r>
              <a:rPr lang="en-US" dirty="0"/>
              <a:t>Public Speaking component —</a:t>
            </a:r>
          </a:p>
          <a:p>
            <a:pPr lvl="2"/>
            <a:r>
              <a:rPr lang="en-US" dirty="0"/>
              <a:t>formal conference speeches</a:t>
            </a:r>
          </a:p>
          <a:p>
            <a:pPr lvl="2"/>
            <a:r>
              <a:rPr lang="en-US" dirty="0"/>
              <a:t>informal meeting speeches</a:t>
            </a:r>
          </a:p>
          <a:p>
            <a:endParaRPr lang="en-US" u="sng" dirty="0"/>
          </a:p>
          <a:p>
            <a:r>
              <a:rPr lang="en-US" u="sng" dirty="0">
                <a:solidFill>
                  <a:srgbClr val="0033CC"/>
                </a:solidFill>
              </a:rPr>
              <a:t>Academic Writing</a:t>
            </a:r>
            <a:r>
              <a:rPr lang="en-US" dirty="0">
                <a:solidFill>
                  <a:srgbClr val="0033CC"/>
                </a:solidFill>
              </a:rPr>
              <a:t>: </a:t>
            </a:r>
          </a:p>
          <a:p>
            <a:pPr lvl="1"/>
            <a:r>
              <a:rPr lang="en-US" dirty="0"/>
              <a:t>Limited Public Speaking opportunities </a:t>
            </a:r>
          </a:p>
          <a:p>
            <a:pPr lvl="2"/>
            <a:r>
              <a:rPr lang="en-US" dirty="0"/>
              <a:t>conferences or rare class projects</a:t>
            </a:r>
          </a:p>
          <a:p>
            <a:pPr lvl="2"/>
            <a:r>
              <a:rPr lang="en-US" dirty="0"/>
              <a:t>Public Speaking courses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532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9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393</Words>
  <Application>Microsoft Office PowerPoint</Application>
  <PresentationFormat>Custom</PresentationFormat>
  <Paragraphs>103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Technical and Business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66</cp:revision>
  <dcterms:created xsi:type="dcterms:W3CDTF">2024-06-21T09:49:54Z</dcterms:created>
  <dcterms:modified xsi:type="dcterms:W3CDTF">2024-10-09T07:29:30Z</dcterms:modified>
</cp:coreProperties>
</file>