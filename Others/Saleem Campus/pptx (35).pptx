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875" r:id="rId2"/>
    <p:sldId id="868" r:id="rId3"/>
    <p:sldId id="871" r:id="rId4"/>
    <p:sldId id="826" r:id="rId5"/>
    <p:sldId id="872" r:id="rId6"/>
    <p:sldId id="873" r:id="rId7"/>
    <p:sldId id="874" r:id="rId8"/>
    <p:sldId id="877" r:id="rId9"/>
    <p:sldId id="876" r:id="rId10"/>
    <p:sldId id="878" r:id="rId11"/>
    <p:sldId id="879" r:id="rId12"/>
    <p:sldId id="881" r:id="rId13"/>
    <p:sldId id="884" r:id="rId14"/>
    <p:sldId id="88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32A2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7691" autoAdjust="0"/>
  </p:normalViewPr>
  <p:slideViewPr>
    <p:cSldViewPr snapToGrid="0" showGuides="1">
      <p:cViewPr>
        <p:scale>
          <a:sx n="70" d="100"/>
          <a:sy n="70" d="100"/>
        </p:scale>
        <p:origin x="-714"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1506402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37A82C-AEEE-48DB-A866-3B1CA0AC9D5D}" type="datetimeFigureOut">
              <a:rPr lang="en-US" smtClean="0"/>
              <a:t>10/9/2024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7A82C-AEEE-48DB-A866-3B1CA0AC9D5D}" type="datetimeFigureOut">
              <a:rPr lang="en-US" smtClean="0"/>
              <a:t>10/9/2024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en-US" smtClean="0"/>
              <a:t>10/9/2024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US" smtClean="0"/>
              <a:t>10/9/2024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tudysmarter.co.uk/explanations/english/summary-text/results/"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www.studysmarter.co.uk/explanations/english/rhetoric/comparison/" TargetMode="External"/><Relationship Id="rId7" Type="http://schemas.openxmlformats.org/officeDocument/2006/relationships/image" Target="../media/image6.png"/><Relationship Id="rId2" Type="http://schemas.openxmlformats.org/officeDocument/2006/relationships/hyperlink" Target="https://www.studysmarter.co.uk/explanations/english/rhetoric/contrast/"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www.studysmarter.co.uk/explanations/english/summary-text/abstract/" TargetMode="External"/><Relationship Id="rId7" Type="http://schemas.openxmlformats.org/officeDocument/2006/relationships/image" Target="../media/image6.png"/><Relationship Id="rId2" Type="http://schemas.openxmlformats.org/officeDocument/2006/relationships/hyperlink" Target="https://www.studysmarter.co.uk/explanations/english/rhetoric/definition/"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tudysmarter.co.uk/explanations/english/summary-text/abstract/"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tudysmarter.co.uk/explanations/english/summary-text/results/" TargetMode="External"/><Relationship Id="rId5" Type="http://schemas.openxmlformats.org/officeDocument/2006/relationships/image" Target="../media/image6.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01675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679450" y="2449195"/>
            <a:ext cx="8822055" cy="1153160"/>
          </a:xfrm>
        </p:spPr>
        <p:txBody>
          <a:bodyPr>
            <a:normAutofit fontScale="90000"/>
          </a:bodyPr>
          <a:lstStyle/>
          <a:p>
            <a:r>
              <a:rPr lang="en-US" altLang="en-GB" b="1" dirty="0" smtClean="0">
                <a:solidFill>
                  <a:schemeClr val="bg1"/>
                </a:solidFill>
              </a:rPr>
              <a:t>Technical and Business Writing</a:t>
            </a:r>
            <a:endParaRPr lang="en-US" altLang="en-GB" b="1" dirty="0">
              <a:solidFill>
                <a:schemeClr val="bg1"/>
              </a:solidFill>
            </a:endParaRPr>
          </a:p>
        </p:txBody>
      </p:sp>
      <p:sp>
        <p:nvSpPr>
          <p:cNvPr id="3" name="Subtitle 2"/>
          <p:cNvSpPr>
            <a:spLocks noGrp="1"/>
          </p:cNvSpPr>
          <p:nvPr>
            <p:ph type="subTitle" idx="1"/>
          </p:nvPr>
        </p:nvSpPr>
        <p:spPr>
          <a:xfrm>
            <a:off x="1158494" y="3602038"/>
            <a:ext cx="8955024" cy="1153160"/>
          </a:xfrm>
        </p:spPr>
        <p:txBody>
          <a:bodyPr>
            <a:noAutofit/>
          </a:bodyPr>
          <a:lstStyle/>
          <a:p>
            <a:pPr algn="l"/>
            <a:r>
              <a:rPr lang="en-US" altLang="en-GB" sz="2800" b="1" dirty="0">
                <a:solidFill>
                  <a:schemeClr val="bg1"/>
                </a:solidFill>
                <a:latin typeface="Bahnschrift" panose="020B0502040204020203" pitchFamily="34" charset="0"/>
              </a:rPr>
              <a:t>                   </a:t>
            </a:r>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smtClean="0">
                <a:solidFill>
                  <a:schemeClr val="bg1"/>
                </a:solidFill>
                <a:latin typeface="Arial" panose="020B0604020202020204" pitchFamily="34" charset="0"/>
                <a:cs typeface="Arial" panose="020B0604020202020204" pitchFamily="34" charset="0"/>
              </a:rPr>
              <a:t>Aqsa Ashraf</a:t>
            </a:r>
          </a:p>
          <a:p>
            <a:pPr algn="l"/>
            <a:r>
              <a:rPr lang="en-US" sz="2000" b="1" dirty="0" smtClean="0">
                <a:solidFill>
                  <a:schemeClr val="bg1"/>
                </a:solidFill>
                <a:latin typeface="Arial" panose="020B0604020202020204" pitchFamily="34" charset="0"/>
                <a:cs typeface="Arial" panose="020B0604020202020204" pitchFamily="34" charset="0"/>
              </a:rPr>
              <a:t>ENG-201</a:t>
            </a:r>
          </a:p>
          <a:p>
            <a:pPr algn="l"/>
            <a:r>
              <a:rPr lang="en-US" sz="2000" b="1" dirty="0" smtClean="0">
                <a:solidFill>
                  <a:schemeClr val="bg1"/>
                </a:solidFill>
                <a:latin typeface="Arial" panose="020B0604020202020204" pitchFamily="34" charset="0"/>
                <a:cs typeface="Arial" panose="020B0604020202020204" pitchFamily="34" charset="0"/>
              </a:rPr>
              <a:t>Week3, Lecture </a:t>
            </a:r>
            <a:r>
              <a:rPr lang="en-US" sz="2000" b="1" dirty="0" smtClean="0">
                <a:solidFill>
                  <a:schemeClr val="bg1"/>
                </a:solidFill>
                <a:latin typeface="Arial" panose="020B0604020202020204" pitchFamily="34" charset="0"/>
                <a:cs typeface="Arial" panose="020B0604020202020204" pitchFamily="34" charset="0"/>
              </a:rPr>
              <a:t>3</a:t>
            </a:r>
            <a:endParaRPr lang="en-GB" sz="2000" b="1" dirty="0">
              <a:solidFill>
                <a:schemeClr val="bg1"/>
              </a:solidFill>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9525"/>
            <a:ext cx="3611690" cy="3611690"/>
          </a:xfrm>
          <a:prstGeom prst="rect">
            <a:avLst/>
          </a:prstGeom>
        </p:spPr>
      </p:pic>
      <p:pic>
        <p:nvPicPr>
          <p:cNvPr id="6" name="Picture 5" descr="Department of English Language and Literature"/>
          <p:cNvPicPr>
            <a:picLocks noChangeAspect="1"/>
          </p:cNvPicPr>
          <p:nvPr/>
        </p:nvPicPr>
        <p:blipFill>
          <a:blip r:embed="rId4" cstate="print"/>
          <a:stretch>
            <a:fillRect/>
          </a:stretch>
        </p:blipFill>
        <p:spPr>
          <a:xfrm>
            <a:off x="309245" y="259715"/>
            <a:ext cx="2382520" cy="1418590"/>
          </a:xfrm>
          <a:prstGeom prst="rect">
            <a:avLst/>
          </a:prstGeom>
        </p:spPr>
      </p:pic>
    </p:spTree>
    <p:extLst>
      <p:ext uri="{BB962C8B-B14F-4D97-AF65-F5344CB8AC3E}">
        <p14:creationId xmlns:p14="http://schemas.microsoft.com/office/powerpoint/2010/main" val="34037472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0" y="0"/>
            <a:ext cx="12749348" cy="1115736"/>
            <a:chOff x="0" y="0"/>
            <a:chExt cx="12749348" cy="1115736"/>
          </a:xfrm>
        </p:grpSpPr>
        <p:sp>
          <p:nvSpPr>
            <p:cNvPr id="6" name="Rectangle 5"/>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8" name="TextBox 7"/>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0" name="TextBox 9"/>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13" name="Rectangle 12"/>
          <p:cNvSpPr/>
          <p:nvPr/>
        </p:nvSpPr>
        <p:spPr>
          <a:xfrm>
            <a:off x="1959661" y="6011912"/>
            <a:ext cx="8077200" cy="815608"/>
          </a:xfrm>
          <a:prstGeom prst="rect">
            <a:avLst/>
          </a:prstGeom>
        </p:spPr>
        <p:txBody>
          <a:bodyPr wrap="square">
            <a:spAutoFit/>
          </a:bodyPr>
          <a:lstStyle/>
          <a:p>
            <a:pPr algn="ctr"/>
            <a:r>
              <a:rPr lang="en-US" sz="2400" b="1" dirty="0" smtClean="0">
                <a:latin typeface="Arial" panose="020B0604020202020204" pitchFamily="34" charset="0"/>
                <a:cs typeface="Arial" panose="020B0604020202020204" pitchFamily="34" charset="0"/>
              </a:rPr>
              <a:t> </a:t>
            </a:r>
            <a:r>
              <a:rPr lang="en-US" sz="2300" b="1" dirty="0" smtClean="0">
                <a:latin typeface="Arial" panose="020B0604020202020204" pitchFamily="34" charset="0"/>
                <a:cs typeface="Arial" panose="020B0604020202020204" pitchFamily="34" charset="0"/>
              </a:rPr>
              <a:t/>
            </a:r>
            <a:br>
              <a:rPr lang="en-US" sz="2300" b="1" dirty="0" smtClean="0">
                <a:latin typeface="Arial" panose="020B0604020202020204" pitchFamily="34" charset="0"/>
                <a:cs typeface="Arial" panose="020B0604020202020204" pitchFamily="34" charset="0"/>
              </a:rPr>
            </a:br>
            <a:endParaRPr lang="en-US" sz="2300" b="1" dirty="0"/>
          </a:p>
        </p:txBody>
      </p:sp>
      <p:sp>
        <p:nvSpPr>
          <p:cNvPr id="3" name="Content Placeholder 2"/>
          <p:cNvSpPr>
            <a:spLocks noGrp="1"/>
          </p:cNvSpPr>
          <p:nvPr>
            <p:ph idx="1"/>
          </p:nvPr>
        </p:nvSpPr>
        <p:spPr>
          <a:xfrm>
            <a:off x="838200" y="2552131"/>
            <a:ext cx="10515600" cy="1774208"/>
          </a:xfrm>
        </p:spPr>
        <p:txBody>
          <a:bodyPr>
            <a:normAutofit/>
          </a:bodyPr>
          <a:lstStyle/>
          <a:p>
            <a:pPr marL="0" indent="0">
              <a:buNone/>
            </a:pPr>
            <a:r>
              <a:rPr lang="en-US" sz="6000" dirty="0" smtClean="0"/>
              <a:t>   </a:t>
            </a:r>
            <a:r>
              <a:rPr lang="en-US" sz="6000" dirty="0" smtClean="0"/>
              <a:t>T</a:t>
            </a:r>
            <a:r>
              <a:rPr lang="en-US" sz="6000" dirty="0" smtClean="0"/>
              <a:t>ypes of  Effective Exposition</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55000" lnSpcReduction="20000"/>
          </a:bodyPr>
          <a:lstStyle/>
          <a:p>
            <a:r>
              <a:rPr lang="en-US" sz="5100" b="1" dirty="0"/>
              <a:t>Types of expository writing</a:t>
            </a:r>
          </a:p>
          <a:p>
            <a:pPr marL="0" indent="0">
              <a:buNone/>
            </a:pPr>
            <a:r>
              <a:rPr lang="en-US" sz="5100" dirty="0"/>
              <a:t>There are numerous ways to present topics in a piece of expository writing</a:t>
            </a:r>
            <a:r>
              <a:rPr lang="en-US" sz="5100" dirty="0" smtClean="0"/>
              <a:t>:</a:t>
            </a:r>
          </a:p>
          <a:p>
            <a:pPr>
              <a:buFont typeface="Wingdings" pitchFamily="2" charset="2"/>
              <a:buChar char="Ø"/>
            </a:pPr>
            <a:r>
              <a:rPr lang="en-US" sz="5100" dirty="0"/>
              <a:t>Cause and Effect</a:t>
            </a:r>
          </a:p>
          <a:p>
            <a:pPr>
              <a:buFont typeface="Wingdings" pitchFamily="2" charset="2"/>
              <a:buChar char="Ø"/>
            </a:pPr>
            <a:r>
              <a:rPr lang="en-US" sz="5100" dirty="0" smtClean="0"/>
              <a:t>Compare </a:t>
            </a:r>
            <a:r>
              <a:rPr lang="en-US" sz="5100" dirty="0"/>
              <a:t>and </a:t>
            </a:r>
            <a:r>
              <a:rPr lang="en-US" sz="5100" dirty="0" smtClean="0"/>
              <a:t>contrast</a:t>
            </a:r>
          </a:p>
          <a:p>
            <a:pPr>
              <a:buFont typeface="Wingdings" pitchFamily="2" charset="2"/>
              <a:buChar char="Ø"/>
            </a:pPr>
            <a:r>
              <a:rPr lang="en-US" sz="5100" dirty="0" smtClean="0"/>
              <a:t>Definition</a:t>
            </a:r>
          </a:p>
          <a:p>
            <a:pPr>
              <a:buFont typeface="Wingdings" pitchFamily="2" charset="2"/>
              <a:buChar char="Ø"/>
            </a:pPr>
            <a:r>
              <a:rPr lang="en-US" sz="5100" dirty="0" smtClean="0"/>
              <a:t>Classification</a:t>
            </a:r>
          </a:p>
          <a:p>
            <a:pPr>
              <a:buFont typeface="Wingdings" pitchFamily="2" charset="2"/>
              <a:buChar char="Ø"/>
            </a:pPr>
            <a:r>
              <a:rPr lang="en-US" sz="5100" dirty="0"/>
              <a:t>Problem and </a:t>
            </a:r>
            <a:r>
              <a:rPr lang="en-US" sz="5100" dirty="0" smtClean="0"/>
              <a:t>solution</a:t>
            </a:r>
          </a:p>
          <a:p>
            <a:pPr>
              <a:buFont typeface="Wingdings" pitchFamily="2" charset="2"/>
              <a:buChar char="Ø"/>
            </a:pPr>
            <a:r>
              <a:rPr lang="en-US" sz="5100" dirty="0"/>
              <a:t>Process</a:t>
            </a:r>
          </a:p>
          <a:p>
            <a:pPr marL="0" indent="0">
              <a:buNone/>
            </a:pPr>
            <a:r>
              <a:rPr lang="en-US" dirty="0"/>
              <a:t/>
            </a:r>
            <a:br>
              <a:rPr lang="en-US" dirty="0"/>
            </a:br>
            <a:endParaRPr lang="en-US"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3</a:t>
            </a:fld>
            <a:endParaRPr lang="en-US"/>
          </a:p>
        </p:txBody>
      </p:sp>
    </p:spTree>
    <p:extLst>
      <p:ext uri="{BB962C8B-B14F-4D97-AF65-F5344CB8AC3E}">
        <p14:creationId xmlns:p14="http://schemas.microsoft.com/office/powerpoint/2010/main" val="23144881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sz="3900" b="1" u="sng" dirty="0">
                <a:latin typeface="Times New Roman" pitchFamily="18" charset="0"/>
                <a:cs typeface="Times New Roman" pitchFamily="18" charset="0"/>
              </a:rPr>
              <a:t>Cause and Effect</a:t>
            </a:r>
          </a:p>
          <a:p>
            <a:pPr marL="0" indent="0">
              <a:buNone/>
            </a:pPr>
            <a:r>
              <a:rPr lang="en-US" dirty="0">
                <a:latin typeface="Times New Roman" pitchFamily="18" charset="0"/>
                <a:cs typeface="Times New Roman" pitchFamily="18" charset="0"/>
              </a:rPr>
              <a:t>Cause and effect writing examines the roots of a problem and its </a:t>
            </a:r>
            <a:r>
              <a:rPr lang="en-US" dirty="0">
                <a:latin typeface="Times New Roman" pitchFamily="18" charset="0"/>
                <a:cs typeface="Times New Roman" pitchFamily="18" charset="0"/>
                <a:hlinkClick r:id="rId2"/>
              </a:rPr>
              <a:t>results</a:t>
            </a:r>
            <a:r>
              <a:rPr lang="en-US" dirty="0">
                <a:latin typeface="Times New Roman" pitchFamily="18" charset="0"/>
                <a:cs typeface="Times New Roman" pitchFamily="18" charset="0"/>
              </a:rPr>
              <a:t>. A cause is the root of an event or problem, and an effect is what results from it. Implementing cause and effect in an essay aims to trace the origins of a problem and think about its effects. For example, you could write a cause-and-effect essay exploring the roots of </a:t>
            </a:r>
            <a:r>
              <a:rPr lang="en-US" dirty="0" err="1">
                <a:latin typeface="Times New Roman" pitchFamily="18" charset="0"/>
                <a:cs typeface="Times New Roman" pitchFamily="18" charset="0"/>
              </a:rPr>
              <a:t>Instagram</a:t>
            </a:r>
            <a:r>
              <a:rPr lang="en-US" dirty="0">
                <a:latin typeface="Times New Roman" pitchFamily="18" charset="0"/>
                <a:cs typeface="Times New Roman" pitchFamily="18" charset="0"/>
              </a:rPr>
              <a:t> and how it has affected teenagers' self-esteem. Cause and effect essays overlap with argumentative essays because the effects of an event or problem are often debatable. If you were writing about the impact of </a:t>
            </a:r>
            <a:r>
              <a:rPr lang="en-US" dirty="0" err="1">
                <a:latin typeface="Times New Roman" pitchFamily="18" charset="0"/>
                <a:cs typeface="Times New Roman" pitchFamily="18" charset="0"/>
              </a:rPr>
              <a:t>Instagram</a:t>
            </a:r>
            <a:r>
              <a:rPr lang="en-US" dirty="0">
                <a:latin typeface="Times New Roman" pitchFamily="18" charset="0"/>
                <a:cs typeface="Times New Roman" pitchFamily="18" charset="0"/>
              </a:rPr>
              <a:t> on teenagers, you could debate whether teens' decreased attention spans have their roots in </a:t>
            </a:r>
            <a:r>
              <a:rPr lang="en-US" dirty="0" err="1">
                <a:latin typeface="Times New Roman" pitchFamily="18" charset="0"/>
                <a:cs typeface="Times New Roman" pitchFamily="18" charset="0"/>
              </a:rPr>
              <a:t>Instagram</a:t>
            </a:r>
            <a:r>
              <a:rPr lang="en-US" dirty="0">
                <a:latin typeface="Times New Roman" pitchFamily="18" charset="0"/>
                <a:cs typeface="Times New Roman" pitchFamily="18" charset="0"/>
              </a:rPr>
              <a:t> or other factors.</a:t>
            </a:r>
          </a:p>
          <a:p>
            <a:pPr marL="0" indent="0">
              <a:buNone/>
            </a:pPr>
            <a:r>
              <a:rPr lang="en-US" sz="1600" dirty="0"/>
              <a:t/>
            </a:r>
            <a:br>
              <a:rPr lang="en-US" sz="1600" dirty="0"/>
            </a:br>
            <a:endParaRPr lang="en-US" sz="16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4"/>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5"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200" b="1" u="sng" dirty="0">
                <a:latin typeface="Times New Roman" pitchFamily="18" charset="0"/>
                <a:cs typeface="Times New Roman" pitchFamily="18" charset="0"/>
              </a:rPr>
              <a:t>Compare and Contrast</a:t>
            </a:r>
          </a:p>
          <a:p>
            <a:pPr marL="0" indent="0">
              <a:buNone/>
            </a:pPr>
            <a:r>
              <a:rPr lang="en-US" dirty="0">
                <a:latin typeface="Times New Roman" pitchFamily="18" charset="0"/>
                <a:cs typeface="Times New Roman" pitchFamily="18" charset="0"/>
              </a:rPr>
              <a:t>A compare and </a:t>
            </a:r>
            <a:r>
              <a:rPr lang="en-US" b="1" dirty="0">
                <a:latin typeface="Times New Roman" pitchFamily="18" charset="0"/>
                <a:cs typeface="Times New Roman" pitchFamily="18" charset="0"/>
                <a:hlinkClick r:id="rId2"/>
              </a:rPr>
              <a:t>contrast</a:t>
            </a:r>
            <a:r>
              <a:rPr lang="en-US" dirty="0">
                <a:latin typeface="Times New Roman" pitchFamily="18" charset="0"/>
                <a:cs typeface="Times New Roman" pitchFamily="18" charset="0"/>
              </a:rPr>
              <a:t> essay examines the similarities and differences between items or topics. </a:t>
            </a:r>
            <a:r>
              <a:rPr lang="en-US" b="1" dirty="0">
                <a:latin typeface="Times New Roman" pitchFamily="18" charset="0"/>
                <a:cs typeface="Times New Roman" pitchFamily="18" charset="0"/>
                <a:hlinkClick r:id="rId3"/>
              </a:rPr>
              <a:t>Comparison</a:t>
            </a:r>
            <a:r>
              <a:rPr lang="en-US" dirty="0">
                <a:latin typeface="Times New Roman" pitchFamily="18" charset="0"/>
                <a:cs typeface="Times New Roman" pitchFamily="18" charset="0"/>
              </a:rPr>
              <a:t> explores their similarities, while </a:t>
            </a:r>
            <a:r>
              <a:rPr lang="en-US" b="1" dirty="0">
                <a:latin typeface="Times New Roman" pitchFamily="18" charset="0"/>
                <a:cs typeface="Times New Roman" pitchFamily="18" charset="0"/>
                <a:hlinkClick r:id="rId2"/>
              </a:rPr>
              <a:t>contrast</a:t>
            </a:r>
            <a:r>
              <a:rPr lang="en-US" dirty="0">
                <a:latin typeface="Times New Roman" pitchFamily="18" charset="0"/>
                <a:cs typeface="Times New Roman" pitchFamily="18" charset="0"/>
              </a:rPr>
              <a:t> identifies the different elements. A compare-and-contrast paper analyzes these two subjects' similarities and differences. An essay can contain both comparison and </a:t>
            </a:r>
            <a:r>
              <a:rPr lang="en-US" b="1" dirty="0">
                <a:latin typeface="Times New Roman" pitchFamily="18" charset="0"/>
                <a:cs typeface="Times New Roman" pitchFamily="18" charset="0"/>
                <a:hlinkClick r:id="rId2"/>
              </a:rPr>
              <a:t>contrast</a:t>
            </a:r>
            <a:r>
              <a:rPr lang="en-US" dirty="0">
                <a:latin typeface="Times New Roman" pitchFamily="18" charset="0"/>
                <a:cs typeface="Times New Roman" pitchFamily="18" charset="0"/>
              </a:rPr>
              <a:t> or only one of the two. In an essay focusing on comparison, you will want to select two or more seemingly different subjects and identify their similarities. Concentrating on contrasts in an essay will lead to exploring the minor differences between two similar </a:t>
            </a:r>
            <a:r>
              <a:rPr lang="en-US" dirty="0" smtClean="0">
                <a:latin typeface="Times New Roman" pitchFamily="18" charset="0"/>
                <a:cs typeface="Times New Roman" pitchFamily="18" charset="0"/>
              </a:rPr>
              <a:t>topics.</a:t>
            </a:r>
            <a:endParaRPr lang="en-US" sz="2400" dirty="0">
              <a:latin typeface="Times New Roman" pitchFamily="18" charset="0"/>
              <a:cs typeface="Times New Roman" pitchFamily="18" charset="0"/>
            </a:endParaRPr>
          </a:p>
          <a:p>
            <a:pPr marL="0" indent="0">
              <a:buNone/>
            </a:pPr>
            <a:r>
              <a:rPr lang="en-US" sz="2400" dirty="0"/>
              <a:t/>
            </a:r>
            <a:br>
              <a:rPr lang="en-US" sz="2400" dirty="0"/>
            </a:br>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5"/>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6"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5</a:t>
            </a:fld>
            <a:endParaRPr lang="en-US"/>
          </a:p>
        </p:txBody>
      </p:sp>
    </p:spTree>
    <p:extLst>
      <p:ext uri="{BB962C8B-B14F-4D97-AF65-F5344CB8AC3E}">
        <p14:creationId xmlns:p14="http://schemas.microsoft.com/office/powerpoint/2010/main" val="5994017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4400" b="1" u="sng" dirty="0"/>
              <a:t>Definition</a:t>
            </a:r>
          </a:p>
          <a:p>
            <a:pPr marL="0" indent="0">
              <a:buNone/>
            </a:pPr>
            <a:r>
              <a:rPr lang="en-US" sz="3200" b="1" dirty="0">
                <a:hlinkClick r:id="rId2"/>
              </a:rPr>
              <a:t>Definition</a:t>
            </a:r>
            <a:r>
              <a:rPr lang="en-US" sz="3200" dirty="0"/>
              <a:t> focuses on explaining the extended meaning of a word or term. When you think of definition, you may think that this type of writing states dictionary definitions of words. However, explaining and incorporating definitions into essays is trickier than you might assume. </a:t>
            </a:r>
            <a:r>
              <a:rPr lang="en-US" sz="3200" b="1" dirty="0">
                <a:hlinkClick r:id="rId2"/>
              </a:rPr>
              <a:t>Definition</a:t>
            </a:r>
            <a:r>
              <a:rPr lang="en-US" sz="3200" dirty="0"/>
              <a:t> focuses on terms that have debatable meanings. You can discuss the meaning of words, especially if they describe </a:t>
            </a:r>
            <a:r>
              <a:rPr lang="en-US" sz="3200" b="1" dirty="0">
                <a:hlinkClick r:id="rId3"/>
              </a:rPr>
              <a:t>abstract</a:t>
            </a:r>
            <a:r>
              <a:rPr lang="en-US" sz="3200" dirty="0"/>
              <a:t> concepts.</a:t>
            </a:r>
          </a:p>
          <a:p>
            <a:pPr marL="0" indent="0">
              <a:buNone/>
            </a:pPr>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5"/>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6"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6</a:t>
            </a:fld>
            <a:endParaRPr lang="en-US"/>
          </a:p>
        </p:txBody>
      </p:sp>
    </p:spTree>
    <p:extLst>
      <p:ext uri="{BB962C8B-B14F-4D97-AF65-F5344CB8AC3E}">
        <p14:creationId xmlns:p14="http://schemas.microsoft.com/office/powerpoint/2010/main" val="38463025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200" dirty="0"/>
              <a:t>For example, people will have different opinions about the meaning of "American democracy." Experts will have varying ideas about what American democracy should look like and will have different definitions of it. Further, people's morality or background can influence their definition of a word. For example, a native citizen and an immigrant of the country will have different definitions of the word "homeland." In a definition essay, you will want to focus on defining words associated with concepts or ideas that are </a:t>
            </a:r>
            <a:r>
              <a:rPr lang="en-US" sz="3200" b="1" dirty="0">
                <a:hlinkClick r:id="rId2"/>
              </a:rPr>
              <a:t>abstract</a:t>
            </a:r>
            <a:r>
              <a:rPr lang="en-US" sz="3200" dirty="0"/>
              <a:t>.</a:t>
            </a:r>
          </a:p>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4"/>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5"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7</a:t>
            </a:fld>
            <a:endParaRPr lang="en-US"/>
          </a:p>
        </p:txBody>
      </p:sp>
    </p:spTree>
    <p:extLst>
      <p:ext uri="{BB962C8B-B14F-4D97-AF65-F5344CB8AC3E}">
        <p14:creationId xmlns:p14="http://schemas.microsoft.com/office/powerpoint/2010/main" val="10963579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sz="3600" b="1" dirty="0" smtClean="0"/>
              <a:t>Classification</a:t>
            </a:r>
            <a:r>
              <a:rPr lang="en-US" sz="3600" b="1" dirty="0"/>
              <a:t> </a:t>
            </a:r>
            <a:endParaRPr lang="en-US" sz="3600" b="1" dirty="0" smtClean="0"/>
          </a:p>
          <a:p>
            <a:pPr marL="0" indent="0">
              <a:buNone/>
            </a:pPr>
            <a:r>
              <a:rPr lang="en-US" sz="3600" dirty="0" smtClean="0"/>
              <a:t>In </a:t>
            </a:r>
            <a:r>
              <a:rPr lang="en-US" sz="3600" dirty="0"/>
              <a:t>a classification piece, you write about the characteristics of multiple subjects within one category. For example, you might write a blog post about the types of expository writing. In that blog post, you explain each type of expository writing, covering their differences as well as their similarities. </a:t>
            </a:r>
          </a:p>
          <a:p>
            <a:pPr marL="0" indent="0">
              <a:buNone/>
            </a:pPr>
            <a:r>
              <a:rPr lang="en-US" sz="3600" dirty="0"/>
              <a:t/>
            </a:r>
            <a:br>
              <a:rPr lang="en-US" sz="3600" dirty="0"/>
            </a:br>
            <a:endParaRPr lang="en-US" sz="36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8</a:t>
            </a:fld>
            <a:endParaRPr lang="en-US"/>
          </a:p>
        </p:txBody>
      </p:sp>
    </p:spTree>
    <p:extLst>
      <p:ext uri="{BB962C8B-B14F-4D97-AF65-F5344CB8AC3E}">
        <p14:creationId xmlns:p14="http://schemas.microsoft.com/office/powerpoint/2010/main" val="38824179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9</a:t>
            </a:fld>
            <a:endParaRPr lang="en-US"/>
          </a:p>
        </p:txBody>
      </p:sp>
      <p:sp>
        <p:nvSpPr>
          <p:cNvPr id="4" name="Rectangle 3"/>
          <p:cNvSpPr/>
          <p:nvPr/>
        </p:nvSpPr>
        <p:spPr>
          <a:xfrm>
            <a:off x="545911" y="1351128"/>
            <a:ext cx="9621756" cy="5078313"/>
          </a:xfrm>
          <a:prstGeom prst="rect">
            <a:avLst/>
          </a:prstGeom>
        </p:spPr>
        <p:txBody>
          <a:bodyPr wrap="square">
            <a:spAutoFit/>
          </a:bodyPr>
          <a:lstStyle/>
          <a:p>
            <a:r>
              <a:rPr lang="en-US" sz="3600" b="1" dirty="0"/>
              <a:t>Problem and </a:t>
            </a:r>
            <a:r>
              <a:rPr lang="en-US" sz="3600" b="1" dirty="0" smtClean="0"/>
              <a:t>solution</a:t>
            </a:r>
            <a:r>
              <a:rPr lang="en-US" sz="3600" b="1" dirty="0"/>
              <a:t> </a:t>
            </a:r>
            <a:endParaRPr lang="en-US" sz="3600" b="1" dirty="0" smtClean="0"/>
          </a:p>
          <a:p>
            <a:r>
              <a:rPr lang="en-US" sz="3600" dirty="0" smtClean="0"/>
              <a:t>In </a:t>
            </a:r>
            <a:r>
              <a:rPr lang="en-US" sz="3600" dirty="0"/>
              <a:t>a problem and solution piece, you explain an existing problem and then explore the most effective solution for that problem. This kind of structure can also be found in persuasive writing, but when it’s used in expository writing, it’s generally used in troubleshooting guides and to explain how specific problems have been solved.</a:t>
            </a:r>
          </a:p>
          <a:p>
            <a:r>
              <a:rPr lang="en-US" dirty="0"/>
              <a:t/>
            </a:r>
            <a:br>
              <a:rPr lang="en-US" dirty="0"/>
            </a:br>
            <a:endParaRPr lang="en-US" dirty="0"/>
          </a:p>
        </p:txBody>
      </p:sp>
    </p:spTree>
    <p:extLst>
      <p:ext uri="{BB962C8B-B14F-4D97-AF65-F5344CB8AC3E}">
        <p14:creationId xmlns:p14="http://schemas.microsoft.com/office/powerpoint/2010/main" val="30567684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10</a:t>
            </a:fld>
            <a:endParaRPr lang="en-US"/>
          </a:p>
        </p:txBody>
      </p:sp>
      <p:sp>
        <p:nvSpPr>
          <p:cNvPr id="4" name="Rectangle 3"/>
          <p:cNvSpPr/>
          <p:nvPr/>
        </p:nvSpPr>
        <p:spPr>
          <a:xfrm>
            <a:off x="504967" y="1624084"/>
            <a:ext cx="10658902" cy="4647426"/>
          </a:xfrm>
          <a:prstGeom prst="rect">
            <a:avLst/>
          </a:prstGeom>
        </p:spPr>
        <p:txBody>
          <a:bodyPr wrap="square">
            <a:spAutoFit/>
          </a:bodyPr>
          <a:lstStyle/>
          <a:p>
            <a:pPr marL="571500" indent="-571500">
              <a:buFont typeface="Arial" pitchFamily="34" charset="0"/>
              <a:buChar char="•"/>
            </a:pPr>
            <a:r>
              <a:rPr lang="en-US" sz="4000" b="1" dirty="0" smtClean="0"/>
              <a:t>Process</a:t>
            </a:r>
          </a:p>
          <a:p>
            <a:r>
              <a:rPr lang="en-US" sz="4000" dirty="0" smtClean="0"/>
              <a:t>When </a:t>
            </a:r>
            <a:r>
              <a:rPr lang="en-US" sz="4000" dirty="0"/>
              <a:t>you need to explain how a process works or the steps the reader needs to follow to assemble something or complete another task, you write out the process step by step, providing as much explanation as necessary for each step.</a:t>
            </a:r>
          </a:p>
          <a:p>
            <a:r>
              <a:rPr lang="en-US" sz="2800" dirty="0"/>
              <a:t/>
            </a:r>
            <a:br>
              <a:rPr lang="en-US" sz="2800" dirty="0"/>
            </a:br>
            <a:endParaRPr lang="en-US" sz="2800" dirty="0"/>
          </a:p>
        </p:txBody>
      </p:sp>
    </p:spTree>
    <p:extLst>
      <p:ext uri="{BB962C8B-B14F-4D97-AF65-F5344CB8AC3E}">
        <p14:creationId xmlns:p14="http://schemas.microsoft.com/office/powerpoint/2010/main" val="25783323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11</a:t>
            </a:fld>
            <a:endParaRPr lang="en-US"/>
          </a:p>
        </p:txBody>
      </p:sp>
      <p:sp>
        <p:nvSpPr>
          <p:cNvPr id="4" name="Rectangle 3"/>
          <p:cNvSpPr/>
          <p:nvPr/>
        </p:nvSpPr>
        <p:spPr>
          <a:xfrm>
            <a:off x="996287" y="1433015"/>
            <a:ext cx="9723466" cy="5262979"/>
          </a:xfrm>
          <a:prstGeom prst="rect">
            <a:avLst/>
          </a:prstGeom>
        </p:spPr>
        <p:txBody>
          <a:bodyPr wrap="square">
            <a:spAutoFit/>
          </a:bodyPr>
          <a:lstStyle/>
          <a:p>
            <a:pPr marL="457200" indent="-457200">
              <a:buFont typeface="Arial" pitchFamily="34" charset="0"/>
              <a:buChar char="•"/>
            </a:pPr>
            <a:r>
              <a:rPr lang="en-US" sz="2800" b="1" u="sng" dirty="0"/>
              <a:t>Writing Expositions</a:t>
            </a:r>
          </a:p>
          <a:p>
            <a:r>
              <a:rPr lang="en-US" sz="2800" dirty="0"/>
              <a:t>You may need to write an exposition essay in high school or college. You may have to compare and contrast two pieces of literature, explore the causes and effects of a historical event, or classify observations you made in physics. These tips will help you write an exposition essay.</a:t>
            </a:r>
          </a:p>
          <a:p>
            <a:pPr marL="457200" indent="-457200">
              <a:buFont typeface="Arial" pitchFamily="34" charset="0"/>
              <a:buChar char="•"/>
            </a:pPr>
            <a:r>
              <a:rPr lang="en-US" sz="2800" b="1" dirty="0"/>
              <a:t>Know your purpose for writing. </a:t>
            </a:r>
            <a:r>
              <a:rPr lang="en-US" sz="2800" dirty="0"/>
              <a:t>Is your essay based on comparing two subjects? Explaining a process? Knowing your purpose will help you understand what type of exposition you will use in your essay. Understanding whether you will define a concept or explain cause and effect will assist you in planning your essay.</a:t>
            </a:r>
          </a:p>
        </p:txBody>
      </p:sp>
    </p:spTree>
    <p:extLst>
      <p:ext uri="{BB962C8B-B14F-4D97-AF65-F5344CB8AC3E}">
        <p14:creationId xmlns:p14="http://schemas.microsoft.com/office/powerpoint/2010/main" val="27530951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12</a:t>
            </a:fld>
            <a:endParaRPr lang="en-US"/>
          </a:p>
        </p:txBody>
      </p:sp>
      <p:sp>
        <p:nvSpPr>
          <p:cNvPr id="4" name="Rectangle 3"/>
          <p:cNvSpPr/>
          <p:nvPr/>
        </p:nvSpPr>
        <p:spPr>
          <a:xfrm>
            <a:off x="832513" y="1583140"/>
            <a:ext cx="9692108" cy="5262979"/>
          </a:xfrm>
          <a:prstGeom prst="rect">
            <a:avLst/>
          </a:prstGeom>
        </p:spPr>
        <p:txBody>
          <a:bodyPr wrap="square">
            <a:spAutoFit/>
          </a:bodyPr>
          <a:lstStyle/>
          <a:p>
            <a:pPr marL="457200" indent="-457200">
              <a:buFont typeface="Arial" pitchFamily="34" charset="0"/>
              <a:buChar char="•"/>
            </a:pPr>
            <a:r>
              <a:rPr lang="en-US" sz="2800" b="1" dirty="0"/>
              <a:t>Have a strong understanding of your topic.</a:t>
            </a:r>
            <a:r>
              <a:rPr lang="en-US" sz="2800" dirty="0"/>
              <a:t> You will need insight on your topic to write comparisons or explain processes. Ensure you strongly understand your topic to find minor differences or break down the material. Review your topic and research any areas that you struggle to understand.</a:t>
            </a:r>
          </a:p>
          <a:p>
            <a:pPr marL="457200" indent="-457200">
              <a:buFont typeface="Arial" pitchFamily="34" charset="0"/>
              <a:buChar char="•"/>
            </a:pPr>
            <a:r>
              <a:rPr lang="en-US" sz="2800" b="1" dirty="0"/>
              <a:t>Select forms of exposition that support your purpose.</a:t>
            </a:r>
            <a:r>
              <a:rPr lang="en-US" sz="2800" dirty="0"/>
              <a:t> Like the essay "On Dumpster Diving," you may need to use multiple forms of exposition in your essay. You can determine which forms work best based on your purpose and topic. For example, in an essay for a lab report, you may classify the </a:t>
            </a:r>
            <a:r>
              <a:rPr lang="en-US" sz="2800" b="1" dirty="0">
                <a:hlinkClick r:id="rId6"/>
              </a:rPr>
              <a:t>results</a:t>
            </a:r>
            <a:r>
              <a:rPr lang="en-US" sz="2800" dirty="0"/>
              <a:t> of an experiment into categories and then compare and contrast them.</a:t>
            </a:r>
          </a:p>
        </p:txBody>
      </p:sp>
    </p:spTree>
    <p:extLst>
      <p:ext uri="{BB962C8B-B14F-4D97-AF65-F5344CB8AC3E}">
        <p14:creationId xmlns:p14="http://schemas.microsoft.com/office/powerpoint/2010/main" val="35197164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13</a:t>
            </a:fld>
            <a:endParaRPr lang="en-US"/>
          </a:p>
        </p:txBody>
      </p:sp>
      <p:sp>
        <p:nvSpPr>
          <p:cNvPr id="4" name="Rectangle 3"/>
          <p:cNvSpPr/>
          <p:nvPr/>
        </p:nvSpPr>
        <p:spPr>
          <a:xfrm>
            <a:off x="272955" y="1310185"/>
            <a:ext cx="10251666" cy="4154984"/>
          </a:xfrm>
          <a:prstGeom prst="rect">
            <a:avLst/>
          </a:prstGeom>
        </p:spPr>
        <p:txBody>
          <a:bodyPr wrap="square">
            <a:spAutoFit/>
          </a:bodyPr>
          <a:lstStyle/>
          <a:p>
            <a:r>
              <a:rPr lang="en-US" sz="4000" b="1" u="sng" dirty="0"/>
              <a:t>Exposition - Key Takeaways</a:t>
            </a:r>
          </a:p>
          <a:p>
            <a:pPr marL="457200" indent="-457200">
              <a:buFont typeface="Arial" pitchFamily="34" charset="0"/>
              <a:buChar char="•"/>
            </a:pPr>
            <a:r>
              <a:rPr lang="en-US" sz="3200" dirty="0"/>
              <a:t>Exposition is the rhetorical mode whose purpose is to explain or inform.</a:t>
            </a:r>
          </a:p>
          <a:p>
            <a:pPr marL="457200" indent="-457200">
              <a:buFont typeface="Arial" pitchFamily="34" charset="0"/>
              <a:buChar char="•"/>
            </a:pPr>
            <a:r>
              <a:rPr lang="en-US" sz="3200" dirty="0"/>
              <a:t>In narratives, exposition refers to the background information found within a narrative, which includes the setting, characters, and background.</a:t>
            </a:r>
          </a:p>
          <a:p>
            <a:pPr marL="457200" indent="-457200">
              <a:buFont typeface="Arial" pitchFamily="34" charset="0"/>
              <a:buChar char="•"/>
            </a:pPr>
            <a:r>
              <a:rPr lang="en-US" sz="3200" dirty="0"/>
              <a:t>Exposition is an important form of writing that explains important information and processes to others</a:t>
            </a:r>
            <a:r>
              <a:rPr lang="en-US" sz="3200" dirty="0" smtClean="0"/>
              <a:t>.</a:t>
            </a:r>
            <a:endParaRPr lang="en-US" sz="3200" dirty="0"/>
          </a:p>
        </p:txBody>
      </p:sp>
    </p:spTree>
    <p:extLst>
      <p:ext uri="{BB962C8B-B14F-4D97-AF65-F5344CB8AC3E}">
        <p14:creationId xmlns:p14="http://schemas.microsoft.com/office/powerpoint/2010/main" val="32380706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a:buNone/>
            </a:pPr>
            <a:r>
              <a:rPr lang="en-US" sz="3200" dirty="0"/>
              <a:t/>
            </a:r>
            <a:br>
              <a:rPr lang="en-US" sz="3200" dirty="0"/>
            </a:br>
            <a:endParaRPr lang="en-US" sz="3200" dirty="0"/>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14</a:t>
            </a:fld>
            <a:endParaRPr lang="en-US"/>
          </a:p>
        </p:txBody>
      </p:sp>
      <p:sp>
        <p:nvSpPr>
          <p:cNvPr id="4" name="Rectangle 3"/>
          <p:cNvSpPr/>
          <p:nvPr/>
        </p:nvSpPr>
        <p:spPr>
          <a:xfrm>
            <a:off x="662729" y="1624084"/>
            <a:ext cx="9861891" cy="4524315"/>
          </a:xfrm>
          <a:prstGeom prst="rect">
            <a:avLst/>
          </a:prstGeom>
        </p:spPr>
        <p:txBody>
          <a:bodyPr wrap="square">
            <a:spAutoFit/>
          </a:bodyPr>
          <a:lstStyle/>
          <a:p>
            <a:pPr marL="571500" indent="-571500">
              <a:buFont typeface="Arial" pitchFamily="34" charset="0"/>
              <a:buChar char="•"/>
            </a:pPr>
            <a:r>
              <a:rPr lang="en-US" sz="3600" dirty="0"/>
              <a:t>There are several common forms of exposition: cause and effect, classification, compare/contrast, definition, evaluation, and process analysis.</a:t>
            </a:r>
          </a:p>
          <a:p>
            <a:pPr marL="571500" indent="-571500">
              <a:buFont typeface="Arial" pitchFamily="34" charset="0"/>
              <a:buChar char="•"/>
            </a:pPr>
            <a:r>
              <a:rPr lang="en-US" sz="3600" dirty="0"/>
              <a:t>To write expositions, you need to know your purpose for writing, have a strong understanding of your topic, and then select forms of exposition that support your purpose.</a:t>
            </a:r>
            <a:endParaRPr lang="en-US" sz="3600" dirty="0"/>
          </a:p>
        </p:txBody>
      </p:sp>
    </p:spTree>
    <p:extLst>
      <p:ext uri="{BB962C8B-B14F-4D97-AF65-F5344CB8AC3E}">
        <p14:creationId xmlns:p14="http://schemas.microsoft.com/office/powerpoint/2010/main" val="21247064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589</Words>
  <Application>Microsoft Office PowerPoint</Application>
  <PresentationFormat>Custom</PresentationFormat>
  <Paragraphs>90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Technical and Business Writing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One</cp:lastModifiedBy>
  <cp:revision>114</cp:revision>
  <dcterms:created xsi:type="dcterms:W3CDTF">2024-06-21T09:49:00Z</dcterms:created>
  <dcterms:modified xsi:type="dcterms:W3CDTF">2024-10-09T15:23:37Z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E48CE66456BC42688DB7678D65527672_13</vt:lpwstr>
  </property>
  <property fmtid="{D5CDD505-2E9C-101B-9397-08002B2CF9AE}" pid="3" name="KSOProductBuildVer">
    <vt:lpwstr>1033-12.2.0.17562</vt:lpwstr>
  </property>
</Properties>
</file>