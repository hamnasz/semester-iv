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818" r:id="rId3"/>
    <p:sldId id="259" r:id="rId4"/>
    <p:sldId id="258" r:id="rId5"/>
    <p:sldId id="812" r:id="rId6"/>
    <p:sldId id="813" r:id="rId7"/>
    <p:sldId id="814" r:id="rId8"/>
    <p:sldId id="815" r:id="rId9"/>
    <p:sldId id="816" r:id="rId10"/>
    <p:sldId id="817" r:id="rId1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32A2A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3" d="100"/>
          <a:sy n="53" d="100"/>
        </p:scale>
        <p:origin x="-1338" y="-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343" y="637674"/>
            <a:ext cx="10450309" cy="2974016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Technical and Business Writing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318" y="4311901"/>
            <a:ext cx="8955024" cy="1153160"/>
          </a:xfrm>
        </p:spPr>
        <p:txBody>
          <a:bodyPr>
            <a:noAutofit/>
          </a:bodyPr>
          <a:lstStyle/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Aqsa Ashraf </a:t>
            </a:r>
          </a:p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ENG-201</a:t>
            </a:r>
          </a:p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Week2, Lecture 2</a:t>
            </a:r>
            <a:endParaRPr lang="en-GB" sz="2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343" y="637674"/>
            <a:ext cx="10450309" cy="29740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  of  Library  and  Information  </a:t>
            </a:r>
            <a:r>
              <a:rPr lang="en-US" dirty="0" smtClean="0">
                <a:solidFill>
                  <a:schemeClr val="bg1"/>
                </a:solidFill>
              </a:rPr>
              <a:t>Gathering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94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500" b="1" dirty="0"/>
              <a:t>Use  of  Library  and  Information  Gathering: </a:t>
            </a:r>
            <a:r>
              <a:rPr lang="en-US" sz="3500" b="1" dirty="0" smtClean="0"/>
              <a:t>Plan </a:t>
            </a:r>
            <a:r>
              <a:rPr lang="en-US" sz="3500" b="1" dirty="0"/>
              <a:t>Your Search Strategy </a:t>
            </a:r>
            <a:endParaRPr lang="en-US" sz="3500" b="1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is very helpful to map out the main ideas of your topic. This can be useful in the search for information.</a:t>
            </a:r>
          </a:p>
          <a:p>
            <a:endParaRPr lang="en-US" dirty="0"/>
          </a:p>
          <a:p>
            <a:r>
              <a:rPr lang="en-US" dirty="0"/>
              <a:t>Make a list of keywords related to your topic using:  </a:t>
            </a:r>
          </a:p>
          <a:p>
            <a:endParaRPr lang="en-US" dirty="0"/>
          </a:p>
          <a:p>
            <a:pPr lvl="1"/>
            <a:r>
              <a:rPr lang="en-US" dirty="0"/>
              <a:t>Main ideas</a:t>
            </a:r>
          </a:p>
          <a:p>
            <a:pPr lvl="1">
              <a:buNone/>
            </a:pPr>
            <a:endParaRPr lang="en-US" dirty="0"/>
          </a:p>
          <a:p>
            <a:pPr lvl="1"/>
            <a:r>
              <a:rPr lang="en-US" dirty="0"/>
              <a:t>Synonyms or words with the same or similar meaning</a:t>
            </a:r>
          </a:p>
          <a:p>
            <a:pPr marL="0" indent="0">
              <a:buNone/>
            </a:pPr>
            <a:endParaRPr lang="x-non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8584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9458"/>
            <a:ext cx="12192000" cy="5742263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2CF01162-D0B6-4CEC-B999-30B23E8FE853}"/>
              </a:ext>
            </a:extLst>
          </p:cNvPr>
          <p:cNvGrpSpPr/>
          <p:nvPr/>
        </p:nvGrpSpPr>
        <p:grpSpPr>
          <a:xfrm>
            <a:off x="0" y="-186278"/>
            <a:ext cx="12749348" cy="1115736"/>
            <a:chOff x="0" y="0"/>
            <a:chExt cx="12749348" cy="11157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876FD797-A00B-49D8-A888-67D34967B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xmlns="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xmlns="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xmlns="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19B401B7-B613-4C06-A492-7A70682495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9847252" y="1519722"/>
            <a:ext cx="2039974" cy="514428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560797"/>
            <a:ext cx="1209173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600" b="1" dirty="0">
                <a:solidFill>
                  <a:srgbClr val="FFFFFF"/>
                </a:solidFill>
              </a:rPr>
              <a:t>Develop search terms:</a:t>
            </a:r>
          </a:p>
          <a:p>
            <a:pPr lvl="1" algn="just">
              <a:lnSpc>
                <a:spcPct val="200000"/>
              </a:lnSpc>
            </a:pPr>
            <a:r>
              <a:rPr lang="en-US" sz="3200" dirty="0" smtClean="0">
                <a:solidFill>
                  <a:srgbClr val="FFFFFF"/>
                </a:solidFill>
              </a:rPr>
              <a:t>Start </a:t>
            </a:r>
            <a:r>
              <a:rPr lang="en-US" sz="3200" dirty="0">
                <a:solidFill>
                  <a:srgbClr val="FFFFFF"/>
                </a:solidFill>
              </a:rPr>
              <a:t>with one search term, even though your results may be too broad, then </a:t>
            </a:r>
            <a:endParaRPr lang="en-US" sz="3200" dirty="0" smtClean="0">
              <a:solidFill>
                <a:srgbClr val="FFFFFF"/>
              </a:solidFill>
            </a:endParaRPr>
          </a:p>
          <a:p>
            <a:pPr lvl="1" algn="just">
              <a:lnSpc>
                <a:spcPct val="200000"/>
              </a:lnSpc>
            </a:pPr>
            <a:r>
              <a:rPr lang="en-US" sz="3200" dirty="0" smtClean="0">
                <a:solidFill>
                  <a:srgbClr val="FFFFFF"/>
                </a:solidFill>
              </a:rPr>
              <a:t>Add </a:t>
            </a:r>
            <a:r>
              <a:rPr lang="en-US" sz="3200" dirty="0">
                <a:solidFill>
                  <a:srgbClr val="FFFFFF"/>
                </a:solidFill>
              </a:rPr>
              <a:t>a second search term with the Boolean Operators </a:t>
            </a:r>
            <a:r>
              <a:rPr lang="en-US" sz="3200" b="1" u="sng" dirty="0">
                <a:solidFill>
                  <a:srgbClr val="FFFFFF"/>
                </a:solidFill>
              </a:rPr>
              <a:t>AND</a:t>
            </a:r>
            <a:r>
              <a:rPr lang="en-US" sz="3200" dirty="0">
                <a:solidFill>
                  <a:srgbClr val="FFFFFF"/>
                </a:solidFill>
              </a:rPr>
              <a:t> or </a:t>
            </a:r>
            <a:r>
              <a:rPr lang="en-US" sz="3200" b="1" u="sng" dirty="0" err="1">
                <a:solidFill>
                  <a:srgbClr val="FFFFFF"/>
                </a:solidFill>
              </a:rPr>
              <a:t>OR</a:t>
            </a:r>
            <a:r>
              <a:rPr lang="en-US" sz="3200" dirty="0" smtClean="0">
                <a:solidFill>
                  <a:srgbClr val="FFFFFF"/>
                </a:solidFill>
              </a:rPr>
              <a:t>.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34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442" y="1299411"/>
            <a:ext cx="11802979" cy="5366084"/>
          </a:xfrm>
        </p:spPr>
        <p:txBody>
          <a:bodyPr>
            <a:noAutofit/>
          </a:bodyPr>
          <a:lstStyle/>
          <a:p>
            <a:pPr lvl="2" algn="just">
              <a:lnSpc>
                <a:spcPct val="100000"/>
              </a:lnSpc>
            </a:pPr>
            <a:r>
              <a:rPr lang="en-US" sz="3200" b="1" u="sng" dirty="0"/>
              <a:t>AND</a:t>
            </a:r>
            <a:r>
              <a:rPr lang="en-US" sz="3200" dirty="0"/>
              <a:t> narrows a search; results are limited to materials that include all of the specified text</a:t>
            </a:r>
          </a:p>
          <a:p>
            <a:pPr lvl="2" algn="just">
              <a:lnSpc>
                <a:spcPct val="100000"/>
              </a:lnSpc>
            </a:pPr>
            <a:r>
              <a:rPr lang="en-US" sz="3200" b="1" u="sng" dirty="0"/>
              <a:t>OR</a:t>
            </a:r>
            <a:r>
              <a:rPr lang="en-US" sz="3200" dirty="0"/>
              <a:t> broadens a search; results are materials that include any of the search terms in the text. </a:t>
            </a:r>
          </a:p>
          <a:p>
            <a:pPr lvl="3" algn="just">
              <a:lnSpc>
                <a:spcPct val="100000"/>
              </a:lnSpc>
            </a:pPr>
            <a:r>
              <a:rPr lang="en-US" sz="2800" dirty="0"/>
              <a:t>Even though OR broadens rather than narrows your topic, its use is important especially when attempting to include all aspects of your topic, e.g.:</a:t>
            </a:r>
          </a:p>
          <a:p>
            <a:pPr lvl="4" algn="just">
              <a:lnSpc>
                <a:spcPct val="100000"/>
              </a:lnSpc>
            </a:pPr>
            <a:r>
              <a:rPr lang="en-US" sz="2800" dirty="0"/>
              <a:t>Physicians OR Doctors</a:t>
            </a:r>
          </a:p>
          <a:p>
            <a:pPr lvl="4" algn="just">
              <a:lnSpc>
                <a:spcPct val="100000"/>
              </a:lnSpc>
            </a:pPr>
            <a:r>
              <a:rPr lang="en-US" sz="2800" dirty="0"/>
              <a:t>Lawyers OR Attorneys</a:t>
            </a:r>
          </a:p>
          <a:p>
            <a:pPr lvl="3" algn="just">
              <a:lnSpc>
                <a:spcPct val="100000"/>
              </a:lnSpc>
            </a:pPr>
            <a:r>
              <a:rPr lang="en-US" sz="2800" dirty="0"/>
              <a:t>Add additional search terms as needed</a:t>
            </a:r>
          </a:p>
          <a:p>
            <a:pPr lvl="2" algn="just">
              <a:lnSpc>
                <a:spcPct val="100000"/>
              </a:lnSpc>
            </a:pPr>
            <a:endParaRPr lang="en-US" sz="4800" dirty="0">
              <a:solidFill>
                <a:srgbClr val="FFFFFF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455821"/>
            <a:ext cx="11333747" cy="508935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b="1" u="sng" dirty="0"/>
              <a:t>Sources to use for an overview of a topic: </a:t>
            </a:r>
          </a:p>
          <a:p>
            <a:pPr lvl="1" algn="just">
              <a:lnSpc>
                <a:spcPct val="150000"/>
              </a:lnSpc>
            </a:pPr>
            <a:r>
              <a:rPr lang="en-US" sz="3200" dirty="0"/>
              <a:t>General encyclopedias, e.g. Encyclopedia Americana®</a:t>
            </a:r>
          </a:p>
          <a:p>
            <a:pPr lvl="1" algn="just">
              <a:lnSpc>
                <a:spcPct val="150000"/>
              </a:lnSpc>
            </a:pPr>
            <a:r>
              <a:rPr lang="en-US" sz="3200" dirty="0"/>
              <a:t>Specialized encyclopedias, e.g. Encyclopedia of Drama®</a:t>
            </a:r>
          </a:p>
          <a:p>
            <a:pPr lvl="1" algn="just">
              <a:lnSpc>
                <a:spcPct val="150000"/>
              </a:lnSpc>
            </a:pPr>
            <a:r>
              <a:rPr lang="en-US" sz="3200" dirty="0"/>
              <a:t>Specialized dictionaries. e.g. Dictionary of Classical Mythology®</a:t>
            </a:r>
          </a:p>
          <a:p>
            <a:pPr lvl="1" algn="just">
              <a:lnSpc>
                <a:spcPct val="150000"/>
              </a:lnSpc>
            </a:pPr>
            <a:r>
              <a:rPr lang="en-US" sz="3200" dirty="0"/>
              <a:t>General interest periodicals (magazines and newspapers)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x-none" sz="36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47" y="1115736"/>
            <a:ext cx="11875169" cy="574226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b="1" u="sng" dirty="0"/>
              <a:t>Gather </a:t>
            </a:r>
            <a:r>
              <a:rPr lang="en-US" sz="3200" b="1" u="sng" dirty="0" smtClean="0"/>
              <a:t>Sources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600" b="1" dirty="0"/>
              <a:t>Sources to use for specialized information:</a:t>
            </a:r>
          </a:p>
          <a:p>
            <a:pPr lvl="1" algn="just">
              <a:lnSpc>
                <a:spcPct val="120000"/>
              </a:lnSpc>
            </a:pPr>
            <a:r>
              <a:rPr lang="en-US" sz="3200" dirty="0"/>
              <a:t>Books (search the online catalog for specific titles; browse call number location for related titles)</a:t>
            </a:r>
          </a:p>
          <a:p>
            <a:pPr lvl="1" algn="just">
              <a:lnSpc>
                <a:spcPct val="120000"/>
              </a:lnSpc>
            </a:pPr>
            <a:r>
              <a:rPr lang="en-US" sz="3200" dirty="0"/>
              <a:t>Scholarly journals (journals published for academics or professionals; the library's holdings include print journals and electronic databases with full text)</a:t>
            </a:r>
          </a:p>
          <a:p>
            <a:pPr lvl="1" algn="just">
              <a:lnSpc>
                <a:spcPct val="120000"/>
              </a:lnSpc>
            </a:pPr>
            <a:r>
              <a:rPr lang="en-US" sz="3200" dirty="0"/>
              <a:t>Internet (use caution with this source; you must evaluate Internet sources for credibility, authority, and currency)</a:t>
            </a:r>
          </a:p>
          <a:p>
            <a:pPr marL="0" indent="0" algn="ctr">
              <a:buNone/>
            </a:pPr>
            <a:endParaRPr lang="x-none" b="1" u="sng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/>
              <a:t>Magazines, journals, and newspapers</a:t>
            </a:r>
            <a:r>
              <a:rPr lang="en-US" sz="3200" dirty="0"/>
              <a:t> would have the most current, reliable information. The Internet is current, but you would need to be careful about the reliability!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An </a:t>
            </a:r>
            <a:r>
              <a:rPr lang="en-US" b="1" dirty="0"/>
              <a:t>encyclopedia or other reference book</a:t>
            </a:r>
            <a:r>
              <a:rPr lang="en-US" dirty="0"/>
              <a:t> would provide a ready source of fast, reliable information.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/>
              <a:t>popular magazine or newspaper</a:t>
            </a:r>
            <a:r>
              <a:rPr lang="en-US" dirty="0"/>
              <a:t> would provide research for this kind of topic.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/>
              <a:t>scholarly, peer-reviewed journal</a:t>
            </a:r>
            <a:r>
              <a:rPr lang="en-US" dirty="0"/>
              <a:t> would provide information for this type of topic.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/>
              <a:t>Keep track of sources used for citing documentation:  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Write down all the publication information, pages used, etc.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Know what style format is required for citations (example: APA)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With your research completed, you are ready to start writing your paper!!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534</Words>
  <Application>Microsoft Office PowerPoint</Application>
  <PresentationFormat>Custom</PresentationFormat>
  <Paragraphs>57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Technical and Business Writing</vt:lpstr>
      <vt:lpstr>Use  of  Library  and  Information  Gathering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One</cp:lastModifiedBy>
  <cp:revision>29</cp:revision>
  <dcterms:created xsi:type="dcterms:W3CDTF">2024-06-21T09:49:54Z</dcterms:created>
  <dcterms:modified xsi:type="dcterms:W3CDTF">2024-10-09T12:03:46Z</dcterms:modified>
</cp:coreProperties>
</file>