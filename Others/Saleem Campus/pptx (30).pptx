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824" r:id="rId2"/>
    <p:sldId id="273" r:id="rId3"/>
    <p:sldId id="822" r:id="rId4"/>
    <p:sldId id="259" r:id="rId5"/>
    <p:sldId id="258" r:id="rId6"/>
    <p:sldId id="812" r:id="rId7"/>
    <p:sldId id="813" r:id="rId8"/>
    <p:sldId id="814" r:id="rId9"/>
    <p:sldId id="821" r:id="rId10"/>
    <p:sldId id="815" r:id="rId11"/>
    <p:sldId id="816" r:id="rId12"/>
    <p:sldId id="817" r:id="rId13"/>
    <p:sldId id="818" r:id="rId14"/>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53" d="100"/>
          <a:sy n="53" d="100"/>
        </p:scale>
        <p:origin x="-1338" y="-54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xmlns=""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xmlns="" id="{3FBC7CD5-CB98-4F1C-8F4E-14A8F9EE1811}"/>
              </a:ext>
            </a:extLst>
          </p:cNvPr>
          <p:cNvSpPr>
            <a:spLocks noGrp="1"/>
          </p:cNvSpPr>
          <p:nvPr>
            <p:ph type="dt" sz="half" idx="10"/>
          </p:nvPr>
        </p:nvSpPr>
        <p:spPr/>
        <p:txBody>
          <a:bodyPr/>
          <a:lstStyle/>
          <a:p>
            <a:fld id="{3237A82C-AEEE-48DB-A866-3B1CA0AC9D5D}" type="datetimeFigureOut">
              <a:rPr lang="x-none" smtClean="0"/>
              <a:t>10/9/2024</a:t>
            </a:fld>
            <a:endParaRPr lang="x-none"/>
          </a:p>
        </p:txBody>
      </p:sp>
      <p:sp>
        <p:nvSpPr>
          <p:cNvPr id="5" name="Footer Placeholder 4">
            <a:extLst>
              <a:ext uri="{FF2B5EF4-FFF2-40B4-BE49-F238E27FC236}">
                <a16:creationId xmlns:a16="http://schemas.microsoft.com/office/drawing/2014/main" xmlns="" id="{9DA69AAB-D032-4740-999C-6FECB3BEC83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F1F2CE2C-3FF8-4ED5-9A0F-6E35B87E8B6F}"/>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D11BF5-D802-48A8-8681-E64C843E4622}"/>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09E21E6C-72DA-4925-94EE-0D245623B79C}"/>
              </a:ext>
            </a:extLst>
          </p:cNvPr>
          <p:cNvSpPr>
            <a:spLocks noGrp="1"/>
          </p:cNvSpPr>
          <p:nvPr>
            <p:ph type="dt" sz="half" idx="10"/>
          </p:nvPr>
        </p:nvSpPr>
        <p:spPr/>
        <p:txBody>
          <a:bodyPr/>
          <a:lstStyle/>
          <a:p>
            <a:fld id="{3237A82C-AEEE-48DB-A866-3B1CA0AC9D5D}" type="datetimeFigureOut">
              <a:rPr lang="x-none" smtClean="0"/>
              <a:t>10/9/2024</a:t>
            </a:fld>
            <a:endParaRPr lang="x-none"/>
          </a:p>
        </p:txBody>
      </p:sp>
      <p:sp>
        <p:nvSpPr>
          <p:cNvPr id="5" name="Footer Placeholder 4">
            <a:extLst>
              <a:ext uri="{FF2B5EF4-FFF2-40B4-BE49-F238E27FC236}">
                <a16:creationId xmlns:a16="http://schemas.microsoft.com/office/drawing/2014/main" xmlns="" id="{E316D8A9-019D-413B-8A1E-F14D6EE3561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6050099F-8C38-444A-A7F8-21336A623DAA}"/>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5F7AA9B9-E771-49B5-9E2D-06EAF24C17E6}"/>
              </a:ext>
            </a:extLst>
          </p:cNvPr>
          <p:cNvSpPr>
            <a:spLocks noGrp="1"/>
          </p:cNvSpPr>
          <p:nvPr>
            <p:ph type="dt" sz="half" idx="10"/>
          </p:nvPr>
        </p:nvSpPr>
        <p:spPr/>
        <p:txBody>
          <a:bodyPr/>
          <a:lstStyle/>
          <a:p>
            <a:fld id="{3237A82C-AEEE-48DB-A866-3B1CA0AC9D5D}" type="datetimeFigureOut">
              <a:rPr lang="x-none" smtClean="0"/>
              <a:t>10/9/2024</a:t>
            </a:fld>
            <a:endParaRPr lang="x-none"/>
          </a:p>
        </p:txBody>
      </p:sp>
      <p:sp>
        <p:nvSpPr>
          <p:cNvPr id="5" name="Footer Placeholder 4">
            <a:extLst>
              <a:ext uri="{FF2B5EF4-FFF2-40B4-BE49-F238E27FC236}">
                <a16:creationId xmlns:a16="http://schemas.microsoft.com/office/drawing/2014/main" xmlns="" id="{5AE7F1A7-FFC1-4BDE-908E-7A849372FAF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6BE47FAB-5890-41CE-8DA9-CB5788221706}"/>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398E66-B67C-4351-89B6-A169553C061C}"/>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xmlns=""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xmlns="" id="{B86D8C23-6B26-4B19-BEEB-7AEFC2A18F66}"/>
              </a:ext>
            </a:extLst>
          </p:cNvPr>
          <p:cNvSpPr>
            <a:spLocks noGrp="1"/>
          </p:cNvSpPr>
          <p:nvPr>
            <p:ph type="dt" sz="half" idx="10"/>
          </p:nvPr>
        </p:nvSpPr>
        <p:spPr/>
        <p:txBody>
          <a:bodyPr/>
          <a:lstStyle/>
          <a:p>
            <a:fld id="{3237A82C-AEEE-48DB-A866-3B1CA0AC9D5D}" type="datetimeFigureOut">
              <a:rPr lang="x-none" smtClean="0"/>
              <a:t>10/9/2024</a:t>
            </a:fld>
            <a:endParaRPr lang="x-none"/>
          </a:p>
        </p:txBody>
      </p:sp>
      <p:sp>
        <p:nvSpPr>
          <p:cNvPr id="6" name="Footer Placeholder 5">
            <a:extLst>
              <a:ext uri="{FF2B5EF4-FFF2-40B4-BE49-F238E27FC236}">
                <a16:creationId xmlns:a16="http://schemas.microsoft.com/office/drawing/2014/main" xmlns="" id="{E8CB8FE9-ABD0-4AA5-986C-BC29ECC4F014}"/>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147F8042-F61C-495E-8C35-E7989AA7EE9D}"/>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xmlns=""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xmlns="" id="{D5D200C8-3958-4AE2-85B4-16A6511DDDE9}"/>
              </a:ext>
            </a:extLst>
          </p:cNvPr>
          <p:cNvSpPr>
            <a:spLocks noGrp="1"/>
          </p:cNvSpPr>
          <p:nvPr>
            <p:ph type="dt" sz="half" idx="10"/>
          </p:nvPr>
        </p:nvSpPr>
        <p:spPr/>
        <p:txBody>
          <a:bodyPr/>
          <a:lstStyle/>
          <a:p>
            <a:fld id="{3237A82C-AEEE-48DB-A866-3B1CA0AC9D5D}" type="datetimeFigureOut">
              <a:rPr lang="x-none" smtClean="0"/>
              <a:t>10/9/2024</a:t>
            </a:fld>
            <a:endParaRPr lang="x-none"/>
          </a:p>
        </p:txBody>
      </p:sp>
      <p:sp>
        <p:nvSpPr>
          <p:cNvPr id="8" name="Footer Placeholder 7">
            <a:extLst>
              <a:ext uri="{FF2B5EF4-FFF2-40B4-BE49-F238E27FC236}">
                <a16:creationId xmlns:a16="http://schemas.microsoft.com/office/drawing/2014/main" xmlns="" id="{6A253149-4D4C-46D5-8100-4A3D9F41B000}"/>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xmlns="" id="{65B7D50A-B373-419E-9BDA-973DC1118760}"/>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13C455-2666-47C6-BF3E-44EE0A2900AC}"/>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xmlns="" id="{2BCDB8A3-54C9-4DF0-AF58-847CC781E947}"/>
              </a:ext>
            </a:extLst>
          </p:cNvPr>
          <p:cNvSpPr>
            <a:spLocks noGrp="1"/>
          </p:cNvSpPr>
          <p:nvPr>
            <p:ph type="dt" sz="half" idx="10"/>
          </p:nvPr>
        </p:nvSpPr>
        <p:spPr/>
        <p:txBody>
          <a:bodyPr/>
          <a:lstStyle/>
          <a:p>
            <a:fld id="{3237A82C-AEEE-48DB-A866-3B1CA0AC9D5D}" type="datetimeFigureOut">
              <a:rPr lang="x-none" smtClean="0"/>
              <a:t>10/9/2024</a:t>
            </a:fld>
            <a:endParaRPr lang="x-none"/>
          </a:p>
        </p:txBody>
      </p:sp>
      <p:sp>
        <p:nvSpPr>
          <p:cNvPr id="4" name="Footer Placeholder 3">
            <a:extLst>
              <a:ext uri="{FF2B5EF4-FFF2-40B4-BE49-F238E27FC236}">
                <a16:creationId xmlns:a16="http://schemas.microsoft.com/office/drawing/2014/main" xmlns="" id="{CB3A80F5-1CBF-45BD-A6AD-6BE98C141DE2}"/>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xmlns="" id="{67E03123-314A-4412-8618-E5C45344E1D4}"/>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EFC5179-D82F-40FA-BF21-7AA507CE0823}"/>
              </a:ext>
            </a:extLst>
          </p:cNvPr>
          <p:cNvSpPr>
            <a:spLocks noGrp="1"/>
          </p:cNvSpPr>
          <p:nvPr>
            <p:ph type="dt" sz="half" idx="10"/>
          </p:nvPr>
        </p:nvSpPr>
        <p:spPr/>
        <p:txBody>
          <a:bodyPr/>
          <a:lstStyle/>
          <a:p>
            <a:fld id="{3237A82C-AEEE-48DB-A866-3B1CA0AC9D5D}" type="datetimeFigureOut">
              <a:rPr lang="x-none" smtClean="0"/>
              <a:t>10/9/2024</a:t>
            </a:fld>
            <a:endParaRPr lang="x-none"/>
          </a:p>
        </p:txBody>
      </p:sp>
      <p:sp>
        <p:nvSpPr>
          <p:cNvPr id="3" name="Footer Placeholder 2">
            <a:extLst>
              <a:ext uri="{FF2B5EF4-FFF2-40B4-BE49-F238E27FC236}">
                <a16:creationId xmlns:a16="http://schemas.microsoft.com/office/drawing/2014/main" xmlns="" id="{C1CC15DB-F842-49C3-B55B-A16E3884385C}"/>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xmlns="" id="{38FDBBF2-4194-4BEA-AC76-A5704F3BBC05}"/>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xmlns=""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898E0AF-DD29-4C26-82C8-ACF8330BE670}"/>
              </a:ext>
            </a:extLst>
          </p:cNvPr>
          <p:cNvSpPr>
            <a:spLocks noGrp="1"/>
          </p:cNvSpPr>
          <p:nvPr>
            <p:ph type="dt" sz="half" idx="10"/>
          </p:nvPr>
        </p:nvSpPr>
        <p:spPr/>
        <p:txBody>
          <a:bodyPr/>
          <a:lstStyle/>
          <a:p>
            <a:fld id="{3237A82C-AEEE-48DB-A866-3B1CA0AC9D5D}" type="datetimeFigureOut">
              <a:rPr lang="x-none" smtClean="0"/>
              <a:t>10/9/2024</a:t>
            </a:fld>
            <a:endParaRPr lang="x-none"/>
          </a:p>
        </p:txBody>
      </p:sp>
      <p:sp>
        <p:nvSpPr>
          <p:cNvPr id="6" name="Footer Placeholder 5">
            <a:extLst>
              <a:ext uri="{FF2B5EF4-FFF2-40B4-BE49-F238E27FC236}">
                <a16:creationId xmlns:a16="http://schemas.microsoft.com/office/drawing/2014/main" xmlns="" id="{5BC35345-7A18-4D42-9681-50058B9D5D58}"/>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BCB22563-5A9D-4035-99DC-A96787B7BEA2}"/>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xmlns=""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xmlns=""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5A73258-FD4E-43EE-BF6C-3DADDEA90459}"/>
              </a:ext>
            </a:extLst>
          </p:cNvPr>
          <p:cNvSpPr>
            <a:spLocks noGrp="1"/>
          </p:cNvSpPr>
          <p:nvPr>
            <p:ph type="dt" sz="half" idx="10"/>
          </p:nvPr>
        </p:nvSpPr>
        <p:spPr/>
        <p:txBody>
          <a:bodyPr/>
          <a:lstStyle/>
          <a:p>
            <a:fld id="{3237A82C-AEEE-48DB-A866-3B1CA0AC9D5D}" type="datetimeFigureOut">
              <a:rPr lang="x-none" smtClean="0"/>
              <a:t>10/9/2024</a:t>
            </a:fld>
            <a:endParaRPr lang="x-none"/>
          </a:p>
        </p:txBody>
      </p:sp>
      <p:sp>
        <p:nvSpPr>
          <p:cNvPr id="6" name="Footer Placeholder 5">
            <a:extLst>
              <a:ext uri="{FF2B5EF4-FFF2-40B4-BE49-F238E27FC236}">
                <a16:creationId xmlns:a16="http://schemas.microsoft.com/office/drawing/2014/main" xmlns="" id="{170AB588-D788-4246-8BC5-FC3FB748507C}"/>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E7FFFD2F-0AC3-4390-8990-6C3DDE5525F5}"/>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C9B165-E271-4702-AC6D-63BC723EAB6A}"/>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E19ACED0-31DD-4C4F-B63A-02250626EB2F}"/>
              </a:ext>
            </a:extLst>
          </p:cNvPr>
          <p:cNvSpPr>
            <a:spLocks noGrp="1"/>
          </p:cNvSpPr>
          <p:nvPr>
            <p:ph type="dt" sz="half" idx="10"/>
          </p:nvPr>
        </p:nvSpPr>
        <p:spPr/>
        <p:txBody>
          <a:bodyPr/>
          <a:lstStyle/>
          <a:p>
            <a:fld id="{3237A82C-AEEE-48DB-A866-3B1CA0AC9D5D}" type="datetimeFigureOut">
              <a:rPr lang="x-none" smtClean="0"/>
              <a:t>10/9/2024</a:t>
            </a:fld>
            <a:endParaRPr lang="x-none"/>
          </a:p>
        </p:txBody>
      </p:sp>
      <p:sp>
        <p:nvSpPr>
          <p:cNvPr id="5" name="Footer Placeholder 4">
            <a:extLst>
              <a:ext uri="{FF2B5EF4-FFF2-40B4-BE49-F238E27FC236}">
                <a16:creationId xmlns:a16="http://schemas.microsoft.com/office/drawing/2014/main" xmlns="" id="{A995553D-FD7D-4432-BC5C-F78462D738A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31E46CDF-12B4-4900-A154-E219D22E95BB}"/>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DD35E231-43A9-48DA-833A-A8750A6CA7EC}"/>
              </a:ext>
            </a:extLst>
          </p:cNvPr>
          <p:cNvSpPr>
            <a:spLocks noGrp="1"/>
          </p:cNvSpPr>
          <p:nvPr>
            <p:ph type="dt" sz="half" idx="10"/>
          </p:nvPr>
        </p:nvSpPr>
        <p:spPr/>
        <p:txBody>
          <a:bodyPr/>
          <a:lstStyle/>
          <a:p>
            <a:fld id="{3237A82C-AEEE-48DB-A866-3B1CA0AC9D5D}" type="datetimeFigureOut">
              <a:rPr lang="x-none" smtClean="0"/>
              <a:t>10/9/2024</a:t>
            </a:fld>
            <a:endParaRPr lang="x-none"/>
          </a:p>
        </p:txBody>
      </p:sp>
      <p:sp>
        <p:nvSpPr>
          <p:cNvPr id="5" name="Footer Placeholder 4">
            <a:extLst>
              <a:ext uri="{FF2B5EF4-FFF2-40B4-BE49-F238E27FC236}">
                <a16:creationId xmlns:a16="http://schemas.microsoft.com/office/drawing/2014/main" xmlns="" id="{00B07A8C-6932-4260-BAAA-DBE1B12880F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FAFE6F17-3B9F-4C75-98BF-F79F5D018AEB}"/>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x-none" smtClean="0"/>
              <a:t>10/9/2024</a:t>
            </a:fld>
            <a:endParaRPr lang="x-none"/>
          </a:p>
        </p:txBody>
      </p:sp>
      <p:sp>
        <p:nvSpPr>
          <p:cNvPr id="5" name="Footer Placeholder 4">
            <a:extLst>
              <a:ext uri="{FF2B5EF4-FFF2-40B4-BE49-F238E27FC236}">
                <a16:creationId xmlns:a16="http://schemas.microsoft.com/office/drawing/2014/main" xmlns=""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xmlns=""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FBEF21E1-2D98-4671-AEAF-A201BC9C40D1}"/>
              </a:ext>
            </a:extLst>
          </p:cNvPr>
          <p:cNvSpPr/>
          <p:nvPr/>
        </p:nvSpPr>
        <p:spPr>
          <a:xfrm>
            <a:off x="0" y="11723"/>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xmlns="" id="{5946CD5F-621C-4899-B8C5-417BE3F1ECD0}"/>
              </a:ext>
            </a:extLst>
          </p:cNvPr>
          <p:cNvSpPr>
            <a:spLocks noGrp="1"/>
          </p:cNvSpPr>
          <p:nvPr>
            <p:ph type="ctrTitle"/>
          </p:nvPr>
        </p:nvSpPr>
        <p:spPr>
          <a:xfrm>
            <a:off x="1242646" y="2458530"/>
            <a:ext cx="8780585" cy="1153160"/>
          </a:xfrm>
        </p:spPr>
        <p:txBody>
          <a:bodyPr>
            <a:noAutofit/>
          </a:bodyPr>
          <a:lstStyle/>
          <a:p>
            <a:r>
              <a:rPr lang="en-GB" sz="7200" dirty="0" smtClean="0">
                <a:solidFill>
                  <a:schemeClr val="bg1"/>
                </a:solidFill>
              </a:rPr>
              <a:t>Technical and Business Writing</a:t>
            </a:r>
            <a:endParaRPr lang="en-GB" sz="7200" dirty="0">
              <a:solidFill>
                <a:schemeClr val="bg1"/>
              </a:solidFill>
            </a:endParaRPr>
          </a:p>
        </p:txBody>
      </p:sp>
      <p:sp>
        <p:nvSpPr>
          <p:cNvPr id="3" name="Subtitle 2">
            <a:extLst>
              <a:ext uri="{FF2B5EF4-FFF2-40B4-BE49-F238E27FC236}">
                <a16:creationId xmlns:a16="http://schemas.microsoft.com/office/drawing/2014/main" xmlns="" id="{EC406DBB-5AF5-48F8-9377-D0A0ACE9B10B}"/>
              </a:ext>
            </a:extLst>
          </p:cNvPr>
          <p:cNvSpPr>
            <a:spLocks noGrp="1"/>
          </p:cNvSpPr>
          <p:nvPr>
            <p:ph type="subTitle" idx="1"/>
          </p:nvPr>
        </p:nvSpPr>
        <p:spPr>
          <a:xfrm>
            <a:off x="959885" y="3625484"/>
            <a:ext cx="8955024" cy="1153160"/>
          </a:xfrm>
        </p:spPr>
        <p:txBody>
          <a:bodyPr>
            <a:noAutofit/>
          </a:bodyPr>
          <a:lstStyle/>
          <a:p>
            <a:pPr algn="l"/>
            <a:r>
              <a:rPr lang="en-GB" sz="2800" b="1" dirty="0" smtClean="0">
                <a:solidFill>
                  <a:schemeClr val="bg1"/>
                </a:solidFill>
                <a:latin typeface="Bahnschrift" panose="020B0502040204020203" pitchFamily="34" charset="0"/>
              </a:rPr>
              <a:t>Aqsa Ashraf</a:t>
            </a:r>
          </a:p>
          <a:p>
            <a:pPr algn="l"/>
            <a:r>
              <a:rPr lang="en-GB" sz="2800" b="1" dirty="0" smtClean="0">
                <a:solidFill>
                  <a:schemeClr val="bg1"/>
                </a:solidFill>
                <a:latin typeface="Bahnschrift" panose="020B0502040204020203" pitchFamily="34" charset="0"/>
              </a:rPr>
              <a:t>ENG-201</a:t>
            </a:r>
          </a:p>
          <a:p>
            <a:pPr algn="l"/>
            <a:r>
              <a:rPr lang="en-GB" sz="2800" b="1" dirty="0" smtClean="0">
                <a:solidFill>
                  <a:schemeClr val="bg1"/>
                </a:solidFill>
                <a:latin typeface="Bahnschrift" panose="020B0502040204020203" pitchFamily="34" charset="0"/>
              </a:rPr>
              <a:t>Week </a:t>
            </a:r>
            <a:r>
              <a:rPr lang="en-GB" sz="2800" b="1" dirty="0" smtClean="0">
                <a:solidFill>
                  <a:schemeClr val="bg1"/>
                </a:solidFill>
                <a:latin typeface="Bahnschrift" panose="020B0502040204020203" pitchFamily="34" charset="0"/>
              </a:rPr>
              <a:t>2, </a:t>
            </a:r>
            <a:r>
              <a:rPr lang="en-GB" sz="2800" b="1" dirty="0" smtClean="0">
                <a:solidFill>
                  <a:schemeClr val="bg1"/>
                </a:solidFill>
                <a:latin typeface="Bahnschrift" panose="020B0502040204020203" pitchFamily="34" charset="0"/>
              </a:rPr>
              <a:t>Lecture </a:t>
            </a:r>
            <a:r>
              <a:rPr lang="en-GB" sz="2800" b="1" dirty="0" smtClean="0">
                <a:solidFill>
                  <a:schemeClr val="bg1"/>
                </a:solidFill>
                <a:latin typeface="Bahnschrift" panose="020B0502040204020203" pitchFamily="34" charset="0"/>
              </a:rPr>
              <a:t>1</a:t>
            </a:r>
            <a:endParaRPr lang="en-GB" sz="2800" b="1" dirty="0" smtClean="0">
              <a:solidFill>
                <a:schemeClr val="bg1"/>
              </a:solidFill>
              <a:latin typeface="Bahnschrift" panose="020B0502040204020203" pitchFamily="34" charset="0"/>
            </a:endParaRPr>
          </a:p>
        </p:txBody>
      </p:sp>
      <p:pic>
        <p:nvPicPr>
          <p:cNvPr id="10" name="Graphic 9">
            <a:extLst>
              <a:ext uri="{FF2B5EF4-FFF2-40B4-BE49-F238E27FC236}">
                <a16:creationId xmlns:a16="http://schemas.microsoft.com/office/drawing/2014/main" xmlns="" id="{1C869FE1-C1C4-48A8-AA9E-99CAE025BEAF}"/>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414459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xmlns="" id="{5946CD5F-621C-4899-B8C5-417BE3F1ECD0}"/>
              </a:ext>
            </a:extLst>
          </p:cNvPr>
          <p:cNvSpPr>
            <a:spLocks noGrp="1"/>
          </p:cNvSpPr>
          <p:nvPr>
            <p:ph type="ctrTitle"/>
          </p:nvPr>
        </p:nvSpPr>
        <p:spPr>
          <a:xfrm>
            <a:off x="823280" y="573162"/>
            <a:ext cx="9704352" cy="2465366"/>
          </a:xfrm>
        </p:spPr>
        <p:txBody>
          <a:bodyPr>
            <a:normAutofit/>
          </a:bodyPr>
          <a:lstStyle/>
          <a:p>
            <a:r>
              <a:rPr lang="en-GB" dirty="0" smtClean="0"/>
              <a:t>Administrating Questionnaire</a:t>
            </a:r>
            <a:endParaRPr lang="en-GB" dirty="0"/>
          </a:p>
        </p:txBody>
      </p:sp>
      <p:sp>
        <p:nvSpPr>
          <p:cNvPr id="3" name="Subtitle 2">
            <a:extLst>
              <a:ext uri="{FF2B5EF4-FFF2-40B4-BE49-F238E27FC236}">
                <a16:creationId xmlns:a16="http://schemas.microsoft.com/office/drawing/2014/main" xmlns="" id="{EC406DBB-5AF5-48F8-9377-D0A0ACE9B10B}"/>
              </a:ext>
            </a:extLst>
          </p:cNvPr>
          <p:cNvSpPr>
            <a:spLocks noGrp="1"/>
          </p:cNvSpPr>
          <p:nvPr>
            <p:ph type="subTitle" idx="1"/>
          </p:nvPr>
        </p:nvSpPr>
        <p:spPr>
          <a:xfrm>
            <a:off x="982098" y="3934326"/>
            <a:ext cx="8955024" cy="471956"/>
          </a:xfrm>
        </p:spPr>
        <p:txBody>
          <a:bodyPr>
            <a:noAutofit/>
          </a:bodyPr>
          <a:lstStyle/>
          <a:p>
            <a:endParaRPr lang="en-US" sz="2800" dirty="0"/>
          </a:p>
          <a:p>
            <a:r>
              <a:rPr lang="en-US" sz="2800" b="1" u="sng" dirty="0"/>
              <a:t>Questionnaire Construction and administration</a:t>
            </a:r>
          </a:p>
        </p:txBody>
      </p:sp>
      <p:sp>
        <p:nvSpPr>
          <p:cNvPr id="5" name="Subtitle 2">
            <a:extLst>
              <a:ext uri="{FF2B5EF4-FFF2-40B4-BE49-F238E27FC236}">
                <a16:creationId xmlns:a16="http://schemas.microsoft.com/office/drawing/2014/main" xmlns="" id="{6DA394B8-F89E-45AC-9E3F-FEC161BFAFAB}"/>
              </a:ext>
            </a:extLst>
          </p:cNvPr>
          <p:cNvSpPr txBox="1">
            <a:spLocks/>
          </p:cNvSpPr>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b="1" dirty="0" smtClean="0">
                <a:latin typeface="Arial" panose="020B0604020202020204" pitchFamily="34" charset="0"/>
                <a:cs typeface="Arial" panose="020B0604020202020204" pitchFamily="34" charset="0"/>
              </a:rPr>
              <a:t> </a:t>
            </a:r>
            <a:endParaRPr lang="en-GB" sz="2000" b="1" dirty="0">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xmlns="" id="{1C869FE1-C1C4-48A8-AA9E-99CAE025BEAF}"/>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12192000" cy="6858000"/>
          </a:xfrm>
        </p:spPr>
      </p:pic>
    </p:spTree>
    <p:extLst>
      <p:ext uri="{BB962C8B-B14F-4D97-AF65-F5344CB8AC3E}">
        <p14:creationId xmlns:p14="http://schemas.microsoft.com/office/powerpoint/2010/main" val="1599386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5E409FE-0CBB-4EAD-8A22-C51F65DE1771}"/>
              </a:ext>
            </a:extLst>
          </p:cNvPr>
          <p:cNvSpPr>
            <a:spLocks noGrp="1"/>
          </p:cNvSpPr>
          <p:nvPr>
            <p:ph idx="1"/>
          </p:nvPr>
        </p:nvSpPr>
        <p:spPr>
          <a:xfrm>
            <a:off x="517358" y="1825625"/>
            <a:ext cx="11153274" cy="4731586"/>
          </a:xfrm>
        </p:spPr>
        <p:txBody>
          <a:bodyPr/>
          <a:lstStyle/>
          <a:p>
            <a:pPr marL="0" indent="0" algn="just">
              <a:lnSpc>
                <a:spcPct val="150000"/>
              </a:lnSpc>
              <a:buNone/>
            </a:pPr>
            <a:r>
              <a:rPr lang="en-US" sz="3200" b="1" dirty="0" smtClean="0"/>
              <a:t>What is a questionnaire?</a:t>
            </a:r>
          </a:p>
          <a:p>
            <a:pPr marL="0" indent="0" algn="just">
              <a:lnSpc>
                <a:spcPct val="150000"/>
              </a:lnSpc>
              <a:buNone/>
            </a:pPr>
            <a:r>
              <a:rPr lang="en-US" dirty="0"/>
              <a:t>	</a:t>
            </a:r>
            <a:r>
              <a:rPr lang="en-US" dirty="0" smtClean="0"/>
              <a:t>A </a:t>
            </a:r>
            <a:r>
              <a:rPr lang="en-US" dirty="0"/>
              <a:t>questionnaire is a research tool featuring a series of questions used to collect useful information from participants. These instruments include either written or oral questions and comprise an interview-style format. </a:t>
            </a:r>
            <a:endParaRPr lang="en-US" dirty="0" smtClean="0"/>
          </a:p>
          <a:p>
            <a:pPr marL="0" indent="0" algn="just">
              <a:lnSpc>
                <a:spcPct val="150000"/>
              </a:lnSpc>
              <a:buNone/>
            </a:pPr>
            <a:r>
              <a:rPr lang="en-US" dirty="0" smtClean="0"/>
              <a:t>Questionnaires </a:t>
            </a:r>
            <a:r>
              <a:rPr lang="en-US" dirty="0"/>
              <a:t>may be qualitative or quantitative and can be conducted online, by phone, on paper or </a:t>
            </a:r>
            <a:r>
              <a:rPr lang="en-US" dirty="0" smtClean="0"/>
              <a:t>face-to-face etc.</a:t>
            </a:r>
            <a:endParaRPr lang="x-none" dirty="0"/>
          </a:p>
        </p:txBody>
      </p:sp>
      <p:grpSp>
        <p:nvGrpSpPr>
          <p:cNvPr id="8" name="Group 7">
            <a:extLst>
              <a:ext uri="{FF2B5EF4-FFF2-40B4-BE49-F238E27FC236}">
                <a16:creationId xmlns:a16="http://schemas.microsoft.com/office/drawing/2014/main" xmlns=""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xmlns=""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a16="http://schemas.microsoft.com/office/drawing/2014/main" xmlns=""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xmlns=""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a16="http://schemas.microsoft.com/office/drawing/2014/main" xmlns="" id="{75FFEA7F-8809-458D-BE80-99F7CFB965CA}"/>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xmlns=""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a16="http://schemas.microsoft.com/office/drawing/2014/main" xmlns="" id="{ACED766F-A0E3-4D45-8A6E-86CCFAFA5D9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xmlns=""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438584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xmlns="" id="{FF7170C3-FB1F-4CF8-A115-23304150A008}"/>
              </a:ext>
            </a:extLst>
          </p:cNvPr>
          <p:cNvSpPr>
            <a:spLocks noGrp="1"/>
          </p:cNvSpPr>
          <p:nvPr>
            <p:ph idx="1"/>
          </p:nvPr>
        </p:nvSpPr>
        <p:spPr>
          <a:xfrm>
            <a:off x="168442" y="827722"/>
            <a:ext cx="11899232" cy="5934025"/>
          </a:xfrm>
        </p:spPr>
        <p:txBody>
          <a:bodyPr>
            <a:normAutofit/>
          </a:bodyPr>
          <a:lstStyle/>
          <a:p>
            <a:pPr marL="0" indent="0" algn="just">
              <a:lnSpc>
                <a:spcPct val="100000"/>
              </a:lnSpc>
              <a:buNone/>
            </a:pPr>
            <a:r>
              <a:rPr lang="en-US" sz="2400" dirty="0"/>
              <a:t>Questionnaires feature either open or closed questions and sometimes employ a mixture of both. </a:t>
            </a:r>
            <a:r>
              <a:rPr lang="en-US" sz="2400" b="1" dirty="0" smtClean="0"/>
              <a:t>Open-ended </a:t>
            </a:r>
            <a:r>
              <a:rPr lang="en-US" sz="2400" b="1" dirty="0"/>
              <a:t>questions </a:t>
            </a:r>
            <a:r>
              <a:rPr lang="en-US" sz="2400" dirty="0"/>
              <a:t>enable respondents to answer in their own words in as much or as little detail as they desire. </a:t>
            </a:r>
            <a:endParaRPr lang="en-US" sz="2400" dirty="0" smtClean="0"/>
          </a:p>
          <a:p>
            <a:pPr marL="0" indent="0">
              <a:lnSpc>
                <a:spcPct val="100000"/>
              </a:lnSpc>
              <a:buNone/>
            </a:pPr>
            <a:r>
              <a:rPr lang="en-US" sz="2400" dirty="0" smtClean="0"/>
              <a:t>Example</a:t>
            </a:r>
            <a:r>
              <a:rPr lang="en-US" sz="2400" dirty="0"/>
              <a:t>: Nominal </a:t>
            </a:r>
            <a:r>
              <a:rPr lang="en-US" sz="2400" dirty="0" smtClean="0"/>
              <a:t>variables</a:t>
            </a:r>
          </a:p>
          <a:p>
            <a:pPr>
              <a:lnSpc>
                <a:spcPct val="100000"/>
              </a:lnSpc>
            </a:pPr>
            <a:r>
              <a:rPr lang="en-US" sz="2400" dirty="0"/>
              <a:t> </a:t>
            </a:r>
            <a:r>
              <a:rPr lang="en-US" sz="2400" dirty="0" smtClean="0"/>
              <a:t>Are </a:t>
            </a:r>
            <a:r>
              <a:rPr lang="en-US" sz="2400" dirty="0"/>
              <a:t>you satisfied with the current work-from-home policies?</a:t>
            </a:r>
            <a:br>
              <a:rPr lang="en-US" sz="2400" dirty="0"/>
            </a:br>
            <a:r>
              <a:rPr lang="en-US" sz="2400" dirty="0"/>
              <a:t> </a:t>
            </a:r>
            <a:r>
              <a:rPr lang="en-US" sz="2400" dirty="0" smtClean="0"/>
              <a:t>        Yes</a:t>
            </a:r>
            <a:r>
              <a:rPr lang="en-US" sz="2400" dirty="0"/>
              <a:t/>
            </a:r>
            <a:br>
              <a:rPr lang="en-US" sz="2400" dirty="0"/>
            </a:br>
            <a:r>
              <a:rPr lang="en-US" sz="2400" dirty="0"/>
              <a:t> </a:t>
            </a:r>
            <a:r>
              <a:rPr lang="en-US" sz="2400" dirty="0" smtClean="0"/>
              <a:t>        No</a:t>
            </a:r>
          </a:p>
          <a:p>
            <a:pPr marL="0" indent="0">
              <a:lnSpc>
                <a:spcPct val="100000"/>
              </a:lnSpc>
              <a:buNone/>
            </a:pPr>
            <a:r>
              <a:rPr lang="en-US" sz="2400" b="1" dirty="0"/>
              <a:t>Closed questions </a:t>
            </a:r>
            <a:r>
              <a:rPr lang="en-US" sz="2400" dirty="0"/>
              <a:t>provide respondents with a series of predetermined responses they can choose from.</a:t>
            </a:r>
          </a:p>
          <a:p>
            <a:pPr marL="0" indent="0">
              <a:lnSpc>
                <a:spcPct val="100000"/>
              </a:lnSpc>
              <a:buNone/>
            </a:pPr>
            <a:r>
              <a:rPr lang="en-US" sz="2400" dirty="0"/>
              <a:t>Example: Open-ended </a:t>
            </a:r>
            <a:r>
              <a:rPr lang="en-US" sz="2400" dirty="0" smtClean="0"/>
              <a:t>questions</a:t>
            </a:r>
          </a:p>
          <a:p>
            <a:pPr>
              <a:lnSpc>
                <a:spcPct val="100000"/>
              </a:lnSpc>
            </a:pPr>
            <a:r>
              <a:rPr lang="en-US" sz="2400" dirty="0" smtClean="0"/>
              <a:t>How </a:t>
            </a:r>
            <a:r>
              <a:rPr lang="en-US" sz="2400" dirty="0"/>
              <a:t>do you feel about open science?</a:t>
            </a:r>
          </a:p>
          <a:p>
            <a:pPr>
              <a:lnSpc>
                <a:spcPct val="100000"/>
              </a:lnSpc>
            </a:pPr>
            <a:r>
              <a:rPr lang="en-US" sz="2400" dirty="0"/>
              <a:t>How would you describe your personality?</a:t>
            </a:r>
          </a:p>
          <a:p>
            <a:pPr>
              <a:lnSpc>
                <a:spcPct val="100000"/>
              </a:lnSpc>
            </a:pPr>
            <a:r>
              <a:rPr lang="en-US" sz="2400" dirty="0"/>
              <a:t>In your opinion, what is the biggest obstacle for productivity in remote work</a:t>
            </a:r>
            <a:r>
              <a:rPr lang="en-US" sz="2400" dirty="0" smtClean="0"/>
              <a:t>?</a:t>
            </a:r>
            <a:endParaRPr lang="en-US" sz="2400" dirty="0"/>
          </a:p>
        </p:txBody>
      </p:sp>
      <p:grpSp>
        <p:nvGrpSpPr>
          <p:cNvPr id="11" name="Group 10">
            <a:extLst>
              <a:ext uri="{FF2B5EF4-FFF2-40B4-BE49-F238E27FC236}">
                <a16:creationId xmlns:a16="http://schemas.microsoft.com/office/drawing/2014/main" xmlns="" id="{2CF01162-D0B6-4CEC-B999-30B23E8FE853}"/>
              </a:ext>
            </a:extLst>
          </p:cNvPr>
          <p:cNvGrpSpPr/>
          <p:nvPr/>
        </p:nvGrpSpPr>
        <p:grpSpPr>
          <a:xfrm>
            <a:off x="0" y="0"/>
            <a:ext cx="12749348" cy="827722"/>
            <a:chOff x="0" y="0"/>
            <a:chExt cx="12749348" cy="1115736"/>
          </a:xfrm>
        </p:grpSpPr>
        <p:sp>
          <p:nvSpPr>
            <p:cNvPr id="12" name="Rectangle 11">
              <a:extLst>
                <a:ext uri="{FF2B5EF4-FFF2-40B4-BE49-F238E27FC236}">
                  <a16:creationId xmlns:a16="http://schemas.microsoft.com/office/drawing/2014/main" xmlns=""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xmlns=""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xmlns=""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xmlns="" id="{71F90180-E346-4AF9-B3BC-F4B7007B4E0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xmlns=""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xmlns="" id="{A532177C-F5A5-41C6-B8EF-E6DA142B50E7}"/>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xmlns=""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239341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5E409FE-0CBB-4EAD-8A22-C51F65DE1771}"/>
              </a:ext>
            </a:extLst>
          </p:cNvPr>
          <p:cNvSpPr>
            <a:spLocks noGrp="1"/>
          </p:cNvSpPr>
          <p:nvPr>
            <p:ph idx="1"/>
          </p:nvPr>
        </p:nvSpPr>
        <p:spPr>
          <a:xfrm>
            <a:off x="689810" y="1407695"/>
            <a:ext cx="11101137" cy="5089358"/>
          </a:xfrm>
        </p:spPr>
        <p:txBody>
          <a:bodyPr>
            <a:normAutofit lnSpcReduction="10000"/>
          </a:bodyPr>
          <a:lstStyle/>
          <a:p>
            <a:pPr marL="0" indent="0" algn="just">
              <a:lnSpc>
                <a:spcPct val="100000"/>
              </a:lnSpc>
              <a:buNone/>
            </a:pPr>
            <a:r>
              <a:rPr lang="en-US" sz="3600" b="1" u="sng" dirty="0"/>
              <a:t>Construction of </a:t>
            </a:r>
            <a:r>
              <a:rPr lang="en-US" sz="3600" b="1" u="sng" dirty="0" smtClean="0"/>
              <a:t>questionnaire</a:t>
            </a:r>
          </a:p>
          <a:p>
            <a:pPr marL="0" indent="0" algn="just">
              <a:lnSpc>
                <a:spcPct val="100000"/>
              </a:lnSpc>
              <a:buNone/>
            </a:pPr>
            <a:r>
              <a:rPr lang="en-US" sz="3200" dirty="0" smtClean="0"/>
              <a:t>There </a:t>
            </a:r>
            <a:r>
              <a:rPr lang="en-US" sz="3200" dirty="0"/>
              <a:t>are following methods used to construct questionnaire. </a:t>
            </a:r>
            <a:endParaRPr lang="en-US" sz="3200" dirty="0" smtClean="0"/>
          </a:p>
          <a:p>
            <a:pPr marL="0" indent="0" algn="just">
              <a:lnSpc>
                <a:spcPct val="100000"/>
              </a:lnSpc>
              <a:buNone/>
            </a:pPr>
            <a:r>
              <a:rPr lang="en-US" sz="3200" dirty="0" smtClean="0"/>
              <a:t>1. Define </a:t>
            </a:r>
            <a:r>
              <a:rPr lang="en-US" sz="3200" dirty="0"/>
              <a:t>your goals and objectives .</a:t>
            </a:r>
            <a:endParaRPr lang="en-US" sz="3200" dirty="0" smtClean="0"/>
          </a:p>
          <a:p>
            <a:pPr marL="0" indent="0" algn="just">
              <a:lnSpc>
                <a:spcPct val="100000"/>
              </a:lnSpc>
              <a:buNone/>
            </a:pPr>
            <a:r>
              <a:rPr lang="en-US" sz="3200" dirty="0" smtClean="0"/>
              <a:t>2. The </a:t>
            </a:r>
            <a:r>
              <a:rPr lang="en-US" sz="3200" dirty="0"/>
              <a:t>first step of designing a questionnaire is determining your aims</a:t>
            </a:r>
            <a:r>
              <a:rPr lang="en-US" sz="3200" dirty="0" smtClean="0"/>
              <a:t>. </a:t>
            </a:r>
          </a:p>
          <a:p>
            <a:pPr marL="0" indent="0" algn="just">
              <a:lnSpc>
                <a:spcPct val="100000"/>
              </a:lnSpc>
              <a:buNone/>
            </a:pPr>
            <a:r>
              <a:rPr lang="en-US" sz="3200" dirty="0" smtClean="0"/>
              <a:t>3. What </a:t>
            </a:r>
            <a:r>
              <a:rPr lang="en-US" sz="3200" dirty="0"/>
              <a:t>topics or experiences are you studying? </a:t>
            </a:r>
            <a:endParaRPr lang="en-US" sz="3200" dirty="0" smtClean="0"/>
          </a:p>
          <a:p>
            <a:pPr marL="0" indent="0" algn="just">
              <a:lnSpc>
                <a:spcPct val="100000"/>
              </a:lnSpc>
              <a:buNone/>
            </a:pPr>
            <a:r>
              <a:rPr lang="en-US" sz="3200" dirty="0" smtClean="0"/>
              <a:t>4. What </a:t>
            </a:r>
            <a:r>
              <a:rPr lang="en-US" sz="3200" dirty="0"/>
              <a:t>specifically do you want to find out? </a:t>
            </a:r>
          </a:p>
          <a:p>
            <a:pPr marL="0" indent="0" algn="just">
              <a:lnSpc>
                <a:spcPct val="100000"/>
              </a:lnSpc>
              <a:buNone/>
            </a:pPr>
            <a:r>
              <a:rPr lang="en-US" sz="3200" dirty="0" smtClean="0"/>
              <a:t>5. Is </a:t>
            </a:r>
            <a:r>
              <a:rPr lang="en-US" sz="3200" dirty="0"/>
              <a:t>a self-report questionnaire an appropriate tool for investigating this topic? </a:t>
            </a:r>
            <a:endParaRPr lang="x-none" sz="3200" dirty="0"/>
          </a:p>
        </p:txBody>
      </p:sp>
      <p:grpSp>
        <p:nvGrpSpPr>
          <p:cNvPr id="8" name="Group 7">
            <a:extLst>
              <a:ext uri="{FF2B5EF4-FFF2-40B4-BE49-F238E27FC236}">
                <a16:creationId xmlns:a16="http://schemas.microsoft.com/office/drawing/2014/main" xmlns=""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xmlns=""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a16="http://schemas.microsoft.com/office/drawing/2014/main" xmlns=""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xmlns=""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a16="http://schemas.microsoft.com/office/drawing/2014/main" xmlns="" id="{75FFEA7F-8809-458D-BE80-99F7CFB965CA}"/>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xmlns=""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a16="http://schemas.microsoft.com/office/drawing/2014/main" xmlns="" id="{ACED766F-A0E3-4D45-8A6E-86CCFAFA5D9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xmlns=""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5E409FE-0CBB-4EAD-8A22-C51F65DE1771}"/>
              </a:ext>
            </a:extLst>
          </p:cNvPr>
          <p:cNvSpPr>
            <a:spLocks noGrp="1"/>
          </p:cNvSpPr>
          <p:nvPr>
            <p:ph idx="1"/>
          </p:nvPr>
        </p:nvSpPr>
        <p:spPr>
          <a:xfrm>
            <a:off x="464227" y="1407696"/>
            <a:ext cx="11266562" cy="5113420"/>
          </a:xfrm>
        </p:spPr>
        <p:txBody>
          <a:bodyPr>
            <a:normAutofit/>
          </a:bodyPr>
          <a:lstStyle/>
          <a:p>
            <a:pPr algn="just">
              <a:lnSpc>
                <a:spcPct val="150000"/>
              </a:lnSpc>
            </a:pPr>
            <a:r>
              <a:rPr lang="en-US" b="1" u="sng" dirty="0"/>
              <a:t>Questionnaire administration </a:t>
            </a:r>
            <a:r>
              <a:rPr lang="en-US" b="1" u="sng" dirty="0" smtClean="0"/>
              <a:t>methods</a:t>
            </a:r>
          </a:p>
          <a:p>
            <a:pPr marL="0" indent="0" algn="just">
              <a:lnSpc>
                <a:spcPct val="150000"/>
              </a:lnSpc>
              <a:buNone/>
            </a:pPr>
            <a:r>
              <a:rPr lang="en-US" i="1" dirty="0" smtClean="0"/>
              <a:t>Questionnaires </a:t>
            </a:r>
            <a:r>
              <a:rPr lang="en-US" i="1" dirty="0"/>
              <a:t>can be self-administered or researcher-administered. </a:t>
            </a:r>
            <a:endParaRPr lang="en-US" i="1" dirty="0" smtClean="0"/>
          </a:p>
          <a:p>
            <a:pPr marL="0" indent="0" algn="just">
              <a:lnSpc>
                <a:spcPct val="150000"/>
              </a:lnSpc>
              <a:buNone/>
            </a:pPr>
            <a:r>
              <a:rPr lang="en-US" b="1" dirty="0" smtClean="0"/>
              <a:t>1. Self-administered </a:t>
            </a:r>
            <a:r>
              <a:rPr lang="en-US" b="1" dirty="0"/>
              <a:t>questionnaires </a:t>
            </a:r>
            <a:endParaRPr lang="en-US" b="1" dirty="0" smtClean="0"/>
          </a:p>
          <a:p>
            <a:pPr marL="0" indent="0" algn="just">
              <a:lnSpc>
                <a:spcPct val="150000"/>
              </a:lnSpc>
              <a:buNone/>
            </a:pPr>
            <a:r>
              <a:rPr lang="en-US" dirty="0" smtClean="0"/>
              <a:t>Self-administered </a:t>
            </a:r>
            <a:r>
              <a:rPr lang="en-US" dirty="0"/>
              <a:t>questionnaires can be delivered online or in paper-and-pen formats, in person or through mail. All questions are standardized so that all respondents receive the same questions with identical wording. </a:t>
            </a:r>
            <a:endParaRPr lang="x-none" dirty="0"/>
          </a:p>
        </p:txBody>
      </p:sp>
      <p:grpSp>
        <p:nvGrpSpPr>
          <p:cNvPr id="8" name="Group 7">
            <a:extLst>
              <a:ext uri="{FF2B5EF4-FFF2-40B4-BE49-F238E27FC236}">
                <a16:creationId xmlns:a16="http://schemas.microsoft.com/office/drawing/2014/main" xmlns=""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xmlns=""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a16="http://schemas.microsoft.com/office/drawing/2014/main" xmlns=""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xmlns=""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a16="http://schemas.microsoft.com/office/drawing/2014/main" xmlns="" id="{75FFEA7F-8809-458D-BE80-99F7CFB965CA}"/>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xmlns=""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a16="http://schemas.microsoft.com/office/drawing/2014/main" xmlns="" id="{ACED766F-A0E3-4D45-8A6E-86CCFAFA5D9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xmlns=""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5E409FE-0CBB-4EAD-8A22-C51F65DE1771}"/>
              </a:ext>
            </a:extLst>
          </p:cNvPr>
          <p:cNvSpPr>
            <a:spLocks noGrp="1"/>
          </p:cNvSpPr>
          <p:nvPr>
            <p:ph idx="1"/>
          </p:nvPr>
        </p:nvSpPr>
        <p:spPr>
          <a:xfrm>
            <a:off x="120316" y="1058779"/>
            <a:ext cx="11911263" cy="5799222"/>
          </a:xfrm>
        </p:spPr>
        <p:txBody>
          <a:bodyPr>
            <a:noAutofit/>
          </a:bodyPr>
          <a:lstStyle/>
          <a:p>
            <a:pPr marL="0" indent="0" algn="just">
              <a:lnSpc>
                <a:spcPct val="120000"/>
              </a:lnSpc>
              <a:buNone/>
            </a:pPr>
            <a:r>
              <a:rPr lang="en-US" sz="2400" dirty="0"/>
              <a:t>Self-administered questionnaires can be</a:t>
            </a:r>
            <a:r>
              <a:rPr lang="en-US" sz="2400" dirty="0" smtClean="0"/>
              <a:t>:</a:t>
            </a:r>
          </a:p>
          <a:p>
            <a:pPr algn="just">
              <a:lnSpc>
                <a:spcPct val="120000"/>
              </a:lnSpc>
            </a:pPr>
            <a:r>
              <a:rPr lang="en-US" sz="2400" dirty="0"/>
              <a:t> </a:t>
            </a:r>
            <a:r>
              <a:rPr lang="en-US" sz="2400" dirty="0" smtClean="0"/>
              <a:t>cost-effective </a:t>
            </a:r>
          </a:p>
          <a:p>
            <a:pPr algn="just">
              <a:lnSpc>
                <a:spcPct val="120000"/>
              </a:lnSpc>
            </a:pPr>
            <a:r>
              <a:rPr lang="en-US" sz="2400" dirty="0" smtClean="0"/>
              <a:t> easy </a:t>
            </a:r>
            <a:r>
              <a:rPr lang="en-US" sz="2400" dirty="0"/>
              <a:t>to administer for small and large </a:t>
            </a:r>
            <a:r>
              <a:rPr lang="en-US" sz="2400" dirty="0" smtClean="0"/>
              <a:t>groups</a:t>
            </a:r>
          </a:p>
          <a:p>
            <a:pPr algn="just">
              <a:lnSpc>
                <a:spcPct val="120000"/>
              </a:lnSpc>
            </a:pPr>
            <a:r>
              <a:rPr lang="en-US" sz="2400" dirty="0" smtClean="0"/>
              <a:t> </a:t>
            </a:r>
            <a:r>
              <a:rPr lang="en-US" sz="2400" dirty="0"/>
              <a:t>anonymous and suitable for sensitive topics </a:t>
            </a:r>
            <a:endParaRPr lang="en-US" sz="2400" dirty="0" smtClean="0"/>
          </a:p>
          <a:p>
            <a:pPr algn="just">
              <a:lnSpc>
                <a:spcPct val="120000"/>
              </a:lnSpc>
            </a:pPr>
            <a:r>
              <a:rPr lang="en-US" sz="2400" dirty="0" smtClean="0"/>
              <a:t> self-paced </a:t>
            </a:r>
          </a:p>
          <a:p>
            <a:pPr marL="0" indent="0" algn="just">
              <a:lnSpc>
                <a:spcPct val="120000"/>
              </a:lnSpc>
              <a:buNone/>
            </a:pPr>
            <a:r>
              <a:rPr lang="en-US" sz="2400" dirty="0" smtClean="0"/>
              <a:t>But </a:t>
            </a:r>
            <a:r>
              <a:rPr lang="en-US" sz="2400" dirty="0"/>
              <a:t>they may also be: </a:t>
            </a:r>
            <a:endParaRPr lang="en-US" sz="2400" dirty="0" smtClean="0"/>
          </a:p>
          <a:p>
            <a:pPr algn="just">
              <a:lnSpc>
                <a:spcPct val="120000"/>
              </a:lnSpc>
            </a:pPr>
            <a:r>
              <a:rPr lang="en-US" sz="2400" dirty="0" smtClean="0"/>
              <a:t>unsuitable </a:t>
            </a:r>
            <a:r>
              <a:rPr lang="en-US" sz="2400" dirty="0"/>
              <a:t>for people with limited literacy or verbal skills </a:t>
            </a:r>
            <a:endParaRPr lang="en-US" sz="2400" dirty="0" smtClean="0"/>
          </a:p>
          <a:p>
            <a:pPr algn="just">
              <a:lnSpc>
                <a:spcPct val="120000"/>
              </a:lnSpc>
            </a:pPr>
            <a:r>
              <a:rPr lang="en-US" sz="2400" dirty="0" smtClean="0"/>
              <a:t>susceptible </a:t>
            </a:r>
            <a:r>
              <a:rPr lang="en-US" sz="2400" dirty="0"/>
              <a:t>to a non-response bias (most people invited may not complete the questionnaire</a:t>
            </a:r>
            <a:r>
              <a:rPr lang="en-US" sz="2400" dirty="0" smtClean="0"/>
              <a:t>)</a:t>
            </a:r>
          </a:p>
          <a:p>
            <a:pPr marL="0" indent="0" algn="just">
              <a:lnSpc>
                <a:spcPct val="120000"/>
              </a:lnSpc>
              <a:buNone/>
            </a:pPr>
            <a:r>
              <a:rPr lang="en-US" sz="2400" dirty="0" smtClean="0"/>
              <a:t> </a:t>
            </a:r>
          </a:p>
          <a:p>
            <a:pPr marL="0" indent="0" algn="just">
              <a:lnSpc>
                <a:spcPct val="120000"/>
              </a:lnSpc>
              <a:buNone/>
            </a:pPr>
            <a:endParaRPr lang="x-none" sz="2400" dirty="0"/>
          </a:p>
        </p:txBody>
      </p:sp>
      <p:grpSp>
        <p:nvGrpSpPr>
          <p:cNvPr id="8" name="Group 7">
            <a:extLst>
              <a:ext uri="{FF2B5EF4-FFF2-40B4-BE49-F238E27FC236}">
                <a16:creationId xmlns:a16="http://schemas.microsoft.com/office/drawing/2014/main" xmlns="" id="{BAEFE420-0C07-4D1B-9094-F2C452FF1011}"/>
              </a:ext>
            </a:extLst>
          </p:cNvPr>
          <p:cNvGrpSpPr/>
          <p:nvPr/>
        </p:nvGrpSpPr>
        <p:grpSpPr>
          <a:xfrm>
            <a:off x="0" y="0"/>
            <a:ext cx="12749348" cy="794084"/>
            <a:chOff x="0" y="0"/>
            <a:chExt cx="12749348" cy="1115736"/>
          </a:xfrm>
        </p:grpSpPr>
        <p:sp>
          <p:nvSpPr>
            <p:cNvPr id="9" name="Rectangle 8">
              <a:extLst>
                <a:ext uri="{FF2B5EF4-FFF2-40B4-BE49-F238E27FC236}">
                  <a16:creationId xmlns:a16="http://schemas.microsoft.com/office/drawing/2014/main" xmlns=""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a16="http://schemas.microsoft.com/office/drawing/2014/main" xmlns=""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xmlns=""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a16="http://schemas.microsoft.com/office/drawing/2014/main" xmlns="" id="{75FFEA7F-8809-458D-BE80-99F7CFB965CA}"/>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xmlns=""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a16="http://schemas.microsoft.com/office/drawing/2014/main" xmlns="" id="{ACED766F-A0E3-4D45-8A6E-86CCFAFA5D9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xmlns=""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5326" y="324853"/>
            <a:ext cx="11369842" cy="6244389"/>
          </a:xfrm>
        </p:spPr>
        <p:txBody>
          <a:bodyPr>
            <a:normAutofit fontScale="92500"/>
          </a:bodyPr>
          <a:lstStyle/>
          <a:p>
            <a:pPr marL="0" indent="0" algn="just">
              <a:lnSpc>
                <a:spcPct val="150000"/>
              </a:lnSpc>
              <a:buNone/>
            </a:pPr>
            <a:r>
              <a:rPr lang="en-US" sz="3000" b="1" u="sng" dirty="0"/>
              <a:t>Researcher-administered questionnaires </a:t>
            </a:r>
            <a:endParaRPr lang="en-US" sz="3000" b="1" u="sng" dirty="0" smtClean="0"/>
          </a:p>
          <a:p>
            <a:pPr marL="0" indent="0" algn="just">
              <a:lnSpc>
                <a:spcPct val="150000"/>
              </a:lnSpc>
              <a:buNone/>
            </a:pPr>
            <a:r>
              <a:rPr lang="en-US" dirty="0" smtClean="0"/>
              <a:t>	Researcher-administered </a:t>
            </a:r>
            <a:r>
              <a:rPr lang="en-US" dirty="0"/>
              <a:t>questionnaires are interviews that take place by phone, in-person, or online between researchers and respondents. Researcher-administered questionnaires can</a:t>
            </a:r>
            <a:r>
              <a:rPr lang="en-US" dirty="0" smtClean="0"/>
              <a:t>:</a:t>
            </a:r>
          </a:p>
          <a:p>
            <a:pPr algn="just">
              <a:lnSpc>
                <a:spcPct val="150000"/>
              </a:lnSpc>
            </a:pPr>
            <a:r>
              <a:rPr lang="en-US" dirty="0" smtClean="0"/>
              <a:t> help </a:t>
            </a:r>
            <a:r>
              <a:rPr lang="en-US" dirty="0"/>
              <a:t>you ensure the respondents are representative of your target audience </a:t>
            </a:r>
            <a:endParaRPr lang="en-US" dirty="0" smtClean="0"/>
          </a:p>
          <a:p>
            <a:pPr algn="just">
              <a:lnSpc>
                <a:spcPct val="150000"/>
              </a:lnSpc>
            </a:pPr>
            <a:r>
              <a:rPr lang="en-US" dirty="0" smtClean="0"/>
              <a:t>allow </a:t>
            </a:r>
            <a:r>
              <a:rPr lang="en-US" dirty="0"/>
              <a:t>clarifications of ambiguous or unclear questions and answers </a:t>
            </a:r>
            <a:endParaRPr lang="en-US" dirty="0" smtClean="0"/>
          </a:p>
          <a:p>
            <a:pPr algn="just">
              <a:lnSpc>
                <a:spcPct val="150000"/>
              </a:lnSpc>
            </a:pPr>
            <a:r>
              <a:rPr lang="en-US" dirty="0" smtClean="0"/>
              <a:t>have </a:t>
            </a:r>
            <a:r>
              <a:rPr lang="en-US" dirty="0"/>
              <a:t>high response rates because it’s harder to refuse an interview when personal attention is given to </a:t>
            </a:r>
            <a:r>
              <a:rPr lang="en-US" dirty="0" smtClean="0"/>
              <a:t>respondents.</a:t>
            </a:r>
          </a:p>
          <a:p>
            <a:pPr marL="0" indent="0" algn="just">
              <a:lnSpc>
                <a:spcPct val="150000"/>
              </a:lnSpc>
              <a:buNone/>
            </a:pPr>
            <a:r>
              <a:rPr lang="en-US" dirty="0" smtClean="0"/>
              <a:t> </a:t>
            </a:r>
            <a:r>
              <a:rPr lang="en-US" dirty="0"/>
              <a:t>But researcher-administered questionnaires can be limiting in terms of resources. </a:t>
            </a:r>
            <a:endParaRPr lang="en-US" dirty="0" smtClean="0"/>
          </a:p>
        </p:txBody>
      </p:sp>
    </p:spTree>
    <p:extLst>
      <p:ext uri="{BB962C8B-B14F-4D97-AF65-F5344CB8AC3E}">
        <p14:creationId xmlns:p14="http://schemas.microsoft.com/office/powerpoint/2010/main" val="2979775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5E409FE-0CBB-4EAD-8A22-C51F65DE1771}"/>
              </a:ext>
            </a:extLst>
          </p:cNvPr>
          <p:cNvSpPr>
            <a:spLocks noGrp="1"/>
          </p:cNvSpPr>
          <p:nvPr>
            <p:ph idx="1"/>
          </p:nvPr>
        </p:nvSpPr>
        <p:spPr/>
        <p:txBody>
          <a:bodyPr/>
          <a:lstStyle/>
          <a:p>
            <a:pPr marL="0" indent="0" algn="just">
              <a:lnSpc>
                <a:spcPct val="150000"/>
              </a:lnSpc>
              <a:buNone/>
            </a:pPr>
            <a:r>
              <a:rPr lang="en-US" dirty="0"/>
              <a:t>They are:</a:t>
            </a:r>
          </a:p>
          <a:p>
            <a:pPr algn="just">
              <a:lnSpc>
                <a:spcPct val="150000"/>
              </a:lnSpc>
            </a:pPr>
            <a:r>
              <a:rPr lang="en-US" dirty="0"/>
              <a:t> </a:t>
            </a:r>
            <a:r>
              <a:rPr lang="en-US" dirty="0" smtClean="0"/>
              <a:t>costly </a:t>
            </a:r>
            <a:r>
              <a:rPr lang="en-US" dirty="0"/>
              <a:t>and time-consuming to perform </a:t>
            </a:r>
            <a:endParaRPr lang="en-US" dirty="0" smtClean="0"/>
          </a:p>
          <a:p>
            <a:pPr algn="just">
              <a:lnSpc>
                <a:spcPct val="150000"/>
              </a:lnSpc>
            </a:pPr>
            <a:r>
              <a:rPr lang="en-US" dirty="0" smtClean="0"/>
              <a:t>more </a:t>
            </a:r>
            <a:r>
              <a:rPr lang="en-US" dirty="0"/>
              <a:t>difficult to analyze if you have qualitative responses </a:t>
            </a:r>
            <a:endParaRPr lang="en-US" dirty="0" smtClean="0"/>
          </a:p>
          <a:p>
            <a:pPr algn="just">
              <a:lnSpc>
                <a:spcPct val="150000"/>
              </a:lnSpc>
            </a:pPr>
            <a:r>
              <a:rPr lang="en-US" dirty="0" smtClean="0"/>
              <a:t>likely </a:t>
            </a:r>
            <a:r>
              <a:rPr lang="en-US" dirty="0"/>
              <a:t>to contain experimenter bias or demand characteristics </a:t>
            </a:r>
          </a:p>
        </p:txBody>
      </p:sp>
      <p:grpSp>
        <p:nvGrpSpPr>
          <p:cNvPr id="8" name="Group 7">
            <a:extLst>
              <a:ext uri="{FF2B5EF4-FFF2-40B4-BE49-F238E27FC236}">
                <a16:creationId xmlns:a16="http://schemas.microsoft.com/office/drawing/2014/main" xmlns=""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xmlns=""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a16="http://schemas.microsoft.com/office/drawing/2014/main" xmlns=""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xmlns=""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a16="http://schemas.microsoft.com/office/drawing/2014/main" xmlns="" id="{75FFEA7F-8809-458D-BE80-99F7CFB965CA}"/>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xmlns=""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a16="http://schemas.microsoft.com/office/drawing/2014/main" xmlns="" id="{ACED766F-A0E3-4D45-8A6E-86CCFAFA5D9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xmlns=""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5E409FE-0CBB-4EAD-8A22-C51F65DE1771}"/>
              </a:ext>
            </a:extLst>
          </p:cNvPr>
          <p:cNvSpPr>
            <a:spLocks noGrp="1"/>
          </p:cNvSpPr>
          <p:nvPr>
            <p:ph idx="1"/>
          </p:nvPr>
        </p:nvSpPr>
        <p:spPr>
          <a:xfrm>
            <a:off x="300789" y="1500771"/>
            <a:ext cx="11333747" cy="4972217"/>
          </a:xfrm>
        </p:spPr>
        <p:txBody>
          <a:bodyPr>
            <a:noAutofit/>
          </a:bodyPr>
          <a:lstStyle/>
          <a:p>
            <a:pPr marL="0" indent="0" algn="just">
              <a:buNone/>
            </a:pPr>
            <a:r>
              <a:rPr lang="en-US" b="1" dirty="0"/>
              <a:t>How To Design A Questionnaire</a:t>
            </a:r>
            <a:r>
              <a:rPr lang="en-US" b="1" dirty="0" smtClean="0"/>
              <a:t>?</a:t>
            </a:r>
          </a:p>
          <a:p>
            <a:pPr algn="just"/>
            <a:r>
              <a:rPr lang="en-US" b="1" dirty="0"/>
              <a:t>1. Determine your objectives</a:t>
            </a:r>
          </a:p>
          <a:p>
            <a:pPr marL="0" indent="0" algn="just">
              <a:buNone/>
            </a:pPr>
            <a:r>
              <a:rPr lang="en-US" dirty="0"/>
              <a:t>The first step in designing a questionnaire is to determine your objectives. Consider what topics you want to learn about and what you want to accomplish from the results you gather. You may also consider if a questionnaire is an appropriate tool to use for what you want to </a:t>
            </a:r>
            <a:r>
              <a:rPr lang="en-US" dirty="0" smtClean="0"/>
              <a:t>discover</a:t>
            </a:r>
          </a:p>
          <a:p>
            <a:pPr marL="0" indent="0" algn="just">
              <a:buNone/>
            </a:pPr>
            <a:r>
              <a:rPr lang="en-US" b="1" dirty="0" smtClean="0"/>
              <a:t>2</a:t>
            </a:r>
            <a:r>
              <a:rPr lang="en-US" b="1" dirty="0"/>
              <a:t>. Create suitable questions</a:t>
            </a:r>
          </a:p>
          <a:p>
            <a:pPr marL="0" indent="0" algn="just">
              <a:buNone/>
            </a:pPr>
            <a:r>
              <a:rPr lang="en-US" dirty="0"/>
              <a:t>Once you understand your research objectives, you can begin to create suitable questions. Ensure that your questions allow you to collect tangible measurements rather than abstract ideas. You may also ensure that every question has a clear purpose and addresses a specific </a:t>
            </a:r>
            <a:r>
              <a:rPr lang="en-US" dirty="0" smtClean="0"/>
              <a:t>need</a:t>
            </a:r>
            <a:endParaRPr lang="en-US" b="1" dirty="0"/>
          </a:p>
        </p:txBody>
      </p:sp>
      <p:grpSp>
        <p:nvGrpSpPr>
          <p:cNvPr id="8" name="Group 7">
            <a:extLst>
              <a:ext uri="{FF2B5EF4-FFF2-40B4-BE49-F238E27FC236}">
                <a16:creationId xmlns:a16="http://schemas.microsoft.com/office/drawing/2014/main" xmlns=""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xmlns=""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a16="http://schemas.microsoft.com/office/drawing/2014/main" xmlns=""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xmlns=""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a16="http://schemas.microsoft.com/office/drawing/2014/main" xmlns="" id="{75FFEA7F-8809-458D-BE80-99F7CFB965CA}"/>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xmlns=""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a16="http://schemas.microsoft.com/office/drawing/2014/main" xmlns="" id="{ACED766F-A0E3-4D45-8A6E-86CCFAFA5D9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xmlns=""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5E409FE-0CBB-4EAD-8A22-C51F65DE1771}"/>
              </a:ext>
            </a:extLst>
          </p:cNvPr>
          <p:cNvSpPr>
            <a:spLocks noGrp="1"/>
          </p:cNvSpPr>
          <p:nvPr>
            <p:ph idx="1"/>
          </p:nvPr>
        </p:nvSpPr>
        <p:spPr>
          <a:xfrm>
            <a:off x="288758" y="1500773"/>
            <a:ext cx="11538284" cy="5104564"/>
          </a:xfrm>
        </p:spPr>
        <p:txBody>
          <a:bodyPr>
            <a:noAutofit/>
          </a:bodyPr>
          <a:lstStyle/>
          <a:p>
            <a:pPr marL="0" indent="0" algn="just">
              <a:buNone/>
            </a:pPr>
            <a:r>
              <a:rPr lang="en-US" b="1" dirty="0" smtClean="0"/>
              <a:t>3. Decide </a:t>
            </a:r>
            <a:r>
              <a:rPr lang="en-US" b="1" dirty="0"/>
              <a:t>on the length of your questionnaire</a:t>
            </a:r>
          </a:p>
          <a:p>
            <a:pPr marL="0" indent="0" algn="just">
              <a:buNone/>
            </a:pPr>
            <a:r>
              <a:rPr lang="en-US" dirty="0" smtClean="0"/>
              <a:t>It </a:t>
            </a:r>
            <a:r>
              <a:rPr lang="en-US" dirty="0"/>
              <a:t>is especially important to keep the length of a questionnaire short if you do not </a:t>
            </a:r>
            <a:r>
              <a:rPr lang="en-US" dirty="0" smtClean="0"/>
              <a:t>incentivize </a:t>
            </a:r>
            <a:r>
              <a:rPr lang="en-US" dirty="0"/>
              <a:t>your participants. When you create a short questionnaire, you may be able to retain participants' attention better and collect answers that accurately reflect their true </a:t>
            </a:r>
            <a:r>
              <a:rPr lang="en-US" dirty="0" smtClean="0"/>
              <a:t>thoughts</a:t>
            </a:r>
          </a:p>
          <a:p>
            <a:pPr marL="0" indent="0" algn="just">
              <a:buNone/>
            </a:pPr>
            <a:r>
              <a:rPr lang="en-US" b="1" dirty="0" smtClean="0"/>
              <a:t>4</a:t>
            </a:r>
            <a:r>
              <a:rPr lang="en-US" b="1" dirty="0"/>
              <a:t>. Administer your questionnaire in a test first</a:t>
            </a:r>
          </a:p>
          <a:p>
            <a:pPr marL="0" indent="0" algn="just">
              <a:buNone/>
            </a:pPr>
            <a:r>
              <a:rPr lang="en-US" dirty="0" smtClean="0"/>
              <a:t>Before </a:t>
            </a:r>
            <a:r>
              <a:rPr lang="en-US" dirty="0"/>
              <a:t>you distribute your questionnaire to your target audience, administer it in a test environment so that you can assess its effectiveness. You can ask your peers to complete it so that they can detect errors, inconsistencies or any details that are unclear. You may also ask a select few members from your target audience for feedback so that you can determine if they understand your question phrasing</a:t>
            </a:r>
            <a:r>
              <a:rPr lang="en-US" dirty="0" smtClean="0"/>
              <a:t>.</a:t>
            </a:r>
            <a:endParaRPr lang="en-US" b="1" dirty="0"/>
          </a:p>
        </p:txBody>
      </p:sp>
      <p:grpSp>
        <p:nvGrpSpPr>
          <p:cNvPr id="8" name="Group 7">
            <a:extLst>
              <a:ext uri="{FF2B5EF4-FFF2-40B4-BE49-F238E27FC236}">
                <a16:creationId xmlns:a16="http://schemas.microsoft.com/office/drawing/2014/main" xmlns=""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xmlns=""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a16="http://schemas.microsoft.com/office/drawing/2014/main" xmlns=""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xmlns=""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a16="http://schemas.microsoft.com/office/drawing/2014/main" xmlns="" id="{75FFEA7F-8809-458D-BE80-99F7CFB965CA}"/>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xmlns=""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a16="http://schemas.microsoft.com/office/drawing/2014/main" xmlns="" id="{ACED766F-A0E3-4D45-8A6E-86CCFAFA5D9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xmlns=""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5E409FE-0CBB-4EAD-8A22-C51F65DE1771}"/>
              </a:ext>
            </a:extLst>
          </p:cNvPr>
          <p:cNvSpPr>
            <a:spLocks noGrp="1"/>
          </p:cNvSpPr>
          <p:nvPr>
            <p:ph idx="1"/>
          </p:nvPr>
        </p:nvSpPr>
        <p:spPr/>
        <p:txBody>
          <a:bodyPr/>
          <a:lstStyle/>
          <a:p>
            <a:pPr marL="0" indent="0">
              <a:buNone/>
            </a:pPr>
            <a:r>
              <a:rPr lang="en-US" b="1" u="sng" dirty="0" smtClean="0"/>
              <a:t>Points to remember:</a:t>
            </a:r>
          </a:p>
          <a:p>
            <a:pPr marL="0" indent="0">
              <a:buNone/>
            </a:pPr>
            <a:endParaRPr lang="en-US" dirty="0"/>
          </a:p>
          <a:p>
            <a:r>
              <a:rPr lang="en-US" dirty="0" smtClean="0"/>
              <a:t>Use </a:t>
            </a:r>
            <a:r>
              <a:rPr lang="en-US" dirty="0"/>
              <a:t>clear language </a:t>
            </a:r>
            <a:endParaRPr lang="en-US" dirty="0" smtClean="0"/>
          </a:p>
          <a:p>
            <a:r>
              <a:rPr lang="en-US" dirty="0"/>
              <a:t>Define the target respondents </a:t>
            </a:r>
            <a:endParaRPr lang="en-US" dirty="0" smtClean="0"/>
          </a:p>
          <a:p>
            <a:r>
              <a:rPr lang="en-US" dirty="0"/>
              <a:t>Keep your questions focused </a:t>
            </a:r>
            <a:endParaRPr lang="en-US" dirty="0" smtClean="0"/>
          </a:p>
          <a:p>
            <a:r>
              <a:rPr lang="en-US" dirty="0"/>
              <a:t>Avoid leading questions </a:t>
            </a:r>
            <a:endParaRPr lang="x-none" dirty="0"/>
          </a:p>
        </p:txBody>
      </p:sp>
      <p:grpSp>
        <p:nvGrpSpPr>
          <p:cNvPr id="8" name="Group 7">
            <a:extLst>
              <a:ext uri="{FF2B5EF4-FFF2-40B4-BE49-F238E27FC236}">
                <a16:creationId xmlns:a16="http://schemas.microsoft.com/office/drawing/2014/main" xmlns=""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xmlns=""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a16="http://schemas.microsoft.com/office/drawing/2014/main" xmlns="" id="{D279BBF0-3F01-4944-AF8F-73A34B5B9C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xmlns=""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a16="http://schemas.microsoft.com/office/drawing/2014/main" xmlns="" id="{75FFEA7F-8809-458D-BE80-99F7CFB965CA}"/>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xmlns=""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a16="http://schemas.microsoft.com/office/drawing/2014/main" xmlns="" id="{ACED766F-A0E3-4D45-8A6E-86CCFAFA5D9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xmlns="" id="{F83660F3-45D1-4CA0-BE2A-E7E6C1B794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11536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TotalTime>
  <Words>659</Words>
  <Application>Microsoft Office PowerPoint</Application>
  <PresentationFormat>Custom</PresentationFormat>
  <Paragraphs>82</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Technical and Business Writing</vt:lpstr>
      <vt:lpstr>Administrating Questionnaire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One</cp:lastModifiedBy>
  <cp:revision>49</cp:revision>
  <dcterms:created xsi:type="dcterms:W3CDTF">2024-06-21T09:49:54Z</dcterms:created>
  <dcterms:modified xsi:type="dcterms:W3CDTF">2024-10-09T12:00:41Z</dcterms:modified>
</cp:coreProperties>
</file>