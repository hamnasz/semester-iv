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258" r:id="rId4"/>
    <p:sldId id="812" r:id="rId5"/>
    <p:sldId id="813" r:id="rId6"/>
    <p:sldId id="814" r:id="rId7"/>
    <p:sldId id="815" r:id="rId8"/>
    <p:sldId id="816" r:id="rId9"/>
    <p:sldId id="825" r:id="rId10"/>
    <p:sldId id="824" r:id="rId11"/>
    <p:sldId id="818" r:id="rId12"/>
    <p:sldId id="819" r:id="rId13"/>
    <p:sldId id="820" r:id="rId14"/>
    <p:sldId id="260" r:id="rId15"/>
    <p:sldId id="821" r:id="rId16"/>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3" d="100"/>
          <a:sy n="53" d="100"/>
        </p:scale>
        <p:origin x="-1140" y="-4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6" name="Footer Placeholder 5">
            <a:extLst>
              <a:ext uri="{FF2B5EF4-FFF2-40B4-BE49-F238E27FC236}">
                <a16:creationId xmlns="" xmlns:a16="http://schemas.microsoft.com/office/drawing/2014/main"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8" name="Footer Placeholder 7">
            <a:extLst>
              <a:ext uri="{FF2B5EF4-FFF2-40B4-BE49-F238E27FC236}">
                <a16:creationId xmlns="" xmlns:a16="http://schemas.microsoft.com/office/drawing/2014/main"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4" name="Footer Placeholder 3">
            <a:extLst>
              <a:ext uri="{FF2B5EF4-FFF2-40B4-BE49-F238E27FC236}">
                <a16:creationId xmlns="" xmlns:a16="http://schemas.microsoft.com/office/drawing/2014/main"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3" name="Footer Placeholder 2">
            <a:extLst>
              <a:ext uri="{FF2B5EF4-FFF2-40B4-BE49-F238E27FC236}">
                <a16:creationId xmlns="" xmlns:a16="http://schemas.microsoft.com/office/drawing/2014/main"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6" name="Footer Placeholder 5">
            <a:extLst>
              <a:ext uri="{FF2B5EF4-FFF2-40B4-BE49-F238E27FC236}">
                <a16:creationId xmlns="" xmlns:a16="http://schemas.microsoft.com/office/drawing/2014/main"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6" name="Footer Placeholder 5">
            <a:extLst>
              <a:ext uri="{FF2B5EF4-FFF2-40B4-BE49-F238E27FC236}">
                <a16:creationId xmlns="" xmlns:a16="http://schemas.microsoft.com/office/drawing/2014/main"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9/30/2024</a:t>
            </a:fld>
            <a:endParaRPr lang="x-none"/>
          </a:p>
        </p:txBody>
      </p:sp>
      <p:sp>
        <p:nvSpPr>
          <p:cNvPr id="5" name="Footer Placeholder 4">
            <a:extLst>
              <a:ext uri="{FF2B5EF4-FFF2-40B4-BE49-F238E27FC236}">
                <a16:creationId xmlns=""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7.png"/><Relationship Id="rId9" Type="http://schemas.openxmlformats.org/officeDocument/2006/relationships/image" Target="../media/image10.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FBEF21E1-2D98-4671-AEAF-A201BC9C40D1}"/>
              </a:ext>
            </a:extLst>
          </p:cNvPr>
          <p:cNvSpPr/>
          <p:nvPr/>
        </p:nvSpPr>
        <p:spPr>
          <a:xfrm>
            <a:off x="-1" y="-108285"/>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 xmlns:a16="http://schemas.microsoft.com/office/drawing/2014/main" id="{5946CD5F-621C-4899-B8C5-417BE3F1ECD0}"/>
              </a:ext>
            </a:extLst>
          </p:cNvPr>
          <p:cNvSpPr>
            <a:spLocks noGrp="1"/>
          </p:cNvSpPr>
          <p:nvPr>
            <p:ph type="ctrTitle"/>
          </p:nvPr>
        </p:nvSpPr>
        <p:spPr>
          <a:xfrm>
            <a:off x="847343" y="2448878"/>
            <a:ext cx="10197646" cy="1153160"/>
          </a:xfrm>
        </p:spPr>
        <p:txBody>
          <a:bodyPr>
            <a:noAutofit/>
          </a:bodyPr>
          <a:lstStyle/>
          <a:p>
            <a:r>
              <a:rPr lang="en-GB" sz="11500" b="1" i="1" u="sng" dirty="0" smtClean="0">
                <a:solidFill>
                  <a:schemeClr val="bg1"/>
                </a:solidFill>
              </a:rPr>
              <a:t>Polishing Style </a:t>
            </a:r>
            <a:endParaRPr lang="en-GB" sz="11500" b="1" i="1" u="sng" dirty="0">
              <a:solidFill>
                <a:schemeClr val="bg1"/>
              </a:solidFill>
            </a:endParaRPr>
          </a:p>
        </p:txBody>
      </p:sp>
      <p:sp>
        <p:nvSpPr>
          <p:cNvPr id="3" name="Subtitle 2">
            <a:extLst>
              <a:ext uri="{FF2B5EF4-FFF2-40B4-BE49-F238E27FC236}">
                <a16:creationId xmlns="" xmlns:a16="http://schemas.microsoft.com/office/drawing/2014/main" id="{EC406DBB-5AF5-48F8-9377-D0A0ACE9B10B}"/>
              </a:ext>
            </a:extLst>
          </p:cNvPr>
          <p:cNvSpPr>
            <a:spLocks noGrp="1"/>
          </p:cNvSpPr>
          <p:nvPr>
            <p:ph type="subTitle" idx="1"/>
          </p:nvPr>
        </p:nvSpPr>
        <p:spPr>
          <a:xfrm>
            <a:off x="1030224" y="3602038"/>
            <a:ext cx="8955024" cy="1153160"/>
          </a:xfrm>
        </p:spPr>
        <p:txBody>
          <a:bodyPr>
            <a:noAutofit/>
          </a:bodyPr>
          <a:lstStyle/>
          <a:p>
            <a:pPr algn="l"/>
            <a:endParaRPr lang="en-GB" sz="2800" b="1" dirty="0">
              <a:solidFill>
                <a:schemeClr val="bg1"/>
              </a:solidFill>
              <a:latin typeface="Bahnschrift" panose="020B0502040204020203" pitchFamily="34" charset="0"/>
            </a:endParaRPr>
          </a:p>
        </p:txBody>
      </p:sp>
      <p:sp>
        <p:nvSpPr>
          <p:cNvPr id="5" name="Subtitle 2">
            <a:extLst>
              <a:ext uri="{FF2B5EF4-FFF2-40B4-BE49-F238E27FC236}">
                <a16:creationId xmlns=""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smtClean="0">
                <a:latin typeface="Arial" panose="020B0604020202020204" pitchFamily="34" charset="0"/>
                <a:cs typeface="Arial" panose="020B0604020202020204" pitchFamily="34" charset="0"/>
              </a:rPr>
              <a:t> </a:t>
            </a:r>
            <a:r>
              <a:rPr lang="en-GB" sz="2000" b="1" dirty="0">
                <a:latin typeface="Arial" panose="020B0604020202020204" pitchFamily="34" charset="0"/>
                <a:cs typeface="Arial" panose="020B0604020202020204" pitchFamily="34" charset="0"/>
              </a:rPr>
              <a:t>2024</a:t>
            </a:r>
          </a:p>
        </p:txBody>
      </p:sp>
      <p:pic>
        <p:nvPicPr>
          <p:cNvPr id="10" name="Graphic 9">
            <a:extLst>
              <a:ext uri="{FF2B5EF4-FFF2-40B4-BE49-F238E27FC236}">
                <a16:creationId xmlns="" xmlns:a16="http://schemas.microsoft.com/office/drawing/2014/main"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432226" y="-1"/>
            <a:ext cx="3759773" cy="375977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822" y="0"/>
            <a:ext cx="4535904" cy="2110144"/>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3573379"/>
            <a:ext cx="12192001" cy="3284621"/>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8937" y="1431758"/>
            <a:ext cx="9877926" cy="4706311"/>
          </a:xfrm>
        </p:spPr>
      </p:pic>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 xmlns:a16="http://schemas.microsoft.com/office/drawing/2014/main" id="{FF7170C3-FB1F-4CF8-A115-23304150A008}"/>
              </a:ext>
            </a:extLst>
          </p:cNvPr>
          <p:cNvSpPr>
            <a:spLocks noGrp="1"/>
          </p:cNvSpPr>
          <p:nvPr>
            <p:ph idx="1"/>
          </p:nvPr>
        </p:nvSpPr>
        <p:spPr>
          <a:xfrm>
            <a:off x="906011" y="2223083"/>
            <a:ext cx="9961228" cy="3878379"/>
          </a:xfrm>
        </p:spPr>
        <p:txBody>
          <a:bodyPr>
            <a:normAutofit/>
          </a:bodyPr>
          <a:lstStyle/>
          <a:p>
            <a:pPr marL="0" indent="0" algn="just">
              <a:buNone/>
            </a:pPr>
            <a:r>
              <a:rPr lang="en-US" sz="3600" dirty="0"/>
              <a:t>Writing is an art form that requires constant refinement. Whether you're an aspiring novelist, a professional content creator, a student working on assignments</a:t>
            </a:r>
            <a:r>
              <a:rPr lang="en-US" sz="3600" dirty="0" smtClean="0"/>
              <a:t>, a technical or business writer </a:t>
            </a:r>
            <a:r>
              <a:rPr lang="en-US" sz="3600" dirty="0"/>
              <a:t>or someone who simply wants to improve their writing skills, </a:t>
            </a:r>
            <a:r>
              <a:rPr lang="en-US" sz="3600" dirty="0" smtClean="0"/>
              <a:t>improving </a:t>
            </a:r>
            <a:r>
              <a:rPr lang="en-US" sz="3600" dirty="0"/>
              <a:t>your writing skills is crucial for producing polished and impactful work. </a:t>
            </a:r>
            <a:endParaRPr lang="en-GB" sz="3600" dirty="0">
              <a:latin typeface="Arial" charset="0"/>
              <a:ea typeface="Arial" charset="0"/>
              <a:cs typeface="Arial" charset="0"/>
            </a:endParaRPr>
          </a:p>
        </p:txBody>
      </p:sp>
      <p:grpSp>
        <p:nvGrpSpPr>
          <p:cNvPr id="11" name="Group 10">
            <a:extLst>
              <a:ext uri="{FF2B5EF4-FFF2-40B4-BE49-F238E27FC236}">
                <a16:creationId xmlns=""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 xmlns:a16="http://schemas.microsoft.com/office/drawing/2014/main" id="{19B401B7-B613-4C06-A492-7A706824954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9847252" y="1519722"/>
            <a:ext cx="2039974" cy="514428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p:txBody>
          <a:bodyPr>
            <a:normAutofit/>
          </a:bodyPr>
          <a:lstStyle/>
          <a:p>
            <a:pPr marL="0" indent="0" algn="just">
              <a:buNone/>
            </a:pPr>
            <a:r>
              <a:rPr lang="en-US" sz="3600" dirty="0"/>
              <a:t>In </a:t>
            </a:r>
            <a:r>
              <a:rPr lang="en-US" sz="3600" b="1" dirty="0"/>
              <a:t>technical</a:t>
            </a:r>
            <a:r>
              <a:rPr lang="en-US" sz="3600" dirty="0"/>
              <a:t> and </a:t>
            </a:r>
            <a:r>
              <a:rPr lang="en-US" sz="3600" b="1" dirty="0"/>
              <a:t>business writing</a:t>
            </a:r>
            <a:r>
              <a:rPr lang="en-US" sz="3600" dirty="0"/>
              <a:t>, polishing style involves refining the content to ensure that the writing is clear, precise, and professional while effectively communicating complex ideas to the intended audience. This stage of refinement is particularly important in these contexts because the primary goal is to convey information accurately and efficiently. </a:t>
            </a:r>
            <a:endParaRPr lang="x-none" sz="3600"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5873" y="1552074"/>
            <a:ext cx="10161937" cy="5149516"/>
          </a:xfrm>
        </p:spPr>
      </p:pic>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a:xfrm>
            <a:off x="662729" y="1395662"/>
            <a:ext cx="10866539" cy="5329991"/>
          </a:xfrm>
        </p:spPr>
        <p:txBody>
          <a:bodyPr>
            <a:noAutofit/>
          </a:bodyPr>
          <a:lstStyle/>
          <a:p>
            <a:pPr marL="0" indent="0" algn="just">
              <a:buNone/>
            </a:pPr>
            <a:r>
              <a:rPr lang="en-US" sz="3200" dirty="0" smtClean="0"/>
              <a:t>Here </a:t>
            </a:r>
            <a:r>
              <a:rPr lang="en-US" sz="3200" dirty="0"/>
              <a:t>are some key aspects of polishing style in writing:</a:t>
            </a:r>
          </a:p>
          <a:p>
            <a:pPr algn="just"/>
            <a:r>
              <a:rPr lang="en-US" sz="3200" b="1" dirty="0"/>
              <a:t>Clarity and Precision</a:t>
            </a:r>
            <a:r>
              <a:rPr lang="en-US" sz="3200" dirty="0"/>
              <a:t>: Ensuring that the ideas are clear and the language is precise. This might involve eliminating vague terms or </a:t>
            </a:r>
            <a:r>
              <a:rPr lang="en-US" sz="3200" dirty="0" smtClean="0"/>
              <a:t>phrases</a:t>
            </a:r>
            <a:r>
              <a:rPr lang="en-US" sz="3200" dirty="0"/>
              <a:t>.</a:t>
            </a:r>
          </a:p>
          <a:p>
            <a:pPr algn="just"/>
            <a:r>
              <a:rPr lang="en-US" sz="3200" b="1" dirty="0"/>
              <a:t>Conciseness</a:t>
            </a:r>
            <a:r>
              <a:rPr lang="en-US" sz="3200" dirty="0"/>
              <a:t>: Removing unnecessary words or sentences that do not add value. Polished writing is usually more direct and to the point.</a:t>
            </a:r>
          </a:p>
          <a:p>
            <a:pPr algn="just"/>
            <a:r>
              <a:rPr lang="en-US" sz="3200" b="1" dirty="0"/>
              <a:t>Flow and Coherence</a:t>
            </a:r>
            <a:r>
              <a:rPr lang="en-US" sz="3200" dirty="0"/>
              <a:t>: Ensuring smooth transitions between sentences and paragraphs so that the text reads naturally and logically.</a:t>
            </a:r>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a:xfrm>
            <a:off x="421105" y="1419726"/>
            <a:ext cx="11309684" cy="5149516"/>
          </a:xfrm>
        </p:spPr>
        <p:txBody>
          <a:bodyPr>
            <a:noAutofit/>
          </a:bodyPr>
          <a:lstStyle/>
          <a:p>
            <a:pPr algn="just"/>
            <a:r>
              <a:rPr lang="en-US" sz="3200" b="1" dirty="0"/>
              <a:t>Variety in Sentence Structure</a:t>
            </a:r>
            <a:r>
              <a:rPr lang="en-US" sz="3200" dirty="0"/>
              <a:t>: Polishing often includes varying sentence lengths and structures to avoid monotony and maintain the reader’s interest.</a:t>
            </a:r>
          </a:p>
          <a:p>
            <a:pPr algn="just"/>
            <a:r>
              <a:rPr lang="en-US" sz="3200" b="1" dirty="0"/>
              <a:t>Grammar and Syntax</a:t>
            </a:r>
            <a:r>
              <a:rPr lang="en-US" sz="3200" dirty="0"/>
              <a:t>: Correcting grammatical errors, punctuation mistakes, and awkward phrasing to make the writing sound more professional and polished.</a:t>
            </a:r>
          </a:p>
          <a:p>
            <a:pPr algn="just"/>
            <a:r>
              <a:rPr lang="en-US" sz="3200" b="1" dirty="0"/>
              <a:t>Tone Consistency</a:t>
            </a:r>
            <a:r>
              <a:rPr lang="en-US" sz="3200" dirty="0"/>
              <a:t>: Making sure the tone is appropriate for the audience and consistent throughout the piece.</a:t>
            </a:r>
          </a:p>
          <a:p>
            <a:pPr algn="just"/>
            <a:r>
              <a:rPr lang="en-US" sz="3200" b="1" dirty="0"/>
              <a:t>Word Choice</a:t>
            </a:r>
            <a:r>
              <a:rPr lang="en-US" sz="3200" dirty="0"/>
              <a:t>: Choosing words that fit the tone, style, and purpose of the piece while avoiding overuse of certain words or clichés.</a:t>
            </a:r>
          </a:p>
          <a:p>
            <a:pPr marL="0" indent="0" algn="just">
              <a:buNone/>
            </a:pPr>
            <a:endParaRPr lang="x-none" sz="3200"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p:txBody>
          <a:bodyPr>
            <a:normAutofit/>
          </a:bodyPr>
          <a:lstStyle/>
          <a:p>
            <a:pPr marL="0" indent="0" algn="ctr">
              <a:lnSpc>
                <a:spcPct val="150000"/>
              </a:lnSpc>
              <a:buNone/>
            </a:pPr>
            <a:r>
              <a:rPr lang="en-US" sz="3200" dirty="0" smtClean="0"/>
              <a:t>CONCLUSION</a:t>
            </a:r>
          </a:p>
          <a:p>
            <a:pPr marL="0" indent="0" algn="just">
              <a:lnSpc>
                <a:spcPct val="150000"/>
              </a:lnSpc>
              <a:buNone/>
            </a:pPr>
            <a:r>
              <a:rPr lang="en-US" sz="3200" dirty="0" smtClean="0"/>
              <a:t>In </a:t>
            </a:r>
            <a:r>
              <a:rPr lang="en-US" sz="3200" dirty="0"/>
              <a:t>essence, polishing style in writing is about fine-tuning the content so it communicates the intended message with clarity, efficiency, and elegance.</a:t>
            </a:r>
            <a:endParaRPr lang="x-none" sz="3200"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47" y="365125"/>
            <a:ext cx="4427621" cy="6107864"/>
          </a:xfrm>
        </p:spPr>
        <p:txBody>
          <a:bodyPr>
            <a:normAutofit/>
          </a:bodyPr>
          <a:lstStyle/>
          <a:p>
            <a:pPr algn="ctr"/>
            <a:r>
              <a:rPr lang="en-US" sz="7200" b="1" dirty="0"/>
              <a:t>Improving Paragraphs </a:t>
            </a:r>
            <a:r>
              <a:rPr lang="en-US" sz="3600" b="1" dirty="0"/>
              <a:t>(Length, order, clarity)</a:t>
            </a:r>
            <a:r>
              <a:rPr lang="en-US" sz="7200" b="1" dirty="0"/>
              <a:t/>
            </a:r>
            <a:br>
              <a:rPr lang="en-US" sz="7200" b="1" dirty="0"/>
            </a:br>
            <a:endParaRPr lang="en-US" sz="7200" b="1" dirty="0"/>
          </a:p>
        </p:txBody>
      </p:sp>
      <p:pic>
        <p:nvPicPr>
          <p:cNvPr id="4" name="Content Placeholder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3813" y="830178"/>
            <a:ext cx="6603164" cy="5173579"/>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9445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221" y="0"/>
            <a:ext cx="12107779" cy="6858000"/>
          </a:xfrm>
        </p:spPr>
      </p:pic>
      <p:sp>
        <p:nvSpPr>
          <p:cNvPr id="6" name="Rectangle 5"/>
          <p:cNvSpPr/>
          <p:nvPr/>
        </p:nvSpPr>
        <p:spPr>
          <a:xfrm>
            <a:off x="7856621" y="1985211"/>
            <a:ext cx="3645568" cy="469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683042" y="1985211"/>
            <a:ext cx="2310063" cy="5534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839453" y="3729789"/>
            <a:ext cx="2334126" cy="4331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772400" y="3489158"/>
            <a:ext cx="3212432" cy="4571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51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a:xfrm>
            <a:off x="156411" y="1371600"/>
            <a:ext cx="11742821" cy="5390147"/>
          </a:xfrm>
        </p:spPr>
        <p:txBody>
          <a:bodyPr>
            <a:noAutofit/>
          </a:bodyPr>
          <a:lstStyle/>
          <a:p>
            <a:pPr marL="0" indent="0" algn="just">
              <a:buNone/>
            </a:pPr>
            <a:r>
              <a:rPr lang="en-US" sz="2400" b="1" dirty="0"/>
              <a:t>Order, clarity, and coherence</a:t>
            </a:r>
            <a:r>
              <a:rPr lang="en-US" sz="2400" dirty="0"/>
              <a:t> are fundamental to creating effective and well-structured paragraphs. These elements ensure that the reader can easily follow the writer’s ideas and understand the message being conveyed. Here's why they are essential:</a:t>
            </a:r>
          </a:p>
          <a:p>
            <a:pPr marL="0" indent="0" algn="just">
              <a:buNone/>
            </a:pPr>
            <a:r>
              <a:rPr lang="en-US" sz="2400" b="1" dirty="0"/>
              <a:t>1. Order</a:t>
            </a:r>
          </a:p>
          <a:p>
            <a:pPr algn="just"/>
            <a:r>
              <a:rPr lang="en-US" sz="2400" b="1" dirty="0"/>
              <a:t>Logical Progression</a:t>
            </a:r>
            <a:r>
              <a:rPr lang="en-US" sz="2400" dirty="0"/>
              <a:t>: </a:t>
            </a:r>
            <a:r>
              <a:rPr lang="en-US" sz="2400" dirty="0" smtClean="0"/>
              <a:t>Order </a:t>
            </a:r>
            <a:r>
              <a:rPr lang="en-US" sz="2400" dirty="0"/>
              <a:t>helps the reader follow the thought process of the writer and understand how the points connect. Whether it’s chronological, cause-and-effect, or building from general to specific, the correct order prevents confusion and keeps the reader engaged.</a:t>
            </a:r>
          </a:p>
          <a:p>
            <a:pPr algn="just"/>
            <a:r>
              <a:rPr lang="en-US" sz="2400" b="1" dirty="0"/>
              <a:t>Flow of Information</a:t>
            </a:r>
            <a:r>
              <a:rPr lang="en-US" sz="2400" dirty="0"/>
              <a:t>: A well-ordered paragraph smoothly guides the reader from one point to the next. Without a logical order, the reader may struggle to grasp the significance of each point or its relationship to the overall argument or narrative.</a:t>
            </a:r>
          </a:p>
          <a:p>
            <a:pPr algn="just"/>
            <a:r>
              <a:rPr lang="en-US" sz="2400" b="1" dirty="0"/>
              <a:t>Emphasizing Key Ideas</a:t>
            </a:r>
            <a:r>
              <a:rPr lang="en-US" sz="2400" dirty="0"/>
              <a:t>: Order helps prioritize information. For example, placing important points first or last can give them more weight, while supporting details should be placed in the middle.</a:t>
            </a:r>
          </a:p>
          <a:p>
            <a:pPr marL="0" indent="0" algn="just">
              <a:buNone/>
            </a:pPr>
            <a:endParaRPr lang="x-none" sz="2400"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a:xfrm>
            <a:off x="385011" y="1395663"/>
            <a:ext cx="11417968" cy="5305926"/>
          </a:xfrm>
        </p:spPr>
        <p:txBody>
          <a:bodyPr>
            <a:normAutofit/>
          </a:bodyPr>
          <a:lstStyle/>
          <a:p>
            <a:pPr marL="0" indent="0" algn="just">
              <a:buNone/>
            </a:pPr>
            <a:r>
              <a:rPr lang="en-US" b="1" dirty="0" smtClean="0"/>
              <a:t>2. Clarity</a:t>
            </a:r>
            <a:endParaRPr lang="en-US" b="1" dirty="0"/>
          </a:p>
          <a:p>
            <a:pPr algn="just"/>
            <a:r>
              <a:rPr lang="en-US" b="1" dirty="0"/>
              <a:t>Easily Understood Ideas</a:t>
            </a:r>
            <a:r>
              <a:rPr lang="en-US" dirty="0"/>
              <a:t>: Clarity ensures that the meaning of each sentence is immediately apparent to the reader. When ideas are expressed clearly, the reader doesn’t need to re-read sentences or guess what the writer is trying to say. Clear language ensures effective communication and minimizes misunderstanding.</a:t>
            </a:r>
          </a:p>
          <a:p>
            <a:pPr algn="just"/>
            <a:r>
              <a:rPr lang="en-US" b="1" dirty="0"/>
              <a:t>Directness</a:t>
            </a:r>
            <a:r>
              <a:rPr lang="en-US" dirty="0"/>
              <a:t>: Clarity often involves being direct and avoiding unnecessary complexity. Simple, straightforward language helps convey ideas </a:t>
            </a:r>
            <a:r>
              <a:rPr lang="en-US" dirty="0" smtClean="0"/>
              <a:t>in a better way.</a:t>
            </a:r>
            <a:endParaRPr lang="en-US" dirty="0"/>
          </a:p>
          <a:p>
            <a:pPr algn="just"/>
            <a:r>
              <a:rPr lang="en-US" b="1" dirty="0"/>
              <a:t>Reduced Ambiguity</a:t>
            </a:r>
            <a:r>
              <a:rPr lang="en-US" dirty="0"/>
              <a:t>: Ambiguity can confuse the reader and dilute the intended message. Clarity eliminates vague terms and unclear pronoun references, ensuring that the reader always knows what is being discussed.</a:t>
            </a:r>
          </a:p>
          <a:p>
            <a:pPr marL="0" indent="0" algn="just">
              <a:buNone/>
            </a:pPr>
            <a:endParaRPr lang="x-none"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a:xfrm>
            <a:off x="288757" y="1239252"/>
            <a:ext cx="11670631" cy="5390147"/>
          </a:xfrm>
        </p:spPr>
        <p:txBody>
          <a:bodyPr>
            <a:noAutofit/>
          </a:bodyPr>
          <a:lstStyle/>
          <a:p>
            <a:pPr marL="0" indent="0" algn="just">
              <a:buNone/>
            </a:pPr>
            <a:r>
              <a:rPr lang="en-US" b="1" dirty="0" smtClean="0"/>
              <a:t>3. Coherence</a:t>
            </a:r>
            <a:endParaRPr lang="en-US" b="1" dirty="0"/>
          </a:p>
          <a:p>
            <a:pPr algn="just"/>
            <a:r>
              <a:rPr lang="en-US" b="1" dirty="0"/>
              <a:t>Connection Between Ideas</a:t>
            </a:r>
            <a:r>
              <a:rPr lang="en-US" dirty="0"/>
              <a:t>: Coherence ties together the individual ideas within a paragraph to form a unified whole. Each sentence should connect logically to the next, either by continuing a thought or introducing a new point that builds on the previous one. </a:t>
            </a:r>
            <a:endParaRPr lang="en-US" dirty="0" smtClean="0"/>
          </a:p>
          <a:p>
            <a:pPr algn="just"/>
            <a:r>
              <a:rPr lang="en-US" b="1" dirty="0" smtClean="0"/>
              <a:t>Smooth </a:t>
            </a:r>
            <a:r>
              <a:rPr lang="en-US" b="1" dirty="0"/>
              <a:t>Transitions</a:t>
            </a:r>
            <a:r>
              <a:rPr lang="en-US" dirty="0"/>
              <a:t>: Coherence is often achieved through the use of transitional words and phrases (e.g., “therefore,” “in addition,” “however”). </a:t>
            </a:r>
          </a:p>
          <a:p>
            <a:pPr algn="just"/>
            <a:r>
              <a:rPr lang="en-US" b="1" dirty="0"/>
              <a:t>Maintaining Focus</a:t>
            </a:r>
            <a:r>
              <a:rPr lang="en-US" dirty="0"/>
              <a:t>: Coherence also ensures that the paragraph stays focused on one topic or idea. Each sentence should contribute to developing that main point, rather than veering off into unrelated tangents. This gives the paragraph a sense of unity and purpose.</a:t>
            </a:r>
          </a:p>
          <a:p>
            <a:pPr marL="0" indent="0" algn="just">
              <a:buNone/>
            </a:pPr>
            <a:endParaRPr lang="x-none" dirty="0"/>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 xmlns:a16="http://schemas.microsoft.com/office/drawing/2014/main" id="{ABF06EB7-5284-4699-8F45-3C74960363D1}"/>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 xmlns:a16="http://schemas.microsoft.com/office/drawing/2014/main" id="{10EB8B8D-6004-4AED-A244-C4DC6F8DA657}"/>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 xmlns:a16="http://schemas.microsoft.com/office/drawing/2014/main" id="{B90D907E-CA01-4229-92EF-9ABBCFBA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 xmlns:a16="http://schemas.microsoft.com/office/drawing/2014/main" id="{3CE084BF-DF82-4A63-A9CB-4F517A8FD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 xmlns:a16="http://schemas.microsoft.com/office/drawing/2014/main" id="{066FF2A6-21EC-4DCA-B8DA-6528DF993417}"/>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71197" y="1514474"/>
            <a:ext cx="2039974" cy="5144283"/>
          </a:xfrm>
          <a:prstGeom prst="rect">
            <a:avLst/>
          </a:prstGeom>
        </p:spPr>
      </p:pic>
      <p:sp>
        <p:nvSpPr>
          <p:cNvPr id="2" name="Rectangle 1"/>
          <p:cNvSpPr/>
          <p:nvPr/>
        </p:nvSpPr>
        <p:spPr>
          <a:xfrm>
            <a:off x="421105" y="1443841"/>
            <a:ext cx="11333748" cy="5262979"/>
          </a:xfrm>
          <a:prstGeom prst="rect">
            <a:avLst/>
          </a:prstGeom>
        </p:spPr>
        <p:txBody>
          <a:bodyPr wrap="square">
            <a:spAutoFit/>
          </a:bodyPr>
          <a:lstStyle/>
          <a:p>
            <a:pPr algn="ctr"/>
            <a:r>
              <a:rPr lang="en-US" sz="2800" b="1" dirty="0"/>
              <a:t>Why These Elements Matter</a:t>
            </a:r>
            <a:r>
              <a:rPr lang="en-US" sz="2800" b="1" dirty="0" smtClean="0"/>
              <a:t>:</a:t>
            </a:r>
          </a:p>
          <a:p>
            <a:pPr algn="just"/>
            <a:endParaRPr lang="en-US" sz="2800" b="1" dirty="0"/>
          </a:p>
          <a:p>
            <a:pPr algn="just"/>
            <a:r>
              <a:rPr lang="en-US" sz="2800" b="1" dirty="0"/>
              <a:t>Reader Engagement</a:t>
            </a:r>
            <a:r>
              <a:rPr lang="en-US" sz="2800" dirty="0"/>
              <a:t>: When a paragraph is well-ordered, clear, and coherent, the reader can easily follow and remain engaged with the content. This keeps the reader's attention and </a:t>
            </a:r>
            <a:r>
              <a:rPr lang="en-US" sz="2800" dirty="0" smtClean="0"/>
              <a:t>interest</a:t>
            </a:r>
            <a:r>
              <a:rPr lang="en-US" sz="2800" dirty="0"/>
              <a:t>.</a:t>
            </a:r>
          </a:p>
          <a:p>
            <a:pPr algn="just"/>
            <a:r>
              <a:rPr lang="en-US" sz="2800" b="1" dirty="0"/>
              <a:t>Comprehension</a:t>
            </a:r>
            <a:r>
              <a:rPr lang="en-US" sz="2800" dirty="0"/>
              <a:t>: </a:t>
            </a:r>
            <a:r>
              <a:rPr lang="en-US" sz="2800" dirty="0" smtClean="0"/>
              <a:t>Lack </a:t>
            </a:r>
            <a:r>
              <a:rPr lang="en-US" sz="2800" dirty="0"/>
              <a:t>of order, clarity, or coherence can confuse the reader, forcing them to re-read sections or, worse, lose interest altogether. When all three are present, the paragraph becomes easier to read, understand, and remember.</a:t>
            </a:r>
          </a:p>
          <a:p>
            <a:pPr algn="just"/>
            <a:r>
              <a:rPr lang="en-US" sz="2800" b="1" dirty="0"/>
              <a:t>Credibility</a:t>
            </a:r>
            <a:r>
              <a:rPr lang="en-US" sz="2800" dirty="0"/>
              <a:t>: Writing that demonstrates clear thinking and logical progression enhances the writer’s credibility. Readers are more likely to trust and value writing that is organized and well thought </a:t>
            </a:r>
            <a:r>
              <a:rPr lang="en-US" sz="2800" dirty="0" smtClean="0"/>
              <a:t>out</a:t>
            </a:r>
            <a:r>
              <a:rPr lang="en-US" sz="2800" dirty="0"/>
              <a:t>.</a:t>
            </a:r>
          </a:p>
        </p:txBody>
      </p:sp>
    </p:spTree>
    <p:extLst>
      <p:ext uri="{BB962C8B-B14F-4D97-AF65-F5344CB8AC3E}">
        <p14:creationId xmlns:p14="http://schemas.microsoft.com/office/powerpoint/2010/main" val="26743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FF0000"/>
                </a:solidFill>
              </a:rPr>
              <a:t>Conclusion</a:t>
            </a:r>
            <a:endParaRPr lang="en-US" b="1" u="sng" dirty="0">
              <a:solidFill>
                <a:srgbClr val="FF0000"/>
              </a:solidFill>
            </a:endParaRPr>
          </a:p>
        </p:txBody>
      </p:sp>
      <p:sp>
        <p:nvSpPr>
          <p:cNvPr id="3" name="Content Placeholder 2"/>
          <p:cNvSpPr>
            <a:spLocks noGrp="1"/>
          </p:cNvSpPr>
          <p:nvPr>
            <p:ph idx="1"/>
          </p:nvPr>
        </p:nvSpPr>
        <p:spPr/>
        <p:txBody>
          <a:bodyPr>
            <a:normAutofit/>
          </a:bodyPr>
          <a:lstStyle/>
          <a:p>
            <a:pPr algn="just">
              <a:lnSpc>
                <a:spcPct val="150000"/>
              </a:lnSpc>
            </a:pPr>
            <a:r>
              <a:rPr lang="en-US" sz="3200" dirty="0"/>
              <a:t>In summary, </a:t>
            </a:r>
            <a:r>
              <a:rPr lang="en-US" sz="3200" b="1" dirty="0"/>
              <a:t>order</a:t>
            </a:r>
            <a:r>
              <a:rPr lang="en-US" sz="3200" dirty="0"/>
              <a:t>, </a:t>
            </a:r>
            <a:r>
              <a:rPr lang="en-US" sz="3200" b="1" dirty="0"/>
              <a:t>clarity</a:t>
            </a:r>
            <a:r>
              <a:rPr lang="en-US" sz="3200" dirty="0"/>
              <a:t>, and </a:t>
            </a:r>
            <a:r>
              <a:rPr lang="en-US" sz="3200" b="1" dirty="0"/>
              <a:t>coherence</a:t>
            </a:r>
            <a:r>
              <a:rPr lang="en-US" sz="3200" dirty="0"/>
              <a:t> are essential to effective paragraph writing because they ensure that ideas are presented logically, are easy to understand, and are meaningfully connected. Together, they make the writing engaging, professional, and persuasive.</a:t>
            </a:r>
          </a:p>
        </p:txBody>
      </p:sp>
    </p:spTree>
    <p:extLst>
      <p:ext uri="{BB962C8B-B14F-4D97-AF65-F5344CB8AC3E}">
        <p14:creationId xmlns:p14="http://schemas.microsoft.com/office/powerpoint/2010/main" val="2566996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1041</Words>
  <Application>Microsoft Office PowerPoint</Application>
  <PresentationFormat>Custom</PresentationFormat>
  <Paragraphs>57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Polishing Style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Improving Paragraphs (Length, order, clarity) </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SABRI LAPTOP</cp:lastModifiedBy>
  <cp:revision>56</cp:revision>
  <dcterms:created xsi:type="dcterms:W3CDTF">2024-06-21T09:49:54Z</dcterms:created>
  <dcterms:modified xsi:type="dcterms:W3CDTF">2024-09-30T16:42:52Z</dcterms:modified>
</cp:coreProperties>
</file>