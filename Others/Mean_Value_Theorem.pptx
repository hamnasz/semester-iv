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4"/>
  </p:notesMasterIdLst>
  <p:sldIdLst>
    <p:sldId id="256" r:id="rId2"/>
    <p:sldId id="263" r:id="rId3"/>
    <p:sldId id="264" r:id="rId4"/>
    <p:sldId id="265" r:id="rId5"/>
    <p:sldId id="257" r:id="rId6"/>
    <p:sldId id="266" r:id="rId7"/>
    <p:sldId id="258" r:id="rId8"/>
    <p:sldId id="259" r:id="rId9"/>
    <p:sldId id="260" r:id="rId10"/>
    <p:sldId id="261" r:id="rId11"/>
    <p:sldId id="267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685C"/>
    <a:srgbClr val="43514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34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37F96-772A-45EE-9C2D-1D5E26F89588}" type="datetimeFigureOut">
              <a:rPr lang="LID4096" smtClean="0"/>
              <a:t>12/04/2024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08B615-745B-40F8-B250-65ED1AA97E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5747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8B615-745B-40F8-B250-65ED1AA97E7E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98599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B93AB-0696-027E-3E6F-97F267991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A7F9C-04CF-D0CB-A8E8-85E58EF79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1EEB1-1D51-0B1A-1930-D0EB9C428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C3DDE-27DF-58FB-D92E-0CAEB062D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8B615-745B-40F8-B250-65ED1AA97E7E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1476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9" cy="255475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7500385" y="1828799"/>
            <a:ext cx="990599" cy="228659"/>
          </a:xfrm>
        </p:spPr>
        <p:txBody>
          <a:bodyPr anchor="t" anchorCtr="0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6236209" y="3264406"/>
            <a:ext cx="3859795" cy="228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5279" y="292609"/>
            <a:ext cx="628813" cy="767687"/>
          </a:xfrm>
        </p:spPr>
        <p:txBody>
          <a:bodyPr/>
          <a:lstStyle>
            <a:lvl1pPr>
              <a:defRPr sz="2800" b="0" i="0" baseline="0"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17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2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948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363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490"/>
            <a:ext cx="3636978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79" cy="27713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38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5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90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97437"/>
            <a:ext cx="2712589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086844"/>
            <a:ext cx="2712590" cy="292541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25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362190"/>
            <a:ext cx="2987087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1591" y="3088562"/>
            <a:ext cx="3001938" cy="244863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0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755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Rectangle 13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0"/>
            <a:ext cx="6422004" cy="1653117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509006"/>
            <a:ext cx="6422003" cy="2515873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873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6" name="Freeform 35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0" name="TextBox 9"/>
          <p:cNvSpPr txBox="1"/>
          <p:nvPr/>
        </p:nvSpPr>
        <p:spPr>
          <a:xfrm>
            <a:off x="644721" y="654263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7454" y="2900539"/>
            <a:ext cx="538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9" y="914401"/>
            <a:ext cx="6160385" cy="2894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87279" y="3814473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15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1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399"/>
            <a:ext cx="6422004" cy="209550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739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884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884" y="2489199"/>
            <a:ext cx="231098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8884" y="3147164"/>
            <a:ext cx="2310988" cy="287771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9201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4"/>
            <a:ext cx="232675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39" cy="288836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27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36973"/>
            <a:ext cx="6423592" cy="69999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39" y="4188546"/>
            <a:ext cx="2314064" cy="64901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8" y="4837558"/>
            <a:ext cx="2309280" cy="118732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7" y="4188546"/>
            <a:ext cx="233090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9200"/>
            <a:ext cx="2025182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7" y="4846509"/>
            <a:ext cx="2330904" cy="11783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84814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5" y="2489200"/>
            <a:ext cx="2018839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6510"/>
            <a:ext cx="2299492" cy="118902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52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1" y="2489200"/>
            <a:ext cx="6343201" cy="35306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1549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8235" y="1447799"/>
            <a:ext cx="4435439" cy="4571999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1854142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3564" y="925605"/>
            <a:ext cx="6346078" cy="711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71444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108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Mean Value Theorem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MVT with Concepts and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26740-71CA-639E-109F-9D7DBEBA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BA055-43A3-078C-479B-6D29E11F7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Mean Value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CC729-5627-CDDC-1E8C-4CE398731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 some point, the function's actual slope matches its average slope over the interval.</a:t>
            </a:r>
            <a:endParaRPr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538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E979F-9022-925C-FB6B-8C82B8459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52A88-7FDF-9DEB-3D72-0F585D25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8310B-6567-E282-3192-510E266B5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Imagine you're on a road trip. You start at Point A and drive to Point B. Your total journey takes, say, 2 hours, and you traveled 120 kilometers.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+mj-lt"/>
                <a:ea typeface="Cambria Math" panose="02040503050406030204" pitchFamily="18" charset="0"/>
              </a:rPr>
              <a:t>Your average speed for the trip is:</a:t>
            </a:r>
          </a:p>
          <a:p>
            <a:endParaRPr lang="en-US" dirty="0">
              <a:latin typeface="+mj-lt"/>
              <a:ea typeface="Cambria Math" panose="02040503050406030204" pitchFamily="18" charset="0"/>
            </a:endParaRPr>
          </a:p>
          <a:p>
            <a:endParaRPr lang="en-US" dirty="0">
              <a:latin typeface="+mj-lt"/>
              <a:ea typeface="Cambria Math" panose="02040503050406030204" pitchFamily="18" charset="0"/>
            </a:endParaRPr>
          </a:p>
          <a:p>
            <a:r>
              <a:rPr lang="en-US" dirty="0">
                <a:latin typeface="+mj-lt"/>
                <a:ea typeface="Cambria Math" panose="02040503050406030204" pitchFamily="18" charset="0"/>
              </a:rPr>
              <a:t>The Mean Value Theorem says that </a:t>
            </a:r>
            <a:r>
              <a:rPr lang="en-US" b="1" dirty="0">
                <a:latin typeface="+mj-lt"/>
                <a:ea typeface="Cambria Math" panose="02040503050406030204" pitchFamily="18" charset="0"/>
              </a:rPr>
              <a:t>at some point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during your journey, your car's actual speed must have been exactly </a:t>
            </a:r>
            <a:r>
              <a:rPr lang="en-US" b="1" dirty="0">
                <a:latin typeface="+mj-lt"/>
                <a:ea typeface="Cambria Math" panose="02040503050406030204" pitchFamily="18" charset="0"/>
              </a:rPr>
              <a:t>60 km/h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.</a:t>
            </a:r>
            <a:endParaRPr dirty="0">
              <a:latin typeface="+mj-lt"/>
              <a:ea typeface="Cambria Math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7C3CE-2698-A66B-6C5C-3056C876E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666" y="4254500"/>
            <a:ext cx="3552667" cy="45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313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3780F-4B19-0D36-0090-C1E478C38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0C156-C537-35E9-E163-000582FFB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  <a:endParaRPr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AE4AB2D6-AAAA-9DBE-7FEA-C38599D80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463" y="2531994"/>
            <a:ext cx="4791075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4127E6-2201-F0DF-C225-4AFAD98D4A0C}"/>
              </a:ext>
            </a:extLst>
          </p:cNvPr>
          <p:cNvCxnSpPr/>
          <p:nvPr/>
        </p:nvCxnSpPr>
        <p:spPr>
          <a:xfrm>
            <a:off x="5585791" y="2792896"/>
            <a:ext cx="1908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EB924C5-3714-3C31-F4E0-6DCEB2C38477}"/>
              </a:ext>
            </a:extLst>
          </p:cNvPr>
          <p:cNvSpPr txBox="1"/>
          <p:nvPr/>
        </p:nvSpPr>
        <p:spPr>
          <a:xfrm>
            <a:off x="7494104" y="2469730"/>
            <a:ext cx="1331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road trip</a:t>
            </a:r>
            <a:endParaRPr lang="LID4096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480B25-BF3C-A8A4-2AC4-41C324AC449A}"/>
              </a:ext>
            </a:extLst>
          </p:cNvPr>
          <p:cNvCxnSpPr/>
          <p:nvPr/>
        </p:nvCxnSpPr>
        <p:spPr>
          <a:xfrm>
            <a:off x="5406887" y="3866322"/>
            <a:ext cx="2395330" cy="795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DF57EB-9F8F-BE15-A89B-82A4DBD8CCA5}"/>
              </a:ext>
            </a:extLst>
          </p:cNvPr>
          <p:cNvCxnSpPr/>
          <p:nvPr/>
        </p:nvCxnSpPr>
        <p:spPr>
          <a:xfrm flipV="1">
            <a:off x="4283765" y="4661452"/>
            <a:ext cx="3518452" cy="3379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EB6FFB5-3313-720D-309F-08FB7624A789}"/>
              </a:ext>
            </a:extLst>
          </p:cNvPr>
          <p:cNvSpPr txBox="1"/>
          <p:nvPr/>
        </p:nvSpPr>
        <p:spPr>
          <a:xfrm>
            <a:off x="7726016" y="4208355"/>
            <a:ext cx="10999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Point A and Point B</a:t>
            </a:r>
            <a:endParaRPr lang="LID4096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A8BD157-9A8E-D253-7A68-D8810047A29B}"/>
              </a:ext>
            </a:extLst>
          </p:cNvPr>
          <p:cNvCxnSpPr/>
          <p:nvPr/>
        </p:nvCxnSpPr>
        <p:spPr>
          <a:xfrm flipH="1">
            <a:off x="2176463" y="4462670"/>
            <a:ext cx="25943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17F71F5-5523-8DF9-335D-40E73198EAE5}"/>
              </a:ext>
            </a:extLst>
          </p:cNvPr>
          <p:cNvSpPr txBox="1"/>
          <p:nvPr/>
        </p:nvSpPr>
        <p:spPr>
          <a:xfrm>
            <a:off x="847725" y="4001005"/>
            <a:ext cx="1328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Average speed</a:t>
            </a:r>
            <a:endParaRPr lang="LID4096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B5B3104-B943-2926-DE16-4D9012280833}"/>
              </a:ext>
            </a:extLst>
          </p:cNvPr>
          <p:cNvCxnSpPr/>
          <p:nvPr/>
        </p:nvCxnSpPr>
        <p:spPr>
          <a:xfrm>
            <a:off x="4770783" y="5307496"/>
            <a:ext cx="2438859" cy="1490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7EF93BF-F7A3-62E7-6F49-101D1D13B744}"/>
              </a:ext>
            </a:extLst>
          </p:cNvPr>
          <p:cNvSpPr txBox="1"/>
          <p:nvPr/>
        </p:nvSpPr>
        <p:spPr>
          <a:xfrm>
            <a:off x="7140528" y="5339139"/>
            <a:ext cx="1616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actual speed at some point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46849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Math Term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math terms, for a function f(x) that is smooth and continuous: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you're traveling from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x=a </a:t>
            </a:r>
            <a:r>
              <a:rPr lang="en-US" dirty="0"/>
              <a:t>to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x=b</a:t>
            </a:r>
            <a:r>
              <a:rPr lang="en-US" dirty="0"/>
              <a:t> 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Mean Value Theorem guarantees there's a point c between a and b where: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0A2D1E-34F8-CAA4-5458-CD1835781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284" y="4495784"/>
            <a:ext cx="2619432" cy="7620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5233C-AFD8-85A3-FE5E-E18D48FAB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AFD91-BFE2-941A-2EB5-65A35C1F9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F4336-A547-BCEC-889E-2032EB53D472}"/>
              </a:ext>
            </a:extLst>
          </p:cNvPr>
          <p:cNvSpPr txBox="1"/>
          <p:nvPr/>
        </p:nvSpPr>
        <p:spPr>
          <a:xfrm>
            <a:off x="785191" y="2703444"/>
            <a:ext cx="75736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435142"/>
                </a:solidFill>
              </a:rPr>
              <a:t>Continuity</a:t>
            </a:r>
            <a:r>
              <a:rPr lang="en-US" dirty="0">
                <a:solidFill>
                  <a:srgbClr val="435142"/>
                </a:solidFill>
              </a:rPr>
              <a:t>:</a:t>
            </a:r>
            <a:br>
              <a:rPr lang="en-US" dirty="0"/>
            </a:br>
            <a:r>
              <a:rPr lang="en-US" dirty="0"/>
              <a:t>The function f(x) must be </a:t>
            </a:r>
            <a:r>
              <a:rPr lang="en-US" dirty="0">
                <a:solidFill>
                  <a:srgbClr val="60685C"/>
                </a:solidFill>
              </a:rPr>
              <a:t>continuous</a:t>
            </a:r>
            <a:r>
              <a:rPr lang="en-US" dirty="0"/>
              <a:t> on the closed interval [</a:t>
            </a:r>
            <a:r>
              <a:rPr lang="en-US" dirty="0" err="1"/>
              <a:t>a,b</a:t>
            </a:r>
            <a:r>
              <a:rPr lang="en-US" dirty="0"/>
              <a:t>].</a:t>
            </a:r>
          </a:p>
          <a:p>
            <a:r>
              <a:rPr lang="en-US" dirty="0"/>
              <a:t>This means there are no breaks, jumps, or holes in the graph of the function between a and b.</a:t>
            </a:r>
          </a:p>
          <a:p>
            <a:endParaRPr lang="en-US" dirty="0"/>
          </a:p>
          <a:p>
            <a:r>
              <a:rPr lang="en-US" b="1" dirty="0">
                <a:solidFill>
                  <a:srgbClr val="435142"/>
                </a:solidFill>
              </a:rPr>
              <a:t>Differentiability</a:t>
            </a:r>
            <a:r>
              <a:rPr lang="en-US" dirty="0">
                <a:solidFill>
                  <a:srgbClr val="435142"/>
                </a:solidFill>
              </a:rPr>
              <a:t>:</a:t>
            </a:r>
            <a:br>
              <a:rPr lang="en-US" dirty="0"/>
            </a:br>
            <a:r>
              <a:rPr lang="en-US" dirty="0"/>
              <a:t>The function f(x) must be </a:t>
            </a:r>
            <a:r>
              <a:rPr lang="en-US" dirty="0">
                <a:solidFill>
                  <a:srgbClr val="60685C"/>
                </a:solidFill>
              </a:rPr>
              <a:t>differentiable</a:t>
            </a:r>
            <a:r>
              <a:rPr lang="en-US" dirty="0"/>
              <a:t> on the open interval (</a:t>
            </a:r>
            <a:r>
              <a:rPr lang="en-US" dirty="0" err="1"/>
              <a:t>a,b</a:t>
            </a:r>
            <a:r>
              <a:rPr lang="en-US" dirty="0"/>
              <a:t>).</a:t>
            </a:r>
          </a:p>
          <a:p>
            <a:r>
              <a:rPr lang="en-US" dirty="0"/>
              <a:t>This means the graph of the function is smooth (</a:t>
            </a:r>
            <a:r>
              <a:rPr lang="en-US" b="1" dirty="0"/>
              <a:t>no sharp corners or vertical tangents</a:t>
            </a:r>
            <a:r>
              <a:rPr lang="en-US" dirty="0"/>
              <a:t>) between a and b.</a:t>
            </a:r>
          </a:p>
        </p:txBody>
      </p:sp>
    </p:spTree>
    <p:extLst>
      <p:ext uri="{BB962C8B-B14F-4D97-AF65-F5344CB8AC3E}">
        <p14:creationId xmlns:p14="http://schemas.microsoft.com/office/powerpoint/2010/main" val="1632019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303" y="2489200"/>
            <a:ext cx="7651394" cy="3530600"/>
          </a:xfrm>
        </p:spPr>
        <p:txBody>
          <a:bodyPr/>
          <a:lstStyle/>
          <a:p>
            <a:r>
              <a:rPr dirty="0"/>
              <a:t>Verify the Mean Value Theorem for the function f(x) = x² on the interval [1, 3].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Check the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482429" cy="3530600"/>
          </a:xfrm>
        </p:spPr>
        <p:txBody>
          <a:bodyPr/>
          <a:lstStyle/>
          <a:p>
            <a:r>
              <a:rPr b="1" dirty="0">
                <a:solidFill>
                  <a:srgbClr val="60685C"/>
                </a:solidFill>
              </a:rPr>
              <a:t>Continuity:</a:t>
            </a:r>
            <a:r>
              <a:rPr dirty="0"/>
              <a:t> The function f(x) = x² is a polynomial, so it is continuous everywhere.</a:t>
            </a:r>
          </a:p>
          <a:p>
            <a:r>
              <a:rPr b="1" dirty="0">
                <a:solidFill>
                  <a:srgbClr val="60685C"/>
                </a:solidFill>
              </a:rPr>
              <a:t>Differentiability: </a:t>
            </a:r>
            <a:r>
              <a:rPr dirty="0"/>
              <a:t>The derivative f'(x) = 2x exists everywhere, so the function is differentiable.</a:t>
            </a:r>
          </a:p>
          <a:p>
            <a:endParaRPr dirty="0"/>
          </a:p>
          <a:p>
            <a:r>
              <a:rPr dirty="0"/>
              <a:t>Thus, the function satisfies the conditions of MVT on [1, 3].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Average Rate of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average rate of change is given by:</a:t>
            </a:r>
          </a:p>
          <a:p>
            <a:endParaRPr dirty="0"/>
          </a:p>
          <a:p>
            <a:endParaRPr lang="en-US" dirty="0"/>
          </a:p>
          <a:p>
            <a:r>
              <a:rPr dirty="0"/>
              <a:t>For f(x) = x², a = 1, b = 3:</a:t>
            </a:r>
          </a:p>
          <a:p>
            <a:r>
              <a:rPr dirty="0"/>
              <a:t>f(1) = 1² = 1, f(3) = 3² = 9</a:t>
            </a:r>
          </a:p>
          <a:p>
            <a:endParaRPr lang="en-US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6FDFE-8D9E-8DF5-A8FD-10138C9DD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318" y="2905523"/>
            <a:ext cx="2619432" cy="7620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AFD610-9F29-A223-68DA-381F818A7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584" y="4733216"/>
            <a:ext cx="5981635" cy="8711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Find the Point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derivative of </a:t>
            </a:r>
            <a:r>
              <a:rPr lang="da-DK" dirty="0">
                <a:latin typeface="Cambria Math" panose="02040503050406030204" pitchFamily="18" charset="0"/>
                <a:ea typeface="Cambria Math" panose="02040503050406030204" pitchFamily="18" charset="0"/>
              </a:rPr>
              <a:t>f′(x)=2x</a:t>
            </a:r>
            <a:r>
              <a:rPr lang="da-DK" dirty="0"/>
              <a:t>. Set </a:t>
            </a:r>
            <a:r>
              <a:rPr lang="da-DK" dirty="0">
                <a:latin typeface="Cambria Math" panose="02040503050406030204" pitchFamily="18" charset="0"/>
                <a:ea typeface="Cambria Math" panose="02040503050406030204" pitchFamily="18" charset="0"/>
              </a:rPr>
              <a:t>f′(c)=4</a:t>
            </a:r>
            <a:endParaRPr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dirty="0"/>
          </a:p>
          <a:p>
            <a:endParaRPr dirty="0"/>
          </a:p>
          <a:p>
            <a:r>
              <a:rPr dirty="0"/>
              <a:t>At c = 2, the instantaneous rate of change matches the average rate of change.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986B3-0E41-9B95-5AA9-3B6CFC272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656" y="2933705"/>
            <a:ext cx="2836688" cy="4952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B28FF-FBB2-97C8-88F8-6777B6990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5C24-1BAB-8632-3250-B95122FE7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563" y="925605"/>
            <a:ext cx="6938653" cy="711359"/>
          </a:xfrm>
        </p:spPr>
        <p:txBody>
          <a:bodyPr/>
          <a:lstStyle/>
          <a:p>
            <a:r>
              <a:rPr dirty="0"/>
              <a:t>Step </a:t>
            </a:r>
            <a:r>
              <a:rPr lang="en-US" dirty="0"/>
              <a:t>4</a:t>
            </a:r>
            <a:r>
              <a:rPr dirty="0"/>
              <a:t>: </a:t>
            </a:r>
            <a:r>
              <a:rPr lang="en-US" dirty="0"/>
              <a:t>Verify 𝑐 is in the interval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30B89-08F1-9053-75AA-35EC6E925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point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𝑐=2 </a:t>
            </a:r>
            <a:r>
              <a:rPr lang="en-US" dirty="0"/>
              <a:t>lies in the open interval (1,3), so it satisfies the theorem.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1252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of Mean Value Theorem</a:t>
            </a:r>
          </a:p>
        </p:txBody>
      </p:sp>
      <p:pic>
        <p:nvPicPr>
          <p:cNvPr id="3" name="Picture 2" descr="mvt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643" y="2246243"/>
            <a:ext cx="5870713" cy="4403035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53</TotalTime>
  <Words>455</Words>
  <Application>Microsoft Office PowerPoint</Application>
  <PresentationFormat>On-screen Show (4:3)</PresentationFormat>
  <Paragraphs>49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 Math</vt:lpstr>
      <vt:lpstr>Century Gothic</vt:lpstr>
      <vt:lpstr>Wingdings 3</vt:lpstr>
      <vt:lpstr>Ion Boardroom</vt:lpstr>
      <vt:lpstr>Mean Value Theorem</vt:lpstr>
      <vt:lpstr>Mean Value Theorem</vt:lpstr>
      <vt:lpstr>Concept</vt:lpstr>
      <vt:lpstr>Concept</vt:lpstr>
      <vt:lpstr>In Math Term</vt:lpstr>
      <vt:lpstr>Conditions</vt:lpstr>
      <vt:lpstr>Problem Statement</vt:lpstr>
      <vt:lpstr>Step 1: Check the Conditions</vt:lpstr>
      <vt:lpstr>Step 2: Average Rate of Change</vt:lpstr>
      <vt:lpstr>Step 3: Find the Point c</vt:lpstr>
      <vt:lpstr>Step 4: Verify 𝑐 is in the interval</vt:lpstr>
      <vt:lpstr>Visualization of Mean Value Theorem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Hamna Mirza</cp:lastModifiedBy>
  <cp:revision>3</cp:revision>
  <dcterms:created xsi:type="dcterms:W3CDTF">2013-01-27T09:14:16Z</dcterms:created>
  <dcterms:modified xsi:type="dcterms:W3CDTF">2024-12-04T19:05:46Z</dcterms:modified>
  <cp:category/>
</cp:coreProperties>
</file>