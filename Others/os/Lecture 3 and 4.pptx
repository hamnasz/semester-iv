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notesMasterIdLst>
    <p:notesMasterId r:id="rId20"/>
  </p:notesMasterIdLst>
  <p:sldIdLst>
    <p:sldId id="273" r:id="rId4"/>
    <p:sldId id="965" r:id="rId5"/>
    <p:sldId id="966" r:id="rId6"/>
    <p:sldId id="967" r:id="rId7"/>
    <p:sldId id="968" r:id="rId8"/>
    <p:sldId id="969" r:id="rId9"/>
    <p:sldId id="970" r:id="rId10"/>
    <p:sldId id="971" r:id="rId11"/>
    <p:sldId id="972" r:id="rId12"/>
    <p:sldId id="973" r:id="rId13"/>
    <p:sldId id="974" r:id="rId14"/>
    <p:sldId id="975" r:id="rId15"/>
    <p:sldId id="978" r:id="rId16"/>
    <p:sldId id="976" r:id="rId17"/>
    <p:sldId id="979" r:id="rId18"/>
    <p:sldId id="962" r:id="rId19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9" autoAdjust="0"/>
    <p:restoredTop sz="92140" autoAdjust="0"/>
  </p:normalViewPr>
  <p:slideViewPr>
    <p:cSldViewPr snapToGrid="0">
      <p:cViewPr varScale="1">
        <p:scale>
          <a:sx n="67" d="100"/>
          <a:sy n="67" d="100"/>
        </p:scale>
        <p:origin x="103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DD3B8-2E01-4CE0-B02F-91BFC8CDC8F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2658C-66DA-4116-8E6C-1579936CD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7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7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Linux&amp;newwindow=1&amp;sca_esv=d6eb6bac57f34326&amp;rlz=1C1GCEA_enPK1156PK1156&amp;sxsrf=ANbL-n4zHIc8cBQp2Q4dyR-8pmqWV87Irw%3A1771313652776&amp;ei=9BmUabyML6Dz7M8P1KrRsAw&amp;biw=1366&amp;bih=641&amp;ved=2ahUKEwjZifjXguCSAxVkOfsDHWjnJ4oQgK4QegQIAhAD&amp;uact=5&amp;oq=time+sharing+operating+system+example&amp;gs_lp=Egxnd3Mtd2l6LXNlcnAiJXRpbWUgc2hhcmluZyBvcGVyYXRpbmcgc3lzdGVtIGV4YW1wbGUyBhAAGAcYHjIGEAAYBxgeMgYQABgHGB4yCBAAGAcYCBgeMggQABgHGAgYHjIIEAAYBxgIGB4yCBAAGAcYCBgeMggQABgHGAgYHjIIEAAYBxgIGB4yCBAAGAcYCBgeSMQxUMkGWMYvcAF4AZABAJgB2AKgAaceqgEGMi0xNS4xuAEDyAEA-AEBmAIKoALiEcICChAAGLADGNYEGEfCAg0QABiABBiwAxhDGIoFwgILEAAYgAQYkQIYigXCAggQABgFGAcYHsICBBAAGB7CAgYQABgFGB6YAwCIBgGQBgqSBwcxLjAuOC4xoAeSogGyBwUyLTguMbgH1BHCBwUyLTkuMcgHO4AIAA&amp;sclient=gws-wiz-serp" TargetMode="External"/><Relationship Id="rId2" Type="http://schemas.openxmlformats.org/officeDocument/2006/relationships/hyperlink" Target="https://www.google.com/search?q=UNIX&amp;newwindow=1&amp;sca_esv=d6eb6bac57f34326&amp;rlz=1C1GCEA_enPK1156PK1156&amp;sxsrf=ANbL-n4zHIc8cBQp2Q4dyR-8pmqWV87Irw%3A1771313652776&amp;ei=9BmUabyML6Dz7M8P1KrRsAw&amp;biw=1366&amp;bih=641&amp;ved=2ahUKEwjZifjXguCSAxVkOfsDHWjnJ4oQgK4QegQIAhAC&amp;uact=5&amp;oq=time+sharing+operating+system+example&amp;gs_lp=Egxnd3Mtd2l6LXNlcnAiJXRpbWUgc2hhcmluZyBvcGVyYXRpbmcgc3lzdGVtIGV4YW1wbGUyBhAAGAcYHjIGEAAYBxgeMgYQABgHGB4yCBAAGAcYCBgeMggQABgHGAgYHjIIEAAYBxgIGB4yCBAAGAcYCBgeMggQABgHGAgYHjIIEAAYBxgIGB4yCBAAGAcYCBgeSMQxUMkGWMYvcAF4AZABAJgB2AKgAaceqgEGMi0xNS4xuAEDyAEA-AEBmAIKoALiEcICChAAGLADGNYEGEfCAg0QABiABBiwAxhDGIoFwgILEAAYgAQYkQIYigXCAggQABgFGAcYHsICBBAAGB7CAgYQABgFGB6YAwCIBgGQBgqSBwcxLjAuOC4xoAeSogGyBwUyLTguMbgH1BHCBwUyLTkuMcgHO4AIAA&amp;sclient=gws-wiz-serp" TargetMode="Externa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3" y="393485"/>
            <a:ext cx="3067051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4"/>
                </a:solidFill>
              </a:rPr>
              <a:t>Types of Operating System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>
            <a:normAutofit/>
          </a:bodyPr>
          <a:lstStyle/>
          <a:p>
            <a:r>
              <a:rPr lang="en-US" b="1" smtClean="0">
                <a:solidFill>
                  <a:schemeClr val="accent4"/>
                </a:solidFill>
              </a:rPr>
              <a:t>Lecture </a:t>
            </a:r>
            <a:r>
              <a:rPr lang="en-US" b="1" smtClean="0">
                <a:solidFill>
                  <a:schemeClr val="accent4"/>
                </a:solidFill>
              </a:rPr>
              <a:t>#3 </a:t>
            </a:r>
            <a:r>
              <a:rPr lang="en-US" b="1" smtClean="0">
                <a:solidFill>
                  <a:schemeClr val="accent4"/>
                </a:solidFill>
              </a:rPr>
              <a:t>and </a:t>
            </a:r>
            <a:r>
              <a:rPr lang="en-US" b="1" smtClean="0">
                <a:solidFill>
                  <a:schemeClr val="accent4"/>
                </a:solidFill>
              </a:rPr>
              <a:t>4</a:t>
            </a:r>
            <a:endParaRPr lang="en-US" b="1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575" y="20320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Types of Operating System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Single User System</a:t>
            </a:r>
          </a:p>
          <a:p>
            <a:r>
              <a:rPr lang="en-US" dirty="0" smtClean="0"/>
              <a:t>Batch System</a:t>
            </a:r>
          </a:p>
          <a:p>
            <a:r>
              <a:rPr lang="en-US" dirty="0" err="1" smtClean="0"/>
              <a:t>Multiprogrammed</a:t>
            </a:r>
            <a:r>
              <a:rPr lang="en-US" dirty="0" smtClean="0"/>
              <a:t> System</a:t>
            </a:r>
          </a:p>
          <a:p>
            <a:r>
              <a:rPr lang="en-US" dirty="0" smtClean="0"/>
              <a:t>Time Sharing system</a:t>
            </a:r>
          </a:p>
          <a:p>
            <a:r>
              <a:rPr lang="en-US" dirty="0" smtClean="0"/>
              <a:t>Real-Time system</a:t>
            </a:r>
          </a:p>
        </p:txBody>
      </p:sp>
    </p:spTree>
    <p:extLst>
      <p:ext uri="{BB962C8B-B14F-4D97-AF65-F5344CB8AC3E}">
        <p14:creationId xmlns:p14="http://schemas.microsoft.com/office/powerpoint/2010/main" val="1618175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98425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accent4"/>
                </a:solidFill>
                <a:latin typeface="Arial Black" pitchFamily="34" charset="0"/>
              </a:rPr>
              <a:t>Single User Systems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An operating system that is usable by only one user at a time.</a:t>
            </a:r>
          </a:p>
          <a:p>
            <a:pPr algn="just"/>
            <a:r>
              <a:rPr lang="en-US" dirty="0" smtClean="0"/>
              <a:t>For example: Early p</a:t>
            </a:r>
            <a:r>
              <a:rPr lang="en-US" i="1" dirty="0" smtClean="0"/>
              <a:t>ersonal computers</a:t>
            </a:r>
            <a:r>
              <a:rPr lang="en-US" dirty="0" smtClean="0"/>
              <a:t> </a:t>
            </a:r>
          </a:p>
          <a:p>
            <a:pPr algn="just"/>
            <a:r>
              <a:rPr lang="en-US" dirty="0" smtClean="0"/>
              <a:t>Interactive (i.e. whenever you want to run a software on a computer system you can interact with it)</a:t>
            </a:r>
          </a:p>
          <a:p>
            <a:pPr algn="just"/>
            <a:r>
              <a:rPr lang="en-US" dirty="0" smtClean="0"/>
              <a:t>Basic goal of single user system is to be convenient and responsive. (i.e. easy to use, friendly graphics etc.)</a:t>
            </a:r>
          </a:p>
          <a:p>
            <a:pPr algn="just"/>
            <a:r>
              <a:rPr lang="en-US" dirty="0" smtClean="0"/>
              <a:t>Example . DOS-operating system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599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871200" cy="99060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Types of Single User System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Single user operating systems can be split into two types:</a:t>
            </a:r>
          </a:p>
          <a:p>
            <a:pPr>
              <a:buNone/>
            </a:pPr>
            <a:r>
              <a:rPr lang="en-US" b="1" dirty="0" smtClean="0"/>
              <a:t>1</a:t>
            </a:r>
            <a:r>
              <a:rPr lang="en-US" dirty="0" smtClean="0"/>
              <a:t>- single user, single task</a:t>
            </a:r>
          </a:p>
          <a:p>
            <a:pPr>
              <a:buNone/>
            </a:pPr>
            <a:r>
              <a:rPr lang="en-US" b="1" dirty="0" smtClean="0"/>
              <a:t>2</a:t>
            </a:r>
            <a:r>
              <a:rPr lang="en-US" dirty="0" smtClean="0"/>
              <a:t>- single user, multiple tasks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530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6510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Types of Single User System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/>
              <a:t>Single user, single tasks -- </a:t>
            </a:r>
            <a:r>
              <a:rPr lang="en-US" dirty="0" smtClean="0"/>
              <a:t>This type of operating system only has to deal with one person at a time, running one user application at a time.</a:t>
            </a:r>
          </a:p>
          <a:p>
            <a:pPr algn="just">
              <a:buNone/>
            </a:pPr>
            <a:r>
              <a:rPr lang="en-US" dirty="0" smtClean="0"/>
              <a:t>	E.g. Mobile phone</a:t>
            </a:r>
          </a:p>
          <a:p>
            <a:pPr algn="just"/>
            <a:r>
              <a:rPr lang="en-US" b="1" dirty="0" smtClean="0"/>
              <a:t>Single user, multiple tasks -- </a:t>
            </a:r>
            <a:r>
              <a:rPr lang="en-US" dirty="0" smtClean="0"/>
              <a:t>The operating system is designed mainly with a single user in mind, but it can deal with many applications running at the same time. </a:t>
            </a:r>
          </a:p>
          <a:p>
            <a:pPr algn="just">
              <a:buNone/>
            </a:pPr>
            <a:r>
              <a:rPr lang="en-US" b="1" dirty="0" smtClean="0"/>
              <a:t>	</a:t>
            </a:r>
            <a:r>
              <a:rPr lang="en-US" dirty="0" smtClean="0"/>
              <a:t>E.g. searching the internet, downloading a video file and also listening to a piece of music.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23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936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Multi-programmed System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Multiprogramming is a technique to execute number of programs simultaneously by a single processor.</a:t>
            </a:r>
          </a:p>
          <a:p>
            <a:pPr algn="just"/>
            <a:r>
              <a:rPr lang="en-US" dirty="0" smtClean="0"/>
              <a:t>In Multiprogramming, number of processes reside in main memory at a time.</a:t>
            </a:r>
          </a:p>
          <a:p>
            <a:pPr algn="just"/>
            <a:r>
              <a:rPr lang="en-US" dirty="0" smtClean="0"/>
              <a:t>The OS picks and begins to executes one of the jobs in the main memory.</a:t>
            </a:r>
          </a:p>
          <a:p>
            <a:pPr algn="just"/>
            <a:r>
              <a:rPr lang="en-US" dirty="0" smtClean="0"/>
              <a:t>If any I/O wait happened in a process, then CPU switches from that job to another job.</a:t>
            </a:r>
          </a:p>
          <a:p>
            <a:pPr algn="just"/>
            <a:r>
              <a:rPr lang="en-US" dirty="0" smtClean="0"/>
              <a:t>Hence CPU in not idle at any time.</a:t>
            </a:r>
          </a:p>
        </p:txBody>
      </p:sp>
    </p:spTree>
    <p:extLst>
      <p:ext uri="{BB962C8B-B14F-4D97-AF65-F5344CB8AC3E}">
        <p14:creationId xmlns:p14="http://schemas.microsoft.com/office/powerpoint/2010/main" val="2259233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675" y="160338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accent4"/>
                </a:solidFill>
              </a:rPr>
              <a:t>Multiprogramming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026" name="AutoShape 2" descr="Image result for multiprogramming and multitasking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Image result for multiprogramming and multitasking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828800"/>
            <a:ext cx="9753600" cy="448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54763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675" y="16510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Batch Processing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In this type of system, there is no direct interaction between user and the computer. </a:t>
            </a:r>
          </a:p>
          <a:p>
            <a:pPr algn="just"/>
            <a:r>
              <a:rPr lang="en-US" dirty="0" smtClean="0"/>
              <a:t>The user has to submit a job (written on cards or tape) to a computer operator. </a:t>
            </a:r>
          </a:p>
          <a:p>
            <a:pPr algn="just"/>
            <a:r>
              <a:rPr lang="en-US" dirty="0" smtClean="0"/>
              <a:t>Each user prepares his job on an off-line device like punch cards and submits it to the computer operator.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518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08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Cont..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 smtClean="0"/>
              <a:t>OS defines a job which has predefined sequence of commands, programs and data as a single unit.</a:t>
            </a:r>
          </a:p>
          <a:p>
            <a:pPr lvl="0" algn="just"/>
            <a:r>
              <a:rPr lang="en-US" dirty="0" smtClean="0"/>
              <a:t>OS keeps a number of jobs in memory and executes them without any manual information.</a:t>
            </a:r>
          </a:p>
          <a:p>
            <a:pPr lvl="0" algn="just"/>
            <a:r>
              <a:rPr lang="en-US" dirty="0" smtClean="0"/>
              <a:t>Jobs are processed in the order of submission </a:t>
            </a:r>
            <a:r>
              <a:rPr lang="en-US" dirty="0" err="1" smtClean="0"/>
              <a:t>i.e</a:t>
            </a:r>
            <a:r>
              <a:rPr lang="en-US" dirty="0" smtClean="0"/>
              <a:t> first come first served fashion.</a:t>
            </a:r>
          </a:p>
          <a:p>
            <a:pPr lvl="0" algn="just"/>
            <a:r>
              <a:rPr lang="en-US" dirty="0" smtClean="0"/>
              <a:t>When job completes its execution, its memory is released and the output for the job gets copied into an output spool for later printing or processing.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573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428" y="1746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Punch Card</a:t>
            </a: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400" y="2286000"/>
            <a:ext cx="11465656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3725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8415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Batch Processing</a:t>
            </a: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4" name="Picture 3" descr="Batch Processi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2800" y="1981200"/>
            <a:ext cx="10769600" cy="44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20676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8415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  <a:latin typeface="Arial" pitchFamily="34" charset="0"/>
              </a:rPr>
              <a:t>Time Sharing Systems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Time sharing, or multitasking, is a logical extension of multiprogramming.</a:t>
            </a:r>
          </a:p>
          <a:p>
            <a:r>
              <a:rPr lang="en-US" dirty="0" smtClean="0"/>
              <a:t>Multiple jobs are executed by switching the CPU between them.</a:t>
            </a:r>
          </a:p>
          <a:p>
            <a:r>
              <a:rPr lang="en-US" dirty="0" smtClean="0"/>
              <a:t>In this, the CPU time is shared by different processes, so it is called as “Time sharing Systems”.</a:t>
            </a:r>
          </a:p>
          <a:p>
            <a:r>
              <a:rPr lang="en-US" dirty="0" smtClean="0"/>
              <a:t>Time slice is defined by the OS, for sharing CPU time between processes</a:t>
            </a:r>
            <a:r>
              <a:rPr lang="en-US" dirty="0" smtClean="0"/>
              <a:t>.</a:t>
            </a:r>
          </a:p>
          <a:p>
            <a:r>
              <a:rPr lang="en-US" dirty="0" smtClean="0">
                <a:hlinkClick r:id="rId2"/>
              </a:rPr>
              <a:t>Example ..UNIX</a:t>
            </a:r>
            <a:r>
              <a:rPr lang="en-US" dirty="0"/>
              <a:t>, </a:t>
            </a:r>
            <a:r>
              <a:rPr lang="en-US" dirty="0">
                <a:hlinkClick r:id="rId3"/>
              </a:rPr>
              <a:t>Linux</a:t>
            </a:r>
            <a:r>
              <a:rPr lang="en-US" dirty="0"/>
              <a:t>,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87325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4588" y="365125"/>
            <a:ext cx="6657975" cy="720725"/>
          </a:xfrm>
        </p:spPr>
        <p:txBody>
          <a:bodyPr/>
          <a:lstStyle/>
          <a:p>
            <a:r>
              <a:rPr lang="en-US" b="1" dirty="0">
                <a:solidFill>
                  <a:schemeClr val="accent4"/>
                </a:solidFill>
                <a:latin typeface="Arial" pitchFamily="34" charset="0"/>
              </a:rPr>
              <a:t>Time Sharing Systems</a:t>
            </a:r>
            <a:endParaRPr lang="en-US" dirty="0"/>
          </a:p>
        </p:txBody>
      </p:sp>
      <p:sp>
        <p:nvSpPr>
          <p:cNvPr id="5" name="AutoShape 4" descr="Time Sharing Operating System - GeeksforGeeks"/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AutoShape 6" descr="Time Sharing Operating System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Time Sharing Operating System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6" y="1876424"/>
            <a:ext cx="7091362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9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20320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  <a:latin typeface="Arial" pitchFamily="34" charset="0"/>
              </a:rPr>
              <a:t>Real-Time Systems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5176" lvl="1" indent="-265176" algn="just">
              <a:buSzPct val="80000"/>
              <a:buFont typeface="Wingdings" pitchFamily="2" charset="2"/>
              <a:buChar char="q"/>
            </a:pPr>
            <a:r>
              <a:rPr lang="en-US" dirty="0" smtClean="0"/>
              <a:t>A real-time operating system is an operating system (OS) intended to serve real-time application by processing data as it comes in, typically without buffering delays.</a:t>
            </a:r>
          </a:p>
          <a:p>
            <a:pPr marL="265176" lvl="1" indent="-265176" algn="just">
              <a:buSzPct val="80000"/>
              <a:buFont typeface="Wingdings" pitchFamily="2" charset="2"/>
              <a:buChar char="q"/>
            </a:pPr>
            <a:r>
              <a:rPr lang="en-US" dirty="0" smtClean="0"/>
              <a:t>Often used as a control device in a dedicated application such as controlling scientific experiments, medical imaging systems, industrial control systems, and some display systems.</a:t>
            </a:r>
          </a:p>
          <a:p>
            <a:pPr algn="just"/>
            <a:r>
              <a:rPr lang="en-US" sz="2400" dirty="0" smtClean="0"/>
              <a:t>If it does not produce output in a defined time then the output will be useless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For example </a:t>
            </a:r>
          </a:p>
          <a:p>
            <a:pPr algn="just"/>
            <a:r>
              <a:rPr lang="en-US" dirty="0" smtClean="0"/>
              <a:t>automobile </a:t>
            </a:r>
            <a:r>
              <a:rPr lang="en-US" dirty="0"/>
              <a:t>airbag controllers, industrial robotics, air traffic control, and medical devices </a:t>
            </a:r>
            <a:endParaRPr lang="en-US" dirty="0" smtClean="0"/>
          </a:p>
          <a:p>
            <a:pPr algn="just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50249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9038" y="365125"/>
            <a:ext cx="3857625" cy="663575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For example </a:t>
            </a:r>
          </a:p>
          <a:p>
            <a:pPr algn="just"/>
            <a:r>
              <a:rPr lang="en-US" dirty="0"/>
              <a:t>automobile airbag controllers, </a:t>
            </a:r>
            <a:endParaRPr lang="en-US" dirty="0" smtClean="0"/>
          </a:p>
          <a:p>
            <a:pPr algn="just"/>
            <a:r>
              <a:rPr lang="en-US" dirty="0" smtClean="0"/>
              <a:t>industrial </a:t>
            </a:r>
            <a:r>
              <a:rPr lang="en-US" dirty="0"/>
              <a:t>robotics, </a:t>
            </a:r>
            <a:endParaRPr lang="en-US" dirty="0" smtClean="0"/>
          </a:p>
          <a:p>
            <a:pPr algn="just"/>
            <a:r>
              <a:rPr lang="en-US" dirty="0" smtClean="0"/>
              <a:t>air </a:t>
            </a:r>
            <a:r>
              <a:rPr lang="en-US" dirty="0"/>
              <a:t>traffic control</a:t>
            </a:r>
            <a:r>
              <a:rPr lang="en-US" dirty="0" smtClean="0"/>
              <a:t>,</a:t>
            </a:r>
          </a:p>
          <a:p>
            <a:pPr algn="just"/>
            <a:r>
              <a:rPr lang="en-US" dirty="0" smtClean="0"/>
              <a:t>medical </a:t>
            </a:r>
            <a:r>
              <a:rPr lang="en-US" dirty="0"/>
              <a:t>devices</a:t>
            </a:r>
          </a:p>
        </p:txBody>
      </p:sp>
    </p:spTree>
    <p:extLst>
      <p:ext uri="{BB962C8B-B14F-4D97-AF65-F5344CB8AC3E}">
        <p14:creationId xmlns:p14="http://schemas.microsoft.com/office/powerpoint/2010/main" val="2571014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124200"/>
            <a:ext cx="10871200" cy="990600"/>
          </a:xfrm>
        </p:spPr>
        <p:txBody>
          <a:bodyPr>
            <a:noAutofit/>
          </a:bodyPr>
          <a:lstStyle/>
          <a:p>
            <a:pPr algn="ctr"/>
            <a:r>
              <a:rPr lang="en-US" sz="9600" b="1" dirty="0" smtClean="0"/>
              <a:t>Questions?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1413193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380</Words>
  <Application>Microsoft Office PowerPoint</Application>
  <PresentationFormat>Widescreen</PresentationFormat>
  <Paragraphs>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Wingdings</vt:lpstr>
      <vt:lpstr>Office Theme</vt:lpstr>
      <vt:lpstr>Lecture 6</vt:lpstr>
      <vt:lpstr>1_Office Theme</vt:lpstr>
      <vt:lpstr>Types of Operating System</vt:lpstr>
      <vt:lpstr>Types of Operating System</vt:lpstr>
      <vt:lpstr>Single User Systems</vt:lpstr>
      <vt:lpstr>Types of Single User System</vt:lpstr>
      <vt:lpstr>Types of Single User System</vt:lpstr>
      <vt:lpstr>Multi-programmed System</vt:lpstr>
      <vt:lpstr>Multiprogramming</vt:lpstr>
      <vt:lpstr>Batch Processing</vt:lpstr>
      <vt:lpstr>Cont..</vt:lpstr>
      <vt:lpstr>Punch Card</vt:lpstr>
      <vt:lpstr>Batch Processing</vt:lpstr>
      <vt:lpstr>Time Sharing Systems</vt:lpstr>
      <vt:lpstr>Time Sharing Systems</vt:lpstr>
      <vt:lpstr>Real-Time Systems</vt:lpstr>
      <vt:lpstr>Cont…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Sofia</cp:lastModifiedBy>
  <cp:revision>163</cp:revision>
  <dcterms:created xsi:type="dcterms:W3CDTF">2024-06-21T09:49:00Z</dcterms:created>
  <dcterms:modified xsi:type="dcterms:W3CDTF">2026-02-17T07:53:42Z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