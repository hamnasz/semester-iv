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2" r:id="rId2"/>
    <p:sldMasterId id="2147483684" r:id="rId3"/>
  </p:sldMasterIdLst>
  <p:sldIdLst>
    <p:sldId id="273" r:id="rId4"/>
    <p:sldId id="888" r:id="rId5"/>
    <p:sldId id="889" r:id="rId6"/>
    <p:sldId id="890" r:id="rId7"/>
    <p:sldId id="891" r:id="rId8"/>
    <p:sldId id="892" r:id="rId9"/>
    <p:sldId id="904" r:id="rId10"/>
    <p:sldId id="905" r:id="rId11"/>
    <p:sldId id="906" r:id="rId12"/>
    <p:sldId id="894" r:id="rId13"/>
    <p:sldId id="919" r:id="rId14"/>
    <p:sldId id="895" r:id="rId15"/>
    <p:sldId id="920" r:id="rId16"/>
    <p:sldId id="921" r:id="rId17"/>
    <p:sldId id="898" r:id="rId18"/>
    <p:sldId id="899" r:id="rId19"/>
    <p:sldId id="901" r:id="rId20"/>
    <p:sldId id="923" r:id="rId21"/>
    <p:sldId id="912" r:id="rId22"/>
    <p:sldId id="913" r:id="rId23"/>
    <p:sldId id="914" r:id="rId24"/>
    <p:sldId id="915" r:id="rId25"/>
  </p:sldIdLst>
  <p:sldSz cx="12192000" cy="6858000"/>
  <p:notesSz cx="6858000" cy="9144000"/>
  <p:defaultText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A2A"/>
    <a:srgbClr val="C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609" autoAdjust="0"/>
    <p:restoredTop sz="94660"/>
  </p:normalViewPr>
  <p:slideViewPr>
    <p:cSldViewPr snapToGrid="0">
      <p:cViewPr varScale="1">
        <p:scale>
          <a:sx n="63" d="100"/>
          <a:sy n="63" d="100"/>
        </p:scale>
        <p:origin x="48" y="11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 /><Relationship Id="rId13" Type="http://schemas.openxmlformats.org/officeDocument/2006/relationships/slide" Target="slides/slide10.xml" /><Relationship Id="rId18" Type="http://schemas.openxmlformats.org/officeDocument/2006/relationships/slide" Target="slides/slide15.xml" /><Relationship Id="rId26" Type="http://schemas.openxmlformats.org/officeDocument/2006/relationships/presProps" Target="presProps.xml" /><Relationship Id="rId3" Type="http://schemas.openxmlformats.org/officeDocument/2006/relationships/slideMaster" Target="slideMasters/slideMaster3.xml" /><Relationship Id="rId21" Type="http://schemas.openxmlformats.org/officeDocument/2006/relationships/slide" Target="slides/slide18.xml" /><Relationship Id="rId7" Type="http://schemas.openxmlformats.org/officeDocument/2006/relationships/slide" Target="slides/slide4.xml" /><Relationship Id="rId12" Type="http://schemas.openxmlformats.org/officeDocument/2006/relationships/slide" Target="slides/slide9.xml" /><Relationship Id="rId17" Type="http://schemas.openxmlformats.org/officeDocument/2006/relationships/slide" Target="slides/slide14.xml" /><Relationship Id="rId25" Type="http://schemas.openxmlformats.org/officeDocument/2006/relationships/slide" Target="slides/slide22.xml" /><Relationship Id="rId2" Type="http://schemas.openxmlformats.org/officeDocument/2006/relationships/slideMaster" Target="slideMasters/slideMaster2.xml" /><Relationship Id="rId16" Type="http://schemas.openxmlformats.org/officeDocument/2006/relationships/slide" Target="slides/slide13.xml" /><Relationship Id="rId20" Type="http://schemas.openxmlformats.org/officeDocument/2006/relationships/slide" Target="slides/slide17.xml" /><Relationship Id="rId29"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3.xml" /><Relationship Id="rId11" Type="http://schemas.openxmlformats.org/officeDocument/2006/relationships/slide" Target="slides/slide8.xml" /><Relationship Id="rId24" Type="http://schemas.openxmlformats.org/officeDocument/2006/relationships/slide" Target="slides/slide21.xml" /><Relationship Id="rId5" Type="http://schemas.openxmlformats.org/officeDocument/2006/relationships/slide" Target="slides/slide2.xml" /><Relationship Id="rId15" Type="http://schemas.openxmlformats.org/officeDocument/2006/relationships/slide" Target="slides/slide12.xml" /><Relationship Id="rId23" Type="http://schemas.openxmlformats.org/officeDocument/2006/relationships/slide" Target="slides/slide20.xml" /><Relationship Id="rId28" Type="http://schemas.openxmlformats.org/officeDocument/2006/relationships/theme" Target="theme/theme1.xml" /><Relationship Id="rId10" Type="http://schemas.openxmlformats.org/officeDocument/2006/relationships/slide" Target="slides/slide7.xml" /><Relationship Id="rId19" Type="http://schemas.openxmlformats.org/officeDocument/2006/relationships/slide" Target="slides/slide16.xml" /><Relationship Id="rId4" Type="http://schemas.openxmlformats.org/officeDocument/2006/relationships/slide" Target="slides/slide1.xml" /><Relationship Id="rId9" Type="http://schemas.openxmlformats.org/officeDocument/2006/relationships/slide" Target="slides/slide6.xml" /><Relationship Id="rId14" Type="http://schemas.openxmlformats.org/officeDocument/2006/relationships/slide" Target="slides/slide11.xml" /><Relationship Id="rId22" Type="http://schemas.openxmlformats.org/officeDocument/2006/relationships/slide" Target="slides/slide19.xml" /><Relationship Id="rId27"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1/29/2026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1/29/2026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1/29/2026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1/29/2026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1/29/2026</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1/29/2026</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1/29/2026</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1/29/2026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1/29/2026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1/29/2026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1/29/2026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1/29/2026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3834719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1/29/2026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515652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1/29/2026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6562610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1/29/2026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56781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1/29/2026</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350870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1/29/2026</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127357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1/29/2026</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8563733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1/29/2026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217433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1/29/2026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4771562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1/29/2026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3222281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1/29/2026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5954773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1/29/2026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0865722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1/29/2026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863264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1/29/2026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5276056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1/29/2026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588303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1/29/2026</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769436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1/29/2026</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4188601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1/29/2026</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9472795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1/29/2026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826497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1/29/2026</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2410426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1/29/2026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6069766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1/29/2026</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086589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 /><Relationship Id="rId13" Type="http://schemas.openxmlformats.org/officeDocument/2006/relationships/image" Target="../media/image1.png" /><Relationship Id="rId18" Type="http://schemas.openxmlformats.org/officeDocument/2006/relationships/image" Target="../media/image6.png" /><Relationship Id="rId3" Type="http://schemas.openxmlformats.org/officeDocument/2006/relationships/slideLayout" Target="../slideLayouts/slideLayout14.xml" /><Relationship Id="rId7" Type="http://schemas.openxmlformats.org/officeDocument/2006/relationships/slideLayout" Target="../slideLayouts/slideLayout18.xml" /><Relationship Id="rId12" Type="http://schemas.openxmlformats.org/officeDocument/2006/relationships/theme" Target="../theme/theme2.xml" /><Relationship Id="rId17" Type="http://schemas.openxmlformats.org/officeDocument/2006/relationships/image" Target="../media/image5.svg" /><Relationship Id="rId2" Type="http://schemas.openxmlformats.org/officeDocument/2006/relationships/slideLayout" Target="../slideLayouts/slideLayout13.xml" /><Relationship Id="rId16" Type="http://schemas.openxmlformats.org/officeDocument/2006/relationships/image" Target="../media/image4.png" /><Relationship Id="rId1" Type="http://schemas.openxmlformats.org/officeDocument/2006/relationships/slideLayout" Target="../slideLayouts/slideLayout12.xml" /><Relationship Id="rId6" Type="http://schemas.openxmlformats.org/officeDocument/2006/relationships/slideLayout" Target="../slideLayouts/slideLayout17.xml" /><Relationship Id="rId11" Type="http://schemas.openxmlformats.org/officeDocument/2006/relationships/slideLayout" Target="../slideLayouts/slideLayout22.xml" /><Relationship Id="rId5" Type="http://schemas.openxmlformats.org/officeDocument/2006/relationships/slideLayout" Target="../slideLayouts/slideLayout16.xml" /><Relationship Id="rId15" Type="http://schemas.openxmlformats.org/officeDocument/2006/relationships/image" Target="../media/image3.svg" /><Relationship Id="rId10" Type="http://schemas.openxmlformats.org/officeDocument/2006/relationships/slideLayout" Target="../slideLayouts/slideLayout21.xml" /><Relationship Id="rId4" Type="http://schemas.openxmlformats.org/officeDocument/2006/relationships/slideLayout" Target="../slideLayouts/slideLayout15.xml" /><Relationship Id="rId9" Type="http://schemas.openxmlformats.org/officeDocument/2006/relationships/slideLayout" Target="../slideLayouts/slideLayout20.xml" /><Relationship Id="rId14" Type="http://schemas.openxmlformats.org/officeDocument/2006/relationships/image" Target="../media/image2.png" /></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 /><Relationship Id="rId3" Type="http://schemas.openxmlformats.org/officeDocument/2006/relationships/slideLayout" Target="../slideLayouts/slideLayout25.xml" /><Relationship Id="rId7" Type="http://schemas.openxmlformats.org/officeDocument/2006/relationships/slideLayout" Target="../slideLayouts/slideLayout29.xml" /><Relationship Id="rId12" Type="http://schemas.openxmlformats.org/officeDocument/2006/relationships/theme" Target="../theme/theme3.xml" /><Relationship Id="rId2" Type="http://schemas.openxmlformats.org/officeDocument/2006/relationships/slideLayout" Target="../slideLayouts/slideLayout24.xml" /><Relationship Id="rId1" Type="http://schemas.openxmlformats.org/officeDocument/2006/relationships/slideLayout" Target="../slideLayouts/slideLayout23.xml" /><Relationship Id="rId6" Type="http://schemas.openxmlformats.org/officeDocument/2006/relationships/slideLayout" Target="../slideLayouts/slideLayout28.xml" /><Relationship Id="rId11" Type="http://schemas.openxmlformats.org/officeDocument/2006/relationships/slideLayout" Target="../slideLayouts/slideLayout33.xml" /><Relationship Id="rId5" Type="http://schemas.openxmlformats.org/officeDocument/2006/relationships/slideLayout" Target="../slideLayouts/slideLayout27.xml" /><Relationship Id="rId10" Type="http://schemas.openxmlformats.org/officeDocument/2006/relationships/slideLayout" Target="../slideLayouts/slideLayout32.xml" /><Relationship Id="rId4" Type="http://schemas.openxmlformats.org/officeDocument/2006/relationships/slideLayout" Target="../slideLayouts/slideLayout26.xml" /><Relationship Id="rId9" Type="http://schemas.openxmlformats.org/officeDocument/2006/relationships/slideLayout" Target="../slideLayouts/slideLayout3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1/29/2026</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1/29/2026</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grpSp>
        <p:nvGrpSpPr>
          <p:cNvPr id="7" name="Group 6">
            <a:extLst>
              <a:ext uri="{FF2B5EF4-FFF2-40B4-BE49-F238E27FC236}">
                <a16:creationId xmlns:a16="http://schemas.microsoft.com/office/drawing/2014/main" id="{BAEFE420-0C07-4D1B-9094-F2C452FF1011}"/>
              </a:ext>
            </a:extLst>
          </p:cNvPr>
          <p:cNvGrpSpPr/>
          <p:nvPr userDrawn="1"/>
        </p:nvGrpSpPr>
        <p:grpSpPr>
          <a:xfrm>
            <a:off x="0" y="0"/>
            <a:ext cx="12749348" cy="1115736"/>
            <a:chOff x="0" y="0"/>
            <a:chExt cx="12749348" cy="1115736"/>
          </a:xfrm>
        </p:grpSpPr>
        <p:sp>
          <p:nvSpPr>
            <p:cNvPr id="8" name="Rectangle 7">
              <a:extLst>
                <a:ext uri="{FF2B5EF4-FFF2-40B4-BE49-F238E27FC236}">
                  <a16:creationId xmlns:a16="http://schemas.microsoft.com/office/drawing/2014/main" id="{6FBB4837-678E-4FCE-A1B7-2AE1B9432890}"/>
                </a:ext>
              </a:extLst>
            </p:cNvPr>
            <p:cNvSpPr/>
            <p:nvPr userDrawn="1"/>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dirty="0"/>
            </a:p>
          </p:txBody>
        </p:sp>
        <p:pic>
          <p:nvPicPr>
            <p:cNvPr id="9" name="Picture 8">
              <a:extLst>
                <a:ext uri="{FF2B5EF4-FFF2-40B4-BE49-F238E27FC236}">
                  <a16:creationId xmlns:a16="http://schemas.microsoft.com/office/drawing/2014/main" id="{D279BBF0-3F01-4944-AF8F-73A34B5B9CEF}"/>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0" name="TextBox 10">
              <a:extLst>
                <a:ext uri="{FF2B5EF4-FFF2-40B4-BE49-F238E27FC236}">
                  <a16:creationId xmlns:a16="http://schemas.microsoft.com/office/drawing/2014/main" id="{650112A7-3B60-423A-8682-3EC1CCAA7ABE}"/>
                </a:ext>
              </a:extLst>
            </p:cNvPr>
            <p:cNvSpPr txBox="1"/>
            <p:nvPr userDrawn="1"/>
          </p:nvSpPr>
          <p:spPr>
            <a:xfrm>
              <a:off x="10719753" y="696917"/>
              <a:ext cx="1619033" cy="261610"/>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err="1">
                  <a:solidFill>
                    <a:schemeClr val="bg1"/>
                  </a:solidFill>
                </a:rPr>
                <a:t>unioffaisalabad</a:t>
              </a:r>
              <a:endParaRPr lang="x-none" sz="1100" dirty="0">
                <a:solidFill>
                  <a:schemeClr val="bg1"/>
                </a:solidFill>
              </a:endParaRPr>
            </a:p>
          </p:txBody>
        </p:sp>
        <p:pic>
          <p:nvPicPr>
            <p:cNvPr id="11" name="Graphic 11">
              <a:extLst>
                <a:ext uri="{FF2B5EF4-FFF2-40B4-BE49-F238E27FC236}">
                  <a16:creationId xmlns:a16="http://schemas.microsoft.com/office/drawing/2014/main" id="{75FFEA7F-8809-458D-BE80-99F7CFB965CA}"/>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9906056" y="403986"/>
              <a:ext cx="261610" cy="261610"/>
            </a:xfrm>
            <a:prstGeom prst="rect">
              <a:avLst/>
            </a:prstGeom>
          </p:spPr>
        </p:pic>
        <p:sp>
          <p:nvSpPr>
            <p:cNvPr id="12" name="TextBox 12">
              <a:extLst>
                <a:ext uri="{FF2B5EF4-FFF2-40B4-BE49-F238E27FC236}">
                  <a16:creationId xmlns:a16="http://schemas.microsoft.com/office/drawing/2014/main" id="{B3F075CD-8CB0-4BD0-B756-BA559BF9DF2D}"/>
                </a:ext>
              </a:extLst>
            </p:cNvPr>
            <p:cNvSpPr txBox="1"/>
            <p:nvPr userDrawn="1"/>
          </p:nvSpPr>
          <p:spPr>
            <a:xfrm>
              <a:off x="10142944" y="350125"/>
              <a:ext cx="2606404" cy="369332"/>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3" name="Graphic 13">
              <a:extLst>
                <a:ext uri="{FF2B5EF4-FFF2-40B4-BE49-F238E27FC236}">
                  <a16:creationId xmlns:a16="http://schemas.microsoft.com/office/drawing/2014/main" id="{ACED766F-A0E3-4D45-8A6E-86CCFAFA5D96}"/>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10591033" y="741997"/>
              <a:ext cx="171450" cy="171450"/>
            </a:xfrm>
            <a:prstGeom prst="rect">
              <a:avLst/>
            </a:prstGeom>
          </p:spPr>
        </p:pic>
        <p:pic>
          <p:nvPicPr>
            <p:cNvPr id="14" name="Picture 13">
              <a:extLst>
                <a:ext uri="{FF2B5EF4-FFF2-40B4-BE49-F238E27FC236}">
                  <a16:creationId xmlns:a16="http://schemas.microsoft.com/office/drawing/2014/main" id="{F83660F3-45D1-4CA0-BE2A-E7E6C1B794A4}"/>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54240947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1/29/2026</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spTree>
    <p:extLst>
      <p:ext uri="{BB962C8B-B14F-4D97-AF65-F5344CB8AC3E}">
        <p14:creationId xmlns:p14="http://schemas.microsoft.com/office/powerpoint/2010/main" val="210576896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svg" /><Relationship Id="rId2" Type="http://schemas.openxmlformats.org/officeDocument/2006/relationships/image" Target="../media/image7.png" /><Relationship Id="rId1" Type="http://schemas.openxmlformats.org/officeDocument/2006/relationships/slideLayout" Target="../slideLayouts/slideLayout1.xml" /><Relationship Id="rId4" Type="http://schemas.openxmlformats.org/officeDocument/2006/relationships/image" Target="../media/image9.png"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13.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_rels/slide12.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13.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_rels/slide16.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13.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3175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en-GB" dirty="0"/>
          </a:p>
        </p:txBody>
      </p:sp>
      <p:sp>
        <p:nvSpPr>
          <p:cNvPr id="2" name="Title 1"/>
          <p:cNvSpPr>
            <a:spLocks noGrp="1"/>
          </p:cNvSpPr>
          <p:nvPr>
            <p:ph type="ctrTitle"/>
          </p:nvPr>
        </p:nvSpPr>
        <p:spPr>
          <a:xfrm>
            <a:off x="168275" y="3253104"/>
            <a:ext cx="12023725" cy="2271395"/>
          </a:xfrm>
        </p:spPr>
        <p:txBody>
          <a:bodyPr>
            <a:noAutofit/>
          </a:bodyPr>
          <a:lstStyle/>
          <a:p>
            <a:pPr>
              <a:lnSpc>
                <a:spcPct val="200000"/>
              </a:lnSpc>
              <a:defRPr/>
            </a:pPr>
            <a:r>
              <a:rPr lang="en-US" altLang="ko-KR" sz="2800" b="1" dirty="0">
                <a:solidFill>
                  <a:schemeClr val="accent4"/>
                </a:solidFill>
                <a:cs typeface="Arial" pitchFamily="34" charset="0"/>
              </a:rPr>
              <a:t>Lecture #1</a:t>
            </a:r>
          </a:p>
        </p:txBody>
      </p:sp>
      <p:pic>
        <p:nvPicPr>
          <p:cNvPr id="10" name="Graphic 9"/>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62283" y="0"/>
            <a:ext cx="3611691" cy="3611691"/>
          </a:xfrm>
          <a:prstGeom prst="rect">
            <a:avLst/>
          </a:prstGeom>
        </p:spPr>
      </p:pic>
      <p:pic>
        <p:nvPicPr>
          <p:cNvPr id="1026" name="Picture 2" descr="C:\Users\Administrator\Downloads\Screenshot__117_-removebg-preview.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063" y="393485"/>
            <a:ext cx="3067051" cy="16192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15533" y="1943629"/>
            <a:ext cx="9144000" cy="2387600"/>
          </a:xfrm>
        </p:spPr>
        <p:txBody>
          <a:bodyPr>
            <a:normAutofit fontScale="90000"/>
          </a:bodyPr>
          <a:lstStyle/>
          <a:p>
            <a:pPr algn="ctr"/>
            <a:r>
              <a:rPr lang="en-US" dirty="0"/>
              <a:t>Operating system </a:t>
            </a:r>
            <a:br>
              <a:rPr lang="en-US" dirty="0"/>
            </a:br>
            <a:r>
              <a:rPr lang="en-US" dirty="0"/>
              <a:t>by </a:t>
            </a:r>
            <a:br>
              <a:rPr lang="en-US" dirty="0"/>
            </a:br>
            <a:r>
              <a:rPr lang="en-GB" dirty="0" err="1"/>
              <a:t>Tahmina</a:t>
            </a:r>
            <a:r>
              <a:rPr lang="en-GB" dirty="0"/>
              <a:t> </a:t>
            </a:r>
            <a:r>
              <a:rPr lang="en-GB" dirty="0" err="1"/>
              <a:t>Asghar</a:t>
            </a:r>
            <a:endParaRPr lang="en-US" dirty="0"/>
          </a:p>
        </p:txBody>
      </p:sp>
      <p:sp>
        <p:nvSpPr>
          <p:cNvPr id="3" name="Subtitle 2"/>
          <p:cNvSpPr>
            <a:spLocks noGrp="1"/>
          </p:cNvSpPr>
          <p:nvPr>
            <p:ph type="subTitle" idx="1"/>
          </p:nvPr>
        </p:nvSpPr>
        <p:spPr>
          <a:xfrm>
            <a:off x="1490133" y="4448704"/>
            <a:ext cx="9144000" cy="1655763"/>
          </a:xfrm>
        </p:spPr>
        <p:txBody>
          <a:bodyPr/>
          <a:lstStyle/>
          <a:p>
            <a:r>
              <a:rPr lang="en-US" dirty="0"/>
              <a:t>Lecture # 1</a:t>
            </a:r>
          </a:p>
        </p:txBody>
      </p:sp>
    </p:spTree>
    <p:extLst>
      <p:ext uri="{BB962C8B-B14F-4D97-AF65-F5344CB8AC3E}">
        <p14:creationId xmlns:p14="http://schemas.microsoft.com/office/powerpoint/2010/main" val="1938175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4333" y="119591"/>
            <a:ext cx="10515600" cy="1325563"/>
          </a:xfrm>
        </p:spPr>
        <p:txBody>
          <a:bodyPr/>
          <a:lstStyle/>
          <a:p>
            <a:pPr algn="ctr"/>
            <a:r>
              <a:rPr lang="en-US" b="1" dirty="0">
                <a:solidFill>
                  <a:schemeClr val="accent4"/>
                </a:solidFill>
              </a:rPr>
              <a:t>Marks Distribution</a:t>
            </a:r>
          </a:p>
        </p:txBody>
      </p:sp>
      <p:sp>
        <p:nvSpPr>
          <p:cNvPr id="3" name="Content Placeholder 2"/>
          <p:cNvSpPr>
            <a:spLocks noGrp="1"/>
          </p:cNvSpPr>
          <p:nvPr>
            <p:ph idx="1"/>
          </p:nvPr>
        </p:nvSpPr>
        <p:spPr/>
        <p:txBody>
          <a:bodyPr/>
          <a:lstStyle/>
          <a:p>
            <a:r>
              <a:rPr lang="en-US" dirty="0"/>
              <a:t>Internal Assessment: 35 Marks</a:t>
            </a:r>
          </a:p>
          <a:p>
            <a:r>
              <a:rPr lang="en-US" dirty="0"/>
              <a:t>Mid Semester Examination: 25 Marks</a:t>
            </a:r>
          </a:p>
          <a:p>
            <a:r>
              <a:rPr lang="en-US" dirty="0"/>
              <a:t>Final Semester Examination: 40 Marks</a:t>
            </a:r>
          </a:p>
        </p:txBody>
      </p:sp>
    </p:spTree>
    <p:extLst>
      <p:ext uri="{BB962C8B-B14F-4D97-AF65-F5344CB8AC3E}">
        <p14:creationId xmlns:p14="http://schemas.microsoft.com/office/powerpoint/2010/main" val="3066132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60325"/>
            <a:ext cx="10515600" cy="1325563"/>
          </a:xfrm>
        </p:spPr>
        <p:txBody>
          <a:bodyPr/>
          <a:lstStyle/>
          <a:p>
            <a:pPr algn="ctr"/>
            <a:r>
              <a:rPr lang="en-US" b="1" dirty="0">
                <a:solidFill>
                  <a:schemeClr val="accent4"/>
                </a:solidFill>
              </a:rPr>
              <a:t>Rules to Remember</a:t>
            </a:r>
          </a:p>
        </p:txBody>
      </p:sp>
      <p:sp>
        <p:nvSpPr>
          <p:cNvPr id="3" name="Content Placeholder 2"/>
          <p:cNvSpPr>
            <a:spLocks noGrp="1"/>
          </p:cNvSpPr>
          <p:nvPr>
            <p:ph idx="1"/>
          </p:nvPr>
        </p:nvSpPr>
        <p:spPr/>
        <p:txBody>
          <a:bodyPr>
            <a:normAutofit/>
          </a:bodyPr>
          <a:lstStyle/>
          <a:p>
            <a:pPr algn="just"/>
            <a:r>
              <a:rPr lang="en-US" dirty="0"/>
              <a:t>Come to class prepared to learn.</a:t>
            </a:r>
          </a:p>
          <a:p>
            <a:pPr algn="just"/>
            <a:r>
              <a:rPr lang="en-US" dirty="0"/>
              <a:t>Keep your mobiles </a:t>
            </a:r>
            <a:r>
              <a:rPr lang="en-US" b="1" dirty="0"/>
              <a:t>Silent</a:t>
            </a:r>
            <a:r>
              <a:rPr lang="en-US" dirty="0"/>
              <a:t> and keep it inside your bag.</a:t>
            </a:r>
          </a:p>
          <a:p>
            <a:pPr algn="just"/>
            <a:r>
              <a:rPr lang="en-US" dirty="0"/>
              <a:t>Late arrival in my class will be marked </a:t>
            </a:r>
            <a:r>
              <a:rPr lang="en-US" b="1" dirty="0"/>
              <a:t>Absent</a:t>
            </a:r>
          </a:p>
          <a:p>
            <a:pPr algn="just"/>
            <a:r>
              <a:rPr lang="en-US" b="1" dirty="0"/>
              <a:t>Raise your hand </a:t>
            </a:r>
            <a:r>
              <a:rPr lang="en-US" dirty="0"/>
              <a:t>before speaking or leaving your seat.</a:t>
            </a:r>
          </a:p>
          <a:p>
            <a:pPr algn="just"/>
            <a:r>
              <a:rPr lang="en-US" dirty="0"/>
              <a:t>Listen and follow directions.</a:t>
            </a:r>
          </a:p>
          <a:p>
            <a:pPr algn="just"/>
            <a:r>
              <a:rPr lang="en-US" dirty="0"/>
              <a:t>Actively participate in classroom activities</a:t>
            </a:r>
          </a:p>
          <a:p>
            <a:pPr algn="just"/>
            <a:r>
              <a:rPr lang="en-US" dirty="0"/>
              <a:t>Ask Questions. </a:t>
            </a:r>
          </a:p>
          <a:p>
            <a:pPr algn="just"/>
            <a:r>
              <a:rPr lang="en-US" dirty="0"/>
              <a:t>Convey your issue to your instructor through your CR. </a:t>
            </a:r>
          </a:p>
        </p:txBody>
      </p:sp>
    </p:spTree>
    <p:extLst>
      <p:ext uri="{BB962C8B-B14F-4D97-AF65-F5344CB8AC3E}">
        <p14:creationId xmlns:p14="http://schemas.microsoft.com/office/powerpoint/2010/main" val="10061907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325563"/>
          </a:xfrm>
        </p:spPr>
        <p:txBody>
          <a:bodyPr/>
          <a:lstStyle/>
          <a:p>
            <a:pPr algn="ctr"/>
            <a:r>
              <a:rPr lang="en-US" b="1" dirty="0">
                <a:solidFill>
                  <a:schemeClr val="accent4"/>
                </a:solidFill>
              </a:rPr>
              <a:t>Rules for Assignments</a:t>
            </a:r>
          </a:p>
        </p:txBody>
      </p:sp>
      <p:sp>
        <p:nvSpPr>
          <p:cNvPr id="3" name="Content Placeholder 2"/>
          <p:cNvSpPr>
            <a:spLocks noGrp="1"/>
          </p:cNvSpPr>
          <p:nvPr>
            <p:ph idx="1"/>
          </p:nvPr>
        </p:nvSpPr>
        <p:spPr/>
        <p:txBody>
          <a:bodyPr/>
          <a:lstStyle/>
          <a:p>
            <a:r>
              <a:rPr lang="en-US" dirty="0"/>
              <a:t>No extensions will be granted for submission of assignments.</a:t>
            </a:r>
          </a:p>
          <a:p>
            <a:r>
              <a:rPr lang="en-US" dirty="0"/>
              <a:t>Once deadline is over, no assignment will be accepted. </a:t>
            </a:r>
          </a:p>
          <a:p>
            <a:r>
              <a:rPr lang="en-US" dirty="0"/>
              <a:t>Plagiarism will be checked for each assignment (Where Applicable).</a:t>
            </a:r>
          </a:p>
          <a:p>
            <a:endParaRPr lang="en-US" dirty="0"/>
          </a:p>
        </p:txBody>
      </p:sp>
    </p:spTree>
    <p:extLst>
      <p:ext uri="{BB962C8B-B14F-4D97-AF65-F5344CB8AC3E}">
        <p14:creationId xmlns:p14="http://schemas.microsoft.com/office/powerpoint/2010/main" val="2807175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4800" b="1" dirty="0"/>
              <a:t>Operating System</a:t>
            </a:r>
          </a:p>
        </p:txBody>
      </p:sp>
      <p:sp>
        <p:nvSpPr>
          <p:cNvPr id="3" name="Text Placeholder 2">
            <a:extLst>
              <a:ext uri="{FF2B5EF4-FFF2-40B4-BE49-F238E27FC236}">
                <a16:creationId xmlns:a16="http://schemas.microsoft.com/office/drawing/2014/main" id="{F07A7F20-EE62-BF25-16C6-9AB724BF4686}"/>
              </a:ext>
            </a:extLst>
          </p:cNvPr>
          <p:cNvSpPr>
            <a:spLocks noGrp="1"/>
          </p:cNvSpPr>
          <p:nvPr>
            <p:ph type="body" idx="1"/>
          </p:nvPr>
        </p:nvSpPr>
        <p:spPr/>
        <p:txBody>
          <a:bodyPr/>
          <a:lstStyle/>
          <a:p>
            <a:r>
              <a:rPr lang="en-GB" dirty="0"/>
              <a:t>Introduction </a:t>
            </a:r>
            <a:endParaRPr lang="en-US" dirty="0"/>
          </a:p>
        </p:txBody>
      </p:sp>
    </p:spTree>
    <p:extLst>
      <p:ext uri="{BB962C8B-B14F-4D97-AF65-F5344CB8AC3E}">
        <p14:creationId xmlns:p14="http://schemas.microsoft.com/office/powerpoint/2010/main" val="380356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9733" y="170392"/>
            <a:ext cx="10515600" cy="1325563"/>
          </a:xfrm>
        </p:spPr>
        <p:txBody>
          <a:bodyPr/>
          <a:lstStyle/>
          <a:p>
            <a:pPr algn="ctr"/>
            <a:r>
              <a:rPr lang="en-US" b="1" dirty="0">
                <a:solidFill>
                  <a:schemeClr val="accent4"/>
                </a:solidFill>
              </a:rPr>
              <a:t>Overview</a:t>
            </a:r>
          </a:p>
        </p:txBody>
      </p:sp>
      <p:sp>
        <p:nvSpPr>
          <p:cNvPr id="3" name="Content Placeholder 2"/>
          <p:cNvSpPr>
            <a:spLocks noGrp="1"/>
          </p:cNvSpPr>
          <p:nvPr>
            <p:ph idx="1"/>
          </p:nvPr>
        </p:nvSpPr>
        <p:spPr/>
        <p:txBody>
          <a:bodyPr>
            <a:normAutofit/>
          </a:bodyPr>
          <a:lstStyle/>
          <a:p>
            <a:pPr algn="just"/>
            <a:r>
              <a:rPr lang="en-US" dirty="0"/>
              <a:t>A computer system has many resources (hardware and software), which may be require to complete a task. </a:t>
            </a:r>
          </a:p>
          <a:p>
            <a:pPr algn="just"/>
            <a:r>
              <a:rPr lang="en-US" dirty="0"/>
              <a:t>The commonly required resources are input/output devices, memory, file storage space, CPU etc.</a:t>
            </a:r>
          </a:p>
          <a:p>
            <a:pPr algn="just"/>
            <a:r>
              <a:rPr lang="en-US" dirty="0"/>
              <a:t>Software also plays a vital role in a computer system</a:t>
            </a:r>
          </a:p>
          <a:p>
            <a:pPr lvl="1" algn="just"/>
            <a:r>
              <a:rPr lang="en-US" dirty="0"/>
              <a:t>Application Software</a:t>
            </a:r>
          </a:p>
          <a:p>
            <a:pPr lvl="1" algn="just"/>
            <a:r>
              <a:rPr lang="en-US" dirty="0"/>
              <a:t>System Software</a:t>
            </a:r>
          </a:p>
          <a:p>
            <a:pPr algn="just"/>
            <a:endParaRPr lang="en-US" dirty="0"/>
          </a:p>
        </p:txBody>
      </p:sp>
    </p:spTree>
    <p:extLst>
      <p:ext uri="{BB962C8B-B14F-4D97-AF65-F5344CB8AC3E}">
        <p14:creationId xmlns:p14="http://schemas.microsoft.com/office/powerpoint/2010/main" val="3674757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4192"/>
            <a:ext cx="10515600" cy="1325563"/>
          </a:xfrm>
        </p:spPr>
        <p:txBody>
          <a:bodyPr>
            <a:normAutofit/>
          </a:bodyPr>
          <a:lstStyle/>
          <a:p>
            <a:pPr algn="ctr"/>
            <a:r>
              <a:rPr lang="en-US" b="1" dirty="0">
                <a:solidFill>
                  <a:schemeClr val="accent4"/>
                </a:solidFill>
              </a:rPr>
              <a:t>What is Operating System?</a:t>
            </a:r>
          </a:p>
        </p:txBody>
      </p:sp>
      <p:sp>
        <p:nvSpPr>
          <p:cNvPr id="3" name="Content Placeholder 2"/>
          <p:cNvSpPr>
            <a:spLocks noGrp="1"/>
          </p:cNvSpPr>
          <p:nvPr>
            <p:ph idx="1"/>
          </p:nvPr>
        </p:nvSpPr>
        <p:spPr/>
        <p:txBody>
          <a:bodyPr>
            <a:normAutofit lnSpcReduction="10000"/>
          </a:bodyPr>
          <a:lstStyle/>
          <a:p>
            <a:pPr algn="just"/>
            <a:r>
              <a:rPr lang="en-US" dirty="0"/>
              <a:t>A program that acts as an intermediary between a user of a computer and the computer hardware</a:t>
            </a:r>
          </a:p>
          <a:p>
            <a:pPr algn="just"/>
            <a:r>
              <a:rPr lang="en-GB" dirty="0"/>
              <a:t>An operating system (OS) is essential system software that manages computer hardware and software resources, serving as an intermediary between users and the computer. It handles crucial tasks like process management, memory allocation, input/output control, and file management, enabling applications to run efficiently. Common examples include Android, Microsoft Windows, iOS, and </a:t>
            </a:r>
            <a:r>
              <a:rPr lang="en-GB" dirty="0" err="1"/>
              <a:t>macOS</a:t>
            </a:r>
            <a:r>
              <a:rPr lang="en-GB" dirty="0"/>
              <a:t>. </a:t>
            </a:r>
            <a:endParaRPr lang="en-US" dirty="0"/>
          </a:p>
          <a:p>
            <a:r>
              <a:rPr lang="en-GB" dirty="0"/>
              <a:t>Without an operating system, a computer would not be able to function, as it acts as the foundation for all application software. </a:t>
            </a:r>
            <a:endParaRPr lang="en-US" dirty="0"/>
          </a:p>
        </p:txBody>
      </p:sp>
    </p:spTree>
    <p:extLst>
      <p:ext uri="{BB962C8B-B14F-4D97-AF65-F5344CB8AC3E}">
        <p14:creationId xmlns:p14="http://schemas.microsoft.com/office/powerpoint/2010/main" val="3275840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7400" y="85725"/>
            <a:ext cx="10515600" cy="1325563"/>
          </a:xfrm>
        </p:spPr>
        <p:txBody>
          <a:bodyPr/>
          <a:lstStyle/>
          <a:p>
            <a:pPr algn="ctr"/>
            <a:r>
              <a:rPr lang="en-US" b="1" dirty="0">
                <a:solidFill>
                  <a:schemeClr val="accent4"/>
                </a:solidFill>
              </a:rPr>
              <a:t>Operating System</a:t>
            </a:r>
          </a:p>
        </p:txBody>
      </p:sp>
      <p:sp>
        <p:nvSpPr>
          <p:cNvPr id="3" name="Content Placeholder 2"/>
          <p:cNvSpPr>
            <a:spLocks noGrp="1"/>
          </p:cNvSpPr>
          <p:nvPr>
            <p:ph idx="1"/>
          </p:nvPr>
        </p:nvSpPr>
        <p:spPr/>
        <p:txBody>
          <a:bodyPr/>
          <a:lstStyle/>
          <a:p>
            <a:pPr algn="just"/>
            <a:r>
              <a:rPr lang="en-US" dirty="0"/>
              <a:t>In technical terms, operating system is the resource manager i.e. it can manage the resource of a computer system internally.</a:t>
            </a:r>
          </a:p>
          <a:p>
            <a:pPr algn="just"/>
            <a:r>
              <a:rPr lang="en-US" dirty="0"/>
              <a:t>The resources are; processor, memory, storage, I/O Devices, files etc.</a:t>
            </a:r>
          </a:p>
        </p:txBody>
      </p:sp>
      <p:pic>
        <p:nvPicPr>
          <p:cNvPr id="4" name="Picture 5" descr="rhpe0090bx"/>
          <p:cNvPicPr>
            <a:picLocks noChangeAspect="1" noChangeArrowheads="1"/>
          </p:cNvPicPr>
          <p:nvPr/>
        </p:nvPicPr>
        <p:blipFill>
          <a:blip r:embed="rId2" cstate="print"/>
          <a:srcRect/>
          <a:stretch>
            <a:fillRect/>
          </a:stretch>
        </p:blipFill>
        <p:spPr bwMode="auto">
          <a:xfrm>
            <a:off x="8331200" y="4038600"/>
            <a:ext cx="2971800" cy="2228850"/>
          </a:xfrm>
          <a:prstGeom prst="rect">
            <a:avLst/>
          </a:prstGeom>
          <a:noFill/>
          <a:ln w="9525">
            <a:noFill/>
            <a:miter lim="800000"/>
            <a:headEnd/>
            <a:tailEnd/>
          </a:ln>
        </p:spPr>
      </p:pic>
    </p:spTree>
    <p:extLst>
      <p:ext uri="{BB962C8B-B14F-4D97-AF65-F5344CB8AC3E}">
        <p14:creationId xmlns:p14="http://schemas.microsoft.com/office/powerpoint/2010/main" val="294661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solidFill>
                  <a:schemeClr val="accent4"/>
                </a:solidFill>
              </a:rPr>
              <a:t>Computer-System Organization</a:t>
            </a:r>
            <a:br>
              <a:rPr lang="en-US" sz="3200" b="1" dirty="0">
                <a:solidFill>
                  <a:schemeClr val="accent4"/>
                </a:solidFill>
              </a:rPr>
            </a:br>
            <a:endParaRPr lang="en-US" sz="3200" dirty="0">
              <a:solidFill>
                <a:schemeClr val="accent4"/>
              </a:solidFill>
            </a:endParaRPr>
          </a:p>
        </p:txBody>
      </p:sp>
      <p:sp>
        <p:nvSpPr>
          <p:cNvPr id="3" name="Content Placeholder 2"/>
          <p:cNvSpPr>
            <a:spLocks noGrp="1"/>
          </p:cNvSpPr>
          <p:nvPr>
            <p:ph idx="1"/>
          </p:nvPr>
        </p:nvSpPr>
        <p:spPr/>
        <p:txBody>
          <a:bodyPr>
            <a:normAutofit/>
          </a:bodyPr>
          <a:lstStyle/>
          <a:p>
            <a:pPr algn="just"/>
            <a:r>
              <a:rPr lang="en-US" dirty="0"/>
              <a:t>A modern computer system consists of one or more CPUs and multiple device controllers, all connected via a common bus to shared memory. Each device controller manages a specific type of device (e.g., disk drives, audio, video). The CPU and controllers operate in parallel, with a memory controller ensuring synchronized access.</a:t>
            </a:r>
          </a:p>
          <a:p>
            <a:pPr algn="just"/>
            <a:r>
              <a:rPr lang="en-US" dirty="0"/>
              <a:t>When powered on or rebooted, the system runs a bootstrap program stored in ROM or EEPROM (firmware). This program initializes the system, sets up hardware components, and loads the operating system for execution. For completing this goal, the bootstrap program must locate the operating-system kernel and load it into memory.</a:t>
            </a:r>
          </a:p>
          <a:p>
            <a:pPr marL="0" indent="0" algn="just">
              <a:buNone/>
            </a:pPr>
            <a:endParaRPr lang="en-US" dirty="0"/>
          </a:p>
        </p:txBody>
      </p:sp>
    </p:spTree>
    <p:extLst>
      <p:ext uri="{BB962C8B-B14F-4D97-AF65-F5344CB8AC3E}">
        <p14:creationId xmlns:p14="http://schemas.microsoft.com/office/powerpoint/2010/main" val="2219977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11D01-CA66-44D1-818E-7E9EF6B37743}"/>
              </a:ext>
            </a:extLst>
          </p:cNvPr>
          <p:cNvSpPr>
            <a:spLocks noGrp="1"/>
          </p:cNvSpPr>
          <p:nvPr>
            <p:ph type="title"/>
          </p:nvPr>
        </p:nvSpPr>
        <p:spPr>
          <a:xfrm>
            <a:off x="838200" y="-168275"/>
            <a:ext cx="10515600" cy="1325563"/>
          </a:xfrm>
        </p:spPr>
        <p:txBody>
          <a:bodyPr/>
          <a:lstStyle/>
          <a:p>
            <a:pPr algn="ctr"/>
            <a:r>
              <a:rPr lang="en-US" b="1" dirty="0">
                <a:solidFill>
                  <a:schemeClr val="bg1"/>
                </a:solidFill>
              </a:rPr>
              <a:t>Explanation</a:t>
            </a:r>
          </a:p>
        </p:txBody>
      </p:sp>
      <p:sp>
        <p:nvSpPr>
          <p:cNvPr id="3" name="Content Placeholder 2">
            <a:extLst>
              <a:ext uri="{FF2B5EF4-FFF2-40B4-BE49-F238E27FC236}">
                <a16:creationId xmlns:a16="http://schemas.microsoft.com/office/drawing/2014/main" id="{20D82496-8E3E-445D-8A22-32D5F32D4275}"/>
              </a:ext>
            </a:extLst>
          </p:cNvPr>
          <p:cNvSpPr>
            <a:spLocks noGrp="1"/>
          </p:cNvSpPr>
          <p:nvPr>
            <p:ph idx="1"/>
          </p:nvPr>
        </p:nvSpPr>
        <p:spPr/>
        <p:txBody>
          <a:bodyPr>
            <a:normAutofit lnSpcReduction="10000"/>
          </a:bodyPr>
          <a:lstStyle/>
          <a:p>
            <a:r>
              <a:rPr lang="en-US" dirty="0"/>
              <a:t>A </a:t>
            </a:r>
            <a:r>
              <a:rPr lang="en-US" b="1" dirty="0"/>
              <a:t>computer system</a:t>
            </a:r>
            <a:r>
              <a:rPr lang="en-US" dirty="0"/>
              <a:t> is like a team where everyone has a specific job:</a:t>
            </a:r>
          </a:p>
          <a:p>
            <a:pPr>
              <a:buFont typeface="Arial" panose="020B0604020202020204" pitchFamily="34" charset="0"/>
              <a:buChar char="•"/>
            </a:pPr>
            <a:r>
              <a:rPr lang="en-US" b="1" dirty="0"/>
              <a:t>CPU (Brain):</a:t>
            </a:r>
            <a:br>
              <a:rPr lang="en-US" dirty="0"/>
            </a:br>
            <a:r>
              <a:rPr lang="en-US" dirty="0"/>
              <a:t>The CPU is like the </a:t>
            </a:r>
            <a:r>
              <a:rPr lang="en-US" b="1" dirty="0"/>
              <a:t>manager</a:t>
            </a:r>
            <a:r>
              <a:rPr lang="en-US" dirty="0"/>
              <a:t>. It makes decisions and tells others what to do.</a:t>
            </a:r>
          </a:p>
          <a:p>
            <a:pPr>
              <a:buFont typeface="Arial" panose="020B0604020202020204" pitchFamily="34" charset="0"/>
              <a:buChar char="•"/>
            </a:pPr>
            <a:r>
              <a:rPr lang="en-US" b="1" dirty="0"/>
              <a:t>Device Controllers (Helpers):</a:t>
            </a:r>
            <a:br>
              <a:rPr lang="en-US" dirty="0"/>
            </a:br>
            <a:r>
              <a:rPr lang="en-US" dirty="0"/>
              <a:t>Each device (keyboard, mouse, hard disk, speakers, screen) has its own </a:t>
            </a:r>
            <a:r>
              <a:rPr lang="en-US" b="1" dirty="0"/>
              <a:t>helper</a:t>
            </a:r>
            <a:r>
              <a:rPr lang="en-US" dirty="0"/>
              <a:t> called a controller.</a:t>
            </a:r>
            <a:br>
              <a:rPr lang="en-US" dirty="0"/>
            </a:br>
            <a:r>
              <a:rPr lang="en-US" dirty="0"/>
              <a:t>For example:</a:t>
            </a:r>
          </a:p>
          <a:p>
            <a:pPr marL="742950" lvl="1" indent="-285750">
              <a:buFont typeface="Arial" panose="020B0604020202020204" pitchFamily="34" charset="0"/>
              <a:buChar char="•"/>
            </a:pPr>
            <a:r>
              <a:rPr lang="en-US" dirty="0"/>
              <a:t>Disk controller → handles hard disk</a:t>
            </a:r>
          </a:p>
          <a:p>
            <a:pPr marL="742950" lvl="1" indent="-285750">
              <a:buFont typeface="Arial" panose="020B0604020202020204" pitchFamily="34" charset="0"/>
              <a:buChar char="•"/>
            </a:pPr>
            <a:r>
              <a:rPr lang="en-US" dirty="0"/>
              <a:t>Audio controller → handles sound</a:t>
            </a:r>
          </a:p>
          <a:p>
            <a:pPr marL="742950" lvl="1" indent="-285750">
              <a:buFont typeface="Arial" panose="020B0604020202020204" pitchFamily="34" charset="0"/>
              <a:buChar char="•"/>
            </a:pPr>
            <a:r>
              <a:rPr lang="en-US" dirty="0"/>
              <a:t>Video controller → handles display</a:t>
            </a:r>
          </a:p>
          <a:p>
            <a:endParaRPr lang="en-US" dirty="0"/>
          </a:p>
        </p:txBody>
      </p:sp>
    </p:spTree>
    <p:extLst>
      <p:ext uri="{BB962C8B-B14F-4D97-AF65-F5344CB8AC3E}">
        <p14:creationId xmlns:p14="http://schemas.microsoft.com/office/powerpoint/2010/main" val="446208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16007" y="1947281"/>
            <a:ext cx="7818120" cy="4023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540877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A3AB6-005A-4610-97D2-D609A210DE4B}"/>
              </a:ext>
            </a:extLst>
          </p:cNvPr>
          <p:cNvSpPr>
            <a:spLocks noGrp="1"/>
          </p:cNvSpPr>
          <p:nvPr>
            <p:ph type="title"/>
          </p:nvPr>
        </p:nvSpPr>
        <p:spPr/>
        <p:txBody>
          <a:bodyPr/>
          <a:lstStyle/>
          <a:p>
            <a:pPr algn="ctr"/>
            <a:r>
              <a:rPr lang="en-US" b="1" dirty="0">
                <a:solidFill>
                  <a:schemeClr val="accent4"/>
                </a:solidFill>
              </a:rPr>
              <a:t>Storage Structure</a:t>
            </a:r>
            <a:br>
              <a:rPr lang="en-US" b="1" dirty="0">
                <a:solidFill>
                  <a:schemeClr val="accent4"/>
                </a:solidFill>
              </a:rPr>
            </a:br>
            <a:endParaRPr lang="en-US" dirty="0"/>
          </a:p>
        </p:txBody>
      </p:sp>
      <p:sp>
        <p:nvSpPr>
          <p:cNvPr id="4" name="Rectangle 1">
            <a:extLst>
              <a:ext uri="{FF2B5EF4-FFF2-40B4-BE49-F238E27FC236}">
                <a16:creationId xmlns:a16="http://schemas.microsoft.com/office/drawing/2014/main" id="{EEFF1965-EFD6-4BE5-9B72-B78339830685}"/>
              </a:ext>
            </a:extLst>
          </p:cNvPr>
          <p:cNvSpPr>
            <a:spLocks noGrp="1" noChangeArrowheads="1"/>
          </p:cNvSpPr>
          <p:nvPr>
            <p:ph idx="1"/>
          </p:nvPr>
        </p:nvSpPr>
        <p:spPr bwMode="auto">
          <a:xfrm>
            <a:off x="838200" y="2219236"/>
            <a:ext cx="105156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The </a:t>
            </a:r>
            <a:r>
              <a:rPr kumimoji="0" lang="en-US" altLang="en-US" b="1" i="0" u="none" strike="noStrike" cap="none" normalizeH="0" baseline="0" dirty="0">
                <a:ln>
                  <a:noFill/>
                </a:ln>
                <a:solidFill>
                  <a:schemeClr val="tx1"/>
                </a:solidFill>
                <a:effectLst/>
                <a:latin typeface="Arial" panose="020B0604020202020204" pitchFamily="34" charset="0"/>
              </a:rPr>
              <a:t>CPU</a:t>
            </a:r>
            <a:r>
              <a:rPr kumimoji="0" lang="en-US" altLang="en-US" b="0" i="0" u="none" strike="noStrike" cap="none" normalizeH="0" baseline="0" dirty="0">
                <a:ln>
                  <a:noFill/>
                </a:ln>
                <a:solidFill>
                  <a:schemeClr val="tx1"/>
                </a:solidFill>
                <a:effectLst/>
                <a:latin typeface="Arial" panose="020B0604020202020204" pitchFamily="34" charset="0"/>
              </a:rPr>
              <a:t> is the </a:t>
            </a:r>
            <a:r>
              <a:rPr kumimoji="0" lang="en-US" altLang="en-US" b="1" i="0" u="none" strike="noStrike" cap="none" normalizeH="0" baseline="0" dirty="0">
                <a:ln>
                  <a:noFill/>
                </a:ln>
                <a:solidFill>
                  <a:schemeClr val="tx1"/>
                </a:solidFill>
                <a:effectLst/>
                <a:latin typeface="Arial" panose="020B0604020202020204" pitchFamily="34" charset="0"/>
              </a:rPr>
              <a:t>brain</a:t>
            </a:r>
            <a:r>
              <a:rPr kumimoji="0" lang="en-US" altLang="en-US" b="0" i="0" u="none" strike="noStrike" cap="none" normalizeH="0" baseline="0" dirty="0">
                <a:ln>
                  <a:noFill/>
                </a:ln>
                <a:solidFill>
                  <a:schemeClr val="tx1"/>
                </a:solidFill>
                <a:effectLst/>
                <a:latin typeface="Arial" panose="020B0604020202020204" pitchFamily="34" charset="0"/>
              </a:rPr>
              <a:t> of the computer.</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The CPU can only </a:t>
            </a:r>
            <a:r>
              <a:rPr kumimoji="0" lang="en-US" altLang="en-US" b="1" i="0" u="none" strike="noStrike" cap="none" normalizeH="0" baseline="0" dirty="0">
                <a:ln>
                  <a:noFill/>
                </a:ln>
                <a:solidFill>
                  <a:schemeClr val="tx1"/>
                </a:solidFill>
                <a:effectLst/>
                <a:latin typeface="Arial" panose="020B0604020202020204" pitchFamily="34" charset="0"/>
              </a:rPr>
              <a:t>work with instructions that are in RAM</a:t>
            </a:r>
            <a:r>
              <a:rPr kumimoji="0" lang="en-US" altLang="en-US" b="0" i="0" u="none" strike="noStrike" cap="none" normalizeH="0" baseline="0" dirty="0">
                <a:ln>
                  <a:noFill/>
                </a:ln>
                <a:solidFill>
                  <a:schemeClr val="tx1"/>
                </a:solidFill>
                <a:effectLst/>
                <a:latin typeface="Arial" panose="020B0604020202020204" pitchFamily="34" charset="0"/>
              </a:rPr>
              <a:t> (main memory).</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Arial" panose="020B0604020202020204" pitchFamily="34" charset="0"/>
              </a:rPr>
              <a:t>RAM (DRAM)</a:t>
            </a:r>
            <a:r>
              <a:rPr kumimoji="0" lang="en-US" altLang="en-US" b="0" i="0" u="none" strike="noStrike" cap="none" normalizeH="0" baseline="0" dirty="0">
                <a:ln>
                  <a:noFill/>
                </a:ln>
                <a:solidFill>
                  <a:schemeClr val="tx1"/>
                </a:solidFill>
                <a:effectLst/>
                <a:latin typeface="Arial" panose="020B0604020202020204" pitchFamily="34" charset="0"/>
              </a:rPr>
              <a:t> is fast and used for daily work.</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Programs like Word, browser, etc., are stored in </a:t>
            </a:r>
            <a:r>
              <a:rPr kumimoji="0" lang="en-US" altLang="en-US" b="1" i="0" u="none" strike="noStrike" cap="none" normalizeH="0" baseline="0" dirty="0">
                <a:ln>
                  <a:noFill/>
                </a:ln>
                <a:solidFill>
                  <a:schemeClr val="tx1"/>
                </a:solidFill>
                <a:effectLst/>
                <a:latin typeface="Arial" panose="020B0604020202020204" pitchFamily="34" charset="0"/>
              </a:rPr>
              <a:t>rewritable memory</a:t>
            </a:r>
            <a:r>
              <a:rPr kumimoji="0" lang="en-US" altLang="en-US" b="0" i="0" u="none" strike="noStrike" cap="none" normalizeH="0" baseline="0" dirty="0">
                <a:ln>
                  <a:noFill/>
                </a:ln>
                <a:solidFill>
                  <a:schemeClr val="tx1"/>
                </a:solidFill>
                <a:effectLst/>
                <a:latin typeface="Arial" panose="020B0604020202020204" pitchFamily="34" charset="0"/>
              </a:rPr>
              <a:t> so they can be changed.</a:t>
            </a:r>
          </a:p>
        </p:txBody>
      </p:sp>
    </p:spTree>
    <p:extLst>
      <p:ext uri="{BB962C8B-B14F-4D97-AF65-F5344CB8AC3E}">
        <p14:creationId xmlns:p14="http://schemas.microsoft.com/office/powerpoint/2010/main" val="39046605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8D2B04-F5E1-47E6-9A9B-7FCBFE02D4B2}"/>
              </a:ext>
            </a:extLst>
          </p:cNvPr>
          <p:cNvSpPr>
            <a:spLocks noGrp="1"/>
          </p:cNvSpPr>
          <p:nvPr>
            <p:ph idx="1"/>
          </p:nvPr>
        </p:nvSpPr>
        <p:spPr>
          <a:xfrm>
            <a:off x="838200" y="1112521"/>
            <a:ext cx="10515600" cy="5064444"/>
          </a:xfrm>
        </p:spPr>
        <p:txBody>
          <a:bodyPr/>
          <a:lstStyle/>
          <a:p>
            <a:r>
              <a:rPr lang="en-US" b="1" dirty="0"/>
              <a:t>ROM and EEPROM (Why They Are Different)</a:t>
            </a:r>
          </a:p>
          <a:p>
            <a:pPr marL="0" indent="0">
              <a:buNone/>
            </a:pPr>
            <a:r>
              <a:rPr lang="en-US" b="1" dirty="0"/>
              <a:t>ROM / EEPROM</a:t>
            </a:r>
            <a:r>
              <a:rPr lang="en-US" dirty="0"/>
              <a:t> store </a:t>
            </a:r>
            <a:r>
              <a:rPr lang="en-US" b="1" dirty="0"/>
              <a:t>fixed programs</a:t>
            </a:r>
            <a:r>
              <a:rPr lang="en-US" dirty="0"/>
              <a:t> that do not change often.</a:t>
            </a:r>
          </a:p>
          <a:p>
            <a:pPr marL="0" indent="0">
              <a:buNone/>
            </a:pPr>
            <a:r>
              <a:rPr lang="en-US" dirty="0"/>
              <a:t>The </a:t>
            </a:r>
            <a:r>
              <a:rPr lang="en-GB" b="1" dirty="0" err="1"/>
              <a:t>c++</a:t>
            </a:r>
            <a:r>
              <a:rPr lang="en-US" b="1" dirty="0"/>
              <a:t> program</a:t>
            </a:r>
            <a:r>
              <a:rPr lang="en-US" dirty="0"/>
              <a:t> is stored here.</a:t>
            </a:r>
          </a:p>
          <a:p>
            <a:pPr marL="0" indent="0">
              <a:buNone/>
            </a:pPr>
            <a:r>
              <a:rPr lang="en-US" dirty="0"/>
              <a:t>This program helps the computer </a:t>
            </a:r>
            <a:r>
              <a:rPr lang="en-US" b="1" dirty="0"/>
              <a:t>start up</a:t>
            </a:r>
            <a:r>
              <a:rPr lang="en-US" dirty="0"/>
              <a:t> and load the operating system.</a:t>
            </a:r>
          </a:p>
          <a:p>
            <a:pPr marL="0" indent="0">
              <a:buNone/>
            </a:pPr>
            <a:endParaRPr lang="en-US" dirty="0"/>
          </a:p>
          <a:p>
            <a:r>
              <a:rPr lang="en-US" b="1" dirty="0"/>
              <a:t>Memory and Addresses (Very Simple)</a:t>
            </a:r>
          </a:p>
          <a:p>
            <a:pPr marL="0" indent="0">
              <a:buNone/>
            </a:pPr>
            <a:r>
              <a:rPr lang="en-US" dirty="0"/>
              <a:t>Memory is made of </a:t>
            </a:r>
            <a:r>
              <a:rPr lang="en-US" b="1" dirty="0"/>
              <a:t>small boxes called bytes</a:t>
            </a:r>
            <a:r>
              <a:rPr lang="en-US" dirty="0"/>
              <a:t>.</a:t>
            </a:r>
          </a:p>
          <a:p>
            <a:pPr marL="0" indent="0">
              <a:buNone/>
            </a:pPr>
            <a:r>
              <a:rPr lang="en-US" dirty="0"/>
              <a:t>Each box has a </a:t>
            </a:r>
            <a:r>
              <a:rPr lang="en-US" b="1" dirty="0"/>
              <a:t>unique address</a:t>
            </a:r>
            <a:r>
              <a:rPr lang="en-US" dirty="0"/>
              <a:t>, like house numbers on a street.</a:t>
            </a:r>
          </a:p>
          <a:p>
            <a:pPr marL="0" indent="0">
              <a:buNone/>
            </a:pPr>
            <a:r>
              <a:rPr lang="en-US" dirty="0"/>
              <a:t>The CPU uses these addresses to find </a:t>
            </a:r>
            <a:r>
              <a:rPr lang="en-US" b="1" dirty="0"/>
              <a:t>exact data</a:t>
            </a:r>
            <a:r>
              <a:rPr lang="en-US" dirty="0"/>
              <a:t>.</a:t>
            </a:r>
          </a:p>
          <a:p>
            <a:endParaRPr lang="en-US" dirty="0"/>
          </a:p>
        </p:txBody>
      </p:sp>
    </p:spTree>
    <p:extLst>
      <p:ext uri="{BB962C8B-B14F-4D97-AF65-F5344CB8AC3E}">
        <p14:creationId xmlns:p14="http://schemas.microsoft.com/office/powerpoint/2010/main" val="12150509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just">
              <a:buNone/>
            </a:pPr>
            <a:r>
              <a:rPr lang="en-US" dirty="0"/>
              <a:t>A computer executes instructions by </a:t>
            </a:r>
            <a:r>
              <a:rPr lang="en-US" b="1" dirty="0"/>
              <a:t>fetching, decoding, and executing</a:t>
            </a:r>
            <a:r>
              <a:rPr lang="en-US" dirty="0"/>
              <a:t> them, then storing the results in memory. </a:t>
            </a:r>
            <a:r>
              <a:rPr lang="en-US" b="1" dirty="0"/>
              <a:t>Main memory (RAM)</a:t>
            </a:r>
            <a:r>
              <a:rPr lang="en-US" dirty="0"/>
              <a:t> is fast but limited and loses data when power is off, so </a:t>
            </a:r>
            <a:r>
              <a:rPr lang="en-US" b="1" dirty="0"/>
              <a:t>secondary storage</a:t>
            </a:r>
            <a:r>
              <a:rPr lang="en-US" dirty="0"/>
              <a:t> like disks is used for permanent storage. Different storage types (registers, cache, RAM, disks, CDs) vary in speed, size, cost, and volatility, and efficient storage management improves system performance.</a:t>
            </a:r>
          </a:p>
        </p:txBody>
      </p:sp>
    </p:spTree>
    <p:extLst>
      <p:ext uri="{BB962C8B-B14F-4D97-AF65-F5344CB8AC3E}">
        <p14:creationId xmlns:p14="http://schemas.microsoft.com/office/powerpoint/2010/main" val="10760941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90762" y="1393825"/>
            <a:ext cx="5451676"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04117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0"/>
            <a:ext cx="10515600" cy="1325563"/>
          </a:xfrm>
        </p:spPr>
        <p:txBody>
          <a:bodyPr/>
          <a:lstStyle/>
          <a:p>
            <a:pPr algn="ctr"/>
            <a:r>
              <a:rPr lang="en-US" b="1" dirty="0">
                <a:solidFill>
                  <a:schemeClr val="accent4"/>
                </a:solidFill>
              </a:rPr>
              <a:t>I/O Structure</a:t>
            </a:r>
          </a:p>
        </p:txBody>
      </p:sp>
      <p:sp>
        <p:nvSpPr>
          <p:cNvPr id="3" name="Content Placeholder 2"/>
          <p:cNvSpPr>
            <a:spLocks noGrp="1"/>
          </p:cNvSpPr>
          <p:nvPr>
            <p:ph idx="1"/>
          </p:nvPr>
        </p:nvSpPr>
        <p:spPr/>
        <p:txBody>
          <a:bodyPr>
            <a:normAutofit lnSpcReduction="10000"/>
          </a:bodyPr>
          <a:lstStyle/>
          <a:p>
            <a:pPr algn="just"/>
            <a:r>
              <a:rPr lang="en-US" dirty="0"/>
              <a:t>In a computer, </a:t>
            </a:r>
            <a:r>
              <a:rPr lang="en-US" b="1" dirty="0"/>
              <a:t>input/output (I/O) devices</a:t>
            </a:r>
            <a:r>
              <a:rPr lang="en-US" dirty="0"/>
              <a:t> like keyboards, printers, and disks are managed using </a:t>
            </a:r>
            <a:r>
              <a:rPr lang="en-US" b="1" dirty="0"/>
              <a:t>device controllers and device drivers</a:t>
            </a:r>
            <a:r>
              <a:rPr lang="en-US" dirty="0"/>
              <a:t>. A device controller directly controls a specific device and temporarily stores data in its own buffer, while a device driver is software that helps the operating system communicate with the device in a standard and easy way.</a:t>
            </a:r>
          </a:p>
          <a:p>
            <a:pPr algn="just"/>
            <a:r>
              <a:rPr lang="en-US" dirty="0"/>
              <a:t>For I/O operations, the driver sets up the controller, which performs the data transfer. The controller signals completion via an interrupt. For large data transfers, </a:t>
            </a:r>
            <a:r>
              <a:rPr lang="en-US" b="1" dirty="0"/>
              <a:t>Direct Memory Access (DMA)</a:t>
            </a:r>
            <a:r>
              <a:rPr lang="en-US" dirty="0"/>
              <a:t> allows controllers to transfer entire blocks of data directly to or from memory with minimal CPU involvement, reducing overhead and improving efficiency.</a:t>
            </a:r>
          </a:p>
          <a:p>
            <a:pPr marL="0" indent="0">
              <a:buNone/>
            </a:pPr>
            <a:endParaRPr lang="en-US" dirty="0"/>
          </a:p>
        </p:txBody>
      </p:sp>
    </p:spTree>
    <p:extLst>
      <p:ext uri="{BB962C8B-B14F-4D97-AF65-F5344CB8AC3E}">
        <p14:creationId xmlns:p14="http://schemas.microsoft.com/office/powerpoint/2010/main" val="19083531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62DE3-3EB5-4C89-ACF5-B373AEE9328B}"/>
              </a:ext>
            </a:extLst>
          </p:cNvPr>
          <p:cNvSpPr>
            <a:spLocks noGrp="1"/>
          </p:cNvSpPr>
          <p:nvPr>
            <p:ph type="title"/>
          </p:nvPr>
        </p:nvSpPr>
        <p:spPr/>
        <p:txBody>
          <a:bodyPr/>
          <a:lstStyle/>
          <a:p>
            <a:pPr algn="ctr"/>
            <a:r>
              <a:rPr lang="en-US" b="1" dirty="0">
                <a:solidFill>
                  <a:schemeClr val="bg1"/>
                </a:solidFill>
              </a:rPr>
              <a:t>How the System Works:</a:t>
            </a:r>
            <a:br>
              <a:rPr lang="en-US" b="1" dirty="0">
                <a:solidFill>
                  <a:schemeClr val="bg1"/>
                </a:solidFill>
              </a:rPr>
            </a:br>
            <a:endParaRPr lang="en-US" dirty="0">
              <a:solidFill>
                <a:schemeClr val="bg1"/>
              </a:solidFill>
            </a:endParaRPr>
          </a:p>
        </p:txBody>
      </p:sp>
      <p:sp>
        <p:nvSpPr>
          <p:cNvPr id="3" name="Content Placeholder 2">
            <a:extLst>
              <a:ext uri="{FF2B5EF4-FFF2-40B4-BE49-F238E27FC236}">
                <a16:creationId xmlns:a16="http://schemas.microsoft.com/office/drawing/2014/main" id="{07DEEECC-7DF9-4C28-9BC7-397B496B56E7}"/>
              </a:ext>
            </a:extLst>
          </p:cNvPr>
          <p:cNvSpPr>
            <a:spLocks noGrp="1"/>
          </p:cNvSpPr>
          <p:nvPr>
            <p:ph idx="1"/>
          </p:nvPr>
        </p:nvSpPr>
        <p:spPr/>
        <p:txBody>
          <a:bodyPr>
            <a:normAutofit/>
          </a:bodyPr>
          <a:lstStyle/>
          <a:p>
            <a:pPr algn="just"/>
            <a:r>
              <a:rPr lang="en-US" dirty="0"/>
              <a:t>When you click </a:t>
            </a:r>
            <a:r>
              <a:rPr lang="en-US" b="1" dirty="0"/>
              <a:t>Print</a:t>
            </a:r>
            <a:r>
              <a:rPr lang="en-US" dirty="0"/>
              <a:t>, the </a:t>
            </a:r>
            <a:r>
              <a:rPr lang="en-US" b="1" dirty="0"/>
              <a:t>CPU</a:t>
            </a:r>
            <a:r>
              <a:rPr lang="en-US" dirty="0"/>
              <a:t> asks the </a:t>
            </a:r>
            <a:r>
              <a:rPr lang="en-US" b="1" dirty="0"/>
              <a:t>device driver</a:t>
            </a:r>
            <a:r>
              <a:rPr lang="en-US" dirty="0"/>
              <a:t> to handle the task. The driver sets up the </a:t>
            </a:r>
            <a:r>
              <a:rPr lang="en-US" b="1" dirty="0"/>
              <a:t>printer controller</a:t>
            </a:r>
            <a:r>
              <a:rPr lang="en-US" dirty="0"/>
              <a:t> and gives it instructions. The controller starts printing and transfers data. When printing is finished, the printer sends a signal called an </a:t>
            </a:r>
            <a:r>
              <a:rPr lang="en-US" b="1" dirty="0"/>
              <a:t>interrupt</a:t>
            </a:r>
            <a:r>
              <a:rPr lang="en-US" dirty="0"/>
              <a:t> to tell the CPU, </a:t>
            </a:r>
            <a:r>
              <a:rPr lang="en-US" i="1" dirty="0"/>
              <a:t>“I’m done!”</a:t>
            </a:r>
            <a:endParaRPr lang="en-US" dirty="0"/>
          </a:p>
          <a:p>
            <a:pPr algn="just"/>
            <a:r>
              <a:rPr lang="en-US" dirty="0"/>
              <a:t>For a </a:t>
            </a:r>
            <a:r>
              <a:rPr lang="en-US" b="1" dirty="0"/>
              <a:t>large document</a:t>
            </a:r>
            <a:r>
              <a:rPr lang="en-US" dirty="0"/>
              <a:t>, the system uses </a:t>
            </a:r>
            <a:r>
              <a:rPr lang="en-US" b="1" dirty="0"/>
              <a:t>DMA (Direct Memory Access)</a:t>
            </a:r>
            <a:r>
              <a:rPr lang="en-US" dirty="0"/>
              <a:t>. DMA allows the printer controller to take the whole document directly from </a:t>
            </a:r>
            <a:r>
              <a:rPr lang="en-US" b="1" dirty="0"/>
              <a:t>main memory (RAM)</a:t>
            </a:r>
            <a:r>
              <a:rPr lang="en-US" dirty="0"/>
              <a:t> without bothering the CPU for every page. This makes printing faster and lets the CPU do other work at the same time.</a:t>
            </a:r>
          </a:p>
          <a:p>
            <a:endParaRPr lang="en-US" dirty="0"/>
          </a:p>
        </p:txBody>
      </p:sp>
    </p:spTree>
    <p:extLst>
      <p:ext uri="{BB962C8B-B14F-4D97-AF65-F5344CB8AC3E}">
        <p14:creationId xmlns:p14="http://schemas.microsoft.com/office/powerpoint/2010/main" val="24146131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0392"/>
            <a:ext cx="10515600" cy="1325563"/>
          </a:xfrm>
        </p:spPr>
        <p:txBody>
          <a:bodyPr>
            <a:normAutofit/>
          </a:bodyPr>
          <a:lstStyle/>
          <a:p>
            <a:pPr algn="ctr"/>
            <a:r>
              <a:rPr lang="en-US" b="1" dirty="0">
                <a:solidFill>
                  <a:schemeClr val="accent4"/>
                </a:solidFill>
              </a:rPr>
              <a:t>Two Views of Operating System</a:t>
            </a:r>
          </a:p>
        </p:txBody>
      </p:sp>
      <p:sp>
        <p:nvSpPr>
          <p:cNvPr id="3" name="Content Placeholder 2"/>
          <p:cNvSpPr>
            <a:spLocks noGrp="1"/>
          </p:cNvSpPr>
          <p:nvPr>
            <p:ph idx="1"/>
          </p:nvPr>
        </p:nvSpPr>
        <p:spPr/>
        <p:txBody>
          <a:bodyPr>
            <a:normAutofit/>
          </a:bodyPr>
          <a:lstStyle/>
          <a:p>
            <a:r>
              <a:rPr lang="en-US" sz="4400" b="1" dirty="0"/>
              <a:t>User's View</a:t>
            </a:r>
          </a:p>
          <a:p>
            <a:r>
              <a:rPr lang="en-US" sz="4400" b="1" dirty="0"/>
              <a:t>System View</a:t>
            </a:r>
          </a:p>
        </p:txBody>
      </p:sp>
    </p:spTree>
    <p:extLst>
      <p:ext uri="{BB962C8B-B14F-4D97-AF65-F5344CB8AC3E}">
        <p14:creationId xmlns:p14="http://schemas.microsoft.com/office/powerpoint/2010/main" val="10626785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5133" y="77258"/>
            <a:ext cx="10515600" cy="1325563"/>
          </a:xfrm>
        </p:spPr>
        <p:txBody>
          <a:bodyPr/>
          <a:lstStyle/>
          <a:p>
            <a:pPr algn="ctr"/>
            <a:r>
              <a:rPr lang="en-US" b="1" dirty="0">
                <a:solidFill>
                  <a:schemeClr val="accent4"/>
                </a:solidFill>
              </a:rPr>
              <a:t>Operating System: </a:t>
            </a:r>
            <a:r>
              <a:rPr lang="en-US" dirty="0">
                <a:solidFill>
                  <a:schemeClr val="accent4"/>
                </a:solidFill>
              </a:rPr>
              <a:t>User View</a:t>
            </a:r>
          </a:p>
        </p:txBody>
      </p:sp>
      <p:sp>
        <p:nvSpPr>
          <p:cNvPr id="3" name="Content Placeholder 2"/>
          <p:cNvSpPr>
            <a:spLocks noGrp="1"/>
          </p:cNvSpPr>
          <p:nvPr>
            <p:ph idx="1"/>
          </p:nvPr>
        </p:nvSpPr>
        <p:spPr/>
        <p:txBody>
          <a:bodyPr>
            <a:normAutofit/>
          </a:bodyPr>
          <a:lstStyle/>
          <a:p>
            <a:pPr algn="just"/>
            <a:r>
              <a:rPr lang="en-US" dirty="0"/>
              <a:t>The user view of the computer refers to the interface being used. </a:t>
            </a:r>
          </a:p>
          <a:p>
            <a:pPr algn="just"/>
            <a:r>
              <a:rPr lang="en-US" dirty="0"/>
              <a:t>Such systems are designed for one user to monopolize its resources, to maximize the work that the user is performing.</a:t>
            </a:r>
          </a:p>
          <a:p>
            <a:pPr algn="just"/>
            <a:r>
              <a:rPr lang="en-US" dirty="0"/>
              <a:t> In these cases, the operating system is designed mostly for ease of use, with some attention paid to performance, and none paid to resource utilization.</a:t>
            </a:r>
          </a:p>
        </p:txBody>
      </p:sp>
    </p:spTree>
    <p:extLst>
      <p:ext uri="{BB962C8B-B14F-4D97-AF65-F5344CB8AC3E}">
        <p14:creationId xmlns:p14="http://schemas.microsoft.com/office/powerpoint/2010/main" val="23826063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2658"/>
            <a:ext cx="10515600" cy="1325563"/>
          </a:xfrm>
        </p:spPr>
        <p:txBody>
          <a:bodyPr>
            <a:normAutofit/>
          </a:bodyPr>
          <a:lstStyle/>
          <a:p>
            <a:pPr algn="ctr"/>
            <a:r>
              <a:rPr lang="en-US" b="1" dirty="0">
                <a:solidFill>
                  <a:schemeClr val="accent4"/>
                </a:solidFill>
              </a:rPr>
              <a:t>Operating System: </a:t>
            </a:r>
            <a:r>
              <a:rPr lang="en-US" dirty="0">
                <a:solidFill>
                  <a:schemeClr val="accent4"/>
                </a:solidFill>
              </a:rPr>
              <a:t>System View</a:t>
            </a:r>
          </a:p>
        </p:txBody>
      </p:sp>
      <p:sp>
        <p:nvSpPr>
          <p:cNvPr id="3" name="Content Placeholder 2"/>
          <p:cNvSpPr>
            <a:spLocks noGrp="1"/>
          </p:cNvSpPr>
          <p:nvPr>
            <p:ph idx="1"/>
          </p:nvPr>
        </p:nvSpPr>
        <p:spPr/>
        <p:txBody>
          <a:bodyPr/>
          <a:lstStyle/>
          <a:p>
            <a:pPr algn="just"/>
            <a:r>
              <a:rPr lang="en-US" dirty="0"/>
              <a:t>Operating system can be viewed as a resource allocator also. </a:t>
            </a:r>
          </a:p>
          <a:p>
            <a:pPr algn="just"/>
            <a:r>
              <a:rPr lang="en-US" dirty="0"/>
              <a:t>A computer system consists of many resources like - hardware and software - that must be managed efficiently. </a:t>
            </a:r>
          </a:p>
          <a:p>
            <a:pPr algn="just"/>
            <a:r>
              <a:rPr lang="en-US" dirty="0"/>
              <a:t>The operating system acts as the manager of the resources, decides between conflicting requests, controls execution of programs etc.</a:t>
            </a:r>
          </a:p>
        </p:txBody>
      </p:sp>
    </p:spTree>
    <p:extLst>
      <p:ext uri="{BB962C8B-B14F-4D97-AF65-F5344CB8AC3E}">
        <p14:creationId xmlns:p14="http://schemas.microsoft.com/office/powerpoint/2010/main" val="4783724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3600" y="0"/>
            <a:ext cx="10515600" cy="1325563"/>
          </a:xfrm>
        </p:spPr>
        <p:txBody>
          <a:bodyPr/>
          <a:lstStyle/>
          <a:p>
            <a:pPr algn="ctr"/>
            <a:r>
              <a:rPr lang="en-US" b="1" dirty="0">
                <a:solidFill>
                  <a:schemeClr val="accent4"/>
                </a:solidFill>
              </a:rPr>
              <a:t>What Operating Systems Do</a:t>
            </a:r>
          </a:p>
        </p:txBody>
      </p:sp>
      <p:sp>
        <p:nvSpPr>
          <p:cNvPr id="3" name="Content Placeholder 2"/>
          <p:cNvSpPr>
            <a:spLocks noGrp="1"/>
          </p:cNvSpPr>
          <p:nvPr>
            <p:ph idx="1"/>
          </p:nvPr>
        </p:nvSpPr>
        <p:spPr>
          <a:xfrm>
            <a:off x="816864" y="1600200"/>
            <a:ext cx="10871200" cy="5105400"/>
          </a:xfrm>
        </p:spPr>
        <p:txBody>
          <a:bodyPr>
            <a:noAutofit/>
          </a:bodyPr>
          <a:lstStyle/>
          <a:p>
            <a:pPr algn="just"/>
            <a:r>
              <a:rPr lang="en-US" sz="2200" dirty="0"/>
              <a:t>Depends on the point of view</a:t>
            </a:r>
          </a:p>
          <a:p>
            <a:pPr algn="just"/>
            <a:r>
              <a:rPr lang="en-US" sz="2200" dirty="0"/>
              <a:t>Users want convenience, </a:t>
            </a:r>
            <a:r>
              <a:rPr lang="en-US" sz="2200" b="1" dirty="0">
                <a:solidFill>
                  <a:srgbClr val="3366FF"/>
                </a:solidFill>
              </a:rPr>
              <a:t>ease</a:t>
            </a:r>
            <a:r>
              <a:rPr lang="en-US" sz="2200" dirty="0">
                <a:solidFill>
                  <a:srgbClr val="3366FF"/>
                </a:solidFill>
              </a:rPr>
              <a:t> </a:t>
            </a:r>
            <a:r>
              <a:rPr lang="en-US" sz="2200" b="1" dirty="0">
                <a:solidFill>
                  <a:srgbClr val="3366FF"/>
                </a:solidFill>
              </a:rPr>
              <a:t>of</a:t>
            </a:r>
            <a:r>
              <a:rPr lang="en-US" sz="2200" dirty="0">
                <a:solidFill>
                  <a:srgbClr val="3366FF"/>
                </a:solidFill>
              </a:rPr>
              <a:t> </a:t>
            </a:r>
            <a:r>
              <a:rPr lang="en-US" sz="2200" b="1" dirty="0">
                <a:solidFill>
                  <a:srgbClr val="3366FF"/>
                </a:solidFill>
              </a:rPr>
              <a:t>use </a:t>
            </a:r>
            <a:r>
              <a:rPr lang="en-US" sz="2200" dirty="0"/>
              <a:t>and</a:t>
            </a:r>
            <a:r>
              <a:rPr lang="en-US" sz="2200" b="1" dirty="0">
                <a:solidFill>
                  <a:srgbClr val="3366FF"/>
                </a:solidFill>
              </a:rPr>
              <a:t> good performance </a:t>
            </a:r>
          </a:p>
          <a:p>
            <a:pPr lvl="1" algn="just"/>
            <a:r>
              <a:rPr lang="en-US" sz="2200" dirty="0"/>
              <a:t>Don</a:t>
            </a:r>
            <a:r>
              <a:rPr lang="ja-JP" altLang="en-US" sz="2200" dirty="0"/>
              <a:t>’</a:t>
            </a:r>
            <a:r>
              <a:rPr lang="en-US" altLang="ja-JP" sz="2200" dirty="0"/>
              <a:t>t care about </a:t>
            </a:r>
            <a:r>
              <a:rPr lang="en-US" altLang="ja-JP" sz="2200" b="1" dirty="0">
                <a:solidFill>
                  <a:srgbClr val="3366FF"/>
                </a:solidFill>
              </a:rPr>
              <a:t>resource</a:t>
            </a:r>
            <a:r>
              <a:rPr lang="en-US" altLang="ja-JP" sz="2200" dirty="0">
                <a:solidFill>
                  <a:srgbClr val="3366FF"/>
                </a:solidFill>
              </a:rPr>
              <a:t> </a:t>
            </a:r>
            <a:r>
              <a:rPr lang="en-US" altLang="ja-JP" sz="2200" b="1" dirty="0">
                <a:solidFill>
                  <a:srgbClr val="3366FF"/>
                </a:solidFill>
              </a:rPr>
              <a:t>utilization</a:t>
            </a:r>
          </a:p>
          <a:p>
            <a:pPr algn="just"/>
            <a:r>
              <a:rPr lang="en-US" sz="2200" dirty="0"/>
              <a:t>But shared computer such as </a:t>
            </a:r>
            <a:r>
              <a:rPr lang="en-US" sz="2200" b="1" dirty="0">
                <a:solidFill>
                  <a:srgbClr val="3366FF"/>
                </a:solidFill>
              </a:rPr>
              <a:t>mainframe</a:t>
            </a:r>
            <a:r>
              <a:rPr lang="en-US" sz="2200" dirty="0"/>
              <a:t> or </a:t>
            </a:r>
            <a:r>
              <a:rPr lang="en-US" sz="2200" b="1" dirty="0">
                <a:solidFill>
                  <a:srgbClr val="3366FF"/>
                </a:solidFill>
              </a:rPr>
              <a:t>minicomputer</a:t>
            </a:r>
            <a:r>
              <a:rPr lang="en-US" sz="2200" dirty="0"/>
              <a:t> must keep all users happy</a:t>
            </a:r>
          </a:p>
          <a:p>
            <a:pPr algn="just"/>
            <a:r>
              <a:rPr lang="en-US" sz="2200" dirty="0"/>
              <a:t>Users of dedicate systems such as </a:t>
            </a:r>
            <a:r>
              <a:rPr lang="en-US" sz="2200" b="1" dirty="0">
                <a:solidFill>
                  <a:srgbClr val="3366FF"/>
                </a:solidFill>
              </a:rPr>
              <a:t>workstations</a:t>
            </a:r>
            <a:r>
              <a:rPr lang="en-US" sz="2200" dirty="0"/>
              <a:t> have dedicated resources but frequently use shared resources from </a:t>
            </a:r>
            <a:r>
              <a:rPr lang="en-US" sz="2200" b="1" dirty="0">
                <a:solidFill>
                  <a:srgbClr val="3366FF"/>
                </a:solidFill>
              </a:rPr>
              <a:t>servers</a:t>
            </a:r>
          </a:p>
          <a:p>
            <a:pPr algn="just"/>
            <a:r>
              <a:rPr lang="en-US" sz="2200" dirty="0">
                <a:solidFill>
                  <a:srgbClr val="000000"/>
                </a:solidFill>
              </a:rPr>
              <a:t>Handheld computers are resource poor,  optimized for usability and battery life</a:t>
            </a:r>
          </a:p>
          <a:p>
            <a:pPr algn="just"/>
            <a:r>
              <a:rPr lang="en-US" sz="2200" dirty="0">
                <a:solidFill>
                  <a:srgbClr val="000000"/>
                </a:solidFill>
              </a:rPr>
              <a:t>Some computers have little or no user interface, such as embedded computers in devices and automobiles</a:t>
            </a:r>
          </a:p>
        </p:txBody>
      </p:sp>
    </p:spTree>
    <p:extLst>
      <p:ext uri="{BB962C8B-B14F-4D97-AF65-F5344CB8AC3E}">
        <p14:creationId xmlns:p14="http://schemas.microsoft.com/office/powerpoint/2010/main" val="21402278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ecture 6">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514</TotalTime>
  <Words>1783</Words>
  <Application>Microsoft Office PowerPoint</Application>
  <PresentationFormat>Widescreen</PresentationFormat>
  <Paragraphs>133</Paragraphs>
  <Slides>22</Slides>
  <Notes>0</Notes>
  <HiddenSlides>0</HiddenSlides>
  <MMClips>0</MMClips>
  <ScaleCrop>false</ScaleCrop>
  <HeadingPairs>
    <vt:vector size="4" baseType="variant">
      <vt:variant>
        <vt:lpstr>Theme</vt:lpstr>
      </vt:variant>
      <vt:variant>
        <vt:i4>3</vt:i4>
      </vt:variant>
      <vt:variant>
        <vt:lpstr>Slide Titles</vt:lpstr>
      </vt:variant>
      <vt:variant>
        <vt:i4>22</vt:i4>
      </vt:variant>
    </vt:vector>
  </HeadingPairs>
  <TitlesOfParts>
    <vt:vector size="25" baseType="lpstr">
      <vt:lpstr>Office Theme</vt:lpstr>
      <vt:lpstr>Lecture 6</vt:lpstr>
      <vt:lpstr>1_Office Theme</vt:lpstr>
      <vt:lpstr>Lecture #1</vt:lpstr>
      <vt:lpstr>Operating system  by  Tahmina Asghar</vt:lpstr>
      <vt:lpstr>Marks Distribution</vt:lpstr>
      <vt:lpstr>Rules to Remember</vt:lpstr>
      <vt:lpstr>Rules for Assignments</vt:lpstr>
      <vt:lpstr>Operating System</vt:lpstr>
      <vt:lpstr>Overview</vt:lpstr>
      <vt:lpstr>What is Operating System?</vt:lpstr>
      <vt:lpstr>Operating System</vt:lpstr>
      <vt:lpstr>Computer-System Organization </vt:lpstr>
      <vt:lpstr>Explanation</vt:lpstr>
      <vt:lpstr>PowerPoint Presentation</vt:lpstr>
      <vt:lpstr>Storage Structure </vt:lpstr>
      <vt:lpstr>PowerPoint Presentation</vt:lpstr>
      <vt:lpstr>PowerPoint Presentation</vt:lpstr>
      <vt:lpstr>PowerPoint Presentation</vt:lpstr>
      <vt:lpstr>I/O Structure</vt:lpstr>
      <vt:lpstr>How the System Works: </vt:lpstr>
      <vt:lpstr>Two Views of Operating System</vt:lpstr>
      <vt:lpstr>Operating System: User View</vt:lpstr>
      <vt:lpstr>Operating System: System View</vt:lpstr>
      <vt:lpstr>What Operating Systems Do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Tahmina Rajpoot</cp:lastModifiedBy>
  <cp:revision>158</cp:revision>
  <dcterms:created xsi:type="dcterms:W3CDTF">2024-06-21T09:49:00Z</dcterms:created>
  <dcterms:modified xsi:type="dcterms:W3CDTF">2026-01-29T18:24:58Z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D61AE8DE3F6049F98ADA58C240837B38_12</vt:lpwstr>
  </property>
  <property fmtid="{D5CDD505-2E9C-101B-9397-08002B2CF9AE}" pid="3" name="KSOProductBuildVer">
    <vt:lpwstr>1033-12.2.0.13472</vt:lpwstr>
  </property>
</Properties>
</file>