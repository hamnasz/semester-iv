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sldIdLst>
    <p:sldId id="273" r:id="rId4"/>
    <p:sldId id="907" r:id="rId5"/>
    <p:sldId id="908" r:id="rId6"/>
    <p:sldId id="909" r:id="rId7"/>
    <p:sldId id="910" r:id="rId8"/>
    <p:sldId id="911" r:id="rId9"/>
    <p:sldId id="916" r:id="rId10"/>
    <p:sldId id="912" r:id="rId11"/>
    <p:sldId id="913" r:id="rId12"/>
    <p:sldId id="914" r:id="rId13"/>
    <p:sldId id="915" r:id="rId1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 varScale="1">
        <p:scale>
          <a:sx n="73" d="100"/>
          <a:sy n="73" d="100"/>
        </p:scale>
        <p:origin x="7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2/3/2026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75" y="3253104"/>
            <a:ext cx="12023725" cy="227139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2800" b="1">
                <a:solidFill>
                  <a:schemeClr val="accent4"/>
                </a:solidFill>
                <a:cs typeface="Arial" pitchFamily="34" charset="0"/>
              </a:rPr>
              <a:t>Lecture #2</a:t>
            </a:r>
            <a:endParaRPr lang="en-US" altLang="ko-KR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1026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Computer System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Computer system can be divided into four components:</a:t>
            </a:r>
          </a:p>
          <a:p>
            <a:pPr lvl="1" algn="just"/>
            <a:r>
              <a:rPr lang="en-US" b="1" dirty="0"/>
              <a:t>Hardware</a:t>
            </a:r>
            <a:r>
              <a:rPr lang="en-US" dirty="0"/>
              <a:t> – provides basic computing resources</a:t>
            </a:r>
          </a:p>
          <a:p>
            <a:pPr lvl="2" algn="just"/>
            <a:r>
              <a:rPr lang="en-US" dirty="0"/>
              <a:t>CPU, memory, I/O devices</a:t>
            </a:r>
          </a:p>
          <a:p>
            <a:pPr lvl="1" algn="just"/>
            <a:r>
              <a:rPr lang="en-US" b="1" dirty="0"/>
              <a:t>Operating system</a:t>
            </a:r>
          </a:p>
          <a:p>
            <a:pPr lvl="2" algn="just"/>
            <a:r>
              <a:rPr lang="en-US" dirty="0"/>
              <a:t>Controls and coordinates use of hardware among various applications and users</a:t>
            </a:r>
          </a:p>
          <a:p>
            <a:pPr lvl="1" algn="just"/>
            <a:r>
              <a:rPr lang="en-US" b="1" dirty="0"/>
              <a:t>Application programs </a:t>
            </a:r>
            <a:r>
              <a:rPr lang="en-US" dirty="0"/>
              <a:t>– define the ways in which the system resources are used to solve the computing problems of the users</a:t>
            </a:r>
          </a:p>
          <a:p>
            <a:pPr lvl="2" algn="just"/>
            <a:r>
              <a:rPr lang="en-US" dirty="0"/>
              <a:t>Word processors, compilers, web browsers, database systems, video games</a:t>
            </a:r>
          </a:p>
          <a:p>
            <a:pPr lvl="1" algn="just"/>
            <a:r>
              <a:rPr lang="en-US" b="1" dirty="0"/>
              <a:t>Users</a:t>
            </a:r>
          </a:p>
          <a:p>
            <a:pPr lvl="2" algn="just"/>
            <a:r>
              <a:rPr lang="en-US" dirty="0"/>
              <a:t>People, machines, other computers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40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21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/>
                </a:solidFill>
              </a:rPr>
              <a:t>Four Components of a Computer System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2400" y="1394780"/>
            <a:ext cx="9144000" cy="546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651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9" y="1781175"/>
            <a:ext cx="3326191" cy="190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796" y="2128420"/>
            <a:ext cx="3429605" cy="15291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3200" t="5200" r="13200" b="5200"/>
          <a:stretch/>
        </p:blipFill>
        <p:spPr>
          <a:xfrm>
            <a:off x="8591549" y="1752600"/>
            <a:ext cx="3149600" cy="2156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5149" y="4219576"/>
            <a:ext cx="1410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Hard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9431" y="4205288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2750" y="4205288"/>
            <a:ext cx="1423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Processor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28099" y="4288631"/>
            <a:ext cx="1016000" cy="3235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7364811" y="4295478"/>
            <a:ext cx="1016000" cy="3235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9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2805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/>
            </a:r>
            <a:br>
              <a:rPr lang="en-US" b="1" dirty="0">
                <a:solidFill>
                  <a:schemeClr val="accent4"/>
                </a:solidFill>
              </a:rPr>
            </a:br>
            <a:r>
              <a:rPr lang="en-US" b="1" dirty="0">
                <a:solidFill>
                  <a:schemeClr val="accent4"/>
                </a:solidFill>
              </a:rPr>
              <a:t>Basic components of a CPU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4092"/>
            <a:ext cx="10515600" cy="4351339"/>
          </a:xfrm>
        </p:spPr>
        <p:txBody>
          <a:bodyPr>
            <a:normAutofit/>
          </a:bodyPr>
          <a:lstStyle/>
          <a:p>
            <a:r>
              <a:rPr lang="en-US" b="1" dirty="0"/>
              <a:t>Program Counter (PC) </a:t>
            </a:r>
            <a:endParaRPr lang="en-US" dirty="0"/>
          </a:p>
          <a:p>
            <a:pPr lvl="1"/>
            <a:r>
              <a:rPr lang="en-US" dirty="0"/>
              <a:t>Holds the memory address of the next instruction </a:t>
            </a:r>
          </a:p>
          <a:p>
            <a:r>
              <a:rPr lang="en-US" b="1" dirty="0"/>
              <a:t>Instruction Register (IR) </a:t>
            </a:r>
            <a:endParaRPr lang="en-US" dirty="0"/>
          </a:p>
          <a:p>
            <a:pPr lvl="1"/>
            <a:r>
              <a:rPr lang="en-US" dirty="0"/>
              <a:t>holds the instruction currently being executed </a:t>
            </a:r>
          </a:p>
          <a:p>
            <a:r>
              <a:rPr lang="en-US" b="1" dirty="0"/>
              <a:t>General Registers (Reg. 1..n) </a:t>
            </a:r>
            <a:endParaRPr lang="en-US" dirty="0"/>
          </a:p>
          <a:p>
            <a:pPr lvl="1"/>
            <a:r>
              <a:rPr lang="en-US" dirty="0"/>
              <a:t>hold variables and temporary results </a:t>
            </a:r>
          </a:p>
          <a:p>
            <a:r>
              <a:rPr lang="en-US" b="1" dirty="0"/>
              <a:t>Arithmetic and Logic Unit (ALU) </a:t>
            </a:r>
            <a:endParaRPr lang="en-US" dirty="0"/>
          </a:p>
          <a:p>
            <a:pPr lvl="1"/>
            <a:r>
              <a:rPr lang="en-US" dirty="0"/>
              <a:t>performs arithmetic functions and logic operations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42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Stack Pointer (SP) </a:t>
            </a:r>
            <a:endParaRPr lang="en-US" dirty="0"/>
          </a:p>
          <a:p>
            <a:pPr lvl="1"/>
            <a:r>
              <a:rPr lang="en-US" dirty="0"/>
              <a:t>holds memory address of a stack with a frame for each active procedure’s parameters &amp; local variables </a:t>
            </a:r>
          </a:p>
          <a:p>
            <a:r>
              <a:rPr lang="en-US" b="1" dirty="0"/>
              <a:t>Memory Address Register (MAR) </a:t>
            </a:r>
            <a:endParaRPr lang="en-US" dirty="0"/>
          </a:p>
          <a:p>
            <a:pPr lvl="1"/>
            <a:r>
              <a:rPr lang="en-US" dirty="0"/>
              <a:t>contains address of memory to be loaded from/stored to </a:t>
            </a:r>
          </a:p>
          <a:p>
            <a:r>
              <a:rPr lang="en-US" b="1" dirty="0"/>
              <a:t>Memory Data Register (MDR) </a:t>
            </a:r>
            <a:endParaRPr lang="en-US" dirty="0"/>
          </a:p>
          <a:p>
            <a:pPr lvl="1"/>
            <a:r>
              <a:rPr lang="en-US" dirty="0"/>
              <a:t>contains memory data loaded or to be stored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2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/>
          <a:lstStyle/>
          <a:p>
            <a:r>
              <a:rPr lang="en-US" dirty="0" smtClean="0"/>
              <a:t>              Application programs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programs (or apps) are </a:t>
            </a:r>
            <a:r>
              <a:rPr lang="en-US" dirty="0"/>
              <a:t>software designed for users to perform specific tasks like writing, browsing, gaming, or editing</a:t>
            </a:r>
            <a:r>
              <a:rPr lang="en-US" dirty="0"/>
              <a:t>, distinct from system software that runs the computer itself; common examples include </a:t>
            </a:r>
            <a:endParaRPr lang="en-US" dirty="0" smtClean="0"/>
          </a:p>
          <a:p>
            <a:r>
              <a:rPr lang="en-US" dirty="0" smtClean="0"/>
              <a:t>web </a:t>
            </a:r>
            <a:r>
              <a:rPr lang="en-US" dirty="0"/>
              <a:t>browsers (Chrome, Firefox), </a:t>
            </a:r>
            <a:endParaRPr lang="en-US" dirty="0" smtClean="0"/>
          </a:p>
          <a:p>
            <a:r>
              <a:rPr lang="en-US" dirty="0" smtClean="0"/>
              <a:t>office </a:t>
            </a:r>
            <a:r>
              <a:rPr lang="en-US" dirty="0"/>
              <a:t>suites (Microsoft Office, Google Docs), and </a:t>
            </a:r>
            <a:endParaRPr lang="en-US" dirty="0" smtClean="0"/>
          </a:p>
          <a:p>
            <a:r>
              <a:rPr lang="en-US" dirty="0" smtClean="0"/>
              <a:t>media </a:t>
            </a:r>
            <a:r>
              <a:rPr lang="en-US" dirty="0"/>
              <a:t>players (Spotify, VLC).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programs provide direct functionality for end-users, acting as tools to manage data, communicate, or entertain.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8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03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Two Views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User's View</a:t>
            </a:r>
          </a:p>
          <a:p>
            <a:r>
              <a:rPr lang="en-US" sz="4400" b="1" dirty="0"/>
              <a:t>System View</a:t>
            </a:r>
          </a:p>
        </p:txBody>
      </p:sp>
    </p:spTree>
    <p:extLst>
      <p:ext uri="{BB962C8B-B14F-4D97-AF65-F5344CB8AC3E}">
        <p14:creationId xmlns:p14="http://schemas.microsoft.com/office/powerpoint/2010/main" val="1062678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133" y="772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Operating System: </a:t>
            </a:r>
            <a:r>
              <a:rPr lang="en-US" dirty="0">
                <a:solidFill>
                  <a:schemeClr val="accent4"/>
                </a:solidFill>
              </a:rPr>
              <a:t>User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user view of the computer refers to the interface being used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Such systems are designed for one user to </a:t>
            </a:r>
            <a:r>
              <a:rPr lang="en-US" dirty="0" smtClean="0"/>
              <a:t>utilize its </a:t>
            </a:r>
            <a:r>
              <a:rPr lang="en-US" dirty="0"/>
              <a:t>resources, to maximize the work that the user is performing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 In these cases, the operating system is designed mostly for ease of use, with some attention paid to performance, and none paid to resource utilization.</a:t>
            </a:r>
          </a:p>
        </p:txBody>
      </p:sp>
    </p:spTree>
    <p:extLst>
      <p:ext uri="{BB962C8B-B14F-4D97-AF65-F5344CB8AC3E}">
        <p14:creationId xmlns:p14="http://schemas.microsoft.com/office/powerpoint/2010/main" val="238260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6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Operating System: </a:t>
            </a:r>
            <a:r>
              <a:rPr lang="en-US" dirty="0">
                <a:solidFill>
                  <a:schemeClr val="accent4"/>
                </a:solidFill>
              </a:rPr>
              <a:t>System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Operating system can be viewed as a resource allocator also. </a:t>
            </a:r>
          </a:p>
          <a:p>
            <a:pPr algn="just"/>
            <a:r>
              <a:rPr lang="en-US" dirty="0"/>
              <a:t>A computer system consists of many resources like - hardware and software - that must be managed efficiently. </a:t>
            </a:r>
          </a:p>
          <a:p>
            <a:pPr algn="just"/>
            <a:r>
              <a:rPr lang="en-US" dirty="0"/>
              <a:t>The operating system acts as the manager of the resources, decides between conflicting requests, controls execution of programs etc.</a:t>
            </a:r>
          </a:p>
        </p:txBody>
      </p:sp>
    </p:spTree>
    <p:extLst>
      <p:ext uri="{BB962C8B-B14F-4D97-AF65-F5344CB8AC3E}">
        <p14:creationId xmlns:p14="http://schemas.microsoft.com/office/powerpoint/2010/main" val="47837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What Operating Systems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864" y="1600200"/>
            <a:ext cx="10871200" cy="5105400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Depends on the point of view</a:t>
            </a:r>
          </a:p>
          <a:p>
            <a:pPr algn="just"/>
            <a:r>
              <a:rPr lang="en-US" sz="2200" dirty="0"/>
              <a:t>Users want convenience, </a:t>
            </a:r>
            <a:r>
              <a:rPr lang="en-US" sz="2200" b="1" dirty="0">
                <a:solidFill>
                  <a:srgbClr val="3366FF"/>
                </a:solidFill>
              </a:rPr>
              <a:t>ease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b="1" dirty="0">
                <a:solidFill>
                  <a:srgbClr val="3366FF"/>
                </a:solidFill>
              </a:rPr>
              <a:t>of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b="1" dirty="0">
                <a:solidFill>
                  <a:srgbClr val="3366FF"/>
                </a:solidFill>
              </a:rPr>
              <a:t>use </a:t>
            </a:r>
            <a:r>
              <a:rPr lang="en-US" sz="2200" dirty="0"/>
              <a:t>and</a:t>
            </a:r>
            <a:r>
              <a:rPr lang="en-US" sz="2200" b="1" dirty="0">
                <a:solidFill>
                  <a:srgbClr val="3366FF"/>
                </a:solidFill>
              </a:rPr>
              <a:t> good performance </a:t>
            </a:r>
          </a:p>
          <a:p>
            <a:pPr lvl="1" algn="just"/>
            <a:r>
              <a:rPr lang="en-US" sz="2200" dirty="0"/>
              <a:t>Don</a:t>
            </a:r>
            <a:r>
              <a:rPr lang="ja-JP" altLang="en-US" sz="2200" dirty="0"/>
              <a:t>’</a:t>
            </a:r>
            <a:r>
              <a:rPr lang="en-US" altLang="ja-JP" sz="2200" dirty="0"/>
              <a:t>t care about </a:t>
            </a:r>
            <a:r>
              <a:rPr lang="en-US" altLang="ja-JP" sz="2200" b="1" dirty="0">
                <a:solidFill>
                  <a:srgbClr val="3366FF"/>
                </a:solidFill>
              </a:rPr>
              <a:t>resource</a:t>
            </a:r>
            <a:r>
              <a:rPr lang="en-US" altLang="ja-JP" sz="2200" dirty="0">
                <a:solidFill>
                  <a:srgbClr val="3366FF"/>
                </a:solidFill>
              </a:rPr>
              <a:t> </a:t>
            </a:r>
            <a:r>
              <a:rPr lang="en-US" altLang="ja-JP" sz="2200" b="1" dirty="0">
                <a:solidFill>
                  <a:srgbClr val="3366FF"/>
                </a:solidFill>
              </a:rPr>
              <a:t>utilization</a:t>
            </a:r>
          </a:p>
          <a:p>
            <a:pPr algn="just"/>
            <a:r>
              <a:rPr lang="en-US" sz="2200" dirty="0"/>
              <a:t>But shared computer such as </a:t>
            </a:r>
            <a:r>
              <a:rPr lang="en-US" sz="2200" b="1" dirty="0">
                <a:solidFill>
                  <a:srgbClr val="3366FF"/>
                </a:solidFill>
              </a:rPr>
              <a:t>mainframe</a:t>
            </a:r>
            <a:r>
              <a:rPr lang="en-US" sz="2200" dirty="0"/>
              <a:t> or </a:t>
            </a:r>
            <a:r>
              <a:rPr lang="en-US" sz="2200" b="1" dirty="0">
                <a:solidFill>
                  <a:srgbClr val="3366FF"/>
                </a:solidFill>
              </a:rPr>
              <a:t>minicomputer</a:t>
            </a:r>
            <a:r>
              <a:rPr lang="en-US" sz="2200" dirty="0"/>
              <a:t> must keep all users happy</a:t>
            </a:r>
          </a:p>
          <a:p>
            <a:pPr algn="just"/>
            <a:r>
              <a:rPr lang="en-US" sz="2200" dirty="0"/>
              <a:t>Users of dedicate systems such as </a:t>
            </a:r>
            <a:r>
              <a:rPr lang="en-US" sz="2200" b="1" dirty="0">
                <a:solidFill>
                  <a:srgbClr val="3366FF"/>
                </a:solidFill>
              </a:rPr>
              <a:t>workstations</a:t>
            </a:r>
            <a:r>
              <a:rPr lang="en-US" sz="2200" dirty="0"/>
              <a:t> have dedicated resources but frequently use shared resources from </a:t>
            </a:r>
            <a:r>
              <a:rPr lang="en-US" sz="2200" b="1" dirty="0">
                <a:solidFill>
                  <a:srgbClr val="3366FF"/>
                </a:solidFill>
              </a:rPr>
              <a:t>servers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</a:rPr>
              <a:t>Handheld computers are resource poor,  optimized for usability and battery life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</a:p>
        </p:txBody>
      </p:sp>
    </p:spTree>
    <p:extLst>
      <p:ext uri="{BB962C8B-B14F-4D97-AF65-F5344CB8AC3E}">
        <p14:creationId xmlns:p14="http://schemas.microsoft.com/office/powerpoint/2010/main" val="214022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425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맑은 고딕</vt:lpstr>
      <vt:lpstr>游ゴシック</vt:lpstr>
      <vt:lpstr>Arial</vt:lpstr>
      <vt:lpstr>Calibri</vt:lpstr>
      <vt:lpstr>Calibri Light</vt:lpstr>
      <vt:lpstr>Office Theme</vt:lpstr>
      <vt:lpstr>Lecture 6</vt:lpstr>
      <vt:lpstr>1_Office Theme</vt:lpstr>
      <vt:lpstr>Lecture #2</vt:lpstr>
      <vt:lpstr>Computer System Structure</vt:lpstr>
      <vt:lpstr>Four Components of a Computer System</vt:lpstr>
      <vt:lpstr>PowerPoint Presentation</vt:lpstr>
      <vt:lpstr> Basic components of a CPU </vt:lpstr>
      <vt:lpstr>PowerPoint Presentation</vt:lpstr>
      <vt:lpstr>              Application programs  </vt:lpstr>
      <vt:lpstr>Two Views of Operating System</vt:lpstr>
      <vt:lpstr>Operating System: User View</vt:lpstr>
      <vt:lpstr>Operating System: System View</vt:lpstr>
      <vt:lpstr>What Operating Systems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Sofia</cp:lastModifiedBy>
  <cp:revision>157</cp:revision>
  <dcterms:created xsi:type="dcterms:W3CDTF">2024-06-21T09:49:00Z</dcterms:created>
  <dcterms:modified xsi:type="dcterms:W3CDTF">2026-02-03T07:32:25Z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