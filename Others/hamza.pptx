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4630400" cy="8229600"/>
  <p:notesSz cx="8229600" cy="14630400"/>
  <p:embeddedFontLst>
    <p:embeddedFont>
      <p:font typeface="Barlow Bold" panose="020B0604020202020204" charset="0"/>
      <p:bold r:id="rId14"/>
    </p:embeddedFont>
    <p:embeddedFont>
      <p:font typeface="Montserrat" panose="00000500000000000000" pitchFamily="2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1" d="100"/>
          <a:sy n="61" d="100"/>
        </p:scale>
        <p:origin x="48" y="4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8573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EEFF5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EEFF5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EEFF5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EEFF5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EEFF5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EEFF5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EEFF5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EEFF5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EEFF5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EEFF5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084833" y="4499160"/>
            <a:ext cx="4169663" cy="2474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Presented by :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077097" y="5792629"/>
            <a:ext cx="7249716" cy="4861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Muhammad Ijaz                       2338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048840" y="6788361"/>
            <a:ext cx="7249716" cy="486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Hamza                                         2354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2084833" y="1682495"/>
            <a:ext cx="1990725" cy="6624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750"/>
              </a:lnSpc>
              <a:buNone/>
            </a:pPr>
            <a:r>
              <a:rPr lang="en-US" sz="540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Topic : 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2316480" y="2436971"/>
            <a:ext cx="8193913" cy="3744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250"/>
              </a:lnSpc>
              <a:buNone/>
            </a:pPr>
            <a:r>
              <a:rPr lang="en-US" sz="500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Gaming as a Professional Career</a:t>
            </a:r>
            <a:endParaRPr lang="en-US" sz="5000" dirty="0"/>
          </a:p>
        </p:txBody>
      </p:sp>
      <p:sp>
        <p:nvSpPr>
          <p:cNvPr id="8" name="Text 5"/>
          <p:cNvSpPr/>
          <p:nvPr/>
        </p:nvSpPr>
        <p:spPr>
          <a:xfrm>
            <a:off x="6537484" y="5792629"/>
            <a:ext cx="7249716" cy="388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50702" y="6764655"/>
            <a:ext cx="6396276" cy="799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50"/>
              </a:lnSpc>
              <a:buNone/>
            </a:pPr>
            <a:endParaRPr lang="en-US" sz="5000" dirty="0"/>
          </a:p>
        </p:txBody>
      </p:sp>
      <p:pic>
        <p:nvPicPr>
          <p:cNvPr id="1026" name="Picture 2" descr="Esports PNG, Vector, PSD, and Clipart With Transparent ...">
            <a:extLst>
              <a:ext uri="{FF2B5EF4-FFF2-40B4-BE49-F238E27FC236}">
                <a16:creationId xmlns:a16="http://schemas.microsoft.com/office/drawing/2014/main" id="{848196A7-6D58-5223-26FF-999950ED0F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"/>
          <a:stretch/>
        </p:blipFill>
        <p:spPr bwMode="auto">
          <a:xfrm flipH="1">
            <a:off x="12143232" y="51148"/>
            <a:ext cx="2487168" cy="2766714"/>
          </a:xfrm>
          <a:prstGeom prst="flowChartOr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243B47-C843-29BB-C6BC-9AAD32C4E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08" y="531862"/>
            <a:ext cx="1990725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1248013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Content :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58309" y="2393990"/>
            <a:ext cx="5701546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2800" b="1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 in Gaming in future 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58309" y="2903101"/>
            <a:ext cx="4696560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2800" b="1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carrier path in gaming 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58309" y="3412212"/>
            <a:ext cx="4696560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2800" b="1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gaming with skills 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58309" y="3921323"/>
            <a:ext cx="4239360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2800" b="1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development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58309" y="4430435"/>
            <a:ext cx="3151539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2800" b="1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sport caster 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58309" y="4939546"/>
            <a:ext cx="4097470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2800" b="1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Financial aspects 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58309" y="5448657"/>
            <a:ext cx="8369925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2800" b="1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Challenges and Realities of gaming carrier 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58309" y="5957768"/>
            <a:ext cx="7329401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2800" b="1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Is a gaming carrier is a right for you?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8309" y="6634877"/>
            <a:ext cx="131137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7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778D77-1D82-9B0D-5A5D-EBDA526CAF4E}"/>
              </a:ext>
            </a:extLst>
          </p:cNvPr>
          <p:cNvSpPr/>
          <p:nvPr/>
        </p:nvSpPr>
        <p:spPr>
          <a:xfrm>
            <a:off x="9175531" y="1127234"/>
            <a:ext cx="4696560" cy="5975131"/>
          </a:xfrm>
          <a:prstGeom prst="rect">
            <a:avLst/>
          </a:prstGeom>
          <a:blipFill dpi="0" rotWithShape="1">
            <a:blip r:embed="rId3">
              <a:alphaModFix amt="3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8309" y="2589490"/>
            <a:ext cx="7627382" cy="142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Gaming as a Professional Career: 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58309" y="4339828"/>
            <a:ext cx="7627382" cy="1300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global gaming market is expected to hit $314 billion by 2027. With 2.5 billion players worldwide, gaming has evolved from a casual hobby to a thriving career.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51281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03540" y="3065978"/>
            <a:ext cx="5717143" cy="661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Career Paths in Gaming: </a:t>
            </a:r>
            <a:endParaRPr lang="en-US" sz="4150" dirty="0"/>
          </a:p>
        </p:txBody>
      </p:sp>
      <p:sp>
        <p:nvSpPr>
          <p:cNvPr id="4" name="Shape 1"/>
          <p:cNvSpPr/>
          <p:nvPr/>
        </p:nvSpPr>
        <p:spPr>
          <a:xfrm>
            <a:off x="703540" y="3971244"/>
            <a:ext cx="6511171" cy="1723430"/>
          </a:xfrm>
          <a:prstGeom prst="roundRect">
            <a:avLst>
              <a:gd name="adj" fmla="val 10498"/>
            </a:avLst>
          </a:prstGeom>
          <a:solidFill>
            <a:srgbClr val="EEEFF5"/>
          </a:solidFill>
          <a:ln/>
          <a:effectLst>
            <a:outerShdw blurRad="49530" dist="24130" dir="13500000" algn="bl" rotWithShape="0">
              <a:srgbClr val="FFFF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904518" y="4229576"/>
            <a:ext cx="3174087" cy="396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32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Pro Gamer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904518" y="4746903"/>
            <a:ext cx="6109216" cy="402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0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Compete in tournaments and win prize money.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15689" y="4028599"/>
            <a:ext cx="6511171" cy="1723430"/>
          </a:xfrm>
          <a:prstGeom prst="roundRect">
            <a:avLst>
              <a:gd name="adj" fmla="val 10498"/>
            </a:avLst>
          </a:prstGeom>
          <a:solidFill>
            <a:srgbClr val="EEEFF5"/>
          </a:solidFill>
          <a:ln/>
          <a:effectLst>
            <a:outerShdw blurRad="49530" dist="24130" dir="13500000" algn="bl" rotWithShape="0">
              <a:srgbClr val="FFFF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616666" y="4229576"/>
            <a:ext cx="3174087" cy="396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32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Game Developer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616666" y="4746903"/>
            <a:ext cx="6109216" cy="80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Design and build video games using coding languages.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703540" y="5953006"/>
            <a:ext cx="6511171" cy="1723430"/>
          </a:xfrm>
          <a:prstGeom prst="roundRect">
            <a:avLst>
              <a:gd name="adj" fmla="val 10498"/>
            </a:avLst>
          </a:prstGeom>
          <a:solidFill>
            <a:srgbClr val="EEEFF5"/>
          </a:solidFill>
          <a:ln/>
          <a:effectLst>
            <a:outerShdw blurRad="49530" dist="24130" dir="13500000" algn="bl" rotWithShape="0">
              <a:srgbClr val="FFFF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04518" y="6153983"/>
            <a:ext cx="3344347" cy="396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32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E sports Caster/Analyst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04518" y="6671310"/>
            <a:ext cx="6109216" cy="80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Provide commentary and detailed game analysis.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7415689" y="5953006"/>
            <a:ext cx="6511171" cy="1723430"/>
          </a:xfrm>
          <a:prstGeom prst="roundRect">
            <a:avLst>
              <a:gd name="adj" fmla="val 10498"/>
            </a:avLst>
          </a:prstGeom>
          <a:solidFill>
            <a:srgbClr val="EEEFF5"/>
          </a:solidFill>
          <a:ln/>
          <a:effectLst>
            <a:outerShdw blurRad="49530" dist="24130" dir="13500000" algn="bl" rotWithShape="0">
              <a:srgbClr val="FFFF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616666" y="6153983"/>
            <a:ext cx="3351967" cy="396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32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Game Designer &amp; Writer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7616666" y="6671310"/>
            <a:ext cx="6109216" cy="80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 game mechanics, storylines, and characters.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68093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0570" y="3271599"/>
            <a:ext cx="9183886" cy="705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0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Pro Gaming: Skills and Requirements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50570" y="5263872"/>
            <a:ext cx="3040975" cy="214432"/>
          </a:xfrm>
          <a:prstGeom prst="roundRect">
            <a:avLst>
              <a:gd name="adj" fmla="val 90019"/>
            </a:avLst>
          </a:prstGeom>
          <a:solidFill>
            <a:srgbClr val="EEEFF5"/>
          </a:solidFill>
          <a:ln/>
          <a:effectLst>
            <a:outerShdw blurRad="53340" dist="26670" dir="13500000" algn="bl" rotWithShape="0">
              <a:srgbClr val="FFFF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50570" y="5720116"/>
            <a:ext cx="3040975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2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Practice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50570" y="6351865"/>
            <a:ext cx="3040975" cy="1286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10,000+ hours to sharpen reaction time (~200ms).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113252" y="4942165"/>
            <a:ext cx="3041094" cy="214432"/>
          </a:xfrm>
          <a:prstGeom prst="roundRect">
            <a:avLst>
              <a:gd name="adj" fmla="val 90019"/>
            </a:avLst>
          </a:prstGeom>
          <a:solidFill>
            <a:srgbClr val="EEEFF5"/>
          </a:solidFill>
          <a:ln/>
          <a:effectLst>
            <a:outerShdw blurRad="53340" dist="26670" dir="13500000" algn="bl" rotWithShape="0">
              <a:srgbClr val="FFFF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113252" y="5478304"/>
            <a:ext cx="3041094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2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Game Types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113252" y="6030158"/>
            <a:ext cx="3041094" cy="1286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Specialize in FPS, MOBAs, or fighting games.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7476053" y="4620458"/>
            <a:ext cx="3040975" cy="214432"/>
          </a:xfrm>
          <a:prstGeom prst="roundRect">
            <a:avLst>
              <a:gd name="adj" fmla="val 90019"/>
            </a:avLst>
          </a:prstGeom>
          <a:solidFill>
            <a:srgbClr val="EEEFF5"/>
          </a:solidFill>
          <a:ln/>
          <a:effectLst>
            <a:outerShdw blurRad="53340" dist="26670" dir="13500000" algn="bl" rotWithShape="0">
              <a:srgbClr val="FFFF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476053" y="5156597"/>
            <a:ext cx="3040975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2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Teamwork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476053" y="5708452"/>
            <a:ext cx="3040975" cy="1286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Communicate and strategize effectively with teammates.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10838736" y="4298752"/>
            <a:ext cx="3041094" cy="214432"/>
          </a:xfrm>
          <a:prstGeom prst="roundRect">
            <a:avLst>
              <a:gd name="adj" fmla="val 90019"/>
            </a:avLst>
          </a:prstGeom>
          <a:solidFill>
            <a:srgbClr val="EEEFF5"/>
          </a:solidFill>
          <a:ln/>
          <a:effectLst>
            <a:outerShdw blurRad="53340" dist="26670" dir="13500000" algn="bl" rotWithShape="0">
              <a:srgbClr val="FFFF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0838736" y="4834890"/>
            <a:ext cx="3041094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2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Popular Titles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10838736" y="5386745"/>
            <a:ext cx="3041094" cy="85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League of Legends, Counter-Strike, Dota 2.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2223135"/>
            <a:ext cx="10273308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Game Development: Skills and Education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58309" y="3477339"/>
            <a:ext cx="342090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3350"/>
              </a:lnSpc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Technical Skills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58309" y="4121468"/>
            <a:ext cx="4018359" cy="866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C++, C#, Java, Python programming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58309" y="5341531"/>
            <a:ext cx="4018359" cy="866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engines: Unity, Unreal Engine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12926" y="3477339"/>
            <a:ext cx="342090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3350"/>
              </a:lnSpc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Education &amp; Art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312926" y="4121468"/>
            <a:ext cx="4018359" cy="866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Bachelors in computer science or related field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312926" y="5324728"/>
            <a:ext cx="4018359" cy="866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3D modeling and texturing skills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867543" y="3477339"/>
            <a:ext cx="342090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3350"/>
              </a:lnSpc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Top Companies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9867543" y="4121468"/>
            <a:ext cx="4018359" cy="866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Rockstar Games, Ubisoft, Activision Blizzard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32208" y="586264"/>
            <a:ext cx="7652385" cy="1401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E sports Caster/Analyst: Skills and Knowledge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6232208" y="2307669"/>
            <a:ext cx="479465" cy="479465"/>
          </a:xfrm>
          <a:prstGeom prst="roundRect">
            <a:avLst>
              <a:gd name="adj" fmla="val 40003"/>
            </a:avLst>
          </a:prstGeom>
          <a:solidFill>
            <a:srgbClr val="EEEFF5"/>
          </a:solidFill>
          <a:ln/>
          <a:effectLst>
            <a:outerShdw blurRad="52070" dist="25400" dir="13500000" algn="bl" rotWithShape="0">
              <a:srgbClr val="FFFF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3645" y="2337078"/>
            <a:ext cx="336471" cy="42052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924675" y="2347555"/>
            <a:ext cx="3364825" cy="420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2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Game Expertise</a:t>
            </a:r>
            <a:endParaRPr lang="en-US" sz="3200" dirty="0"/>
          </a:p>
        </p:txBody>
      </p:sp>
      <p:sp>
        <p:nvSpPr>
          <p:cNvPr id="7" name="Text 3"/>
          <p:cNvSpPr/>
          <p:nvPr/>
        </p:nvSpPr>
        <p:spPr>
          <a:xfrm>
            <a:off x="6924675" y="2895838"/>
            <a:ext cx="6959918" cy="426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5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understanding of gameplay and trends.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232208" y="3748088"/>
            <a:ext cx="479465" cy="479465"/>
          </a:xfrm>
          <a:prstGeom prst="roundRect">
            <a:avLst>
              <a:gd name="adj" fmla="val 40003"/>
            </a:avLst>
          </a:prstGeom>
          <a:solidFill>
            <a:srgbClr val="EEEFF5"/>
          </a:solidFill>
          <a:ln/>
          <a:effectLst>
            <a:outerShdw blurRad="52070" dist="25400" dir="13500000" algn="bl" rotWithShape="0">
              <a:srgbClr val="FFFF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3645" y="3777496"/>
            <a:ext cx="336471" cy="420529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924675" y="3787973"/>
            <a:ext cx="3364825" cy="420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2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Communication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6924675" y="4336256"/>
            <a:ext cx="6959918" cy="426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5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Clear public speaking and engaging delivery.</a:t>
            </a:r>
            <a:endParaRPr lang="en-US" sz="2500" dirty="0"/>
          </a:p>
        </p:txBody>
      </p:sp>
      <p:sp>
        <p:nvSpPr>
          <p:cNvPr id="12" name="Shape 7"/>
          <p:cNvSpPr/>
          <p:nvPr/>
        </p:nvSpPr>
        <p:spPr>
          <a:xfrm>
            <a:off x="6232208" y="5188506"/>
            <a:ext cx="479465" cy="479465"/>
          </a:xfrm>
          <a:prstGeom prst="roundRect">
            <a:avLst>
              <a:gd name="adj" fmla="val 40003"/>
            </a:avLst>
          </a:prstGeom>
          <a:solidFill>
            <a:srgbClr val="EEEFF5"/>
          </a:solidFill>
          <a:ln/>
          <a:effectLst>
            <a:outerShdw blurRad="52070" dist="25400" dir="13500000" algn="bl" rotWithShape="0">
              <a:srgbClr val="FFFF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3645" y="5217914"/>
            <a:ext cx="336471" cy="42052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924675" y="5228392"/>
            <a:ext cx="3372326" cy="420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2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Audience Engagement</a:t>
            </a:r>
            <a:endParaRPr lang="en-US" sz="3200" dirty="0"/>
          </a:p>
        </p:txBody>
      </p:sp>
      <p:sp>
        <p:nvSpPr>
          <p:cNvPr id="15" name="Text 9"/>
          <p:cNvSpPr/>
          <p:nvPr/>
        </p:nvSpPr>
        <p:spPr>
          <a:xfrm>
            <a:off x="6924675" y="5776674"/>
            <a:ext cx="6959918" cy="426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5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Charisma to captivate and entertain viewers.</a:t>
            </a:r>
            <a:endParaRPr lang="en-US" sz="2500" dirty="0"/>
          </a:p>
        </p:txBody>
      </p:sp>
      <p:sp>
        <p:nvSpPr>
          <p:cNvPr id="16" name="Shape 10"/>
          <p:cNvSpPr/>
          <p:nvPr/>
        </p:nvSpPr>
        <p:spPr>
          <a:xfrm>
            <a:off x="6232208" y="6628924"/>
            <a:ext cx="479465" cy="479465"/>
          </a:xfrm>
          <a:prstGeom prst="roundRect">
            <a:avLst>
              <a:gd name="adj" fmla="val 40003"/>
            </a:avLst>
          </a:prstGeom>
          <a:solidFill>
            <a:srgbClr val="EEEFF5"/>
          </a:solidFill>
          <a:ln/>
          <a:effectLst>
            <a:outerShdw blurRad="52070" dist="25400" dir="13500000" algn="bl" rotWithShape="0">
              <a:srgbClr val="FFFF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3645" y="6658332"/>
            <a:ext cx="336471" cy="420529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924675" y="6668810"/>
            <a:ext cx="3364825" cy="420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2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Platforms</a:t>
            </a:r>
            <a:endParaRPr lang="en-US" sz="3200" dirty="0"/>
          </a:p>
        </p:txBody>
      </p:sp>
      <p:sp>
        <p:nvSpPr>
          <p:cNvPr id="19" name="Text 12"/>
          <p:cNvSpPr/>
          <p:nvPr/>
        </p:nvSpPr>
        <p:spPr>
          <a:xfrm>
            <a:off x="6924675" y="7217092"/>
            <a:ext cx="6959918" cy="426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Twitch, YouTube, ESPN broadcasts.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44709" y="1043226"/>
            <a:ext cx="7627382" cy="142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Financial Aspects: Salary and Revenue Streams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44709" y="2793563"/>
            <a:ext cx="7627382" cy="3282315"/>
          </a:xfrm>
          <a:prstGeom prst="roundRect">
            <a:avLst>
              <a:gd name="adj" fmla="val 5941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6252329" y="2801183"/>
            <a:ext cx="7612142" cy="70842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68904" y="2938701"/>
            <a:ext cx="336911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32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Gamers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0278785" y="2938701"/>
            <a:ext cx="336911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$50k - $1M+ annually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6252329" y="3509605"/>
            <a:ext cx="7612142" cy="70842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68904" y="3647122"/>
            <a:ext cx="336911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32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Developers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10278785" y="3647122"/>
            <a:ext cx="336911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$60k - $150k+ annually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252329" y="4218027"/>
            <a:ext cx="7612142" cy="70842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68904" y="4355544"/>
            <a:ext cx="336911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32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sports Casters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10278785" y="4355544"/>
            <a:ext cx="336911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$40k - $200k+ annually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252329" y="4926449"/>
            <a:ext cx="7612142" cy="114180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68904" y="5063966"/>
            <a:ext cx="336911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32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Twitch Streamers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10278785" y="5063966"/>
            <a:ext cx="3369112" cy="866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Variable: subs, donations, ads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6244709" y="6319599"/>
            <a:ext cx="7627382" cy="866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sports generated $1.08B in revenue in 2021, showing growth opportunities.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44709" y="1065252"/>
            <a:ext cx="7627382" cy="142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Challenges and Realities of a Gaming Career</a:t>
            </a:r>
            <a:endParaRPr lang="en-US" sz="4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4709" y="2815590"/>
            <a:ext cx="541615" cy="54161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244709" y="3573780"/>
            <a:ext cx="236196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High Pressure</a:t>
            </a:r>
            <a:endParaRPr lang="en-US" sz="28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2" y="2815590"/>
            <a:ext cx="541615" cy="54161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9144002" y="3550811"/>
            <a:ext cx="2361962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Long Hours</a:t>
            </a:r>
            <a:endParaRPr lang="en-US" sz="2800" b="1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10129" y="2815590"/>
            <a:ext cx="541615" cy="541615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1510129" y="3573780"/>
            <a:ext cx="2361962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Self-Discipline</a:t>
            </a:r>
            <a:endParaRPr lang="en-US" sz="280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4709" y="4440436"/>
            <a:ext cx="541615" cy="541615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6244709" y="5198626"/>
            <a:ext cx="2361962" cy="855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Constant Adaptation</a:t>
            </a:r>
            <a:endParaRPr lang="en-US" sz="2800" dirty="0"/>
          </a:p>
        </p:txBody>
      </p:sp>
      <p:sp>
        <p:nvSpPr>
          <p:cNvPr id="12" name="Text 5"/>
          <p:cNvSpPr/>
          <p:nvPr/>
        </p:nvSpPr>
        <p:spPr>
          <a:xfrm>
            <a:off x="6244709" y="6297454"/>
            <a:ext cx="7627382" cy="866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Competitive fields require stamina, discipline, and adaptability.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2204323"/>
            <a:ext cx="8328779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Is a Gaming Career Right for You?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58309" y="3458528"/>
            <a:ext cx="2881908" cy="855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320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Passion &amp; Dedication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58309" y="4530209"/>
            <a:ext cx="2881908" cy="1300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Loves gaming and improving skills constantly.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76474" y="3458528"/>
            <a:ext cx="2881908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320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Realistic View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176474" y="4102656"/>
            <a:ext cx="2881908" cy="1300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Understands the challenges and demands involved.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594640" y="3458528"/>
            <a:ext cx="2881908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320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Learning &amp; Growth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594640" y="4102656"/>
            <a:ext cx="2881908" cy="1300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Keeps up with the evolving industry trends.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1012805" y="3458528"/>
            <a:ext cx="2881908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3200" b="1" dirty="0">
                <a:solidFill>
                  <a:srgbClr val="7068F4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Networking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1012805" y="4102656"/>
            <a:ext cx="2881908" cy="1300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Builds relationships with peers and professionals.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ank You Images - Free Download on Freepik">
            <a:extLst>
              <a:ext uri="{FF2B5EF4-FFF2-40B4-BE49-F238E27FC236}">
                <a16:creationId xmlns:a16="http://schemas.microsoft.com/office/drawing/2014/main" id="{BFAC8F73-AFE3-5FBB-8721-F15368D303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0950" y="590550"/>
            <a:ext cx="7048500" cy="704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299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420</Words>
  <Application>Microsoft Office PowerPoint</Application>
  <PresentationFormat>Custom</PresentationFormat>
  <Paragraphs>88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Montserrat</vt:lpstr>
      <vt:lpstr>Arial</vt:lpstr>
      <vt:lpstr>Barlow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24-NTU-BA-FL-2325</cp:lastModifiedBy>
  <cp:revision>6</cp:revision>
  <dcterms:created xsi:type="dcterms:W3CDTF">2025-05-16T05:11:38Z</dcterms:created>
  <dcterms:modified xsi:type="dcterms:W3CDTF">2025-05-21T17:22:45Z</dcterms:modified>
</cp:coreProperties>
</file>