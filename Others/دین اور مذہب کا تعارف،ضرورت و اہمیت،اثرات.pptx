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59" r:id="rId3"/>
    <p:sldId id="260" r:id="rId4"/>
    <p:sldId id="261" r:id="rId5"/>
    <p:sldId id="262" r:id="rId6"/>
    <p:sldId id="278"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9"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56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0A59F97-96AD-481C-826B-4B2B6C25E317}"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3379612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A59F97-96AD-481C-826B-4B2B6C25E317}"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1509659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A59F97-96AD-481C-826B-4B2B6C25E317}"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4101301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0A59F97-96AD-481C-826B-4B2B6C25E317}" type="datetimeFigureOut">
              <a:rPr lang="en-US" smtClean="0"/>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2823774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A59F97-96AD-481C-826B-4B2B6C25E317}" type="datetimeFigureOut">
              <a:rPr lang="en-US" smtClean="0"/>
              <a:t>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797201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A59F97-96AD-481C-826B-4B2B6C25E317}" type="datetimeFigureOut">
              <a:rPr lang="en-US" smtClean="0"/>
              <a:t>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3171252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A59F97-96AD-481C-826B-4B2B6C25E317}" type="datetimeFigureOut">
              <a:rPr lang="en-US" smtClean="0"/>
              <a:t>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3829728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0A59F97-96AD-481C-826B-4B2B6C25E317}" type="datetimeFigureOut">
              <a:rPr lang="en-US" smtClean="0"/>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638772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0A59F97-96AD-481C-826B-4B2B6C25E317}" type="datetimeFigureOut">
              <a:rPr lang="en-US" smtClean="0"/>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864903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A59F97-96AD-481C-826B-4B2B6C25E317}"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446890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A59F97-96AD-481C-826B-4B2B6C25E317}" type="datetimeFigureOut">
              <a:rPr lang="en-US" smtClean="0"/>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701B9-8E00-422B-B9B5-C5A1FDEC2174}" type="slidenum">
              <a:rPr lang="en-US" smtClean="0"/>
              <a:t>‹#›</a:t>
            </a:fld>
            <a:endParaRPr lang="en-US"/>
          </a:p>
        </p:txBody>
      </p:sp>
    </p:spTree>
    <p:extLst>
      <p:ext uri="{BB962C8B-B14F-4D97-AF65-F5344CB8AC3E}">
        <p14:creationId xmlns:p14="http://schemas.microsoft.com/office/powerpoint/2010/main" val="912434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A59F97-96AD-481C-826B-4B2B6C25E317}" type="datetimeFigureOut">
              <a:rPr lang="en-US" smtClean="0"/>
              <a:t>2/22/2025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D701B9-8E00-422B-B9B5-C5A1FDEC2174}" type="slidenum">
              <a:rPr lang="en-US" smtClean="0"/>
              <a:t>‹#›</a:t>
            </a:fld>
            <a:endParaRPr lang="en-US"/>
          </a:p>
        </p:txBody>
      </p:sp>
    </p:spTree>
    <p:extLst>
      <p:ext uri="{BB962C8B-B14F-4D97-AF65-F5344CB8AC3E}">
        <p14:creationId xmlns:p14="http://schemas.microsoft.com/office/powerpoint/2010/main" val="1921202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8000"/>
          </a:xfrm>
        </p:spPr>
        <p:txBody>
          <a:bodyPr>
            <a:noAutofit/>
          </a:bodyPr>
          <a:lstStyle/>
          <a:p>
            <a:pPr algn="ctr" fontAlgn="base"/>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br>
              <a:rPr lang="ur-PK" sz="4400" b="1" dirty="0">
                <a:latin typeface="Times New Roman" pitchFamily="18" charset="0"/>
                <a:cs typeface="Times New Roman" pitchFamily="18" charset="0"/>
              </a:rPr>
            </a:br>
            <a:r>
              <a:rPr lang="en-US" sz="4400" b="1" dirty="0">
                <a:latin typeface="Times New Roman" pitchFamily="18" charset="0"/>
                <a:cs typeface="Times New Roman" pitchFamily="18" charset="0"/>
              </a:rPr>
              <a:t>The University of Faisalabad</a:t>
            </a:r>
            <a:br>
              <a:rPr lang="en-US" sz="4400" dirty="0">
                <a:latin typeface="Times New Roman" pitchFamily="18" charset="0"/>
                <a:cs typeface="Times New Roman" pitchFamily="18" charset="0"/>
              </a:rPr>
            </a:br>
            <a:r>
              <a:rPr lang="en-US" sz="4400" b="1" dirty="0">
                <a:latin typeface="Times New Roman" pitchFamily="18" charset="0"/>
                <a:cs typeface="Times New Roman" pitchFamily="18" charset="0"/>
              </a:rPr>
              <a:t>Department of Arabic &amp; Islamic Studies</a:t>
            </a:r>
            <a:br>
              <a:rPr lang="en-US" sz="4400" dirty="0">
                <a:latin typeface="Times New Roman" pitchFamily="18" charset="0"/>
                <a:cs typeface="Times New Roman" pitchFamily="18" charset="0"/>
              </a:rPr>
            </a:br>
            <a:r>
              <a:rPr lang="en-US" sz="4400" b="1" dirty="0">
                <a:latin typeface="Times New Roman" panose="02020603050405020304" pitchFamily="18" charset="0"/>
                <a:cs typeface="Times New Roman" pitchFamily="18" charset="0"/>
              </a:rPr>
              <a:t>Subject: Comparative Study of religions(ISL-705)</a:t>
            </a:r>
            <a:br>
              <a:rPr lang="en-US" sz="4400" b="1" dirty="0">
                <a:latin typeface="Times New Roman" panose="02020603050405020304" pitchFamily="18" charset="0"/>
                <a:cs typeface="Times New Roman" pitchFamily="18" charset="0"/>
              </a:rPr>
            </a:br>
            <a:r>
              <a:rPr lang="en-US" sz="4400" b="1" dirty="0">
                <a:latin typeface="Times New Roman" panose="02020603050405020304" pitchFamily="18" charset="0"/>
                <a:cs typeface="Times New Roman" pitchFamily="18" charset="0"/>
              </a:rPr>
              <a:t>Lecture # 01</a:t>
            </a:r>
            <a:br>
              <a:rPr lang="en-US" sz="4400" b="1" dirty="0">
                <a:latin typeface="Times New Roman" panose="02020603050405020304" pitchFamily="18" charset="0"/>
                <a:cs typeface="Times New Roman" pitchFamily="18" charset="0"/>
              </a:rPr>
            </a:br>
            <a:r>
              <a:rPr lang="en-US" sz="4400" b="1" dirty="0">
                <a:latin typeface="Times New Roman" panose="02020603050405020304" pitchFamily="18" charset="0"/>
                <a:cs typeface="Times New Roman" pitchFamily="18" charset="0"/>
              </a:rPr>
              <a:t>Topic:</a:t>
            </a:r>
            <a:r>
              <a:rPr lang="ur-PK" sz="4400" b="1" dirty="0">
                <a:latin typeface="Times New Roman" panose="02020603050405020304" pitchFamily="18" charset="0"/>
              </a:rPr>
              <a:t> دین اور مذہب کا تعارف،ضرورت و اہمیت،اثرات</a:t>
            </a:r>
            <a:br>
              <a:rPr lang="en-US" sz="4400" dirty="0">
                <a:latin typeface="Times New Roman" pitchFamily="18" charset="0"/>
                <a:cs typeface="Times New Roman" pitchFamily="18" charset="0"/>
              </a:rPr>
            </a:br>
            <a:r>
              <a:rPr lang="en-US" sz="4400" b="1" dirty="0">
                <a:latin typeface="Times New Roman" pitchFamily="18" charset="0"/>
                <a:cs typeface="Times New Roman" pitchFamily="18" charset="0"/>
              </a:rPr>
              <a:t>Date: February 22, 2025(Saturday)</a:t>
            </a:r>
            <a:br>
              <a:rPr lang="en-US" sz="4400" dirty="0">
                <a:latin typeface="Times New Roman" pitchFamily="18" charset="0"/>
                <a:cs typeface="Times New Roman" pitchFamily="18" charset="0"/>
              </a:rPr>
            </a:br>
            <a:r>
              <a:rPr lang="en-US" sz="4400" b="1" dirty="0">
                <a:latin typeface="Times New Roman" panose="02020603050405020304" pitchFamily="18" charset="0"/>
                <a:cs typeface="Times New Roman" panose="02020603050405020304" pitchFamily="18" charset="0"/>
              </a:rPr>
              <a:t>M.Phil Islamic Studies 2</a:t>
            </a:r>
            <a:r>
              <a:rPr lang="en-US" sz="4400" b="1" baseline="30000" dirty="0">
                <a:latin typeface="Times New Roman" panose="02020603050405020304" pitchFamily="18" charset="0"/>
                <a:cs typeface="Times New Roman" panose="02020603050405020304" pitchFamily="18" charset="0"/>
              </a:rPr>
              <a:t>nd</a:t>
            </a:r>
            <a:r>
              <a:rPr lang="en-US" sz="4400" b="1" dirty="0">
                <a:latin typeface="Times New Roman" panose="02020603050405020304" pitchFamily="18" charset="0"/>
                <a:cs typeface="Times New Roman" panose="02020603050405020304" pitchFamily="18" charset="0"/>
              </a:rPr>
              <a:t> Semester Spring, 2025</a:t>
            </a:r>
            <a:br>
              <a:rPr lang="en-US" sz="4400" b="1" dirty="0">
                <a:latin typeface="Times New Roman" panose="02020603050405020304" pitchFamily="18" charset="0"/>
                <a:cs typeface="Times New Roman" panose="02020603050405020304" pitchFamily="18" charset="0"/>
              </a:rPr>
            </a:br>
            <a:br>
              <a:rPr lang="en-US" sz="4400" dirty="0"/>
            </a:br>
            <a:endParaRPr lang="en-US" sz="4400" dirty="0"/>
          </a:p>
        </p:txBody>
      </p:sp>
      <p:grpSp>
        <p:nvGrpSpPr>
          <p:cNvPr id="3" name="Group 2">
            <a:extLst>
              <a:ext uri="{FF2B5EF4-FFF2-40B4-BE49-F238E27FC236}">
                <a16:creationId xmlns:a16="http://schemas.microsoft.com/office/drawing/2014/main" id="{DEA06C35-CAFB-25A2-4FC7-DD1455718695}"/>
              </a:ext>
            </a:extLst>
          </p:cNvPr>
          <p:cNvGrpSpPr/>
          <p:nvPr/>
        </p:nvGrpSpPr>
        <p:grpSpPr>
          <a:xfrm>
            <a:off x="0" y="0"/>
            <a:ext cx="12749348" cy="1115736"/>
            <a:chOff x="0" y="0"/>
            <a:chExt cx="12749348" cy="1115736"/>
          </a:xfrm>
        </p:grpSpPr>
        <p:sp>
          <p:nvSpPr>
            <p:cNvPr id="4" name="Rectangle 3">
              <a:extLst>
                <a:ext uri="{FF2B5EF4-FFF2-40B4-BE49-F238E27FC236}">
                  <a16:creationId xmlns:a16="http://schemas.microsoft.com/office/drawing/2014/main" id="{920E0FEA-B8D0-B9A2-442B-38610669F67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5" name="Picture 4">
              <a:extLst>
                <a:ext uri="{FF2B5EF4-FFF2-40B4-BE49-F238E27FC236}">
                  <a16:creationId xmlns:a16="http://schemas.microsoft.com/office/drawing/2014/main" id="{80695C0F-3C3B-30C1-D170-A6BABCF4EF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6" name="TextBox 5">
              <a:extLst>
                <a:ext uri="{FF2B5EF4-FFF2-40B4-BE49-F238E27FC236}">
                  <a16:creationId xmlns:a16="http://schemas.microsoft.com/office/drawing/2014/main" id="{0C851BD8-87CC-B0A7-A204-4DA2EED447A3}"/>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7" name="Graphic 6">
              <a:extLst>
                <a:ext uri="{FF2B5EF4-FFF2-40B4-BE49-F238E27FC236}">
                  <a16:creationId xmlns:a16="http://schemas.microsoft.com/office/drawing/2014/main" id="{5CBCC4B1-6B91-275A-CC4D-3CB0266D52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48C369BC-B8C6-75E5-1A77-0AF91564ABC5}"/>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9" name="Graphic 8">
              <a:extLst>
                <a:ext uri="{FF2B5EF4-FFF2-40B4-BE49-F238E27FC236}">
                  <a16:creationId xmlns:a16="http://schemas.microsoft.com/office/drawing/2014/main" id="{CEBBCA1A-98BE-EA35-2BEE-BE9E3638C1C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3AAB16A-D4D0-7410-133F-262B39E0D06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254292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2387600"/>
          </a:xfrm>
        </p:spPr>
        <p:txBody>
          <a:bodyPr>
            <a:normAutofit/>
          </a:bodyPr>
          <a:lstStyle/>
          <a:p>
            <a:pPr rtl="1"/>
            <a:r>
              <a:rPr lang="ur-PK" dirty="0"/>
              <a:t>دین کے لغوی واصطلاحی معنی:</a:t>
            </a:r>
            <a:br>
              <a:rPr lang="ur-PK" dirty="0"/>
            </a:br>
            <a:endParaRPr lang="en-US" dirty="0"/>
          </a:p>
        </p:txBody>
      </p:sp>
      <p:sp>
        <p:nvSpPr>
          <p:cNvPr id="3" name="Subtitle 2"/>
          <p:cNvSpPr>
            <a:spLocks noGrp="1"/>
          </p:cNvSpPr>
          <p:nvPr>
            <p:ph type="subTitle" idx="1"/>
          </p:nvPr>
        </p:nvSpPr>
        <p:spPr>
          <a:xfrm>
            <a:off x="0" y="1792224"/>
            <a:ext cx="12192000" cy="5065776"/>
          </a:xfrm>
        </p:spPr>
        <p:txBody>
          <a:bodyPr>
            <a:normAutofit/>
          </a:bodyPr>
          <a:lstStyle/>
          <a:p>
            <a:pPr algn="r"/>
            <a:endParaRPr lang="ur-PK" sz="6600" dirty="0">
              <a:latin typeface="Jameel Noori Nastaleeq" panose="02000503000000020004" pitchFamily="2" charset="-78"/>
              <a:cs typeface="Jameel Noori Nastaleeq" panose="02000503000000020004" pitchFamily="2" charset="-78"/>
            </a:endParaRPr>
          </a:p>
          <a:p>
            <a:pPr algn="r"/>
            <a:r>
              <a:rPr lang="ur-PK" sz="6600" dirty="0">
                <a:latin typeface="Jameel Noori Nastaleeq" panose="02000503000000020004" pitchFamily="2" charset="-78"/>
                <a:cs typeface="Jameel Noori Nastaleeq" panose="02000503000000020004" pitchFamily="2" charset="-78"/>
              </a:rPr>
              <a:t>٭دین کے لغوی معنی اطاعت اور جزا کے ہیں- </a:t>
            </a:r>
          </a:p>
          <a:p>
            <a:pPr algn="r"/>
            <a:r>
              <a:rPr lang="ur-PK" sz="6600" dirty="0">
                <a:latin typeface="Jameel Noori Nastaleeq" panose="02000503000000020004" pitchFamily="2" charset="-78"/>
                <a:cs typeface="Jameel Noori Nastaleeq" panose="02000503000000020004" pitchFamily="2" charset="-78"/>
              </a:rPr>
              <a:t>٭٭اصطلاحی مفہوم ہے اللہ تعالیٰ کے احکام کی پیروی اور اطاعت۔</a:t>
            </a:r>
            <a:br>
              <a:rPr lang="ur-PK" sz="6600" dirty="0">
                <a:latin typeface="Jameel Noori Nastaleeq" panose="02000503000000020004" pitchFamily="2" charset="-78"/>
                <a:cs typeface="Jameel Noori Nastaleeq" panose="02000503000000020004" pitchFamily="2" charset="-78"/>
              </a:rPr>
            </a:br>
            <a:endParaRPr lang="en-US" sz="6600" dirty="0">
              <a:latin typeface="Jameel Noori Nastaleeq" panose="02000503000000020004" pitchFamily="2" charset="-78"/>
              <a:cs typeface="Jameel Noori Nastaleeq" panose="02000503000000020004" pitchFamily="2" charset="-78"/>
            </a:endParaRPr>
          </a:p>
        </p:txBody>
      </p:sp>
    </p:spTree>
    <p:extLst>
      <p:ext uri="{BB962C8B-B14F-4D97-AF65-F5344CB8AC3E}">
        <p14:creationId xmlns:p14="http://schemas.microsoft.com/office/powerpoint/2010/main" val="701276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2387600"/>
          </a:xfrm>
        </p:spPr>
        <p:txBody>
          <a:bodyPr>
            <a:normAutofit/>
          </a:bodyPr>
          <a:lstStyle/>
          <a:p>
            <a:r>
              <a:rPr lang="ur-PK" dirty="0">
                <a:latin typeface="Jameel Noori Nastaleeq" panose="02000503000000000004" pitchFamily="2" charset="-78"/>
                <a:cs typeface="Jameel Noori Nastaleeq" panose="02000503000000000004" pitchFamily="2" charset="-78"/>
              </a:rPr>
              <a:t>مذہب کے لغوی اور اصطلاحی معنی:</a:t>
            </a:r>
            <a:br>
              <a:rPr lang="ur-PK" dirty="0">
                <a:latin typeface="Jameel Noori Nastaleeq" panose="02000503000000000004" pitchFamily="2" charset="-78"/>
                <a:cs typeface="Jameel Noori Nastaleeq" panose="02000503000000000004" pitchFamily="2" charset="-78"/>
              </a:rPr>
            </a:br>
            <a:endParaRPr lang="en-US" dirty="0">
              <a:latin typeface="Jameel Noori Nastaleeq" panose="02000503000000000004" pitchFamily="2" charset="-78"/>
              <a:cs typeface="Jameel Noori Nastaleeq" panose="02000503000000000004" pitchFamily="2" charset="-78"/>
            </a:endParaRPr>
          </a:p>
        </p:txBody>
      </p:sp>
      <p:sp>
        <p:nvSpPr>
          <p:cNvPr id="3" name="Subtitle 2"/>
          <p:cNvSpPr>
            <a:spLocks noGrp="1"/>
          </p:cNvSpPr>
          <p:nvPr>
            <p:ph type="subTitle" idx="1"/>
          </p:nvPr>
        </p:nvSpPr>
        <p:spPr>
          <a:xfrm>
            <a:off x="0" y="1847088"/>
            <a:ext cx="12192000" cy="5010912"/>
          </a:xfrm>
        </p:spPr>
        <p:txBody>
          <a:bodyPr>
            <a:normAutofit fontScale="92500" lnSpcReduction="10000"/>
          </a:bodyPr>
          <a:lstStyle/>
          <a:p>
            <a:pPr marL="685800" indent="-685800" algn="r" rtl="1">
              <a:buFont typeface="Wingdings" panose="05000000000000000000" pitchFamily="2" charset="2"/>
              <a:buChar char="§"/>
            </a:pPr>
            <a:endParaRPr lang="en-US" sz="4800" dirty="0">
              <a:latin typeface="Jameel Noori Nastaleeq" panose="02000503000000000004" pitchFamily="2" charset="-78"/>
              <a:cs typeface="Jameel Noori Nastaleeq" panose="02000503000000000004" pitchFamily="2" charset="-78"/>
            </a:endParaRPr>
          </a:p>
          <a:p>
            <a:pPr marL="685800" indent="-685800" algn="r" rtl="1">
              <a:buFont typeface="Wingdings" panose="05000000000000000000" pitchFamily="2" charset="2"/>
              <a:buChar char="§"/>
            </a:pPr>
            <a:r>
              <a:rPr lang="ur-PK" sz="4800" dirty="0">
                <a:latin typeface="Jameel Noori Nastaleeq" panose="02000503000000000004" pitchFamily="2" charset="-78"/>
                <a:cs typeface="Jameel Noori Nastaleeq" panose="02000503000000000004" pitchFamily="2" charset="-78"/>
              </a:rPr>
              <a:t>مذہب عربی زبان کا لفظ ہے جس کے لغوی معنی ہیں راستہ ،طریقہ ، اعتقاداور اصل ۔ جبکہ اسکے</a:t>
            </a:r>
            <a:endParaRPr lang="en-US" sz="4800" dirty="0">
              <a:latin typeface="Jameel Noori Nastaleeq" panose="02000503000000000004" pitchFamily="2" charset="-78"/>
              <a:cs typeface="Jameel Noori Nastaleeq" panose="02000503000000000004" pitchFamily="2" charset="-78"/>
            </a:endParaRPr>
          </a:p>
          <a:p>
            <a:pPr marL="685800" indent="-685800" algn="r" rtl="1">
              <a:buFont typeface="Wingdings" panose="05000000000000000000" pitchFamily="2" charset="2"/>
              <a:buChar char="§"/>
            </a:pPr>
            <a:r>
              <a:rPr lang="ur-PK" sz="4800" dirty="0">
                <a:latin typeface="Jameel Noori Nastaleeq" panose="02000503000000000004" pitchFamily="2" charset="-78"/>
                <a:cs typeface="Jameel Noori Nastaleeq" panose="02000503000000000004" pitchFamily="2" charset="-78"/>
              </a:rPr>
              <a:t> اصطلاحی معنی مراد ہے مذہب ان ہدایات اور احکام کا نام ہے جو وقتاًفوقتاً اللہ تعالیٰ نے اپنے انبیاء علیہم السلام کے ذریعے اپنے بندوں کے لیے بھیجے ،</a:t>
            </a:r>
            <a:endParaRPr lang="en-US" sz="4800" dirty="0">
              <a:latin typeface="Jameel Noori Nastaleeq" panose="02000503000000000004" pitchFamily="2" charset="-78"/>
              <a:cs typeface="Jameel Noori Nastaleeq" panose="02000503000000000004" pitchFamily="2" charset="-78"/>
            </a:endParaRPr>
          </a:p>
          <a:p>
            <a:pPr marL="685800" indent="-685800" algn="r" rtl="1">
              <a:buFont typeface="Wingdings" panose="05000000000000000000" pitchFamily="2" charset="2"/>
              <a:buChar char="§"/>
            </a:pPr>
            <a:endParaRPr lang="en-US" sz="4800" dirty="0">
              <a:latin typeface="Jameel Noori Nastaleeq" panose="02000503000000000004" pitchFamily="2" charset="-78"/>
              <a:cs typeface="Jameel Noori Nastaleeq" panose="02000503000000000004" pitchFamily="2" charset="-78"/>
            </a:endParaRPr>
          </a:p>
          <a:p>
            <a:pPr marL="685800" indent="-685800" algn="r" rtl="1">
              <a:buFont typeface="Wingdings" panose="05000000000000000000" pitchFamily="2" charset="2"/>
              <a:buChar char="§"/>
            </a:pPr>
            <a:r>
              <a:rPr lang="ur-PK" sz="4800" dirty="0">
                <a:latin typeface="Jameel Noori Nastaleeq" panose="02000503000000000004" pitchFamily="2" charset="-78"/>
                <a:cs typeface="Jameel Noori Nastaleeq" panose="02000503000000000004" pitchFamily="2" charset="-78"/>
              </a:rPr>
              <a:t>جن پر گامزن ہو کر انسان اس دنیا اور آخرت کی زندگی کو سنوار سکتا ہے۔</a:t>
            </a:r>
            <a:br>
              <a:rPr lang="ur-PK" sz="4800" dirty="0">
                <a:latin typeface="Jameel Noori Nastaleeq" panose="02000503000000000004" pitchFamily="2" charset="-78"/>
                <a:cs typeface="Jameel Noori Nastaleeq" panose="02000503000000000004" pitchFamily="2" charset="-78"/>
              </a:rPr>
            </a:br>
            <a:endParaRPr lang="en-US" sz="4800" dirty="0">
              <a:latin typeface="Jameel Noori Nastaleeq" panose="02000503000000000004" pitchFamily="2" charset="-78"/>
              <a:cs typeface="Jameel Noori Nastaleeq" panose="02000503000000000004" pitchFamily="2" charset="-78"/>
            </a:endParaRPr>
          </a:p>
        </p:txBody>
      </p:sp>
    </p:spTree>
    <p:extLst>
      <p:ext uri="{BB962C8B-B14F-4D97-AF65-F5344CB8AC3E}">
        <p14:creationId xmlns:p14="http://schemas.microsoft.com/office/powerpoint/2010/main" val="3185462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755648"/>
          </a:xfrm>
        </p:spPr>
        <p:txBody>
          <a:bodyPr/>
          <a:lstStyle/>
          <a:p>
            <a:r>
              <a:rPr lang="ur-PK" dirty="0"/>
              <a:t>دین اور مذہب کے ہم معنی الفاظ:</a:t>
            </a:r>
            <a:br>
              <a:rPr lang="ur-PK" dirty="0"/>
            </a:br>
            <a:endParaRPr lang="en-US" dirty="0"/>
          </a:p>
        </p:txBody>
      </p:sp>
      <p:sp>
        <p:nvSpPr>
          <p:cNvPr id="3" name="Subtitle 2"/>
          <p:cNvSpPr>
            <a:spLocks noGrp="1"/>
          </p:cNvSpPr>
          <p:nvPr>
            <p:ph type="subTitle" idx="1"/>
          </p:nvPr>
        </p:nvSpPr>
        <p:spPr>
          <a:xfrm>
            <a:off x="0" y="1719072"/>
            <a:ext cx="12192000" cy="5138928"/>
          </a:xfrm>
        </p:spPr>
        <p:txBody>
          <a:bodyPr>
            <a:noAutofit/>
          </a:bodyPr>
          <a:lstStyle/>
          <a:p>
            <a:pPr algn="r"/>
            <a:r>
              <a:rPr lang="ur-PK" sz="3200" dirty="0">
                <a:latin typeface="Jameel Noori Nastaleeq" panose="02000503000000000004" pitchFamily="2" charset="-78"/>
                <a:cs typeface="Jameel Noori Nastaleeq" panose="02000503000000000004" pitchFamily="2" charset="-78"/>
              </a:rPr>
              <a:t>۱</a:t>
            </a:r>
            <a:r>
              <a:rPr lang="ur-PK" sz="3200" b="1" dirty="0">
                <a:latin typeface="Jameel Noori Nastaleeq" panose="02000503000000000004" pitchFamily="2" charset="-78"/>
                <a:cs typeface="Jameel Noori Nastaleeq" panose="02000503000000000004" pitchFamily="2" charset="-78"/>
              </a:rPr>
              <a:t>۔ ملت</a:t>
            </a:r>
            <a:r>
              <a:rPr lang="ur-PK" sz="3200" dirty="0">
                <a:latin typeface="Jameel Noori Nastaleeq" panose="02000503000000000004" pitchFamily="2" charset="-78"/>
                <a:cs typeface="Jameel Noori Nastaleeq" panose="02000503000000000004" pitchFamily="2" charset="-78"/>
              </a:rPr>
              <a:t>:</a:t>
            </a:r>
            <a:br>
              <a:rPr lang="ur-PK" sz="3200" dirty="0">
                <a:latin typeface="Jameel Noori Nastaleeq" panose="02000503000000000004" pitchFamily="2" charset="-78"/>
                <a:cs typeface="Jameel Noori Nastaleeq" panose="02000503000000000004" pitchFamily="2" charset="-78"/>
              </a:rPr>
            </a:br>
            <a:r>
              <a:rPr lang="ur-PK" sz="3200" dirty="0">
                <a:latin typeface="Jameel Noori Nastaleeq" panose="02000503000000000004" pitchFamily="2" charset="-78"/>
                <a:cs typeface="Jameel Noori Nastaleeq" panose="02000503000000000004" pitchFamily="2" charset="-78"/>
              </a:rPr>
              <a:t>قُلْ صَدَقَ اللہُ۟ فَاتَّبِعُوۡا مِلَّۃَ اِبْرٰہِیۡمَ حَنِیۡفًاؕ وَمَا کَانَ مِنَ الْمُشْرِکِیۡنَ﴿۹۵﴾</a:t>
            </a:r>
            <a:br>
              <a:rPr lang="ur-PK" sz="3200" dirty="0">
                <a:latin typeface="Jameel Noori Nastaleeq" panose="02000503000000000004" pitchFamily="2" charset="-78"/>
                <a:cs typeface="Jameel Noori Nastaleeq" panose="02000503000000000004" pitchFamily="2" charset="-78"/>
              </a:rPr>
            </a:br>
            <a:r>
              <a:rPr lang="ur-PK" sz="3200" dirty="0">
                <a:latin typeface="Jameel Noori Nastaleeq" panose="02000503000000000004" pitchFamily="2" charset="-78"/>
                <a:cs typeface="Jameel Noori Nastaleeq" panose="02000503000000000004" pitchFamily="2" charset="-78"/>
              </a:rPr>
              <a:t>تم فرماؤ اللّٰہ سچا ہے تو ابراہیم کے دین پر چلو جوہر باطل سے جدا تھے اور شرک والوںمیں نہ تھے</a:t>
            </a:r>
            <a:br>
              <a:rPr lang="ur-PK" sz="3200" dirty="0">
                <a:latin typeface="Jameel Noori Nastaleeq" panose="02000503000000000004" pitchFamily="2" charset="-78"/>
                <a:cs typeface="Jameel Noori Nastaleeq" panose="02000503000000000004" pitchFamily="2" charset="-78"/>
              </a:rPr>
            </a:br>
            <a:r>
              <a:rPr lang="ur-PK" sz="3200" dirty="0">
                <a:latin typeface="Jameel Noori Nastaleeq" panose="02000503000000000004" pitchFamily="2" charset="-78"/>
                <a:cs typeface="Jameel Noori Nastaleeq" panose="02000503000000000004" pitchFamily="2" charset="-78"/>
              </a:rPr>
              <a:t>(سورۃ آلِ عمران:۹۵)</a:t>
            </a:r>
            <a:br>
              <a:rPr lang="ur-PK" sz="3200" dirty="0">
                <a:latin typeface="Jameel Noori Nastaleeq" panose="02000503000000000004" pitchFamily="2" charset="-78"/>
                <a:cs typeface="Jameel Noori Nastaleeq" panose="02000503000000000004" pitchFamily="2" charset="-78"/>
              </a:rPr>
            </a:br>
            <a:r>
              <a:rPr lang="ur-PK" sz="3200" dirty="0">
                <a:latin typeface="Jameel Noori Nastaleeq" panose="02000503000000000004" pitchFamily="2" charset="-78"/>
                <a:cs typeface="Jameel Noori Nastaleeq" panose="02000503000000000004" pitchFamily="2" charset="-78"/>
              </a:rPr>
              <a:t>۲۔ </a:t>
            </a:r>
            <a:r>
              <a:rPr lang="ur-PK" sz="3200" b="1" dirty="0">
                <a:latin typeface="Jameel Noori Nastaleeq" panose="02000503000000000004" pitchFamily="2" charset="-78"/>
                <a:cs typeface="Jameel Noori Nastaleeq" panose="02000503000000000004" pitchFamily="2" charset="-78"/>
              </a:rPr>
              <a:t>سبیل</a:t>
            </a:r>
            <a:r>
              <a:rPr lang="ur-PK" sz="3200" dirty="0">
                <a:latin typeface="Jameel Noori Nastaleeq" panose="02000503000000000004" pitchFamily="2" charset="-78"/>
                <a:cs typeface="Jameel Noori Nastaleeq" panose="02000503000000000004" pitchFamily="2" charset="-78"/>
              </a:rPr>
              <a:t>:</a:t>
            </a:r>
            <a:br>
              <a:rPr lang="ur-PK" sz="3200" dirty="0">
                <a:latin typeface="Jameel Noori Nastaleeq" panose="02000503000000000004" pitchFamily="2" charset="-78"/>
                <a:cs typeface="Jameel Noori Nastaleeq" panose="02000503000000000004" pitchFamily="2" charset="-78"/>
              </a:rPr>
            </a:br>
            <a:r>
              <a:rPr lang="ur-PK" sz="3200" dirty="0">
                <a:latin typeface="Jameel Noori Nastaleeq" panose="02000503000000000004" pitchFamily="2" charset="-78"/>
                <a:cs typeface="Jameel Noori Nastaleeq" panose="02000503000000000004" pitchFamily="2" charset="-78"/>
              </a:rPr>
              <a:t>اُدْعُ اِلٰی سَبِیۡلِ رَبِّکَ بِالْحِکْمَۃِ وَ الْمَوْعِظَۃِ الْحَسَنَۃِ وَجٰدِلْہُمۡ بِالَّتِیۡ ہِیَ اَحْسَنُ ؕ اِنَّ رَبَّکَ ہُوَ اَعْلَمُ بِمَنۡ ضَلَّ عَنۡ سَبِیۡلِہٖ وَ ہُوَ اَعْلَمُ بِالْمُہۡتَدِیۡنَ ﴿۱۲۵﴾</a:t>
            </a:r>
            <a:br>
              <a:rPr lang="ur-PK" sz="3200" dirty="0">
                <a:latin typeface="Jameel Noori Nastaleeq" panose="02000503000000000004" pitchFamily="2" charset="-78"/>
                <a:cs typeface="Jameel Noori Nastaleeq" panose="02000503000000000004" pitchFamily="2" charset="-78"/>
              </a:rPr>
            </a:br>
            <a:r>
              <a:rPr lang="ur-PK" sz="3200" dirty="0">
                <a:latin typeface="Jameel Noori Nastaleeq" panose="02000503000000000004" pitchFamily="2" charset="-78"/>
                <a:cs typeface="Jameel Noori Nastaleeq" panose="02000503000000000004" pitchFamily="2" charset="-78"/>
              </a:rPr>
              <a:t>اپنے رب کی راہ کی طرف بلاؤ پکّی تدبیر اور اچھی نصیحت سے اور ان سے اس طریقہ پر بحث کرو جو سب سے بہتر ہو بیشک تمہارا رب خوب جانتا ہے جو اس کی راہ سے بہکا اور وہ خوب جانتا ہے راہ والوں کو</a:t>
            </a:r>
            <a:br>
              <a:rPr lang="ur-PK" sz="3200" dirty="0">
                <a:latin typeface="Jameel Noori Nastaleeq" panose="02000503000000000004" pitchFamily="2" charset="-78"/>
                <a:cs typeface="Jameel Noori Nastaleeq" panose="02000503000000000004" pitchFamily="2" charset="-78"/>
              </a:rPr>
            </a:br>
            <a:r>
              <a:rPr lang="ur-PK" sz="3200" dirty="0">
                <a:latin typeface="Jameel Noori Nastaleeq" panose="02000503000000000004" pitchFamily="2" charset="-78"/>
                <a:cs typeface="Jameel Noori Nastaleeq" panose="02000503000000000004" pitchFamily="2" charset="-78"/>
              </a:rPr>
              <a:t>(سورۃ النحل:۱۲۵)</a:t>
            </a:r>
            <a:br>
              <a:rPr lang="ur-PK" sz="3200" dirty="0">
                <a:latin typeface="Jameel Noori Nastaleeq" panose="02000503000000000004" pitchFamily="2" charset="-78"/>
                <a:cs typeface="Jameel Noori Nastaleeq" panose="02000503000000000004" pitchFamily="2" charset="-78"/>
              </a:rPr>
            </a:br>
            <a:endParaRPr lang="en-US" sz="3200" dirty="0">
              <a:latin typeface="Jameel Noori Nastaleeq" panose="02000503000000000004" pitchFamily="2" charset="-78"/>
              <a:cs typeface="Jameel Noori Nastaleeq" panose="02000503000000000004" pitchFamily="2" charset="-78"/>
            </a:endParaRPr>
          </a:p>
        </p:txBody>
      </p:sp>
    </p:spTree>
    <p:extLst>
      <p:ext uri="{BB962C8B-B14F-4D97-AF65-F5344CB8AC3E}">
        <p14:creationId xmlns:p14="http://schemas.microsoft.com/office/powerpoint/2010/main" val="848038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0" y="0"/>
            <a:ext cx="12192000" cy="1755648"/>
          </a:xfrm>
        </p:spPr>
        <p:txBody>
          <a:bodyPr/>
          <a:lstStyle/>
          <a:p>
            <a:r>
              <a:rPr lang="ur-PK" dirty="0"/>
              <a:t>دین اور مذہب کے ہم معنی الفاظ:</a:t>
            </a:r>
            <a:br>
              <a:rPr lang="ur-PK" dirty="0"/>
            </a:br>
            <a:endParaRPr lang="en-US" dirty="0"/>
          </a:p>
        </p:txBody>
      </p:sp>
      <p:sp>
        <p:nvSpPr>
          <p:cNvPr id="5" name="Subtitle 2"/>
          <p:cNvSpPr>
            <a:spLocks noGrp="1"/>
          </p:cNvSpPr>
          <p:nvPr>
            <p:ph type="subTitle" idx="1"/>
          </p:nvPr>
        </p:nvSpPr>
        <p:spPr>
          <a:xfrm>
            <a:off x="0" y="1719072"/>
            <a:ext cx="12192000" cy="5138928"/>
          </a:xfrm>
        </p:spPr>
        <p:txBody>
          <a:bodyPr>
            <a:noAutofit/>
          </a:bodyPr>
          <a:lstStyle/>
          <a:p>
            <a:r>
              <a:rPr lang="ur-PK" sz="3600" dirty="0"/>
              <a:t>۳۔ </a:t>
            </a:r>
            <a:r>
              <a:rPr lang="ur-PK" sz="3600" b="1" dirty="0"/>
              <a:t>طریق /منہاج :</a:t>
            </a:r>
            <a:br>
              <a:rPr lang="ur-PK" sz="3600" b="1" dirty="0"/>
            </a:br>
            <a:r>
              <a:rPr lang="ur-PK" sz="3600" dirty="0"/>
              <a:t>قَالُوۡا یٰقَوْمَنَاۤ اِنَّا سَمِعْنَا کِتٰبًا اُنۡزِلَ مِنۡۢ بَعْدِ مُوۡسٰی مُصَدِّقًا لِّمَا بَیۡنَ یَدَیۡہِ یَہۡدِیۡۤ اِلَی الْحَقِّ وَ اِلٰی طَرِیۡقٍ مُّسْتَقِیۡمٍ ﴿۳۰﴾</a:t>
            </a:r>
            <a:br>
              <a:rPr lang="ur-PK" sz="3600" dirty="0"/>
            </a:br>
            <a:r>
              <a:rPr lang="ur-PK" sz="3600" dirty="0"/>
              <a:t>بولے اے ہماری قوم ہم نے ایک کتاب سنی کہ موسٰی کے بعد اتاری گئی اگلی کتابوں کی تصدیق فرماتی حق اور سیدھی راہ دکھاتی</a:t>
            </a:r>
            <a:br>
              <a:rPr lang="ur-PK" sz="3600" dirty="0"/>
            </a:br>
            <a:r>
              <a:rPr lang="ur-PK" sz="3600" dirty="0"/>
              <a:t>(سورۃ الأحقاف:۳۰)</a:t>
            </a:r>
            <a:br>
              <a:rPr lang="ur-PK" sz="3600" dirty="0"/>
            </a:br>
            <a:r>
              <a:rPr lang="ur-PK" sz="3600" dirty="0"/>
              <a:t>۴۔ </a:t>
            </a:r>
            <a:r>
              <a:rPr lang="ur-PK" sz="3600" b="1" dirty="0"/>
              <a:t>شریعت</a:t>
            </a:r>
            <a:r>
              <a:rPr lang="ur-PK" sz="3600" dirty="0"/>
              <a:t> :</a:t>
            </a:r>
            <a:br>
              <a:rPr lang="ur-PK" sz="3600" dirty="0"/>
            </a:br>
            <a:r>
              <a:rPr lang="ur-PK" sz="3600" dirty="0"/>
              <a:t>لِکُلٍّ جَعَلْنَا مِنۡکُمْ شِرْعَۃً وَّمِنْہَاجًا</a:t>
            </a:r>
            <a:br>
              <a:rPr lang="ur-PK" sz="3600" dirty="0"/>
            </a:br>
            <a:r>
              <a:rPr lang="ur-PK" sz="3600" dirty="0"/>
              <a:t>ہم نے تم سب کے لئے ایک ایک شریعت اور راستہ رکھا</a:t>
            </a:r>
            <a:br>
              <a:rPr lang="ur-PK" sz="3600" dirty="0"/>
            </a:br>
            <a:r>
              <a:rPr lang="ur-PK" sz="3600" dirty="0"/>
              <a:t>(سورۃ المآئدہ:۴۸)</a:t>
            </a:r>
            <a:endParaRPr lang="en-US" sz="3600" dirty="0">
              <a:cs typeface="+mj-cs"/>
            </a:endParaRPr>
          </a:p>
        </p:txBody>
      </p:sp>
    </p:spTree>
    <p:extLst>
      <p:ext uri="{BB962C8B-B14F-4D97-AF65-F5344CB8AC3E}">
        <p14:creationId xmlns:p14="http://schemas.microsoft.com/office/powerpoint/2010/main" val="1094762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664208"/>
          </a:xfrm>
        </p:spPr>
        <p:txBody>
          <a:bodyPr>
            <a:normAutofit fontScale="90000"/>
          </a:bodyPr>
          <a:lstStyle/>
          <a:p>
            <a:r>
              <a:rPr lang="ur-PK" dirty="0"/>
              <a:t>دین اور مذہب کے ہم معنی الفاظ:</a:t>
            </a:r>
            <a:br>
              <a:rPr lang="ur-PK" dirty="0"/>
            </a:br>
            <a:endParaRPr lang="en-US" dirty="0"/>
          </a:p>
        </p:txBody>
      </p:sp>
      <p:sp>
        <p:nvSpPr>
          <p:cNvPr id="3" name="Subtitle 2"/>
          <p:cNvSpPr>
            <a:spLocks noGrp="1"/>
          </p:cNvSpPr>
          <p:nvPr>
            <p:ph type="subTitle" idx="1"/>
          </p:nvPr>
        </p:nvSpPr>
        <p:spPr>
          <a:xfrm>
            <a:off x="0" y="1335024"/>
            <a:ext cx="12192000" cy="5522976"/>
          </a:xfrm>
        </p:spPr>
        <p:txBody>
          <a:bodyPr>
            <a:normAutofit/>
          </a:bodyPr>
          <a:lstStyle/>
          <a:p>
            <a:r>
              <a:rPr lang="ur-PK" sz="3600" dirty="0"/>
              <a:t>۵۔ </a:t>
            </a:r>
            <a:r>
              <a:rPr lang="ur-PK" sz="3600" b="1" dirty="0"/>
              <a:t>ہدایت</a:t>
            </a:r>
            <a:r>
              <a:rPr lang="ur-PK" sz="3600" dirty="0"/>
              <a:t>:</a:t>
            </a:r>
            <a:br>
              <a:rPr lang="ur-PK" sz="3600" dirty="0"/>
            </a:br>
            <a:r>
              <a:rPr lang="ur-PK" sz="3600" dirty="0"/>
              <a:t>قُلْنَا اہۡبِطُوۡا مِنْہَا جَمِیۡعًا ۚ فَاِمَّا یَاۡتِیَنَّکُمۡ مِّنِّیۡ ہُدًی فَمَنۡ تَبِعَ ہُدَایَ فَلَا خَوْفٌ عَلَیۡہِمْ وَلَا ہُمْ یَحْزَنُوۡنَ﴿۳۸﴾</a:t>
            </a:r>
            <a:br>
              <a:rPr lang="ur-PK" sz="3600" dirty="0"/>
            </a:br>
            <a:r>
              <a:rPr lang="ur-PK" sz="3600" dirty="0"/>
              <a:t>ہم نے فرمایا تم سب جنت سے اتر جاؤ پھر اگر تمہارے پاس میری طرف سے کوئی ہدایت آئے تو جو میری ہدایت کا پیرو ہوا اسے نہ کوئی اندیشہ نہ کچھ غم</a:t>
            </a:r>
            <a:br>
              <a:rPr lang="ur-PK" sz="3600" dirty="0"/>
            </a:br>
            <a:r>
              <a:rPr lang="ur-PK" sz="3600" dirty="0"/>
              <a:t>(سورۃ البقرۃ:۳۸)</a:t>
            </a:r>
            <a:br>
              <a:rPr lang="ur-PK" sz="3600" dirty="0"/>
            </a:br>
            <a:r>
              <a:rPr lang="ur-PK" sz="3600" dirty="0"/>
              <a:t>۶۔ </a:t>
            </a:r>
            <a:r>
              <a:rPr lang="ur-PK" sz="3600" b="1" dirty="0"/>
              <a:t>صراط</a:t>
            </a:r>
            <a:r>
              <a:rPr lang="ur-PK" sz="3600" dirty="0"/>
              <a:t>:</a:t>
            </a:r>
            <a:br>
              <a:rPr lang="ur-PK" sz="3600" dirty="0"/>
            </a:br>
            <a:r>
              <a:rPr lang="ur-PK" sz="3600" dirty="0"/>
              <a:t>وَ اِنَّکَ لَتَہۡدِیۡۤ اِلٰی صِرٰطٍ مُّسْتَقِیۡمٍ ﴿ۙ۵۲﴾</a:t>
            </a:r>
            <a:br>
              <a:rPr lang="ur-PK" sz="3600" dirty="0"/>
            </a:br>
            <a:r>
              <a:rPr lang="ur-PK" sz="3600" dirty="0"/>
              <a:t>اور بیشک تم ضرور سیدھی راہ بتاتے ہو(سورۃ الشورٰی:۵۲)</a:t>
            </a:r>
            <a:endParaRPr lang="en-US" sz="3600" dirty="0"/>
          </a:p>
        </p:txBody>
      </p:sp>
    </p:spTree>
    <p:extLst>
      <p:ext uri="{BB962C8B-B14F-4D97-AF65-F5344CB8AC3E}">
        <p14:creationId xmlns:p14="http://schemas.microsoft.com/office/powerpoint/2010/main" val="251590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956816"/>
          </a:xfrm>
        </p:spPr>
        <p:txBody>
          <a:bodyPr/>
          <a:lstStyle/>
          <a:p>
            <a:r>
              <a:rPr lang="ur-PK" dirty="0"/>
              <a:t>مذہب اور دین میں فرق:</a:t>
            </a:r>
            <a:br>
              <a:rPr lang="ur-PK" dirty="0"/>
            </a:br>
            <a:endParaRPr lang="en-US" dirty="0"/>
          </a:p>
        </p:txBody>
      </p:sp>
      <p:sp>
        <p:nvSpPr>
          <p:cNvPr id="3" name="Subtitle 2"/>
          <p:cNvSpPr>
            <a:spLocks noGrp="1"/>
          </p:cNvSpPr>
          <p:nvPr>
            <p:ph type="subTitle" idx="1"/>
          </p:nvPr>
        </p:nvSpPr>
        <p:spPr>
          <a:xfrm>
            <a:off x="0" y="1719072"/>
            <a:ext cx="12192000" cy="5138928"/>
          </a:xfrm>
        </p:spPr>
        <p:txBody>
          <a:bodyPr>
            <a:normAutofit/>
          </a:bodyPr>
          <a:lstStyle/>
          <a:p>
            <a:pPr algn="r"/>
            <a:r>
              <a:rPr lang="ur-PK" sz="3600" dirty="0"/>
              <a:t>مذہب کا لغوی معنی راستہ کے ہیں جبکہ دین کے لغوی معنی جزا اوراطاعت کے ہیں ۔ یہ دونوں الفاظ عربی زبان میں ایک ہی معنوں میں استعمال ہوتے ہیں ۔ قرآن مجید میں دین ایک جامع نظام زندگی کے معنوں میں استعمال کیا گیا ہے۔ جبکہ مذہب کا لفظ عرب زبان میں اصل، راستہ کے معنوں میں استعمال کیا جاتا ہے ۔</a:t>
            </a:r>
            <a:br>
              <a:rPr lang="ur-PK" sz="3600" dirty="0"/>
            </a:br>
            <a:r>
              <a:rPr lang="ur-PK" sz="3600" dirty="0"/>
              <a:t>عام طور پر مذہب کے لفظ سے فقہاء کے چار مذاہب لیے جاتے ہیں ۔ لیکن جب ہم فقہی مسلک کے معنوں میں اس لفظ کے استعمال ہونے پر غور کرے ہیں تو ہر فقہ کا ایک وسیع میدان ہے اور فقہ میں ا نسانی زندگی کے تمام پہلوؤں پر بحث کی گئی ہے اور یہ پوری زندگی کے مسائل پر محیط ہے، اس لیے ہم یہ کہہ سکتے ہیں کہ یہ دونوں الفاظ ہم معنی ہیں۔</a:t>
            </a:r>
            <a:endParaRPr lang="en-US" sz="3600" dirty="0"/>
          </a:p>
        </p:txBody>
      </p:sp>
    </p:spTree>
    <p:extLst>
      <p:ext uri="{BB962C8B-B14F-4D97-AF65-F5344CB8AC3E}">
        <p14:creationId xmlns:p14="http://schemas.microsoft.com/office/powerpoint/2010/main" val="61825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2430971"/>
          </a:xfrm>
        </p:spPr>
        <p:txBody>
          <a:bodyPr/>
          <a:lstStyle/>
          <a:p>
            <a:r>
              <a:rPr lang="ur-PK" dirty="0"/>
              <a:t>دین اور مذہب کی ضرورت:</a:t>
            </a:r>
            <a:br>
              <a:rPr lang="ur-PK" dirty="0"/>
            </a:br>
            <a:endParaRPr lang="en-US" dirty="0"/>
          </a:p>
        </p:txBody>
      </p:sp>
      <p:sp>
        <p:nvSpPr>
          <p:cNvPr id="3" name="Subtitle 2"/>
          <p:cNvSpPr>
            <a:spLocks noGrp="1"/>
          </p:cNvSpPr>
          <p:nvPr>
            <p:ph type="subTitle" idx="1"/>
          </p:nvPr>
        </p:nvSpPr>
        <p:spPr>
          <a:xfrm>
            <a:off x="0" y="2011680"/>
            <a:ext cx="12192000" cy="4846320"/>
          </a:xfrm>
        </p:spPr>
        <p:txBody>
          <a:bodyPr>
            <a:noAutofit/>
          </a:bodyPr>
          <a:lstStyle/>
          <a:p>
            <a:pPr algn="r"/>
            <a:r>
              <a:rPr lang="ur-PK" sz="2800" dirty="0"/>
              <a:t>بنی نوع انسان کے لئے "مذہب" کی ضرورت مسلم ہے۔ مذہب انسان کا ایک ذاتی مسئلہ ہی نہیں بلکہ اجتماعی مسئلہ بھی ہے۔ کیونکہ مذہب کے بغیر کوئی معاشرہ "مثالی معاشرہ" نہیں بن سکتا۔ مذہب کی ضرورت جس قدر فرد کو ذاتی زندگی کے لئے ہے اس سے زیادہ عام سوسائٹی کو ہے۔ مذہب کی ضرورت واہمیت مندرجہ ذیل وجوہات کی بناء پر لازم ہے:</a:t>
            </a:r>
            <a:br>
              <a:rPr lang="ur-PK" sz="2800" dirty="0"/>
            </a:br>
            <a:r>
              <a:rPr lang="ur-PK" sz="2800" dirty="0"/>
              <a:t>۱۔ فطری ضرورت</a:t>
            </a:r>
            <a:br>
              <a:rPr lang="ur-PK" sz="2800" dirty="0"/>
            </a:br>
            <a:r>
              <a:rPr lang="ur-PK" sz="2800" dirty="0"/>
              <a:t>۲۔ روحانی اقتضاء</a:t>
            </a:r>
            <a:br>
              <a:rPr lang="ur-PK" sz="2800" dirty="0"/>
            </a:br>
            <a:r>
              <a:rPr lang="ur-PK" sz="2800" dirty="0"/>
              <a:t>۳۔ معاشرتی ضرورت</a:t>
            </a:r>
            <a:br>
              <a:rPr lang="ur-PK" sz="2800" dirty="0"/>
            </a:br>
            <a:r>
              <a:rPr lang="ur-PK" sz="2800" dirty="0"/>
              <a:t>۴۔ اخلاق سازی</a:t>
            </a:r>
            <a:br>
              <a:rPr lang="ur-PK" sz="2800" dirty="0"/>
            </a:br>
            <a:r>
              <a:rPr lang="ur-PK" sz="2800" dirty="0"/>
              <a:t>۵۔ سکون قلب کا وسیلہ</a:t>
            </a:r>
            <a:br>
              <a:rPr lang="ur-PK" sz="2800" dirty="0"/>
            </a:br>
            <a:r>
              <a:rPr lang="ur-PK" sz="2800" dirty="0"/>
              <a:t>۶۔ حیات وکائنات کے وسائل</a:t>
            </a:r>
            <a:br>
              <a:rPr lang="ur-PK" sz="2800" dirty="0"/>
            </a:br>
            <a:r>
              <a:rPr lang="ur-PK" sz="2800" dirty="0"/>
              <a:t>۷۔ تہذیب سازی</a:t>
            </a:r>
            <a:endParaRPr lang="en-US" sz="2800" dirty="0"/>
          </a:p>
        </p:txBody>
      </p:sp>
    </p:spTree>
    <p:extLst>
      <p:ext uri="{BB962C8B-B14F-4D97-AF65-F5344CB8AC3E}">
        <p14:creationId xmlns:p14="http://schemas.microsoft.com/office/powerpoint/2010/main" val="2053216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017333"/>
          </a:xfrm>
        </p:spPr>
        <p:txBody>
          <a:bodyPr/>
          <a:lstStyle/>
          <a:p>
            <a:r>
              <a:rPr lang="ur-PK" dirty="0"/>
              <a:t>۱۔ فطری ضرورت:</a:t>
            </a:r>
            <a:endParaRPr lang="en-US" dirty="0"/>
          </a:p>
        </p:txBody>
      </p:sp>
      <p:sp>
        <p:nvSpPr>
          <p:cNvPr id="3" name="Subtitle 2"/>
          <p:cNvSpPr>
            <a:spLocks noGrp="1"/>
          </p:cNvSpPr>
          <p:nvPr>
            <p:ph type="subTitle" idx="1"/>
          </p:nvPr>
        </p:nvSpPr>
        <p:spPr>
          <a:xfrm>
            <a:off x="0" y="1152144"/>
            <a:ext cx="12051792" cy="5705856"/>
          </a:xfrm>
        </p:spPr>
        <p:txBody>
          <a:bodyPr>
            <a:normAutofit/>
          </a:bodyPr>
          <a:lstStyle/>
          <a:p>
            <a:pPr algn="r"/>
            <a:r>
              <a:rPr lang="ur-PK" sz="2800" dirty="0"/>
              <a:t>مذہب انسان کا فطری جذبہ ہے،اس کا اعتراف غیرمسلم مفکرین نے بھی کیا ہے۔ یہ بات انسان کی فطرت میں شامل ہے کہ وہ کسی بلند ہستی سے رجوع کرے، جو زندگی کے دکھ سکھ میں اس کے لئے سہارا ہو اور تمام دنیا سے بڑھ کر اس کا ہمدرد وغمگسار ہو ۔</a:t>
            </a:r>
            <a:br>
              <a:rPr lang="ur-PK" sz="2800" dirty="0"/>
            </a:br>
            <a:r>
              <a:rPr lang="ur-PK" sz="2800" dirty="0"/>
              <a:t>انسان شروع ہی سے ایک نادیدہ ہستی کو اپنا خلق تسلیم کرکے اس سے مدد کا طلب گار رہا ہے۔ انسان نے اسی نادیدہ ہستی کو کبھی خدا،کبھی اللہ ،کبھی یزادن اور کبھی بھگوان کا نام دیا ہے۔ فطرت ہر انسان سے مذہب کا تقاضا کرتی ہے اور انسان مذہب کے بغیر کبھی بھی مطمئن نہیں ہوتا۔</a:t>
            </a:r>
            <a:br>
              <a:rPr lang="ur-PK" sz="2800" dirty="0"/>
            </a:br>
            <a:r>
              <a:rPr lang="ur-PK" sz="2800" dirty="0"/>
              <a:t>خصوصاً غم وآلام میں تواسے مذہب کی اور بھی زیادہ ضرورت محسوس ہوتی ہے۔ ایک انسان جب مشکل حالات سے دوچار ہو کر مایوس ہو کر مذہب کی طرف رجوع کرتا ہے، خدا کے حضور حاضر ہوتا ہے ، مسجد میں جاکر سجدہ ریز ہوتا ہے یا مندر میں جا کر بھگوان کی مورتی کے سامنے گڑگڑاتا ہے تو اس کی روح پرسکون ہوجاتی ہے، اوراس کی پریشانیاں ختم ہوجاتی ہیں ۔ یہ وجہ ہے کہ ہردور میں جاہل سے لیکر عالم تک گدا سے لیکر بادشاہ تک ،متقی سے لیکر گناہ گار تک سبھی کسی نہ کیسی صورت میں مذہب کے مرہون منت رہے ہیں۔</a:t>
            </a:r>
            <a:endParaRPr lang="en-US" sz="2800" dirty="0"/>
          </a:p>
        </p:txBody>
      </p:sp>
    </p:spTree>
    <p:extLst>
      <p:ext uri="{BB962C8B-B14F-4D97-AF65-F5344CB8AC3E}">
        <p14:creationId xmlns:p14="http://schemas.microsoft.com/office/powerpoint/2010/main" val="2700295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920240"/>
          </a:xfrm>
        </p:spPr>
        <p:txBody>
          <a:bodyPr/>
          <a:lstStyle/>
          <a:p>
            <a:r>
              <a:rPr lang="ur-PK" dirty="0"/>
              <a:t>۲۔ روحانی اقتضاء:</a:t>
            </a:r>
            <a:br>
              <a:rPr lang="ur-PK" dirty="0"/>
            </a:br>
            <a:endParaRPr lang="en-US" dirty="0"/>
          </a:p>
        </p:txBody>
      </p:sp>
      <p:sp>
        <p:nvSpPr>
          <p:cNvPr id="3" name="Subtitle 2"/>
          <p:cNvSpPr>
            <a:spLocks noGrp="1"/>
          </p:cNvSpPr>
          <p:nvPr>
            <p:ph type="subTitle" idx="1"/>
          </p:nvPr>
        </p:nvSpPr>
        <p:spPr>
          <a:xfrm>
            <a:off x="0" y="1572768"/>
            <a:ext cx="12192000" cy="5285232"/>
          </a:xfrm>
        </p:spPr>
        <p:txBody>
          <a:bodyPr>
            <a:normAutofit/>
          </a:bodyPr>
          <a:lstStyle/>
          <a:p>
            <a:r>
              <a:rPr lang="ur-PK" sz="4400" dirty="0"/>
              <a:t>انسانی زندگی جسم اور روح کا مرکب ہے ۔ ان دونوں روابط کو برقرار رکھنے کے لئے انسان کو ایک طرف مادی ضرورت اور جسمانی وسائل کی ضرورت ہے تو دوسری طرف روحانی ارتقاء کے لئے اسے روحانی اقدار کی بھی اشد ضرورت ہے۔ جسمانی ضروریات کے لیے وہ زمین سے رزق حاصل کرتا ہے اور روحانی ضرویات کے لیے وہ مذہب یا دین سے مدد حاصل کرتا ہے۔</a:t>
            </a:r>
            <a:br>
              <a:rPr lang="ur-PK" sz="4400" dirty="0"/>
            </a:br>
            <a:endParaRPr lang="en-US" sz="4400" dirty="0"/>
          </a:p>
        </p:txBody>
      </p:sp>
    </p:spTree>
    <p:extLst>
      <p:ext uri="{BB962C8B-B14F-4D97-AF65-F5344CB8AC3E}">
        <p14:creationId xmlns:p14="http://schemas.microsoft.com/office/powerpoint/2010/main" val="91724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2194559"/>
          </a:xfrm>
        </p:spPr>
        <p:txBody>
          <a:bodyPr>
            <a:normAutofit/>
          </a:bodyPr>
          <a:lstStyle/>
          <a:p>
            <a:r>
              <a:rPr lang="ur-PK" dirty="0"/>
              <a:t>۳۔ معاشرتی ضرورت :</a:t>
            </a:r>
            <a:br>
              <a:rPr lang="ur-PK" dirty="0"/>
            </a:br>
            <a:endParaRPr lang="en-US" dirty="0"/>
          </a:p>
        </p:txBody>
      </p:sp>
      <p:sp>
        <p:nvSpPr>
          <p:cNvPr id="3" name="Subtitle 2"/>
          <p:cNvSpPr>
            <a:spLocks noGrp="1"/>
          </p:cNvSpPr>
          <p:nvPr>
            <p:ph type="subTitle" idx="1"/>
          </p:nvPr>
        </p:nvSpPr>
        <p:spPr>
          <a:xfrm>
            <a:off x="0" y="1883664"/>
            <a:ext cx="12192000" cy="4974336"/>
          </a:xfrm>
        </p:spPr>
        <p:txBody>
          <a:bodyPr>
            <a:normAutofit/>
          </a:bodyPr>
          <a:lstStyle/>
          <a:p>
            <a:r>
              <a:rPr lang="ur-PK" sz="4400" dirty="0"/>
              <a:t>انسان تنہا زندگی بسر نہیں کرسکتا وہ مل جل کررہنے پر مجبور ہے۔ بالفاظ دیگر یوں کہا جاسکتا ہے کہ انسان معاشرتی زندگی کا محتاج ہے۔ اور کوئی بھی معاشرہ اس وقت تک وجود میں نہیں آتا جب تک اس معاشرے کے رہنے والوں کا مقصد حیات ایک نا ہو۔ اور وہ مقصد حیات دین یا مذہب ہی کی وجہ سے ممکن ہوتا ہے۔ اور دین یا مذہب ہی کیسی معاشرے کے اصولوں اور قوانین کو مرتب کرتے ہیں ۔</a:t>
            </a:r>
            <a:br>
              <a:rPr lang="ur-PK" sz="4400" dirty="0"/>
            </a:br>
            <a:endParaRPr lang="en-US" sz="4400" dirty="0"/>
          </a:p>
        </p:txBody>
      </p:sp>
    </p:spTree>
    <p:extLst>
      <p:ext uri="{BB962C8B-B14F-4D97-AF65-F5344CB8AC3E}">
        <p14:creationId xmlns:p14="http://schemas.microsoft.com/office/powerpoint/2010/main" val="3180213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993392"/>
          </a:xfrm>
        </p:spPr>
        <p:txBody>
          <a:bodyPr/>
          <a:lstStyle/>
          <a:p>
            <a:r>
              <a:rPr lang="ur-PK" dirty="0"/>
              <a:t>۴۔ اخلاق سازی:</a:t>
            </a:r>
            <a:br>
              <a:rPr lang="ur-PK" dirty="0"/>
            </a:br>
            <a:endParaRPr lang="en-US" dirty="0"/>
          </a:p>
        </p:txBody>
      </p:sp>
      <p:sp>
        <p:nvSpPr>
          <p:cNvPr id="3" name="Subtitle 2"/>
          <p:cNvSpPr>
            <a:spLocks noGrp="1"/>
          </p:cNvSpPr>
          <p:nvPr>
            <p:ph type="subTitle" idx="1"/>
          </p:nvPr>
        </p:nvSpPr>
        <p:spPr>
          <a:xfrm>
            <a:off x="0" y="1572768"/>
            <a:ext cx="12192000" cy="5285232"/>
          </a:xfrm>
        </p:spPr>
        <p:txBody>
          <a:bodyPr>
            <a:normAutofit/>
          </a:bodyPr>
          <a:lstStyle/>
          <a:p>
            <a:r>
              <a:rPr lang="ur-PK" sz="4400" dirty="0"/>
              <a:t>مذہب ایک اخلاق ساز قوت ہے۔ معاشرہ میں وہی اچھا ہے جس کا اخلاق اچھا ہے۔ انسانی اخلاق کا معاشرتی زندگی پر بہت گہرا اثر ہوتا ہے ۔ ایک معاشرہ مالی طور پر خواہ کتنا ہی ترقی پذیر یا ترقی یافتہ کیوں نہ ہو اگر اس معاشرہ کے افراد بداخلاق ہوں تو اس معاشرہ کو بہترین معاشرہ کا نام نہیں دیا جاسکتا۔ انسان کی باہمی زندگی کا تعلق اخلاق ہی سے ہے اور اخلاق تمام معاملات کی ابتداء ہے۔</a:t>
            </a:r>
            <a:br>
              <a:rPr lang="ur-PK" sz="4400" dirty="0"/>
            </a:br>
            <a:endParaRPr lang="en-US" sz="4400" dirty="0"/>
          </a:p>
        </p:txBody>
      </p:sp>
    </p:spTree>
    <p:extLst>
      <p:ext uri="{BB962C8B-B14F-4D97-AF65-F5344CB8AC3E}">
        <p14:creationId xmlns:p14="http://schemas.microsoft.com/office/powerpoint/2010/main" val="2124546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2387600"/>
          </a:xfrm>
        </p:spPr>
        <p:txBody>
          <a:bodyPr/>
          <a:lstStyle/>
          <a:p>
            <a:r>
              <a:rPr lang="ur-PK" dirty="0"/>
              <a:t>۵۔ سکون قلب کا وسیلہ:</a:t>
            </a:r>
            <a:br>
              <a:rPr lang="ur-PK" dirty="0"/>
            </a:br>
            <a:endParaRPr lang="en-US" dirty="0"/>
          </a:p>
        </p:txBody>
      </p:sp>
      <p:sp>
        <p:nvSpPr>
          <p:cNvPr id="3" name="Subtitle 2"/>
          <p:cNvSpPr>
            <a:spLocks noGrp="1"/>
          </p:cNvSpPr>
          <p:nvPr>
            <p:ph type="subTitle" idx="1"/>
          </p:nvPr>
        </p:nvSpPr>
        <p:spPr>
          <a:xfrm>
            <a:off x="0" y="1645920"/>
            <a:ext cx="12192000" cy="5212080"/>
          </a:xfrm>
        </p:spPr>
        <p:txBody>
          <a:bodyPr>
            <a:normAutofit/>
          </a:bodyPr>
          <a:lstStyle/>
          <a:p>
            <a:r>
              <a:rPr lang="ur-PK" sz="4000" dirty="0"/>
              <a:t>انسان کے لیے مادی وسائل کی فراوانی سکون قلب کا باعث نہیں۔ جدید دور میں سائنس اور ٹیکنالوجی کی ترقی کے باعث انسان بے شمار آسائشوں سے بہرہ ور ہے۔ لیکن اس کے باوجود اسے سکون قلب میسر نہیں۔ وہ بھرے گھر میں تنہا ہوکر رہ گیا ہے۔ دنیا کی دولتیں اس کی جھولی میں ہیں لیکن ان دولتوں کے عوض وہ کسی دکان سے سکون قلب نہیں خرید سکتا۔ اگر کوئی تلاش کرے تو اس دور میں بھی ایک درگاہ ہے جہاں سے قلبی سکون حاصل ہو سکتا ہے وہ درگاہ مذہب یا دین کی درگاہ ہے۔</a:t>
            </a:r>
            <a:br>
              <a:rPr lang="ur-PK" sz="4000" dirty="0"/>
            </a:br>
            <a:endParaRPr lang="en-US" sz="4000" dirty="0"/>
          </a:p>
        </p:txBody>
      </p:sp>
    </p:spTree>
    <p:extLst>
      <p:ext uri="{BB962C8B-B14F-4D97-AF65-F5344CB8AC3E}">
        <p14:creationId xmlns:p14="http://schemas.microsoft.com/office/powerpoint/2010/main" val="2595670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773936"/>
          </a:xfrm>
        </p:spPr>
        <p:txBody>
          <a:bodyPr/>
          <a:lstStyle/>
          <a:p>
            <a:r>
              <a:rPr lang="ur-PK" dirty="0"/>
              <a:t>۶۔ حیات وکائنات کے وسائل:</a:t>
            </a:r>
            <a:br>
              <a:rPr lang="ur-PK" dirty="0"/>
            </a:br>
            <a:endParaRPr lang="en-US" dirty="0"/>
          </a:p>
        </p:txBody>
      </p:sp>
      <p:sp>
        <p:nvSpPr>
          <p:cNvPr id="3" name="Subtitle 2"/>
          <p:cNvSpPr>
            <a:spLocks noGrp="1"/>
          </p:cNvSpPr>
          <p:nvPr>
            <p:ph type="subTitle" idx="1"/>
          </p:nvPr>
        </p:nvSpPr>
        <p:spPr>
          <a:xfrm>
            <a:off x="0" y="1755648"/>
            <a:ext cx="12192000" cy="5102352"/>
          </a:xfrm>
        </p:spPr>
        <p:txBody>
          <a:bodyPr>
            <a:noAutofit/>
          </a:bodyPr>
          <a:lstStyle/>
          <a:p>
            <a:r>
              <a:rPr lang="ur-PK" sz="4400" dirty="0"/>
              <a:t>انسان عقل ودماغ کا مالک ہے اور وہ اپنے سامنے نظر آنے والی اور محسوس ہونے والی چیزوں کے بارے میں سوچتا ہے ۔ کبھی وہ سوچتا ہے کہ یہ زمین وآسمان کیسے بنے اور چاند ستارے کیسے وجود میں آئے اور کبھی وہ زندگی کی حقیقت اور موت کے امکان پر غور کرتا ہے۔ کبھی اس کے سامنے کائنات کا آغاز کیسے ہوا اور اس کا انجام کیا ہوگا کے بارے میں سوچتا ہے۔ ان تمام سوالات کی طرف جو چیز ہماری واضح رہنمائی کرتی ہے وہ ہے دین یا مذہب۔</a:t>
            </a:r>
            <a:br>
              <a:rPr lang="ur-PK" sz="4400" dirty="0"/>
            </a:br>
            <a:endParaRPr lang="en-US" sz="4400" dirty="0"/>
          </a:p>
        </p:txBody>
      </p:sp>
    </p:spTree>
    <p:extLst>
      <p:ext uri="{BB962C8B-B14F-4D97-AF65-F5344CB8AC3E}">
        <p14:creationId xmlns:p14="http://schemas.microsoft.com/office/powerpoint/2010/main" val="1010081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920240"/>
          </a:xfrm>
        </p:spPr>
        <p:txBody>
          <a:bodyPr/>
          <a:lstStyle/>
          <a:p>
            <a:r>
              <a:rPr lang="ur-PK" dirty="0"/>
              <a:t>۷۔ تہذیب سازی:</a:t>
            </a:r>
            <a:br>
              <a:rPr lang="ur-PK" dirty="0"/>
            </a:br>
            <a:endParaRPr lang="en-US" dirty="0"/>
          </a:p>
        </p:txBody>
      </p:sp>
      <p:sp>
        <p:nvSpPr>
          <p:cNvPr id="3" name="Subtitle 2"/>
          <p:cNvSpPr>
            <a:spLocks noGrp="1"/>
          </p:cNvSpPr>
          <p:nvPr>
            <p:ph type="subTitle" idx="1"/>
          </p:nvPr>
        </p:nvSpPr>
        <p:spPr>
          <a:xfrm>
            <a:off x="0" y="1426464"/>
            <a:ext cx="12192000" cy="5431536"/>
          </a:xfrm>
        </p:spPr>
        <p:txBody>
          <a:bodyPr>
            <a:normAutofit/>
          </a:bodyPr>
          <a:lstStyle/>
          <a:p>
            <a:r>
              <a:rPr lang="ur-PK" sz="5400" dirty="0"/>
              <a:t>مذہب دنیا کی تمام تر تہذیبوں کا بنیادی عنصر رہا ہے۔ بالفاظ دیگر دنیا کی ہر تہذیب نے مذہب ہی کے بطن سے جنم لیا ہے ۔ ہر دین حق تہذیبی صداقتوں کا مجموعہ ہے۔ تہذیب وتمدن کی تمام اقدار مذہب ہی کی بنا پر قائم ہیں۔ اور مذہب یا دین ہی ان تہذیبوں کو محفوظ رکھنے کا واحد ذریعہ ہے۔</a:t>
            </a:r>
            <a:br>
              <a:rPr lang="ur-PK" sz="5400" dirty="0"/>
            </a:br>
            <a:endParaRPr lang="en-US" sz="5400" dirty="0"/>
          </a:p>
        </p:txBody>
      </p:sp>
    </p:spTree>
    <p:extLst>
      <p:ext uri="{BB962C8B-B14F-4D97-AF65-F5344CB8AC3E}">
        <p14:creationId xmlns:p14="http://schemas.microsoft.com/office/powerpoint/2010/main" val="1503032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2103120"/>
          </a:xfrm>
        </p:spPr>
        <p:txBody>
          <a:bodyPr>
            <a:normAutofit/>
          </a:bodyPr>
          <a:lstStyle/>
          <a:p>
            <a:r>
              <a:rPr lang="ur-PK" dirty="0"/>
              <a:t>انسانی زندگی پر دین اور مذہب کے اثرات :</a:t>
            </a:r>
            <a:br>
              <a:rPr lang="ur-PK" dirty="0"/>
            </a:br>
            <a:endParaRPr lang="en-US" dirty="0"/>
          </a:p>
        </p:txBody>
      </p:sp>
      <p:sp>
        <p:nvSpPr>
          <p:cNvPr id="3" name="Subtitle 2"/>
          <p:cNvSpPr>
            <a:spLocks noGrp="1"/>
          </p:cNvSpPr>
          <p:nvPr>
            <p:ph type="subTitle" idx="1"/>
          </p:nvPr>
        </p:nvSpPr>
        <p:spPr>
          <a:xfrm>
            <a:off x="0" y="1883664"/>
            <a:ext cx="12192000" cy="4974336"/>
          </a:xfrm>
        </p:spPr>
        <p:txBody>
          <a:bodyPr>
            <a:normAutofit/>
          </a:bodyPr>
          <a:lstStyle/>
          <a:p>
            <a:r>
              <a:rPr lang="ur-PK" sz="4800" dirty="0"/>
              <a:t>اگر ہم اپنے اردگرد کے ماحول پر نظر ڈالیں تو کوئی بھی فرد یا شخص ایسا نہیں ہو گا جس کا کیسی نا کیسی دین یا مذہب سے خاص رشتہ ہو گا یعنی وہ شخص اس کا پیروکار ضرور ہو گا۔ یہ وجہ ہے کہ اگر کیسی بھی فرد کے زندگی کا مطالعہ کیا جائے تو اس کی زندگی میں مذہب یا دین کی وجہ سے مندرجہ ذیل اثرات نمایا نظر آئیں گے:</a:t>
            </a:r>
            <a:br>
              <a:rPr lang="ur-PK" sz="4800" dirty="0"/>
            </a:br>
            <a:endParaRPr lang="en-US" sz="4800" dirty="0"/>
          </a:p>
        </p:txBody>
      </p:sp>
    </p:spTree>
    <p:extLst>
      <p:ext uri="{BB962C8B-B14F-4D97-AF65-F5344CB8AC3E}">
        <p14:creationId xmlns:p14="http://schemas.microsoft.com/office/powerpoint/2010/main" val="417520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536192"/>
          </a:xfrm>
        </p:spPr>
        <p:txBody>
          <a:bodyPr>
            <a:normAutofit fontScale="90000"/>
          </a:bodyPr>
          <a:lstStyle/>
          <a:p>
            <a:r>
              <a:rPr lang="ur-PK" dirty="0"/>
              <a:t>انسانی زندگی پر دین اور مذہب کے اثرات :</a:t>
            </a:r>
            <a:br>
              <a:rPr lang="ur-PK" dirty="0"/>
            </a:br>
            <a:endParaRPr lang="en-US" dirty="0"/>
          </a:p>
        </p:txBody>
      </p:sp>
      <p:sp>
        <p:nvSpPr>
          <p:cNvPr id="3" name="Subtitle 2"/>
          <p:cNvSpPr>
            <a:spLocks noGrp="1"/>
          </p:cNvSpPr>
          <p:nvPr>
            <p:ph type="subTitle" idx="1"/>
          </p:nvPr>
        </p:nvSpPr>
        <p:spPr>
          <a:xfrm>
            <a:off x="0" y="1481328"/>
            <a:ext cx="12192000" cy="5376672"/>
          </a:xfrm>
        </p:spPr>
        <p:txBody>
          <a:bodyPr>
            <a:normAutofit/>
          </a:bodyPr>
          <a:lstStyle/>
          <a:p>
            <a:r>
              <a:rPr lang="ur-PK" b="1" dirty="0"/>
              <a:t>1۔ توحید کو قائم کرنا:</a:t>
            </a:r>
            <a:br>
              <a:rPr lang="ur-PK" b="1" dirty="0"/>
            </a:br>
            <a:br>
              <a:rPr lang="ur-PK" b="1" dirty="0"/>
            </a:br>
            <a:r>
              <a:rPr lang="ur-PK" b="1" dirty="0"/>
              <a:t>اگر مذاہب عالم کا غور سے مطالعہ کیا جائے تو یہ بات واضح ہو جاتی ہے کہ مذہب یا دین کی اساس توحید باری تعالیٰ ہے ۔ تمام انبیاء کرام علیہم السلام نے توحید اور خدا شناسی کی تعلیم دی۔ خدا کو ایک ماننے سے اللہ تعالیٰ کی عظمت اور بزرگی میں اضافہ نہیں ہوتا ۔ اگر تمام دنیا کے لوگ خدا کو تسلیم کرنا چھوڑدیں تب بھی خدا کی عظمت اور بزرگی میں فرق نہیں آتا۔ اس عقیدہ میں انسان کے لئے ہی فوائد مضمر ہیں۔جن سے انسانیت کی بقا مضبوط ہوتی ہے۔</a:t>
            </a:r>
            <a:br>
              <a:rPr lang="ur-PK" b="1" dirty="0"/>
            </a:br>
            <a:br>
              <a:rPr lang="ur-PK" b="1" dirty="0"/>
            </a:br>
            <a:r>
              <a:rPr lang="ur-PK" b="1" dirty="0"/>
              <a:t>2۔ اتحاد نسل انسانی:</a:t>
            </a:r>
            <a:br>
              <a:rPr lang="ur-PK" b="1" dirty="0"/>
            </a:br>
            <a:br>
              <a:rPr lang="ur-PK" b="1" dirty="0"/>
            </a:br>
            <a:r>
              <a:rPr lang="ur-PK" b="1" dirty="0"/>
              <a:t>عقیدہ تو حید نسل انسانی کے اتحاد کے کونے کا پتھر ہے۔ یہی وہ بنیاد ہے جس پر اتحاد کی عمارت استوار کی جاسکتی ہے ۔ قرآن مجید میں خدا کو رب العالمین کہا گیا ہے۔ اللہ تعالیٰ کی صفت ربوبیت کے تحت دنیا کی تمام قومیں خدا تعالیٰ کی عیال ہیں۔ وہ سب کی خبر گیری کرتا ہے۔ توحید کا عقیدہ یہ سبق دیتا ہے کہ تمام مبنی نوع انسان کو اتحاد اور محبت کے ساتھ زندگی بسر کرنا چاہیے۔ یہ ہی وجہ ہےمذہب یا دین نسلِ انسانی کے اتحادمیں اہم کردار ادا کرتا ہے۔</a:t>
            </a:r>
            <a:br>
              <a:rPr lang="ur-PK" b="1" dirty="0"/>
            </a:br>
            <a:endParaRPr lang="en-US" b="1" dirty="0"/>
          </a:p>
        </p:txBody>
      </p:sp>
    </p:spTree>
    <p:extLst>
      <p:ext uri="{BB962C8B-B14F-4D97-AF65-F5344CB8AC3E}">
        <p14:creationId xmlns:p14="http://schemas.microsoft.com/office/powerpoint/2010/main" val="2338536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353312"/>
          </a:xfrm>
        </p:spPr>
        <p:txBody>
          <a:bodyPr>
            <a:normAutofit fontScale="90000"/>
          </a:bodyPr>
          <a:lstStyle/>
          <a:p>
            <a:r>
              <a:rPr lang="ur-PK" dirty="0"/>
              <a:t>انسانی زندگی پر دین اور مذہب کے اثرات :</a:t>
            </a:r>
            <a:br>
              <a:rPr lang="ur-PK" dirty="0"/>
            </a:br>
            <a:endParaRPr lang="en-US" dirty="0"/>
          </a:p>
        </p:txBody>
      </p:sp>
      <p:sp>
        <p:nvSpPr>
          <p:cNvPr id="3" name="Subtitle 2"/>
          <p:cNvSpPr>
            <a:spLocks noGrp="1"/>
          </p:cNvSpPr>
          <p:nvPr>
            <p:ph type="subTitle" idx="1"/>
          </p:nvPr>
        </p:nvSpPr>
        <p:spPr>
          <a:xfrm>
            <a:off x="0" y="1463040"/>
            <a:ext cx="12192000" cy="5394960"/>
          </a:xfrm>
        </p:spPr>
        <p:txBody>
          <a:bodyPr>
            <a:normAutofit/>
          </a:bodyPr>
          <a:lstStyle/>
          <a:p>
            <a:br>
              <a:rPr lang="ur-PK" b="1" dirty="0"/>
            </a:br>
            <a:r>
              <a:rPr lang="ur-PK" b="1" dirty="0"/>
              <a:t>3۔ امن کا قیام :</a:t>
            </a:r>
            <a:br>
              <a:rPr lang="ur-PK" b="1" dirty="0"/>
            </a:br>
            <a:br>
              <a:rPr lang="ur-PK" b="1" dirty="0"/>
            </a:br>
            <a:r>
              <a:rPr lang="ur-PK" b="1" dirty="0"/>
              <a:t>دین یا مذہب امن عالم کا ضامن ہے کیونکہ دین یا مذہب عالمگیراخوت، اتحاد ، محبت اور مساوات کو جنم دیتا ہے۔ اور نفرت ، عداوت کو بالکل ختم کرتا ہے۔ جب دشمنی اور تعصب دنیا کی قوموں سے مٹ جائے تو دنیا میں امن قائم کرنا مشکل نہیں رہتا۔ جس سے انسانی زندگی پر بڑا خاص اثر پڑتا ہے۔</a:t>
            </a:r>
            <a:br>
              <a:rPr lang="ur-PK" b="1" dirty="0"/>
            </a:br>
            <a:br>
              <a:rPr lang="ur-PK" b="1" dirty="0"/>
            </a:br>
            <a:r>
              <a:rPr lang="ur-PK" b="1" dirty="0"/>
              <a:t>4۔ علمی ترقی :</a:t>
            </a:r>
            <a:br>
              <a:rPr lang="ur-PK" b="1" dirty="0"/>
            </a:br>
            <a:br>
              <a:rPr lang="ur-PK" b="1" dirty="0"/>
            </a:br>
            <a:r>
              <a:rPr lang="ur-PK" b="1" dirty="0"/>
              <a:t>مذہب یا دین علوم اور سائنس کی ترقی کا ضامن ہے ۔ اس نے انسان کو یہ سبق دیا کہ وہ اشرف المخلوقات ہے اور کائنات کی ہر چیز انسان کی آسائش کے لئے پیدا کی گئی ہے ۔ اس سبق نے انسان کو کائنات کی ہر چیز مسخر کرنے کی طرف توجہ دلائی اور انسان کو کائنات کے عناصر کے خواص معلوم کرنے میں لگ گیا۔ جس سے مختلف علوم اور سائنس نے ترقی کی۔</a:t>
            </a:r>
            <a:br>
              <a:rPr lang="ur-PK" b="1" dirty="0"/>
            </a:br>
            <a:endParaRPr lang="en-US" b="1" dirty="0"/>
          </a:p>
        </p:txBody>
      </p:sp>
    </p:spTree>
    <p:extLst>
      <p:ext uri="{BB962C8B-B14F-4D97-AF65-F5344CB8AC3E}">
        <p14:creationId xmlns:p14="http://schemas.microsoft.com/office/powerpoint/2010/main" val="2861357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463040"/>
          </a:xfrm>
        </p:spPr>
        <p:txBody>
          <a:bodyPr>
            <a:normAutofit fontScale="90000"/>
          </a:bodyPr>
          <a:lstStyle/>
          <a:p>
            <a:r>
              <a:rPr lang="ur-PK" dirty="0"/>
              <a:t>انسانی زندگی پر دین اور مذہب کے اثرات :</a:t>
            </a:r>
            <a:br>
              <a:rPr lang="ur-PK" dirty="0"/>
            </a:br>
            <a:endParaRPr lang="en-US" dirty="0"/>
          </a:p>
        </p:txBody>
      </p:sp>
      <p:sp>
        <p:nvSpPr>
          <p:cNvPr id="3" name="Subtitle 2"/>
          <p:cNvSpPr>
            <a:spLocks noGrp="1"/>
          </p:cNvSpPr>
          <p:nvPr>
            <p:ph type="subTitle" idx="1"/>
          </p:nvPr>
        </p:nvSpPr>
        <p:spPr>
          <a:xfrm>
            <a:off x="0" y="1426464"/>
            <a:ext cx="12192000" cy="5431536"/>
          </a:xfrm>
        </p:spPr>
        <p:txBody>
          <a:bodyPr>
            <a:noAutofit/>
          </a:bodyPr>
          <a:lstStyle/>
          <a:p>
            <a:r>
              <a:rPr lang="ur-PK" sz="2800" b="1" dirty="0"/>
              <a:t>5۔ مساوات:</a:t>
            </a:r>
            <a:br>
              <a:rPr lang="ur-PK" sz="2800" b="1" dirty="0"/>
            </a:br>
            <a:br>
              <a:rPr lang="ur-PK" sz="2800" b="1" dirty="0"/>
            </a:br>
            <a:r>
              <a:rPr lang="ur-PK" sz="2800" b="1" dirty="0"/>
              <a:t>مذہب یا دین ہی انسانی زندگی میں مساوات کا درس دیتا ہے ۔ اور پامال شدہ افراد کو عزت واحترام فراہم کرتا ہے۔ مذہب یا دین کی تعلیمات ہی وہ واحد ذریعہ ہیں جن سے نسلی،قومی اور لسانی امتیازات کو ختم کیا جاسکتا ہے۔</a:t>
            </a:r>
            <a:br>
              <a:rPr lang="ur-PK" sz="2800" b="1" dirty="0"/>
            </a:br>
            <a:br>
              <a:rPr lang="ur-PK" sz="2800" b="1" dirty="0"/>
            </a:br>
            <a:r>
              <a:rPr lang="ur-PK" sz="2800" b="1" dirty="0"/>
              <a:t>6۔ انسانی فلاح وبہبود:</a:t>
            </a:r>
            <a:br>
              <a:rPr lang="ur-PK" sz="2800" b="1" dirty="0"/>
            </a:br>
            <a:br>
              <a:rPr lang="ur-PK" sz="2800" b="1" dirty="0"/>
            </a:br>
            <a:r>
              <a:rPr lang="ur-PK" sz="2800" b="1" dirty="0"/>
              <a:t>مذہب ہی ایک قوت ہے جو انسان کی روحانی اور مادی فلاح کا ضامن ہے۔ اس نے ہی وہ اصول مقرر کئے ہیں جن پر چل کر انسان کامیابی وکامرانی سے ہمکنار ہوسکتا ہے۔ اگر مذہبی دنیا کا مطالعہ کیا جائے تو یہ بات کھل کر سامنے آجاتی ہے کہ ہر مذہب میں عبادت الہیٰ کا تصور پایا جاتا ہے ۔ یہ ہی وجہ ہے کہ ہر مذہب کی کتاب میں دنیاوی زندگی کو بہتر بنانے کے لئے اصول بیان فرمائے گئے ہیں۔ غرض مذہب انسان کی مادی اور روحانی فلاح کا باعث ہے۔</a:t>
            </a:r>
            <a:br>
              <a:rPr lang="ur-PK" sz="2800" b="1" dirty="0"/>
            </a:br>
            <a:endParaRPr lang="en-US" sz="2800" b="1" dirty="0"/>
          </a:p>
        </p:txBody>
      </p:sp>
    </p:spTree>
    <p:extLst>
      <p:ext uri="{BB962C8B-B14F-4D97-AF65-F5344CB8AC3E}">
        <p14:creationId xmlns:p14="http://schemas.microsoft.com/office/powerpoint/2010/main" val="814815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828800"/>
          </a:xfrm>
        </p:spPr>
        <p:txBody>
          <a:bodyPr/>
          <a:lstStyle/>
          <a:p>
            <a:r>
              <a:rPr lang="ur-PK" dirty="0"/>
              <a:t>انسانی زندگی پر دین اور مذہب کے اثرات :</a:t>
            </a:r>
            <a:br>
              <a:rPr lang="ur-PK" dirty="0"/>
            </a:br>
            <a:endParaRPr lang="en-US" dirty="0"/>
          </a:p>
        </p:txBody>
      </p:sp>
      <p:sp>
        <p:nvSpPr>
          <p:cNvPr id="3" name="Subtitle 2"/>
          <p:cNvSpPr>
            <a:spLocks noGrp="1"/>
          </p:cNvSpPr>
          <p:nvPr>
            <p:ph type="subTitle" idx="1"/>
          </p:nvPr>
        </p:nvSpPr>
        <p:spPr>
          <a:xfrm>
            <a:off x="0" y="1847088"/>
            <a:ext cx="12192000" cy="5010912"/>
          </a:xfrm>
        </p:spPr>
        <p:txBody>
          <a:bodyPr>
            <a:noAutofit/>
          </a:bodyPr>
          <a:lstStyle/>
          <a:p>
            <a:r>
              <a:rPr lang="ur-PK" sz="3200" b="1" dirty="0"/>
              <a:t>۔7 رواداری:</a:t>
            </a:r>
            <a:br>
              <a:rPr lang="ur-PK" sz="3200" b="1" dirty="0"/>
            </a:br>
            <a:br>
              <a:rPr lang="ur-PK" sz="3200" b="1" dirty="0"/>
            </a:br>
            <a:r>
              <a:rPr lang="ur-PK" sz="3200" b="1" dirty="0"/>
              <a:t>مذہب یا دین ہی ہمیں رواداری کا پیغام بنی نوع انسان کے ہر طبقے تک پہنچانے کا حکم دیتا ہے۔ اور ہر ایک سے مطالبہ کرتا ہے کہ ہر مذہبی کتاب اور ہر رسول کو تسلیم کیا جائے اور مذہب یا دین کے نام پر خون خرابہ نا کیا جائے</a:t>
            </a:r>
          </a:p>
          <a:p>
            <a:r>
              <a:rPr lang="ur-PK" sz="3200" b="1" dirty="0"/>
              <a:t>8۔ جزاوسزا کا جذبہ:</a:t>
            </a:r>
            <a:br>
              <a:rPr lang="ur-PK" sz="3200" b="1" dirty="0"/>
            </a:br>
            <a:br>
              <a:rPr lang="ur-PK" sz="3200" b="1" dirty="0"/>
            </a:br>
            <a:r>
              <a:rPr lang="ur-PK" sz="3200" b="1" dirty="0"/>
              <a:t>جزاوسزا اور حیات بعد الموت کا علم سوائے مذہب کے کہیں سے حاصل نہیں کیا جاسکتا۔ کیونکہ انسان کی اپنی عقل اس قدر دور کے نتائج کو بھانپ نہیں سکتی ۔ پس خدا تعالیٰ نے اپنے</a:t>
            </a:r>
            <a:endParaRPr lang="en-US" sz="3200" b="1" dirty="0"/>
          </a:p>
        </p:txBody>
      </p:sp>
    </p:spTree>
    <p:extLst>
      <p:ext uri="{BB962C8B-B14F-4D97-AF65-F5344CB8AC3E}">
        <p14:creationId xmlns:p14="http://schemas.microsoft.com/office/powerpoint/2010/main" val="1246083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444752"/>
          </a:xfrm>
        </p:spPr>
        <p:txBody>
          <a:bodyPr>
            <a:normAutofit fontScale="90000"/>
          </a:bodyPr>
          <a:lstStyle/>
          <a:p>
            <a:r>
              <a:rPr lang="ur-PK" dirty="0"/>
              <a:t>انسانی زندگی پر دین اور مذہب کے اثرات :</a:t>
            </a:r>
            <a:br>
              <a:rPr lang="ur-PK" dirty="0"/>
            </a:br>
            <a:endParaRPr lang="en-US" dirty="0"/>
          </a:p>
        </p:txBody>
      </p:sp>
      <p:sp>
        <p:nvSpPr>
          <p:cNvPr id="3" name="Subtitle 2"/>
          <p:cNvSpPr>
            <a:spLocks noGrp="1"/>
          </p:cNvSpPr>
          <p:nvPr>
            <p:ph type="subTitle" idx="1"/>
          </p:nvPr>
        </p:nvSpPr>
        <p:spPr>
          <a:xfrm>
            <a:off x="0" y="1554480"/>
            <a:ext cx="12192000" cy="5303520"/>
          </a:xfrm>
        </p:spPr>
        <p:txBody>
          <a:bodyPr>
            <a:normAutofit/>
          </a:bodyPr>
          <a:lstStyle/>
          <a:p>
            <a:br>
              <a:rPr lang="ur-PK" sz="2800" b="1" dirty="0"/>
            </a:br>
            <a:r>
              <a:rPr lang="ur-PK" sz="2800" b="1" dirty="0"/>
              <a:t>9۔ عقل کی رہنمائی :</a:t>
            </a:r>
            <a:br>
              <a:rPr lang="ur-PK" sz="2800" b="1" dirty="0"/>
            </a:br>
            <a:br>
              <a:rPr lang="ur-PK" sz="2800" b="1" dirty="0"/>
            </a:br>
            <a:r>
              <a:rPr lang="ur-PK" sz="2800" b="1" dirty="0"/>
              <a:t>انسان کی عقل کوتاہ اور ناقص ہے۔ مذہب نے انسان کو عقل کی رہمائی کے لئے عائلی،عمرانی،سیاسی، اقتصادی اصول وضع کردیئے تاکہ انسان ان اصولوں کی روشنی میں زندگی کے ہر قسم کے مسائل کو حل کرسکے۔ اگر انسان کے سامنے وہ اصول نہ ہوتے تو وہ ہلاکت اور بربادی کے گڑھےمیں گرجاتا۔</a:t>
            </a:r>
          </a:p>
          <a:p>
            <a:r>
              <a:rPr lang="ur-PK" sz="2800" b="1" dirty="0"/>
              <a:t> 10عقل کی رہنمائی :</a:t>
            </a:r>
            <a:br>
              <a:rPr lang="ur-PK" sz="2800" b="1" dirty="0"/>
            </a:br>
            <a:br>
              <a:rPr lang="ur-PK" sz="2800" b="1" dirty="0"/>
            </a:br>
            <a:r>
              <a:rPr lang="ur-PK" sz="2800" b="1" dirty="0"/>
              <a:t>انسان کی عقل کوتاہ اور ناقص ہے۔ مذہب نے انسان کو عقل کی رہمائی کے لئے عائلی،عمرانی،سیاسی، اقتصادی اصول وضع کردیئے تاکہ انسان ان اصولوں کی روشنی میں زندگی کے ہر قسم کے مسائل کو حل کرسکے۔ اگر انسان کے سامنے وہ اصول نہ ہوتے تو وہ ہلاکت اور بربادی کے گڑھےمیں گرجاتا</a:t>
            </a:r>
            <a:endParaRPr lang="en-US" sz="2800" b="1" dirty="0"/>
          </a:p>
        </p:txBody>
      </p:sp>
    </p:spTree>
    <p:extLst>
      <p:ext uri="{BB962C8B-B14F-4D97-AF65-F5344CB8AC3E}">
        <p14:creationId xmlns:p14="http://schemas.microsoft.com/office/powerpoint/2010/main" val="3249241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2528</Words>
  <Application>Microsoft Office PowerPoint</Application>
  <PresentationFormat>Widescreen</PresentationFormat>
  <Paragraphs>51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Jameel Noori Nastaleeq</vt:lpstr>
      <vt:lpstr>Times New Roman</vt:lpstr>
      <vt:lpstr>Wingdings</vt:lpstr>
      <vt:lpstr>Office Theme</vt:lpstr>
      <vt:lpstr>         The University of Faisalabad Department of Arabic &amp; Islamic Studies Subject: Comparative Study of religions(ISL-705) Lecture # 01 Topic: دین اور مذہب کا تعارف،ضرورت و اہمیت،اثرات Date: February 22, 2025(Saturday) M.Phil Islamic Studies 2nd Semester Spring, 2025  </vt:lpstr>
      <vt:lpstr>دین کے لغوی واصطلاحی معنی: </vt:lpstr>
      <vt:lpstr>مذہب کے لغوی اور اصطلاحی معنی: </vt:lpstr>
      <vt:lpstr>دین اور مذہب کے ہم معنی الفاظ: </vt:lpstr>
      <vt:lpstr>دین اور مذہب کے ہم معنی الفاظ: </vt:lpstr>
      <vt:lpstr>دین اور مذہب کے ہم معنی الفاظ: </vt:lpstr>
      <vt:lpstr>مذہب اور دین میں فرق: </vt:lpstr>
      <vt:lpstr>دین اور مذہب کی ضرورت: </vt:lpstr>
      <vt:lpstr>۱۔ فطری ضرورت:</vt:lpstr>
      <vt:lpstr>۲۔ روحانی اقتضاء: </vt:lpstr>
      <vt:lpstr>۳۔ معاشرتی ضرورت : </vt:lpstr>
      <vt:lpstr>۴۔ اخلاق سازی: </vt:lpstr>
      <vt:lpstr>۵۔ سکون قلب کا وسیلہ: </vt:lpstr>
      <vt:lpstr>۶۔ حیات وکائنات کے وسائل: </vt:lpstr>
      <vt:lpstr>۷۔ تہذیب سازی: </vt:lpstr>
      <vt:lpstr>انسانی زندگی پر دین اور مذہب کے اثرات : </vt:lpstr>
      <vt:lpstr>انسانی زندگی پر دین اور مذہب کے اثرات : </vt:lpstr>
      <vt:lpstr>انسانی زندگی پر دین اور مذہب کے اثرات : </vt:lpstr>
      <vt:lpstr>انسانی زندگی پر دین اور مذہب کے اثرات : </vt:lpstr>
      <vt:lpstr>انسانی زندگی پر دین اور مذہب کے اثرات : </vt:lpstr>
      <vt:lpstr>انسانی زندگی پر دین اور مذہب کے اثرات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DELL</cp:lastModifiedBy>
  <cp:revision>11</cp:revision>
  <dcterms:created xsi:type="dcterms:W3CDTF">2023-05-04T06:15:47Z</dcterms:created>
  <dcterms:modified xsi:type="dcterms:W3CDTF">2025-02-22T02:25:36Z</dcterms:modified>
</cp:coreProperties>
</file>