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259" r:id="rId3"/>
    <p:sldId id="843" r:id="rId4"/>
    <p:sldId id="844" r:id="rId5"/>
    <p:sldId id="842" r:id="rId6"/>
    <p:sldId id="845" r:id="rId7"/>
    <p:sldId id="846" r:id="rId8"/>
    <p:sldId id="832" r:id="rId9"/>
    <p:sldId id="833" r:id="rId10"/>
    <p:sldId id="834" r:id="rId11"/>
    <p:sldId id="835" r:id="rId12"/>
    <p:sldId id="836" r:id="rId13"/>
    <p:sldId id="277" r:id="rId14"/>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A2A"/>
    <a:srgbClr val="C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375" autoAdjust="0"/>
    <p:restoredTop sz="94660"/>
  </p:normalViewPr>
  <p:slideViewPr>
    <p:cSldViewPr snapToGrid="0">
      <p:cViewPr>
        <p:scale>
          <a:sx n="63" d="100"/>
          <a:sy n="63" d="100"/>
        </p:scale>
        <p:origin x="1531" y="4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F304D-9FBF-4B4D-AB5C-790149BB44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000C0F5D-325B-4660-8632-EBB9EC084D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3FBC7CD5-CB98-4F1C-8F4E-14A8F9EE1811}"/>
              </a:ext>
            </a:extLst>
          </p:cNvPr>
          <p:cNvSpPr>
            <a:spLocks noGrp="1"/>
          </p:cNvSpPr>
          <p:nvPr>
            <p:ph type="dt" sz="half" idx="10"/>
          </p:nvPr>
        </p:nvSpPr>
        <p:spPr/>
        <p:txBody>
          <a:bodyPr/>
          <a:lstStyle/>
          <a:p>
            <a:fld id="{3237A82C-AEEE-48DB-A866-3B1CA0AC9D5D}" type="datetimeFigureOut">
              <a:rPr lang="en-PK" smtClean="0"/>
              <a:t>03/08/2025</a:t>
            </a:fld>
            <a:endParaRPr lang="en-PK"/>
          </a:p>
        </p:txBody>
      </p:sp>
      <p:sp>
        <p:nvSpPr>
          <p:cNvPr id="5" name="Footer Placeholder 4">
            <a:extLst>
              <a:ext uri="{FF2B5EF4-FFF2-40B4-BE49-F238E27FC236}">
                <a16:creationId xmlns:a16="http://schemas.microsoft.com/office/drawing/2014/main" id="{9DA69AAB-D032-4740-999C-6FECB3BEC83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1F2CE2C-3FF8-4ED5-9A0F-6E35B87E8B6F}"/>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1683214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11BF5-D802-48A8-8681-E64C843E4622}"/>
              </a:ext>
            </a:extLst>
          </p:cNvPr>
          <p:cNvSpPr>
            <a:spLocks noGrp="1"/>
          </p:cNvSpPr>
          <p:nvPr>
            <p:ph type="title"/>
          </p:nvPr>
        </p:nvSpPr>
        <p:spPr/>
        <p:txBody>
          <a:bodyPr/>
          <a:lstStyle/>
          <a:p>
            <a:r>
              <a:rPr lang="en-US" dirty="0"/>
              <a:t>Click to edit Master title style</a:t>
            </a:r>
            <a:endParaRPr lang="en-PK" dirty="0"/>
          </a:p>
        </p:txBody>
      </p:sp>
      <p:sp>
        <p:nvSpPr>
          <p:cNvPr id="3" name="Content Placeholder 2">
            <a:extLst>
              <a:ext uri="{FF2B5EF4-FFF2-40B4-BE49-F238E27FC236}">
                <a16:creationId xmlns:a16="http://schemas.microsoft.com/office/drawing/2014/main" id="{4D563E54-C420-46A7-95A3-D26D99CE95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9E21E6C-72DA-4925-94EE-0D245623B79C}"/>
              </a:ext>
            </a:extLst>
          </p:cNvPr>
          <p:cNvSpPr>
            <a:spLocks noGrp="1"/>
          </p:cNvSpPr>
          <p:nvPr>
            <p:ph type="dt" sz="half" idx="10"/>
          </p:nvPr>
        </p:nvSpPr>
        <p:spPr/>
        <p:txBody>
          <a:bodyPr/>
          <a:lstStyle/>
          <a:p>
            <a:fld id="{3237A82C-AEEE-48DB-A866-3B1CA0AC9D5D}" type="datetimeFigureOut">
              <a:rPr lang="en-PK" smtClean="0"/>
              <a:t>03/08/2025</a:t>
            </a:fld>
            <a:endParaRPr lang="en-PK"/>
          </a:p>
        </p:txBody>
      </p:sp>
      <p:sp>
        <p:nvSpPr>
          <p:cNvPr id="5" name="Footer Placeholder 4">
            <a:extLst>
              <a:ext uri="{FF2B5EF4-FFF2-40B4-BE49-F238E27FC236}">
                <a16:creationId xmlns:a16="http://schemas.microsoft.com/office/drawing/2014/main" id="{E316D8A9-019D-413B-8A1E-F14D6EE3561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6050099F-8C38-444A-A7F8-21336A623DAA}"/>
              </a:ext>
            </a:extLst>
          </p:cNvPr>
          <p:cNvSpPr>
            <a:spLocks noGrp="1"/>
          </p:cNvSpPr>
          <p:nvPr>
            <p:ph type="sldNum" sz="quarter" idx="12"/>
          </p:nvPr>
        </p:nvSpPr>
        <p:spPr/>
        <p:txBody>
          <a:bodyPr/>
          <a:lstStyle/>
          <a:p>
            <a:fld id="{6EB9F7D7-3C9C-4146-9FA1-B77DEB44278D}" type="slidenum">
              <a:rPr lang="en-PK" smtClean="0"/>
              <a:t>‹#›</a:t>
            </a:fld>
            <a:endParaRPr lang="en-PK"/>
          </a:p>
        </p:txBody>
      </p:sp>
      <p:grpSp>
        <p:nvGrpSpPr>
          <p:cNvPr id="7" name="Group 6">
            <a:extLst>
              <a:ext uri="{FF2B5EF4-FFF2-40B4-BE49-F238E27FC236}">
                <a16:creationId xmlns:a16="http://schemas.microsoft.com/office/drawing/2014/main" id="{F0218E89-FE91-00B4-51A7-30EDB0077FF4}"/>
              </a:ext>
            </a:extLst>
          </p:cNvPr>
          <p:cNvGrpSpPr/>
          <p:nvPr userDrawn="1"/>
        </p:nvGrpSpPr>
        <p:grpSpPr>
          <a:xfrm>
            <a:off x="0" y="0"/>
            <a:ext cx="12749348" cy="1115736"/>
            <a:chOff x="0" y="0"/>
            <a:chExt cx="12749348" cy="1115736"/>
          </a:xfrm>
        </p:grpSpPr>
        <p:sp>
          <p:nvSpPr>
            <p:cNvPr id="8" name="Rectangle 7">
              <a:extLst>
                <a:ext uri="{FF2B5EF4-FFF2-40B4-BE49-F238E27FC236}">
                  <a16:creationId xmlns:a16="http://schemas.microsoft.com/office/drawing/2014/main" id="{E37595A1-2135-3D78-300B-6424FD5AED4E}"/>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9" name="Picture 8">
              <a:extLst>
                <a:ext uri="{FF2B5EF4-FFF2-40B4-BE49-F238E27FC236}">
                  <a16:creationId xmlns:a16="http://schemas.microsoft.com/office/drawing/2014/main" id="{EBEB6545-D48A-0447-0BA5-0656B10AF9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0" name="TextBox 9">
              <a:extLst>
                <a:ext uri="{FF2B5EF4-FFF2-40B4-BE49-F238E27FC236}">
                  <a16:creationId xmlns:a16="http://schemas.microsoft.com/office/drawing/2014/main" id="{180CE087-3B89-F374-6DAC-24EEEF115F4B}"/>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1" name="Graphic 10">
              <a:extLst>
                <a:ext uri="{FF2B5EF4-FFF2-40B4-BE49-F238E27FC236}">
                  <a16:creationId xmlns:a16="http://schemas.microsoft.com/office/drawing/2014/main" id="{D59E33EF-663A-D56C-12B7-28125E3082D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12" name="TextBox 11">
              <a:extLst>
                <a:ext uri="{FF2B5EF4-FFF2-40B4-BE49-F238E27FC236}">
                  <a16:creationId xmlns:a16="http://schemas.microsoft.com/office/drawing/2014/main" id="{BC576DC8-6A73-451C-8C8B-8BC1A853D76E}"/>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3" name="Graphic 12">
              <a:extLst>
                <a:ext uri="{FF2B5EF4-FFF2-40B4-BE49-F238E27FC236}">
                  <a16:creationId xmlns:a16="http://schemas.microsoft.com/office/drawing/2014/main" id="{B3544839-1D07-040D-FC86-44ED873A095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4" name="Picture 13">
              <a:extLst>
                <a:ext uri="{FF2B5EF4-FFF2-40B4-BE49-F238E27FC236}">
                  <a16:creationId xmlns:a16="http://schemas.microsoft.com/office/drawing/2014/main" id="{7A9CA787-F66D-BEAC-0010-024AE8FB388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175964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43EB3-C47B-49A1-BB67-347B61A6D7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61CE9B96-3C04-415D-86F4-32630CB36F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7AA9B9-E771-49B5-9E2D-06EAF24C17E6}"/>
              </a:ext>
            </a:extLst>
          </p:cNvPr>
          <p:cNvSpPr>
            <a:spLocks noGrp="1"/>
          </p:cNvSpPr>
          <p:nvPr>
            <p:ph type="dt" sz="half" idx="10"/>
          </p:nvPr>
        </p:nvSpPr>
        <p:spPr/>
        <p:txBody>
          <a:bodyPr/>
          <a:lstStyle/>
          <a:p>
            <a:fld id="{3237A82C-AEEE-48DB-A866-3B1CA0AC9D5D}" type="datetimeFigureOut">
              <a:rPr lang="en-PK" smtClean="0"/>
              <a:t>03/08/2025</a:t>
            </a:fld>
            <a:endParaRPr lang="en-PK"/>
          </a:p>
        </p:txBody>
      </p:sp>
      <p:sp>
        <p:nvSpPr>
          <p:cNvPr id="5" name="Footer Placeholder 4">
            <a:extLst>
              <a:ext uri="{FF2B5EF4-FFF2-40B4-BE49-F238E27FC236}">
                <a16:creationId xmlns:a16="http://schemas.microsoft.com/office/drawing/2014/main" id="{5AE7F1A7-FFC1-4BDE-908E-7A849372FAFE}"/>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6BE47FAB-5890-41CE-8DA9-CB5788221706}"/>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464982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98E66-B67C-4351-89B6-A169553C061C}"/>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5C791AA4-B785-4E02-B612-05E57B25A9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E410E598-0767-477D-B9E8-2BCCF5C5114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B86D8C23-6B26-4B19-BEEB-7AEFC2A18F66}"/>
              </a:ext>
            </a:extLst>
          </p:cNvPr>
          <p:cNvSpPr>
            <a:spLocks noGrp="1"/>
          </p:cNvSpPr>
          <p:nvPr>
            <p:ph type="dt" sz="half" idx="10"/>
          </p:nvPr>
        </p:nvSpPr>
        <p:spPr/>
        <p:txBody>
          <a:bodyPr/>
          <a:lstStyle/>
          <a:p>
            <a:fld id="{3237A82C-AEEE-48DB-A866-3B1CA0AC9D5D}" type="datetimeFigureOut">
              <a:rPr lang="en-PK" smtClean="0"/>
              <a:t>03/08/2025</a:t>
            </a:fld>
            <a:endParaRPr lang="en-PK"/>
          </a:p>
        </p:txBody>
      </p:sp>
      <p:sp>
        <p:nvSpPr>
          <p:cNvPr id="6" name="Footer Placeholder 5">
            <a:extLst>
              <a:ext uri="{FF2B5EF4-FFF2-40B4-BE49-F238E27FC236}">
                <a16:creationId xmlns:a16="http://schemas.microsoft.com/office/drawing/2014/main" id="{E8CB8FE9-ABD0-4AA5-986C-BC29ECC4F014}"/>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147F8042-F61C-495E-8C35-E7989AA7EE9D}"/>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2561973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21205-E47B-4E88-8DFD-1C6071B7AD79}"/>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7C64C0F1-91A6-4158-8855-0C72083701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AB615B-6DBF-4632-94D0-3791085A6C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B7CB3133-8FE9-4883-B870-D642C1DF03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8078B5-E153-4D81-A163-C758FDB897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D5D200C8-3958-4AE2-85B4-16A6511DDDE9}"/>
              </a:ext>
            </a:extLst>
          </p:cNvPr>
          <p:cNvSpPr>
            <a:spLocks noGrp="1"/>
          </p:cNvSpPr>
          <p:nvPr>
            <p:ph type="dt" sz="half" idx="10"/>
          </p:nvPr>
        </p:nvSpPr>
        <p:spPr/>
        <p:txBody>
          <a:bodyPr/>
          <a:lstStyle/>
          <a:p>
            <a:fld id="{3237A82C-AEEE-48DB-A866-3B1CA0AC9D5D}" type="datetimeFigureOut">
              <a:rPr lang="en-PK" smtClean="0"/>
              <a:t>03/08/2025</a:t>
            </a:fld>
            <a:endParaRPr lang="en-PK"/>
          </a:p>
        </p:txBody>
      </p:sp>
      <p:sp>
        <p:nvSpPr>
          <p:cNvPr id="8" name="Footer Placeholder 7">
            <a:extLst>
              <a:ext uri="{FF2B5EF4-FFF2-40B4-BE49-F238E27FC236}">
                <a16:creationId xmlns:a16="http://schemas.microsoft.com/office/drawing/2014/main" id="{6A253149-4D4C-46D5-8100-4A3D9F41B000}"/>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65B7D50A-B373-419E-9BDA-973DC1118760}"/>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2276628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3C455-2666-47C6-BF3E-44EE0A2900AC}"/>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2BCDB8A3-54C9-4DF0-AF58-847CC781E947}"/>
              </a:ext>
            </a:extLst>
          </p:cNvPr>
          <p:cNvSpPr>
            <a:spLocks noGrp="1"/>
          </p:cNvSpPr>
          <p:nvPr>
            <p:ph type="dt" sz="half" idx="10"/>
          </p:nvPr>
        </p:nvSpPr>
        <p:spPr/>
        <p:txBody>
          <a:bodyPr/>
          <a:lstStyle/>
          <a:p>
            <a:fld id="{3237A82C-AEEE-48DB-A866-3B1CA0AC9D5D}" type="datetimeFigureOut">
              <a:rPr lang="en-PK" smtClean="0"/>
              <a:t>03/08/2025</a:t>
            </a:fld>
            <a:endParaRPr lang="en-PK"/>
          </a:p>
        </p:txBody>
      </p:sp>
      <p:sp>
        <p:nvSpPr>
          <p:cNvPr id="4" name="Footer Placeholder 3">
            <a:extLst>
              <a:ext uri="{FF2B5EF4-FFF2-40B4-BE49-F238E27FC236}">
                <a16:creationId xmlns:a16="http://schemas.microsoft.com/office/drawing/2014/main" id="{CB3A80F5-1CBF-45BD-A6AD-6BE98C141DE2}"/>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67E03123-314A-4412-8618-E5C45344E1D4}"/>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214327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FC5179-D82F-40FA-BF21-7AA507CE0823}"/>
              </a:ext>
            </a:extLst>
          </p:cNvPr>
          <p:cNvSpPr>
            <a:spLocks noGrp="1"/>
          </p:cNvSpPr>
          <p:nvPr>
            <p:ph type="dt" sz="half" idx="10"/>
          </p:nvPr>
        </p:nvSpPr>
        <p:spPr/>
        <p:txBody>
          <a:bodyPr/>
          <a:lstStyle/>
          <a:p>
            <a:fld id="{3237A82C-AEEE-48DB-A866-3B1CA0AC9D5D}" type="datetimeFigureOut">
              <a:rPr lang="en-PK" smtClean="0"/>
              <a:t>03/08/2025</a:t>
            </a:fld>
            <a:endParaRPr lang="en-PK"/>
          </a:p>
        </p:txBody>
      </p:sp>
      <p:sp>
        <p:nvSpPr>
          <p:cNvPr id="3" name="Footer Placeholder 2">
            <a:extLst>
              <a:ext uri="{FF2B5EF4-FFF2-40B4-BE49-F238E27FC236}">
                <a16:creationId xmlns:a16="http://schemas.microsoft.com/office/drawing/2014/main" id="{C1CC15DB-F842-49C3-B55B-A16E3884385C}"/>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38FDBBF2-4194-4BEA-AC76-A5704F3BBC05}"/>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140227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38F8C-D3DE-403C-AF37-746C3367B6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58DF2B9D-4546-43D6-91C9-FFB86CF4EA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BF656608-3C52-495D-A214-A55C36D003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98E0AF-DD29-4C26-82C8-ACF8330BE670}"/>
              </a:ext>
            </a:extLst>
          </p:cNvPr>
          <p:cNvSpPr>
            <a:spLocks noGrp="1"/>
          </p:cNvSpPr>
          <p:nvPr>
            <p:ph type="dt" sz="half" idx="10"/>
          </p:nvPr>
        </p:nvSpPr>
        <p:spPr/>
        <p:txBody>
          <a:bodyPr/>
          <a:lstStyle/>
          <a:p>
            <a:fld id="{3237A82C-AEEE-48DB-A866-3B1CA0AC9D5D}" type="datetimeFigureOut">
              <a:rPr lang="en-PK" smtClean="0"/>
              <a:t>03/08/2025</a:t>
            </a:fld>
            <a:endParaRPr lang="en-PK"/>
          </a:p>
        </p:txBody>
      </p:sp>
      <p:sp>
        <p:nvSpPr>
          <p:cNvPr id="6" name="Footer Placeholder 5">
            <a:extLst>
              <a:ext uri="{FF2B5EF4-FFF2-40B4-BE49-F238E27FC236}">
                <a16:creationId xmlns:a16="http://schemas.microsoft.com/office/drawing/2014/main" id="{5BC35345-7A18-4D42-9681-50058B9D5D58}"/>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BCB22563-5A9D-4035-99DC-A96787B7BEA2}"/>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4221264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E83F7-E36A-48E5-8DCA-087E21BBE4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822A8EBF-99DA-4706-BCCE-9EBA54596A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124EF8FC-B1A6-401C-9069-13842D8C8A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A73258-FD4E-43EE-BF6C-3DADDEA90459}"/>
              </a:ext>
            </a:extLst>
          </p:cNvPr>
          <p:cNvSpPr>
            <a:spLocks noGrp="1"/>
          </p:cNvSpPr>
          <p:nvPr>
            <p:ph type="dt" sz="half" idx="10"/>
          </p:nvPr>
        </p:nvSpPr>
        <p:spPr/>
        <p:txBody>
          <a:bodyPr/>
          <a:lstStyle/>
          <a:p>
            <a:fld id="{3237A82C-AEEE-48DB-A866-3B1CA0AC9D5D}" type="datetimeFigureOut">
              <a:rPr lang="en-PK" smtClean="0"/>
              <a:t>03/08/2025</a:t>
            </a:fld>
            <a:endParaRPr lang="en-PK"/>
          </a:p>
        </p:txBody>
      </p:sp>
      <p:sp>
        <p:nvSpPr>
          <p:cNvPr id="6" name="Footer Placeholder 5">
            <a:extLst>
              <a:ext uri="{FF2B5EF4-FFF2-40B4-BE49-F238E27FC236}">
                <a16:creationId xmlns:a16="http://schemas.microsoft.com/office/drawing/2014/main" id="{170AB588-D788-4246-8BC5-FC3FB748507C}"/>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E7FFFD2F-0AC3-4390-8990-6C3DDE5525F5}"/>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916293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9B165-E271-4702-AC6D-63BC723EAB6A}"/>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1555CA41-5CBD-4E65-95AA-B3EFB8BD3B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E19ACED0-31DD-4C4F-B63A-02250626EB2F}"/>
              </a:ext>
            </a:extLst>
          </p:cNvPr>
          <p:cNvSpPr>
            <a:spLocks noGrp="1"/>
          </p:cNvSpPr>
          <p:nvPr>
            <p:ph type="dt" sz="half" idx="10"/>
          </p:nvPr>
        </p:nvSpPr>
        <p:spPr/>
        <p:txBody>
          <a:bodyPr/>
          <a:lstStyle/>
          <a:p>
            <a:fld id="{3237A82C-AEEE-48DB-A866-3B1CA0AC9D5D}" type="datetimeFigureOut">
              <a:rPr lang="en-PK" smtClean="0"/>
              <a:t>03/08/2025</a:t>
            </a:fld>
            <a:endParaRPr lang="en-PK"/>
          </a:p>
        </p:txBody>
      </p:sp>
      <p:sp>
        <p:nvSpPr>
          <p:cNvPr id="5" name="Footer Placeholder 4">
            <a:extLst>
              <a:ext uri="{FF2B5EF4-FFF2-40B4-BE49-F238E27FC236}">
                <a16:creationId xmlns:a16="http://schemas.microsoft.com/office/drawing/2014/main" id="{A995553D-FD7D-4432-BC5C-F78462D738A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31E46CDF-12B4-4900-A154-E219D22E95BB}"/>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57631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29BF1E-BE8B-4353-B936-AE8071F91C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DB322873-176A-4EA9-9941-DC9941F475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DD35E231-43A9-48DA-833A-A8750A6CA7EC}"/>
              </a:ext>
            </a:extLst>
          </p:cNvPr>
          <p:cNvSpPr>
            <a:spLocks noGrp="1"/>
          </p:cNvSpPr>
          <p:nvPr>
            <p:ph type="dt" sz="half" idx="10"/>
          </p:nvPr>
        </p:nvSpPr>
        <p:spPr/>
        <p:txBody>
          <a:bodyPr/>
          <a:lstStyle/>
          <a:p>
            <a:fld id="{3237A82C-AEEE-48DB-A866-3B1CA0AC9D5D}" type="datetimeFigureOut">
              <a:rPr lang="en-PK" smtClean="0"/>
              <a:t>03/08/2025</a:t>
            </a:fld>
            <a:endParaRPr lang="en-PK"/>
          </a:p>
        </p:txBody>
      </p:sp>
      <p:sp>
        <p:nvSpPr>
          <p:cNvPr id="5" name="Footer Placeholder 4">
            <a:extLst>
              <a:ext uri="{FF2B5EF4-FFF2-40B4-BE49-F238E27FC236}">
                <a16:creationId xmlns:a16="http://schemas.microsoft.com/office/drawing/2014/main" id="{00B07A8C-6932-4260-BAAA-DBE1B12880FA}"/>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AFE6F17-3B9F-4C75-98BF-F79F5D018AEB}"/>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42108414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5.svg"/><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339B51-54CA-49F5-8966-F46D83C422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2519CFAA-AD75-4697-91AC-85CEC6C6B2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54127230-2512-4F28-A281-14854D1474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37A82C-AEEE-48DB-A866-3B1CA0AC9D5D}" type="datetimeFigureOut">
              <a:rPr lang="en-PK" smtClean="0"/>
              <a:t>03/08/2025</a:t>
            </a:fld>
            <a:endParaRPr lang="en-PK"/>
          </a:p>
        </p:txBody>
      </p:sp>
      <p:sp>
        <p:nvSpPr>
          <p:cNvPr id="5" name="Footer Placeholder 4">
            <a:extLst>
              <a:ext uri="{FF2B5EF4-FFF2-40B4-BE49-F238E27FC236}">
                <a16:creationId xmlns:a16="http://schemas.microsoft.com/office/drawing/2014/main" id="{4FD06234-7A7A-4EED-8F6D-3D8EBC2D1F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AA549BF4-1286-4C31-9FB5-ED9DDFE1E6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B9F7D7-3C9C-4146-9FA1-B77DEB44278D}" type="slidenum">
              <a:rPr lang="en-PK" smtClean="0"/>
              <a:t>‹#›</a:t>
            </a:fld>
            <a:endParaRPr lang="en-PK"/>
          </a:p>
        </p:txBody>
      </p:sp>
      <p:grpSp>
        <p:nvGrpSpPr>
          <p:cNvPr id="7" name="Group 6">
            <a:extLst>
              <a:ext uri="{FF2B5EF4-FFF2-40B4-BE49-F238E27FC236}">
                <a16:creationId xmlns:a16="http://schemas.microsoft.com/office/drawing/2014/main" id="{B19BF24E-8857-15FB-35DC-63E8E05BDC44}"/>
              </a:ext>
            </a:extLst>
          </p:cNvPr>
          <p:cNvGrpSpPr/>
          <p:nvPr userDrawn="1"/>
        </p:nvGrpSpPr>
        <p:grpSpPr>
          <a:xfrm>
            <a:off x="0" y="0"/>
            <a:ext cx="12749348" cy="1115736"/>
            <a:chOff x="0" y="0"/>
            <a:chExt cx="12749348" cy="1115736"/>
          </a:xfrm>
        </p:grpSpPr>
        <p:sp>
          <p:nvSpPr>
            <p:cNvPr id="8" name="Rectangle 7">
              <a:extLst>
                <a:ext uri="{FF2B5EF4-FFF2-40B4-BE49-F238E27FC236}">
                  <a16:creationId xmlns:a16="http://schemas.microsoft.com/office/drawing/2014/main" id="{D73BBF49-CEAD-EB1E-4F95-D8617074BCBF}"/>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9" name="Picture 8">
              <a:extLst>
                <a:ext uri="{FF2B5EF4-FFF2-40B4-BE49-F238E27FC236}">
                  <a16:creationId xmlns:a16="http://schemas.microsoft.com/office/drawing/2014/main" id="{5179C005-0F7F-3F16-56A7-110BCB515BD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0" name="TextBox 9">
              <a:extLst>
                <a:ext uri="{FF2B5EF4-FFF2-40B4-BE49-F238E27FC236}">
                  <a16:creationId xmlns:a16="http://schemas.microsoft.com/office/drawing/2014/main" id="{8FE68011-1363-83B0-5E92-A0541D3016CA}"/>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1" name="Graphic 10">
              <a:extLst>
                <a:ext uri="{FF2B5EF4-FFF2-40B4-BE49-F238E27FC236}">
                  <a16:creationId xmlns:a16="http://schemas.microsoft.com/office/drawing/2014/main" id="{74624E39-ED07-3779-81D7-346EFACDFF0D}"/>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12" name="TextBox 11">
              <a:extLst>
                <a:ext uri="{FF2B5EF4-FFF2-40B4-BE49-F238E27FC236}">
                  <a16:creationId xmlns:a16="http://schemas.microsoft.com/office/drawing/2014/main" id="{4C3B84DB-A1EC-D7DD-EDFF-3EA1DE840F44}"/>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3" name="Graphic 12">
              <a:extLst>
                <a:ext uri="{FF2B5EF4-FFF2-40B4-BE49-F238E27FC236}">
                  <a16:creationId xmlns:a16="http://schemas.microsoft.com/office/drawing/2014/main" id="{7C8D8347-E136-3293-DD8A-B522E9102E50}"/>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14" name="Picture 13">
              <a:extLst>
                <a:ext uri="{FF2B5EF4-FFF2-40B4-BE49-F238E27FC236}">
                  <a16:creationId xmlns:a16="http://schemas.microsoft.com/office/drawing/2014/main" id="{AB363484-B7E9-D079-335D-5D969BC6C82C}"/>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40133889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EF21E1-2D98-4671-AEAF-A201BC9C40D1}"/>
              </a:ext>
            </a:extLst>
          </p:cNvPr>
          <p:cNvSpPr/>
          <p:nvPr/>
        </p:nvSpPr>
        <p:spPr>
          <a:xfrm>
            <a:off x="-162787" y="0"/>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5946CD5F-621C-4899-B8C5-417BE3F1ECD0}"/>
              </a:ext>
            </a:extLst>
          </p:cNvPr>
          <p:cNvSpPr>
            <a:spLocks noGrp="1"/>
          </p:cNvSpPr>
          <p:nvPr>
            <p:ph type="ctrTitle"/>
          </p:nvPr>
        </p:nvSpPr>
        <p:spPr>
          <a:xfrm>
            <a:off x="804672" y="1082351"/>
            <a:ext cx="10582656" cy="2173611"/>
          </a:xfrm>
        </p:spPr>
        <p:txBody>
          <a:bodyPr>
            <a:normAutofit fontScale="90000"/>
          </a:bodyPr>
          <a:lstStyle/>
          <a:p>
            <a:br>
              <a:rPr lang="en-GB" b="1" dirty="0">
                <a:solidFill>
                  <a:schemeClr val="bg1"/>
                </a:solidFill>
                <a:latin typeface="Bahnschrift" panose="020B0502040204020203" pitchFamily="34" charset="0"/>
              </a:rPr>
            </a:br>
            <a:br>
              <a:rPr lang="en-GB" b="1" dirty="0">
                <a:solidFill>
                  <a:schemeClr val="bg1"/>
                </a:solidFill>
                <a:latin typeface="Bahnschrift" panose="020B0502040204020203" pitchFamily="34" charset="0"/>
              </a:rPr>
            </a:br>
            <a:br>
              <a:rPr lang="en-GB" b="1" dirty="0">
                <a:solidFill>
                  <a:schemeClr val="bg1"/>
                </a:solidFill>
                <a:latin typeface="Bahnschrift" panose="020B0502040204020203" pitchFamily="34" charset="0"/>
              </a:rPr>
            </a:br>
            <a:br>
              <a:rPr lang="en-GB" b="1" dirty="0">
                <a:solidFill>
                  <a:schemeClr val="bg1"/>
                </a:solidFill>
                <a:latin typeface="Bahnschrift" panose="020B0502040204020203" pitchFamily="34" charset="0"/>
              </a:rPr>
            </a:br>
            <a:br>
              <a:rPr lang="en-GB" b="1" dirty="0">
                <a:solidFill>
                  <a:schemeClr val="bg1"/>
                </a:solidFill>
                <a:latin typeface="Bahnschrift" panose="020B0502040204020203" pitchFamily="34" charset="0"/>
              </a:rPr>
            </a:br>
            <a:br>
              <a:rPr lang="en-GB" b="1" dirty="0">
                <a:solidFill>
                  <a:schemeClr val="bg1"/>
                </a:solidFill>
                <a:latin typeface="Bahnschrift" panose="020B0502040204020203" pitchFamily="34" charset="0"/>
              </a:rPr>
            </a:br>
            <a:br>
              <a:rPr lang="en-GB" b="1" dirty="0">
                <a:solidFill>
                  <a:schemeClr val="bg1"/>
                </a:solidFill>
                <a:latin typeface="Bahnschrift" panose="020B0502040204020203" pitchFamily="34" charset="0"/>
              </a:rPr>
            </a:br>
            <a:r>
              <a:rPr lang="en-US" b="1" dirty="0">
                <a:solidFill>
                  <a:schemeClr val="bg1"/>
                </a:solidFill>
                <a:latin typeface="Bahnschrift" panose="020B0502040204020203" pitchFamily="34" charset="0"/>
              </a:rPr>
              <a:t>Fundamental Concepts of the Islamic Economic System</a:t>
            </a:r>
            <a:endParaRPr lang="en-GB" dirty="0"/>
          </a:p>
        </p:txBody>
      </p:sp>
      <p:sp>
        <p:nvSpPr>
          <p:cNvPr id="3" name="Subtitle 2">
            <a:extLst>
              <a:ext uri="{FF2B5EF4-FFF2-40B4-BE49-F238E27FC236}">
                <a16:creationId xmlns:a16="http://schemas.microsoft.com/office/drawing/2014/main" id="{EC406DBB-5AF5-48F8-9377-D0A0ACE9B10B}"/>
              </a:ext>
            </a:extLst>
          </p:cNvPr>
          <p:cNvSpPr>
            <a:spLocks noGrp="1"/>
          </p:cNvSpPr>
          <p:nvPr>
            <p:ph type="subTitle" idx="1"/>
          </p:nvPr>
        </p:nvSpPr>
        <p:spPr>
          <a:xfrm>
            <a:off x="3694922" y="3602038"/>
            <a:ext cx="7557796" cy="1153160"/>
          </a:xfrm>
        </p:spPr>
        <p:txBody>
          <a:bodyPr>
            <a:noAutofit/>
          </a:bodyPr>
          <a:lstStyle/>
          <a:p>
            <a:pPr algn="l"/>
            <a:r>
              <a:rPr lang="en-GB" sz="3600" b="1" dirty="0">
                <a:solidFill>
                  <a:schemeClr val="bg1"/>
                </a:solidFill>
                <a:latin typeface="Bahnschrift" panose="020B0502040204020203" pitchFamily="34" charset="0"/>
              </a:rPr>
              <a:t>Economics in Islamic Perspective</a:t>
            </a:r>
          </a:p>
          <a:p>
            <a:r>
              <a:rPr lang="en-GB" sz="3600" b="1" dirty="0">
                <a:solidFill>
                  <a:schemeClr val="bg1"/>
                </a:solidFill>
                <a:latin typeface="Bahnschrift" panose="020B0502040204020203" pitchFamily="34" charset="0"/>
                <a:cs typeface="Arial" panose="020B0604020202020204" pitchFamily="34" charset="0"/>
              </a:rPr>
              <a:t>Lecture No: 3</a:t>
            </a:r>
            <a:endParaRPr lang="en-GB" sz="3600" b="1" dirty="0">
              <a:solidFill>
                <a:schemeClr val="bg2"/>
              </a:solidFill>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6DA394B8-F89E-45AC-9E3F-FEC161BFAFAB}"/>
              </a:ext>
            </a:extLst>
          </p:cNvPr>
          <p:cNvSpPr txBox="1">
            <a:spLocks/>
          </p:cNvSpPr>
          <p:nvPr/>
        </p:nvSpPr>
        <p:spPr>
          <a:xfrm>
            <a:off x="1158240" y="5331778"/>
            <a:ext cx="2828544" cy="719138"/>
          </a:xfrm>
          <a:prstGeom prst="rect">
            <a:avLst/>
          </a:prstGeom>
          <a:no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GB" sz="2000" b="1" dirty="0">
                <a:latin typeface="Arial" panose="020B0604020202020204" pitchFamily="34" charset="0"/>
                <a:cs typeface="Arial" panose="020B0604020202020204" pitchFamily="34" charset="0"/>
              </a:rPr>
              <a:t>09 March  2025</a:t>
            </a:r>
          </a:p>
        </p:txBody>
      </p:sp>
      <p:pic>
        <p:nvPicPr>
          <p:cNvPr id="10" name="Graphic 9">
            <a:extLst>
              <a:ext uri="{FF2B5EF4-FFF2-40B4-BE49-F238E27FC236}">
                <a16:creationId xmlns:a16="http://schemas.microsoft.com/office/drawing/2014/main" id="{1C869FE1-C1C4-48A8-AA9E-99CAE025BEA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62283" y="0"/>
            <a:ext cx="3611690" cy="3611690"/>
          </a:xfrm>
          <a:prstGeom prst="rect">
            <a:avLst/>
          </a:prstGeom>
        </p:spPr>
      </p:pic>
    </p:spTree>
    <p:extLst>
      <p:ext uri="{BB962C8B-B14F-4D97-AF65-F5344CB8AC3E}">
        <p14:creationId xmlns:p14="http://schemas.microsoft.com/office/powerpoint/2010/main" val="524796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E409FE-0CBB-4EAD-8A22-C51F65DE1771}"/>
              </a:ext>
            </a:extLst>
          </p:cNvPr>
          <p:cNvSpPr>
            <a:spLocks noGrp="1"/>
          </p:cNvSpPr>
          <p:nvPr>
            <p:ph idx="1"/>
          </p:nvPr>
        </p:nvSpPr>
        <p:spPr/>
        <p:txBody>
          <a:bodyPr>
            <a:noAutofit/>
          </a:bodyPr>
          <a:lstStyle/>
          <a:p>
            <a:pPr indent="-457200" algn="just">
              <a:lnSpc>
                <a:spcPct val="150000"/>
              </a:lnSpc>
              <a:spcBef>
                <a:spcPts val="0"/>
              </a:spcBef>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Islamic economic system is unique in its foundation, as it is based on Islamic principles and values derived from the Quran and Hadith. </a:t>
            </a:r>
          </a:p>
          <a:p>
            <a:pPr indent="-457200" algn="just">
              <a:lnSpc>
                <a:spcPct val="150000"/>
              </a:lnSpc>
              <a:spcBef>
                <a:spcPts val="0"/>
              </a:spcBef>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This system presents a comprehensive framework that addresses both the material and spiritual aspects of life, balancing individual freedom with social responsibility. </a:t>
            </a:r>
          </a:p>
          <a:p>
            <a:pPr indent="-457200" algn="just">
              <a:lnSpc>
                <a:spcPct val="150000"/>
              </a:lnSpc>
              <a:spcBef>
                <a:spcPts val="0"/>
              </a:spcBef>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It is designed to promote justice, equity, and welfare, and it provides an alternative to capitalist and socialist economic systems.</a:t>
            </a:r>
          </a:p>
        </p:txBody>
      </p:sp>
      <p:grpSp>
        <p:nvGrpSpPr>
          <p:cNvPr id="8" name="Group 7">
            <a:extLst>
              <a:ext uri="{FF2B5EF4-FFF2-40B4-BE49-F238E27FC236}">
                <a16:creationId xmlns:a16="http://schemas.microsoft.com/office/drawing/2014/main" id="{BAEFE420-0C07-4D1B-9094-F2C452FF1011}"/>
              </a:ext>
            </a:extLst>
          </p:cNvPr>
          <p:cNvGrpSpPr/>
          <p:nvPr/>
        </p:nvGrpSpPr>
        <p:grpSpPr>
          <a:xfrm>
            <a:off x="0" y="0"/>
            <a:ext cx="12749348" cy="1115736"/>
            <a:chOff x="0" y="0"/>
            <a:chExt cx="12749348" cy="1115736"/>
          </a:xfrm>
        </p:grpSpPr>
        <p:sp>
          <p:nvSpPr>
            <p:cNvPr id="9" name="Rectangle 8">
              <a:extLst>
                <a:ext uri="{FF2B5EF4-FFF2-40B4-BE49-F238E27FC236}">
                  <a16:creationId xmlns:a16="http://schemas.microsoft.com/office/drawing/2014/main" id="{6FBB4837-678E-4FCE-A1B7-2AE1B9432890}"/>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0" name="Picture 9">
              <a:extLst>
                <a:ext uri="{FF2B5EF4-FFF2-40B4-BE49-F238E27FC236}">
                  <a16:creationId xmlns:a16="http://schemas.microsoft.com/office/drawing/2014/main" id="{D279BBF0-3F01-4944-AF8F-73A34B5B9C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a16="http://schemas.microsoft.com/office/drawing/2014/main" id="{650112A7-3B60-423A-8682-3EC1CCAA7ABE}"/>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2" name="Graphic 11">
              <a:extLst>
                <a:ext uri="{FF2B5EF4-FFF2-40B4-BE49-F238E27FC236}">
                  <a16:creationId xmlns:a16="http://schemas.microsoft.com/office/drawing/2014/main" id="{75FFEA7F-8809-458D-BE80-99F7CFB965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a16="http://schemas.microsoft.com/office/drawing/2014/main" id="{B3F075CD-8CB0-4BD0-B756-BA559BF9DF2D}"/>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4" name="Graphic 13">
              <a:extLst>
                <a:ext uri="{FF2B5EF4-FFF2-40B4-BE49-F238E27FC236}">
                  <a16:creationId xmlns:a16="http://schemas.microsoft.com/office/drawing/2014/main" id="{ACED766F-A0E3-4D45-8A6E-86CCFAFA5D9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a16="http://schemas.microsoft.com/office/drawing/2014/main" id="{F83660F3-45D1-4CA0-BE2A-E7E6C1B794A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Title 1">
            <a:extLst>
              <a:ext uri="{FF2B5EF4-FFF2-40B4-BE49-F238E27FC236}">
                <a16:creationId xmlns:a16="http://schemas.microsoft.com/office/drawing/2014/main" id="{6FC1E4C0-6CE2-D746-1DD1-D683AC0B374A}"/>
              </a:ext>
            </a:extLst>
          </p:cNvPr>
          <p:cNvSpPr>
            <a:spLocks noGrp="1"/>
          </p:cNvSpPr>
          <p:nvPr>
            <p:ph type="title"/>
          </p:nvPr>
        </p:nvSpPr>
        <p:spPr>
          <a:xfrm>
            <a:off x="838200" y="1138335"/>
            <a:ext cx="10515600" cy="687290"/>
          </a:xfrm>
        </p:spPr>
        <p:txBody>
          <a:bodyPr>
            <a:normAutofit fontScale="90000"/>
          </a:bodyPr>
          <a:lstStyle/>
          <a:p>
            <a:r>
              <a:rPr lang="en-US" b="1" dirty="0">
                <a:latin typeface="Times New Roman" panose="02020603050405020304" pitchFamily="18" charset="0"/>
                <a:cs typeface="Times New Roman" panose="02020603050405020304" pitchFamily="18" charset="0"/>
              </a:rPr>
              <a:t>Introduction:</a:t>
            </a:r>
          </a:p>
        </p:txBody>
      </p:sp>
    </p:spTree>
    <p:extLst>
      <p:ext uri="{BB962C8B-B14F-4D97-AF65-F5344CB8AC3E}">
        <p14:creationId xmlns:p14="http://schemas.microsoft.com/office/powerpoint/2010/main" val="1438584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6B3DD-4C8E-68C6-EC4F-E9AC262C7A92}"/>
              </a:ext>
            </a:extLst>
          </p:cNvPr>
          <p:cNvSpPr>
            <a:spLocks noGrp="1"/>
          </p:cNvSpPr>
          <p:nvPr>
            <p:ph type="title"/>
          </p:nvPr>
        </p:nvSpPr>
        <p:spPr>
          <a:xfrm>
            <a:off x="838200" y="1115736"/>
            <a:ext cx="10515600" cy="980476"/>
          </a:xfrm>
        </p:spPr>
        <p:txBody>
          <a:bodyPr>
            <a:normAutofit fontScale="90000"/>
          </a:bodyPr>
          <a:lstStyle/>
          <a:p>
            <a:r>
              <a:rPr lang="en-US" b="1" i="0" dirty="0">
                <a:effectLst/>
                <a:latin typeface="Times New Roman" panose="02020603050405020304" pitchFamily="18" charset="0"/>
                <a:cs typeface="Times New Roman" panose="02020603050405020304" pitchFamily="18" charset="0"/>
              </a:rPr>
              <a:t>Key Principles of the Islamic Economic System</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7FD3F65-A32F-7F84-39E9-2D728615CD96}"/>
              </a:ext>
            </a:extLst>
          </p:cNvPr>
          <p:cNvSpPr>
            <a:spLocks noGrp="1"/>
          </p:cNvSpPr>
          <p:nvPr>
            <p:ph idx="1"/>
          </p:nvPr>
        </p:nvSpPr>
        <p:spPr>
          <a:xfrm>
            <a:off x="772886" y="2096212"/>
            <a:ext cx="10515600" cy="4351338"/>
          </a:xfrm>
        </p:spPr>
        <p:txBody>
          <a:bodyPr>
            <a:normAutofit fontScale="85000" lnSpcReduction="20000"/>
          </a:bodyPr>
          <a:lstStyle/>
          <a:p>
            <a:pPr marL="0" indent="0" algn="ctr">
              <a:lnSpc>
                <a:spcPct val="160000"/>
              </a:lnSpc>
              <a:spcBef>
                <a:spcPts val="0"/>
              </a:spcBef>
              <a:buNone/>
            </a:pPr>
            <a:r>
              <a:rPr lang="en-US" b="1" u="sng" dirty="0">
                <a:latin typeface="Times New Roman" panose="02020603050405020304" pitchFamily="18" charset="0"/>
                <a:cs typeface="Times New Roman" panose="02020603050405020304" pitchFamily="18" charset="0"/>
              </a:rPr>
              <a:t>1. Tawhid (Unity of God):</a:t>
            </a:r>
          </a:p>
          <a:p>
            <a:pPr algn="just">
              <a:lnSpc>
                <a:spcPct val="160000"/>
              </a:lnSpc>
              <a:spcBef>
                <a:spcPts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fundamental concept of Islam is the belief in Tawhid, which asserts that all economic activities should align with the will of Allah (God). </a:t>
            </a:r>
          </a:p>
          <a:p>
            <a:pPr algn="just">
              <a:lnSpc>
                <a:spcPct val="160000"/>
              </a:lnSpc>
              <a:spcBef>
                <a:spcPts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This principle underpins the entire economic system and guides the ethical conduct of individuals and institutions in the economy. </a:t>
            </a:r>
          </a:p>
          <a:p>
            <a:pPr algn="just">
              <a:lnSpc>
                <a:spcPct val="160000"/>
              </a:lnSpc>
              <a:spcBef>
                <a:spcPts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Wealth is seen as a trust from God, and humans are merely its caretakers. </a:t>
            </a:r>
          </a:p>
          <a:p>
            <a:pPr algn="just">
              <a:lnSpc>
                <a:spcPct val="160000"/>
              </a:lnSpc>
              <a:spcBef>
                <a:spcPts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Economic activities should, therefore, promote fairness, social welfare, and ethical values.</a:t>
            </a:r>
          </a:p>
        </p:txBody>
      </p:sp>
    </p:spTree>
    <p:extLst>
      <p:ext uri="{BB962C8B-B14F-4D97-AF65-F5344CB8AC3E}">
        <p14:creationId xmlns:p14="http://schemas.microsoft.com/office/powerpoint/2010/main" val="3875047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3E5033-F5E8-4FDA-843D-15313B5389FE}"/>
              </a:ext>
            </a:extLst>
          </p:cNvPr>
          <p:cNvSpPr>
            <a:spLocks noGrp="1"/>
          </p:cNvSpPr>
          <p:nvPr>
            <p:ph idx="1"/>
          </p:nvPr>
        </p:nvSpPr>
        <p:spPr/>
        <p:txBody>
          <a:bodyPr>
            <a:normAutofit fontScale="92500" lnSpcReduction="20000"/>
          </a:bodyPr>
          <a:lstStyle/>
          <a:p>
            <a:pPr algn="just">
              <a:lnSpc>
                <a:spcPct val="150000"/>
              </a:lnSpc>
              <a:spcBef>
                <a:spcPts val="0"/>
              </a:spcBef>
              <a:buFont typeface="Wingdings" panose="05000000000000000000" pitchFamily="2" charset="2"/>
              <a:buChar char="§"/>
            </a:pPr>
            <a:endParaRPr lang="en-US" b="0" i="0" dirty="0">
              <a:solidFill>
                <a:srgbClr val="000000"/>
              </a:solidFill>
              <a:effectLst/>
              <a:latin typeface="Times New Roman" panose="02020603050405020304" pitchFamily="18" charset="0"/>
              <a:cs typeface="Times New Roman" panose="02020603050405020304" pitchFamily="18" charset="0"/>
            </a:endParaRPr>
          </a:p>
          <a:p>
            <a:pPr algn="just">
              <a:lnSpc>
                <a:spcPct val="150000"/>
              </a:lnSpc>
              <a:spcBef>
                <a:spcPts val="0"/>
              </a:spcBef>
              <a:buFont typeface="Wingdings" panose="05000000000000000000" pitchFamily="2" charset="2"/>
              <a:buChar char="§"/>
            </a:pPr>
            <a:r>
              <a:rPr lang="en-US" b="0" i="0" dirty="0">
                <a:solidFill>
                  <a:srgbClr val="000000"/>
                </a:solidFill>
                <a:effectLst/>
                <a:latin typeface="Times New Roman" panose="02020603050405020304" pitchFamily="18" charset="0"/>
                <a:cs typeface="Times New Roman" panose="02020603050405020304" pitchFamily="18" charset="0"/>
              </a:rPr>
              <a:t>Islam acknowledges the right to private property, but it places limits on its acquisition and use. </a:t>
            </a:r>
          </a:p>
          <a:p>
            <a:pPr algn="just">
              <a:lnSpc>
                <a:spcPct val="150000"/>
              </a:lnSpc>
              <a:spcBef>
                <a:spcPts val="0"/>
              </a:spcBef>
              <a:buFont typeface="Wingdings" panose="05000000000000000000" pitchFamily="2" charset="2"/>
              <a:buChar char="§"/>
            </a:pPr>
            <a:r>
              <a:rPr lang="en-US" b="0" i="0" dirty="0">
                <a:solidFill>
                  <a:srgbClr val="000000"/>
                </a:solidFill>
                <a:effectLst/>
                <a:latin typeface="Times New Roman" panose="02020603050405020304" pitchFamily="18" charset="0"/>
                <a:cs typeface="Times New Roman" panose="02020603050405020304" pitchFamily="18" charset="0"/>
              </a:rPr>
              <a:t>Property is not an absolute right; rather, it is a trust that individuals hold for the benefit of society. </a:t>
            </a:r>
          </a:p>
          <a:p>
            <a:pPr algn="just">
              <a:lnSpc>
                <a:spcPct val="150000"/>
              </a:lnSpc>
              <a:spcBef>
                <a:spcPts val="0"/>
              </a:spcBef>
              <a:buFont typeface="Wingdings" panose="05000000000000000000" pitchFamily="2" charset="2"/>
              <a:buChar char="§"/>
            </a:pPr>
            <a:r>
              <a:rPr lang="en-US" b="0" i="0" dirty="0">
                <a:solidFill>
                  <a:srgbClr val="000000"/>
                </a:solidFill>
                <a:effectLst/>
                <a:latin typeface="Times New Roman" panose="02020603050405020304" pitchFamily="18" charset="0"/>
                <a:cs typeface="Times New Roman" panose="02020603050405020304" pitchFamily="18" charset="0"/>
              </a:rPr>
              <a:t>Wealth should be used for the welfare of all, and the rich are encouraged to contribute to social welfare through charity, such as paying zakat (obligatory alms).</a:t>
            </a:r>
          </a:p>
        </p:txBody>
      </p:sp>
      <p:sp>
        <p:nvSpPr>
          <p:cNvPr id="6" name="Title 1">
            <a:extLst>
              <a:ext uri="{FF2B5EF4-FFF2-40B4-BE49-F238E27FC236}">
                <a16:creationId xmlns:a16="http://schemas.microsoft.com/office/drawing/2014/main" id="{E8654D8F-B021-7671-1B0B-FFE192407516}"/>
              </a:ext>
            </a:extLst>
          </p:cNvPr>
          <p:cNvSpPr>
            <a:spLocks noGrp="1"/>
          </p:cNvSpPr>
          <p:nvPr>
            <p:ph type="title"/>
          </p:nvPr>
        </p:nvSpPr>
        <p:spPr>
          <a:xfrm>
            <a:off x="485192" y="1115736"/>
            <a:ext cx="10982130" cy="936999"/>
          </a:xfrm>
        </p:spPr>
        <p:txBody>
          <a:bodyPr>
            <a:normAutofit fontScale="90000"/>
          </a:bodyPr>
          <a:lstStyle/>
          <a:p>
            <a:pPr algn="just"/>
            <a:r>
              <a:rPr lang="en-US" b="1" i="0" dirty="0">
                <a:solidFill>
                  <a:srgbClr val="000000"/>
                </a:solidFill>
                <a:effectLst/>
                <a:latin typeface="Times New Roman" panose="02020603050405020304" pitchFamily="18" charset="0"/>
                <a:cs typeface="Times New Roman" panose="02020603050405020304" pitchFamily="18" charset="0"/>
              </a:rPr>
              <a:t>2.Private Property and its Social Responsibility: </a:t>
            </a:r>
          </a:p>
        </p:txBody>
      </p:sp>
    </p:spTree>
    <p:extLst>
      <p:ext uri="{BB962C8B-B14F-4D97-AF65-F5344CB8AC3E}">
        <p14:creationId xmlns:p14="http://schemas.microsoft.com/office/powerpoint/2010/main" val="3696527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01A34-5409-8A3D-B01E-D76F3BEDC17C}"/>
              </a:ext>
            </a:extLst>
          </p:cNvPr>
          <p:cNvSpPr>
            <a:spLocks noGrp="1"/>
          </p:cNvSpPr>
          <p:nvPr>
            <p:ph type="title"/>
          </p:nvPr>
        </p:nvSpPr>
        <p:spPr>
          <a:xfrm>
            <a:off x="838200" y="1149291"/>
            <a:ext cx="10515600" cy="676333"/>
          </a:xfrm>
        </p:spPr>
        <p:txBody>
          <a:bodyPr>
            <a:normAutofit fontScale="90000"/>
          </a:bodyPr>
          <a:lstStyle/>
          <a:p>
            <a:r>
              <a:rPr lang="en-US" b="1" dirty="0">
                <a:solidFill>
                  <a:srgbClr val="000000"/>
                </a:solidFill>
                <a:latin typeface="Times New Roman" panose="02020603050405020304" pitchFamily="18" charset="0"/>
                <a:cs typeface="Times New Roman" panose="02020603050405020304" pitchFamily="18" charset="0"/>
              </a:rPr>
              <a:t>3:Zakat (Obligatory Charity):</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85C25E0-62FD-32CA-0032-22677C5EDDE6}"/>
              </a:ext>
            </a:extLst>
          </p:cNvPr>
          <p:cNvSpPr>
            <a:spLocks noGrp="1"/>
          </p:cNvSpPr>
          <p:nvPr>
            <p:ph idx="1"/>
          </p:nvPr>
        </p:nvSpPr>
        <p:spPr/>
        <p:txBody>
          <a:bodyPr>
            <a:normAutofit lnSpcReduction="10000"/>
          </a:bodyPr>
          <a:lstStyle/>
          <a:p>
            <a:pPr algn="just">
              <a:lnSpc>
                <a:spcPct val="150000"/>
              </a:lnSpc>
              <a:spcBef>
                <a:spcPts val="0"/>
              </a:spcBef>
            </a:pPr>
            <a:r>
              <a:rPr lang="en-US" b="0" i="0" dirty="0">
                <a:solidFill>
                  <a:srgbClr val="000000"/>
                </a:solidFill>
                <a:effectLst/>
                <a:latin typeface="Times New Roman" panose="02020603050405020304" pitchFamily="18" charset="0"/>
                <a:cs typeface="Times New Roman" panose="02020603050405020304" pitchFamily="18" charset="0"/>
              </a:rPr>
              <a:t>Zakat is one of the Five Pillars of Islam and plays a crucial role in the Islamic economic system. </a:t>
            </a:r>
          </a:p>
          <a:p>
            <a:pPr algn="just">
              <a:lnSpc>
                <a:spcPct val="150000"/>
              </a:lnSpc>
              <a:spcBef>
                <a:spcPts val="0"/>
              </a:spcBef>
            </a:pPr>
            <a:r>
              <a:rPr lang="en-US" b="0" i="0" dirty="0">
                <a:solidFill>
                  <a:srgbClr val="000000"/>
                </a:solidFill>
                <a:effectLst/>
                <a:latin typeface="Times New Roman" panose="02020603050405020304" pitchFamily="18" charset="0"/>
                <a:cs typeface="Times New Roman" panose="02020603050405020304" pitchFamily="18" charset="0"/>
              </a:rPr>
              <a:t>It is a mandatory form of wealth redistribution, where Muslims are required to donate a portion (usually 2.5%) of their accumulated wealth to those in need. </a:t>
            </a:r>
          </a:p>
          <a:p>
            <a:pPr algn="just">
              <a:lnSpc>
                <a:spcPct val="150000"/>
              </a:lnSpc>
              <a:spcBef>
                <a:spcPts val="0"/>
              </a:spcBef>
            </a:pPr>
            <a:r>
              <a:rPr lang="en-US" b="0" i="0" dirty="0">
                <a:solidFill>
                  <a:srgbClr val="000000"/>
                </a:solidFill>
                <a:effectLst/>
                <a:latin typeface="Times New Roman" panose="02020603050405020304" pitchFamily="18" charset="0"/>
                <a:cs typeface="Times New Roman" panose="02020603050405020304" pitchFamily="18" charset="0"/>
              </a:rPr>
              <a:t>Zakat helps reduce poverty and income inequality, fostering a sense of solidarity and social justice within the Muslim community.</a:t>
            </a:r>
          </a:p>
        </p:txBody>
      </p:sp>
    </p:spTree>
    <p:extLst>
      <p:ext uri="{BB962C8B-B14F-4D97-AF65-F5344CB8AC3E}">
        <p14:creationId xmlns:p14="http://schemas.microsoft.com/office/powerpoint/2010/main" val="66325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57F00-D6FC-DC2F-03EA-EAE43C30FBD4}"/>
              </a:ext>
            </a:extLst>
          </p:cNvPr>
          <p:cNvSpPr>
            <a:spLocks noGrp="1"/>
          </p:cNvSpPr>
          <p:nvPr>
            <p:ph type="title"/>
          </p:nvPr>
        </p:nvSpPr>
        <p:spPr>
          <a:xfrm>
            <a:off x="838200" y="1057726"/>
            <a:ext cx="10515600" cy="767899"/>
          </a:xfrm>
        </p:spPr>
        <p:txBody>
          <a:bodyPr>
            <a:normAutofit/>
          </a:bodyPr>
          <a:lstStyle/>
          <a:p>
            <a:r>
              <a:rPr lang="en-US" sz="4400" b="1" dirty="0">
                <a:latin typeface="Times New Roman" panose="02020603050405020304" pitchFamily="18" charset="0"/>
                <a:cs typeface="Times New Roman" panose="02020603050405020304" pitchFamily="18" charset="0"/>
              </a:rPr>
              <a:t>4. Prohibition of Riba (Usury/Interest):</a:t>
            </a:r>
            <a:endParaRPr lang="en-US" sz="4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B60B3E3-0E6D-016B-1A40-26BB6B8E19A3}"/>
              </a:ext>
            </a:extLst>
          </p:cNvPr>
          <p:cNvSpPr>
            <a:spLocks noGrp="1"/>
          </p:cNvSpPr>
          <p:nvPr>
            <p:ph idx="1"/>
          </p:nvPr>
        </p:nvSpPr>
        <p:spPr/>
        <p:txBody>
          <a:bodyPr>
            <a:noAutofit/>
          </a:bodyPr>
          <a:lstStyle/>
          <a:p>
            <a:pPr algn="just">
              <a:lnSpc>
                <a:spcPct val="150000"/>
              </a:lnSpc>
              <a:spcBef>
                <a:spcPts val="0"/>
              </a:spcBef>
              <a:buFont typeface="Wingdings" panose="05000000000000000000" pitchFamily="2" charset="2"/>
              <a:buChar char="§"/>
            </a:pPr>
            <a:r>
              <a:rPr lang="en-US" sz="2400" b="0" i="0" dirty="0">
                <a:solidFill>
                  <a:srgbClr val="273239"/>
                </a:solidFill>
                <a:effectLst/>
                <a:latin typeface="Times New Roman" panose="02020603050405020304" pitchFamily="18" charset="0"/>
                <a:cs typeface="Times New Roman" panose="02020603050405020304" pitchFamily="18" charset="0"/>
              </a:rPr>
              <a:t> Riba, or interest, is strictly prohibited in Islam. </a:t>
            </a:r>
          </a:p>
          <a:p>
            <a:pPr algn="just">
              <a:lnSpc>
                <a:spcPct val="150000"/>
              </a:lnSpc>
              <a:spcBef>
                <a:spcPts val="0"/>
              </a:spcBef>
              <a:buFont typeface="Wingdings" panose="05000000000000000000" pitchFamily="2" charset="2"/>
              <a:buChar char="§"/>
            </a:pPr>
            <a:r>
              <a:rPr lang="en-US" sz="2400" b="0" i="0" dirty="0">
                <a:solidFill>
                  <a:srgbClr val="273239"/>
                </a:solidFill>
                <a:effectLst/>
                <a:latin typeface="Times New Roman" panose="02020603050405020304" pitchFamily="18" charset="0"/>
                <a:cs typeface="Times New Roman" panose="02020603050405020304" pitchFamily="18" charset="0"/>
              </a:rPr>
              <a:t>The reasoning behind this prohibition is that money itself should not generate money without any effort or risk, which is considered exploitative. </a:t>
            </a:r>
          </a:p>
          <a:p>
            <a:pPr algn="just">
              <a:lnSpc>
                <a:spcPct val="150000"/>
              </a:lnSpc>
              <a:spcBef>
                <a:spcPts val="0"/>
              </a:spcBef>
              <a:buFont typeface="Wingdings" panose="05000000000000000000" pitchFamily="2" charset="2"/>
              <a:buChar char="§"/>
            </a:pPr>
            <a:r>
              <a:rPr lang="en-US" sz="2400" b="0" i="0" dirty="0">
                <a:solidFill>
                  <a:srgbClr val="273239"/>
                </a:solidFill>
                <a:effectLst/>
                <a:latin typeface="Times New Roman" panose="02020603050405020304" pitchFamily="18" charset="0"/>
                <a:cs typeface="Times New Roman" panose="02020603050405020304" pitchFamily="18" charset="0"/>
              </a:rPr>
              <a:t>Charging interest on loans or making profits solely through financial transactions, without any real economic activity, is viewed as unjust. </a:t>
            </a:r>
          </a:p>
          <a:p>
            <a:pPr algn="just">
              <a:lnSpc>
                <a:spcPct val="150000"/>
              </a:lnSpc>
              <a:spcBef>
                <a:spcPts val="0"/>
              </a:spcBef>
              <a:buFont typeface="Wingdings" panose="05000000000000000000" pitchFamily="2" charset="2"/>
              <a:buChar char="§"/>
            </a:pPr>
            <a:r>
              <a:rPr lang="en-US" sz="2400" b="0" i="0" dirty="0">
                <a:solidFill>
                  <a:srgbClr val="273239"/>
                </a:solidFill>
                <a:effectLst/>
                <a:latin typeface="Times New Roman" panose="02020603050405020304" pitchFamily="18" charset="0"/>
                <a:cs typeface="Times New Roman" panose="02020603050405020304" pitchFamily="18" charset="0"/>
              </a:rPr>
              <a:t>This prohibition encourages risk-sharing and profit-sharing models, such as </a:t>
            </a:r>
            <a:r>
              <a:rPr lang="en-US" sz="2400" b="0" i="0" dirty="0" err="1">
                <a:solidFill>
                  <a:srgbClr val="273239"/>
                </a:solidFill>
                <a:effectLst/>
                <a:latin typeface="Times New Roman" panose="02020603050405020304" pitchFamily="18" charset="0"/>
                <a:cs typeface="Times New Roman" panose="02020603050405020304" pitchFamily="18" charset="0"/>
              </a:rPr>
              <a:t>mudarabah</a:t>
            </a:r>
            <a:r>
              <a:rPr lang="en-US" sz="2400" b="0" i="0" dirty="0">
                <a:solidFill>
                  <a:srgbClr val="273239"/>
                </a:solidFill>
                <a:effectLst/>
                <a:latin typeface="Times New Roman" panose="02020603050405020304" pitchFamily="18" charset="0"/>
                <a:cs typeface="Times New Roman" panose="02020603050405020304" pitchFamily="18" charset="0"/>
              </a:rPr>
              <a:t> (profit-sharing contracts) and </a:t>
            </a:r>
            <a:r>
              <a:rPr lang="en-US" sz="2400" b="0" i="0" dirty="0" err="1">
                <a:solidFill>
                  <a:srgbClr val="273239"/>
                </a:solidFill>
                <a:effectLst/>
                <a:latin typeface="Times New Roman" panose="02020603050405020304" pitchFamily="18" charset="0"/>
                <a:cs typeface="Times New Roman" panose="02020603050405020304" pitchFamily="18" charset="0"/>
              </a:rPr>
              <a:t>musharakah</a:t>
            </a:r>
            <a:r>
              <a:rPr lang="en-US" sz="2400" b="0" i="0" dirty="0">
                <a:solidFill>
                  <a:srgbClr val="273239"/>
                </a:solidFill>
                <a:effectLst/>
                <a:latin typeface="Times New Roman" panose="02020603050405020304" pitchFamily="18" charset="0"/>
                <a:cs typeface="Times New Roman" panose="02020603050405020304" pitchFamily="18" charset="0"/>
              </a:rPr>
              <a:t> (joint ventures).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69570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C9A14-784F-2F8A-18D8-C8D8CF49BF70}"/>
              </a:ext>
            </a:extLst>
          </p:cNvPr>
          <p:cNvSpPr>
            <a:spLocks noGrp="1"/>
          </p:cNvSpPr>
          <p:nvPr>
            <p:ph type="title"/>
          </p:nvPr>
        </p:nvSpPr>
        <p:spPr>
          <a:xfrm>
            <a:off x="499872" y="1139772"/>
            <a:ext cx="11448288" cy="856541"/>
          </a:xfrm>
        </p:spPr>
        <p:txBody>
          <a:bodyPr>
            <a:normAutofit fontScale="90000"/>
          </a:bodyPr>
          <a:lstStyle/>
          <a:p>
            <a:r>
              <a:rPr lang="en-US" sz="4400" b="1" dirty="0">
                <a:latin typeface="Arial" panose="020B0604020202020204" pitchFamily="34" charset="0"/>
                <a:cs typeface="Arial" panose="020B0604020202020204" pitchFamily="34" charset="0"/>
              </a:rPr>
              <a:t>5:Gharar (Uncertainty) and </a:t>
            </a:r>
            <a:r>
              <a:rPr lang="en-US" sz="4400" b="1" dirty="0" err="1">
                <a:latin typeface="Arial" panose="020B0604020202020204" pitchFamily="34" charset="0"/>
                <a:cs typeface="Arial" panose="020B0604020202020204" pitchFamily="34" charset="0"/>
              </a:rPr>
              <a:t>Maysir</a:t>
            </a:r>
            <a:r>
              <a:rPr lang="en-US" b="1" dirty="0">
                <a:latin typeface="Arial" panose="020B0604020202020204" pitchFamily="34" charset="0"/>
                <a:cs typeface="Arial" panose="020B0604020202020204" pitchFamily="34" charset="0"/>
              </a:rPr>
              <a:t> </a:t>
            </a:r>
            <a:r>
              <a:rPr lang="en-US" sz="4400" b="1" dirty="0">
                <a:latin typeface="Arial" panose="020B0604020202020204" pitchFamily="34" charset="0"/>
                <a:cs typeface="Arial" panose="020B0604020202020204" pitchFamily="34" charset="0"/>
              </a:rPr>
              <a:t>(Gambling):</a:t>
            </a:r>
            <a:endParaRPr lang="en-US" dirty="0"/>
          </a:p>
        </p:txBody>
      </p:sp>
      <p:sp>
        <p:nvSpPr>
          <p:cNvPr id="3" name="Content Placeholder 2">
            <a:extLst>
              <a:ext uri="{FF2B5EF4-FFF2-40B4-BE49-F238E27FC236}">
                <a16:creationId xmlns:a16="http://schemas.microsoft.com/office/drawing/2014/main" id="{7D1021F8-1E68-62C6-CCEF-45346D8FF394}"/>
              </a:ext>
            </a:extLst>
          </p:cNvPr>
          <p:cNvSpPr>
            <a:spLocks noGrp="1"/>
          </p:cNvSpPr>
          <p:nvPr>
            <p:ph idx="1"/>
          </p:nvPr>
        </p:nvSpPr>
        <p:spPr>
          <a:xfrm>
            <a:off x="838200" y="1996313"/>
            <a:ext cx="10515600" cy="4351338"/>
          </a:xfrm>
        </p:spPr>
        <p:txBody>
          <a:bodyPr>
            <a:normAutofit lnSpcReduction="10000"/>
          </a:bodyPr>
          <a:lstStyle/>
          <a:p>
            <a:pPr algn="just">
              <a:lnSpc>
                <a:spcPct val="150000"/>
              </a:lnSpc>
              <a:spcBef>
                <a:spcPts val="0"/>
              </a:spcBef>
              <a:buFont typeface="Wingdings" panose="05000000000000000000" pitchFamily="2" charset="2"/>
              <a:buChar char="§"/>
            </a:pPr>
            <a:r>
              <a:rPr lang="en-US" b="0" i="0" dirty="0">
                <a:solidFill>
                  <a:srgbClr val="273239"/>
                </a:solidFill>
                <a:effectLst/>
                <a:latin typeface="Times New Roman" panose="02020603050405020304" pitchFamily="18" charset="0"/>
                <a:cs typeface="Times New Roman" panose="02020603050405020304" pitchFamily="18" charset="0"/>
              </a:rPr>
              <a:t> Islam prohibits transactions that involve excessive uncertainty (</a:t>
            </a:r>
            <a:r>
              <a:rPr lang="en-US" b="0" i="0" dirty="0" err="1">
                <a:solidFill>
                  <a:srgbClr val="273239"/>
                </a:solidFill>
                <a:effectLst/>
                <a:latin typeface="Times New Roman" panose="02020603050405020304" pitchFamily="18" charset="0"/>
                <a:cs typeface="Times New Roman" panose="02020603050405020304" pitchFamily="18" charset="0"/>
              </a:rPr>
              <a:t>gharar</a:t>
            </a:r>
            <a:r>
              <a:rPr lang="en-US" b="0" i="0" dirty="0">
                <a:solidFill>
                  <a:srgbClr val="273239"/>
                </a:solidFill>
                <a:effectLst/>
                <a:latin typeface="Times New Roman" panose="02020603050405020304" pitchFamily="18" charset="0"/>
                <a:cs typeface="Times New Roman" panose="02020603050405020304" pitchFamily="18" charset="0"/>
              </a:rPr>
              <a:t>) and gambling (</a:t>
            </a:r>
            <a:r>
              <a:rPr lang="en-US" b="0" i="0" dirty="0" err="1">
                <a:solidFill>
                  <a:srgbClr val="273239"/>
                </a:solidFill>
                <a:effectLst/>
                <a:latin typeface="Times New Roman" panose="02020603050405020304" pitchFamily="18" charset="0"/>
                <a:cs typeface="Times New Roman" panose="02020603050405020304" pitchFamily="18" charset="0"/>
              </a:rPr>
              <a:t>maysir</a:t>
            </a:r>
            <a:r>
              <a:rPr lang="en-US" b="0" i="0" dirty="0">
                <a:solidFill>
                  <a:srgbClr val="273239"/>
                </a:solidFill>
                <a:effectLst/>
                <a:latin typeface="Times New Roman" panose="02020603050405020304" pitchFamily="18" charset="0"/>
                <a:cs typeface="Times New Roman" panose="02020603050405020304" pitchFamily="18" charset="0"/>
              </a:rPr>
              <a:t>). </a:t>
            </a:r>
          </a:p>
          <a:p>
            <a:pPr algn="just">
              <a:lnSpc>
                <a:spcPct val="150000"/>
              </a:lnSpc>
              <a:spcBef>
                <a:spcPts val="0"/>
              </a:spcBef>
              <a:buFont typeface="Wingdings" panose="05000000000000000000" pitchFamily="2" charset="2"/>
              <a:buChar char="§"/>
            </a:pPr>
            <a:r>
              <a:rPr lang="en-US" b="0" i="0" dirty="0">
                <a:solidFill>
                  <a:srgbClr val="273239"/>
                </a:solidFill>
                <a:effectLst/>
                <a:latin typeface="Times New Roman" panose="02020603050405020304" pitchFamily="18" charset="0"/>
                <a:cs typeface="Times New Roman" panose="02020603050405020304" pitchFamily="18" charset="0"/>
              </a:rPr>
              <a:t>This means that contracts should be clear, and both parties must have full knowledge of the terms and conditions. </a:t>
            </a:r>
          </a:p>
          <a:p>
            <a:pPr algn="just">
              <a:lnSpc>
                <a:spcPct val="150000"/>
              </a:lnSpc>
              <a:spcBef>
                <a:spcPts val="0"/>
              </a:spcBef>
              <a:buFont typeface="Wingdings" panose="05000000000000000000" pitchFamily="2" charset="2"/>
              <a:buChar char="§"/>
            </a:pPr>
            <a:r>
              <a:rPr lang="en-US" b="0" i="0" dirty="0">
                <a:solidFill>
                  <a:srgbClr val="273239"/>
                </a:solidFill>
                <a:effectLst/>
                <a:latin typeface="Times New Roman" panose="02020603050405020304" pitchFamily="18" charset="0"/>
                <a:cs typeface="Times New Roman" panose="02020603050405020304" pitchFamily="18" charset="0"/>
              </a:rPr>
              <a:t>Speculative and high-risk activities that lead to unpredictable outcomes are forbidden, as they can result in exploitation or harm to one of the parties involved.</a:t>
            </a:r>
            <a:endParaRPr lang="en-US"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8280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11807-248D-9BDB-8768-2BC5D4A1F214}"/>
              </a:ext>
            </a:extLst>
          </p:cNvPr>
          <p:cNvSpPr>
            <a:spLocks noGrp="1"/>
          </p:cNvSpPr>
          <p:nvPr>
            <p:ph type="title"/>
          </p:nvPr>
        </p:nvSpPr>
        <p:spPr>
          <a:xfrm>
            <a:off x="838200" y="1063689"/>
            <a:ext cx="10515600" cy="761935"/>
          </a:xfrm>
        </p:spPr>
        <p:txBody>
          <a:bodyPr>
            <a:normAutofit/>
          </a:bodyPr>
          <a:lstStyle/>
          <a:p>
            <a:r>
              <a:rPr lang="en-US" b="1" dirty="0">
                <a:latin typeface="Arial" panose="020B0604020202020204" pitchFamily="34" charset="0"/>
                <a:cs typeface="Arial" panose="020B0604020202020204" pitchFamily="34" charset="0"/>
              </a:rPr>
              <a:t>6. Promotion of Justice and Fairness:</a:t>
            </a:r>
          </a:p>
        </p:txBody>
      </p:sp>
      <p:sp>
        <p:nvSpPr>
          <p:cNvPr id="3" name="Content Placeholder 2">
            <a:extLst>
              <a:ext uri="{FF2B5EF4-FFF2-40B4-BE49-F238E27FC236}">
                <a16:creationId xmlns:a16="http://schemas.microsoft.com/office/drawing/2014/main" id="{CEC54A06-7FE3-66EF-533D-139F85B79405}"/>
              </a:ext>
            </a:extLst>
          </p:cNvPr>
          <p:cNvSpPr>
            <a:spLocks noGrp="1"/>
          </p:cNvSpPr>
          <p:nvPr>
            <p:ph idx="1"/>
          </p:nvPr>
        </p:nvSpPr>
        <p:spPr/>
        <p:txBody>
          <a:bodyPr>
            <a:normAutofit lnSpcReduction="10000"/>
          </a:bodyPr>
          <a:lstStyle/>
          <a:p>
            <a:pPr algn="just">
              <a:lnSpc>
                <a:spcPct val="150000"/>
              </a:lnSpc>
              <a:spcBef>
                <a:spcPts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 Justice is central to the Islamic economic system. </a:t>
            </a:r>
          </a:p>
          <a:p>
            <a:pPr algn="just">
              <a:lnSpc>
                <a:spcPct val="150000"/>
              </a:lnSpc>
              <a:spcBef>
                <a:spcPts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system aims to create a just distribution of wealth, ensuring that the basic needs of all individuals are met and that no one is left behind. </a:t>
            </a:r>
          </a:p>
          <a:p>
            <a:pPr algn="just">
              <a:lnSpc>
                <a:spcPct val="150000"/>
              </a:lnSpc>
              <a:spcBef>
                <a:spcPts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This involves fair wages, equitable access to resources, and protection of the rights of both consumers and producers. </a:t>
            </a:r>
          </a:p>
          <a:p>
            <a:pPr algn="just">
              <a:lnSpc>
                <a:spcPct val="150000"/>
              </a:lnSpc>
              <a:spcBef>
                <a:spcPts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state has a responsibility to intervene when necessary to prevent monopolies, exploitation, and other forms of injustice.</a:t>
            </a:r>
          </a:p>
        </p:txBody>
      </p:sp>
    </p:spTree>
    <p:extLst>
      <p:ext uri="{BB962C8B-B14F-4D97-AF65-F5344CB8AC3E}">
        <p14:creationId xmlns:p14="http://schemas.microsoft.com/office/powerpoint/2010/main" val="2283347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CDE3C-61DE-CD24-00E4-8A11B61D3B6E}"/>
              </a:ext>
            </a:extLst>
          </p:cNvPr>
          <p:cNvSpPr>
            <a:spLocks noGrp="1"/>
          </p:cNvSpPr>
          <p:nvPr>
            <p:ph type="title"/>
          </p:nvPr>
        </p:nvSpPr>
        <p:spPr>
          <a:xfrm>
            <a:off x="838200" y="1063690"/>
            <a:ext cx="10515600" cy="858416"/>
          </a:xfrm>
        </p:spPr>
        <p:txBody>
          <a:bodyPr>
            <a:normAutofit/>
          </a:bodyPr>
          <a:lstStyle/>
          <a:p>
            <a:r>
              <a:rPr lang="en-US" sz="4000" b="1" dirty="0">
                <a:latin typeface="Times New Roman" panose="02020603050405020304" pitchFamily="18" charset="0"/>
                <a:cs typeface="Times New Roman" panose="02020603050405020304" pitchFamily="18" charset="0"/>
              </a:rPr>
              <a:t>7. Work and Production:</a:t>
            </a:r>
          </a:p>
        </p:txBody>
      </p:sp>
      <p:sp>
        <p:nvSpPr>
          <p:cNvPr id="3" name="Content Placeholder 2">
            <a:extLst>
              <a:ext uri="{FF2B5EF4-FFF2-40B4-BE49-F238E27FC236}">
                <a16:creationId xmlns:a16="http://schemas.microsoft.com/office/drawing/2014/main" id="{E95C1FAC-5308-F718-BC49-AEE37EA50433}"/>
              </a:ext>
            </a:extLst>
          </p:cNvPr>
          <p:cNvSpPr>
            <a:spLocks noGrp="1"/>
          </p:cNvSpPr>
          <p:nvPr>
            <p:ph idx="1"/>
          </p:nvPr>
        </p:nvSpPr>
        <p:spPr/>
        <p:txBody>
          <a:bodyPr>
            <a:normAutofit fontScale="92500"/>
          </a:bodyPr>
          <a:lstStyle/>
          <a:p>
            <a:pPr algn="just">
              <a:lnSpc>
                <a:spcPct val="150000"/>
              </a:lnSpc>
              <a:spcBef>
                <a:spcPts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 In the Islamic economic system, work is seen as an honorable activity that should contribute to the welfare of society. </a:t>
            </a:r>
          </a:p>
          <a:p>
            <a:pPr algn="just">
              <a:lnSpc>
                <a:spcPct val="150000"/>
              </a:lnSpc>
              <a:spcBef>
                <a:spcPts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Islam encourages individuals to engage in productive and ethical work. </a:t>
            </a:r>
          </a:p>
          <a:p>
            <a:pPr algn="just">
              <a:lnSpc>
                <a:spcPct val="150000"/>
              </a:lnSpc>
              <a:spcBef>
                <a:spcPts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pursuit of wealth is not inherently wrong, but it must be done in a manner that is honest, transparent, and aligned with Islamic values. </a:t>
            </a:r>
          </a:p>
          <a:p>
            <a:pPr algn="just">
              <a:lnSpc>
                <a:spcPct val="150000"/>
              </a:lnSpc>
              <a:spcBef>
                <a:spcPts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system encourages the productive use of resources and promotes entrepreneurship and innovation.</a:t>
            </a:r>
          </a:p>
        </p:txBody>
      </p:sp>
    </p:spTree>
    <p:extLst>
      <p:ext uri="{BB962C8B-B14F-4D97-AF65-F5344CB8AC3E}">
        <p14:creationId xmlns:p14="http://schemas.microsoft.com/office/powerpoint/2010/main" val="11793799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3C9C8-F18E-1D97-1027-C1BBC248B7C9}"/>
              </a:ext>
            </a:extLst>
          </p:cNvPr>
          <p:cNvSpPr>
            <a:spLocks noGrp="1"/>
          </p:cNvSpPr>
          <p:nvPr>
            <p:ph type="title"/>
          </p:nvPr>
        </p:nvSpPr>
        <p:spPr>
          <a:xfrm>
            <a:off x="838200" y="1398675"/>
            <a:ext cx="10515600" cy="682982"/>
          </a:xfrm>
        </p:spPr>
        <p:txBody>
          <a:bodyPr>
            <a:normAutofit fontScale="90000"/>
          </a:bodyPr>
          <a:lstStyle/>
          <a:p>
            <a:r>
              <a:rPr lang="en-US" b="1" dirty="0">
                <a:latin typeface="Times New Roman" panose="02020603050405020304" pitchFamily="18" charset="0"/>
                <a:cs typeface="Times New Roman" panose="02020603050405020304" pitchFamily="18" charset="0"/>
              </a:rPr>
              <a:t>8. Economic Welfare and Social Responsibility:</a:t>
            </a:r>
          </a:p>
        </p:txBody>
      </p:sp>
      <p:sp>
        <p:nvSpPr>
          <p:cNvPr id="3" name="Content Placeholder 2">
            <a:extLst>
              <a:ext uri="{FF2B5EF4-FFF2-40B4-BE49-F238E27FC236}">
                <a16:creationId xmlns:a16="http://schemas.microsoft.com/office/drawing/2014/main" id="{EBCA45CC-24EC-C8B8-ED13-C65993665F46}"/>
              </a:ext>
            </a:extLst>
          </p:cNvPr>
          <p:cNvSpPr>
            <a:spLocks noGrp="1"/>
          </p:cNvSpPr>
          <p:nvPr>
            <p:ph idx="1"/>
          </p:nvPr>
        </p:nvSpPr>
        <p:spPr>
          <a:xfrm>
            <a:off x="838200" y="2081657"/>
            <a:ext cx="10515600" cy="4351338"/>
          </a:xfrm>
        </p:spPr>
        <p:txBody>
          <a:bodyPr>
            <a:normAutofit lnSpcReduction="10000"/>
          </a:bodyPr>
          <a:lstStyle/>
          <a:p>
            <a:pPr algn="just">
              <a:lnSpc>
                <a:spcPct val="150000"/>
              </a:lnSpc>
              <a:spcBef>
                <a:spcPts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 The Islamic economic system places a strong emphasis on the welfare of society as a whole. </a:t>
            </a:r>
          </a:p>
          <a:p>
            <a:pPr algn="just">
              <a:lnSpc>
                <a:spcPct val="150000"/>
              </a:lnSpc>
              <a:spcBef>
                <a:spcPts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Wealth should not be concentrated in the hands of a few; rather, it should be distributed fairly. </a:t>
            </a:r>
          </a:p>
          <a:p>
            <a:pPr algn="just">
              <a:lnSpc>
                <a:spcPct val="150000"/>
              </a:lnSpc>
              <a:spcBef>
                <a:spcPts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Islam encourages both individuals and the state to work toward the eradication of poverty, the provision of basic needs, and the creation of an environment where individuals can lead fulfilling lives.</a:t>
            </a:r>
          </a:p>
        </p:txBody>
      </p:sp>
    </p:spTree>
    <p:extLst>
      <p:ext uri="{BB962C8B-B14F-4D97-AF65-F5344CB8AC3E}">
        <p14:creationId xmlns:p14="http://schemas.microsoft.com/office/powerpoint/2010/main" val="2493295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EB552-05DE-9023-87A5-CD298A045EAA}"/>
              </a:ext>
            </a:extLst>
          </p:cNvPr>
          <p:cNvSpPr>
            <a:spLocks noGrp="1"/>
          </p:cNvSpPr>
          <p:nvPr>
            <p:ph type="title"/>
          </p:nvPr>
        </p:nvSpPr>
        <p:spPr>
          <a:xfrm>
            <a:off x="838200" y="1418751"/>
            <a:ext cx="10515600" cy="552353"/>
          </a:xfrm>
        </p:spPr>
        <p:txBody>
          <a:bodyPr>
            <a:normAutofit fontScale="90000"/>
          </a:bodyPr>
          <a:lstStyle/>
          <a:p>
            <a:r>
              <a:rPr lang="en-US" b="1" dirty="0">
                <a:latin typeface="Times New Roman" panose="02020603050405020304" pitchFamily="18" charset="0"/>
                <a:cs typeface="Times New Roman" panose="02020603050405020304" pitchFamily="18" charset="0"/>
              </a:rPr>
              <a:t>9. Islamic Banking and Finance:</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EE9BD7E-86AD-7522-1F19-377CD6A103FA}"/>
              </a:ext>
            </a:extLst>
          </p:cNvPr>
          <p:cNvSpPr>
            <a:spLocks noGrp="1"/>
          </p:cNvSpPr>
          <p:nvPr>
            <p:ph idx="1"/>
          </p:nvPr>
        </p:nvSpPr>
        <p:spPr>
          <a:xfrm>
            <a:off x="316992" y="1825624"/>
            <a:ext cx="11618976" cy="4806823"/>
          </a:xfrm>
        </p:spPr>
        <p:txBody>
          <a:bodyPr>
            <a:noAutofit/>
          </a:bodyPr>
          <a:lstStyle/>
          <a:p>
            <a:pPr algn="just">
              <a:lnSpc>
                <a:spcPct val="150000"/>
              </a:lnSpc>
              <a:spcBef>
                <a:spcPts val="0"/>
              </a:spcBef>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algn="just">
              <a:lnSpc>
                <a:spcPct val="150000"/>
              </a:lnSpc>
              <a:spcBef>
                <a:spcPts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Islamic economic system has given rise to a unique form of banking and finance that is based on Islamic principles.</a:t>
            </a:r>
          </a:p>
          <a:p>
            <a:pPr algn="just">
              <a:lnSpc>
                <a:spcPct val="150000"/>
              </a:lnSpc>
              <a:spcBef>
                <a:spcPts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 Islamic banks operate without interest and instead engage in profit-sharing, partnership-based contracts, and other ethical financial transactions. </a:t>
            </a:r>
          </a:p>
          <a:p>
            <a:pPr algn="just">
              <a:lnSpc>
                <a:spcPct val="150000"/>
              </a:lnSpc>
              <a:spcBef>
                <a:spcPts val="0"/>
              </a:spcBef>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This system avoids the exploitation inherent in conventional interest-based banking and promotes financial activities that are in line with Islamic ethics.</a:t>
            </a:r>
          </a:p>
        </p:txBody>
      </p:sp>
    </p:spTree>
    <p:extLst>
      <p:ext uri="{BB962C8B-B14F-4D97-AF65-F5344CB8AC3E}">
        <p14:creationId xmlns:p14="http://schemas.microsoft.com/office/powerpoint/2010/main" val="3796995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6DFFF-FFF2-B17C-7E05-B6E88D183C33}"/>
              </a:ext>
            </a:extLst>
          </p:cNvPr>
          <p:cNvSpPr>
            <a:spLocks noGrp="1"/>
          </p:cNvSpPr>
          <p:nvPr>
            <p:ph type="title"/>
          </p:nvPr>
        </p:nvSpPr>
        <p:spPr>
          <a:xfrm>
            <a:off x="838200" y="1017037"/>
            <a:ext cx="10515600" cy="673651"/>
          </a:xfrm>
        </p:spPr>
        <p:txBody>
          <a:bodyPr>
            <a:normAutofit fontScale="90000"/>
          </a:bodyPr>
          <a:lstStyle/>
          <a:p>
            <a:r>
              <a:rPr lang="en-US" b="1" dirty="0">
                <a:latin typeface="Arial" panose="020B0604020202020204" pitchFamily="34" charset="0"/>
                <a:cs typeface="Arial" panose="020B0604020202020204" pitchFamily="34" charset="0"/>
              </a:rPr>
              <a:t>Conclusion:</a:t>
            </a:r>
          </a:p>
        </p:txBody>
      </p:sp>
      <p:sp>
        <p:nvSpPr>
          <p:cNvPr id="3" name="Content Placeholder 2">
            <a:extLst>
              <a:ext uri="{FF2B5EF4-FFF2-40B4-BE49-F238E27FC236}">
                <a16:creationId xmlns:a16="http://schemas.microsoft.com/office/drawing/2014/main" id="{C831861F-7EF4-2279-0F86-97F21B6B8C52}"/>
              </a:ext>
            </a:extLst>
          </p:cNvPr>
          <p:cNvSpPr>
            <a:spLocks noGrp="1"/>
          </p:cNvSpPr>
          <p:nvPr>
            <p:ph idx="1"/>
          </p:nvPr>
        </p:nvSpPr>
        <p:spPr/>
        <p:txBody>
          <a:bodyPr>
            <a:noAutofit/>
          </a:bodyPr>
          <a:lstStyle/>
          <a:p>
            <a:pPr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Islamic economic system offers a holistic approach to economic life, one that prioritizes moral and ethical values alongside material wealth. </a:t>
            </a:r>
          </a:p>
          <a:p>
            <a:pPr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Its foundation in justice, social welfare, and equity sets it apart from conventional economic systems.</a:t>
            </a:r>
          </a:p>
          <a:p>
            <a:pPr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 By promoting ethical behavior, fair wealth distribution, and economic stability, the Islamic economic system aims to ensure both material prosperity and spiritual well-being for all members of society. </a:t>
            </a:r>
          </a:p>
          <a:p>
            <a:pPr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It is not merely a set of economic rules but a way of life that integrates faith with everyday economic activities.</a:t>
            </a:r>
          </a:p>
        </p:txBody>
      </p:sp>
    </p:spTree>
    <p:extLst>
      <p:ext uri="{BB962C8B-B14F-4D97-AF65-F5344CB8AC3E}">
        <p14:creationId xmlns:p14="http://schemas.microsoft.com/office/powerpoint/2010/main" val="23308872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Pakistan Map - GIS Geography">
            <a:extLst>
              <a:ext uri="{FF2B5EF4-FFF2-40B4-BE49-F238E27FC236}">
                <a16:creationId xmlns:a16="http://schemas.microsoft.com/office/drawing/2014/main" id="{7BA35F9B-DC44-4A02-8099-C408F3D346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1184" y="7147"/>
            <a:ext cx="7290816" cy="685085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EC4A454-91BA-4ADA-AE55-AA65B686E9FE}"/>
              </a:ext>
            </a:extLst>
          </p:cNvPr>
          <p:cNvSpPr/>
          <p:nvPr/>
        </p:nvSpPr>
        <p:spPr>
          <a:xfrm>
            <a:off x="0" y="0"/>
            <a:ext cx="630936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1C8A68D2-CBC2-4A62-B5D4-3B09AEA58F2F}"/>
              </a:ext>
            </a:extLst>
          </p:cNvPr>
          <p:cNvSpPr>
            <a:spLocks noGrp="1"/>
          </p:cNvSpPr>
          <p:nvPr>
            <p:ph type="ctrTitle"/>
          </p:nvPr>
        </p:nvSpPr>
        <p:spPr>
          <a:xfrm>
            <a:off x="329184" y="2235200"/>
            <a:ext cx="9144000" cy="2387600"/>
          </a:xfrm>
        </p:spPr>
        <p:txBody>
          <a:bodyPr>
            <a:normAutofit/>
          </a:bodyPr>
          <a:lstStyle/>
          <a:p>
            <a:pPr algn="l"/>
            <a:r>
              <a:rPr lang="en-GB" sz="4800" b="1" dirty="0">
                <a:solidFill>
                  <a:schemeClr val="bg1"/>
                </a:solidFill>
                <a:latin typeface="Arial" panose="020B0604020202020204" pitchFamily="34" charset="0"/>
                <a:cs typeface="Arial" panose="020B0604020202020204" pitchFamily="34" charset="0"/>
              </a:rPr>
              <a:t>HOW THE YOUTH</a:t>
            </a:r>
            <a:br>
              <a:rPr lang="en-GB" sz="4800" b="1" dirty="0">
                <a:solidFill>
                  <a:schemeClr val="bg1"/>
                </a:solidFill>
                <a:latin typeface="Arial" panose="020B0604020202020204" pitchFamily="34" charset="0"/>
                <a:cs typeface="Arial" panose="020B0604020202020204" pitchFamily="34" charset="0"/>
              </a:rPr>
            </a:br>
            <a:r>
              <a:rPr lang="en-GB" sz="4800" b="1" dirty="0">
                <a:solidFill>
                  <a:schemeClr val="bg1"/>
                </a:solidFill>
                <a:latin typeface="Arial" panose="020B0604020202020204" pitchFamily="34" charset="0"/>
                <a:cs typeface="Arial" panose="020B0604020202020204" pitchFamily="34" charset="0"/>
              </a:rPr>
              <a:t>FEELS ABOUT</a:t>
            </a:r>
            <a:br>
              <a:rPr lang="en-GB" sz="4800" b="1" dirty="0">
                <a:solidFill>
                  <a:schemeClr val="bg1"/>
                </a:solidFill>
                <a:latin typeface="Arial" panose="020B0604020202020204" pitchFamily="34" charset="0"/>
                <a:cs typeface="Arial" panose="020B0604020202020204" pitchFamily="34" charset="0"/>
              </a:rPr>
            </a:br>
            <a:r>
              <a:rPr lang="en-GB" sz="4800" b="1" dirty="0">
                <a:solidFill>
                  <a:schemeClr val="bg1"/>
                </a:solidFill>
                <a:latin typeface="Arial" panose="020B0604020202020204" pitchFamily="34" charset="0"/>
                <a:cs typeface="Arial" panose="020B0604020202020204" pitchFamily="34" charset="0"/>
              </a:rPr>
              <a:t>TUF ??</a:t>
            </a:r>
          </a:p>
        </p:txBody>
      </p:sp>
    </p:spTree>
    <p:extLst>
      <p:ext uri="{BB962C8B-B14F-4D97-AF65-F5344CB8AC3E}">
        <p14:creationId xmlns:p14="http://schemas.microsoft.com/office/powerpoint/2010/main" val="22118924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811</TotalTime>
  <Words>964</Words>
  <Application>Microsoft Office PowerPoint</Application>
  <PresentationFormat>Widescreen</PresentationFormat>
  <Paragraphs>59</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Bahnschrift</vt:lpstr>
      <vt:lpstr>Calibri</vt:lpstr>
      <vt:lpstr>Calibri Light</vt:lpstr>
      <vt:lpstr>Times New Roman</vt:lpstr>
      <vt:lpstr>Wingdings</vt:lpstr>
      <vt:lpstr>Office Theme</vt:lpstr>
      <vt:lpstr>       Fundamental Concepts of the Islamic Economic System</vt:lpstr>
      <vt:lpstr>Introduction:</vt:lpstr>
      <vt:lpstr>Key Principles of the Islamic Economic System</vt:lpstr>
      <vt:lpstr>2.Private Property and its Social Responsibility: </vt:lpstr>
      <vt:lpstr>3:Zakat (Obligatory Charity):</vt:lpstr>
      <vt:lpstr>4. Prohibition of Riba (Usury/Interest):</vt:lpstr>
      <vt:lpstr>5:Gharar (Uncertainty) and Maysir (Gambling):</vt:lpstr>
      <vt:lpstr>6. Promotion of Justice and Fairness:</vt:lpstr>
      <vt:lpstr>7. Work and Production:</vt:lpstr>
      <vt:lpstr>8. Economic Welfare and Social Responsibility:</vt:lpstr>
      <vt:lpstr>9. Islamic Banking and Finance:</vt:lpstr>
      <vt:lpstr>Conclusion:</vt:lpstr>
      <vt:lpstr>HOW THE YOUTH FEELS ABOUT TUF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DELL</cp:lastModifiedBy>
  <cp:revision>33</cp:revision>
  <dcterms:created xsi:type="dcterms:W3CDTF">2024-06-21T09:49:54Z</dcterms:created>
  <dcterms:modified xsi:type="dcterms:W3CDTF">2025-03-08T17:00:28Z</dcterms:modified>
</cp:coreProperties>
</file>