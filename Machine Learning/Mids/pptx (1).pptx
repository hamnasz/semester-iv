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4630400" cy="8229600"/>
  <p:notesSz cx="8229600" cy="146304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Inter" panose="020B0604020202020204" charset="0"/>
      <p:regular r:id="rId28"/>
    </p:embeddedFont>
    <p:embeddedFont>
      <p:font typeface="Consolas" panose="020B0609020204030204" pitchFamily="49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-276" y="-7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703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7572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505242"/>
            <a:ext cx="5486400" cy="67243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6553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 Learning: The Quest for Rules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2325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Embark on a journey into Concept Learning. Discover how machines acquire knowledge through rules. Learn how these rules shape artificial intelligence.</a:t>
            </a:r>
            <a:endParaRPr lang="en-US" sz="175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50"/>
            <a:ext cx="14728826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696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Concept Learning? Definition and Intuition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51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9326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learning is acquiring a general definition of a category.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4351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Intuition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9326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involves identifying the key attributes that define the concept.</a:t>
            </a:r>
            <a:endParaRPr lang="en-US" sz="175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28826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1514"/>
            <a:ext cx="14630400" cy="2236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72201"/>
            <a:ext cx="126072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Rule-Based Learning: Formalizing Knowledge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5762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5598" y="5661303"/>
            <a:ext cx="14668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5576292"/>
            <a:ext cx="31281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Formal Representation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6066711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is explicitly represented as rules.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55762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64956" y="5661303"/>
            <a:ext cx="21419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954078" y="5576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If-Then Statements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54078" y="6066711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take the form of "IF condition THEN conclusion".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55762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85390" y="5661303"/>
            <a:ext cx="21967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0377249" y="5576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Logical Deduction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77249" y="6066711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 is performed through logical deduction.</a:t>
            </a:r>
            <a:endParaRPr lang="en-US" sz="175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330" y="0"/>
            <a:ext cx="14838677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8893"/>
            <a:ext cx="5486400" cy="65973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188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 Learning the Concept "EnjoySport"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376613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611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Attributes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4101465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Sky, AirTemp, Humidity, Wind, Water, Forecast.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376613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3611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Concept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4101465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EnjoySport: Yes or No.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88518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5229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Task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013371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a rule to predict EnjoySport based on attributes.</a:t>
            </a:r>
            <a:endParaRPr lang="en-US" sz="175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7" y="0"/>
            <a:ext cx="14841415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0874"/>
            <a:ext cx="5486400" cy="59987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3087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Hypothesis Space: Defining the Possible Rules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988594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7823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Space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5272802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hypothesis space consists of all possible rules.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8421" y="3988594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28421" y="47823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Search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228421" y="5272802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involves searching this space for the best rule.</a:t>
            </a:r>
            <a:endParaRPr lang="en-US" sz="175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883618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322362"/>
            <a:ext cx="5486400" cy="69072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6144" y="138886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Inductive Bias: Shaping the Learning Process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2806422"/>
            <a:ext cx="30480" cy="4374475"/>
          </a:xfrm>
          <a:prstGeom prst="roundRect">
            <a:avLst>
              <a:gd name="adj" fmla="val 312558"/>
            </a:avLst>
          </a:prstGeom>
          <a:solidFill>
            <a:srgbClr val="E5DCB2"/>
          </a:solidFill>
          <a:ln/>
        </p:spPr>
      </p:sp>
      <p:sp>
        <p:nvSpPr>
          <p:cNvPr id="5" name="Shape 2"/>
          <p:cNvSpPr/>
          <p:nvPr/>
        </p:nvSpPr>
        <p:spPr>
          <a:xfrm>
            <a:off x="1358622" y="3301484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E5DCB2"/>
          </a:solidFill>
          <a:ln/>
        </p:spPr>
      </p:sp>
      <p:sp>
        <p:nvSpPr>
          <p:cNvPr id="6" name="Shape 3"/>
          <p:cNvSpPr/>
          <p:nvPr/>
        </p:nvSpPr>
        <p:spPr>
          <a:xfrm>
            <a:off x="878800" y="306157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0609" y="3146584"/>
            <a:ext cx="14668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3033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81488" y="3523655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Assumptions made by the learning algorithm.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58622" y="4835247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E5DCB2"/>
          </a:solidFill>
          <a:ln/>
        </p:spPr>
      </p:sp>
      <p:sp>
        <p:nvSpPr>
          <p:cNvPr id="11" name="Shape 8"/>
          <p:cNvSpPr/>
          <p:nvPr/>
        </p:nvSpPr>
        <p:spPr>
          <a:xfrm>
            <a:off x="878800" y="45953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6795" y="4680347"/>
            <a:ext cx="21419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81488" y="4566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Constraint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81488" y="5057418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restricts the hypothesis space.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58622" y="6369010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E5DCB2"/>
          </a:solidFill>
          <a:ln/>
        </p:spPr>
      </p:sp>
      <p:sp>
        <p:nvSpPr>
          <p:cNvPr id="16" name="Shape 13"/>
          <p:cNvSpPr/>
          <p:nvPr/>
        </p:nvSpPr>
        <p:spPr>
          <a:xfrm>
            <a:off x="878800" y="612909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4057" y="6214110"/>
            <a:ext cx="21967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81488" y="6100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Generalization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81488" y="6591181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guides the algorithm to generalize correctly.</a:t>
            </a:r>
            <a:endParaRPr lang="en-US" sz="175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214" y="0"/>
            <a:ext cx="14848425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2850"/>
            <a:ext cx="14630400" cy="15211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5453" y="3337084"/>
            <a:ext cx="13099494" cy="136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Find-S Algorithm: Finding a Maximally Specific Hypothesis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53" y="5032177"/>
            <a:ext cx="4366498" cy="8748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4171" y="6235065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Initialization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984171" y="6707981"/>
            <a:ext cx="3929063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the most specific hypothesis.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1951" y="5032177"/>
            <a:ext cx="4366498" cy="8748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50669" y="6235065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Positive Examples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5350669" y="6707981"/>
            <a:ext cx="3929063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Generalize the hypothesis to cover positive examples.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8449" y="5032177"/>
            <a:ext cx="4366498" cy="8748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7167" y="6235065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Negative Examples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9717167" y="6707981"/>
            <a:ext cx="3929063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Ignore negative examples.</a:t>
            </a:r>
            <a:endParaRPr lang="en-US" sz="17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4855483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29" y="135028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Candidate-Elimination Algorithm: Version Space Learning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4442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Version Space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932640"/>
            <a:ext cx="3785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 all consistent hypotheses.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79877" y="4548783"/>
            <a:ext cx="12227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937790" y="3215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Positive Examples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70629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Generalize the minimally general boundary.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50793" y="3597712"/>
            <a:ext cx="17835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937790" y="56684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Negative Examples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615886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 the maximally specific boundary.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638" y="6323886"/>
            <a:ext cx="1829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827348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435" y="135207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Version Space: Representing All Consistent Hypotheses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542818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93237" y="3131463"/>
            <a:ext cx="12227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357217" y="27696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260050"/>
            <a:ext cx="52849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Hypotheses consistent with all training examples.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862864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E5DCB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906441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65138" y="4333161"/>
            <a:ext cx="17835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433304" y="41332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Boundaries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623673"/>
            <a:ext cx="52532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Represented by general and specific boundaries.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226487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E5DCB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270063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62757" y="5696783"/>
            <a:ext cx="1829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509272" y="5496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Learning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987296"/>
            <a:ext cx="293298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Shrinks with each example.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83216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space keeps only the hypotheses that can correctly classify all training data. It narrows with each training example, retaining just the most plausible explanations.</a:t>
            </a:r>
            <a:endParaRPr lang="en-US" sz="175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518" y="0"/>
            <a:ext cx="1483873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126314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 Walkthrough: Candidate-Elimination in Action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76563"/>
            <a:ext cx="2173724" cy="1306949"/>
          </a:xfrm>
          <a:prstGeom prst="roundRect">
            <a:avLst>
              <a:gd name="adj" fmla="val 7289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403283"/>
            <a:ext cx="12227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194328" y="3203377"/>
            <a:ext cx="28199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 Version Space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94328" y="3693795"/>
            <a:ext cx="2819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possible hypotheses.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80861" y="4268272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E5DCB2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4396859"/>
            <a:ext cx="4347567" cy="1306949"/>
          </a:xfrm>
          <a:prstGeom prst="roundRect">
            <a:avLst>
              <a:gd name="adj" fmla="val 7289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8224" y="4823579"/>
            <a:ext cx="17835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8171" y="4623673"/>
            <a:ext cx="24051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 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68171" y="5114092"/>
            <a:ext cx="24051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version space.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54704" y="5688568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E5DCB2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5817156"/>
            <a:ext cx="6521410" cy="1306949"/>
          </a:xfrm>
          <a:prstGeom prst="roundRect">
            <a:avLst>
              <a:gd name="adj" fmla="val 7289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224" y="6243876"/>
            <a:ext cx="1829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42014" y="60439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 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2014" y="6534388"/>
            <a:ext cx="30846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Further refine version space.</a:t>
            </a:r>
            <a:endParaRPr lang="en-US" sz="175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4855483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7617"/>
            <a:ext cx="14630400" cy="14176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27264"/>
            <a:ext cx="99642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 of Rule-Based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89552"/>
            <a:ext cx="4120753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36489" y="60213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Interpretability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511766"/>
            <a:ext cx="41207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understand the learned rules.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54704" y="4989552"/>
            <a:ext cx="4120872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0213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Transparency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54704" y="6511766"/>
            <a:ext cx="41208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reasoning process is transparent.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715738" y="4989552"/>
            <a:ext cx="4120753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58438" y="60213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Explainability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715738" y="6511766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explain why a decision was made.</a:t>
            </a:r>
            <a:endParaRPr lang="en-US" sz="175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57009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85152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Disadvantages and Limitations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not scale well to large datasets.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Complexity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be complex to design rules manually.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Noise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7831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to noisy data.</a:t>
            </a:r>
            <a:endParaRPr lang="en-US" sz="175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28826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0958" y="1316858"/>
            <a:ext cx="10341054" cy="537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Trees: A Rule-Based Learning Algorithm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61" y="1969477"/>
            <a:ext cx="10179248" cy="50848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861" y="7247692"/>
            <a:ext cx="13426678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50"/>
              </a:lnSpc>
              <a:buNone/>
            </a:pPr>
            <a:r>
              <a:rPr lang="en-US" sz="13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decision tree uses a tree-like structure to model decisions. This algorithm can be used for classification and regression tasks. The structure allows explicit representation of decision making rules.</a:t>
            </a:r>
            <a:endParaRPr lang="en-US" sz="135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4869551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209822"/>
            <a:ext cx="5486400" cy="70197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188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 Extraction from Decision Trees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76613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611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Paths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4101465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path from root to leaf forms a rule.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376613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3611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Conditions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4101465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Nodes along the path represent conditions.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88518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5229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013371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Leaf node represents the conclusion.</a:t>
            </a:r>
            <a:endParaRPr lang="en-US" sz="175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827348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9988"/>
            <a:ext cx="5486400" cy="65696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3279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Code Demo: Implementing Find-S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90518"/>
            <a:ext cx="7556421" cy="3606165"/>
          </a:xfrm>
          <a:prstGeom prst="roundRect">
            <a:avLst>
              <a:gd name="adj" fmla="val 2642"/>
            </a:avLst>
          </a:prstGeom>
          <a:solidFill>
            <a:srgbClr val="FFF6CC"/>
          </a:solidFill>
          <a:ln/>
        </p:spPr>
      </p:sp>
      <p:sp>
        <p:nvSpPr>
          <p:cNvPr id="5" name="Shape 2"/>
          <p:cNvSpPr/>
          <p:nvPr/>
        </p:nvSpPr>
        <p:spPr>
          <a:xfrm>
            <a:off x="6268879" y="3190518"/>
            <a:ext cx="7579043" cy="3606165"/>
          </a:xfrm>
          <a:prstGeom prst="roundRect">
            <a:avLst>
              <a:gd name="adj" fmla="val 944"/>
            </a:avLst>
          </a:prstGeom>
          <a:solidFill>
            <a:srgbClr val="FFF6CC"/>
          </a:solidFill>
          <a:ln/>
        </p:spPr>
      </p:sp>
      <p:sp>
        <p:nvSpPr>
          <p:cNvPr id="6" name="Text 3"/>
          <p:cNvSpPr/>
          <p:nvPr/>
        </p:nvSpPr>
        <p:spPr>
          <a:xfrm>
            <a:off x="6495693" y="3360539"/>
            <a:ext cx="7125414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highlight>
                  <a:srgbClr val="FFF6C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find_s(examples):
    h = examples[0][:-1] # Initialize with the first positive example
    for example in examples:
        if example[-1] == "Yes":
            for i in range(len(h)):
                if example[i] != h[i]:
                    h[i] = "?" # Generalize if attribute values differ
    return h
</a:t>
            </a:r>
            <a:endParaRPr lang="en-US" sz="175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214" y="0"/>
            <a:ext cx="14848425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7618"/>
            <a:ext cx="5486400" cy="70619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67617"/>
            <a:ext cx="7556421" cy="928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 Walkthrough: Step-by-Step Explanation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9164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1998" y="2776657"/>
            <a:ext cx="14668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26916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Initialization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18206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Initialize hypothesis with the first positive example.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402693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28184" y="4111943"/>
            <a:ext cx="21419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7017306" y="4026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Iteration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017306" y="451735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Iterate through each example.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36221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5446" y="5447228"/>
            <a:ext cx="21967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362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Comparison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585263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attribute values with hypothesis.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6280190" y="669750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0207" y="6782514"/>
            <a:ext cx="2301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017306" y="66975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Generalization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017306" y="718792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Generalize hypothesis where attribute values differ.</a:t>
            </a:r>
            <a:endParaRPr lang="en-US" sz="175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45232"/>
            <a:ext cx="14841415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0308"/>
            <a:ext cx="125081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Applications of Concept Learning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72715"/>
            <a:ext cx="4120753" cy="2546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5029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Medical Diagnosis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993368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 diseases based on patient symptoms.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704" y="2672715"/>
            <a:ext cx="4120872" cy="25468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4704" y="5503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Spam Filtering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54704" y="5993487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spam emails based on content.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738" y="2672715"/>
            <a:ext cx="4120753" cy="2546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5502950"/>
            <a:ext cx="32858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Credit Risk Assessment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5993368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creditworthiness of loan applicants.</a:t>
            </a:r>
            <a:endParaRPr lang="en-US" sz="175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28013"/>
            <a:ext cx="14841415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861" y="1416711"/>
            <a:ext cx="10023872" cy="537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Charts: Performance Comparison of Algorithms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61" y="1955409"/>
            <a:ext cx="10179248" cy="50989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861" y="7247692"/>
            <a:ext cx="13426678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50"/>
              </a:lnSpc>
              <a:buNone/>
            </a:pPr>
            <a:r>
              <a:rPr lang="en-US" sz="13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comparison of algorithm accuracy shows Decision Tree has the highest accuracy. The line chart compares the performance of different algorithms. The Y axis presents an accuracy value.</a:t>
            </a:r>
            <a:endParaRPr lang="en-US" sz="135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64803"/>
            <a:ext cx="14869551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1401"/>
            <a:ext cx="115201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Diagrams: Visualizing Hypothesis Spaces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2276118"/>
            <a:ext cx="4221480" cy="42214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341" y="2276118"/>
            <a:ext cx="4221599" cy="422159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391" y="2276118"/>
            <a:ext cx="4221599" cy="422159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93790" y="68988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diagrams depict the version space. Each represents a different way of visualizing hypothesis selection.</a:t>
            </a:r>
            <a:endParaRPr lang="en-US" sz="175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9865"/>
            <a:ext cx="14827348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9476"/>
            <a:ext cx="5486400" cy="62601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3261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Summary: Key Takeaways and Future Directions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84548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1998" y="3930491"/>
            <a:ext cx="14668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845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4335899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can be represented as rules.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84548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19861" y="3930491"/>
            <a:ext cx="21419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845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4335899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Algorithms for learning rules exist.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5436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6CC"/>
          </a:solidFill>
          <a:ln w="7620">
            <a:solidFill>
              <a:srgbClr val="E5DC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5446" y="5628680"/>
            <a:ext cx="21967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543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141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03408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141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learning has many real-world applications.</a:t>
            </a:r>
            <a:endParaRPr lang="en-US" sz="1750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72" y="0"/>
            <a:ext cx="1482982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679</Words>
  <Application>Microsoft Office PowerPoint</Application>
  <PresentationFormat>Custom</PresentationFormat>
  <Paragraphs>159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Inter</vt:lpstr>
      <vt:lpstr>Inter 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ayesha anwar</cp:lastModifiedBy>
  <cp:revision>15</cp:revision>
  <dcterms:created xsi:type="dcterms:W3CDTF">2025-02-19T11:35:08Z</dcterms:created>
  <dcterms:modified xsi:type="dcterms:W3CDTF">2025-02-25T06:00:38Z</dcterms:modified>
</cp:coreProperties>
</file>