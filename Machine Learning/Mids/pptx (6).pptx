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embeddedFontLst>
    <p:embeddedFont>
      <p:font typeface="Calibri" panose="020F0502020204030204" pitchFamily="34" charset="0"/>
      <p:regular r:id="rId23"/>
      <p:bold r:id="rId24"/>
      <p:italic r:id="rId25"/>
      <p:boldItalic r:id="rId26"/>
    </p:embeddedFont>
    <p:embeddedFont>
      <p:font typeface="Inter Medium" panose="020B0604020202020204" charset="0"/>
      <p:regular r:id="rId27"/>
    </p:embeddedFont>
    <p:embeddedFont>
      <p:font typeface="DM Sans Semi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386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03434"/>
            <a:ext cx="7556421" cy="2835116"/>
          </a:xfrm>
          <a:prstGeom prst="rect">
            <a:avLst/>
          </a:prstGeom>
          <a:noFill/>
          <a:ln/>
        </p:spPr>
        <p:txBody>
          <a:bodyPr wrap="square" lIns="0" tIns="0" rIns="0" bIns="0" rtlCol="0" anchor="t"/>
          <a:lstStyle/>
          <a:p>
            <a:pPr marL="0" indent="0">
              <a:lnSpc>
                <a:spcPts val="5550"/>
              </a:lnSpc>
              <a:buNone/>
            </a:pPr>
            <a:r>
              <a:rPr lang="en-US" sz="4450" dirty="0" smtClean="0">
                <a:solidFill>
                  <a:srgbClr val="030303"/>
                </a:solidFill>
                <a:latin typeface="DM Sans Semi Bold" pitchFamily="34" charset="0"/>
                <a:ea typeface="DM Sans Semi Bold" pitchFamily="34" charset="-122"/>
                <a:cs typeface="DM Sans Semi Bold" pitchFamily="34" charset="-120"/>
              </a:rPr>
              <a:t>Underfitting</a:t>
            </a:r>
            <a:r>
              <a:rPr lang="en-US" sz="4450" dirty="0">
                <a:solidFill>
                  <a:srgbClr val="030303"/>
                </a:solidFill>
                <a:latin typeface="DM Sans Semi Bold" pitchFamily="34" charset="0"/>
                <a:ea typeface="DM Sans Semi Bold" pitchFamily="34" charset="-122"/>
                <a:cs typeface="DM Sans Semi Bold" pitchFamily="34" charset="-120"/>
              </a:rPr>
              <a:t>, Overfitting, and How to Avoid Them in Machine Learning</a:t>
            </a:r>
            <a:endParaRPr lang="en-US" sz="4450" dirty="0"/>
          </a:p>
        </p:txBody>
      </p:sp>
      <p:sp>
        <p:nvSpPr>
          <p:cNvPr id="4" name="Text 1"/>
          <p:cNvSpPr/>
          <p:nvPr/>
        </p:nvSpPr>
        <p:spPr>
          <a:xfrm>
            <a:off x="793790" y="3978712"/>
            <a:ext cx="7556421" cy="1451610"/>
          </a:xfrm>
          <a:prstGeom prst="rect">
            <a:avLst/>
          </a:prstGeom>
          <a:noFill/>
          <a:ln/>
        </p:spPr>
        <p:txBody>
          <a:bodyPr wrap="square" lIns="0" tIns="0" rIns="0" bIns="0" rtlCol="0" anchor="t"/>
          <a:lstStyle/>
          <a:p>
            <a:pPr marL="0" indent="0" algn="just">
              <a:lnSpc>
                <a:spcPct val="150000"/>
              </a:lnSpc>
              <a:buNone/>
            </a:pPr>
            <a:r>
              <a:rPr lang="en-US" sz="2000" dirty="0">
                <a:solidFill>
                  <a:srgbClr val="464646"/>
                </a:solidFill>
                <a:latin typeface="Inter Medium" pitchFamily="34" charset="0"/>
                <a:ea typeface="Inter Medium" pitchFamily="34" charset="-122"/>
                <a:cs typeface="Inter Medium" pitchFamily="34" charset="-120"/>
              </a:rPr>
              <a:t>Machine learning models aim to learn patterns from training data and generalize well to unseen data. However, two common issues can arise: underfitting and overfitting. Finding the right balance is crucial for model performance.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05514"/>
          </a:xfrm>
          <a:prstGeom prst="rect">
            <a:avLst/>
          </a:prstGeom>
        </p:spPr>
      </p:pic>
      <p:sp>
        <p:nvSpPr>
          <p:cNvPr id="3" name="Text 0"/>
          <p:cNvSpPr/>
          <p:nvPr/>
        </p:nvSpPr>
        <p:spPr>
          <a:xfrm>
            <a:off x="617458" y="2692360"/>
            <a:ext cx="5407223" cy="551378"/>
          </a:xfrm>
          <a:prstGeom prst="rect">
            <a:avLst/>
          </a:prstGeom>
          <a:noFill/>
          <a:ln/>
        </p:spPr>
        <p:txBody>
          <a:bodyPr wrap="none" lIns="0" tIns="0" rIns="0" bIns="0" rtlCol="0" anchor="t"/>
          <a:lstStyle/>
          <a:p>
            <a:pPr marL="0" indent="0">
              <a:lnSpc>
                <a:spcPts val="4300"/>
              </a:lnSpc>
              <a:buNone/>
            </a:pPr>
            <a:r>
              <a:rPr lang="en-US" sz="3450" dirty="0">
                <a:solidFill>
                  <a:srgbClr val="030303"/>
                </a:solidFill>
                <a:latin typeface="DM Sans Semi Bold" pitchFamily="34" charset="0"/>
                <a:ea typeface="DM Sans Semi Bold" pitchFamily="34" charset="-122"/>
                <a:cs typeface="DM Sans Semi Bold" pitchFamily="34" charset="-120"/>
              </a:rPr>
              <a:t>Agenda: What We'll Cover</a:t>
            </a:r>
            <a:endParaRPr lang="en-US" sz="3450" dirty="0"/>
          </a:p>
        </p:txBody>
      </p:sp>
      <p:pic>
        <p:nvPicPr>
          <p:cNvPr id="4" name="Image 1" descr="preencoded.png"/>
          <p:cNvPicPr>
            <a:picLocks noChangeAspect="1"/>
          </p:cNvPicPr>
          <p:nvPr/>
        </p:nvPicPr>
        <p:blipFill>
          <a:blip r:embed="rId4"/>
          <a:stretch>
            <a:fillRect/>
          </a:stretch>
        </p:blipFill>
        <p:spPr>
          <a:xfrm>
            <a:off x="617458" y="3508296"/>
            <a:ext cx="882134" cy="1058585"/>
          </a:xfrm>
          <a:prstGeom prst="rect">
            <a:avLst/>
          </a:prstGeom>
        </p:spPr>
      </p:pic>
      <p:sp>
        <p:nvSpPr>
          <p:cNvPr id="5" name="Text 1"/>
          <p:cNvSpPr/>
          <p:nvPr/>
        </p:nvSpPr>
        <p:spPr>
          <a:xfrm>
            <a:off x="1764149" y="3684627"/>
            <a:ext cx="3549491" cy="275630"/>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Understanding the Fundamentals</a:t>
            </a:r>
            <a:endParaRPr lang="en-US" sz="1700" dirty="0"/>
          </a:p>
        </p:txBody>
      </p:sp>
      <p:sp>
        <p:nvSpPr>
          <p:cNvPr id="6" name="Text 2"/>
          <p:cNvSpPr/>
          <p:nvPr/>
        </p:nvSpPr>
        <p:spPr>
          <a:xfrm>
            <a:off x="1764149" y="4066103"/>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What is underfitting and why it occurs in machine learning models</a:t>
            </a:r>
            <a:endParaRPr lang="en-US" sz="1350" dirty="0"/>
          </a:p>
        </p:txBody>
      </p:sp>
      <p:pic>
        <p:nvPicPr>
          <p:cNvPr id="7" name="Image 2" descr="preencoded.png"/>
          <p:cNvPicPr>
            <a:picLocks noChangeAspect="1"/>
          </p:cNvPicPr>
          <p:nvPr/>
        </p:nvPicPr>
        <p:blipFill>
          <a:blip r:embed="rId5"/>
          <a:stretch>
            <a:fillRect/>
          </a:stretch>
        </p:blipFill>
        <p:spPr>
          <a:xfrm>
            <a:off x="617458" y="4566880"/>
            <a:ext cx="882134" cy="1058585"/>
          </a:xfrm>
          <a:prstGeom prst="rect">
            <a:avLst/>
          </a:prstGeom>
        </p:spPr>
      </p:pic>
      <p:sp>
        <p:nvSpPr>
          <p:cNvPr id="8" name="Text 3"/>
          <p:cNvSpPr/>
          <p:nvPr/>
        </p:nvSpPr>
        <p:spPr>
          <a:xfrm>
            <a:off x="1764149" y="4743212"/>
            <a:ext cx="2779276" cy="275630"/>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Exploring Common Pitfalls</a:t>
            </a:r>
            <a:endParaRPr lang="en-US" sz="1700" dirty="0"/>
          </a:p>
        </p:txBody>
      </p:sp>
      <p:sp>
        <p:nvSpPr>
          <p:cNvPr id="9" name="Text 4"/>
          <p:cNvSpPr/>
          <p:nvPr/>
        </p:nvSpPr>
        <p:spPr>
          <a:xfrm>
            <a:off x="1764149" y="5124688"/>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What is overfitting and the reasons behind this frequent modeling issue</a:t>
            </a:r>
            <a:endParaRPr lang="en-US" sz="1350" dirty="0"/>
          </a:p>
        </p:txBody>
      </p:sp>
      <p:pic>
        <p:nvPicPr>
          <p:cNvPr id="10" name="Image 3" descr="preencoded.png"/>
          <p:cNvPicPr>
            <a:picLocks noChangeAspect="1"/>
          </p:cNvPicPr>
          <p:nvPr/>
        </p:nvPicPr>
        <p:blipFill>
          <a:blip r:embed="rId6"/>
          <a:stretch>
            <a:fillRect/>
          </a:stretch>
        </p:blipFill>
        <p:spPr>
          <a:xfrm>
            <a:off x="617458" y="5625465"/>
            <a:ext cx="882134" cy="1058585"/>
          </a:xfrm>
          <a:prstGeom prst="rect">
            <a:avLst/>
          </a:prstGeom>
        </p:spPr>
      </p:pic>
      <p:sp>
        <p:nvSpPr>
          <p:cNvPr id="11" name="Text 5"/>
          <p:cNvSpPr/>
          <p:nvPr/>
        </p:nvSpPr>
        <p:spPr>
          <a:xfrm>
            <a:off x="1764149" y="5801797"/>
            <a:ext cx="2205514" cy="275630"/>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Practical Solutions</a:t>
            </a:r>
            <a:endParaRPr lang="en-US" sz="1700" dirty="0"/>
          </a:p>
        </p:txBody>
      </p:sp>
      <p:sp>
        <p:nvSpPr>
          <p:cNvPr id="12" name="Text 6"/>
          <p:cNvSpPr/>
          <p:nvPr/>
        </p:nvSpPr>
        <p:spPr>
          <a:xfrm>
            <a:off x="1764149" y="6183273"/>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How to avoid underfitting and overfitting using proven strategies</a:t>
            </a:r>
            <a:endParaRPr lang="en-US" sz="1350" dirty="0"/>
          </a:p>
        </p:txBody>
      </p:sp>
      <p:pic>
        <p:nvPicPr>
          <p:cNvPr id="13" name="Image 4" descr="preencoded.png"/>
          <p:cNvPicPr>
            <a:picLocks noChangeAspect="1"/>
          </p:cNvPicPr>
          <p:nvPr/>
        </p:nvPicPr>
        <p:blipFill>
          <a:blip r:embed="rId7"/>
          <a:stretch>
            <a:fillRect/>
          </a:stretch>
        </p:blipFill>
        <p:spPr>
          <a:xfrm>
            <a:off x="617458" y="6684050"/>
            <a:ext cx="882134" cy="1058585"/>
          </a:xfrm>
          <a:prstGeom prst="rect">
            <a:avLst/>
          </a:prstGeom>
        </p:spPr>
      </p:pic>
      <p:sp>
        <p:nvSpPr>
          <p:cNvPr id="14" name="Text 7"/>
          <p:cNvSpPr/>
          <p:nvPr/>
        </p:nvSpPr>
        <p:spPr>
          <a:xfrm>
            <a:off x="1764149" y="6860381"/>
            <a:ext cx="2382441" cy="275630"/>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Implementation Guide</a:t>
            </a:r>
            <a:endParaRPr lang="en-US" sz="1700" dirty="0"/>
          </a:p>
        </p:txBody>
      </p:sp>
      <p:sp>
        <p:nvSpPr>
          <p:cNvPr id="15" name="Text 8"/>
          <p:cNvSpPr/>
          <p:nvPr/>
        </p:nvSpPr>
        <p:spPr>
          <a:xfrm>
            <a:off x="1764149" y="7241858"/>
            <a:ext cx="12248793" cy="282297"/>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Python techniques to implement solutions for better model performance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9355" y="615315"/>
            <a:ext cx="7578090" cy="1398270"/>
          </a:xfrm>
          <a:prstGeom prst="rect">
            <a:avLst/>
          </a:prstGeom>
          <a:noFill/>
          <a:ln/>
        </p:spPr>
        <p:txBody>
          <a:bodyPr wrap="square" lIns="0" tIns="0" rIns="0" bIns="0" rtlCol="0" anchor="t"/>
          <a:lstStyle/>
          <a:p>
            <a:pPr marL="0" indent="0">
              <a:lnSpc>
                <a:spcPts val="5500"/>
              </a:lnSpc>
              <a:buNone/>
            </a:pPr>
            <a:r>
              <a:rPr lang="en-US" sz="4400" dirty="0">
                <a:solidFill>
                  <a:srgbClr val="030303"/>
                </a:solidFill>
                <a:latin typeface="DM Sans Semi Bold" pitchFamily="34" charset="0"/>
                <a:ea typeface="DM Sans Semi Bold" pitchFamily="34" charset="-122"/>
                <a:cs typeface="DM Sans Semi Bold" pitchFamily="34" charset="-120"/>
              </a:rPr>
              <a:t>Understanding Machine Learning Models</a:t>
            </a:r>
            <a:endParaRPr lang="en-US" sz="4400" dirty="0"/>
          </a:p>
        </p:txBody>
      </p:sp>
      <p:sp>
        <p:nvSpPr>
          <p:cNvPr id="4" name="Shape 1"/>
          <p:cNvSpPr/>
          <p:nvPr/>
        </p:nvSpPr>
        <p:spPr>
          <a:xfrm>
            <a:off x="6269355" y="2600682"/>
            <a:ext cx="503277" cy="503277"/>
          </a:xfrm>
          <a:prstGeom prst="roundRect">
            <a:avLst>
              <a:gd name="adj" fmla="val 6668"/>
            </a:avLst>
          </a:prstGeom>
          <a:solidFill>
            <a:srgbClr val="F2EEEE"/>
          </a:solidFill>
          <a:ln/>
        </p:spPr>
      </p:sp>
      <p:sp>
        <p:nvSpPr>
          <p:cNvPr id="5" name="Text 2"/>
          <p:cNvSpPr/>
          <p:nvPr/>
        </p:nvSpPr>
        <p:spPr>
          <a:xfrm>
            <a:off x="6462593" y="2684502"/>
            <a:ext cx="116800" cy="335637"/>
          </a:xfrm>
          <a:prstGeom prst="rect">
            <a:avLst/>
          </a:prstGeom>
          <a:noFill/>
          <a:ln/>
        </p:spPr>
        <p:txBody>
          <a:bodyPr wrap="none" lIns="0" tIns="0" rIns="0" bIns="0" rtlCol="0" anchor="t"/>
          <a:lstStyle/>
          <a:p>
            <a:pPr marL="0" indent="0" algn="ctr">
              <a:lnSpc>
                <a:spcPts val="2600"/>
              </a:lnSpc>
              <a:buNone/>
            </a:pPr>
            <a:r>
              <a:rPr lang="en-US" sz="2600" dirty="0">
                <a:solidFill>
                  <a:srgbClr val="464646"/>
                </a:solidFill>
                <a:latin typeface="DM Sans Semi Bold" pitchFamily="34" charset="0"/>
                <a:ea typeface="DM Sans Semi Bold" pitchFamily="34" charset="-122"/>
                <a:cs typeface="DM Sans Semi Bold" pitchFamily="34" charset="-120"/>
              </a:rPr>
              <a:t>1</a:t>
            </a:r>
            <a:endParaRPr lang="en-US" sz="2600" dirty="0"/>
          </a:p>
        </p:txBody>
      </p:sp>
      <p:sp>
        <p:nvSpPr>
          <p:cNvPr id="6" name="Text 3"/>
          <p:cNvSpPr/>
          <p:nvPr/>
        </p:nvSpPr>
        <p:spPr>
          <a:xfrm>
            <a:off x="6996351" y="2600682"/>
            <a:ext cx="2950250" cy="699135"/>
          </a:xfrm>
          <a:prstGeom prst="rect">
            <a:avLst/>
          </a:prstGeom>
          <a:noFill/>
          <a:ln/>
        </p:spPr>
        <p:txBody>
          <a:bodyPr wrap="squar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Goal of Machine Learning</a:t>
            </a:r>
            <a:endParaRPr lang="en-US" sz="2200" dirty="0"/>
          </a:p>
        </p:txBody>
      </p:sp>
      <p:sp>
        <p:nvSpPr>
          <p:cNvPr id="7" name="Text 4"/>
          <p:cNvSpPr/>
          <p:nvPr/>
        </p:nvSpPr>
        <p:spPr>
          <a:xfrm>
            <a:off x="6996351" y="3434001"/>
            <a:ext cx="2950250" cy="2147411"/>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Machine learning models aim to discover patterns in training data that will generalize to unseen data, striking a balance between simplicity and complexity.</a:t>
            </a:r>
            <a:endParaRPr lang="en-US" sz="1750" dirty="0"/>
          </a:p>
        </p:txBody>
      </p:sp>
      <p:sp>
        <p:nvSpPr>
          <p:cNvPr id="8" name="Shape 5"/>
          <p:cNvSpPr/>
          <p:nvPr/>
        </p:nvSpPr>
        <p:spPr>
          <a:xfrm>
            <a:off x="10170319" y="2600682"/>
            <a:ext cx="503277" cy="503277"/>
          </a:xfrm>
          <a:prstGeom prst="roundRect">
            <a:avLst>
              <a:gd name="adj" fmla="val 6668"/>
            </a:avLst>
          </a:prstGeom>
          <a:solidFill>
            <a:srgbClr val="F2EEEE"/>
          </a:solidFill>
          <a:ln/>
        </p:spPr>
      </p:sp>
      <p:sp>
        <p:nvSpPr>
          <p:cNvPr id="9" name="Text 6"/>
          <p:cNvSpPr/>
          <p:nvPr/>
        </p:nvSpPr>
        <p:spPr>
          <a:xfrm>
            <a:off x="10325100" y="2684502"/>
            <a:ext cx="193596" cy="335637"/>
          </a:xfrm>
          <a:prstGeom prst="rect">
            <a:avLst/>
          </a:prstGeom>
          <a:noFill/>
          <a:ln/>
        </p:spPr>
        <p:txBody>
          <a:bodyPr wrap="none" lIns="0" tIns="0" rIns="0" bIns="0" rtlCol="0" anchor="t"/>
          <a:lstStyle/>
          <a:p>
            <a:pPr marL="0" indent="0" algn="ctr">
              <a:lnSpc>
                <a:spcPts val="2600"/>
              </a:lnSpc>
              <a:buNone/>
            </a:pPr>
            <a:r>
              <a:rPr lang="en-US" sz="2600" dirty="0">
                <a:solidFill>
                  <a:srgbClr val="464646"/>
                </a:solidFill>
                <a:latin typeface="DM Sans Semi Bold" pitchFamily="34" charset="0"/>
                <a:ea typeface="DM Sans Semi Bold" pitchFamily="34" charset="-122"/>
                <a:cs typeface="DM Sans Semi Bold" pitchFamily="34" charset="-120"/>
              </a:rPr>
              <a:t>2</a:t>
            </a:r>
            <a:endParaRPr lang="en-US" sz="2600" dirty="0"/>
          </a:p>
        </p:txBody>
      </p:sp>
      <p:sp>
        <p:nvSpPr>
          <p:cNvPr id="10" name="Text 7"/>
          <p:cNvSpPr/>
          <p:nvPr/>
        </p:nvSpPr>
        <p:spPr>
          <a:xfrm>
            <a:off x="10897314" y="2600682"/>
            <a:ext cx="2950250" cy="699135"/>
          </a:xfrm>
          <a:prstGeom prst="rect">
            <a:avLst/>
          </a:prstGeom>
          <a:noFill/>
          <a:ln/>
        </p:spPr>
        <p:txBody>
          <a:bodyPr wrap="squar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The Bias-Variance Tradeoff</a:t>
            </a:r>
            <a:endParaRPr lang="en-US" sz="2200" dirty="0"/>
          </a:p>
        </p:txBody>
      </p:sp>
      <p:sp>
        <p:nvSpPr>
          <p:cNvPr id="11" name="Text 8"/>
          <p:cNvSpPr/>
          <p:nvPr/>
        </p:nvSpPr>
        <p:spPr>
          <a:xfrm>
            <a:off x="10897314" y="3434001"/>
            <a:ext cx="2950250" cy="1789509"/>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Models constantly navigate the tradeoff between bias (simplifying assumptions) and variance (sensitivity to training data variations).</a:t>
            </a:r>
            <a:endParaRPr lang="en-US" sz="1750" dirty="0"/>
          </a:p>
        </p:txBody>
      </p:sp>
      <p:sp>
        <p:nvSpPr>
          <p:cNvPr id="12" name="Shape 9"/>
          <p:cNvSpPr/>
          <p:nvPr/>
        </p:nvSpPr>
        <p:spPr>
          <a:xfrm>
            <a:off x="6269355" y="6056709"/>
            <a:ext cx="503277" cy="503277"/>
          </a:xfrm>
          <a:prstGeom prst="roundRect">
            <a:avLst>
              <a:gd name="adj" fmla="val 6668"/>
            </a:avLst>
          </a:prstGeom>
          <a:solidFill>
            <a:srgbClr val="F2EEEE"/>
          </a:solidFill>
          <a:ln/>
        </p:spPr>
      </p:sp>
      <p:sp>
        <p:nvSpPr>
          <p:cNvPr id="13" name="Text 10"/>
          <p:cNvSpPr/>
          <p:nvPr/>
        </p:nvSpPr>
        <p:spPr>
          <a:xfrm>
            <a:off x="6420445" y="6140529"/>
            <a:ext cx="200978" cy="335637"/>
          </a:xfrm>
          <a:prstGeom prst="rect">
            <a:avLst/>
          </a:prstGeom>
          <a:noFill/>
          <a:ln/>
        </p:spPr>
        <p:txBody>
          <a:bodyPr wrap="none" lIns="0" tIns="0" rIns="0" bIns="0" rtlCol="0" anchor="t"/>
          <a:lstStyle/>
          <a:p>
            <a:pPr marL="0" indent="0" algn="ctr">
              <a:lnSpc>
                <a:spcPts val="2600"/>
              </a:lnSpc>
              <a:buNone/>
            </a:pPr>
            <a:r>
              <a:rPr lang="en-US" sz="2600" dirty="0">
                <a:solidFill>
                  <a:srgbClr val="464646"/>
                </a:solidFill>
                <a:latin typeface="DM Sans Semi Bold" pitchFamily="34" charset="0"/>
                <a:ea typeface="DM Sans Semi Bold" pitchFamily="34" charset="-122"/>
                <a:cs typeface="DM Sans Semi Bold" pitchFamily="34" charset="-120"/>
              </a:rPr>
              <a:t>3</a:t>
            </a:r>
            <a:endParaRPr lang="en-US" sz="2600" dirty="0"/>
          </a:p>
        </p:txBody>
      </p:sp>
      <p:sp>
        <p:nvSpPr>
          <p:cNvPr id="14" name="Text 11"/>
          <p:cNvSpPr/>
          <p:nvPr/>
        </p:nvSpPr>
        <p:spPr>
          <a:xfrm>
            <a:off x="6996351" y="6056709"/>
            <a:ext cx="3101221" cy="349568"/>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Finding the Sweet Spot</a:t>
            </a:r>
            <a:endParaRPr lang="en-US" sz="2200" dirty="0"/>
          </a:p>
        </p:txBody>
      </p:sp>
      <p:sp>
        <p:nvSpPr>
          <p:cNvPr id="15" name="Text 12"/>
          <p:cNvSpPr/>
          <p:nvPr/>
        </p:nvSpPr>
        <p:spPr>
          <a:xfrm>
            <a:off x="6996351" y="6540460"/>
            <a:ext cx="6851094" cy="1073706"/>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The ideal model is complex enough to capture underlying patterns but simple enough to generalize beyond the training examples.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18304"/>
            <a:ext cx="5805845"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What is Underfitting?</a:t>
            </a:r>
            <a:endParaRPr lang="en-US" sz="4450" dirty="0"/>
          </a:p>
        </p:txBody>
      </p:sp>
      <p:sp>
        <p:nvSpPr>
          <p:cNvPr id="4" name="Shape 1"/>
          <p:cNvSpPr/>
          <p:nvPr/>
        </p:nvSpPr>
        <p:spPr>
          <a:xfrm>
            <a:off x="793790" y="1767245"/>
            <a:ext cx="3664863" cy="3484364"/>
          </a:xfrm>
          <a:prstGeom prst="roundRect">
            <a:avLst>
              <a:gd name="adj" fmla="val 976"/>
            </a:avLst>
          </a:prstGeom>
          <a:solidFill>
            <a:srgbClr val="F2EEEE"/>
          </a:solidFill>
          <a:ln/>
        </p:spPr>
      </p:sp>
      <p:sp>
        <p:nvSpPr>
          <p:cNvPr id="5" name="Text 2"/>
          <p:cNvSpPr/>
          <p:nvPr/>
        </p:nvSpPr>
        <p:spPr>
          <a:xfrm>
            <a:off x="1020604" y="199405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Definition</a:t>
            </a:r>
            <a:endParaRPr lang="en-US" sz="2200" dirty="0"/>
          </a:p>
        </p:txBody>
      </p:sp>
      <p:sp>
        <p:nvSpPr>
          <p:cNvPr id="6" name="Text 3"/>
          <p:cNvSpPr/>
          <p:nvPr/>
        </p:nvSpPr>
        <p:spPr>
          <a:xfrm>
            <a:off x="1020604" y="2484477"/>
            <a:ext cx="3211235"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Underfitting occurs when a machine learning model is too simple to capture the underlying structure of the data, resulting in poor performance on both training and test datasets.</a:t>
            </a:r>
            <a:endParaRPr lang="en-US" sz="1750" dirty="0"/>
          </a:p>
        </p:txBody>
      </p:sp>
      <p:sp>
        <p:nvSpPr>
          <p:cNvPr id="7" name="Shape 4"/>
          <p:cNvSpPr/>
          <p:nvPr/>
        </p:nvSpPr>
        <p:spPr>
          <a:xfrm>
            <a:off x="4685467" y="1767245"/>
            <a:ext cx="3664863" cy="3484364"/>
          </a:xfrm>
          <a:prstGeom prst="roundRect">
            <a:avLst>
              <a:gd name="adj" fmla="val 976"/>
            </a:avLst>
          </a:prstGeom>
          <a:solidFill>
            <a:srgbClr val="F2EEEE"/>
          </a:solidFill>
          <a:ln/>
        </p:spPr>
      </p:sp>
      <p:sp>
        <p:nvSpPr>
          <p:cNvPr id="8" name="Text 5"/>
          <p:cNvSpPr/>
          <p:nvPr/>
        </p:nvSpPr>
        <p:spPr>
          <a:xfrm>
            <a:off x="4912281" y="199405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The Root Issue</a:t>
            </a:r>
            <a:endParaRPr lang="en-US" sz="2200" dirty="0"/>
          </a:p>
        </p:txBody>
      </p:sp>
      <p:sp>
        <p:nvSpPr>
          <p:cNvPr id="9" name="Text 6"/>
          <p:cNvSpPr/>
          <p:nvPr/>
        </p:nvSpPr>
        <p:spPr>
          <a:xfrm>
            <a:off x="4912281" y="2484477"/>
            <a:ext cx="3211235" cy="1814513"/>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The model makes too many simplifying assumptions about the data, failing to recognize important patterns that exist in the dataset.</a:t>
            </a:r>
            <a:endParaRPr lang="en-US" sz="1750" dirty="0"/>
          </a:p>
        </p:txBody>
      </p:sp>
      <p:sp>
        <p:nvSpPr>
          <p:cNvPr id="10" name="Shape 7"/>
          <p:cNvSpPr/>
          <p:nvPr/>
        </p:nvSpPr>
        <p:spPr>
          <a:xfrm>
            <a:off x="793790" y="5478423"/>
            <a:ext cx="7556421" cy="2032754"/>
          </a:xfrm>
          <a:prstGeom prst="roundRect">
            <a:avLst>
              <a:gd name="adj" fmla="val 1674"/>
            </a:avLst>
          </a:prstGeom>
          <a:solidFill>
            <a:srgbClr val="F2EEEE"/>
          </a:solidFill>
          <a:ln/>
        </p:spPr>
      </p:sp>
      <p:sp>
        <p:nvSpPr>
          <p:cNvPr id="11" name="Text 8"/>
          <p:cNvSpPr/>
          <p:nvPr/>
        </p:nvSpPr>
        <p:spPr>
          <a:xfrm>
            <a:off x="1020604" y="5705237"/>
            <a:ext cx="3206948"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Performance Indicators</a:t>
            </a:r>
            <a:endParaRPr lang="en-US" sz="2200" dirty="0"/>
          </a:p>
        </p:txBody>
      </p:sp>
      <p:sp>
        <p:nvSpPr>
          <p:cNvPr id="12" name="Text 9"/>
          <p:cNvSpPr/>
          <p:nvPr/>
        </p:nvSpPr>
        <p:spPr>
          <a:xfrm>
            <a:off x="1020604" y="6195655"/>
            <a:ext cx="7102793"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An underfit model shows consistently high error rates during both training and evaluation phases, indicating fundamental inadequacy in learning capability.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26150" y="849154"/>
            <a:ext cx="6588204" cy="559118"/>
          </a:xfrm>
          <a:prstGeom prst="rect">
            <a:avLst/>
          </a:prstGeom>
          <a:noFill/>
          <a:ln/>
        </p:spPr>
        <p:txBody>
          <a:bodyPr wrap="none" lIns="0" tIns="0" rIns="0" bIns="0" rtlCol="0" anchor="t"/>
          <a:lstStyle/>
          <a:p>
            <a:pPr marL="0" indent="0">
              <a:lnSpc>
                <a:spcPts val="4400"/>
              </a:lnSpc>
              <a:buNone/>
            </a:pPr>
            <a:r>
              <a:rPr lang="en-US" sz="3500" dirty="0">
                <a:solidFill>
                  <a:srgbClr val="030303"/>
                </a:solidFill>
                <a:latin typeface="DM Sans Semi Bold" pitchFamily="34" charset="0"/>
                <a:ea typeface="DM Sans Semi Bold" pitchFamily="34" charset="-122"/>
                <a:cs typeface="DM Sans Semi Bold" pitchFamily="34" charset="-120"/>
              </a:rPr>
              <a:t>Characteristics of Underfitting</a:t>
            </a:r>
            <a:endParaRPr lang="en-US" sz="3500" dirty="0"/>
          </a:p>
        </p:txBody>
      </p:sp>
      <p:pic>
        <p:nvPicPr>
          <p:cNvPr id="4" name="Image 1" descr="preencoded.png"/>
          <p:cNvPicPr>
            <a:picLocks noChangeAspect="1"/>
          </p:cNvPicPr>
          <p:nvPr/>
        </p:nvPicPr>
        <p:blipFill>
          <a:blip r:embed="rId4"/>
          <a:stretch>
            <a:fillRect/>
          </a:stretch>
        </p:blipFill>
        <p:spPr>
          <a:xfrm>
            <a:off x="626150" y="1676519"/>
            <a:ext cx="447199" cy="447199"/>
          </a:xfrm>
          <a:prstGeom prst="rect">
            <a:avLst/>
          </a:prstGeom>
        </p:spPr>
      </p:pic>
      <p:sp>
        <p:nvSpPr>
          <p:cNvPr id="5" name="Text 1"/>
          <p:cNvSpPr/>
          <p:nvPr/>
        </p:nvSpPr>
        <p:spPr>
          <a:xfrm>
            <a:off x="626150" y="2302550"/>
            <a:ext cx="2236351" cy="279440"/>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High Bias</a:t>
            </a:r>
            <a:endParaRPr lang="en-US" sz="1750" dirty="0"/>
          </a:p>
        </p:txBody>
      </p:sp>
      <p:sp>
        <p:nvSpPr>
          <p:cNvPr id="6" name="Text 2"/>
          <p:cNvSpPr/>
          <p:nvPr/>
        </p:nvSpPr>
        <p:spPr>
          <a:xfrm>
            <a:off x="626150" y="2689265"/>
            <a:ext cx="2451735" cy="1144905"/>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Makes too many simplifying assumptions about the data, preventing it from learning the true underlying patterns.</a:t>
            </a:r>
            <a:endParaRPr lang="en-US" sz="1400" dirty="0"/>
          </a:p>
        </p:txBody>
      </p:sp>
      <p:pic>
        <p:nvPicPr>
          <p:cNvPr id="7" name="Image 2" descr="preencoded.png"/>
          <p:cNvPicPr>
            <a:picLocks noChangeAspect="1"/>
          </p:cNvPicPr>
          <p:nvPr/>
        </p:nvPicPr>
        <p:blipFill>
          <a:blip r:embed="rId5"/>
          <a:stretch>
            <a:fillRect/>
          </a:stretch>
        </p:blipFill>
        <p:spPr>
          <a:xfrm>
            <a:off x="3346133" y="1676519"/>
            <a:ext cx="447199" cy="447199"/>
          </a:xfrm>
          <a:prstGeom prst="rect">
            <a:avLst/>
          </a:prstGeom>
        </p:spPr>
      </p:pic>
      <p:sp>
        <p:nvSpPr>
          <p:cNvPr id="8" name="Text 3"/>
          <p:cNvSpPr/>
          <p:nvPr/>
        </p:nvSpPr>
        <p:spPr>
          <a:xfrm>
            <a:off x="3346133" y="2302550"/>
            <a:ext cx="2236351" cy="279440"/>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Poor Performance</a:t>
            </a:r>
            <a:endParaRPr lang="en-US" sz="1750" dirty="0"/>
          </a:p>
        </p:txBody>
      </p:sp>
      <p:sp>
        <p:nvSpPr>
          <p:cNvPr id="9" name="Text 4"/>
          <p:cNvSpPr/>
          <p:nvPr/>
        </p:nvSpPr>
        <p:spPr>
          <a:xfrm>
            <a:off x="3346133" y="2689265"/>
            <a:ext cx="2451735" cy="1431131"/>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Shows high error rates on both training and test datasets, indicating fundamental inadequacy in capturing relationships.</a:t>
            </a:r>
            <a:endParaRPr lang="en-US" sz="1400" dirty="0"/>
          </a:p>
        </p:txBody>
      </p:sp>
      <p:pic>
        <p:nvPicPr>
          <p:cNvPr id="10" name="Image 3" descr="preencoded.png"/>
          <p:cNvPicPr>
            <a:picLocks noChangeAspect="1"/>
          </p:cNvPicPr>
          <p:nvPr/>
        </p:nvPicPr>
        <p:blipFill>
          <a:blip r:embed="rId6"/>
          <a:stretch>
            <a:fillRect/>
          </a:stretch>
        </p:blipFill>
        <p:spPr>
          <a:xfrm>
            <a:off x="6066115" y="1676519"/>
            <a:ext cx="447199" cy="447199"/>
          </a:xfrm>
          <a:prstGeom prst="rect">
            <a:avLst/>
          </a:prstGeom>
        </p:spPr>
      </p:pic>
      <p:sp>
        <p:nvSpPr>
          <p:cNvPr id="11" name="Text 5"/>
          <p:cNvSpPr/>
          <p:nvPr/>
        </p:nvSpPr>
        <p:spPr>
          <a:xfrm>
            <a:off x="6066115" y="2302550"/>
            <a:ext cx="2451735" cy="558879"/>
          </a:xfrm>
          <a:prstGeom prst="rect">
            <a:avLst/>
          </a:prstGeom>
          <a:noFill/>
          <a:ln/>
        </p:spPr>
        <p:txBody>
          <a:bodyPr wrap="squar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Insufficient Complexity</a:t>
            </a:r>
            <a:endParaRPr lang="en-US" sz="1750" dirty="0"/>
          </a:p>
        </p:txBody>
      </p:sp>
      <p:sp>
        <p:nvSpPr>
          <p:cNvPr id="12" name="Text 6"/>
          <p:cNvSpPr/>
          <p:nvPr/>
        </p:nvSpPr>
        <p:spPr>
          <a:xfrm>
            <a:off x="6066115" y="2968704"/>
            <a:ext cx="2451735" cy="1431131"/>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Lacks the necessary parameters or flexibility to model the complexity present in the actual data distribution.</a:t>
            </a:r>
            <a:endParaRPr lang="en-US" sz="1400" dirty="0"/>
          </a:p>
        </p:txBody>
      </p:sp>
      <p:pic>
        <p:nvPicPr>
          <p:cNvPr id="13" name="Image 4" descr="preencoded.png"/>
          <p:cNvPicPr>
            <a:picLocks noChangeAspect="1"/>
          </p:cNvPicPr>
          <p:nvPr/>
        </p:nvPicPr>
        <p:blipFill>
          <a:blip r:embed="rId7"/>
          <a:stretch>
            <a:fillRect/>
          </a:stretch>
        </p:blipFill>
        <p:spPr>
          <a:xfrm>
            <a:off x="626150" y="4936450"/>
            <a:ext cx="447199" cy="447199"/>
          </a:xfrm>
          <a:prstGeom prst="rect">
            <a:avLst/>
          </a:prstGeom>
        </p:spPr>
      </p:pic>
      <p:sp>
        <p:nvSpPr>
          <p:cNvPr id="14" name="Text 7"/>
          <p:cNvSpPr/>
          <p:nvPr/>
        </p:nvSpPr>
        <p:spPr>
          <a:xfrm>
            <a:off x="626150" y="5562481"/>
            <a:ext cx="2236351" cy="279440"/>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Misses Relationships</a:t>
            </a:r>
            <a:endParaRPr lang="en-US" sz="1750" dirty="0"/>
          </a:p>
        </p:txBody>
      </p:sp>
      <p:sp>
        <p:nvSpPr>
          <p:cNvPr id="15" name="Text 8"/>
          <p:cNvSpPr/>
          <p:nvPr/>
        </p:nvSpPr>
        <p:spPr>
          <a:xfrm>
            <a:off x="626150" y="5949196"/>
            <a:ext cx="2451735" cy="1431131"/>
          </a:xfrm>
          <a:prstGeom prst="rect">
            <a:avLst/>
          </a:prstGeom>
          <a:noFill/>
          <a:ln/>
        </p:spPr>
        <p:txBody>
          <a:bodyPr wrap="squar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Fails to capture important non-linear or complex relationships between features and target variables.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51109"/>
            <a:ext cx="8322112"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Why Does Underfitting Occur?</a:t>
            </a:r>
            <a:endParaRPr lang="en-US" sz="4450" dirty="0"/>
          </a:p>
        </p:txBody>
      </p:sp>
      <p:sp>
        <p:nvSpPr>
          <p:cNvPr id="3" name="Text 1"/>
          <p:cNvSpPr/>
          <p:nvPr/>
        </p:nvSpPr>
        <p:spPr>
          <a:xfrm>
            <a:off x="1786533" y="2861548"/>
            <a:ext cx="2905958"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Oversimplified Model</a:t>
            </a:r>
            <a:endParaRPr lang="en-US" sz="2200" dirty="0"/>
          </a:p>
        </p:txBody>
      </p:sp>
      <p:sp>
        <p:nvSpPr>
          <p:cNvPr id="4" name="Text 2"/>
          <p:cNvSpPr/>
          <p:nvPr/>
        </p:nvSpPr>
        <p:spPr>
          <a:xfrm>
            <a:off x="793790" y="3351967"/>
            <a:ext cx="3898702" cy="725805"/>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Using a linear model for inherently nonlinear relationships</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153745" y="3321725"/>
            <a:ext cx="9870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1</a:t>
            </a:r>
            <a:endParaRPr lang="en-US" sz="2200" dirty="0"/>
          </a:p>
        </p:txBody>
      </p:sp>
      <p:sp>
        <p:nvSpPr>
          <p:cNvPr id="7" name="Text 4"/>
          <p:cNvSpPr/>
          <p:nvPr/>
        </p:nvSpPr>
        <p:spPr>
          <a:xfrm>
            <a:off x="9937790" y="24528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Insufficient Training</a:t>
            </a:r>
            <a:endParaRPr lang="en-US" sz="2200" dirty="0"/>
          </a:p>
        </p:txBody>
      </p:sp>
      <p:sp>
        <p:nvSpPr>
          <p:cNvPr id="8" name="Text 5"/>
          <p:cNvSpPr/>
          <p:nvPr/>
        </p:nvSpPr>
        <p:spPr>
          <a:xfrm>
            <a:off x="9937790" y="2943225"/>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Not training the model long enough to learn patterns</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7980878" y="3057049"/>
            <a:ext cx="163592"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2</a:t>
            </a:r>
            <a:endParaRPr lang="en-US" sz="2200" dirty="0"/>
          </a:p>
        </p:txBody>
      </p:sp>
      <p:sp>
        <p:nvSpPr>
          <p:cNvPr id="11" name="Text 7"/>
          <p:cNvSpPr/>
          <p:nvPr/>
        </p:nvSpPr>
        <p:spPr>
          <a:xfrm>
            <a:off x="10051256" y="4087773"/>
            <a:ext cx="3331607"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Excessive Regularization</a:t>
            </a:r>
            <a:endParaRPr lang="en-US" sz="2200" dirty="0"/>
          </a:p>
        </p:txBody>
      </p:sp>
      <p:sp>
        <p:nvSpPr>
          <p:cNvPr id="12" name="Text 8"/>
          <p:cNvSpPr/>
          <p:nvPr/>
        </p:nvSpPr>
        <p:spPr>
          <a:xfrm>
            <a:off x="10051256" y="4578191"/>
            <a:ext cx="3785354"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Too much penalty forcing the model to ignore important signals</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804196" y="4743807"/>
            <a:ext cx="16978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3</a:t>
            </a:r>
            <a:endParaRPr lang="en-US" sz="2200" dirty="0"/>
          </a:p>
        </p:txBody>
      </p:sp>
      <p:sp>
        <p:nvSpPr>
          <p:cNvPr id="15" name="Text 10"/>
          <p:cNvSpPr/>
          <p:nvPr/>
        </p:nvSpPr>
        <p:spPr>
          <a:xfrm>
            <a:off x="9937790" y="5722858"/>
            <a:ext cx="3081933"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Poor Feature Selection</a:t>
            </a:r>
            <a:endParaRPr lang="en-US" sz="2200" dirty="0"/>
          </a:p>
        </p:txBody>
      </p:sp>
      <p:sp>
        <p:nvSpPr>
          <p:cNvPr id="16" name="Text 11"/>
          <p:cNvSpPr/>
          <p:nvPr/>
        </p:nvSpPr>
        <p:spPr>
          <a:xfrm>
            <a:off x="9937790" y="6213277"/>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Missing important features or using irrelevant ones</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7449741" y="6050875"/>
            <a:ext cx="180856"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4</a:t>
            </a:r>
            <a:endParaRPr lang="en-US" sz="2200" dirty="0"/>
          </a:p>
        </p:txBody>
      </p:sp>
      <p:sp>
        <p:nvSpPr>
          <p:cNvPr id="19" name="Text 13"/>
          <p:cNvSpPr/>
          <p:nvPr/>
        </p:nvSpPr>
        <p:spPr>
          <a:xfrm>
            <a:off x="1857256" y="5314117"/>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Data Quality Issues</a:t>
            </a:r>
            <a:endParaRPr lang="en-US" sz="2200" dirty="0"/>
          </a:p>
        </p:txBody>
      </p:sp>
      <p:sp>
        <p:nvSpPr>
          <p:cNvPr id="20" name="Text 14"/>
          <p:cNvSpPr/>
          <p:nvPr/>
        </p:nvSpPr>
        <p:spPr>
          <a:xfrm>
            <a:off x="793790" y="5804535"/>
            <a:ext cx="3898702" cy="725805"/>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Noisy or insufficient data preventing proper learning</a:t>
            </a:r>
            <a:endParaRPr lang="en-US" sz="1750" dirty="0"/>
          </a:p>
        </p:txBody>
      </p:sp>
      <p:pic>
        <p:nvPicPr>
          <p:cNvPr id="21" name="Image 4" descr="preencoded.png"/>
          <p:cNvPicPr>
            <a:picLocks noChangeAspect="1"/>
          </p:cNvPicPr>
          <p:nvPr/>
        </p:nvPicPr>
        <p:blipFill>
          <a:blip r:embed="rId7"/>
          <a:stretch>
            <a:fillRect/>
          </a:stretch>
        </p:blipFill>
        <p:spPr>
          <a:xfrm>
            <a:off x="5032653" y="2413516"/>
            <a:ext cx="4564975" cy="4564975"/>
          </a:xfrm>
          <a:prstGeom prst="rect">
            <a:avLst/>
          </a:prstGeom>
        </p:spPr>
      </p:pic>
      <p:sp>
        <p:nvSpPr>
          <p:cNvPr id="22" name="Text 15"/>
          <p:cNvSpPr/>
          <p:nvPr/>
        </p:nvSpPr>
        <p:spPr>
          <a:xfrm>
            <a:off x="5792629" y="5172075"/>
            <a:ext cx="175141"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5</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95607"/>
            <a:ext cx="9276874"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How to Tackle Underfitting - Part 1</a:t>
            </a:r>
            <a:endParaRPr lang="en-US" sz="4450" dirty="0"/>
          </a:p>
        </p:txBody>
      </p:sp>
      <p:sp>
        <p:nvSpPr>
          <p:cNvPr id="3" name="Text 1"/>
          <p:cNvSpPr/>
          <p:nvPr/>
        </p:nvSpPr>
        <p:spPr>
          <a:xfrm>
            <a:off x="793790" y="3271361"/>
            <a:ext cx="3611285"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Use More Complex Models</a:t>
            </a:r>
            <a:endParaRPr lang="en-US" sz="2200" dirty="0"/>
          </a:p>
        </p:txBody>
      </p:sp>
      <p:sp>
        <p:nvSpPr>
          <p:cNvPr id="4" name="Text 2"/>
          <p:cNvSpPr/>
          <p:nvPr/>
        </p:nvSpPr>
        <p:spPr>
          <a:xfrm>
            <a:off x="793790" y="3852505"/>
            <a:ext cx="3978116" cy="217741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If linear models underfit, transition to more flexible algorithms like polynomial regression, decision trees, or neural networks that can capture nonlinear relationships in the data.</a:t>
            </a:r>
            <a:endParaRPr lang="en-US" sz="1750" dirty="0"/>
          </a:p>
        </p:txBody>
      </p:sp>
      <p:sp>
        <p:nvSpPr>
          <p:cNvPr id="5" name="Text 3"/>
          <p:cNvSpPr/>
          <p:nvPr/>
        </p:nvSpPr>
        <p:spPr>
          <a:xfrm>
            <a:off x="5332928" y="3271361"/>
            <a:ext cx="3572470"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Increase Training Duration</a:t>
            </a:r>
            <a:endParaRPr lang="en-US" sz="2200" dirty="0"/>
          </a:p>
        </p:txBody>
      </p:sp>
      <p:sp>
        <p:nvSpPr>
          <p:cNvPr id="6" name="Text 4"/>
          <p:cNvSpPr/>
          <p:nvPr/>
        </p:nvSpPr>
        <p:spPr>
          <a:xfrm>
            <a:off x="5332928" y="3852505"/>
            <a:ext cx="3978116" cy="2177415"/>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Extend the training process, especially for deep learning models. Increase the number of epochs to allow the model sufficient time to learn the underlying patterns in the data.</a:t>
            </a:r>
            <a:endParaRPr lang="en-US" sz="1750" dirty="0"/>
          </a:p>
        </p:txBody>
      </p:sp>
      <p:sp>
        <p:nvSpPr>
          <p:cNvPr id="7" name="Text 5"/>
          <p:cNvSpPr/>
          <p:nvPr/>
        </p:nvSpPr>
        <p:spPr>
          <a:xfrm>
            <a:off x="9872067" y="3271361"/>
            <a:ext cx="3019306"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Reduce Regularization</a:t>
            </a:r>
            <a:endParaRPr lang="en-US" sz="2200" dirty="0"/>
          </a:p>
        </p:txBody>
      </p:sp>
      <p:sp>
        <p:nvSpPr>
          <p:cNvPr id="8" name="Text 6"/>
          <p:cNvSpPr/>
          <p:nvPr/>
        </p:nvSpPr>
        <p:spPr>
          <a:xfrm>
            <a:off x="9872067" y="3852505"/>
            <a:ext cx="3978116" cy="1814513"/>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If regularization parameters (like λ in L1/L2 regularization) are too high, reduce them to allow the model more flexibility in fitting to important patterns in the training data.</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4018" y="724257"/>
            <a:ext cx="7715964" cy="1275159"/>
          </a:xfrm>
          <a:prstGeom prst="rect">
            <a:avLst/>
          </a:prstGeom>
          <a:noFill/>
          <a:ln/>
        </p:spPr>
        <p:txBody>
          <a:bodyPr wrap="square" lIns="0" tIns="0" rIns="0" bIns="0" rtlCol="0" anchor="t"/>
          <a:lstStyle/>
          <a:p>
            <a:pPr marL="0" indent="0">
              <a:lnSpc>
                <a:spcPts val="5000"/>
              </a:lnSpc>
              <a:buNone/>
            </a:pPr>
            <a:r>
              <a:rPr lang="en-US" sz="4000" dirty="0">
                <a:solidFill>
                  <a:srgbClr val="030303"/>
                </a:solidFill>
                <a:latin typeface="DM Sans Semi Bold" pitchFamily="34" charset="0"/>
                <a:ea typeface="DM Sans Semi Bold" pitchFamily="34" charset="-122"/>
                <a:cs typeface="DM Sans Semi Bold" pitchFamily="34" charset="-120"/>
              </a:rPr>
              <a:t>How to Tackle Underfitting - Part 2</a:t>
            </a:r>
            <a:endParaRPr lang="en-US" sz="4000" dirty="0"/>
          </a:p>
        </p:txBody>
      </p:sp>
      <p:sp>
        <p:nvSpPr>
          <p:cNvPr id="4" name="Shape 1"/>
          <p:cNvSpPr/>
          <p:nvPr/>
        </p:nvSpPr>
        <p:spPr>
          <a:xfrm>
            <a:off x="714018" y="2305407"/>
            <a:ext cx="152995" cy="1420535"/>
          </a:xfrm>
          <a:prstGeom prst="roundRect">
            <a:avLst>
              <a:gd name="adj" fmla="val 20004"/>
            </a:avLst>
          </a:prstGeom>
          <a:solidFill>
            <a:srgbClr val="F2EEEE"/>
          </a:solidFill>
          <a:ln/>
        </p:spPr>
      </p:sp>
      <p:sp>
        <p:nvSpPr>
          <p:cNvPr id="5" name="Text 2"/>
          <p:cNvSpPr/>
          <p:nvPr/>
        </p:nvSpPr>
        <p:spPr>
          <a:xfrm>
            <a:off x="1173004" y="2305407"/>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Feature Engineering</a:t>
            </a:r>
            <a:endParaRPr lang="en-US" sz="2000" dirty="0"/>
          </a:p>
        </p:txBody>
      </p:sp>
      <p:sp>
        <p:nvSpPr>
          <p:cNvPr id="6" name="Text 3"/>
          <p:cNvSpPr/>
          <p:nvPr/>
        </p:nvSpPr>
        <p:spPr>
          <a:xfrm>
            <a:off x="1173004" y="2746534"/>
            <a:ext cx="7256978" cy="979408"/>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Create new features that help the model better understand the underlying patterns. This might include transformations, interactions, or domain-specific features that capture important relationships in the data.</a:t>
            </a:r>
            <a:endParaRPr lang="en-US" sz="1600" dirty="0"/>
          </a:p>
        </p:txBody>
      </p:sp>
      <p:sp>
        <p:nvSpPr>
          <p:cNvPr id="7" name="Shape 4"/>
          <p:cNvSpPr/>
          <p:nvPr/>
        </p:nvSpPr>
        <p:spPr>
          <a:xfrm>
            <a:off x="1020008" y="3929896"/>
            <a:ext cx="152995" cy="1420535"/>
          </a:xfrm>
          <a:prstGeom prst="roundRect">
            <a:avLst>
              <a:gd name="adj" fmla="val 20004"/>
            </a:avLst>
          </a:prstGeom>
          <a:solidFill>
            <a:srgbClr val="F2EEEE"/>
          </a:solidFill>
          <a:ln/>
        </p:spPr>
      </p:sp>
      <p:sp>
        <p:nvSpPr>
          <p:cNvPr id="8" name="Text 5"/>
          <p:cNvSpPr/>
          <p:nvPr/>
        </p:nvSpPr>
        <p:spPr>
          <a:xfrm>
            <a:off x="1478994" y="3929896"/>
            <a:ext cx="2550438" cy="318730"/>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Add More Features</a:t>
            </a:r>
            <a:endParaRPr lang="en-US" sz="2000" dirty="0"/>
          </a:p>
        </p:txBody>
      </p:sp>
      <p:sp>
        <p:nvSpPr>
          <p:cNvPr id="9" name="Text 6"/>
          <p:cNvSpPr/>
          <p:nvPr/>
        </p:nvSpPr>
        <p:spPr>
          <a:xfrm>
            <a:off x="1478994" y="4371023"/>
            <a:ext cx="6950988" cy="979408"/>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Ensure all relevant features are included in your model. Sometimes underfitting occurs simply because important predictive variables are missing from the analysis.</a:t>
            </a:r>
            <a:endParaRPr lang="en-US" sz="1600" dirty="0"/>
          </a:p>
        </p:txBody>
      </p:sp>
      <p:sp>
        <p:nvSpPr>
          <p:cNvPr id="10" name="Shape 7"/>
          <p:cNvSpPr/>
          <p:nvPr/>
        </p:nvSpPr>
        <p:spPr>
          <a:xfrm>
            <a:off x="1326118" y="5554385"/>
            <a:ext cx="152995" cy="1747004"/>
          </a:xfrm>
          <a:prstGeom prst="roundRect">
            <a:avLst>
              <a:gd name="adj" fmla="val 20004"/>
            </a:avLst>
          </a:prstGeom>
          <a:solidFill>
            <a:srgbClr val="F2EEEE"/>
          </a:solidFill>
          <a:ln/>
        </p:spPr>
      </p:sp>
      <p:sp>
        <p:nvSpPr>
          <p:cNvPr id="11" name="Text 8"/>
          <p:cNvSpPr/>
          <p:nvPr/>
        </p:nvSpPr>
        <p:spPr>
          <a:xfrm>
            <a:off x="1785104" y="5554385"/>
            <a:ext cx="3317200" cy="318730"/>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Use Non-Linear Algorithms</a:t>
            </a:r>
            <a:endParaRPr lang="en-US" sz="2000" dirty="0"/>
          </a:p>
        </p:txBody>
      </p:sp>
      <p:sp>
        <p:nvSpPr>
          <p:cNvPr id="12" name="Text 9"/>
          <p:cNvSpPr/>
          <p:nvPr/>
        </p:nvSpPr>
        <p:spPr>
          <a:xfrm>
            <a:off x="1785104" y="5995511"/>
            <a:ext cx="6644878" cy="1305878"/>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If data has complex relationships, switch to algorithms inherently capable of modeling non-linearity, such as Random Forests, SVMs with RBF kernels, or neural networks with appropriate activation functions.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18304"/>
            <a:ext cx="5670590"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What is Overfitting?</a:t>
            </a:r>
            <a:endParaRPr lang="en-US" sz="4450" dirty="0"/>
          </a:p>
        </p:txBody>
      </p:sp>
      <p:sp>
        <p:nvSpPr>
          <p:cNvPr id="4" name="Shape 1"/>
          <p:cNvSpPr/>
          <p:nvPr/>
        </p:nvSpPr>
        <p:spPr>
          <a:xfrm>
            <a:off x="793790" y="1767245"/>
            <a:ext cx="3664863" cy="3484364"/>
          </a:xfrm>
          <a:prstGeom prst="roundRect">
            <a:avLst>
              <a:gd name="adj" fmla="val 976"/>
            </a:avLst>
          </a:prstGeom>
          <a:solidFill>
            <a:srgbClr val="F2EEEE"/>
          </a:solidFill>
          <a:ln/>
        </p:spPr>
      </p:sp>
      <p:sp>
        <p:nvSpPr>
          <p:cNvPr id="5" name="Text 2"/>
          <p:cNvSpPr/>
          <p:nvPr/>
        </p:nvSpPr>
        <p:spPr>
          <a:xfrm>
            <a:off x="1020604" y="199405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Definition</a:t>
            </a:r>
            <a:endParaRPr lang="en-US" sz="2200" dirty="0"/>
          </a:p>
        </p:txBody>
      </p:sp>
      <p:sp>
        <p:nvSpPr>
          <p:cNvPr id="6" name="Text 3"/>
          <p:cNvSpPr/>
          <p:nvPr/>
        </p:nvSpPr>
        <p:spPr>
          <a:xfrm>
            <a:off x="1020604" y="2484477"/>
            <a:ext cx="3211235"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Overfitting happens when a machine learning model learns the training data too well, including noise and random fluctuations, resulting in poor generalization to new data.</a:t>
            </a:r>
            <a:endParaRPr lang="en-US" sz="1750" dirty="0"/>
          </a:p>
        </p:txBody>
      </p:sp>
      <p:sp>
        <p:nvSpPr>
          <p:cNvPr id="7" name="Shape 4"/>
          <p:cNvSpPr/>
          <p:nvPr/>
        </p:nvSpPr>
        <p:spPr>
          <a:xfrm>
            <a:off x="4685467" y="1767245"/>
            <a:ext cx="3664863" cy="3484364"/>
          </a:xfrm>
          <a:prstGeom prst="roundRect">
            <a:avLst>
              <a:gd name="adj" fmla="val 976"/>
            </a:avLst>
          </a:prstGeom>
          <a:solidFill>
            <a:srgbClr val="F2EEEE"/>
          </a:solidFill>
          <a:ln/>
        </p:spPr>
      </p:sp>
      <p:sp>
        <p:nvSpPr>
          <p:cNvPr id="8" name="Text 5"/>
          <p:cNvSpPr/>
          <p:nvPr/>
        </p:nvSpPr>
        <p:spPr>
          <a:xfrm>
            <a:off x="4912281" y="199405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The Core Problem</a:t>
            </a:r>
            <a:endParaRPr lang="en-US" sz="2200" dirty="0"/>
          </a:p>
        </p:txBody>
      </p:sp>
      <p:sp>
        <p:nvSpPr>
          <p:cNvPr id="9" name="Text 6"/>
          <p:cNvSpPr/>
          <p:nvPr/>
        </p:nvSpPr>
        <p:spPr>
          <a:xfrm>
            <a:off x="4912281" y="2484477"/>
            <a:ext cx="3211235"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The model essentially memorizes the training examples instead of learning general patterns, making it highly accurate on training data but unreliable on unseen data.</a:t>
            </a:r>
            <a:endParaRPr lang="en-US" sz="1750" dirty="0"/>
          </a:p>
        </p:txBody>
      </p:sp>
      <p:sp>
        <p:nvSpPr>
          <p:cNvPr id="10" name="Shape 7"/>
          <p:cNvSpPr/>
          <p:nvPr/>
        </p:nvSpPr>
        <p:spPr>
          <a:xfrm>
            <a:off x="793790" y="5478423"/>
            <a:ext cx="7556421" cy="2032754"/>
          </a:xfrm>
          <a:prstGeom prst="roundRect">
            <a:avLst>
              <a:gd name="adj" fmla="val 1674"/>
            </a:avLst>
          </a:prstGeom>
          <a:solidFill>
            <a:srgbClr val="F2EEEE"/>
          </a:solidFill>
          <a:ln/>
        </p:spPr>
      </p:sp>
      <p:sp>
        <p:nvSpPr>
          <p:cNvPr id="11" name="Text 8"/>
          <p:cNvSpPr/>
          <p:nvPr/>
        </p:nvSpPr>
        <p:spPr>
          <a:xfrm>
            <a:off x="1020604" y="5705237"/>
            <a:ext cx="3206948" cy="354330"/>
          </a:xfrm>
          <a:prstGeom prst="rect">
            <a:avLst/>
          </a:prstGeom>
          <a:noFill/>
          <a:ln/>
        </p:spPr>
        <p:txBody>
          <a:bodyPr wrap="none" lIns="0" tIns="0" rIns="0" bIns="0" rtlCol="0" anchor="t"/>
          <a:lstStyle/>
          <a:p>
            <a:pPr marL="0" indent="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Performance Indicators</a:t>
            </a:r>
            <a:endParaRPr lang="en-US" sz="2200" dirty="0"/>
          </a:p>
        </p:txBody>
      </p:sp>
      <p:sp>
        <p:nvSpPr>
          <p:cNvPr id="12" name="Text 9"/>
          <p:cNvSpPr/>
          <p:nvPr/>
        </p:nvSpPr>
        <p:spPr>
          <a:xfrm>
            <a:off x="1020604" y="6195655"/>
            <a:ext cx="7102793" cy="108870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An overfit model shows very low error on training data but significantly higher error on validation or test data, revealing its failure to generalize properly.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14625"/>
          </a:xfrm>
          <a:prstGeom prst="rect">
            <a:avLst/>
          </a:prstGeom>
        </p:spPr>
      </p:pic>
      <p:sp>
        <p:nvSpPr>
          <p:cNvPr id="3" name="Text 0"/>
          <p:cNvSpPr/>
          <p:nvPr/>
        </p:nvSpPr>
        <p:spPr>
          <a:xfrm>
            <a:off x="760095" y="3312795"/>
            <a:ext cx="7664529" cy="678656"/>
          </a:xfrm>
          <a:prstGeom prst="rect">
            <a:avLst/>
          </a:prstGeom>
          <a:noFill/>
          <a:ln/>
        </p:spPr>
        <p:txBody>
          <a:bodyPr wrap="none" lIns="0" tIns="0" rIns="0" bIns="0" rtlCol="0" anchor="t"/>
          <a:lstStyle/>
          <a:p>
            <a:pPr marL="0" indent="0">
              <a:lnSpc>
                <a:spcPts val="5300"/>
              </a:lnSpc>
              <a:buNone/>
            </a:pPr>
            <a:r>
              <a:rPr lang="en-US" sz="4250" dirty="0">
                <a:solidFill>
                  <a:srgbClr val="030303"/>
                </a:solidFill>
                <a:latin typeface="DM Sans Semi Bold" pitchFamily="34" charset="0"/>
                <a:ea typeface="DM Sans Semi Bold" pitchFamily="34" charset="-122"/>
                <a:cs typeface="DM Sans Semi Bold" pitchFamily="34" charset="-120"/>
              </a:rPr>
              <a:t>Characteristics of Overfitting</a:t>
            </a:r>
            <a:endParaRPr lang="en-US" sz="4250" dirty="0"/>
          </a:p>
        </p:txBody>
      </p:sp>
      <p:pic>
        <p:nvPicPr>
          <p:cNvPr id="4" name="Image 1" descr="preencoded.png"/>
          <p:cNvPicPr>
            <a:picLocks noChangeAspect="1"/>
          </p:cNvPicPr>
          <p:nvPr/>
        </p:nvPicPr>
        <p:blipFill>
          <a:blip r:embed="rId4"/>
          <a:stretch>
            <a:fillRect/>
          </a:stretch>
        </p:blipFill>
        <p:spPr>
          <a:xfrm>
            <a:off x="760095" y="4317206"/>
            <a:ext cx="542925" cy="542925"/>
          </a:xfrm>
          <a:prstGeom prst="rect">
            <a:avLst/>
          </a:prstGeom>
        </p:spPr>
      </p:pic>
      <p:sp>
        <p:nvSpPr>
          <p:cNvPr id="5" name="Text 1"/>
          <p:cNvSpPr/>
          <p:nvPr/>
        </p:nvSpPr>
        <p:spPr>
          <a:xfrm>
            <a:off x="760095" y="5077301"/>
            <a:ext cx="2714625" cy="339328"/>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High Variance</a:t>
            </a:r>
            <a:endParaRPr lang="en-US" sz="2100" dirty="0"/>
          </a:p>
        </p:txBody>
      </p:sp>
      <p:sp>
        <p:nvSpPr>
          <p:cNvPr id="6" name="Text 2"/>
          <p:cNvSpPr/>
          <p:nvPr/>
        </p:nvSpPr>
        <p:spPr>
          <a:xfrm>
            <a:off x="760095" y="5546884"/>
            <a:ext cx="3033236" cy="1737122"/>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Shows excessive sensitivity to fluctuations in the training data, making the model unstable when presented with new examples.</a:t>
            </a:r>
            <a:endParaRPr lang="en-US" sz="1700" dirty="0"/>
          </a:p>
        </p:txBody>
      </p:sp>
      <p:pic>
        <p:nvPicPr>
          <p:cNvPr id="7" name="Image 2" descr="preencoded.png"/>
          <p:cNvPicPr>
            <a:picLocks noChangeAspect="1"/>
          </p:cNvPicPr>
          <p:nvPr/>
        </p:nvPicPr>
        <p:blipFill>
          <a:blip r:embed="rId5"/>
          <a:stretch>
            <a:fillRect/>
          </a:stretch>
        </p:blipFill>
        <p:spPr>
          <a:xfrm>
            <a:off x="4119086" y="4317206"/>
            <a:ext cx="542925" cy="542925"/>
          </a:xfrm>
          <a:prstGeom prst="rect">
            <a:avLst/>
          </a:prstGeom>
        </p:spPr>
      </p:pic>
      <p:sp>
        <p:nvSpPr>
          <p:cNvPr id="8" name="Text 3"/>
          <p:cNvSpPr/>
          <p:nvPr/>
        </p:nvSpPr>
        <p:spPr>
          <a:xfrm>
            <a:off x="4119086" y="5077301"/>
            <a:ext cx="2714625" cy="339328"/>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Training-Test Gap</a:t>
            </a:r>
            <a:endParaRPr lang="en-US" sz="2100" dirty="0"/>
          </a:p>
        </p:txBody>
      </p:sp>
      <p:sp>
        <p:nvSpPr>
          <p:cNvPr id="9" name="Text 4"/>
          <p:cNvSpPr/>
          <p:nvPr/>
        </p:nvSpPr>
        <p:spPr>
          <a:xfrm>
            <a:off x="4119086" y="5546884"/>
            <a:ext cx="3033236" cy="2084546"/>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Exhibits excellent performance on training data but significantly worse performance on test data, indicating poor generalization.</a:t>
            </a:r>
            <a:endParaRPr lang="en-US" sz="1700" dirty="0"/>
          </a:p>
        </p:txBody>
      </p:sp>
      <p:pic>
        <p:nvPicPr>
          <p:cNvPr id="10" name="Image 3" descr="preencoded.png"/>
          <p:cNvPicPr>
            <a:picLocks noChangeAspect="1"/>
          </p:cNvPicPr>
          <p:nvPr/>
        </p:nvPicPr>
        <p:blipFill>
          <a:blip r:embed="rId6"/>
          <a:stretch>
            <a:fillRect/>
          </a:stretch>
        </p:blipFill>
        <p:spPr>
          <a:xfrm>
            <a:off x="7478078" y="4317206"/>
            <a:ext cx="542925" cy="542925"/>
          </a:xfrm>
          <a:prstGeom prst="rect">
            <a:avLst/>
          </a:prstGeom>
        </p:spPr>
      </p:pic>
      <p:sp>
        <p:nvSpPr>
          <p:cNvPr id="11" name="Text 5"/>
          <p:cNvSpPr/>
          <p:nvPr/>
        </p:nvSpPr>
        <p:spPr>
          <a:xfrm>
            <a:off x="7478078" y="5077301"/>
            <a:ext cx="2714625" cy="339328"/>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Noise Memorization</a:t>
            </a:r>
            <a:endParaRPr lang="en-US" sz="2100" dirty="0"/>
          </a:p>
        </p:txBody>
      </p:sp>
      <p:sp>
        <p:nvSpPr>
          <p:cNvPr id="12" name="Text 6"/>
          <p:cNvSpPr/>
          <p:nvPr/>
        </p:nvSpPr>
        <p:spPr>
          <a:xfrm>
            <a:off x="7478078" y="5546884"/>
            <a:ext cx="3033236" cy="1737122"/>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Learns and incorporates random noise or outliers in the training data as if they were meaningful patterns to be replicated.</a:t>
            </a:r>
            <a:endParaRPr lang="en-US" sz="1700" dirty="0"/>
          </a:p>
        </p:txBody>
      </p:sp>
      <p:pic>
        <p:nvPicPr>
          <p:cNvPr id="13" name="Image 4" descr="preencoded.png"/>
          <p:cNvPicPr>
            <a:picLocks noChangeAspect="1"/>
          </p:cNvPicPr>
          <p:nvPr/>
        </p:nvPicPr>
        <p:blipFill>
          <a:blip r:embed="rId7"/>
          <a:stretch>
            <a:fillRect/>
          </a:stretch>
        </p:blipFill>
        <p:spPr>
          <a:xfrm>
            <a:off x="10837069" y="4317206"/>
            <a:ext cx="542925" cy="542925"/>
          </a:xfrm>
          <a:prstGeom prst="rect">
            <a:avLst/>
          </a:prstGeom>
        </p:spPr>
      </p:pic>
      <p:sp>
        <p:nvSpPr>
          <p:cNvPr id="14" name="Text 7"/>
          <p:cNvSpPr/>
          <p:nvPr/>
        </p:nvSpPr>
        <p:spPr>
          <a:xfrm>
            <a:off x="10837069" y="5077301"/>
            <a:ext cx="2714625" cy="339328"/>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Excessive Detail</a:t>
            </a:r>
            <a:endParaRPr lang="en-US" sz="2100" dirty="0"/>
          </a:p>
        </p:txBody>
      </p:sp>
      <p:sp>
        <p:nvSpPr>
          <p:cNvPr id="15" name="Text 8"/>
          <p:cNvSpPr/>
          <p:nvPr/>
        </p:nvSpPr>
        <p:spPr>
          <a:xfrm>
            <a:off x="10837069" y="5546884"/>
            <a:ext cx="3033236" cy="1737122"/>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Captures too many specific details of the training examples at the expense of learning broader, more generalizable patterns.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43295"/>
            <a:ext cx="7973377"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Why Does Overfitting Occur?</a:t>
            </a:r>
            <a:endParaRPr lang="en-US" sz="4450" dirty="0"/>
          </a:p>
        </p:txBody>
      </p:sp>
      <p:sp>
        <p:nvSpPr>
          <p:cNvPr id="3" name="Text 1"/>
          <p:cNvSpPr/>
          <p:nvPr/>
        </p:nvSpPr>
        <p:spPr>
          <a:xfrm>
            <a:off x="1259205" y="2285524"/>
            <a:ext cx="3889891"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Excessive Model Complexity</a:t>
            </a:r>
            <a:endParaRPr lang="en-US" sz="2200" dirty="0"/>
          </a:p>
        </p:txBody>
      </p:sp>
      <p:sp>
        <p:nvSpPr>
          <p:cNvPr id="4" name="Text 2"/>
          <p:cNvSpPr/>
          <p:nvPr/>
        </p:nvSpPr>
        <p:spPr>
          <a:xfrm>
            <a:off x="793790" y="2775942"/>
            <a:ext cx="4355306" cy="1451610"/>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Using deep neural networks or high-degree polynomials when a simpler model would capture the true relationship more effectively.</a:t>
            </a:r>
            <a:endParaRPr lang="en-US" sz="1750" dirty="0"/>
          </a:p>
        </p:txBody>
      </p:sp>
      <p:pic>
        <p:nvPicPr>
          <p:cNvPr id="5" name="Image 0" descr="preencoded.png"/>
          <p:cNvPicPr>
            <a:picLocks noChangeAspect="1"/>
          </p:cNvPicPr>
          <p:nvPr/>
        </p:nvPicPr>
        <p:blipFill>
          <a:blip r:embed="rId3"/>
          <a:stretch>
            <a:fillRect/>
          </a:stretch>
        </p:blipFill>
        <p:spPr>
          <a:xfrm>
            <a:off x="5489258" y="2870002"/>
            <a:ext cx="3651885" cy="3651885"/>
          </a:xfrm>
          <a:prstGeom prst="rect">
            <a:avLst/>
          </a:prstGeom>
        </p:spPr>
      </p:pic>
      <p:sp>
        <p:nvSpPr>
          <p:cNvPr id="6" name="Shape 3"/>
          <p:cNvSpPr/>
          <p:nvPr/>
        </p:nvSpPr>
        <p:spPr>
          <a:xfrm>
            <a:off x="5609868" y="3379351"/>
            <a:ext cx="566976" cy="566976"/>
          </a:xfrm>
          <a:prstGeom prst="roundRect">
            <a:avLst>
              <a:gd name="adj" fmla="val 1611154"/>
            </a:avLst>
          </a:prstGeom>
          <a:solidFill>
            <a:srgbClr val="F2EEEE"/>
          </a:solidFill>
          <a:ln/>
        </p:spPr>
      </p:sp>
      <p:sp>
        <p:nvSpPr>
          <p:cNvPr id="7" name="Text 4"/>
          <p:cNvSpPr/>
          <p:nvPr/>
        </p:nvSpPr>
        <p:spPr>
          <a:xfrm>
            <a:off x="5843945" y="3436025"/>
            <a:ext cx="9870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1</a:t>
            </a:r>
            <a:endParaRPr lang="en-US" sz="2200" dirty="0"/>
          </a:p>
        </p:txBody>
      </p:sp>
      <p:sp>
        <p:nvSpPr>
          <p:cNvPr id="8" name="Text 5"/>
          <p:cNvSpPr/>
          <p:nvPr/>
        </p:nvSpPr>
        <p:spPr>
          <a:xfrm>
            <a:off x="9481304" y="1805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Feature Overload</a:t>
            </a:r>
            <a:endParaRPr lang="en-US" sz="2200" dirty="0"/>
          </a:p>
        </p:txBody>
      </p:sp>
      <p:sp>
        <p:nvSpPr>
          <p:cNvPr id="9" name="Text 6"/>
          <p:cNvSpPr/>
          <p:nvPr/>
        </p:nvSpPr>
        <p:spPr>
          <a:xfrm>
            <a:off x="9481304" y="2296120"/>
            <a:ext cx="4355306" cy="1451610"/>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Including too many features, especially irrelevant ones, giving the model too many dimensions to fit noise rather than signal.</a:t>
            </a:r>
            <a:endParaRPr lang="en-US" sz="1750" dirty="0"/>
          </a:p>
        </p:txBody>
      </p:sp>
      <p:pic>
        <p:nvPicPr>
          <p:cNvPr id="10" name="Image 1" descr="preencoded.png"/>
          <p:cNvPicPr>
            <a:picLocks noChangeAspect="1"/>
          </p:cNvPicPr>
          <p:nvPr/>
        </p:nvPicPr>
        <p:blipFill>
          <a:blip r:embed="rId4"/>
          <a:stretch>
            <a:fillRect/>
          </a:stretch>
        </p:blipFill>
        <p:spPr>
          <a:xfrm>
            <a:off x="5489258" y="2870002"/>
            <a:ext cx="3651885" cy="3651885"/>
          </a:xfrm>
          <a:prstGeom prst="rect">
            <a:avLst/>
          </a:prstGeom>
        </p:spPr>
      </p:pic>
      <p:sp>
        <p:nvSpPr>
          <p:cNvPr id="11" name="Shape 7"/>
          <p:cNvSpPr/>
          <p:nvPr/>
        </p:nvSpPr>
        <p:spPr>
          <a:xfrm>
            <a:off x="7574756" y="2740938"/>
            <a:ext cx="566976" cy="566976"/>
          </a:xfrm>
          <a:prstGeom prst="roundRect">
            <a:avLst>
              <a:gd name="adj" fmla="val 1611154"/>
            </a:avLst>
          </a:prstGeom>
          <a:solidFill>
            <a:srgbClr val="F2EEEE"/>
          </a:solidFill>
          <a:ln/>
        </p:spPr>
      </p:sp>
      <p:sp>
        <p:nvSpPr>
          <p:cNvPr id="12" name="Text 8"/>
          <p:cNvSpPr/>
          <p:nvPr/>
        </p:nvSpPr>
        <p:spPr>
          <a:xfrm>
            <a:off x="7776448" y="2797612"/>
            <a:ext cx="163592"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2</a:t>
            </a:r>
            <a:endParaRPr lang="en-US" sz="2200" dirty="0"/>
          </a:p>
        </p:txBody>
      </p:sp>
      <p:sp>
        <p:nvSpPr>
          <p:cNvPr id="13" name="Text 9"/>
          <p:cNvSpPr/>
          <p:nvPr/>
        </p:nvSpPr>
        <p:spPr>
          <a:xfrm>
            <a:off x="9594771" y="40878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Data Scarcity</a:t>
            </a:r>
            <a:endParaRPr lang="en-US" sz="2200" dirty="0"/>
          </a:p>
        </p:txBody>
      </p:sp>
      <p:sp>
        <p:nvSpPr>
          <p:cNvPr id="14" name="Text 10"/>
          <p:cNvSpPr/>
          <p:nvPr/>
        </p:nvSpPr>
        <p:spPr>
          <a:xfrm>
            <a:off x="9594771" y="4578310"/>
            <a:ext cx="4241840"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Having insufficient training examples relative to model complexity, making it easier to memorize than generalize.</a:t>
            </a:r>
            <a:endParaRPr lang="en-US" sz="1750" dirty="0"/>
          </a:p>
        </p:txBody>
      </p:sp>
      <p:pic>
        <p:nvPicPr>
          <p:cNvPr id="15" name="Image 2" descr="preencoded.png"/>
          <p:cNvPicPr>
            <a:picLocks noChangeAspect="1"/>
          </p:cNvPicPr>
          <p:nvPr/>
        </p:nvPicPr>
        <p:blipFill>
          <a:blip r:embed="rId5"/>
          <a:stretch>
            <a:fillRect/>
          </a:stretch>
        </p:blipFill>
        <p:spPr>
          <a:xfrm>
            <a:off x="5489258" y="2870002"/>
            <a:ext cx="3651885" cy="3651885"/>
          </a:xfrm>
          <a:prstGeom prst="rect">
            <a:avLst/>
          </a:prstGeom>
        </p:spPr>
      </p:pic>
      <p:sp>
        <p:nvSpPr>
          <p:cNvPr id="16" name="Shape 11"/>
          <p:cNvSpPr/>
          <p:nvPr/>
        </p:nvSpPr>
        <p:spPr>
          <a:xfrm>
            <a:off x="8789075" y="4412456"/>
            <a:ext cx="566976" cy="566976"/>
          </a:xfrm>
          <a:prstGeom prst="roundRect">
            <a:avLst>
              <a:gd name="adj" fmla="val 1611154"/>
            </a:avLst>
          </a:prstGeom>
          <a:solidFill>
            <a:srgbClr val="F2EEEE"/>
          </a:solidFill>
          <a:ln/>
        </p:spPr>
      </p:sp>
      <p:sp>
        <p:nvSpPr>
          <p:cNvPr id="17" name="Text 12"/>
          <p:cNvSpPr/>
          <p:nvPr/>
        </p:nvSpPr>
        <p:spPr>
          <a:xfrm>
            <a:off x="8987671" y="4469130"/>
            <a:ext cx="16978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3</a:t>
            </a:r>
            <a:endParaRPr lang="en-US" sz="2200" dirty="0"/>
          </a:p>
        </p:txBody>
      </p:sp>
      <p:sp>
        <p:nvSpPr>
          <p:cNvPr id="18" name="Text 13"/>
          <p:cNvSpPr/>
          <p:nvPr/>
        </p:nvSpPr>
        <p:spPr>
          <a:xfrm>
            <a:off x="9481304" y="6007179"/>
            <a:ext cx="3539847"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Insufficient Regularization</a:t>
            </a:r>
            <a:endParaRPr lang="en-US" sz="2200" dirty="0"/>
          </a:p>
        </p:txBody>
      </p:sp>
      <p:sp>
        <p:nvSpPr>
          <p:cNvPr id="19" name="Text 14"/>
          <p:cNvSpPr/>
          <p:nvPr/>
        </p:nvSpPr>
        <p:spPr>
          <a:xfrm>
            <a:off x="9481304" y="6497598"/>
            <a:ext cx="4355306"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Lacking appropriate constraints that would prevent the model from fitting to noise in the training data.</a:t>
            </a:r>
            <a:endParaRPr lang="en-US" sz="1750" dirty="0"/>
          </a:p>
        </p:txBody>
      </p:sp>
      <p:pic>
        <p:nvPicPr>
          <p:cNvPr id="20" name="Image 3" descr="preencoded.png"/>
          <p:cNvPicPr>
            <a:picLocks noChangeAspect="1"/>
          </p:cNvPicPr>
          <p:nvPr/>
        </p:nvPicPr>
        <p:blipFill>
          <a:blip r:embed="rId6"/>
          <a:stretch>
            <a:fillRect/>
          </a:stretch>
        </p:blipFill>
        <p:spPr>
          <a:xfrm>
            <a:off x="5489258" y="2870002"/>
            <a:ext cx="3651885" cy="3651885"/>
          </a:xfrm>
          <a:prstGeom prst="rect">
            <a:avLst/>
          </a:prstGeom>
        </p:spPr>
      </p:pic>
      <p:sp>
        <p:nvSpPr>
          <p:cNvPr id="21" name="Shape 15"/>
          <p:cNvSpPr/>
          <p:nvPr/>
        </p:nvSpPr>
        <p:spPr>
          <a:xfrm>
            <a:off x="7574756" y="6083856"/>
            <a:ext cx="566976" cy="566976"/>
          </a:xfrm>
          <a:prstGeom prst="roundRect">
            <a:avLst>
              <a:gd name="adj" fmla="val 1611154"/>
            </a:avLst>
          </a:prstGeom>
          <a:solidFill>
            <a:srgbClr val="F2EEEE"/>
          </a:solidFill>
          <a:ln/>
        </p:spPr>
      </p:sp>
      <p:sp>
        <p:nvSpPr>
          <p:cNvPr id="22" name="Text 16"/>
          <p:cNvSpPr/>
          <p:nvPr/>
        </p:nvSpPr>
        <p:spPr>
          <a:xfrm>
            <a:off x="7767757" y="6140529"/>
            <a:ext cx="180856"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4</a:t>
            </a:r>
            <a:endParaRPr lang="en-US" sz="2200" dirty="0"/>
          </a:p>
        </p:txBody>
      </p:sp>
      <p:sp>
        <p:nvSpPr>
          <p:cNvPr id="23" name="Text 17"/>
          <p:cNvSpPr/>
          <p:nvPr/>
        </p:nvSpPr>
        <p:spPr>
          <a:xfrm>
            <a:off x="2313861" y="5345906"/>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Excessive Training</a:t>
            </a:r>
            <a:endParaRPr lang="en-US" sz="2200" dirty="0"/>
          </a:p>
        </p:txBody>
      </p:sp>
      <p:sp>
        <p:nvSpPr>
          <p:cNvPr id="24" name="Text 18"/>
          <p:cNvSpPr/>
          <p:nvPr/>
        </p:nvSpPr>
        <p:spPr>
          <a:xfrm>
            <a:off x="793790" y="5836325"/>
            <a:ext cx="4355306" cy="1451610"/>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Training for too many iterations, allowing the model to progressively fit to noise after capturing the true patterns.</a:t>
            </a:r>
            <a:endParaRPr lang="en-US" sz="1750" dirty="0"/>
          </a:p>
        </p:txBody>
      </p:sp>
      <p:pic>
        <p:nvPicPr>
          <p:cNvPr id="25" name="Image 4" descr="preencoded.png"/>
          <p:cNvPicPr>
            <a:picLocks noChangeAspect="1"/>
          </p:cNvPicPr>
          <p:nvPr/>
        </p:nvPicPr>
        <p:blipFill>
          <a:blip r:embed="rId7"/>
          <a:stretch>
            <a:fillRect/>
          </a:stretch>
        </p:blipFill>
        <p:spPr>
          <a:xfrm>
            <a:off x="5489258" y="2870002"/>
            <a:ext cx="3651885" cy="3651885"/>
          </a:xfrm>
          <a:prstGeom prst="rect">
            <a:avLst/>
          </a:prstGeom>
        </p:spPr>
      </p:pic>
      <p:sp>
        <p:nvSpPr>
          <p:cNvPr id="26" name="Shape 19"/>
          <p:cNvSpPr/>
          <p:nvPr/>
        </p:nvSpPr>
        <p:spPr>
          <a:xfrm>
            <a:off x="5609868" y="5445443"/>
            <a:ext cx="566976" cy="566976"/>
          </a:xfrm>
          <a:prstGeom prst="roundRect">
            <a:avLst>
              <a:gd name="adj" fmla="val 1611154"/>
            </a:avLst>
          </a:prstGeom>
          <a:solidFill>
            <a:srgbClr val="F2EEEE"/>
          </a:solidFill>
          <a:ln/>
        </p:spPr>
      </p:sp>
      <p:sp>
        <p:nvSpPr>
          <p:cNvPr id="27" name="Text 20"/>
          <p:cNvSpPr/>
          <p:nvPr/>
        </p:nvSpPr>
        <p:spPr>
          <a:xfrm>
            <a:off x="5805726" y="5502116"/>
            <a:ext cx="175141"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5</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814155"/>
            <a:ext cx="8928259"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How to Tackle Overfitting - Part 1</a:t>
            </a:r>
            <a:endParaRPr lang="en-US" sz="4450" dirty="0"/>
          </a:p>
        </p:txBody>
      </p:sp>
      <p:sp>
        <p:nvSpPr>
          <p:cNvPr id="3" name="Text 1"/>
          <p:cNvSpPr/>
          <p:nvPr/>
        </p:nvSpPr>
        <p:spPr>
          <a:xfrm>
            <a:off x="793790" y="308991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Simplify Your Model</a:t>
            </a:r>
            <a:endParaRPr lang="en-US" sz="2200" dirty="0"/>
          </a:p>
        </p:txBody>
      </p:sp>
      <p:sp>
        <p:nvSpPr>
          <p:cNvPr id="4" name="Text 2"/>
          <p:cNvSpPr/>
          <p:nvPr/>
        </p:nvSpPr>
        <p:spPr>
          <a:xfrm>
            <a:off x="793790" y="3671054"/>
            <a:ext cx="3978116"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Reduce the complexity by limiting deep layers in neural networks, decreasing polynomial degrees, or pruning decision trees. Choose the simplest model that adequately captures the relationship in your data.</a:t>
            </a:r>
            <a:endParaRPr lang="en-US" sz="1750" dirty="0"/>
          </a:p>
        </p:txBody>
      </p:sp>
      <p:sp>
        <p:nvSpPr>
          <p:cNvPr id="5" name="Text 3"/>
          <p:cNvSpPr/>
          <p:nvPr/>
        </p:nvSpPr>
        <p:spPr>
          <a:xfrm>
            <a:off x="5332928" y="3089910"/>
            <a:ext cx="3579614"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Gather More Training Data</a:t>
            </a:r>
            <a:endParaRPr lang="en-US" sz="2200" dirty="0"/>
          </a:p>
        </p:txBody>
      </p:sp>
      <p:sp>
        <p:nvSpPr>
          <p:cNvPr id="6" name="Text 4"/>
          <p:cNvSpPr/>
          <p:nvPr/>
        </p:nvSpPr>
        <p:spPr>
          <a:xfrm>
            <a:off x="5332928" y="3671054"/>
            <a:ext cx="3978116"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Increase your dataset size through additional data collection or augmentation techniques (especially useful for image data). More diverse training examples make memorization harder and generalization more likely.</a:t>
            </a:r>
            <a:endParaRPr lang="en-US" sz="1750" dirty="0"/>
          </a:p>
        </p:txBody>
      </p:sp>
      <p:sp>
        <p:nvSpPr>
          <p:cNvPr id="7" name="Text 5"/>
          <p:cNvSpPr/>
          <p:nvPr/>
        </p:nvSpPr>
        <p:spPr>
          <a:xfrm>
            <a:off x="9872067" y="308991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Apply Regularization</a:t>
            </a:r>
            <a:endParaRPr lang="en-US" sz="2200" dirty="0"/>
          </a:p>
        </p:txBody>
      </p:sp>
      <p:sp>
        <p:nvSpPr>
          <p:cNvPr id="8" name="Text 6"/>
          <p:cNvSpPr/>
          <p:nvPr/>
        </p:nvSpPr>
        <p:spPr>
          <a:xfrm>
            <a:off x="9872067" y="3671054"/>
            <a:ext cx="3978116" cy="2540318"/>
          </a:xfrm>
          <a:prstGeom prst="rect">
            <a:avLst/>
          </a:prstGeom>
          <a:noFill/>
          <a:ln/>
        </p:spPr>
        <p:txBody>
          <a:bodyPr wrap="square" lIns="0" tIns="0" rIns="0" bIns="0" rtlCol="0" anchor="t"/>
          <a:lstStyle/>
          <a:p>
            <a:pPr marL="0" indent="0">
              <a:lnSpc>
                <a:spcPts val="2850"/>
              </a:lnSpc>
              <a:buNone/>
            </a:pPr>
            <a:r>
              <a:rPr lang="en-US" sz="1750" dirty="0">
                <a:solidFill>
                  <a:srgbClr val="464646"/>
                </a:solidFill>
                <a:latin typeface="Inter Medium" pitchFamily="34" charset="0"/>
                <a:ea typeface="Inter Medium" pitchFamily="34" charset="-122"/>
                <a:cs typeface="Inter Medium" pitchFamily="34" charset="-120"/>
              </a:rPr>
              <a:t>Implement L1 (Lasso) or L2 (Ridge) regularization to penalize large coefficients and encourage simpler models. For neural networks, techniques like dropout randomly disable nodes during training to improve generalization.</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6602" y="804029"/>
            <a:ext cx="7532608" cy="589478"/>
          </a:xfrm>
          <a:prstGeom prst="rect">
            <a:avLst/>
          </a:prstGeom>
          <a:noFill/>
          <a:ln/>
        </p:spPr>
        <p:txBody>
          <a:bodyPr wrap="none" lIns="0" tIns="0" rIns="0" bIns="0" rtlCol="0" anchor="t"/>
          <a:lstStyle/>
          <a:p>
            <a:pPr marL="0" indent="0">
              <a:lnSpc>
                <a:spcPts val="4600"/>
              </a:lnSpc>
              <a:buNone/>
            </a:pPr>
            <a:r>
              <a:rPr lang="en-US" sz="3700" dirty="0">
                <a:solidFill>
                  <a:srgbClr val="030303"/>
                </a:solidFill>
                <a:latin typeface="DM Sans Semi Bold" pitchFamily="34" charset="0"/>
                <a:ea typeface="DM Sans Semi Bold" pitchFamily="34" charset="-122"/>
                <a:cs typeface="DM Sans Semi Bold" pitchFamily="34" charset="-120"/>
              </a:rPr>
              <a:t>How to Tackle Overfitting - Part 2</a:t>
            </a:r>
            <a:endParaRPr lang="en-US" sz="3700" dirty="0"/>
          </a:p>
        </p:txBody>
      </p:sp>
      <p:sp>
        <p:nvSpPr>
          <p:cNvPr id="4" name="Shape 1"/>
          <p:cNvSpPr/>
          <p:nvPr/>
        </p:nvSpPr>
        <p:spPr>
          <a:xfrm>
            <a:off x="6418064" y="1676400"/>
            <a:ext cx="22860" cy="5749171"/>
          </a:xfrm>
          <a:prstGeom prst="roundRect">
            <a:avLst>
              <a:gd name="adj" fmla="val 123774"/>
            </a:avLst>
          </a:prstGeom>
          <a:solidFill>
            <a:srgbClr val="D8D4D4"/>
          </a:solidFill>
          <a:ln/>
        </p:spPr>
      </p:sp>
      <p:sp>
        <p:nvSpPr>
          <p:cNvPr id="5" name="Shape 2"/>
          <p:cNvSpPr/>
          <p:nvPr/>
        </p:nvSpPr>
        <p:spPr>
          <a:xfrm>
            <a:off x="6618803" y="2089309"/>
            <a:ext cx="660202" cy="22860"/>
          </a:xfrm>
          <a:prstGeom prst="roundRect">
            <a:avLst>
              <a:gd name="adj" fmla="val 123774"/>
            </a:avLst>
          </a:prstGeom>
          <a:solidFill>
            <a:srgbClr val="D8D4D4"/>
          </a:solidFill>
          <a:ln/>
        </p:spPr>
      </p:sp>
      <p:sp>
        <p:nvSpPr>
          <p:cNvPr id="6" name="Shape 3"/>
          <p:cNvSpPr/>
          <p:nvPr/>
        </p:nvSpPr>
        <p:spPr>
          <a:xfrm>
            <a:off x="6217325" y="1888569"/>
            <a:ext cx="424339" cy="424339"/>
          </a:xfrm>
          <a:prstGeom prst="roundRect">
            <a:avLst>
              <a:gd name="adj" fmla="val 6668"/>
            </a:avLst>
          </a:prstGeom>
          <a:solidFill>
            <a:srgbClr val="F2EEEE"/>
          </a:solidFill>
          <a:ln/>
        </p:spPr>
      </p:sp>
      <p:sp>
        <p:nvSpPr>
          <p:cNvPr id="7" name="Text 4"/>
          <p:cNvSpPr/>
          <p:nvPr/>
        </p:nvSpPr>
        <p:spPr>
          <a:xfrm>
            <a:off x="6380202" y="1959293"/>
            <a:ext cx="98465" cy="282893"/>
          </a:xfrm>
          <a:prstGeom prst="rect">
            <a:avLst/>
          </a:prstGeom>
          <a:noFill/>
          <a:ln/>
        </p:spPr>
        <p:txBody>
          <a:bodyPr wrap="none" lIns="0" tIns="0" rIns="0" bIns="0" rtlCol="0" anchor="t"/>
          <a:lstStyle/>
          <a:p>
            <a:pPr marL="0" indent="0" algn="ctr">
              <a:lnSpc>
                <a:spcPts val="2200"/>
              </a:lnSpc>
              <a:buNone/>
            </a:pPr>
            <a:r>
              <a:rPr lang="en-US" sz="2200" dirty="0">
                <a:solidFill>
                  <a:srgbClr val="464646"/>
                </a:solidFill>
                <a:latin typeface="DM Sans Semi Bold" pitchFamily="34" charset="0"/>
                <a:ea typeface="DM Sans Semi Bold" pitchFamily="34" charset="-122"/>
                <a:cs typeface="DM Sans Semi Bold" pitchFamily="34" charset="-120"/>
              </a:rPr>
              <a:t>1</a:t>
            </a:r>
            <a:endParaRPr lang="en-US" sz="2200" dirty="0"/>
          </a:p>
        </p:txBody>
      </p:sp>
      <p:sp>
        <p:nvSpPr>
          <p:cNvPr id="8" name="Text 5"/>
          <p:cNvSpPr/>
          <p:nvPr/>
        </p:nvSpPr>
        <p:spPr>
          <a:xfrm>
            <a:off x="7466886" y="1864995"/>
            <a:ext cx="3694867" cy="294680"/>
          </a:xfrm>
          <a:prstGeom prst="rect">
            <a:avLst/>
          </a:prstGeom>
          <a:noFill/>
          <a:ln/>
        </p:spPr>
        <p:txBody>
          <a:bodyPr wrap="none" lIns="0" tIns="0" rIns="0" bIns="0" rtlCol="0" anchor="t"/>
          <a:lstStyle/>
          <a:p>
            <a:pPr marL="0" indent="0" algn="l">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Feature Selection and Reduction</a:t>
            </a:r>
            <a:endParaRPr lang="en-US" sz="1850" dirty="0"/>
          </a:p>
        </p:txBody>
      </p:sp>
      <p:sp>
        <p:nvSpPr>
          <p:cNvPr id="9" name="Text 6"/>
          <p:cNvSpPr/>
          <p:nvPr/>
        </p:nvSpPr>
        <p:spPr>
          <a:xfrm>
            <a:off x="7466886" y="2272784"/>
            <a:ext cx="6503313" cy="1206818"/>
          </a:xfrm>
          <a:prstGeom prst="rect">
            <a:avLst/>
          </a:prstGeom>
          <a:noFill/>
          <a:ln/>
        </p:spPr>
        <p:txBody>
          <a:bodyPr wrap="square" lIns="0" tIns="0" rIns="0" bIns="0" rtlCol="0" anchor="t"/>
          <a:lstStyle/>
          <a:p>
            <a:pPr marL="0" indent="0" algn="l">
              <a:lnSpc>
                <a:spcPts val="2350"/>
              </a:lnSpc>
              <a:buNone/>
            </a:pPr>
            <a:r>
              <a:rPr lang="en-US" sz="1450" dirty="0">
                <a:solidFill>
                  <a:srgbClr val="464646"/>
                </a:solidFill>
                <a:latin typeface="Inter Medium" pitchFamily="34" charset="0"/>
                <a:ea typeface="Inter Medium" pitchFamily="34" charset="-122"/>
                <a:cs typeface="Inter Medium" pitchFamily="34" charset="-120"/>
              </a:rPr>
              <a:t>Systematically identify and remove irrelevant or redundant features using techniques like PCA, feature importance ranking, or L1 regularization. Fewer features mean fewer opportunities for the model to fit to noise.</a:t>
            </a:r>
            <a:endParaRPr lang="en-US" sz="1450" dirty="0"/>
          </a:p>
        </p:txBody>
      </p:sp>
      <p:sp>
        <p:nvSpPr>
          <p:cNvPr id="10" name="Shape 7"/>
          <p:cNvSpPr/>
          <p:nvPr/>
        </p:nvSpPr>
        <p:spPr>
          <a:xfrm>
            <a:off x="6618803" y="4269700"/>
            <a:ext cx="660202" cy="22860"/>
          </a:xfrm>
          <a:prstGeom prst="roundRect">
            <a:avLst>
              <a:gd name="adj" fmla="val 123774"/>
            </a:avLst>
          </a:prstGeom>
          <a:solidFill>
            <a:srgbClr val="D8D4D4"/>
          </a:solidFill>
          <a:ln/>
        </p:spPr>
      </p:sp>
      <p:sp>
        <p:nvSpPr>
          <p:cNvPr id="11" name="Shape 8"/>
          <p:cNvSpPr/>
          <p:nvPr/>
        </p:nvSpPr>
        <p:spPr>
          <a:xfrm>
            <a:off x="6217325" y="4068961"/>
            <a:ext cx="424339" cy="424339"/>
          </a:xfrm>
          <a:prstGeom prst="roundRect">
            <a:avLst>
              <a:gd name="adj" fmla="val 6668"/>
            </a:avLst>
          </a:prstGeom>
          <a:solidFill>
            <a:srgbClr val="F2EEEE"/>
          </a:solidFill>
          <a:ln/>
        </p:spPr>
      </p:sp>
      <p:sp>
        <p:nvSpPr>
          <p:cNvPr id="12" name="Text 9"/>
          <p:cNvSpPr/>
          <p:nvPr/>
        </p:nvSpPr>
        <p:spPr>
          <a:xfrm>
            <a:off x="6347817" y="4139684"/>
            <a:ext cx="163235" cy="282893"/>
          </a:xfrm>
          <a:prstGeom prst="rect">
            <a:avLst/>
          </a:prstGeom>
          <a:noFill/>
          <a:ln/>
        </p:spPr>
        <p:txBody>
          <a:bodyPr wrap="none" lIns="0" tIns="0" rIns="0" bIns="0" rtlCol="0" anchor="t"/>
          <a:lstStyle/>
          <a:p>
            <a:pPr marL="0" indent="0" algn="ctr">
              <a:lnSpc>
                <a:spcPts val="2200"/>
              </a:lnSpc>
              <a:buNone/>
            </a:pPr>
            <a:r>
              <a:rPr lang="en-US" sz="2200" dirty="0">
                <a:solidFill>
                  <a:srgbClr val="464646"/>
                </a:solidFill>
                <a:latin typeface="DM Sans Semi Bold" pitchFamily="34" charset="0"/>
                <a:ea typeface="DM Sans Semi Bold" pitchFamily="34" charset="-122"/>
                <a:cs typeface="DM Sans Semi Bold" pitchFamily="34" charset="-120"/>
              </a:rPr>
              <a:t>2</a:t>
            </a:r>
            <a:endParaRPr lang="en-US" sz="2200" dirty="0"/>
          </a:p>
        </p:txBody>
      </p:sp>
      <p:sp>
        <p:nvSpPr>
          <p:cNvPr id="13" name="Text 10"/>
          <p:cNvSpPr/>
          <p:nvPr/>
        </p:nvSpPr>
        <p:spPr>
          <a:xfrm>
            <a:off x="7466886" y="4045387"/>
            <a:ext cx="2357795" cy="294680"/>
          </a:xfrm>
          <a:prstGeom prst="rect">
            <a:avLst/>
          </a:prstGeom>
          <a:noFill/>
          <a:ln/>
        </p:spPr>
        <p:txBody>
          <a:bodyPr wrap="none" lIns="0" tIns="0" rIns="0" bIns="0" rtlCol="0" anchor="t"/>
          <a:lstStyle/>
          <a:p>
            <a:pPr marL="0" indent="0" algn="l">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Early Stopping</a:t>
            </a:r>
            <a:endParaRPr lang="en-US" sz="1850" dirty="0"/>
          </a:p>
        </p:txBody>
      </p:sp>
      <p:sp>
        <p:nvSpPr>
          <p:cNvPr id="14" name="Text 11"/>
          <p:cNvSpPr/>
          <p:nvPr/>
        </p:nvSpPr>
        <p:spPr>
          <a:xfrm>
            <a:off x="7466886" y="4453176"/>
            <a:ext cx="6503313" cy="905113"/>
          </a:xfrm>
          <a:prstGeom prst="rect">
            <a:avLst/>
          </a:prstGeom>
          <a:noFill/>
          <a:ln/>
        </p:spPr>
        <p:txBody>
          <a:bodyPr wrap="square" lIns="0" tIns="0" rIns="0" bIns="0" rtlCol="0" anchor="t"/>
          <a:lstStyle/>
          <a:p>
            <a:pPr marL="0" indent="0" algn="l">
              <a:lnSpc>
                <a:spcPts val="2350"/>
              </a:lnSpc>
              <a:buNone/>
            </a:pPr>
            <a:r>
              <a:rPr lang="en-US" sz="1450" dirty="0">
                <a:solidFill>
                  <a:srgbClr val="464646"/>
                </a:solidFill>
                <a:latin typeface="Inter Medium" pitchFamily="34" charset="0"/>
                <a:ea typeface="Inter Medium" pitchFamily="34" charset="-122"/>
                <a:cs typeface="Inter Medium" pitchFamily="34" charset="-120"/>
              </a:rPr>
              <a:t>Monitor validation performance during training and stop when validation error begins to increase, even if training error continues to decrease. This prevents the model from progressing into overfitting territory.</a:t>
            </a:r>
            <a:endParaRPr lang="en-US" sz="1450" dirty="0"/>
          </a:p>
        </p:txBody>
      </p:sp>
      <p:sp>
        <p:nvSpPr>
          <p:cNvPr id="15" name="Shape 12"/>
          <p:cNvSpPr/>
          <p:nvPr/>
        </p:nvSpPr>
        <p:spPr>
          <a:xfrm>
            <a:off x="6618803" y="6148388"/>
            <a:ext cx="660202" cy="22860"/>
          </a:xfrm>
          <a:prstGeom prst="roundRect">
            <a:avLst>
              <a:gd name="adj" fmla="val 123774"/>
            </a:avLst>
          </a:prstGeom>
          <a:solidFill>
            <a:srgbClr val="D8D4D4"/>
          </a:solidFill>
          <a:ln/>
        </p:spPr>
      </p:sp>
      <p:sp>
        <p:nvSpPr>
          <p:cNvPr id="16" name="Shape 13"/>
          <p:cNvSpPr/>
          <p:nvPr/>
        </p:nvSpPr>
        <p:spPr>
          <a:xfrm>
            <a:off x="6217325" y="5947648"/>
            <a:ext cx="424339" cy="424339"/>
          </a:xfrm>
          <a:prstGeom prst="roundRect">
            <a:avLst>
              <a:gd name="adj" fmla="val 6668"/>
            </a:avLst>
          </a:prstGeom>
          <a:solidFill>
            <a:srgbClr val="F2EEEE"/>
          </a:solidFill>
          <a:ln/>
        </p:spPr>
      </p:sp>
      <p:sp>
        <p:nvSpPr>
          <p:cNvPr id="17" name="Text 14"/>
          <p:cNvSpPr/>
          <p:nvPr/>
        </p:nvSpPr>
        <p:spPr>
          <a:xfrm>
            <a:off x="6344722" y="6018371"/>
            <a:ext cx="169545" cy="282893"/>
          </a:xfrm>
          <a:prstGeom prst="rect">
            <a:avLst/>
          </a:prstGeom>
          <a:noFill/>
          <a:ln/>
        </p:spPr>
        <p:txBody>
          <a:bodyPr wrap="none" lIns="0" tIns="0" rIns="0" bIns="0" rtlCol="0" anchor="t"/>
          <a:lstStyle/>
          <a:p>
            <a:pPr marL="0" indent="0" algn="ctr">
              <a:lnSpc>
                <a:spcPts val="2200"/>
              </a:lnSpc>
              <a:buNone/>
            </a:pPr>
            <a:r>
              <a:rPr lang="en-US" sz="2200" dirty="0">
                <a:solidFill>
                  <a:srgbClr val="464646"/>
                </a:solidFill>
                <a:latin typeface="DM Sans Semi Bold" pitchFamily="34" charset="0"/>
                <a:ea typeface="DM Sans Semi Bold" pitchFamily="34" charset="-122"/>
                <a:cs typeface="DM Sans Semi Bold" pitchFamily="34" charset="-120"/>
              </a:rPr>
              <a:t>3</a:t>
            </a:r>
            <a:endParaRPr lang="en-US" sz="2200" dirty="0"/>
          </a:p>
        </p:txBody>
      </p:sp>
      <p:sp>
        <p:nvSpPr>
          <p:cNvPr id="18" name="Text 15"/>
          <p:cNvSpPr/>
          <p:nvPr/>
        </p:nvSpPr>
        <p:spPr>
          <a:xfrm>
            <a:off x="7466886" y="5924074"/>
            <a:ext cx="2357795" cy="294680"/>
          </a:xfrm>
          <a:prstGeom prst="rect">
            <a:avLst/>
          </a:prstGeom>
          <a:noFill/>
          <a:ln/>
        </p:spPr>
        <p:txBody>
          <a:bodyPr wrap="none" lIns="0" tIns="0" rIns="0" bIns="0" rtlCol="0" anchor="t"/>
          <a:lstStyle/>
          <a:p>
            <a:pPr marL="0" indent="0" algn="l">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Cross-Validation</a:t>
            </a:r>
            <a:endParaRPr lang="en-US" sz="1850" dirty="0"/>
          </a:p>
        </p:txBody>
      </p:sp>
      <p:sp>
        <p:nvSpPr>
          <p:cNvPr id="19" name="Text 16"/>
          <p:cNvSpPr/>
          <p:nvPr/>
        </p:nvSpPr>
        <p:spPr>
          <a:xfrm>
            <a:off x="7466886" y="6331863"/>
            <a:ext cx="6503313" cy="905113"/>
          </a:xfrm>
          <a:prstGeom prst="rect">
            <a:avLst/>
          </a:prstGeom>
          <a:noFill/>
          <a:ln/>
        </p:spPr>
        <p:txBody>
          <a:bodyPr wrap="square" lIns="0" tIns="0" rIns="0" bIns="0" rtlCol="0" anchor="t"/>
          <a:lstStyle/>
          <a:p>
            <a:pPr marL="0" indent="0" algn="l">
              <a:lnSpc>
                <a:spcPts val="2350"/>
              </a:lnSpc>
              <a:buNone/>
            </a:pPr>
            <a:r>
              <a:rPr lang="en-US" sz="1450" dirty="0">
                <a:solidFill>
                  <a:srgbClr val="464646"/>
                </a:solidFill>
                <a:latin typeface="Inter Medium" pitchFamily="34" charset="0"/>
                <a:ea typeface="Inter Medium" pitchFamily="34" charset="-122"/>
                <a:cs typeface="Inter Medium" pitchFamily="34" charset="-120"/>
              </a:rPr>
              <a:t>Implement k-fold cross-validation to ensure your model performs consistently across different subsets of data. This provides a more reliable estimate of model performance on unseen data.</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67596" y="718185"/>
            <a:ext cx="8769548" cy="685324"/>
          </a:xfrm>
          <a:prstGeom prst="rect">
            <a:avLst/>
          </a:prstGeom>
          <a:noFill/>
          <a:ln/>
        </p:spPr>
        <p:txBody>
          <a:bodyPr wrap="none" lIns="0" tIns="0" rIns="0" bIns="0" rtlCol="0" anchor="t"/>
          <a:lstStyle/>
          <a:p>
            <a:pPr marL="0" indent="0">
              <a:lnSpc>
                <a:spcPts val="5350"/>
              </a:lnSpc>
              <a:buNone/>
            </a:pPr>
            <a:r>
              <a:rPr lang="en-US" sz="4300" dirty="0">
                <a:solidFill>
                  <a:srgbClr val="030303"/>
                </a:solidFill>
                <a:latin typeface="DM Sans Semi Bold" pitchFamily="34" charset="0"/>
                <a:ea typeface="DM Sans Semi Bold" pitchFamily="34" charset="-122"/>
                <a:cs typeface="DM Sans Semi Bold" pitchFamily="34" charset="-120"/>
              </a:rPr>
              <a:t>How to Tackle Overfitting - Part 3</a:t>
            </a:r>
            <a:endParaRPr lang="en-US" sz="4300" dirty="0"/>
          </a:p>
        </p:txBody>
      </p:sp>
      <p:pic>
        <p:nvPicPr>
          <p:cNvPr id="3" name="Image 0" descr="preencoded.png"/>
          <p:cNvPicPr>
            <a:picLocks noChangeAspect="1"/>
          </p:cNvPicPr>
          <p:nvPr/>
        </p:nvPicPr>
        <p:blipFill>
          <a:blip r:embed="rId3"/>
          <a:stretch>
            <a:fillRect/>
          </a:stretch>
        </p:blipFill>
        <p:spPr>
          <a:xfrm>
            <a:off x="775216" y="1983581"/>
            <a:ext cx="3138368" cy="3138368"/>
          </a:xfrm>
          <a:prstGeom prst="rect">
            <a:avLst/>
          </a:prstGeom>
        </p:spPr>
      </p:pic>
      <p:pic>
        <p:nvPicPr>
          <p:cNvPr id="4" name="Image 1" descr="preencoded.png"/>
          <p:cNvPicPr>
            <a:picLocks noChangeAspect="1"/>
          </p:cNvPicPr>
          <p:nvPr/>
        </p:nvPicPr>
        <p:blipFill>
          <a:blip r:embed="rId4"/>
          <a:stretch>
            <a:fillRect/>
          </a:stretch>
        </p:blipFill>
        <p:spPr>
          <a:xfrm>
            <a:off x="4088963" y="1983581"/>
            <a:ext cx="3138488" cy="3138488"/>
          </a:xfrm>
          <a:prstGeom prst="rect">
            <a:avLst/>
          </a:prstGeom>
        </p:spPr>
      </p:pic>
      <p:pic>
        <p:nvPicPr>
          <p:cNvPr id="5" name="Image 2" descr="preencoded.png"/>
          <p:cNvPicPr>
            <a:picLocks noChangeAspect="1"/>
          </p:cNvPicPr>
          <p:nvPr/>
        </p:nvPicPr>
        <p:blipFill>
          <a:blip r:embed="rId5"/>
          <a:stretch>
            <a:fillRect/>
          </a:stretch>
        </p:blipFill>
        <p:spPr>
          <a:xfrm>
            <a:off x="7402830" y="1983581"/>
            <a:ext cx="3138488" cy="3138488"/>
          </a:xfrm>
          <a:prstGeom prst="rect">
            <a:avLst/>
          </a:prstGeom>
        </p:spPr>
      </p:pic>
      <p:pic>
        <p:nvPicPr>
          <p:cNvPr id="6" name="Image 3" descr="preencoded.png"/>
          <p:cNvPicPr>
            <a:picLocks noChangeAspect="1"/>
          </p:cNvPicPr>
          <p:nvPr/>
        </p:nvPicPr>
        <p:blipFill>
          <a:blip r:embed="rId6"/>
          <a:stretch>
            <a:fillRect/>
          </a:stretch>
        </p:blipFill>
        <p:spPr>
          <a:xfrm>
            <a:off x="10716697" y="1983581"/>
            <a:ext cx="3138488" cy="3138488"/>
          </a:xfrm>
          <a:prstGeom prst="rect">
            <a:avLst/>
          </a:prstGeom>
        </p:spPr>
      </p:pic>
      <p:sp>
        <p:nvSpPr>
          <p:cNvPr id="7" name="Text 1"/>
          <p:cNvSpPr/>
          <p:nvPr/>
        </p:nvSpPr>
        <p:spPr>
          <a:xfrm>
            <a:off x="767596" y="5510213"/>
            <a:ext cx="13095208" cy="1052632"/>
          </a:xfrm>
          <a:prstGeom prst="rect">
            <a:avLst/>
          </a:prstGeom>
          <a:noFill/>
          <a:ln/>
        </p:spPr>
        <p:txBody>
          <a:bodyPr wrap="square" lIns="0" tIns="0" rIns="0" bIns="0" rtlCol="0" anchor="t"/>
          <a:lstStyle/>
          <a:p>
            <a:pPr marL="0" indent="0">
              <a:lnSpc>
                <a:spcPts val="2750"/>
              </a:lnSpc>
              <a:buNone/>
            </a:pPr>
            <a:r>
              <a:rPr lang="en-US" sz="1700" dirty="0">
                <a:solidFill>
                  <a:srgbClr val="464646"/>
                </a:solidFill>
                <a:latin typeface="Inter Medium" pitchFamily="34" charset="0"/>
                <a:ea typeface="Inter Medium" pitchFamily="34" charset="-122"/>
                <a:cs typeface="Inter Medium" pitchFamily="34" charset="-120"/>
              </a:rPr>
              <a:t>Ensemble methods combine multiple models to improve generalization and reduce overfitting. Random Forests use bagging to train many trees on random subsets of data and features. Boosting methods like XGBoost or AdaBoost build sequential models that focus on previously misclassified examples. Stacking combines predictions from multiple different algorithms.</a:t>
            </a:r>
            <a:endParaRPr lang="en-US" sz="1700" dirty="0"/>
          </a:p>
        </p:txBody>
      </p:sp>
      <p:sp>
        <p:nvSpPr>
          <p:cNvPr id="8" name="Text 2"/>
          <p:cNvSpPr/>
          <p:nvPr/>
        </p:nvSpPr>
        <p:spPr>
          <a:xfrm>
            <a:off x="767596" y="6809542"/>
            <a:ext cx="13095208" cy="701754"/>
          </a:xfrm>
          <a:prstGeom prst="rect">
            <a:avLst/>
          </a:prstGeom>
          <a:noFill/>
          <a:ln/>
        </p:spPr>
        <p:txBody>
          <a:bodyPr wrap="square" lIns="0" tIns="0" rIns="0" bIns="0" rtlCol="0" anchor="t"/>
          <a:lstStyle/>
          <a:p>
            <a:pPr marL="0" indent="0">
              <a:lnSpc>
                <a:spcPts val="2750"/>
              </a:lnSpc>
              <a:buNone/>
            </a:pPr>
            <a:r>
              <a:rPr lang="en-US" sz="1700" dirty="0">
                <a:solidFill>
                  <a:srgbClr val="464646"/>
                </a:solidFill>
                <a:latin typeface="Inter Medium" pitchFamily="34" charset="0"/>
                <a:ea typeface="Inter Medium" pitchFamily="34" charset="-122"/>
                <a:cs typeface="Inter Medium" pitchFamily="34" charset="-120"/>
              </a:rPr>
              <a:t>These techniques leverage the "wisdom of crowds" principle—combining multiple imperfect models often produces more robust predictions than any single model alone.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78168" y="553045"/>
            <a:ext cx="7987665" cy="1032510"/>
          </a:xfrm>
          <a:prstGeom prst="rect">
            <a:avLst/>
          </a:prstGeom>
          <a:noFill/>
          <a:ln/>
        </p:spPr>
        <p:txBody>
          <a:bodyPr wrap="square" lIns="0" tIns="0" rIns="0" bIns="0" rtlCol="0" anchor="t"/>
          <a:lstStyle/>
          <a:p>
            <a:pPr marL="0" indent="0">
              <a:lnSpc>
                <a:spcPts val="4050"/>
              </a:lnSpc>
              <a:buNone/>
            </a:pPr>
            <a:r>
              <a:rPr lang="en-US" sz="3250" dirty="0">
                <a:solidFill>
                  <a:srgbClr val="030303"/>
                </a:solidFill>
                <a:latin typeface="DM Sans Semi Bold" pitchFamily="34" charset="0"/>
                <a:ea typeface="DM Sans Semi Bold" pitchFamily="34" charset="-122"/>
                <a:cs typeface="DM Sans Semi Bold" pitchFamily="34" charset="-120"/>
              </a:rPr>
              <a:t>Techniques Comparison for Model Fitting</a:t>
            </a:r>
            <a:endParaRPr lang="en-US" sz="3250" dirty="0"/>
          </a:p>
        </p:txBody>
      </p:sp>
      <p:sp>
        <p:nvSpPr>
          <p:cNvPr id="4" name="Shape 1"/>
          <p:cNvSpPr/>
          <p:nvPr/>
        </p:nvSpPr>
        <p:spPr>
          <a:xfrm>
            <a:off x="578168" y="1833324"/>
            <a:ext cx="7987665" cy="4150757"/>
          </a:xfrm>
          <a:prstGeom prst="roundRect">
            <a:avLst>
              <a:gd name="adj" fmla="val 597"/>
            </a:avLst>
          </a:prstGeom>
          <a:noFill/>
          <a:ln w="7620">
            <a:solidFill>
              <a:srgbClr val="000000">
                <a:alpha val="8000"/>
              </a:srgbClr>
            </a:solidFill>
            <a:prstDash val="solid"/>
          </a:ln>
        </p:spPr>
      </p:sp>
      <p:sp>
        <p:nvSpPr>
          <p:cNvPr id="5" name="Shape 2"/>
          <p:cNvSpPr/>
          <p:nvPr/>
        </p:nvSpPr>
        <p:spPr>
          <a:xfrm>
            <a:off x="585788" y="1840944"/>
            <a:ext cx="7972425" cy="741759"/>
          </a:xfrm>
          <a:prstGeom prst="rect">
            <a:avLst/>
          </a:prstGeom>
          <a:solidFill>
            <a:srgbClr val="FFFFFF">
              <a:alpha val="4000"/>
            </a:srgbClr>
          </a:solidFill>
          <a:ln/>
        </p:spPr>
      </p:sp>
      <p:sp>
        <p:nvSpPr>
          <p:cNvPr id="6" name="Text 3"/>
          <p:cNvSpPr/>
          <p:nvPr/>
        </p:nvSpPr>
        <p:spPr>
          <a:xfrm>
            <a:off x="750927" y="1947624"/>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Technique</a:t>
            </a:r>
            <a:endParaRPr lang="en-US" sz="1300" dirty="0"/>
          </a:p>
        </p:txBody>
      </p:sp>
      <p:sp>
        <p:nvSpPr>
          <p:cNvPr id="7" name="Text 4"/>
          <p:cNvSpPr/>
          <p:nvPr/>
        </p:nvSpPr>
        <p:spPr>
          <a:xfrm>
            <a:off x="2747843" y="1947624"/>
            <a:ext cx="1655207" cy="5283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Helps with Underfitting</a:t>
            </a:r>
            <a:endParaRPr lang="en-US" sz="1300" dirty="0"/>
          </a:p>
        </p:txBody>
      </p:sp>
      <p:sp>
        <p:nvSpPr>
          <p:cNvPr id="8" name="Text 5"/>
          <p:cNvSpPr/>
          <p:nvPr/>
        </p:nvSpPr>
        <p:spPr>
          <a:xfrm>
            <a:off x="4740950" y="1947624"/>
            <a:ext cx="1655207" cy="5283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Helps with Overfitting</a:t>
            </a:r>
            <a:endParaRPr lang="en-US" sz="1300" dirty="0"/>
          </a:p>
        </p:txBody>
      </p:sp>
      <p:sp>
        <p:nvSpPr>
          <p:cNvPr id="9" name="Text 6"/>
          <p:cNvSpPr/>
          <p:nvPr/>
        </p:nvSpPr>
        <p:spPr>
          <a:xfrm>
            <a:off x="6734056" y="1947624"/>
            <a:ext cx="1659017" cy="5283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Implementation Difficulty</a:t>
            </a:r>
            <a:endParaRPr lang="en-US" sz="1300" dirty="0"/>
          </a:p>
        </p:txBody>
      </p:sp>
      <p:sp>
        <p:nvSpPr>
          <p:cNvPr id="10" name="Shape 7"/>
          <p:cNvSpPr/>
          <p:nvPr/>
        </p:nvSpPr>
        <p:spPr>
          <a:xfrm>
            <a:off x="585788" y="2582704"/>
            <a:ext cx="7972425" cy="741759"/>
          </a:xfrm>
          <a:prstGeom prst="rect">
            <a:avLst/>
          </a:prstGeom>
          <a:solidFill>
            <a:srgbClr val="000000">
              <a:alpha val="4000"/>
            </a:srgbClr>
          </a:solidFill>
          <a:ln/>
        </p:spPr>
      </p:sp>
      <p:sp>
        <p:nvSpPr>
          <p:cNvPr id="11" name="Text 8"/>
          <p:cNvSpPr/>
          <p:nvPr/>
        </p:nvSpPr>
        <p:spPr>
          <a:xfrm>
            <a:off x="750927" y="2689384"/>
            <a:ext cx="1659017" cy="5283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Increase Model Complexity</a:t>
            </a:r>
            <a:endParaRPr lang="en-US" sz="1300" dirty="0"/>
          </a:p>
        </p:txBody>
      </p:sp>
      <p:sp>
        <p:nvSpPr>
          <p:cNvPr id="12" name="Text 9"/>
          <p:cNvSpPr/>
          <p:nvPr/>
        </p:nvSpPr>
        <p:spPr>
          <a:xfrm>
            <a:off x="2747843" y="2689384"/>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13" name="Text 10"/>
          <p:cNvSpPr/>
          <p:nvPr/>
        </p:nvSpPr>
        <p:spPr>
          <a:xfrm>
            <a:off x="4740950" y="2689384"/>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14" name="Text 11"/>
          <p:cNvSpPr/>
          <p:nvPr/>
        </p:nvSpPr>
        <p:spPr>
          <a:xfrm>
            <a:off x="6734056" y="2689384"/>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Medium</a:t>
            </a:r>
            <a:endParaRPr lang="en-US" sz="1300" dirty="0"/>
          </a:p>
        </p:txBody>
      </p:sp>
      <p:sp>
        <p:nvSpPr>
          <p:cNvPr id="15" name="Shape 12"/>
          <p:cNvSpPr/>
          <p:nvPr/>
        </p:nvSpPr>
        <p:spPr>
          <a:xfrm>
            <a:off x="585788" y="3324463"/>
            <a:ext cx="7972425" cy="741759"/>
          </a:xfrm>
          <a:prstGeom prst="rect">
            <a:avLst/>
          </a:prstGeom>
          <a:solidFill>
            <a:srgbClr val="FFFFFF">
              <a:alpha val="4000"/>
            </a:srgbClr>
          </a:solidFill>
          <a:ln/>
        </p:spPr>
      </p:sp>
      <p:sp>
        <p:nvSpPr>
          <p:cNvPr id="16" name="Text 13"/>
          <p:cNvSpPr/>
          <p:nvPr/>
        </p:nvSpPr>
        <p:spPr>
          <a:xfrm>
            <a:off x="750927" y="3431143"/>
            <a:ext cx="1659017" cy="5283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Regularization (L1/L2)</a:t>
            </a:r>
            <a:endParaRPr lang="en-US" sz="1300" dirty="0"/>
          </a:p>
        </p:txBody>
      </p:sp>
      <p:sp>
        <p:nvSpPr>
          <p:cNvPr id="17" name="Text 14"/>
          <p:cNvSpPr/>
          <p:nvPr/>
        </p:nvSpPr>
        <p:spPr>
          <a:xfrm>
            <a:off x="2747843" y="3431143"/>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18" name="Text 15"/>
          <p:cNvSpPr/>
          <p:nvPr/>
        </p:nvSpPr>
        <p:spPr>
          <a:xfrm>
            <a:off x="4740950" y="3431143"/>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19" name="Text 16"/>
          <p:cNvSpPr/>
          <p:nvPr/>
        </p:nvSpPr>
        <p:spPr>
          <a:xfrm>
            <a:off x="6734056" y="3431143"/>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Low</a:t>
            </a:r>
            <a:endParaRPr lang="en-US" sz="1300" dirty="0"/>
          </a:p>
        </p:txBody>
      </p:sp>
      <p:sp>
        <p:nvSpPr>
          <p:cNvPr id="20" name="Shape 17"/>
          <p:cNvSpPr/>
          <p:nvPr/>
        </p:nvSpPr>
        <p:spPr>
          <a:xfrm>
            <a:off x="585788" y="4066222"/>
            <a:ext cx="7972425" cy="477560"/>
          </a:xfrm>
          <a:prstGeom prst="rect">
            <a:avLst/>
          </a:prstGeom>
          <a:solidFill>
            <a:srgbClr val="000000">
              <a:alpha val="4000"/>
            </a:srgbClr>
          </a:solidFill>
          <a:ln/>
        </p:spPr>
      </p:sp>
      <p:sp>
        <p:nvSpPr>
          <p:cNvPr id="21" name="Text 18"/>
          <p:cNvSpPr/>
          <p:nvPr/>
        </p:nvSpPr>
        <p:spPr>
          <a:xfrm>
            <a:off x="750927" y="417290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Cross-Validation</a:t>
            </a:r>
            <a:endParaRPr lang="en-US" sz="1300" dirty="0"/>
          </a:p>
        </p:txBody>
      </p:sp>
      <p:sp>
        <p:nvSpPr>
          <p:cNvPr id="22" name="Text 19"/>
          <p:cNvSpPr/>
          <p:nvPr/>
        </p:nvSpPr>
        <p:spPr>
          <a:xfrm>
            <a:off x="2747843" y="417290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23" name="Text 20"/>
          <p:cNvSpPr/>
          <p:nvPr/>
        </p:nvSpPr>
        <p:spPr>
          <a:xfrm>
            <a:off x="4740950" y="417290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24" name="Text 21"/>
          <p:cNvSpPr/>
          <p:nvPr/>
        </p:nvSpPr>
        <p:spPr>
          <a:xfrm>
            <a:off x="6734056" y="417290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Medium</a:t>
            </a:r>
            <a:endParaRPr lang="en-US" sz="1300" dirty="0"/>
          </a:p>
        </p:txBody>
      </p:sp>
      <p:sp>
        <p:nvSpPr>
          <p:cNvPr id="25" name="Shape 22"/>
          <p:cNvSpPr/>
          <p:nvPr/>
        </p:nvSpPr>
        <p:spPr>
          <a:xfrm>
            <a:off x="585788" y="4543782"/>
            <a:ext cx="7972425" cy="477560"/>
          </a:xfrm>
          <a:prstGeom prst="rect">
            <a:avLst/>
          </a:prstGeom>
          <a:solidFill>
            <a:srgbClr val="FFFFFF">
              <a:alpha val="4000"/>
            </a:srgbClr>
          </a:solidFill>
          <a:ln/>
        </p:spPr>
      </p:sp>
      <p:sp>
        <p:nvSpPr>
          <p:cNvPr id="26" name="Text 23"/>
          <p:cNvSpPr/>
          <p:nvPr/>
        </p:nvSpPr>
        <p:spPr>
          <a:xfrm>
            <a:off x="750927" y="465046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Feature Engineering</a:t>
            </a:r>
            <a:endParaRPr lang="en-US" sz="1300" dirty="0"/>
          </a:p>
        </p:txBody>
      </p:sp>
      <p:sp>
        <p:nvSpPr>
          <p:cNvPr id="27" name="Text 24"/>
          <p:cNvSpPr/>
          <p:nvPr/>
        </p:nvSpPr>
        <p:spPr>
          <a:xfrm>
            <a:off x="2747843" y="465046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28" name="Text 25"/>
          <p:cNvSpPr/>
          <p:nvPr/>
        </p:nvSpPr>
        <p:spPr>
          <a:xfrm>
            <a:off x="4740950" y="465046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29" name="Text 26"/>
          <p:cNvSpPr/>
          <p:nvPr/>
        </p:nvSpPr>
        <p:spPr>
          <a:xfrm>
            <a:off x="6734056" y="465046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High</a:t>
            </a:r>
            <a:endParaRPr lang="en-US" sz="1300" dirty="0"/>
          </a:p>
        </p:txBody>
      </p:sp>
      <p:sp>
        <p:nvSpPr>
          <p:cNvPr id="30" name="Shape 27"/>
          <p:cNvSpPr/>
          <p:nvPr/>
        </p:nvSpPr>
        <p:spPr>
          <a:xfrm>
            <a:off x="585788" y="5021342"/>
            <a:ext cx="7972425" cy="477560"/>
          </a:xfrm>
          <a:prstGeom prst="rect">
            <a:avLst/>
          </a:prstGeom>
          <a:solidFill>
            <a:srgbClr val="000000">
              <a:alpha val="4000"/>
            </a:srgbClr>
          </a:solidFill>
          <a:ln/>
        </p:spPr>
      </p:sp>
      <p:sp>
        <p:nvSpPr>
          <p:cNvPr id="31" name="Text 28"/>
          <p:cNvSpPr/>
          <p:nvPr/>
        </p:nvSpPr>
        <p:spPr>
          <a:xfrm>
            <a:off x="750927" y="512802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Early Stopping</a:t>
            </a:r>
            <a:endParaRPr lang="en-US" sz="1300" dirty="0"/>
          </a:p>
        </p:txBody>
      </p:sp>
      <p:sp>
        <p:nvSpPr>
          <p:cNvPr id="32" name="Text 29"/>
          <p:cNvSpPr/>
          <p:nvPr/>
        </p:nvSpPr>
        <p:spPr>
          <a:xfrm>
            <a:off x="2747843" y="512802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33" name="Text 30"/>
          <p:cNvSpPr/>
          <p:nvPr/>
        </p:nvSpPr>
        <p:spPr>
          <a:xfrm>
            <a:off x="4740950" y="512802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34" name="Text 31"/>
          <p:cNvSpPr/>
          <p:nvPr/>
        </p:nvSpPr>
        <p:spPr>
          <a:xfrm>
            <a:off x="6734056" y="512802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Low</a:t>
            </a:r>
            <a:endParaRPr lang="en-US" sz="1300" dirty="0"/>
          </a:p>
        </p:txBody>
      </p:sp>
      <p:sp>
        <p:nvSpPr>
          <p:cNvPr id="35" name="Shape 32"/>
          <p:cNvSpPr/>
          <p:nvPr/>
        </p:nvSpPr>
        <p:spPr>
          <a:xfrm>
            <a:off x="585788" y="5498902"/>
            <a:ext cx="7972425" cy="477560"/>
          </a:xfrm>
          <a:prstGeom prst="rect">
            <a:avLst/>
          </a:prstGeom>
          <a:solidFill>
            <a:srgbClr val="FFFFFF">
              <a:alpha val="4000"/>
            </a:srgbClr>
          </a:solidFill>
          <a:ln/>
        </p:spPr>
      </p:sp>
      <p:sp>
        <p:nvSpPr>
          <p:cNvPr id="36" name="Text 33"/>
          <p:cNvSpPr/>
          <p:nvPr/>
        </p:nvSpPr>
        <p:spPr>
          <a:xfrm>
            <a:off x="750927" y="560558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Ensemble Methods</a:t>
            </a:r>
            <a:endParaRPr lang="en-US" sz="1300" dirty="0"/>
          </a:p>
        </p:txBody>
      </p:sp>
      <p:sp>
        <p:nvSpPr>
          <p:cNvPr id="37" name="Text 34"/>
          <p:cNvSpPr/>
          <p:nvPr/>
        </p:nvSpPr>
        <p:spPr>
          <a:xfrm>
            <a:off x="2747843" y="560558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38" name="Text 35"/>
          <p:cNvSpPr/>
          <p:nvPr/>
        </p:nvSpPr>
        <p:spPr>
          <a:xfrm>
            <a:off x="4740950" y="5605582"/>
            <a:ext cx="165520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a:t>
            </a:r>
            <a:endParaRPr lang="en-US" sz="1300" dirty="0"/>
          </a:p>
        </p:txBody>
      </p:sp>
      <p:sp>
        <p:nvSpPr>
          <p:cNvPr id="39" name="Text 36"/>
          <p:cNvSpPr/>
          <p:nvPr/>
        </p:nvSpPr>
        <p:spPr>
          <a:xfrm>
            <a:off x="6734056" y="5605582"/>
            <a:ext cx="1659017" cy="264200"/>
          </a:xfrm>
          <a:prstGeom prst="rect">
            <a:avLst/>
          </a:prstGeom>
          <a:noFill/>
          <a:ln/>
        </p:spPr>
        <p:txBody>
          <a:bodyPr wrap="non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High</a:t>
            </a:r>
            <a:endParaRPr lang="en-US" sz="1300" dirty="0"/>
          </a:p>
        </p:txBody>
      </p:sp>
      <p:sp>
        <p:nvSpPr>
          <p:cNvPr id="40" name="Text 37"/>
          <p:cNvSpPr/>
          <p:nvPr/>
        </p:nvSpPr>
        <p:spPr>
          <a:xfrm>
            <a:off x="578168" y="6169819"/>
            <a:ext cx="7987665" cy="7925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Different techniques address specific model fitting challenges. While increasing model complexity helps with underfitting, it may worsen overfitting. Conversely, regularization and early stopping primarily combat overfitting but could exacerbate underfitting if applied too aggressively.</a:t>
            </a:r>
            <a:endParaRPr lang="en-US" sz="1300" dirty="0"/>
          </a:p>
        </p:txBody>
      </p:sp>
      <p:sp>
        <p:nvSpPr>
          <p:cNvPr id="41" name="Text 38"/>
          <p:cNvSpPr/>
          <p:nvPr/>
        </p:nvSpPr>
        <p:spPr>
          <a:xfrm>
            <a:off x="578168" y="7148155"/>
            <a:ext cx="7987665" cy="528399"/>
          </a:xfrm>
          <a:prstGeom prst="rect">
            <a:avLst/>
          </a:prstGeom>
          <a:noFill/>
          <a:ln/>
        </p:spPr>
        <p:txBody>
          <a:bodyPr wrap="square" lIns="0" tIns="0" rIns="0" bIns="0" rtlCol="0" anchor="t"/>
          <a:lstStyle/>
          <a:p>
            <a:pPr marL="0" indent="0">
              <a:lnSpc>
                <a:spcPts val="2050"/>
              </a:lnSpc>
              <a:buNone/>
            </a:pPr>
            <a:r>
              <a:rPr lang="en-US" sz="1300" dirty="0">
                <a:solidFill>
                  <a:srgbClr val="464646"/>
                </a:solidFill>
                <a:latin typeface="Inter Medium" pitchFamily="34" charset="0"/>
                <a:ea typeface="Inter Medium" pitchFamily="34" charset="-122"/>
                <a:cs typeface="Inter Medium" pitchFamily="34" charset="-120"/>
              </a:rPr>
              <a:t>Ensemble methods like Random Forests and Boosting offer the unique advantage of addressing both issues simultaneously, though they come with higher implementation complexity.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9012" y="525542"/>
            <a:ext cx="7942540" cy="597337"/>
          </a:xfrm>
          <a:prstGeom prst="rect">
            <a:avLst/>
          </a:prstGeom>
          <a:noFill/>
          <a:ln/>
        </p:spPr>
        <p:txBody>
          <a:bodyPr wrap="none" lIns="0" tIns="0" rIns="0" bIns="0" rtlCol="0" anchor="t"/>
          <a:lstStyle/>
          <a:p>
            <a:pPr marL="0" indent="0">
              <a:lnSpc>
                <a:spcPts val="4700"/>
              </a:lnSpc>
              <a:buNone/>
            </a:pPr>
            <a:r>
              <a:rPr lang="en-US" sz="3750" dirty="0">
                <a:solidFill>
                  <a:srgbClr val="030303"/>
                </a:solidFill>
                <a:latin typeface="DM Sans Semi Bold" pitchFamily="34" charset="0"/>
                <a:ea typeface="DM Sans Semi Bold" pitchFamily="34" charset="-122"/>
                <a:cs typeface="DM Sans Semi Bold" pitchFamily="34" charset="-120"/>
              </a:rPr>
              <a:t>Finding the Sweet Spot: A Good Fit</a:t>
            </a:r>
            <a:endParaRPr lang="en-US" sz="3750" dirty="0"/>
          </a:p>
        </p:txBody>
      </p:sp>
      <p:pic>
        <p:nvPicPr>
          <p:cNvPr id="3" name="Image 0" descr="preencoded.png"/>
          <p:cNvPicPr>
            <a:picLocks noChangeAspect="1"/>
          </p:cNvPicPr>
          <p:nvPr/>
        </p:nvPicPr>
        <p:blipFill>
          <a:blip r:embed="rId3"/>
          <a:stretch>
            <a:fillRect/>
          </a:stretch>
        </p:blipFill>
        <p:spPr>
          <a:xfrm>
            <a:off x="3169563" y="1505069"/>
            <a:ext cx="1644848" cy="1101209"/>
          </a:xfrm>
          <a:prstGeom prst="rect">
            <a:avLst/>
          </a:prstGeom>
        </p:spPr>
      </p:pic>
      <p:sp>
        <p:nvSpPr>
          <p:cNvPr id="4" name="Text 1"/>
          <p:cNvSpPr/>
          <p:nvPr/>
        </p:nvSpPr>
        <p:spPr>
          <a:xfrm>
            <a:off x="3950375" y="2000964"/>
            <a:ext cx="83225" cy="382310"/>
          </a:xfrm>
          <a:prstGeom prst="rect">
            <a:avLst/>
          </a:prstGeom>
          <a:noFill/>
          <a:ln/>
        </p:spPr>
        <p:txBody>
          <a:bodyPr wrap="none" lIns="0" tIns="0" rIns="0" bIns="0" rtlCol="0" anchor="t"/>
          <a:lstStyle/>
          <a:p>
            <a:pPr marL="0" indent="0" algn="ctr">
              <a:lnSpc>
                <a:spcPts val="3000"/>
              </a:lnSpc>
              <a:buNone/>
            </a:pPr>
            <a:r>
              <a:rPr lang="en-US" sz="1850" dirty="0">
                <a:solidFill>
                  <a:srgbClr val="464646"/>
                </a:solidFill>
                <a:latin typeface="DM Sans Semi Bold" pitchFamily="34" charset="0"/>
                <a:ea typeface="DM Sans Semi Bold" pitchFamily="34" charset="-122"/>
                <a:cs typeface="DM Sans Semi Bold" pitchFamily="34" charset="-120"/>
              </a:rPr>
              <a:t>1</a:t>
            </a:r>
            <a:endParaRPr lang="en-US" sz="1850" dirty="0"/>
          </a:p>
        </p:txBody>
      </p:sp>
      <p:sp>
        <p:nvSpPr>
          <p:cNvPr id="5" name="Text 2"/>
          <p:cNvSpPr/>
          <p:nvPr/>
        </p:nvSpPr>
        <p:spPr>
          <a:xfrm>
            <a:off x="5005507" y="1696164"/>
            <a:ext cx="2458403" cy="298609"/>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Optimal Performance</a:t>
            </a:r>
            <a:endParaRPr lang="en-US" sz="1850" dirty="0"/>
          </a:p>
        </p:txBody>
      </p:sp>
      <p:sp>
        <p:nvSpPr>
          <p:cNvPr id="6" name="Text 3"/>
          <p:cNvSpPr/>
          <p:nvPr/>
        </p:nvSpPr>
        <p:spPr>
          <a:xfrm>
            <a:off x="5005507" y="2109430"/>
            <a:ext cx="2866430" cy="305753"/>
          </a:xfrm>
          <a:prstGeom prst="rect">
            <a:avLst/>
          </a:prstGeom>
          <a:noFill/>
          <a:ln/>
        </p:spPr>
        <p:txBody>
          <a:bodyPr wrap="none" lIns="0" tIns="0" rIns="0" bIns="0" rtlCol="0" anchor="t"/>
          <a:lstStyle/>
          <a:p>
            <a:pPr marL="0" indent="0" algn="l">
              <a:lnSpc>
                <a:spcPts val="2400"/>
              </a:lnSpc>
              <a:buNone/>
            </a:pPr>
            <a:r>
              <a:rPr lang="en-US" sz="1500" dirty="0">
                <a:solidFill>
                  <a:srgbClr val="464646"/>
                </a:solidFill>
                <a:latin typeface="Inter Medium" pitchFamily="34" charset="0"/>
                <a:ea typeface="Inter Medium" pitchFamily="34" charset="-122"/>
                <a:cs typeface="Inter Medium" pitchFamily="34" charset="-120"/>
              </a:rPr>
              <a:t>Best generalization to new data</a:t>
            </a:r>
            <a:endParaRPr lang="en-US" sz="1500" dirty="0"/>
          </a:p>
        </p:txBody>
      </p:sp>
      <p:sp>
        <p:nvSpPr>
          <p:cNvPr id="7" name="Shape 4"/>
          <p:cNvSpPr/>
          <p:nvPr/>
        </p:nvSpPr>
        <p:spPr>
          <a:xfrm>
            <a:off x="4862155" y="2620566"/>
            <a:ext cx="9051488" cy="11430"/>
          </a:xfrm>
          <a:prstGeom prst="roundRect">
            <a:avLst>
              <a:gd name="adj" fmla="val 250849"/>
            </a:avLst>
          </a:prstGeom>
          <a:solidFill>
            <a:srgbClr val="D8D4D4"/>
          </a:solidFill>
          <a:ln/>
        </p:spPr>
      </p:sp>
      <p:pic>
        <p:nvPicPr>
          <p:cNvPr id="8" name="Image 1" descr="preencoded.png"/>
          <p:cNvPicPr>
            <a:picLocks noChangeAspect="1"/>
          </p:cNvPicPr>
          <p:nvPr/>
        </p:nvPicPr>
        <p:blipFill>
          <a:blip r:embed="rId4"/>
          <a:stretch>
            <a:fillRect/>
          </a:stretch>
        </p:blipFill>
        <p:spPr>
          <a:xfrm>
            <a:off x="2347079" y="2654022"/>
            <a:ext cx="3289816" cy="1101209"/>
          </a:xfrm>
          <a:prstGeom prst="rect">
            <a:avLst/>
          </a:prstGeom>
        </p:spPr>
      </p:pic>
      <p:sp>
        <p:nvSpPr>
          <p:cNvPr id="9" name="Text 5"/>
          <p:cNvSpPr/>
          <p:nvPr/>
        </p:nvSpPr>
        <p:spPr>
          <a:xfrm>
            <a:off x="3922990" y="3013472"/>
            <a:ext cx="137874" cy="382310"/>
          </a:xfrm>
          <a:prstGeom prst="rect">
            <a:avLst/>
          </a:prstGeom>
          <a:noFill/>
          <a:ln/>
        </p:spPr>
        <p:txBody>
          <a:bodyPr wrap="none" lIns="0" tIns="0" rIns="0" bIns="0" rtlCol="0" anchor="t"/>
          <a:lstStyle/>
          <a:p>
            <a:pPr marL="0" indent="0" algn="ctr">
              <a:lnSpc>
                <a:spcPts val="3000"/>
              </a:lnSpc>
              <a:buNone/>
            </a:pPr>
            <a:r>
              <a:rPr lang="en-US" sz="1850" dirty="0">
                <a:solidFill>
                  <a:srgbClr val="464646"/>
                </a:solidFill>
                <a:latin typeface="DM Sans Semi Bold" pitchFamily="34" charset="0"/>
                <a:ea typeface="DM Sans Semi Bold" pitchFamily="34" charset="-122"/>
                <a:cs typeface="DM Sans Semi Bold" pitchFamily="34" charset="-120"/>
              </a:rPr>
              <a:t>2</a:t>
            </a:r>
            <a:endParaRPr lang="en-US" sz="1850" dirty="0"/>
          </a:p>
        </p:txBody>
      </p:sp>
      <p:sp>
        <p:nvSpPr>
          <p:cNvPr id="10" name="Text 6"/>
          <p:cNvSpPr/>
          <p:nvPr/>
        </p:nvSpPr>
        <p:spPr>
          <a:xfrm>
            <a:off x="5827990" y="2845118"/>
            <a:ext cx="2450306" cy="298609"/>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Balanced Complexity</a:t>
            </a:r>
            <a:endParaRPr lang="en-US" sz="1850" dirty="0"/>
          </a:p>
        </p:txBody>
      </p:sp>
      <p:sp>
        <p:nvSpPr>
          <p:cNvPr id="11" name="Text 7"/>
          <p:cNvSpPr/>
          <p:nvPr/>
        </p:nvSpPr>
        <p:spPr>
          <a:xfrm>
            <a:off x="5827990" y="3258383"/>
            <a:ext cx="3193971" cy="305753"/>
          </a:xfrm>
          <a:prstGeom prst="rect">
            <a:avLst/>
          </a:prstGeom>
          <a:noFill/>
          <a:ln/>
        </p:spPr>
        <p:txBody>
          <a:bodyPr wrap="none" lIns="0" tIns="0" rIns="0" bIns="0" rtlCol="0" anchor="t"/>
          <a:lstStyle/>
          <a:p>
            <a:pPr marL="0" indent="0" algn="l">
              <a:lnSpc>
                <a:spcPts val="2400"/>
              </a:lnSpc>
              <a:buNone/>
            </a:pPr>
            <a:r>
              <a:rPr lang="en-US" sz="1500" dirty="0">
                <a:solidFill>
                  <a:srgbClr val="464646"/>
                </a:solidFill>
                <a:latin typeface="Inter Medium" pitchFamily="34" charset="0"/>
                <a:ea typeface="Inter Medium" pitchFamily="34" charset="-122"/>
                <a:cs typeface="Inter Medium" pitchFamily="34" charset="-120"/>
              </a:rPr>
              <a:t>Neither too simple nor too complex</a:t>
            </a:r>
            <a:endParaRPr lang="en-US" sz="1500" dirty="0"/>
          </a:p>
        </p:txBody>
      </p:sp>
      <p:sp>
        <p:nvSpPr>
          <p:cNvPr id="12" name="Shape 8"/>
          <p:cNvSpPr/>
          <p:nvPr/>
        </p:nvSpPr>
        <p:spPr>
          <a:xfrm>
            <a:off x="5684639" y="3769519"/>
            <a:ext cx="8229005" cy="11430"/>
          </a:xfrm>
          <a:prstGeom prst="roundRect">
            <a:avLst>
              <a:gd name="adj" fmla="val 250849"/>
            </a:avLst>
          </a:prstGeom>
          <a:solidFill>
            <a:srgbClr val="D8D4D4"/>
          </a:solidFill>
          <a:ln/>
        </p:spPr>
      </p:sp>
      <p:pic>
        <p:nvPicPr>
          <p:cNvPr id="13" name="Image 2" descr="preencoded.png"/>
          <p:cNvPicPr>
            <a:picLocks noChangeAspect="1"/>
          </p:cNvPicPr>
          <p:nvPr/>
        </p:nvPicPr>
        <p:blipFill>
          <a:blip r:embed="rId5"/>
          <a:stretch>
            <a:fillRect/>
          </a:stretch>
        </p:blipFill>
        <p:spPr>
          <a:xfrm>
            <a:off x="1524595" y="3802975"/>
            <a:ext cx="4934783" cy="1101209"/>
          </a:xfrm>
          <a:prstGeom prst="rect">
            <a:avLst/>
          </a:prstGeom>
        </p:spPr>
      </p:pic>
      <p:sp>
        <p:nvSpPr>
          <p:cNvPr id="14" name="Text 9"/>
          <p:cNvSpPr/>
          <p:nvPr/>
        </p:nvSpPr>
        <p:spPr>
          <a:xfrm>
            <a:off x="3920371" y="4162425"/>
            <a:ext cx="143113" cy="382310"/>
          </a:xfrm>
          <a:prstGeom prst="rect">
            <a:avLst/>
          </a:prstGeom>
          <a:noFill/>
          <a:ln/>
        </p:spPr>
        <p:txBody>
          <a:bodyPr wrap="none" lIns="0" tIns="0" rIns="0" bIns="0" rtlCol="0" anchor="t"/>
          <a:lstStyle/>
          <a:p>
            <a:pPr marL="0" indent="0" algn="ctr">
              <a:lnSpc>
                <a:spcPts val="3000"/>
              </a:lnSpc>
              <a:buNone/>
            </a:pPr>
            <a:r>
              <a:rPr lang="en-US" sz="1850" dirty="0">
                <a:solidFill>
                  <a:srgbClr val="464646"/>
                </a:solidFill>
                <a:latin typeface="DM Sans Semi Bold" pitchFamily="34" charset="0"/>
                <a:ea typeface="DM Sans Semi Bold" pitchFamily="34" charset="-122"/>
                <a:cs typeface="DM Sans Semi Bold" pitchFamily="34" charset="-120"/>
              </a:rPr>
              <a:t>3</a:t>
            </a:r>
            <a:endParaRPr lang="en-US" sz="1850" dirty="0"/>
          </a:p>
        </p:txBody>
      </p:sp>
      <p:sp>
        <p:nvSpPr>
          <p:cNvPr id="15" name="Text 10"/>
          <p:cNvSpPr/>
          <p:nvPr/>
        </p:nvSpPr>
        <p:spPr>
          <a:xfrm>
            <a:off x="6650474" y="3994071"/>
            <a:ext cx="2389227" cy="298609"/>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Effective Training</a:t>
            </a:r>
            <a:endParaRPr lang="en-US" sz="1850" dirty="0"/>
          </a:p>
        </p:txBody>
      </p:sp>
      <p:sp>
        <p:nvSpPr>
          <p:cNvPr id="16" name="Text 11"/>
          <p:cNvSpPr/>
          <p:nvPr/>
        </p:nvSpPr>
        <p:spPr>
          <a:xfrm>
            <a:off x="6650474" y="4407337"/>
            <a:ext cx="3245644" cy="305753"/>
          </a:xfrm>
          <a:prstGeom prst="rect">
            <a:avLst/>
          </a:prstGeom>
          <a:noFill/>
          <a:ln/>
        </p:spPr>
        <p:txBody>
          <a:bodyPr wrap="none" lIns="0" tIns="0" rIns="0" bIns="0" rtlCol="0" anchor="t"/>
          <a:lstStyle/>
          <a:p>
            <a:pPr marL="0" indent="0" algn="l">
              <a:lnSpc>
                <a:spcPts val="2400"/>
              </a:lnSpc>
              <a:buNone/>
            </a:pPr>
            <a:r>
              <a:rPr lang="en-US" sz="1500" dirty="0">
                <a:solidFill>
                  <a:srgbClr val="464646"/>
                </a:solidFill>
                <a:latin typeface="Inter Medium" pitchFamily="34" charset="0"/>
                <a:ea typeface="Inter Medium" pitchFamily="34" charset="-122"/>
                <a:cs typeface="Inter Medium" pitchFamily="34" charset="-120"/>
              </a:rPr>
              <a:t>Proper regularization and validation</a:t>
            </a:r>
            <a:endParaRPr lang="en-US" sz="1500" dirty="0"/>
          </a:p>
        </p:txBody>
      </p:sp>
      <p:sp>
        <p:nvSpPr>
          <p:cNvPr id="17" name="Shape 12"/>
          <p:cNvSpPr/>
          <p:nvPr/>
        </p:nvSpPr>
        <p:spPr>
          <a:xfrm>
            <a:off x="6507123" y="4918472"/>
            <a:ext cx="7406521" cy="11430"/>
          </a:xfrm>
          <a:prstGeom prst="roundRect">
            <a:avLst>
              <a:gd name="adj" fmla="val 250849"/>
            </a:avLst>
          </a:prstGeom>
          <a:solidFill>
            <a:srgbClr val="D8D4D4"/>
          </a:solidFill>
          <a:ln/>
        </p:spPr>
      </p:sp>
      <p:pic>
        <p:nvPicPr>
          <p:cNvPr id="18" name="Image 3" descr="preencoded.png"/>
          <p:cNvPicPr>
            <a:picLocks noChangeAspect="1"/>
          </p:cNvPicPr>
          <p:nvPr/>
        </p:nvPicPr>
        <p:blipFill>
          <a:blip r:embed="rId6"/>
          <a:stretch>
            <a:fillRect/>
          </a:stretch>
        </p:blipFill>
        <p:spPr>
          <a:xfrm>
            <a:off x="702231" y="4951928"/>
            <a:ext cx="6579632" cy="1101209"/>
          </a:xfrm>
          <a:prstGeom prst="rect">
            <a:avLst/>
          </a:prstGeom>
        </p:spPr>
      </p:pic>
      <p:sp>
        <p:nvSpPr>
          <p:cNvPr id="19" name="Text 13"/>
          <p:cNvSpPr/>
          <p:nvPr/>
        </p:nvSpPr>
        <p:spPr>
          <a:xfrm>
            <a:off x="3915728" y="5311378"/>
            <a:ext cx="152400" cy="382310"/>
          </a:xfrm>
          <a:prstGeom prst="rect">
            <a:avLst/>
          </a:prstGeom>
          <a:noFill/>
          <a:ln/>
        </p:spPr>
        <p:txBody>
          <a:bodyPr wrap="none" lIns="0" tIns="0" rIns="0" bIns="0" rtlCol="0" anchor="t"/>
          <a:lstStyle/>
          <a:p>
            <a:pPr marL="0" indent="0" algn="ctr">
              <a:lnSpc>
                <a:spcPts val="3000"/>
              </a:lnSpc>
              <a:buNone/>
            </a:pPr>
            <a:r>
              <a:rPr lang="en-US" sz="1850" dirty="0">
                <a:solidFill>
                  <a:srgbClr val="464646"/>
                </a:solidFill>
                <a:latin typeface="DM Sans Semi Bold" pitchFamily="34" charset="0"/>
                <a:ea typeface="DM Sans Semi Bold" pitchFamily="34" charset="-122"/>
                <a:cs typeface="DM Sans Semi Bold" pitchFamily="34" charset="-120"/>
              </a:rPr>
              <a:t>4</a:t>
            </a:r>
            <a:endParaRPr lang="en-US" sz="1850" dirty="0"/>
          </a:p>
        </p:txBody>
      </p:sp>
      <p:sp>
        <p:nvSpPr>
          <p:cNvPr id="20" name="Text 14"/>
          <p:cNvSpPr/>
          <p:nvPr/>
        </p:nvSpPr>
        <p:spPr>
          <a:xfrm>
            <a:off x="7472958" y="5143024"/>
            <a:ext cx="2790230" cy="298609"/>
          </a:xfrm>
          <a:prstGeom prst="rect">
            <a:avLst/>
          </a:prstGeom>
          <a:noFill/>
          <a:ln/>
        </p:spPr>
        <p:txBody>
          <a:bodyPr wrap="none" lIns="0" tIns="0" rIns="0" bIns="0" rtlCol="0" anchor="t"/>
          <a:lstStyle/>
          <a:p>
            <a:pPr marL="0" indent="0" algn="l">
              <a:lnSpc>
                <a:spcPts val="2350"/>
              </a:lnSpc>
              <a:buNone/>
            </a:pPr>
            <a:r>
              <a:rPr lang="en-US" sz="1850" dirty="0">
                <a:solidFill>
                  <a:srgbClr val="464646"/>
                </a:solidFill>
                <a:latin typeface="DM Sans Semi Bold" pitchFamily="34" charset="0"/>
                <a:ea typeface="DM Sans Semi Bold" pitchFamily="34" charset="-122"/>
                <a:cs typeface="DM Sans Semi Bold" pitchFamily="34" charset="-120"/>
              </a:rPr>
              <a:t>Quality Data Foundation</a:t>
            </a:r>
            <a:endParaRPr lang="en-US" sz="1850" dirty="0"/>
          </a:p>
        </p:txBody>
      </p:sp>
      <p:sp>
        <p:nvSpPr>
          <p:cNvPr id="21" name="Text 15"/>
          <p:cNvSpPr/>
          <p:nvPr/>
        </p:nvSpPr>
        <p:spPr>
          <a:xfrm>
            <a:off x="7472958" y="5556290"/>
            <a:ext cx="3619619" cy="305753"/>
          </a:xfrm>
          <a:prstGeom prst="rect">
            <a:avLst/>
          </a:prstGeom>
          <a:noFill/>
          <a:ln/>
        </p:spPr>
        <p:txBody>
          <a:bodyPr wrap="none" lIns="0" tIns="0" rIns="0" bIns="0" rtlCol="0" anchor="t"/>
          <a:lstStyle/>
          <a:p>
            <a:pPr marL="0" indent="0" algn="l">
              <a:lnSpc>
                <a:spcPts val="2400"/>
              </a:lnSpc>
              <a:buNone/>
            </a:pPr>
            <a:r>
              <a:rPr lang="en-US" sz="1500" dirty="0">
                <a:solidFill>
                  <a:srgbClr val="464646"/>
                </a:solidFill>
                <a:latin typeface="Inter Medium" pitchFamily="34" charset="0"/>
                <a:ea typeface="Inter Medium" pitchFamily="34" charset="-122"/>
                <a:cs typeface="Inter Medium" pitchFamily="34" charset="-120"/>
              </a:rPr>
              <a:t>Clean, representative training examples</a:t>
            </a:r>
            <a:endParaRPr lang="en-US" sz="1500" dirty="0"/>
          </a:p>
        </p:txBody>
      </p:sp>
      <p:sp>
        <p:nvSpPr>
          <p:cNvPr id="22" name="Text 16"/>
          <p:cNvSpPr/>
          <p:nvPr/>
        </p:nvSpPr>
        <p:spPr>
          <a:xfrm>
            <a:off x="669012" y="6268164"/>
            <a:ext cx="13292376" cy="611505"/>
          </a:xfrm>
          <a:prstGeom prst="rect">
            <a:avLst/>
          </a:prstGeom>
          <a:noFill/>
          <a:ln/>
        </p:spPr>
        <p:txBody>
          <a:bodyPr wrap="square" lIns="0" tIns="0" rIns="0" bIns="0" rtlCol="0" anchor="t"/>
          <a:lstStyle/>
          <a:p>
            <a:pPr marL="0" indent="0">
              <a:lnSpc>
                <a:spcPts val="2400"/>
              </a:lnSpc>
              <a:buNone/>
            </a:pPr>
            <a:r>
              <a:rPr lang="en-US" sz="1500" dirty="0">
                <a:solidFill>
                  <a:srgbClr val="464646"/>
                </a:solidFill>
                <a:latin typeface="Inter Medium" pitchFamily="34" charset="0"/>
                <a:ea typeface="Inter Medium" pitchFamily="34" charset="-122"/>
                <a:cs typeface="Inter Medium" pitchFamily="34" charset="-120"/>
              </a:rPr>
              <a:t>Finding the optimal model requires balancing multiple factors. A well-fitted model starts with quality data and builds upon it with appropriate complexity and effective training procedures. This balanced approach leads to models that generalize well to unseen data.</a:t>
            </a:r>
            <a:endParaRPr lang="en-US" sz="1500" dirty="0"/>
          </a:p>
        </p:txBody>
      </p:sp>
      <p:sp>
        <p:nvSpPr>
          <p:cNvPr id="23" name="Text 17"/>
          <p:cNvSpPr/>
          <p:nvPr/>
        </p:nvSpPr>
        <p:spPr>
          <a:xfrm>
            <a:off x="669012" y="7094696"/>
            <a:ext cx="13292376" cy="611505"/>
          </a:xfrm>
          <a:prstGeom prst="rect">
            <a:avLst/>
          </a:prstGeom>
          <a:noFill/>
          <a:ln/>
        </p:spPr>
        <p:txBody>
          <a:bodyPr wrap="square" lIns="0" tIns="0" rIns="0" bIns="0" rtlCol="0" anchor="t"/>
          <a:lstStyle/>
          <a:p>
            <a:pPr marL="0" indent="0">
              <a:lnSpc>
                <a:spcPts val="2400"/>
              </a:lnSpc>
              <a:buNone/>
            </a:pPr>
            <a:r>
              <a:rPr lang="en-US" sz="1500" dirty="0">
                <a:solidFill>
                  <a:srgbClr val="464646"/>
                </a:solidFill>
                <a:latin typeface="Inter Medium" pitchFamily="34" charset="0"/>
                <a:ea typeface="Inter Medium" pitchFamily="34" charset="-122"/>
                <a:cs typeface="Inter Medium" pitchFamily="34" charset="-120"/>
              </a:rPr>
              <a:t>Like the Goldilocks principle, the goal is finding what's "just right" - complex enough to capture true patterns but simple enough to ignore noise. This balance results in models that perform consistently across training and test datasets.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025968"/>
          </a:xfrm>
          <a:prstGeom prst="rect">
            <a:avLst/>
          </a:prstGeom>
        </p:spPr>
      </p:pic>
      <p:sp>
        <p:nvSpPr>
          <p:cNvPr id="3" name="Text 0"/>
          <p:cNvSpPr/>
          <p:nvPr/>
        </p:nvSpPr>
        <p:spPr>
          <a:xfrm>
            <a:off x="567214" y="2472690"/>
            <a:ext cx="7030045" cy="506373"/>
          </a:xfrm>
          <a:prstGeom prst="rect">
            <a:avLst/>
          </a:prstGeom>
          <a:noFill/>
          <a:ln/>
        </p:spPr>
        <p:txBody>
          <a:bodyPr wrap="none" lIns="0" tIns="0" rIns="0" bIns="0" rtlCol="0" anchor="t"/>
          <a:lstStyle/>
          <a:p>
            <a:pPr marL="0" indent="0">
              <a:lnSpc>
                <a:spcPts val="3950"/>
              </a:lnSpc>
              <a:buNone/>
            </a:pPr>
            <a:r>
              <a:rPr lang="en-US" sz="3150" dirty="0">
                <a:solidFill>
                  <a:srgbClr val="030303"/>
                </a:solidFill>
                <a:latin typeface="DM Sans Semi Bold" pitchFamily="34" charset="0"/>
                <a:ea typeface="DM Sans Semi Bold" pitchFamily="34" charset="-122"/>
                <a:cs typeface="DM Sans Semi Bold" pitchFamily="34" charset="-120"/>
              </a:rPr>
              <a:t>Key Performance Metrics to Monitor</a:t>
            </a:r>
            <a:endParaRPr lang="en-US" sz="3150" dirty="0"/>
          </a:p>
        </p:txBody>
      </p:sp>
      <p:sp>
        <p:nvSpPr>
          <p:cNvPr id="4" name="Text 1"/>
          <p:cNvSpPr/>
          <p:nvPr/>
        </p:nvSpPr>
        <p:spPr>
          <a:xfrm>
            <a:off x="567214" y="3303032"/>
            <a:ext cx="6626423" cy="534829"/>
          </a:xfrm>
          <a:prstGeom prst="rect">
            <a:avLst/>
          </a:prstGeom>
          <a:noFill/>
          <a:ln/>
        </p:spPr>
        <p:txBody>
          <a:bodyPr wrap="none" lIns="0" tIns="0" rIns="0" bIns="0" rtlCol="0" anchor="t"/>
          <a:lstStyle/>
          <a:p>
            <a:pPr marL="0" indent="0" algn="ctr">
              <a:lnSpc>
                <a:spcPts val="4200"/>
              </a:lnSpc>
              <a:buNone/>
            </a:pPr>
            <a:r>
              <a:rPr lang="en-US" sz="4200" dirty="0">
                <a:solidFill>
                  <a:srgbClr val="464646"/>
                </a:solidFill>
                <a:latin typeface="DM Sans Semi Bold" pitchFamily="34" charset="0"/>
                <a:ea typeface="DM Sans Semi Bold" pitchFamily="34" charset="-122"/>
                <a:cs typeface="DM Sans Semi Bold" pitchFamily="34" charset="-120"/>
              </a:rPr>
              <a:t>2</a:t>
            </a:r>
            <a:endParaRPr lang="en-US" sz="4200" dirty="0"/>
          </a:p>
        </p:txBody>
      </p:sp>
      <p:sp>
        <p:nvSpPr>
          <p:cNvPr id="5" name="Text 2"/>
          <p:cNvSpPr/>
          <p:nvPr/>
        </p:nvSpPr>
        <p:spPr>
          <a:xfrm>
            <a:off x="2867382" y="4040267"/>
            <a:ext cx="2025968" cy="253246"/>
          </a:xfrm>
          <a:prstGeom prst="rect">
            <a:avLst/>
          </a:prstGeom>
          <a:noFill/>
          <a:ln/>
        </p:spPr>
        <p:txBody>
          <a:bodyPr wrap="none" lIns="0" tIns="0" rIns="0" bIns="0" rtlCol="0" anchor="t"/>
          <a:lstStyle/>
          <a:p>
            <a:pPr marL="0" indent="0" algn="ctr">
              <a:lnSpc>
                <a:spcPts val="1950"/>
              </a:lnSpc>
              <a:buNone/>
            </a:pPr>
            <a:r>
              <a:rPr lang="en-US" sz="1550" dirty="0">
                <a:solidFill>
                  <a:srgbClr val="464646"/>
                </a:solidFill>
                <a:latin typeface="DM Sans Semi Bold" pitchFamily="34" charset="0"/>
                <a:ea typeface="DM Sans Semi Bold" pitchFamily="34" charset="-122"/>
                <a:cs typeface="DM Sans Semi Bold" pitchFamily="34" charset="-120"/>
              </a:rPr>
              <a:t>Error Types</a:t>
            </a:r>
            <a:endParaRPr lang="en-US" sz="1550" dirty="0"/>
          </a:p>
        </p:txBody>
      </p:sp>
      <p:sp>
        <p:nvSpPr>
          <p:cNvPr id="6" name="Text 3"/>
          <p:cNvSpPr/>
          <p:nvPr/>
        </p:nvSpPr>
        <p:spPr>
          <a:xfrm>
            <a:off x="567214" y="4390668"/>
            <a:ext cx="6626423" cy="518398"/>
          </a:xfrm>
          <a:prstGeom prst="rect">
            <a:avLst/>
          </a:prstGeom>
          <a:noFill/>
          <a:ln/>
        </p:spPr>
        <p:txBody>
          <a:bodyPr wrap="square" lIns="0" tIns="0" rIns="0" bIns="0" rtlCol="0" anchor="t"/>
          <a:lstStyle/>
          <a:p>
            <a:pPr marL="0" indent="0" algn="ctr">
              <a:lnSpc>
                <a:spcPts val="2000"/>
              </a:lnSpc>
              <a:buNone/>
            </a:pPr>
            <a:r>
              <a:rPr lang="en-US" sz="1250" dirty="0">
                <a:solidFill>
                  <a:srgbClr val="464646"/>
                </a:solidFill>
                <a:latin typeface="Inter Medium" pitchFamily="34" charset="0"/>
                <a:ea typeface="Inter Medium" pitchFamily="34" charset="-122"/>
                <a:cs typeface="Inter Medium" pitchFamily="34" charset="-120"/>
              </a:rPr>
              <a:t>Always monitor both training error and validation error. The gap between these metrics reveals potential overfitting issues.</a:t>
            </a:r>
            <a:endParaRPr lang="en-US" sz="1250" dirty="0"/>
          </a:p>
        </p:txBody>
      </p:sp>
      <p:sp>
        <p:nvSpPr>
          <p:cNvPr id="7" name="Text 4"/>
          <p:cNvSpPr/>
          <p:nvPr/>
        </p:nvSpPr>
        <p:spPr>
          <a:xfrm>
            <a:off x="7436644" y="3303032"/>
            <a:ext cx="6626543" cy="534829"/>
          </a:xfrm>
          <a:prstGeom prst="rect">
            <a:avLst/>
          </a:prstGeom>
          <a:noFill/>
          <a:ln/>
        </p:spPr>
        <p:txBody>
          <a:bodyPr wrap="none" lIns="0" tIns="0" rIns="0" bIns="0" rtlCol="0" anchor="t"/>
          <a:lstStyle/>
          <a:p>
            <a:pPr marL="0" indent="0" algn="ctr">
              <a:lnSpc>
                <a:spcPts val="4200"/>
              </a:lnSpc>
              <a:buNone/>
            </a:pPr>
            <a:r>
              <a:rPr lang="en-US" sz="4200" dirty="0">
                <a:solidFill>
                  <a:srgbClr val="464646"/>
                </a:solidFill>
                <a:latin typeface="DM Sans Semi Bold" pitchFamily="34" charset="0"/>
                <a:ea typeface="DM Sans Semi Bold" pitchFamily="34" charset="-122"/>
                <a:cs typeface="DM Sans Semi Bold" pitchFamily="34" charset="-120"/>
              </a:rPr>
              <a:t>5-10</a:t>
            </a:r>
            <a:endParaRPr lang="en-US" sz="4200" dirty="0"/>
          </a:p>
        </p:txBody>
      </p:sp>
      <p:sp>
        <p:nvSpPr>
          <p:cNvPr id="8" name="Text 5"/>
          <p:cNvSpPr/>
          <p:nvPr/>
        </p:nvSpPr>
        <p:spPr>
          <a:xfrm>
            <a:off x="9643348" y="4040267"/>
            <a:ext cx="2213015" cy="253246"/>
          </a:xfrm>
          <a:prstGeom prst="rect">
            <a:avLst/>
          </a:prstGeom>
          <a:noFill/>
          <a:ln/>
        </p:spPr>
        <p:txBody>
          <a:bodyPr wrap="none" lIns="0" tIns="0" rIns="0" bIns="0" rtlCol="0" anchor="t"/>
          <a:lstStyle/>
          <a:p>
            <a:pPr marL="0" indent="0" algn="ctr">
              <a:lnSpc>
                <a:spcPts val="1950"/>
              </a:lnSpc>
              <a:buNone/>
            </a:pPr>
            <a:r>
              <a:rPr lang="en-US" sz="1550" dirty="0">
                <a:solidFill>
                  <a:srgbClr val="464646"/>
                </a:solidFill>
                <a:latin typeface="DM Sans Semi Bold" pitchFamily="34" charset="0"/>
                <a:ea typeface="DM Sans Semi Bold" pitchFamily="34" charset="-122"/>
                <a:cs typeface="DM Sans Semi Bold" pitchFamily="34" charset="-120"/>
              </a:rPr>
              <a:t>Cross-Validation Folds</a:t>
            </a:r>
            <a:endParaRPr lang="en-US" sz="1550" dirty="0"/>
          </a:p>
        </p:txBody>
      </p:sp>
      <p:sp>
        <p:nvSpPr>
          <p:cNvPr id="9" name="Text 6"/>
          <p:cNvSpPr/>
          <p:nvPr/>
        </p:nvSpPr>
        <p:spPr>
          <a:xfrm>
            <a:off x="7436644" y="4390668"/>
            <a:ext cx="6626543" cy="518398"/>
          </a:xfrm>
          <a:prstGeom prst="rect">
            <a:avLst/>
          </a:prstGeom>
          <a:noFill/>
          <a:ln/>
        </p:spPr>
        <p:txBody>
          <a:bodyPr wrap="square" lIns="0" tIns="0" rIns="0" bIns="0" rtlCol="0" anchor="t"/>
          <a:lstStyle/>
          <a:p>
            <a:pPr marL="0" indent="0" algn="ctr">
              <a:lnSpc>
                <a:spcPts val="2000"/>
              </a:lnSpc>
              <a:buNone/>
            </a:pPr>
            <a:r>
              <a:rPr lang="en-US" sz="1250" dirty="0">
                <a:solidFill>
                  <a:srgbClr val="464646"/>
                </a:solidFill>
                <a:latin typeface="Inter Medium" pitchFamily="34" charset="0"/>
                <a:ea typeface="Inter Medium" pitchFamily="34" charset="-122"/>
                <a:cs typeface="Inter Medium" pitchFamily="34" charset="-120"/>
              </a:rPr>
              <a:t>Using 5-10 folds in cross-validation provides reliable performance estimates while maintaining computational efficiency.</a:t>
            </a:r>
            <a:endParaRPr lang="en-US" sz="1250" dirty="0"/>
          </a:p>
        </p:txBody>
      </p:sp>
      <p:sp>
        <p:nvSpPr>
          <p:cNvPr id="10" name="Text 7"/>
          <p:cNvSpPr/>
          <p:nvPr/>
        </p:nvSpPr>
        <p:spPr>
          <a:xfrm>
            <a:off x="567214" y="5476161"/>
            <a:ext cx="6626423" cy="534829"/>
          </a:xfrm>
          <a:prstGeom prst="rect">
            <a:avLst/>
          </a:prstGeom>
          <a:noFill/>
          <a:ln/>
        </p:spPr>
        <p:txBody>
          <a:bodyPr wrap="none" lIns="0" tIns="0" rIns="0" bIns="0" rtlCol="0" anchor="t"/>
          <a:lstStyle/>
          <a:p>
            <a:pPr marL="0" indent="0" algn="ctr">
              <a:lnSpc>
                <a:spcPts val="4200"/>
              </a:lnSpc>
              <a:buNone/>
            </a:pPr>
            <a:r>
              <a:rPr lang="en-US" sz="4200" dirty="0">
                <a:solidFill>
                  <a:srgbClr val="464646"/>
                </a:solidFill>
                <a:latin typeface="DM Sans Semi Bold" pitchFamily="34" charset="0"/>
                <a:ea typeface="DM Sans Semi Bold" pitchFamily="34" charset="-122"/>
                <a:cs typeface="DM Sans Semi Bold" pitchFamily="34" charset="-120"/>
              </a:rPr>
              <a:t>80/20</a:t>
            </a:r>
            <a:endParaRPr lang="en-US" sz="4200" dirty="0"/>
          </a:p>
        </p:txBody>
      </p:sp>
      <p:sp>
        <p:nvSpPr>
          <p:cNvPr id="11" name="Text 8"/>
          <p:cNvSpPr/>
          <p:nvPr/>
        </p:nvSpPr>
        <p:spPr>
          <a:xfrm>
            <a:off x="2867382" y="6213396"/>
            <a:ext cx="2025968" cy="253246"/>
          </a:xfrm>
          <a:prstGeom prst="rect">
            <a:avLst/>
          </a:prstGeom>
          <a:noFill/>
          <a:ln/>
        </p:spPr>
        <p:txBody>
          <a:bodyPr wrap="none" lIns="0" tIns="0" rIns="0" bIns="0" rtlCol="0" anchor="t"/>
          <a:lstStyle/>
          <a:p>
            <a:pPr marL="0" indent="0" algn="ctr">
              <a:lnSpc>
                <a:spcPts val="1950"/>
              </a:lnSpc>
              <a:buNone/>
            </a:pPr>
            <a:r>
              <a:rPr lang="en-US" sz="1550" dirty="0">
                <a:solidFill>
                  <a:srgbClr val="464646"/>
                </a:solidFill>
                <a:latin typeface="DM Sans Semi Bold" pitchFamily="34" charset="0"/>
                <a:ea typeface="DM Sans Semi Bold" pitchFamily="34" charset="-122"/>
                <a:cs typeface="DM Sans Semi Bold" pitchFamily="34" charset="-120"/>
              </a:rPr>
              <a:t>Train/Test Split</a:t>
            </a:r>
            <a:endParaRPr lang="en-US" sz="1550" dirty="0"/>
          </a:p>
        </p:txBody>
      </p:sp>
      <p:sp>
        <p:nvSpPr>
          <p:cNvPr id="12" name="Text 9"/>
          <p:cNvSpPr/>
          <p:nvPr/>
        </p:nvSpPr>
        <p:spPr>
          <a:xfrm>
            <a:off x="567214" y="6563797"/>
            <a:ext cx="6626423" cy="518398"/>
          </a:xfrm>
          <a:prstGeom prst="rect">
            <a:avLst/>
          </a:prstGeom>
          <a:noFill/>
          <a:ln/>
        </p:spPr>
        <p:txBody>
          <a:bodyPr wrap="square" lIns="0" tIns="0" rIns="0" bIns="0" rtlCol="0" anchor="t"/>
          <a:lstStyle/>
          <a:p>
            <a:pPr marL="0" indent="0" algn="ctr">
              <a:lnSpc>
                <a:spcPts val="2000"/>
              </a:lnSpc>
              <a:buNone/>
            </a:pPr>
            <a:r>
              <a:rPr lang="en-US" sz="1250" dirty="0">
                <a:solidFill>
                  <a:srgbClr val="464646"/>
                </a:solidFill>
                <a:latin typeface="Inter Medium" pitchFamily="34" charset="0"/>
                <a:ea typeface="Inter Medium" pitchFamily="34" charset="-122"/>
                <a:cs typeface="Inter Medium" pitchFamily="34" charset="-120"/>
              </a:rPr>
              <a:t>The common ratio for dividing data between training and testing sets, though this may vary based on dataset size.</a:t>
            </a:r>
            <a:endParaRPr lang="en-US" sz="1250" dirty="0"/>
          </a:p>
        </p:txBody>
      </p:sp>
      <p:sp>
        <p:nvSpPr>
          <p:cNvPr id="13" name="Text 10"/>
          <p:cNvSpPr/>
          <p:nvPr/>
        </p:nvSpPr>
        <p:spPr>
          <a:xfrm>
            <a:off x="7436644" y="5476161"/>
            <a:ext cx="6626543" cy="534829"/>
          </a:xfrm>
          <a:prstGeom prst="rect">
            <a:avLst/>
          </a:prstGeom>
          <a:noFill/>
          <a:ln/>
        </p:spPr>
        <p:txBody>
          <a:bodyPr wrap="none" lIns="0" tIns="0" rIns="0" bIns="0" rtlCol="0" anchor="t"/>
          <a:lstStyle/>
          <a:p>
            <a:pPr marL="0" indent="0" algn="ctr">
              <a:lnSpc>
                <a:spcPts val="4200"/>
              </a:lnSpc>
              <a:buNone/>
            </a:pPr>
            <a:r>
              <a:rPr lang="en-US" sz="4200" dirty="0">
                <a:solidFill>
                  <a:srgbClr val="464646"/>
                </a:solidFill>
                <a:latin typeface="DM Sans Semi Bold" pitchFamily="34" charset="0"/>
                <a:ea typeface="DM Sans Semi Bold" pitchFamily="34" charset="-122"/>
                <a:cs typeface="DM Sans Semi Bold" pitchFamily="34" charset="-120"/>
              </a:rPr>
              <a:t>0.95+</a:t>
            </a:r>
            <a:endParaRPr lang="en-US" sz="4200" dirty="0"/>
          </a:p>
        </p:txBody>
      </p:sp>
      <p:sp>
        <p:nvSpPr>
          <p:cNvPr id="14" name="Text 11"/>
          <p:cNvSpPr/>
          <p:nvPr/>
        </p:nvSpPr>
        <p:spPr>
          <a:xfrm>
            <a:off x="9718358" y="6213396"/>
            <a:ext cx="2062996" cy="253246"/>
          </a:xfrm>
          <a:prstGeom prst="rect">
            <a:avLst/>
          </a:prstGeom>
          <a:noFill/>
          <a:ln/>
        </p:spPr>
        <p:txBody>
          <a:bodyPr wrap="none" lIns="0" tIns="0" rIns="0" bIns="0" rtlCol="0" anchor="t"/>
          <a:lstStyle/>
          <a:p>
            <a:pPr marL="0" indent="0" algn="ctr">
              <a:lnSpc>
                <a:spcPts val="1950"/>
              </a:lnSpc>
              <a:buNone/>
            </a:pPr>
            <a:r>
              <a:rPr lang="en-US" sz="1550" dirty="0">
                <a:solidFill>
                  <a:srgbClr val="464646"/>
                </a:solidFill>
                <a:latin typeface="DM Sans Semi Bold" pitchFamily="34" charset="0"/>
                <a:ea typeface="DM Sans Semi Bold" pitchFamily="34" charset="-122"/>
                <a:cs typeface="DM Sans Semi Bold" pitchFamily="34" charset="-120"/>
              </a:rPr>
              <a:t>Target R² for Good Fit</a:t>
            </a:r>
            <a:endParaRPr lang="en-US" sz="1550" dirty="0"/>
          </a:p>
        </p:txBody>
      </p:sp>
      <p:sp>
        <p:nvSpPr>
          <p:cNvPr id="15" name="Text 12"/>
          <p:cNvSpPr/>
          <p:nvPr/>
        </p:nvSpPr>
        <p:spPr>
          <a:xfrm>
            <a:off x="7436644" y="6563797"/>
            <a:ext cx="6626543" cy="518398"/>
          </a:xfrm>
          <a:prstGeom prst="rect">
            <a:avLst/>
          </a:prstGeom>
          <a:noFill/>
          <a:ln/>
        </p:spPr>
        <p:txBody>
          <a:bodyPr wrap="square" lIns="0" tIns="0" rIns="0" bIns="0" rtlCol="0" anchor="t"/>
          <a:lstStyle/>
          <a:p>
            <a:pPr marL="0" indent="0" algn="ctr">
              <a:lnSpc>
                <a:spcPts val="2000"/>
              </a:lnSpc>
              <a:buNone/>
            </a:pPr>
            <a:r>
              <a:rPr lang="en-US" sz="1250" dirty="0">
                <a:solidFill>
                  <a:srgbClr val="464646"/>
                </a:solidFill>
                <a:latin typeface="Inter Medium" pitchFamily="34" charset="0"/>
                <a:ea typeface="Inter Medium" pitchFamily="34" charset="-122"/>
                <a:cs typeface="Inter Medium" pitchFamily="34" charset="-120"/>
              </a:rPr>
              <a:t>For many applications, an R-squared above 0.95 on validation data indicates a well-fitted regression model.</a:t>
            </a:r>
            <a:endParaRPr lang="en-US" sz="1250" dirty="0"/>
          </a:p>
        </p:txBody>
      </p:sp>
      <p:sp>
        <p:nvSpPr>
          <p:cNvPr id="16" name="Text 13"/>
          <p:cNvSpPr/>
          <p:nvPr/>
        </p:nvSpPr>
        <p:spPr>
          <a:xfrm>
            <a:off x="567214" y="7264479"/>
            <a:ext cx="13495973" cy="518398"/>
          </a:xfrm>
          <a:prstGeom prst="rect">
            <a:avLst/>
          </a:prstGeom>
          <a:noFill/>
          <a:ln/>
        </p:spPr>
        <p:txBody>
          <a:bodyPr wrap="square" lIns="0" tIns="0" rIns="0" bIns="0" rtlCol="0" anchor="t"/>
          <a:lstStyle/>
          <a:p>
            <a:pPr marL="0" indent="0">
              <a:lnSpc>
                <a:spcPts val="2000"/>
              </a:lnSpc>
              <a:buNone/>
            </a:pPr>
            <a:r>
              <a:rPr lang="en-US" sz="1250" dirty="0">
                <a:solidFill>
                  <a:srgbClr val="464646"/>
                </a:solidFill>
                <a:latin typeface="Inter Medium" pitchFamily="34" charset="0"/>
                <a:ea typeface="Inter Medium" pitchFamily="34" charset="-122"/>
                <a:cs typeface="Inter Medium" pitchFamily="34" charset="-120"/>
              </a:rPr>
              <a:t>Monitoring these key metrics helps identify whether your model is underfitting, overfitting, or achieving a good balance. The relationship between training and validation performance is particularly revealing of your model's generalization capabilities.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33889" y="644843"/>
            <a:ext cx="9379029" cy="566142"/>
          </a:xfrm>
          <a:prstGeom prst="rect">
            <a:avLst/>
          </a:prstGeom>
          <a:noFill/>
          <a:ln/>
        </p:spPr>
        <p:txBody>
          <a:bodyPr wrap="none" lIns="0" tIns="0" rIns="0" bIns="0" rtlCol="0" anchor="t"/>
          <a:lstStyle/>
          <a:p>
            <a:pPr marL="0" indent="0">
              <a:lnSpc>
                <a:spcPts val="4450"/>
              </a:lnSpc>
              <a:buNone/>
            </a:pPr>
            <a:r>
              <a:rPr lang="en-US" sz="3550" dirty="0">
                <a:solidFill>
                  <a:srgbClr val="030303"/>
                </a:solidFill>
                <a:latin typeface="DM Sans Semi Bold" pitchFamily="34" charset="0"/>
                <a:ea typeface="DM Sans Semi Bold" pitchFamily="34" charset="-122"/>
                <a:cs typeface="DM Sans Semi Bold" pitchFamily="34" charset="-120"/>
              </a:rPr>
              <a:t>Implementation: Learning Curves in Python</a:t>
            </a:r>
            <a:endParaRPr lang="en-US" sz="3550" dirty="0"/>
          </a:p>
        </p:txBody>
      </p:sp>
      <p:sp>
        <p:nvSpPr>
          <p:cNvPr id="3" name="Shape 1"/>
          <p:cNvSpPr/>
          <p:nvPr/>
        </p:nvSpPr>
        <p:spPr>
          <a:xfrm>
            <a:off x="633889" y="1573173"/>
            <a:ext cx="1670328" cy="1043464"/>
          </a:xfrm>
          <a:prstGeom prst="roundRect">
            <a:avLst>
              <a:gd name="adj" fmla="val 2604"/>
            </a:avLst>
          </a:prstGeom>
          <a:solidFill>
            <a:srgbClr val="F2EEEE"/>
          </a:solidFill>
          <a:ln/>
        </p:spPr>
      </p:sp>
      <p:sp>
        <p:nvSpPr>
          <p:cNvPr id="4" name="Text 2"/>
          <p:cNvSpPr/>
          <p:nvPr/>
        </p:nvSpPr>
        <p:spPr>
          <a:xfrm>
            <a:off x="814983" y="1913692"/>
            <a:ext cx="78819"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1</a:t>
            </a:r>
            <a:endParaRPr lang="en-US" sz="1750" dirty="0"/>
          </a:p>
        </p:txBody>
      </p:sp>
      <p:sp>
        <p:nvSpPr>
          <p:cNvPr id="5" name="Text 3"/>
          <p:cNvSpPr/>
          <p:nvPr/>
        </p:nvSpPr>
        <p:spPr>
          <a:xfrm>
            <a:off x="2485311" y="1754267"/>
            <a:ext cx="2264212"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Import Libraries</a:t>
            </a:r>
            <a:endParaRPr lang="en-US" sz="1750" dirty="0"/>
          </a:p>
        </p:txBody>
      </p:sp>
      <p:sp>
        <p:nvSpPr>
          <p:cNvPr id="6" name="Text 4"/>
          <p:cNvSpPr/>
          <p:nvPr/>
        </p:nvSpPr>
        <p:spPr>
          <a:xfrm>
            <a:off x="2485311" y="2145863"/>
            <a:ext cx="3892034" cy="289679"/>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Start by importing sklearn, matplotlib, numpy</a:t>
            </a:r>
            <a:endParaRPr lang="en-US" sz="1400" dirty="0"/>
          </a:p>
        </p:txBody>
      </p:sp>
      <p:sp>
        <p:nvSpPr>
          <p:cNvPr id="7" name="Shape 5"/>
          <p:cNvSpPr/>
          <p:nvPr/>
        </p:nvSpPr>
        <p:spPr>
          <a:xfrm>
            <a:off x="2394704" y="2607112"/>
            <a:ext cx="11511320" cy="11430"/>
          </a:xfrm>
          <a:prstGeom prst="roundRect">
            <a:avLst>
              <a:gd name="adj" fmla="val 237719"/>
            </a:avLst>
          </a:prstGeom>
          <a:solidFill>
            <a:srgbClr val="D8D4D4"/>
          </a:solidFill>
          <a:ln/>
        </p:spPr>
      </p:sp>
      <p:sp>
        <p:nvSpPr>
          <p:cNvPr id="8" name="Shape 6"/>
          <p:cNvSpPr/>
          <p:nvPr/>
        </p:nvSpPr>
        <p:spPr>
          <a:xfrm>
            <a:off x="633889" y="2707124"/>
            <a:ext cx="3340656" cy="1043464"/>
          </a:xfrm>
          <a:prstGeom prst="roundRect">
            <a:avLst>
              <a:gd name="adj" fmla="val 2604"/>
            </a:avLst>
          </a:prstGeom>
          <a:solidFill>
            <a:srgbClr val="F2EEEE"/>
          </a:solidFill>
          <a:ln/>
        </p:spPr>
      </p:sp>
      <p:sp>
        <p:nvSpPr>
          <p:cNvPr id="9" name="Text 7"/>
          <p:cNvSpPr/>
          <p:nvPr/>
        </p:nvSpPr>
        <p:spPr>
          <a:xfrm>
            <a:off x="814983" y="3047643"/>
            <a:ext cx="130612"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2</a:t>
            </a:r>
            <a:endParaRPr lang="en-US" sz="1750" dirty="0"/>
          </a:p>
        </p:txBody>
      </p:sp>
      <p:sp>
        <p:nvSpPr>
          <p:cNvPr id="10" name="Text 8"/>
          <p:cNvSpPr/>
          <p:nvPr/>
        </p:nvSpPr>
        <p:spPr>
          <a:xfrm>
            <a:off x="4155638" y="2888218"/>
            <a:ext cx="3451741"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Create Learning Curve Function</a:t>
            </a:r>
            <a:endParaRPr lang="en-US" sz="1750" dirty="0"/>
          </a:p>
        </p:txBody>
      </p:sp>
      <p:sp>
        <p:nvSpPr>
          <p:cNvPr id="11" name="Text 9"/>
          <p:cNvSpPr/>
          <p:nvPr/>
        </p:nvSpPr>
        <p:spPr>
          <a:xfrm>
            <a:off x="4155638" y="3279815"/>
            <a:ext cx="4238506" cy="289679"/>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Define function to plot training vs validation error</a:t>
            </a:r>
            <a:endParaRPr lang="en-US" sz="1400" dirty="0"/>
          </a:p>
        </p:txBody>
      </p:sp>
      <p:sp>
        <p:nvSpPr>
          <p:cNvPr id="12" name="Shape 10"/>
          <p:cNvSpPr/>
          <p:nvPr/>
        </p:nvSpPr>
        <p:spPr>
          <a:xfrm>
            <a:off x="4065032" y="3741063"/>
            <a:ext cx="9840992" cy="11430"/>
          </a:xfrm>
          <a:prstGeom prst="roundRect">
            <a:avLst>
              <a:gd name="adj" fmla="val 237719"/>
            </a:avLst>
          </a:prstGeom>
          <a:solidFill>
            <a:srgbClr val="D8D4D4"/>
          </a:solidFill>
          <a:ln/>
        </p:spPr>
      </p:sp>
      <p:sp>
        <p:nvSpPr>
          <p:cNvPr id="13" name="Shape 11"/>
          <p:cNvSpPr/>
          <p:nvPr/>
        </p:nvSpPr>
        <p:spPr>
          <a:xfrm>
            <a:off x="633889" y="3841075"/>
            <a:ext cx="5010983" cy="1043464"/>
          </a:xfrm>
          <a:prstGeom prst="roundRect">
            <a:avLst>
              <a:gd name="adj" fmla="val 2604"/>
            </a:avLst>
          </a:prstGeom>
          <a:solidFill>
            <a:srgbClr val="F2EEEE"/>
          </a:solidFill>
          <a:ln/>
        </p:spPr>
      </p:sp>
      <p:sp>
        <p:nvSpPr>
          <p:cNvPr id="14" name="Text 12"/>
          <p:cNvSpPr/>
          <p:nvPr/>
        </p:nvSpPr>
        <p:spPr>
          <a:xfrm>
            <a:off x="814983" y="4181594"/>
            <a:ext cx="135612"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3</a:t>
            </a:r>
            <a:endParaRPr lang="en-US" sz="1750" dirty="0"/>
          </a:p>
        </p:txBody>
      </p:sp>
      <p:sp>
        <p:nvSpPr>
          <p:cNvPr id="15" name="Text 13"/>
          <p:cNvSpPr/>
          <p:nvPr/>
        </p:nvSpPr>
        <p:spPr>
          <a:xfrm>
            <a:off x="5825966" y="4022169"/>
            <a:ext cx="4422219"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Train Models with Different Complexities</a:t>
            </a:r>
            <a:endParaRPr lang="en-US" sz="1750" dirty="0"/>
          </a:p>
        </p:txBody>
      </p:sp>
      <p:sp>
        <p:nvSpPr>
          <p:cNvPr id="16" name="Text 14"/>
          <p:cNvSpPr/>
          <p:nvPr/>
        </p:nvSpPr>
        <p:spPr>
          <a:xfrm>
            <a:off x="5825966" y="4413766"/>
            <a:ext cx="4422219" cy="289679"/>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Evaluate simple to complex models on same data</a:t>
            </a:r>
            <a:endParaRPr lang="en-US" sz="1400" dirty="0"/>
          </a:p>
        </p:txBody>
      </p:sp>
      <p:sp>
        <p:nvSpPr>
          <p:cNvPr id="17" name="Shape 15"/>
          <p:cNvSpPr/>
          <p:nvPr/>
        </p:nvSpPr>
        <p:spPr>
          <a:xfrm>
            <a:off x="5735360" y="4875014"/>
            <a:ext cx="8170664" cy="11430"/>
          </a:xfrm>
          <a:prstGeom prst="roundRect">
            <a:avLst>
              <a:gd name="adj" fmla="val 237719"/>
            </a:avLst>
          </a:prstGeom>
          <a:solidFill>
            <a:srgbClr val="D8D4D4"/>
          </a:solidFill>
          <a:ln/>
        </p:spPr>
      </p:sp>
      <p:sp>
        <p:nvSpPr>
          <p:cNvPr id="18" name="Shape 16"/>
          <p:cNvSpPr/>
          <p:nvPr/>
        </p:nvSpPr>
        <p:spPr>
          <a:xfrm>
            <a:off x="633889" y="4975027"/>
            <a:ext cx="6681311" cy="1043464"/>
          </a:xfrm>
          <a:prstGeom prst="roundRect">
            <a:avLst>
              <a:gd name="adj" fmla="val 2604"/>
            </a:avLst>
          </a:prstGeom>
          <a:solidFill>
            <a:srgbClr val="F2EEEE"/>
          </a:solidFill>
          <a:ln/>
        </p:spPr>
      </p:sp>
      <p:sp>
        <p:nvSpPr>
          <p:cNvPr id="19" name="Text 17"/>
          <p:cNvSpPr/>
          <p:nvPr/>
        </p:nvSpPr>
        <p:spPr>
          <a:xfrm>
            <a:off x="814983" y="5315545"/>
            <a:ext cx="144423"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4</a:t>
            </a:r>
            <a:endParaRPr lang="en-US" sz="1750" dirty="0"/>
          </a:p>
        </p:txBody>
      </p:sp>
      <p:sp>
        <p:nvSpPr>
          <p:cNvPr id="20" name="Text 18"/>
          <p:cNvSpPr/>
          <p:nvPr/>
        </p:nvSpPr>
        <p:spPr>
          <a:xfrm>
            <a:off x="7496294" y="5156121"/>
            <a:ext cx="3764518"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Analyze Curves to Diagnose Issues</a:t>
            </a:r>
            <a:endParaRPr lang="en-US" sz="1750" dirty="0"/>
          </a:p>
        </p:txBody>
      </p:sp>
      <p:sp>
        <p:nvSpPr>
          <p:cNvPr id="21" name="Text 19"/>
          <p:cNvSpPr/>
          <p:nvPr/>
        </p:nvSpPr>
        <p:spPr>
          <a:xfrm>
            <a:off x="7496294" y="5547717"/>
            <a:ext cx="3831550" cy="289679"/>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Identify patterns indicating under/overfitting</a:t>
            </a:r>
            <a:endParaRPr lang="en-US" sz="1400" dirty="0"/>
          </a:p>
        </p:txBody>
      </p:sp>
      <p:sp>
        <p:nvSpPr>
          <p:cNvPr id="22" name="Text 20"/>
          <p:cNvSpPr/>
          <p:nvPr/>
        </p:nvSpPr>
        <p:spPr>
          <a:xfrm>
            <a:off x="633889" y="6222206"/>
            <a:ext cx="13362623" cy="579358"/>
          </a:xfrm>
          <a:prstGeom prst="rect">
            <a:avLst/>
          </a:prstGeom>
          <a:noFill/>
          <a:ln/>
        </p:spPr>
        <p:txBody>
          <a:bodyPr wrap="square" lIns="0" tIns="0" rIns="0" bIns="0" rtlCol="0" anchor="t"/>
          <a:lstStyle/>
          <a:p>
            <a:pPr marL="0" indent="0">
              <a:lnSpc>
                <a:spcPts val="2250"/>
              </a:lnSpc>
              <a:buNone/>
            </a:pPr>
            <a:r>
              <a:rPr lang="en-US" sz="1400" dirty="0">
                <a:solidFill>
                  <a:srgbClr val="464646"/>
                </a:solidFill>
                <a:latin typeface="Inter Medium" pitchFamily="34" charset="0"/>
                <a:ea typeface="Inter Medium" pitchFamily="34" charset="-122"/>
                <a:cs typeface="Inter Medium" pitchFamily="34" charset="-120"/>
              </a:rPr>
              <a:t>Learning curves plot training and validation errors as functions of training set size. They provide visual diagnostics for identifying underfitting and overfitting. When both curves show high error, the model is underfitting. When training error is much lower than validation error, the model is overfitting.</a:t>
            </a:r>
            <a:endParaRPr lang="en-US" sz="1400" dirty="0"/>
          </a:p>
        </p:txBody>
      </p:sp>
      <p:sp>
        <p:nvSpPr>
          <p:cNvPr id="23" name="Text 21"/>
          <p:cNvSpPr/>
          <p:nvPr/>
        </p:nvSpPr>
        <p:spPr>
          <a:xfrm>
            <a:off x="633889" y="7005280"/>
            <a:ext cx="13362623" cy="579358"/>
          </a:xfrm>
          <a:prstGeom prst="rect">
            <a:avLst/>
          </a:prstGeom>
          <a:noFill/>
          <a:ln/>
        </p:spPr>
        <p:txBody>
          <a:bodyPr wrap="square" lIns="0" tIns="0" rIns="0" bIns="0" rtlCol="0" anchor="t"/>
          <a:lstStyle/>
          <a:p>
            <a:pPr marL="0" indent="0">
              <a:lnSpc>
                <a:spcPts val="2250"/>
              </a:lnSpc>
              <a:buNone/>
            </a:pPr>
            <a:r>
              <a:rPr lang="en-US" sz="1400" dirty="0">
                <a:solidFill>
                  <a:srgbClr val="464646"/>
                </a:solidFill>
                <a:latin typeface="Inter Medium" pitchFamily="34" charset="0"/>
                <a:ea typeface="Inter Medium" pitchFamily="34" charset="-122"/>
                <a:cs typeface="Inter Medium" pitchFamily="34" charset="-120"/>
              </a:rPr>
              <a:t>Implementing these curves in Python is straightforward with scikit-learn's learning_curve function, allowing you to visualize how your model performs as it sees more training examples.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11875" y="772597"/>
            <a:ext cx="9483209" cy="635556"/>
          </a:xfrm>
          <a:prstGeom prst="rect">
            <a:avLst/>
          </a:prstGeom>
          <a:noFill/>
          <a:ln/>
        </p:spPr>
        <p:txBody>
          <a:bodyPr wrap="none" lIns="0" tIns="0" rIns="0" bIns="0" rtlCol="0" anchor="t"/>
          <a:lstStyle/>
          <a:p>
            <a:pPr marL="0" indent="0">
              <a:lnSpc>
                <a:spcPts val="5000"/>
              </a:lnSpc>
              <a:buNone/>
            </a:pPr>
            <a:r>
              <a:rPr lang="en-US" sz="4000" dirty="0">
                <a:solidFill>
                  <a:srgbClr val="030303"/>
                </a:solidFill>
                <a:latin typeface="DM Sans Semi Bold" pitchFamily="34" charset="0"/>
                <a:ea typeface="DM Sans Semi Bold" pitchFamily="34" charset="-122"/>
                <a:cs typeface="DM Sans Semi Bold" pitchFamily="34" charset="-120"/>
              </a:rPr>
              <a:t>Real-World Examples: Before and After</a:t>
            </a:r>
            <a:endParaRPr lang="en-US" sz="4000" dirty="0"/>
          </a:p>
        </p:txBody>
      </p:sp>
      <p:pic>
        <p:nvPicPr>
          <p:cNvPr id="3" name="Image 0" descr="preencoded.png"/>
          <p:cNvPicPr>
            <a:picLocks noChangeAspect="1"/>
          </p:cNvPicPr>
          <p:nvPr/>
        </p:nvPicPr>
        <p:blipFill>
          <a:blip r:embed="rId3"/>
          <a:stretch>
            <a:fillRect/>
          </a:stretch>
        </p:blipFill>
        <p:spPr>
          <a:xfrm>
            <a:off x="711875" y="1814870"/>
            <a:ext cx="2755463" cy="1702951"/>
          </a:xfrm>
          <a:prstGeom prst="rect">
            <a:avLst/>
          </a:prstGeom>
        </p:spPr>
      </p:pic>
      <p:sp>
        <p:nvSpPr>
          <p:cNvPr id="4" name="Text 1"/>
          <p:cNvSpPr/>
          <p:nvPr/>
        </p:nvSpPr>
        <p:spPr>
          <a:xfrm>
            <a:off x="711875" y="3772019"/>
            <a:ext cx="3072884" cy="635318"/>
          </a:xfrm>
          <a:prstGeom prst="rect">
            <a:avLst/>
          </a:prstGeom>
          <a:noFill/>
          <a:ln/>
        </p:spPr>
        <p:txBody>
          <a:bodyPr wrap="squar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Housing Price Prediction: Underfitting</a:t>
            </a:r>
            <a:endParaRPr lang="en-US" sz="2000" dirty="0"/>
          </a:p>
        </p:txBody>
      </p:sp>
      <p:sp>
        <p:nvSpPr>
          <p:cNvPr id="5" name="Text 2"/>
          <p:cNvSpPr/>
          <p:nvPr/>
        </p:nvSpPr>
        <p:spPr>
          <a:xfrm>
            <a:off x="711875" y="4529376"/>
            <a:ext cx="3072884" cy="2602230"/>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Initially, a simple linear regression model significantly underpredicted high-value properties and overpredicted low-value ones. The straight-line model couldn't capture the nonlinear relationship between home features and prices.</a:t>
            </a:r>
            <a:endParaRPr lang="en-US" sz="1600" dirty="0"/>
          </a:p>
        </p:txBody>
      </p:sp>
      <p:pic>
        <p:nvPicPr>
          <p:cNvPr id="6" name="Image 1" descr="preencoded.png"/>
          <p:cNvPicPr>
            <a:picLocks noChangeAspect="1"/>
          </p:cNvPicPr>
          <p:nvPr/>
        </p:nvPicPr>
        <p:blipFill>
          <a:blip r:embed="rId4"/>
          <a:stretch>
            <a:fillRect/>
          </a:stretch>
        </p:blipFill>
        <p:spPr>
          <a:xfrm>
            <a:off x="4089797" y="1814870"/>
            <a:ext cx="2755463" cy="1702951"/>
          </a:xfrm>
          <a:prstGeom prst="rect">
            <a:avLst/>
          </a:prstGeom>
        </p:spPr>
      </p:pic>
      <p:sp>
        <p:nvSpPr>
          <p:cNvPr id="7" name="Text 3"/>
          <p:cNvSpPr/>
          <p:nvPr/>
        </p:nvSpPr>
        <p:spPr>
          <a:xfrm>
            <a:off x="4089797" y="3772019"/>
            <a:ext cx="3072884" cy="635318"/>
          </a:xfrm>
          <a:prstGeom prst="rect">
            <a:avLst/>
          </a:prstGeom>
          <a:noFill/>
          <a:ln/>
        </p:spPr>
        <p:txBody>
          <a:bodyPr wrap="squar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Solution: Feature Engineering</a:t>
            </a:r>
            <a:endParaRPr lang="en-US" sz="2000" dirty="0"/>
          </a:p>
        </p:txBody>
      </p:sp>
      <p:sp>
        <p:nvSpPr>
          <p:cNvPr id="8" name="Text 4"/>
          <p:cNvSpPr/>
          <p:nvPr/>
        </p:nvSpPr>
        <p:spPr>
          <a:xfrm>
            <a:off x="4089797" y="4529376"/>
            <a:ext cx="3072884" cy="2927509"/>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Adding polynomial features and interaction terms allowed the model to capture nonlinear relationships. The improved model reduced RMSE by 35% by properly modeling how features like location, size, and amenities interact to determine housing prices.</a:t>
            </a:r>
            <a:endParaRPr lang="en-US" sz="1600" dirty="0"/>
          </a:p>
        </p:txBody>
      </p:sp>
      <p:pic>
        <p:nvPicPr>
          <p:cNvPr id="9" name="Image 2" descr="preencoded.png"/>
          <p:cNvPicPr>
            <a:picLocks noChangeAspect="1"/>
          </p:cNvPicPr>
          <p:nvPr/>
        </p:nvPicPr>
        <p:blipFill>
          <a:blip r:embed="rId5"/>
          <a:stretch>
            <a:fillRect/>
          </a:stretch>
        </p:blipFill>
        <p:spPr>
          <a:xfrm>
            <a:off x="7467719" y="1814870"/>
            <a:ext cx="2755463" cy="1702951"/>
          </a:xfrm>
          <a:prstGeom prst="rect">
            <a:avLst/>
          </a:prstGeom>
        </p:spPr>
      </p:pic>
      <p:sp>
        <p:nvSpPr>
          <p:cNvPr id="10" name="Text 5"/>
          <p:cNvSpPr/>
          <p:nvPr/>
        </p:nvSpPr>
        <p:spPr>
          <a:xfrm>
            <a:off x="7467719" y="3772019"/>
            <a:ext cx="3072884" cy="635318"/>
          </a:xfrm>
          <a:prstGeom prst="rect">
            <a:avLst/>
          </a:prstGeom>
          <a:noFill/>
          <a:ln/>
        </p:spPr>
        <p:txBody>
          <a:bodyPr wrap="squar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Image Classification: Overfitting</a:t>
            </a:r>
            <a:endParaRPr lang="en-US" sz="2000" dirty="0"/>
          </a:p>
        </p:txBody>
      </p:sp>
      <p:sp>
        <p:nvSpPr>
          <p:cNvPr id="11" name="Text 6"/>
          <p:cNvSpPr/>
          <p:nvPr/>
        </p:nvSpPr>
        <p:spPr>
          <a:xfrm>
            <a:off x="7467719" y="4529376"/>
            <a:ext cx="3072884" cy="2276951"/>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A deep CNN achieved 99.8% accuracy on training images but only 82% on test images. The model had memorized training examples instead of learning generalizable features.</a:t>
            </a:r>
            <a:endParaRPr lang="en-US" sz="1600" dirty="0"/>
          </a:p>
        </p:txBody>
      </p:sp>
      <p:pic>
        <p:nvPicPr>
          <p:cNvPr id="12" name="Image 3" descr="preencoded.png"/>
          <p:cNvPicPr>
            <a:picLocks noChangeAspect="1"/>
          </p:cNvPicPr>
          <p:nvPr/>
        </p:nvPicPr>
        <p:blipFill>
          <a:blip r:embed="rId6"/>
          <a:stretch>
            <a:fillRect/>
          </a:stretch>
        </p:blipFill>
        <p:spPr>
          <a:xfrm>
            <a:off x="10845641" y="1814870"/>
            <a:ext cx="2755463" cy="1702951"/>
          </a:xfrm>
          <a:prstGeom prst="rect">
            <a:avLst/>
          </a:prstGeom>
        </p:spPr>
      </p:pic>
      <p:sp>
        <p:nvSpPr>
          <p:cNvPr id="13" name="Text 7"/>
          <p:cNvSpPr/>
          <p:nvPr/>
        </p:nvSpPr>
        <p:spPr>
          <a:xfrm>
            <a:off x="10845641" y="3772019"/>
            <a:ext cx="3072884" cy="635318"/>
          </a:xfrm>
          <a:prstGeom prst="rect">
            <a:avLst/>
          </a:prstGeom>
          <a:noFill/>
          <a:ln/>
        </p:spPr>
        <p:txBody>
          <a:bodyPr wrap="squar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Solution: Regularization + Augmentation</a:t>
            </a:r>
            <a:endParaRPr lang="en-US" sz="2000" dirty="0"/>
          </a:p>
        </p:txBody>
      </p:sp>
      <p:sp>
        <p:nvSpPr>
          <p:cNvPr id="14" name="Text 8"/>
          <p:cNvSpPr/>
          <p:nvPr/>
        </p:nvSpPr>
        <p:spPr>
          <a:xfrm>
            <a:off x="10845641" y="4529376"/>
            <a:ext cx="3072884" cy="2602230"/>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Implementing dropout layers, L2 regularization, and data augmentation (rotations, flips, color variations) reduced the gap between training and test performance, improving test accuracy to 94% while slightly reducing training accuracy.</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33043" y="515660"/>
            <a:ext cx="10406658" cy="475893"/>
          </a:xfrm>
          <a:prstGeom prst="rect">
            <a:avLst/>
          </a:prstGeom>
          <a:noFill/>
          <a:ln/>
        </p:spPr>
        <p:txBody>
          <a:bodyPr wrap="none" lIns="0" tIns="0" rIns="0" bIns="0" rtlCol="0" anchor="t"/>
          <a:lstStyle/>
          <a:p>
            <a:pPr marL="0" indent="0">
              <a:lnSpc>
                <a:spcPts val="3700"/>
              </a:lnSpc>
              <a:buNone/>
            </a:pPr>
            <a:r>
              <a:rPr lang="en-US" sz="2950" dirty="0">
                <a:solidFill>
                  <a:srgbClr val="030303"/>
                </a:solidFill>
                <a:latin typeface="DM Sans Semi Bold" pitchFamily="34" charset="0"/>
                <a:ea typeface="DM Sans Semi Bold" pitchFamily="34" charset="-122"/>
                <a:cs typeface="DM Sans Semi Bold" pitchFamily="34" charset="-120"/>
              </a:rPr>
              <a:t>Summary: Balancing the Art and Science of Model Fitting</a:t>
            </a:r>
            <a:endParaRPr lang="en-US" sz="2950" dirty="0"/>
          </a:p>
        </p:txBody>
      </p:sp>
      <p:pic>
        <p:nvPicPr>
          <p:cNvPr id="3" name="Image 0" descr="preencoded.png"/>
          <p:cNvPicPr>
            <a:picLocks noChangeAspect="1"/>
          </p:cNvPicPr>
          <p:nvPr/>
        </p:nvPicPr>
        <p:blipFill>
          <a:blip r:embed="rId3"/>
          <a:stretch>
            <a:fillRect/>
          </a:stretch>
        </p:blipFill>
        <p:spPr>
          <a:xfrm>
            <a:off x="533043" y="1296114"/>
            <a:ext cx="9108281" cy="4643676"/>
          </a:xfrm>
          <a:prstGeom prst="rect">
            <a:avLst/>
          </a:prstGeom>
        </p:spPr>
      </p:pic>
      <p:sp>
        <p:nvSpPr>
          <p:cNvPr id="4" name="Shape 1"/>
          <p:cNvSpPr/>
          <p:nvPr/>
        </p:nvSpPr>
        <p:spPr>
          <a:xfrm>
            <a:off x="2006084" y="5939790"/>
            <a:ext cx="152281" cy="152281"/>
          </a:xfrm>
          <a:prstGeom prst="roundRect">
            <a:avLst>
              <a:gd name="adj" fmla="val 12009"/>
            </a:avLst>
          </a:prstGeom>
          <a:solidFill>
            <a:srgbClr val="0C4130"/>
          </a:solidFill>
          <a:ln/>
        </p:spPr>
      </p:sp>
      <p:sp>
        <p:nvSpPr>
          <p:cNvPr id="5" name="Text 2"/>
          <p:cNvSpPr/>
          <p:nvPr/>
        </p:nvSpPr>
        <p:spPr>
          <a:xfrm>
            <a:off x="2219325" y="5939790"/>
            <a:ext cx="1248132" cy="152281"/>
          </a:xfrm>
          <a:prstGeom prst="rect">
            <a:avLst/>
          </a:prstGeom>
          <a:noFill/>
          <a:ln/>
        </p:spPr>
        <p:txBody>
          <a:bodyPr wrap="none" lIns="0" tIns="0" rIns="0" bIns="0" rtlCol="0" anchor="t"/>
          <a:lstStyle/>
          <a:p>
            <a:pPr marL="0" indent="0" algn="l">
              <a:lnSpc>
                <a:spcPts val="1150"/>
              </a:lnSpc>
              <a:buNone/>
            </a:pPr>
            <a:r>
              <a:rPr lang="en-US" sz="1150" dirty="0">
                <a:solidFill>
                  <a:srgbClr val="464646"/>
                </a:solidFill>
                <a:latin typeface="Inter Medium" pitchFamily="34" charset="0"/>
                <a:ea typeface="Inter Medium" pitchFamily="34" charset="-122"/>
                <a:cs typeface="Inter Medium" pitchFamily="34" charset="-120"/>
              </a:rPr>
              <a:t>Complexity Level</a:t>
            </a:r>
            <a:endParaRPr lang="en-US" sz="1150" dirty="0"/>
          </a:p>
        </p:txBody>
      </p:sp>
      <p:sp>
        <p:nvSpPr>
          <p:cNvPr id="6" name="Shape 3"/>
          <p:cNvSpPr/>
          <p:nvPr/>
        </p:nvSpPr>
        <p:spPr>
          <a:xfrm>
            <a:off x="4485918" y="5939790"/>
            <a:ext cx="152281" cy="152281"/>
          </a:xfrm>
          <a:prstGeom prst="roundRect">
            <a:avLst>
              <a:gd name="adj" fmla="val 12009"/>
            </a:avLst>
          </a:prstGeom>
          <a:solidFill>
            <a:srgbClr val="126248"/>
          </a:solidFill>
          <a:ln/>
        </p:spPr>
      </p:sp>
      <p:sp>
        <p:nvSpPr>
          <p:cNvPr id="7" name="Text 4"/>
          <p:cNvSpPr/>
          <p:nvPr/>
        </p:nvSpPr>
        <p:spPr>
          <a:xfrm>
            <a:off x="4699159" y="5939790"/>
            <a:ext cx="989171" cy="152281"/>
          </a:xfrm>
          <a:prstGeom prst="rect">
            <a:avLst/>
          </a:prstGeom>
          <a:noFill/>
          <a:ln/>
        </p:spPr>
        <p:txBody>
          <a:bodyPr wrap="none" lIns="0" tIns="0" rIns="0" bIns="0" rtlCol="0" anchor="t"/>
          <a:lstStyle/>
          <a:p>
            <a:pPr marL="0" indent="0" algn="l">
              <a:lnSpc>
                <a:spcPts val="1150"/>
              </a:lnSpc>
              <a:buNone/>
            </a:pPr>
            <a:r>
              <a:rPr lang="en-US" sz="1150" dirty="0">
                <a:solidFill>
                  <a:srgbClr val="464646"/>
                </a:solidFill>
                <a:latin typeface="Inter Medium" pitchFamily="34" charset="0"/>
                <a:ea typeface="Inter Medium" pitchFamily="34" charset="-122"/>
                <a:cs typeface="Inter Medium" pitchFamily="34" charset="-120"/>
              </a:rPr>
              <a:t>Training Error</a:t>
            </a:r>
            <a:endParaRPr lang="en-US" sz="1150" dirty="0"/>
          </a:p>
        </p:txBody>
      </p:sp>
      <p:sp>
        <p:nvSpPr>
          <p:cNvPr id="8" name="Shape 5"/>
          <p:cNvSpPr/>
          <p:nvPr/>
        </p:nvSpPr>
        <p:spPr>
          <a:xfrm>
            <a:off x="6706791" y="5939790"/>
            <a:ext cx="152281" cy="152281"/>
          </a:xfrm>
          <a:prstGeom prst="roundRect">
            <a:avLst>
              <a:gd name="adj" fmla="val 12009"/>
            </a:avLst>
          </a:prstGeom>
          <a:solidFill>
            <a:srgbClr val="188261"/>
          </a:solidFill>
          <a:ln/>
        </p:spPr>
      </p:sp>
      <p:sp>
        <p:nvSpPr>
          <p:cNvPr id="9" name="Text 6"/>
          <p:cNvSpPr/>
          <p:nvPr/>
        </p:nvSpPr>
        <p:spPr>
          <a:xfrm>
            <a:off x="6920032" y="5939790"/>
            <a:ext cx="710446" cy="152281"/>
          </a:xfrm>
          <a:prstGeom prst="rect">
            <a:avLst/>
          </a:prstGeom>
          <a:noFill/>
          <a:ln/>
        </p:spPr>
        <p:txBody>
          <a:bodyPr wrap="none" lIns="0" tIns="0" rIns="0" bIns="0" rtlCol="0" anchor="t"/>
          <a:lstStyle/>
          <a:p>
            <a:pPr marL="0" indent="0" algn="l">
              <a:lnSpc>
                <a:spcPts val="1150"/>
              </a:lnSpc>
              <a:buNone/>
            </a:pPr>
            <a:r>
              <a:rPr lang="en-US" sz="1150" dirty="0">
                <a:solidFill>
                  <a:srgbClr val="464646"/>
                </a:solidFill>
                <a:latin typeface="Inter Medium" pitchFamily="34" charset="0"/>
                <a:ea typeface="Inter Medium" pitchFamily="34" charset="-122"/>
                <a:cs typeface="Inter Medium" pitchFamily="34" charset="-120"/>
              </a:rPr>
              <a:t>Test Error</a:t>
            </a:r>
            <a:endParaRPr lang="en-US" sz="1150" dirty="0"/>
          </a:p>
        </p:txBody>
      </p:sp>
      <p:sp>
        <p:nvSpPr>
          <p:cNvPr id="10" name="Text 7"/>
          <p:cNvSpPr/>
          <p:nvPr/>
        </p:nvSpPr>
        <p:spPr>
          <a:xfrm>
            <a:off x="533043" y="6568083"/>
            <a:ext cx="13564314" cy="487204"/>
          </a:xfrm>
          <a:prstGeom prst="rect">
            <a:avLst/>
          </a:prstGeom>
          <a:noFill/>
          <a:ln/>
        </p:spPr>
        <p:txBody>
          <a:bodyPr wrap="square" lIns="0" tIns="0" rIns="0" bIns="0" rtlCol="0" anchor="t"/>
          <a:lstStyle/>
          <a:p>
            <a:pPr marL="0" indent="0">
              <a:lnSpc>
                <a:spcPts val="1900"/>
              </a:lnSpc>
              <a:buNone/>
            </a:pPr>
            <a:r>
              <a:rPr lang="en-US" sz="1150" dirty="0">
                <a:solidFill>
                  <a:srgbClr val="464646"/>
                </a:solidFill>
                <a:latin typeface="Inter Medium" pitchFamily="34" charset="0"/>
                <a:ea typeface="Inter Medium" pitchFamily="34" charset="-122"/>
                <a:cs typeface="Inter Medium" pitchFamily="34" charset="-120"/>
              </a:rPr>
              <a:t>Finding the optimal balance in machine learning requires both technical knowledge and intuition developed through experience. Underfitting results from models that are too simple, with high errors across both training and test data. Overfitting stems from excessive complexity, showing excellent training performance but poor generalization.</a:t>
            </a:r>
            <a:endParaRPr lang="en-US" sz="1150" dirty="0"/>
          </a:p>
        </p:txBody>
      </p:sp>
      <p:sp>
        <p:nvSpPr>
          <p:cNvPr id="11" name="Text 8"/>
          <p:cNvSpPr/>
          <p:nvPr/>
        </p:nvSpPr>
        <p:spPr>
          <a:xfrm>
            <a:off x="533043" y="7226618"/>
            <a:ext cx="13564314" cy="487204"/>
          </a:xfrm>
          <a:prstGeom prst="rect">
            <a:avLst/>
          </a:prstGeom>
          <a:noFill/>
          <a:ln/>
        </p:spPr>
        <p:txBody>
          <a:bodyPr wrap="square" lIns="0" tIns="0" rIns="0" bIns="0" rtlCol="0" anchor="t"/>
          <a:lstStyle/>
          <a:p>
            <a:pPr marL="0" indent="0">
              <a:lnSpc>
                <a:spcPts val="1900"/>
              </a:lnSpc>
              <a:buNone/>
            </a:pPr>
            <a:r>
              <a:rPr lang="en-US" sz="1150" dirty="0">
                <a:solidFill>
                  <a:srgbClr val="464646"/>
                </a:solidFill>
                <a:latin typeface="Inter Medium" pitchFamily="34" charset="0"/>
                <a:ea typeface="Inter Medium" pitchFamily="34" charset="-122"/>
                <a:cs typeface="Inter Medium" pitchFamily="34" charset="-120"/>
              </a:rPr>
              <a:t>The key is systematic experimentation: start simple, gradually increase complexity while monitoring validation performance, and apply appropriate regularization techniques. Remember that the ultimate goal is not perfect training accuracy, but reliable performance on new, unseen data in real-world applications.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2020</Words>
  <Application>Microsoft Office PowerPoint</Application>
  <PresentationFormat>Custom</PresentationFormat>
  <Paragraphs>229</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Inter Medium</vt:lpstr>
      <vt:lpstr>DM Sans Semi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Silicon computers</cp:lastModifiedBy>
  <cp:revision>3</cp:revision>
  <dcterms:created xsi:type="dcterms:W3CDTF">2025-03-02T12:06:53Z</dcterms:created>
  <dcterms:modified xsi:type="dcterms:W3CDTF">2025-03-05T11:10:00Z</dcterms:modified>
</cp:coreProperties>
</file>