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4630400" cy="8229600"/>
  <p:notesSz cx="8229600" cy="14630400"/>
  <p:embeddedFontLst>
    <p:embeddedFont>
      <p:font typeface="Inter"/>
      <p:regular r:id="rId32"/>
    </p:embeddedFont>
    <p:embeddedFont>
      <p:font typeface="Inter"/>
      <p:regular r:id="rId33"/>
    </p:embeddedFont>
    <p:embeddedFont>
      <p:font typeface="Inter"/>
      <p:regular r:id="rId34"/>
    </p:embeddedFont>
    <p:embeddedFont>
      <p:font typeface="Inter"/>
      <p:regular r:id="rId35"/>
    </p:embeddedFont>
    <p:embeddedFont>
      <p:font typeface="Inter"/>
      <p:regular r:id="rId36"/>
    </p:embeddedFont>
    <p:embeddedFont>
      <p:font typeface="Inter"/>
      <p:regular r:id="rId37"/>
    </p:embeddedFont>
    <p:embeddedFont>
      <p:font typeface="Inter"/>
      <p:regular r:id="rId38"/>
    </p:embeddedFont>
    <p:embeddedFont>
      <p:font typeface="Inter"/>
      <p:regular r:id="rId3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font" Target="fonts/font3.fntdata"/><Relationship Id="rId35" Type="http://schemas.openxmlformats.org/officeDocument/2006/relationships/font" Target="fonts/font4.fntdata"/><Relationship Id="rId36" Type="http://schemas.openxmlformats.org/officeDocument/2006/relationships/font" Target="fonts/font5.fntdata"/><Relationship Id="rId37" Type="http://schemas.openxmlformats.org/officeDocument/2006/relationships/font" Target="fonts/font6.fntdata"/><Relationship Id="rId38" Type="http://schemas.openxmlformats.org/officeDocument/2006/relationships/font" Target="fonts/font7.fntdata"/><Relationship Id="rId3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7.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6.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7.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8.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9.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0.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25.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26.xml"/><Relationship Id="rId7"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293852"/>
            <a:ext cx="6955869" cy="1417558"/>
          </a:xfrm>
          <a:prstGeom prst="rect">
            <a:avLst/>
          </a:prstGeom>
          <a:noFill/>
          <a:ln/>
        </p:spPr>
        <p:txBody>
          <a:bodyPr wrap="squar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Evaluation Metrics in Machine Learning</a:t>
            </a:r>
            <a:endParaRPr lang="en-US" sz="4450" dirty="0"/>
          </a:p>
        </p:txBody>
      </p:sp>
      <p:sp>
        <p:nvSpPr>
          <p:cNvPr id="4" name="Text 1"/>
          <p:cNvSpPr/>
          <p:nvPr/>
        </p:nvSpPr>
        <p:spPr>
          <a:xfrm>
            <a:off x="6280190" y="3051572"/>
            <a:ext cx="6955869" cy="1814513"/>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Welcome to this comprehensive overview of evaluation metrics in machine learning. Throughout this presentation, we'll explore the essential metrics used to assess both classification and regression models, providing you with the knowledge to effectively evaluate model performance.</a:t>
            </a:r>
            <a:endParaRPr lang="en-US" sz="1750" dirty="0"/>
          </a:p>
        </p:txBody>
      </p:sp>
      <p:sp>
        <p:nvSpPr>
          <p:cNvPr id="5" name="Text 2"/>
          <p:cNvSpPr/>
          <p:nvPr/>
        </p:nvSpPr>
        <p:spPr>
          <a:xfrm>
            <a:off x="6280190" y="5121235"/>
            <a:ext cx="6955869" cy="1814513"/>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We'll start by examining classification metrics like accuracy, logarithmic loss, and area under curve, then move on to regression metrics such as mean absolute error and R2 score. For each metric, we'll cover the formula, interpretation, and practical applications.</a:t>
            </a:r>
            <a:endParaRPr lang="en-US" sz="1750" dirty="0"/>
          </a:p>
        </p:txBody>
      </p:sp>
      <p:pic>
        <p:nvPicPr>
          <p:cNvPr id="6" name="Image 1" descr="preencoded.png">    </p:cNvPr>
          <p:cNvPicPr>
            <a:picLocks noChangeAspect="1"/>
          </p:cNvPicPr>
          <p:nvPr/>
        </p:nvPicPr>
        <p:blipFill>
          <a:blip r:embed="rId2"/>
          <a:stretch>
            <a:fillRect/>
          </a:stretch>
        </p:blipFill>
        <p:spPr>
          <a:xfrm>
            <a:off x="13464778" y="228600"/>
            <a:ext cx="937022" cy="5028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934647"/>
            <a:ext cx="9025414"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Understanding Model Evaluation</a:t>
            </a:r>
            <a:endParaRPr lang="en-US" sz="4450" dirty="0"/>
          </a:p>
        </p:txBody>
      </p:sp>
      <p:sp>
        <p:nvSpPr>
          <p:cNvPr id="3" name="Text 1"/>
          <p:cNvSpPr/>
          <p:nvPr/>
        </p:nvSpPr>
        <p:spPr>
          <a:xfrm>
            <a:off x="793790" y="3187660"/>
            <a:ext cx="3777972" cy="2903220"/>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Evaluating machine learning models is a critical step in the development process. Without proper evaluation, we cannot determine if our model is performing as expected or compare different models effectively.</a:t>
            </a:r>
            <a:endParaRPr lang="en-US" sz="1750" dirty="0"/>
          </a:p>
        </p:txBody>
      </p:sp>
      <p:sp>
        <p:nvSpPr>
          <p:cNvPr id="4" name="Text 2"/>
          <p:cNvSpPr/>
          <p:nvPr/>
        </p:nvSpPr>
        <p:spPr>
          <a:xfrm>
            <a:off x="5132784" y="3187660"/>
            <a:ext cx="3777972" cy="2540318"/>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The choice of evaluation metric depends on the type of problem. Classification problems use metrics like accuracy and F1 score, while regression problems use metrics like mean absolute error and R2 score.</a:t>
            </a:r>
            <a:endParaRPr lang="en-US" sz="1750" dirty="0"/>
          </a:p>
        </p:txBody>
      </p:sp>
      <p:sp>
        <p:nvSpPr>
          <p:cNvPr id="5" name="Text 3"/>
          <p:cNvSpPr/>
          <p:nvPr/>
        </p:nvSpPr>
        <p:spPr>
          <a:xfrm>
            <a:off x="9471779" y="3187660"/>
            <a:ext cx="3777972" cy="2903220"/>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Throughout this presentation, we'll explore these metrics in detail, understanding their mathematical foundations, practical applications, and limitations. This knowledge will help you select the right metric for your specific machine learning task.</a:t>
            </a:r>
            <a:endParaRPr lang="en-US" sz="1750" dirty="0"/>
          </a:p>
        </p:txBody>
      </p:sp>
      <p:pic>
        <p:nvPicPr>
          <p:cNvPr id="6" name="Image 0" descr="preencoded.png">    </p:cNvPr>
          <p:cNvPicPr>
            <a:picLocks noChangeAspect="1"/>
          </p:cNvPicPr>
          <p:nvPr/>
        </p:nvPicPr>
        <p:blipFill>
          <a:blip r:embed="rId1"/>
          <a:stretch>
            <a:fillRect/>
          </a:stretch>
        </p:blipFill>
        <p:spPr>
          <a:xfrm>
            <a:off x="13464778" y="228600"/>
            <a:ext cx="937022" cy="50280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09136" y="557213"/>
            <a:ext cx="7892772" cy="633174"/>
          </a:xfrm>
          <a:prstGeom prst="rect">
            <a:avLst/>
          </a:prstGeom>
          <a:noFill/>
          <a:ln/>
        </p:spPr>
        <p:txBody>
          <a:bodyPr wrap="none" lIns="0" tIns="0" rIns="0" bIns="0" rtlCol="0" anchor="t"/>
          <a:lstStyle/>
          <a:p>
            <a:pPr indent="0" marL="0">
              <a:lnSpc>
                <a:spcPts val="4950"/>
              </a:lnSpc>
              <a:buNone/>
            </a:pPr>
            <a:r>
              <a:rPr lang="en-US" sz="3950" b="1" dirty="0">
                <a:solidFill>
                  <a:srgbClr val="000000"/>
                </a:solidFill>
                <a:latin typeface="Inter Bold" pitchFamily="34" charset="0"/>
                <a:ea typeface="Inter Bold" pitchFamily="34" charset="-122"/>
                <a:cs typeface="Inter Bold" pitchFamily="34" charset="-120"/>
              </a:rPr>
              <a:t>Classification Metrics Overview</a:t>
            </a:r>
            <a:endParaRPr lang="en-US" sz="3950" dirty="0"/>
          </a:p>
        </p:txBody>
      </p:sp>
      <p:pic>
        <p:nvPicPr>
          <p:cNvPr id="3" name="Image 0" descr="preencoded.png">    </p:cNvPr>
          <p:cNvPicPr>
            <a:picLocks noChangeAspect="1"/>
          </p:cNvPicPr>
          <p:nvPr/>
        </p:nvPicPr>
        <p:blipFill>
          <a:blip r:embed="rId1"/>
          <a:stretch>
            <a:fillRect/>
          </a:stretch>
        </p:blipFill>
        <p:spPr>
          <a:xfrm>
            <a:off x="709136" y="1595557"/>
            <a:ext cx="1013103" cy="1215747"/>
          </a:xfrm>
          <a:prstGeom prst="rect">
            <a:avLst/>
          </a:prstGeom>
        </p:spPr>
      </p:pic>
      <p:sp>
        <p:nvSpPr>
          <p:cNvPr id="4" name="Text 1"/>
          <p:cNvSpPr/>
          <p:nvPr/>
        </p:nvSpPr>
        <p:spPr>
          <a:xfrm>
            <a:off x="2026087" y="1798082"/>
            <a:ext cx="2940844" cy="316468"/>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Classification Accuracy</a:t>
            </a:r>
            <a:endParaRPr lang="en-US" sz="1950" dirty="0"/>
          </a:p>
        </p:txBody>
      </p:sp>
      <p:sp>
        <p:nvSpPr>
          <p:cNvPr id="5" name="Text 2"/>
          <p:cNvSpPr/>
          <p:nvPr/>
        </p:nvSpPr>
        <p:spPr>
          <a:xfrm>
            <a:off x="2026087" y="2236113"/>
            <a:ext cx="11209973" cy="324207"/>
          </a:xfrm>
          <a:prstGeom prst="rect">
            <a:avLst/>
          </a:prstGeom>
          <a:noFill/>
          <a:ln/>
        </p:spPr>
        <p:txBody>
          <a:bodyPr wrap="none" lIns="0" tIns="0" rIns="0" bIns="0" rtlCol="0" anchor="t"/>
          <a:lstStyle/>
          <a:p>
            <a:pPr algn="l" indent="0" marL="0">
              <a:lnSpc>
                <a:spcPts val="2550"/>
              </a:lnSpc>
              <a:buNone/>
            </a:pPr>
            <a:r>
              <a:rPr lang="en-US" sz="1550" dirty="0">
                <a:solidFill>
                  <a:srgbClr val="000000"/>
                </a:solidFill>
                <a:latin typeface="Inter" pitchFamily="34" charset="0"/>
                <a:ea typeface="Inter" pitchFamily="34" charset="-122"/>
                <a:cs typeface="Inter" pitchFamily="34" charset="-120"/>
              </a:rPr>
              <a:t>Ratio of correct predictions to total predictions</a:t>
            </a:r>
            <a:endParaRPr lang="en-US" sz="1550" dirty="0"/>
          </a:p>
        </p:txBody>
      </p:sp>
      <p:pic>
        <p:nvPicPr>
          <p:cNvPr id="6" name="Image 1" descr="preencoded.png">    </p:cNvPr>
          <p:cNvPicPr>
            <a:picLocks noChangeAspect="1"/>
          </p:cNvPicPr>
          <p:nvPr/>
        </p:nvPicPr>
        <p:blipFill>
          <a:blip r:embed="rId2"/>
          <a:stretch>
            <a:fillRect/>
          </a:stretch>
        </p:blipFill>
        <p:spPr>
          <a:xfrm>
            <a:off x="709136" y="2811304"/>
            <a:ext cx="1013103" cy="1215747"/>
          </a:xfrm>
          <a:prstGeom prst="rect">
            <a:avLst/>
          </a:prstGeom>
        </p:spPr>
      </p:pic>
      <p:sp>
        <p:nvSpPr>
          <p:cNvPr id="7" name="Text 3"/>
          <p:cNvSpPr/>
          <p:nvPr/>
        </p:nvSpPr>
        <p:spPr>
          <a:xfrm>
            <a:off x="2026087" y="3013829"/>
            <a:ext cx="2532817" cy="316468"/>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Logarithmic Loss</a:t>
            </a:r>
            <a:endParaRPr lang="en-US" sz="1950" dirty="0"/>
          </a:p>
        </p:txBody>
      </p:sp>
      <p:sp>
        <p:nvSpPr>
          <p:cNvPr id="8" name="Text 4"/>
          <p:cNvSpPr/>
          <p:nvPr/>
        </p:nvSpPr>
        <p:spPr>
          <a:xfrm>
            <a:off x="2026087" y="3451860"/>
            <a:ext cx="11209973" cy="324207"/>
          </a:xfrm>
          <a:prstGeom prst="rect">
            <a:avLst/>
          </a:prstGeom>
          <a:noFill/>
          <a:ln/>
        </p:spPr>
        <p:txBody>
          <a:bodyPr wrap="none" lIns="0" tIns="0" rIns="0" bIns="0" rtlCol="0" anchor="t"/>
          <a:lstStyle/>
          <a:p>
            <a:pPr algn="l" indent="0" marL="0">
              <a:lnSpc>
                <a:spcPts val="2550"/>
              </a:lnSpc>
              <a:buNone/>
            </a:pPr>
            <a:r>
              <a:rPr lang="en-US" sz="1550" dirty="0">
                <a:solidFill>
                  <a:srgbClr val="000000"/>
                </a:solidFill>
                <a:latin typeface="Inter" pitchFamily="34" charset="0"/>
                <a:ea typeface="Inter" pitchFamily="34" charset="-122"/>
                <a:cs typeface="Inter" pitchFamily="34" charset="-120"/>
              </a:rPr>
              <a:t>Penalizes false classifications using probability values</a:t>
            </a:r>
            <a:endParaRPr lang="en-US" sz="1550" dirty="0"/>
          </a:p>
        </p:txBody>
      </p:sp>
      <p:pic>
        <p:nvPicPr>
          <p:cNvPr id="9" name="Image 2" descr="preencoded.png">    </p:cNvPr>
          <p:cNvPicPr>
            <a:picLocks noChangeAspect="1"/>
          </p:cNvPicPr>
          <p:nvPr/>
        </p:nvPicPr>
        <p:blipFill>
          <a:blip r:embed="rId3"/>
          <a:stretch>
            <a:fillRect/>
          </a:stretch>
        </p:blipFill>
        <p:spPr>
          <a:xfrm>
            <a:off x="709136" y="4027051"/>
            <a:ext cx="1013103" cy="1215747"/>
          </a:xfrm>
          <a:prstGeom prst="rect">
            <a:avLst/>
          </a:prstGeom>
        </p:spPr>
      </p:pic>
      <p:sp>
        <p:nvSpPr>
          <p:cNvPr id="10" name="Text 5"/>
          <p:cNvSpPr/>
          <p:nvPr/>
        </p:nvSpPr>
        <p:spPr>
          <a:xfrm>
            <a:off x="2026087" y="4229576"/>
            <a:ext cx="2532817" cy="316468"/>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Area Under Curve</a:t>
            </a:r>
            <a:endParaRPr lang="en-US" sz="1950" dirty="0"/>
          </a:p>
        </p:txBody>
      </p:sp>
      <p:sp>
        <p:nvSpPr>
          <p:cNvPr id="11" name="Text 6"/>
          <p:cNvSpPr/>
          <p:nvPr/>
        </p:nvSpPr>
        <p:spPr>
          <a:xfrm>
            <a:off x="2026087" y="4667607"/>
            <a:ext cx="11209973" cy="324207"/>
          </a:xfrm>
          <a:prstGeom prst="rect">
            <a:avLst/>
          </a:prstGeom>
          <a:noFill/>
          <a:ln/>
        </p:spPr>
        <p:txBody>
          <a:bodyPr wrap="none" lIns="0" tIns="0" rIns="0" bIns="0" rtlCol="0" anchor="t"/>
          <a:lstStyle/>
          <a:p>
            <a:pPr algn="l" indent="0" marL="0">
              <a:lnSpc>
                <a:spcPts val="2550"/>
              </a:lnSpc>
              <a:buNone/>
            </a:pPr>
            <a:r>
              <a:rPr lang="en-US" sz="1550" dirty="0">
                <a:solidFill>
                  <a:srgbClr val="000000"/>
                </a:solidFill>
                <a:latin typeface="Inter" pitchFamily="34" charset="0"/>
                <a:ea typeface="Inter" pitchFamily="34" charset="-122"/>
                <a:cs typeface="Inter" pitchFamily="34" charset="-120"/>
              </a:rPr>
              <a:t>Plots True Positive Rate vs False Positive Rate</a:t>
            </a:r>
            <a:endParaRPr lang="en-US" sz="1550" dirty="0"/>
          </a:p>
        </p:txBody>
      </p:sp>
      <p:pic>
        <p:nvPicPr>
          <p:cNvPr id="12" name="Image 3" descr="preencoded.png">    </p:cNvPr>
          <p:cNvPicPr>
            <a:picLocks noChangeAspect="1"/>
          </p:cNvPicPr>
          <p:nvPr/>
        </p:nvPicPr>
        <p:blipFill>
          <a:blip r:embed="rId4"/>
          <a:stretch>
            <a:fillRect/>
          </a:stretch>
        </p:blipFill>
        <p:spPr>
          <a:xfrm>
            <a:off x="709136" y="5242798"/>
            <a:ext cx="1013103" cy="1215747"/>
          </a:xfrm>
          <a:prstGeom prst="rect">
            <a:avLst/>
          </a:prstGeom>
        </p:spPr>
      </p:pic>
      <p:sp>
        <p:nvSpPr>
          <p:cNvPr id="13" name="Text 7"/>
          <p:cNvSpPr/>
          <p:nvPr/>
        </p:nvSpPr>
        <p:spPr>
          <a:xfrm>
            <a:off x="2026087" y="5445323"/>
            <a:ext cx="2532817" cy="316468"/>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F1 Score</a:t>
            </a:r>
            <a:endParaRPr lang="en-US" sz="1950" dirty="0"/>
          </a:p>
        </p:txBody>
      </p:sp>
      <p:sp>
        <p:nvSpPr>
          <p:cNvPr id="14" name="Text 8"/>
          <p:cNvSpPr/>
          <p:nvPr/>
        </p:nvSpPr>
        <p:spPr>
          <a:xfrm>
            <a:off x="2026087" y="5883354"/>
            <a:ext cx="11209973" cy="324207"/>
          </a:xfrm>
          <a:prstGeom prst="rect">
            <a:avLst/>
          </a:prstGeom>
          <a:noFill/>
          <a:ln/>
        </p:spPr>
        <p:txBody>
          <a:bodyPr wrap="none" lIns="0" tIns="0" rIns="0" bIns="0" rtlCol="0" anchor="t"/>
          <a:lstStyle/>
          <a:p>
            <a:pPr algn="l" indent="0" marL="0">
              <a:lnSpc>
                <a:spcPts val="2550"/>
              </a:lnSpc>
              <a:buNone/>
            </a:pPr>
            <a:r>
              <a:rPr lang="en-US" sz="1550" dirty="0">
                <a:solidFill>
                  <a:srgbClr val="000000"/>
                </a:solidFill>
                <a:latin typeface="Inter" pitchFamily="34" charset="0"/>
                <a:ea typeface="Inter" pitchFamily="34" charset="-122"/>
                <a:cs typeface="Inter" pitchFamily="34" charset="-120"/>
              </a:rPr>
              <a:t>Harmonic mean of precision and recall</a:t>
            </a:r>
            <a:endParaRPr lang="en-US" sz="1550" dirty="0"/>
          </a:p>
        </p:txBody>
      </p:sp>
      <p:pic>
        <p:nvPicPr>
          <p:cNvPr id="15" name="Image 4" descr="preencoded.png">    </p:cNvPr>
          <p:cNvPicPr>
            <a:picLocks noChangeAspect="1"/>
          </p:cNvPicPr>
          <p:nvPr/>
        </p:nvPicPr>
        <p:blipFill>
          <a:blip r:embed="rId5"/>
          <a:stretch>
            <a:fillRect/>
          </a:stretch>
        </p:blipFill>
        <p:spPr>
          <a:xfrm>
            <a:off x="709136" y="6458545"/>
            <a:ext cx="1013103" cy="1215747"/>
          </a:xfrm>
          <a:prstGeom prst="rect">
            <a:avLst/>
          </a:prstGeom>
        </p:spPr>
      </p:pic>
      <p:sp>
        <p:nvSpPr>
          <p:cNvPr id="16" name="Text 9"/>
          <p:cNvSpPr/>
          <p:nvPr/>
        </p:nvSpPr>
        <p:spPr>
          <a:xfrm>
            <a:off x="2026087" y="6661071"/>
            <a:ext cx="2532817" cy="316468"/>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Confusion Matrix</a:t>
            </a:r>
            <a:endParaRPr lang="en-US" sz="1950" dirty="0"/>
          </a:p>
        </p:txBody>
      </p:sp>
      <p:sp>
        <p:nvSpPr>
          <p:cNvPr id="17" name="Text 10"/>
          <p:cNvSpPr/>
          <p:nvPr/>
        </p:nvSpPr>
        <p:spPr>
          <a:xfrm>
            <a:off x="2026087" y="7099102"/>
            <a:ext cx="11209973" cy="324207"/>
          </a:xfrm>
          <a:prstGeom prst="rect">
            <a:avLst/>
          </a:prstGeom>
          <a:noFill/>
          <a:ln/>
        </p:spPr>
        <p:txBody>
          <a:bodyPr wrap="none" lIns="0" tIns="0" rIns="0" bIns="0" rtlCol="0" anchor="t"/>
          <a:lstStyle/>
          <a:p>
            <a:pPr algn="l" indent="0" marL="0">
              <a:lnSpc>
                <a:spcPts val="2550"/>
              </a:lnSpc>
              <a:buNone/>
            </a:pPr>
            <a:r>
              <a:rPr lang="en-US" sz="1550" dirty="0">
                <a:solidFill>
                  <a:srgbClr val="000000"/>
                </a:solidFill>
                <a:latin typeface="Inter" pitchFamily="34" charset="0"/>
                <a:ea typeface="Inter" pitchFamily="34" charset="-122"/>
                <a:cs typeface="Inter" pitchFamily="34" charset="-120"/>
              </a:rPr>
              <a:t>Table showing prediction outcomes versus actual values</a:t>
            </a:r>
            <a:endParaRPr lang="en-US" sz="1550" dirty="0"/>
          </a:p>
        </p:txBody>
      </p:sp>
      <p:pic>
        <p:nvPicPr>
          <p:cNvPr id="18" name="Image 5" descr="preencoded.png">    </p:cNvPr>
          <p:cNvPicPr>
            <a:picLocks noChangeAspect="1"/>
          </p:cNvPicPr>
          <p:nvPr/>
        </p:nvPicPr>
        <p:blipFill>
          <a:blip r:embed="rId6"/>
          <a:stretch>
            <a:fillRect/>
          </a:stretch>
        </p:blipFill>
        <p:spPr>
          <a:xfrm>
            <a:off x="13464778" y="228600"/>
            <a:ext cx="937022" cy="5028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42950" y="921425"/>
            <a:ext cx="6163747" cy="663297"/>
          </a:xfrm>
          <a:prstGeom prst="rect">
            <a:avLst/>
          </a:prstGeom>
          <a:noFill/>
          <a:ln/>
        </p:spPr>
        <p:txBody>
          <a:bodyPr wrap="none" lIns="0" tIns="0" rIns="0" bIns="0" rtlCol="0" anchor="t"/>
          <a:lstStyle/>
          <a:p>
            <a:pPr indent="0" marL="0">
              <a:lnSpc>
                <a:spcPts val="5200"/>
              </a:lnSpc>
              <a:buNone/>
            </a:pPr>
            <a:r>
              <a:rPr lang="en-US" sz="4150" b="1" dirty="0">
                <a:solidFill>
                  <a:srgbClr val="000000"/>
                </a:solidFill>
                <a:latin typeface="Inter Bold" pitchFamily="34" charset="0"/>
                <a:ea typeface="Inter Bold" pitchFamily="34" charset="-122"/>
                <a:cs typeface="Inter Bold" pitchFamily="34" charset="-120"/>
              </a:rPr>
              <a:t>Classification Accuracy</a:t>
            </a:r>
            <a:endParaRPr lang="en-US" sz="4150" dirty="0"/>
          </a:p>
        </p:txBody>
      </p:sp>
      <p:sp>
        <p:nvSpPr>
          <p:cNvPr id="4" name="Shape 1"/>
          <p:cNvSpPr/>
          <p:nvPr/>
        </p:nvSpPr>
        <p:spPr>
          <a:xfrm>
            <a:off x="742950" y="1903095"/>
            <a:ext cx="3722965" cy="3275528"/>
          </a:xfrm>
          <a:prstGeom prst="roundRect">
            <a:avLst>
              <a:gd name="adj" fmla="val 2722"/>
            </a:avLst>
          </a:prstGeom>
          <a:solidFill>
            <a:srgbClr val="F7D5D4"/>
          </a:solidFill>
          <a:ln w="7620">
            <a:solidFill>
              <a:srgbClr val="DDBBBA"/>
            </a:solidFill>
            <a:prstDash val="solid"/>
          </a:ln>
        </p:spPr>
      </p:sp>
      <p:sp>
        <p:nvSpPr>
          <p:cNvPr id="5" name="Text 2"/>
          <p:cNvSpPr/>
          <p:nvPr/>
        </p:nvSpPr>
        <p:spPr>
          <a:xfrm>
            <a:off x="962739" y="2122884"/>
            <a:ext cx="2653427" cy="331708"/>
          </a:xfrm>
          <a:prstGeom prst="rect">
            <a:avLst/>
          </a:prstGeom>
          <a:noFill/>
          <a:ln/>
        </p:spPr>
        <p:txBody>
          <a:bodyPr wrap="none" lIns="0" tIns="0" rIns="0" bIns="0" rtlCol="0" anchor="t"/>
          <a:lstStyle/>
          <a:p>
            <a:pPr indent="0" marL="0">
              <a:lnSpc>
                <a:spcPts val="2600"/>
              </a:lnSpc>
              <a:buNone/>
            </a:pPr>
            <a:r>
              <a:rPr lang="en-US" sz="2050" b="1" dirty="0">
                <a:solidFill>
                  <a:srgbClr val="000000"/>
                </a:solidFill>
                <a:latin typeface="Inter Bold" pitchFamily="34" charset="0"/>
                <a:ea typeface="Inter Bold" pitchFamily="34" charset="-122"/>
                <a:cs typeface="Inter Bold" pitchFamily="34" charset="-120"/>
              </a:rPr>
              <a:t>Definition</a:t>
            </a:r>
            <a:endParaRPr lang="en-US" sz="2050" dirty="0"/>
          </a:p>
        </p:txBody>
      </p:sp>
      <p:sp>
        <p:nvSpPr>
          <p:cNvPr id="6" name="Text 3"/>
          <p:cNvSpPr/>
          <p:nvPr/>
        </p:nvSpPr>
        <p:spPr>
          <a:xfrm>
            <a:off x="962739" y="2581870"/>
            <a:ext cx="3283387" cy="2376964"/>
          </a:xfrm>
          <a:prstGeom prst="rect">
            <a:avLst/>
          </a:prstGeom>
          <a:noFill/>
          <a:ln/>
        </p:spPr>
        <p:txBody>
          <a:bodyPr wrap="square" lIns="0" tIns="0" rIns="0" bIns="0" rtlCol="0" anchor="t"/>
          <a:lstStyle/>
          <a:p>
            <a:pPr indent="0" marL="0">
              <a:lnSpc>
                <a:spcPts val="2650"/>
              </a:lnSpc>
              <a:buNone/>
            </a:pPr>
            <a:r>
              <a:rPr lang="en-US" sz="1650" dirty="0">
                <a:solidFill>
                  <a:srgbClr val="000000"/>
                </a:solidFill>
                <a:latin typeface="Inter" pitchFamily="34" charset="0"/>
                <a:ea typeface="Inter" pitchFamily="34" charset="-122"/>
                <a:cs typeface="Inter" pitchFamily="34" charset="-120"/>
              </a:rPr>
              <a:t>Classification accuracy is a fundamental metric that provides a quick snapshot of model performance. It's calculated as the ratio of correct predictions to the total number of input samples.</a:t>
            </a:r>
            <a:endParaRPr lang="en-US" sz="1650" dirty="0"/>
          </a:p>
        </p:txBody>
      </p:sp>
      <p:sp>
        <p:nvSpPr>
          <p:cNvPr id="7" name="Shape 4"/>
          <p:cNvSpPr/>
          <p:nvPr/>
        </p:nvSpPr>
        <p:spPr>
          <a:xfrm>
            <a:off x="4678085" y="1903095"/>
            <a:ext cx="3722965" cy="3275528"/>
          </a:xfrm>
          <a:prstGeom prst="roundRect">
            <a:avLst>
              <a:gd name="adj" fmla="val 2722"/>
            </a:avLst>
          </a:prstGeom>
          <a:solidFill>
            <a:srgbClr val="F7D5D4"/>
          </a:solidFill>
          <a:ln w="7620">
            <a:solidFill>
              <a:srgbClr val="DDBBBA"/>
            </a:solidFill>
            <a:prstDash val="solid"/>
          </a:ln>
        </p:spPr>
      </p:sp>
      <p:sp>
        <p:nvSpPr>
          <p:cNvPr id="8" name="Text 5"/>
          <p:cNvSpPr/>
          <p:nvPr/>
        </p:nvSpPr>
        <p:spPr>
          <a:xfrm>
            <a:off x="4897874" y="2122884"/>
            <a:ext cx="2653427" cy="331708"/>
          </a:xfrm>
          <a:prstGeom prst="rect">
            <a:avLst/>
          </a:prstGeom>
          <a:noFill/>
          <a:ln/>
        </p:spPr>
        <p:txBody>
          <a:bodyPr wrap="none" lIns="0" tIns="0" rIns="0" bIns="0" rtlCol="0" anchor="t"/>
          <a:lstStyle/>
          <a:p>
            <a:pPr indent="0" marL="0">
              <a:lnSpc>
                <a:spcPts val="2600"/>
              </a:lnSpc>
              <a:buNone/>
            </a:pPr>
            <a:r>
              <a:rPr lang="en-US" sz="2050" b="1" dirty="0">
                <a:solidFill>
                  <a:srgbClr val="000000"/>
                </a:solidFill>
                <a:latin typeface="Inter Bold" pitchFamily="34" charset="0"/>
                <a:ea typeface="Inter Bold" pitchFamily="34" charset="-122"/>
                <a:cs typeface="Inter Bold" pitchFamily="34" charset="-120"/>
              </a:rPr>
              <a:t>Formula</a:t>
            </a:r>
            <a:endParaRPr lang="en-US" sz="2050" dirty="0"/>
          </a:p>
        </p:txBody>
      </p:sp>
      <p:sp>
        <p:nvSpPr>
          <p:cNvPr id="9" name="Text 6"/>
          <p:cNvSpPr/>
          <p:nvPr/>
        </p:nvSpPr>
        <p:spPr>
          <a:xfrm>
            <a:off x="4897874" y="2581870"/>
            <a:ext cx="3283387" cy="1018699"/>
          </a:xfrm>
          <a:prstGeom prst="rect">
            <a:avLst/>
          </a:prstGeom>
          <a:noFill/>
          <a:ln/>
        </p:spPr>
        <p:txBody>
          <a:bodyPr wrap="square" lIns="0" tIns="0" rIns="0" bIns="0" rtlCol="0" anchor="t"/>
          <a:lstStyle/>
          <a:p>
            <a:pPr indent="0" marL="0">
              <a:lnSpc>
                <a:spcPts val="2650"/>
              </a:lnSpc>
              <a:buNone/>
            </a:pPr>
            <a:r>
              <a:rPr lang="en-US" sz="1650" dirty="0">
                <a:solidFill>
                  <a:srgbClr val="000000"/>
                </a:solidFill>
                <a:latin typeface="Inter" pitchFamily="34" charset="0"/>
                <a:ea typeface="Inter" pitchFamily="34" charset="-122"/>
                <a:cs typeface="Inter" pitchFamily="34" charset="-120"/>
              </a:rPr>
              <a:t>Accuracy = (Number of correct predictions) / (Total number of input samples)</a:t>
            </a:r>
            <a:endParaRPr lang="en-US" sz="1650" dirty="0"/>
          </a:p>
        </p:txBody>
      </p:sp>
      <p:sp>
        <p:nvSpPr>
          <p:cNvPr id="10" name="Shape 7"/>
          <p:cNvSpPr/>
          <p:nvPr/>
        </p:nvSpPr>
        <p:spPr>
          <a:xfrm>
            <a:off x="742950" y="5390793"/>
            <a:ext cx="7658100" cy="1917263"/>
          </a:xfrm>
          <a:prstGeom prst="roundRect">
            <a:avLst>
              <a:gd name="adj" fmla="val 4650"/>
            </a:avLst>
          </a:prstGeom>
          <a:solidFill>
            <a:srgbClr val="F7D5D4"/>
          </a:solidFill>
          <a:ln w="7620">
            <a:solidFill>
              <a:srgbClr val="DDBBBA"/>
            </a:solidFill>
            <a:prstDash val="solid"/>
          </a:ln>
        </p:spPr>
      </p:sp>
      <p:sp>
        <p:nvSpPr>
          <p:cNvPr id="11" name="Text 8"/>
          <p:cNvSpPr/>
          <p:nvPr/>
        </p:nvSpPr>
        <p:spPr>
          <a:xfrm>
            <a:off x="962739" y="5610582"/>
            <a:ext cx="2653427" cy="331708"/>
          </a:xfrm>
          <a:prstGeom prst="rect">
            <a:avLst/>
          </a:prstGeom>
          <a:noFill/>
          <a:ln/>
        </p:spPr>
        <p:txBody>
          <a:bodyPr wrap="none" lIns="0" tIns="0" rIns="0" bIns="0" rtlCol="0" anchor="t"/>
          <a:lstStyle/>
          <a:p>
            <a:pPr indent="0" marL="0">
              <a:lnSpc>
                <a:spcPts val="2600"/>
              </a:lnSpc>
              <a:buNone/>
            </a:pPr>
            <a:r>
              <a:rPr lang="en-US" sz="2050" b="1" dirty="0">
                <a:solidFill>
                  <a:srgbClr val="000000"/>
                </a:solidFill>
                <a:latin typeface="Inter Bold" pitchFamily="34" charset="0"/>
                <a:ea typeface="Inter Bold" pitchFamily="34" charset="-122"/>
                <a:cs typeface="Inter Bold" pitchFamily="34" charset="-120"/>
              </a:rPr>
              <a:t>Limitations</a:t>
            </a:r>
            <a:endParaRPr lang="en-US" sz="2050" dirty="0"/>
          </a:p>
        </p:txBody>
      </p:sp>
      <p:sp>
        <p:nvSpPr>
          <p:cNvPr id="12" name="Text 9"/>
          <p:cNvSpPr/>
          <p:nvPr/>
        </p:nvSpPr>
        <p:spPr>
          <a:xfrm>
            <a:off x="962739" y="6069568"/>
            <a:ext cx="7218521" cy="1018699"/>
          </a:xfrm>
          <a:prstGeom prst="rect">
            <a:avLst/>
          </a:prstGeom>
          <a:noFill/>
          <a:ln/>
        </p:spPr>
        <p:txBody>
          <a:bodyPr wrap="square" lIns="0" tIns="0" rIns="0" bIns="0" rtlCol="0" anchor="t"/>
          <a:lstStyle/>
          <a:p>
            <a:pPr indent="0" marL="0">
              <a:lnSpc>
                <a:spcPts val="2650"/>
              </a:lnSpc>
              <a:buNone/>
            </a:pPr>
            <a:r>
              <a:rPr lang="en-US" sz="1650" dirty="0">
                <a:solidFill>
                  <a:srgbClr val="000000"/>
                </a:solidFill>
                <a:latin typeface="Inter" pitchFamily="34" charset="0"/>
                <a:ea typeface="Inter" pitchFamily="34" charset="-122"/>
                <a:cs typeface="Inter" pitchFamily="34" charset="-120"/>
              </a:rPr>
              <a:t>Works well with balanced classes but can be misleading with imbalanced data. A model predicting the majority class for all samples can achieve high accuracy while being practically useless.</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12681" y="865108"/>
            <a:ext cx="7023378" cy="1297067"/>
          </a:xfrm>
          <a:prstGeom prst="rect">
            <a:avLst/>
          </a:prstGeom>
          <a:noFill/>
          <a:ln/>
        </p:spPr>
        <p:txBody>
          <a:bodyPr wrap="square" lIns="0" tIns="0" rIns="0" bIns="0" rtlCol="0" anchor="t"/>
          <a:lstStyle/>
          <a:p>
            <a:pPr indent="0" marL="0">
              <a:lnSpc>
                <a:spcPts val="5100"/>
              </a:lnSpc>
              <a:buNone/>
            </a:pPr>
            <a:r>
              <a:rPr lang="en-US" sz="4050" b="1" dirty="0">
                <a:solidFill>
                  <a:srgbClr val="000000"/>
                </a:solidFill>
                <a:latin typeface="Inter Bold" pitchFamily="34" charset="0"/>
                <a:ea typeface="Inter Bold" pitchFamily="34" charset="-122"/>
                <a:cs typeface="Inter Bold" pitchFamily="34" charset="-120"/>
              </a:rPr>
              <a:t>Accuracy: Practical Example</a:t>
            </a:r>
            <a:endParaRPr lang="en-US" sz="4050" dirty="0"/>
          </a:p>
        </p:txBody>
      </p:sp>
      <p:sp>
        <p:nvSpPr>
          <p:cNvPr id="4" name="Shape 1"/>
          <p:cNvSpPr/>
          <p:nvPr/>
        </p:nvSpPr>
        <p:spPr>
          <a:xfrm>
            <a:off x="6212681" y="2706767"/>
            <a:ext cx="466844" cy="466844"/>
          </a:xfrm>
          <a:prstGeom prst="roundRect">
            <a:avLst>
              <a:gd name="adj" fmla="val 18670"/>
            </a:avLst>
          </a:prstGeom>
          <a:solidFill>
            <a:srgbClr val="F7D5D4"/>
          </a:solidFill>
          <a:ln w="7620">
            <a:solidFill>
              <a:srgbClr val="DDBBBA"/>
            </a:solidFill>
            <a:prstDash val="solid"/>
          </a:ln>
        </p:spPr>
      </p:sp>
      <p:sp>
        <p:nvSpPr>
          <p:cNvPr id="5" name="Text 2"/>
          <p:cNvSpPr/>
          <p:nvPr/>
        </p:nvSpPr>
        <p:spPr>
          <a:xfrm>
            <a:off x="6290429" y="2745581"/>
            <a:ext cx="311229" cy="389096"/>
          </a:xfrm>
          <a:prstGeom prst="rect">
            <a:avLst/>
          </a:prstGeom>
          <a:noFill/>
          <a:ln/>
        </p:spPr>
        <p:txBody>
          <a:bodyPr wrap="none" lIns="0" tIns="0" rIns="0" bIns="0" rtlCol="0" anchor="t"/>
          <a:lstStyle/>
          <a:p>
            <a:pPr algn="ctr" indent="0" marL="0">
              <a:lnSpc>
                <a:spcPts val="2450"/>
              </a:lnSpc>
              <a:buNone/>
            </a:pPr>
            <a:r>
              <a:rPr lang="en-US" sz="2450" b="1" dirty="0">
                <a:solidFill>
                  <a:srgbClr val="000000"/>
                </a:solidFill>
                <a:latin typeface="Inter Bold" pitchFamily="34" charset="0"/>
                <a:ea typeface="Inter Bold" pitchFamily="34" charset="-122"/>
                <a:cs typeface="Inter Bold" pitchFamily="34" charset="-120"/>
              </a:rPr>
              <a:t>1</a:t>
            </a:r>
            <a:endParaRPr lang="en-US" sz="2450" dirty="0"/>
          </a:p>
        </p:txBody>
      </p:sp>
      <p:sp>
        <p:nvSpPr>
          <p:cNvPr id="6" name="Text 3"/>
          <p:cNvSpPr/>
          <p:nvPr/>
        </p:nvSpPr>
        <p:spPr>
          <a:xfrm>
            <a:off x="6887051" y="2706767"/>
            <a:ext cx="2651998" cy="324207"/>
          </a:xfrm>
          <a:prstGeom prst="rect">
            <a:avLst/>
          </a:prstGeom>
          <a:noFill/>
          <a:ln/>
        </p:spPr>
        <p:txBody>
          <a:bodyPr wrap="none" lIns="0" tIns="0" rIns="0" bIns="0" rtlCol="0" anchor="t"/>
          <a:lstStyle/>
          <a:p>
            <a:pPr indent="0" marL="0">
              <a:lnSpc>
                <a:spcPts val="2550"/>
              </a:lnSpc>
              <a:buNone/>
            </a:pPr>
            <a:r>
              <a:rPr lang="en-US" sz="2000" b="1" dirty="0">
                <a:solidFill>
                  <a:srgbClr val="000000"/>
                </a:solidFill>
                <a:latin typeface="Inter Bold" pitchFamily="34" charset="0"/>
                <a:ea typeface="Inter Bold" pitchFamily="34" charset="-122"/>
                <a:cs typeface="Inter Bold" pitchFamily="34" charset="-120"/>
              </a:rPr>
              <a:t>Dataset Composition</a:t>
            </a:r>
            <a:endParaRPr lang="en-US" sz="2000" dirty="0"/>
          </a:p>
        </p:txBody>
      </p:sp>
      <p:sp>
        <p:nvSpPr>
          <p:cNvPr id="7" name="Text 4"/>
          <p:cNvSpPr/>
          <p:nvPr/>
        </p:nvSpPr>
        <p:spPr>
          <a:xfrm>
            <a:off x="6887051" y="3155394"/>
            <a:ext cx="2733556" cy="2323624"/>
          </a:xfrm>
          <a:prstGeom prst="rect">
            <a:avLst/>
          </a:prstGeom>
          <a:noFill/>
          <a:ln/>
        </p:spPr>
        <p:txBody>
          <a:bodyPr wrap="square" lIns="0" tIns="0" rIns="0" bIns="0" rtlCol="0" anchor="t"/>
          <a:lstStyle/>
          <a:p>
            <a:pPr indent="0" marL="0">
              <a:lnSpc>
                <a:spcPts val="2600"/>
              </a:lnSpc>
              <a:buNone/>
            </a:pPr>
            <a:r>
              <a:rPr lang="en-US" sz="1600" dirty="0">
                <a:solidFill>
                  <a:srgbClr val="000000"/>
                </a:solidFill>
                <a:latin typeface="Inter" pitchFamily="34" charset="0"/>
                <a:ea typeface="Inter" pitchFamily="34" charset="-122"/>
                <a:cs typeface="Inter" pitchFamily="34" charset="-120"/>
              </a:rPr>
              <a:t>Consider a dataset with 90% samples of Class A and 10% samples of Class B. A model always predicting Class A would achieve 90% accuracy on this training set.</a:t>
            </a:r>
            <a:endParaRPr lang="en-US" sz="1600" dirty="0"/>
          </a:p>
        </p:txBody>
      </p:sp>
      <p:sp>
        <p:nvSpPr>
          <p:cNvPr id="8" name="Shape 5"/>
          <p:cNvSpPr/>
          <p:nvPr/>
        </p:nvSpPr>
        <p:spPr>
          <a:xfrm>
            <a:off x="9828133" y="2706767"/>
            <a:ext cx="466844" cy="466844"/>
          </a:xfrm>
          <a:prstGeom prst="roundRect">
            <a:avLst>
              <a:gd name="adj" fmla="val 18670"/>
            </a:avLst>
          </a:prstGeom>
          <a:solidFill>
            <a:srgbClr val="F7D5D4"/>
          </a:solidFill>
          <a:ln w="7620">
            <a:solidFill>
              <a:srgbClr val="DDBBBA"/>
            </a:solidFill>
            <a:prstDash val="solid"/>
          </a:ln>
        </p:spPr>
      </p:sp>
      <p:sp>
        <p:nvSpPr>
          <p:cNvPr id="9" name="Text 6"/>
          <p:cNvSpPr/>
          <p:nvPr/>
        </p:nvSpPr>
        <p:spPr>
          <a:xfrm>
            <a:off x="9905881" y="2745581"/>
            <a:ext cx="311229" cy="389096"/>
          </a:xfrm>
          <a:prstGeom prst="rect">
            <a:avLst/>
          </a:prstGeom>
          <a:noFill/>
          <a:ln/>
        </p:spPr>
        <p:txBody>
          <a:bodyPr wrap="none" lIns="0" tIns="0" rIns="0" bIns="0" rtlCol="0" anchor="t"/>
          <a:lstStyle/>
          <a:p>
            <a:pPr algn="ctr" indent="0" marL="0">
              <a:lnSpc>
                <a:spcPts val="2450"/>
              </a:lnSpc>
              <a:buNone/>
            </a:pPr>
            <a:r>
              <a:rPr lang="en-US" sz="2450" b="1" dirty="0">
                <a:solidFill>
                  <a:srgbClr val="000000"/>
                </a:solidFill>
                <a:latin typeface="Inter Bold" pitchFamily="34" charset="0"/>
                <a:ea typeface="Inter Bold" pitchFamily="34" charset="-122"/>
                <a:cs typeface="Inter Bold" pitchFamily="34" charset="-120"/>
              </a:rPr>
              <a:t>2</a:t>
            </a:r>
            <a:endParaRPr lang="en-US" sz="2450" dirty="0"/>
          </a:p>
        </p:txBody>
      </p:sp>
      <p:sp>
        <p:nvSpPr>
          <p:cNvPr id="10" name="Text 7"/>
          <p:cNvSpPr/>
          <p:nvPr/>
        </p:nvSpPr>
        <p:spPr>
          <a:xfrm>
            <a:off x="10502503" y="2706767"/>
            <a:ext cx="2733556" cy="648414"/>
          </a:xfrm>
          <a:prstGeom prst="rect">
            <a:avLst/>
          </a:prstGeom>
          <a:noFill/>
          <a:ln/>
        </p:spPr>
        <p:txBody>
          <a:bodyPr wrap="square" lIns="0" tIns="0" rIns="0" bIns="0" rtlCol="0" anchor="t"/>
          <a:lstStyle/>
          <a:p>
            <a:pPr indent="0" marL="0">
              <a:lnSpc>
                <a:spcPts val="2550"/>
              </a:lnSpc>
              <a:buNone/>
            </a:pPr>
            <a:r>
              <a:rPr lang="en-US" sz="2000" b="1" dirty="0">
                <a:solidFill>
                  <a:srgbClr val="000000"/>
                </a:solidFill>
                <a:latin typeface="Inter Bold" pitchFamily="34" charset="0"/>
                <a:ea typeface="Inter Bold" pitchFamily="34" charset="-122"/>
                <a:cs typeface="Inter Bold" pitchFamily="34" charset="-120"/>
              </a:rPr>
              <a:t>Test Set Performance</a:t>
            </a:r>
            <a:endParaRPr lang="en-US" sz="2000" dirty="0"/>
          </a:p>
        </p:txBody>
      </p:sp>
      <p:sp>
        <p:nvSpPr>
          <p:cNvPr id="11" name="Text 8"/>
          <p:cNvSpPr/>
          <p:nvPr/>
        </p:nvSpPr>
        <p:spPr>
          <a:xfrm>
            <a:off x="10502503" y="3479602"/>
            <a:ext cx="2733556" cy="1659731"/>
          </a:xfrm>
          <a:prstGeom prst="rect">
            <a:avLst/>
          </a:prstGeom>
          <a:noFill/>
          <a:ln/>
        </p:spPr>
        <p:txBody>
          <a:bodyPr wrap="square" lIns="0" tIns="0" rIns="0" bIns="0" rtlCol="0" anchor="t"/>
          <a:lstStyle/>
          <a:p>
            <a:pPr indent="0" marL="0">
              <a:lnSpc>
                <a:spcPts val="2600"/>
              </a:lnSpc>
              <a:buNone/>
            </a:pPr>
            <a:r>
              <a:rPr lang="en-US" sz="1600" dirty="0">
                <a:solidFill>
                  <a:srgbClr val="000000"/>
                </a:solidFill>
                <a:latin typeface="Inter" pitchFamily="34" charset="0"/>
                <a:ea typeface="Inter" pitchFamily="34" charset="-122"/>
                <a:cs typeface="Inter" pitchFamily="34" charset="-120"/>
              </a:rPr>
              <a:t>If we test the same model with a test set containing 60% Class A and 40% Class B samples, accuracy would drop to just 60%.</a:t>
            </a:r>
            <a:endParaRPr lang="en-US" sz="1600" dirty="0"/>
          </a:p>
        </p:txBody>
      </p:sp>
      <p:sp>
        <p:nvSpPr>
          <p:cNvPr id="12" name="Shape 9"/>
          <p:cNvSpPr/>
          <p:nvPr/>
        </p:nvSpPr>
        <p:spPr>
          <a:xfrm>
            <a:off x="6212681" y="5919907"/>
            <a:ext cx="466844" cy="466844"/>
          </a:xfrm>
          <a:prstGeom prst="roundRect">
            <a:avLst>
              <a:gd name="adj" fmla="val 18670"/>
            </a:avLst>
          </a:prstGeom>
          <a:solidFill>
            <a:srgbClr val="F7D5D4"/>
          </a:solidFill>
          <a:ln w="7620">
            <a:solidFill>
              <a:srgbClr val="DDBBBA"/>
            </a:solidFill>
            <a:prstDash val="solid"/>
          </a:ln>
        </p:spPr>
      </p:sp>
      <p:sp>
        <p:nvSpPr>
          <p:cNvPr id="13" name="Text 10"/>
          <p:cNvSpPr/>
          <p:nvPr/>
        </p:nvSpPr>
        <p:spPr>
          <a:xfrm>
            <a:off x="6290429" y="5958721"/>
            <a:ext cx="311229" cy="389096"/>
          </a:xfrm>
          <a:prstGeom prst="rect">
            <a:avLst/>
          </a:prstGeom>
          <a:noFill/>
          <a:ln/>
        </p:spPr>
        <p:txBody>
          <a:bodyPr wrap="none" lIns="0" tIns="0" rIns="0" bIns="0" rtlCol="0" anchor="t"/>
          <a:lstStyle/>
          <a:p>
            <a:pPr algn="ctr" indent="0" marL="0">
              <a:lnSpc>
                <a:spcPts val="2450"/>
              </a:lnSpc>
              <a:buNone/>
            </a:pPr>
            <a:r>
              <a:rPr lang="en-US" sz="2450" b="1" dirty="0">
                <a:solidFill>
                  <a:srgbClr val="000000"/>
                </a:solidFill>
                <a:latin typeface="Inter Bold" pitchFamily="34" charset="0"/>
                <a:ea typeface="Inter Bold" pitchFamily="34" charset="-122"/>
                <a:cs typeface="Inter Bold" pitchFamily="34" charset="-120"/>
              </a:rPr>
              <a:t>3</a:t>
            </a:r>
            <a:endParaRPr lang="en-US" sz="2450" dirty="0"/>
          </a:p>
        </p:txBody>
      </p:sp>
      <p:sp>
        <p:nvSpPr>
          <p:cNvPr id="14" name="Text 11"/>
          <p:cNvSpPr/>
          <p:nvPr/>
        </p:nvSpPr>
        <p:spPr>
          <a:xfrm>
            <a:off x="6887051" y="5919907"/>
            <a:ext cx="3551277" cy="324207"/>
          </a:xfrm>
          <a:prstGeom prst="rect">
            <a:avLst/>
          </a:prstGeom>
          <a:noFill/>
          <a:ln/>
        </p:spPr>
        <p:txBody>
          <a:bodyPr wrap="none" lIns="0" tIns="0" rIns="0" bIns="0" rtlCol="0" anchor="t"/>
          <a:lstStyle/>
          <a:p>
            <a:pPr indent="0" marL="0">
              <a:lnSpc>
                <a:spcPts val="2550"/>
              </a:lnSpc>
              <a:buNone/>
            </a:pPr>
            <a:r>
              <a:rPr lang="en-US" sz="2000" b="1" dirty="0">
                <a:solidFill>
                  <a:srgbClr val="000000"/>
                </a:solidFill>
                <a:latin typeface="Inter Bold" pitchFamily="34" charset="0"/>
                <a:ea typeface="Inter Bold" pitchFamily="34" charset="-122"/>
                <a:cs typeface="Inter Bold" pitchFamily="34" charset="-120"/>
              </a:rPr>
              <a:t>False Sense of Performance</a:t>
            </a:r>
            <a:endParaRPr lang="en-US" sz="2000" dirty="0"/>
          </a:p>
        </p:txBody>
      </p:sp>
      <p:sp>
        <p:nvSpPr>
          <p:cNvPr id="15" name="Text 12"/>
          <p:cNvSpPr/>
          <p:nvPr/>
        </p:nvSpPr>
        <p:spPr>
          <a:xfrm>
            <a:off x="6887051" y="6368534"/>
            <a:ext cx="6349008" cy="995839"/>
          </a:xfrm>
          <a:prstGeom prst="rect">
            <a:avLst/>
          </a:prstGeom>
          <a:noFill/>
          <a:ln/>
        </p:spPr>
        <p:txBody>
          <a:bodyPr wrap="square" lIns="0" tIns="0" rIns="0" bIns="0" rtlCol="0" anchor="t"/>
          <a:lstStyle/>
          <a:p>
            <a:pPr indent="0" marL="0">
              <a:lnSpc>
                <a:spcPts val="2600"/>
              </a:lnSpc>
              <a:buNone/>
            </a:pPr>
            <a:r>
              <a:rPr lang="en-US" sz="1600" dirty="0">
                <a:solidFill>
                  <a:srgbClr val="000000"/>
                </a:solidFill>
                <a:latin typeface="Inter" pitchFamily="34" charset="0"/>
                <a:ea typeface="Inter" pitchFamily="34" charset="-122"/>
                <a:cs typeface="Inter" pitchFamily="34" charset="-120"/>
              </a:rPr>
              <a:t>This example shows how accuracy can give a false positive sense of achievement. The problem arises when there's a high possibility of misclassifying minority class samples.</a:t>
            </a:r>
            <a:endParaRPr lang="en-US" sz="1600" dirty="0"/>
          </a:p>
        </p:txBody>
      </p:sp>
      <p:pic>
        <p:nvPicPr>
          <p:cNvPr id="16" name="Image 1" descr="preencoded.png">    </p:cNvPr>
          <p:cNvPicPr>
            <a:picLocks noChangeAspect="1"/>
          </p:cNvPicPr>
          <p:nvPr/>
        </p:nvPicPr>
        <p:blipFill>
          <a:blip r:embed="rId2"/>
          <a:stretch>
            <a:fillRect/>
          </a:stretch>
        </p:blipFill>
        <p:spPr>
          <a:xfrm>
            <a:off x="13464778" y="228600"/>
            <a:ext cx="937022" cy="5028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58585"/>
            <a:ext cx="7783235"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Logarithmic Loss (Log Loss)</a:t>
            </a:r>
            <a:endParaRPr lang="en-US" sz="4450" dirty="0"/>
          </a:p>
        </p:txBody>
      </p:sp>
      <p:sp>
        <p:nvSpPr>
          <p:cNvPr id="3" name="Text 1"/>
          <p:cNvSpPr/>
          <p:nvPr/>
        </p:nvSpPr>
        <p:spPr>
          <a:xfrm>
            <a:off x="2002274" y="2220992"/>
            <a:ext cx="2835235" cy="354330"/>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Definition</a:t>
            </a:r>
            <a:endParaRPr lang="en-US" sz="2200" dirty="0"/>
          </a:p>
        </p:txBody>
      </p:sp>
      <p:sp>
        <p:nvSpPr>
          <p:cNvPr id="4" name="Text 2"/>
          <p:cNvSpPr/>
          <p:nvPr/>
        </p:nvSpPr>
        <p:spPr>
          <a:xfrm>
            <a:off x="793790" y="2711410"/>
            <a:ext cx="4043720" cy="1814513"/>
          </a:xfrm>
          <a:prstGeom prst="rect">
            <a:avLst/>
          </a:prstGeom>
          <a:noFill/>
          <a:ln/>
        </p:spPr>
        <p:txBody>
          <a:bodyPr wrap="square" lIns="0" tIns="0" rIns="0" bIns="0" rtlCol="0" anchor="t"/>
          <a:lstStyle/>
          <a:p>
            <a:pPr algn="r" indent="0" marL="0">
              <a:lnSpc>
                <a:spcPts val="2850"/>
              </a:lnSpc>
              <a:buNone/>
            </a:pPr>
            <a:r>
              <a:rPr lang="en-US" sz="1750" dirty="0">
                <a:solidFill>
                  <a:srgbClr val="000000"/>
                </a:solidFill>
                <a:latin typeface="Inter" pitchFamily="34" charset="0"/>
                <a:ea typeface="Inter" pitchFamily="34" charset="-122"/>
                <a:cs typeface="Inter" pitchFamily="34" charset="-120"/>
              </a:rPr>
              <a:t>Log loss works by penalizing false classifications, particularly effective for multi-class problems. It evaluates how close a prediction probability is to the actual class label.</a:t>
            </a:r>
            <a:endParaRPr lang="en-US" sz="1750" dirty="0"/>
          </a:p>
        </p:txBody>
      </p:sp>
      <p:pic>
        <p:nvPicPr>
          <p:cNvPr id="5" name="Image 0" descr="preencoded.png">    </p:cNvPr>
          <p:cNvPicPr>
            <a:picLocks noChangeAspect="1"/>
          </p:cNvPicPr>
          <p:nvPr/>
        </p:nvPicPr>
        <p:blipFill>
          <a:blip r:embed="rId1"/>
          <a:stretch>
            <a:fillRect/>
          </a:stretch>
        </p:blipFill>
        <p:spPr>
          <a:xfrm>
            <a:off x="4837509" y="2518648"/>
            <a:ext cx="4354711" cy="4354711"/>
          </a:xfrm>
          <a:prstGeom prst="rect">
            <a:avLst/>
          </a:prstGeom>
        </p:spPr>
      </p:pic>
      <p:sp>
        <p:nvSpPr>
          <p:cNvPr id="6" name="Text 3"/>
          <p:cNvSpPr/>
          <p:nvPr/>
        </p:nvSpPr>
        <p:spPr>
          <a:xfrm>
            <a:off x="6062305" y="3703677"/>
            <a:ext cx="318968" cy="398621"/>
          </a:xfrm>
          <a:prstGeom prst="rect">
            <a:avLst/>
          </a:prstGeom>
          <a:noFill/>
          <a:ln/>
        </p:spPr>
        <p:txBody>
          <a:bodyPr wrap="none" lIns="0" tIns="0" rIns="0" bIns="0" rtlCol="0" anchor="t"/>
          <a:lstStyle/>
          <a:p>
            <a:pPr indent="0" marL="0">
              <a:lnSpc>
                <a:spcPts val="4000"/>
              </a:lnSpc>
              <a:buNone/>
            </a:pPr>
            <a:r>
              <a:rPr lang="en-US" sz="2500" b="1" dirty="0">
                <a:solidFill>
                  <a:srgbClr val="000000"/>
                </a:solidFill>
                <a:latin typeface="Inter Bold" pitchFamily="34" charset="0"/>
                <a:ea typeface="Inter Bold" pitchFamily="34" charset="-122"/>
                <a:cs typeface="Inter Bold" pitchFamily="34" charset="-120"/>
              </a:rPr>
              <a:t>1</a:t>
            </a:r>
            <a:endParaRPr lang="en-US" sz="2500" dirty="0"/>
          </a:p>
        </p:txBody>
      </p:sp>
      <p:sp>
        <p:nvSpPr>
          <p:cNvPr id="7" name="Text 4"/>
          <p:cNvSpPr/>
          <p:nvPr/>
        </p:nvSpPr>
        <p:spPr>
          <a:xfrm>
            <a:off x="9192220" y="276534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Formula</a:t>
            </a:r>
            <a:endParaRPr lang="en-US" sz="2200" dirty="0"/>
          </a:p>
        </p:txBody>
      </p:sp>
      <p:sp>
        <p:nvSpPr>
          <p:cNvPr id="8" name="Text 5"/>
          <p:cNvSpPr/>
          <p:nvPr/>
        </p:nvSpPr>
        <p:spPr>
          <a:xfrm>
            <a:off x="9192220" y="3255764"/>
            <a:ext cx="4043839"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LogarithmicLoss = (-1/N) × ∑(i=1 to N) ∑(j=1 to M) yᵢⱼ × log(pᵢⱼ)</a:t>
            </a:r>
            <a:endParaRPr lang="en-US" sz="1750" dirty="0"/>
          </a:p>
        </p:txBody>
      </p:sp>
      <p:pic>
        <p:nvPicPr>
          <p:cNvPr id="9" name="Image 1" descr="preencoded.png">    </p:cNvPr>
          <p:cNvPicPr>
            <a:picLocks noChangeAspect="1"/>
          </p:cNvPicPr>
          <p:nvPr/>
        </p:nvPicPr>
        <p:blipFill>
          <a:blip r:embed="rId2"/>
          <a:stretch>
            <a:fillRect/>
          </a:stretch>
        </p:blipFill>
        <p:spPr>
          <a:xfrm>
            <a:off x="4837509" y="2518648"/>
            <a:ext cx="4354711" cy="4354711"/>
          </a:xfrm>
          <a:prstGeom prst="rect">
            <a:avLst/>
          </a:prstGeom>
        </p:spPr>
      </p:pic>
      <p:sp>
        <p:nvSpPr>
          <p:cNvPr id="10" name="Text 6"/>
          <p:cNvSpPr/>
          <p:nvPr/>
        </p:nvSpPr>
        <p:spPr>
          <a:xfrm>
            <a:off x="7648218" y="3703677"/>
            <a:ext cx="318968" cy="398621"/>
          </a:xfrm>
          <a:prstGeom prst="rect">
            <a:avLst/>
          </a:prstGeom>
          <a:noFill/>
          <a:ln/>
        </p:spPr>
        <p:txBody>
          <a:bodyPr wrap="none" lIns="0" tIns="0" rIns="0" bIns="0" rtlCol="0" anchor="t"/>
          <a:lstStyle/>
          <a:p>
            <a:pPr indent="0" marL="0">
              <a:lnSpc>
                <a:spcPts val="4000"/>
              </a:lnSpc>
              <a:buNone/>
            </a:pPr>
            <a:r>
              <a:rPr lang="en-US" sz="2500" b="1" dirty="0">
                <a:solidFill>
                  <a:srgbClr val="000000"/>
                </a:solidFill>
                <a:latin typeface="Inter Bold" pitchFamily="34" charset="0"/>
                <a:ea typeface="Inter Bold" pitchFamily="34" charset="-122"/>
                <a:cs typeface="Inter Bold" pitchFamily="34" charset="-120"/>
              </a:rPr>
              <a:t>2</a:t>
            </a:r>
            <a:endParaRPr lang="en-US" sz="2500" dirty="0"/>
          </a:p>
        </p:txBody>
      </p:sp>
      <p:sp>
        <p:nvSpPr>
          <p:cNvPr id="11" name="Text 7"/>
          <p:cNvSpPr/>
          <p:nvPr/>
        </p:nvSpPr>
        <p:spPr>
          <a:xfrm>
            <a:off x="9192220" y="504753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Interpretation</a:t>
            </a:r>
            <a:endParaRPr lang="en-US" sz="2200" dirty="0"/>
          </a:p>
        </p:txBody>
      </p:sp>
      <p:sp>
        <p:nvSpPr>
          <p:cNvPr id="12" name="Text 8"/>
          <p:cNvSpPr/>
          <p:nvPr/>
        </p:nvSpPr>
        <p:spPr>
          <a:xfrm>
            <a:off x="9192220" y="5537954"/>
            <a:ext cx="4043839"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Range is [0,∞) with values closer to 0 indicating higher accuracy. Minimizing log loss generally improves classifier performance.</a:t>
            </a:r>
            <a:endParaRPr lang="en-US" sz="1750" dirty="0"/>
          </a:p>
        </p:txBody>
      </p:sp>
      <p:pic>
        <p:nvPicPr>
          <p:cNvPr id="13" name="Image 2" descr="preencoded.png">    </p:cNvPr>
          <p:cNvPicPr>
            <a:picLocks noChangeAspect="1"/>
          </p:cNvPicPr>
          <p:nvPr/>
        </p:nvPicPr>
        <p:blipFill>
          <a:blip r:embed="rId3"/>
          <a:stretch>
            <a:fillRect/>
          </a:stretch>
        </p:blipFill>
        <p:spPr>
          <a:xfrm>
            <a:off x="4837509" y="2518648"/>
            <a:ext cx="4354711" cy="4354711"/>
          </a:xfrm>
          <a:prstGeom prst="rect">
            <a:avLst/>
          </a:prstGeom>
        </p:spPr>
      </p:pic>
      <p:sp>
        <p:nvSpPr>
          <p:cNvPr id="14" name="Text 9"/>
          <p:cNvSpPr/>
          <p:nvPr/>
        </p:nvSpPr>
        <p:spPr>
          <a:xfrm>
            <a:off x="7648218" y="5289590"/>
            <a:ext cx="318968" cy="398621"/>
          </a:xfrm>
          <a:prstGeom prst="rect">
            <a:avLst/>
          </a:prstGeom>
          <a:noFill/>
          <a:ln/>
        </p:spPr>
        <p:txBody>
          <a:bodyPr wrap="none" lIns="0" tIns="0" rIns="0" bIns="0" rtlCol="0" anchor="t"/>
          <a:lstStyle/>
          <a:p>
            <a:pPr indent="0" marL="0">
              <a:lnSpc>
                <a:spcPts val="4000"/>
              </a:lnSpc>
              <a:buNone/>
            </a:pPr>
            <a:r>
              <a:rPr lang="en-US" sz="2500" b="1" dirty="0">
                <a:solidFill>
                  <a:srgbClr val="000000"/>
                </a:solidFill>
                <a:latin typeface="Inter Bold" pitchFamily="34" charset="0"/>
                <a:ea typeface="Inter Bold" pitchFamily="34" charset="-122"/>
                <a:cs typeface="Inter Bold" pitchFamily="34" charset="-120"/>
              </a:rPr>
              <a:t>3</a:t>
            </a:r>
            <a:endParaRPr lang="en-US" sz="2500" dirty="0"/>
          </a:p>
        </p:txBody>
      </p:sp>
      <p:sp>
        <p:nvSpPr>
          <p:cNvPr id="15" name="Text 10"/>
          <p:cNvSpPr/>
          <p:nvPr/>
        </p:nvSpPr>
        <p:spPr>
          <a:xfrm>
            <a:off x="2002274" y="4866084"/>
            <a:ext cx="2835235" cy="354330"/>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Application</a:t>
            </a:r>
            <a:endParaRPr lang="en-US" sz="2200" dirty="0"/>
          </a:p>
        </p:txBody>
      </p:sp>
      <p:sp>
        <p:nvSpPr>
          <p:cNvPr id="16" name="Text 11"/>
          <p:cNvSpPr/>
          <p:nvPr/>
        </p:nvSpPr>
        <p:spPr>
          <a:xfrm>
            <a:off x="793790" y="5356503"/>
            <a:ext cx="4043720" cy="1814513"/>
          </a:xfrm>
          <a:prstGeom prst="rect">
            <a:avLst/>
          </a:prstGeom>
          <a:noFill/>
          <a:ln/>
        </p:spPr>
        <p:txBody>
          <a:bodyPr wrap="square" lIns="0" tIns="0" rIns="0" bIns="0" rtlCol="0" anchor="t"/>
          <a:lstStyle/>
          <a:p>
            <a:pPr algn="r" indent="0" marL="0">
              <a:lnSpc>
                <a:spcPts val="2850"/>
              </a:lnSpc>
              <a:buNone/>
            </a:pPr>
            <a:r>
              <a:rPr lang="en-US" sz="1750" dirty="0">
                <a:solidFill>
                  <a:srgbClr val="000000"/>
                </a:solidFill>
                <a:latin typeface="Inter" pitchFamily="34" charset="0"/>
                <a:ea typeface="Inter" pitchFamily="34" charset="-122"/>
                <a:cs typeface="Inter" pitchFamily="34" charset="-120"/>
              </a:rPr>
              <a:t>The classifier must assign a probability to each class for all samples. This makes it ideal for problems requiring probability outputs rather than just class labels.</a:t>
            </a:r>
            <a:endParaRPr lang="en-US" sz="1750" dirty="0"/>
          </a:p>
        </p:txBody>
      </p:sp>
      <p:pic>
        <p:nvPicPr>
          <p:cNvPr id="17" name="Image 3" descr="preencoded.png">    </p:cNvPr>
          <p:cNvPicPr>
            <a:picLocks noChangeAspect="1"/>
          </p:cNvPicPr>
          <p:nvPr/>
        </p:nvPicPr>
        <p:blipFill>
          <a:blip r:embed="rId4"/>
          <a:stretch>
            <a:fillRect/>
          </a:stretch>
        </p:blipFill>
        <p:spPr>
          <a:xfrm>
            <a:off x="4837509" y="2518648"/>
            <a:ext cx="4354711" cy="4354711"/>
          </a:xfrm>
          <a:prstGeom prst="rect">
            <a:avLst/>
          </a:prstGeom>
        </p:spPr>
      </p:pic>
      <p:sp>
        <p:nvSpPr>
          <p:cNvPr id="18" name="Text 12"/>
          <p:cNvSpPr/>
          <p:nvPr/>
        </p:nvSpPr>
        <p:spPr>
          <a:xfrm>
            <a:off x="6062305" y="5289590"/>
            <a:ext cx="318968" cy="398621"/>
          </a:xfrm>
          <a:prstGeom prst="rect">
            <a:avLst/>
          </a:prstGeom>
          <a:noFill/>
          <a:ln/>
        </p:spPr>
        <p:txBody>
          <a:bodyPr wrap="none" lIns="0" tIns="0" rIns="0" bIns="0" rtlCol="0" anchor="t"/>
          <a:lstStyle/>
          <a:p>
            <a:pPr indent="0" marL="0">
              <a:lnSpc>
                <a:spcPts val="4000"/>
              </a:lnSpc>
              <a:buNone/>
            </a:pPr>
            <a:r>
              <a:rPr lang="en-US" sz="2500" b="1" dirty="0">
                <a:solidFill>
                  <a:srgbClr val="000000"/>
                </a:solidFill>
                <a:latin typeface="Inter Bold" pitchFamily="34" charset="0"/>
                <a:ea typeface="Inter Bold" pitchFamily="34" charset="-122"/>
                <a:cs typeface="Inter Bold" pitchFamily="34" charset="-120"/>
              </a:rPr>
              <a:t>4</a:t>
            </a:r>
            <a:endParaRPr lang="en-US" sz="2500" dirty="0"/>
          </a:p>
        </p:txBody>
      </p:sp>
      <p:pic>
        <p:nvPicPr>
          <p:cNvPr id="19" name="Image 4" descr="preencoded.png">    </p:cNvPr>
          <p:cNvPicPr>
            <a:picLocks noChangeAspect="1"/>
          </p:cNvPicPr>
          <p:nvPr/>
        </p:nvPicPr>
        <p:blipFill>
          <a:blip r:embed="rId5"/>
          <a:stretch>
            <a:fillRect/>
          </a:stretch>
        </p:blipFill>
        <p:spPr>
          <a:xfrm>
            <a:off x="13464778" y="228600"/>
            <a:ext cx="937022" cy="5028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0910"/>
          </a:xfrm>
          <a:prstGeom prst="rect">
            <a:avLst/>
          </a:prstGeom>
        </p:spPr>
      </p:pic>
      <p:sp>
        <p:nvSpPr>
          <p:cNvPr id="3" name="Text 0"/>
          <p:cNvSpPr/>
          <p:nvPr/>
        </p:nvSpPr>
        <p:spPr>
          <a:xfrm>
            <a:off x="6246495" y="597218"/>
            <a:ext cx="6989564" cy="1357313"/>
          </a:xfrm>
          <a:prstGeom prst="rect">
            <a:avLst/>
          </a:prstGeom>
          <a:noFill/>
          <a:ln/>
        </p:spPr>
        <p:txBody>
          <a:bodyPr wrap="square" lIns="0" tIns="0" rIns="0" bIns="0" rtlCol="0" anchor="t"/>
          <a:lstStyle/>
          <a:p>
            <a:pPr indent="0" marL="0">
              <a:lnSpc>
                <a:spcPts val="5300"/>
              </a:lnSpc>
              <a:buNone/>
            </a:pPr>
            <a:r>
              <a:rPr lang="en-US" sz="4250" b="1" dirty="0">
                <a:solidFill>
                  <a:srgbClr val="000000"/>
                </a:solidFill>
                <a:latin typeface="Inter Bold" pitchFamily="34" charset="0"/>
                <a:ea typeface="Inter Bold" pitchFamily="34" charset="-122"/>
                <a:cs typeface="Inter Bold" pitchFamily="34" charset="-120"/>
              </a:rPr>
              <a:t>Understanding Log Loss Terms</a:t>
            </a:r>
            <a:endParaRPr lang="en-US" sz="4250" dirty="0"/>
          </a:p>
        </p:txBody>
      </p:sp>
      <p:pic>
        <p:nvPicPr>
          <p:cNvPr id="4" name="Image 1" descr="preencoded.png">    </p:cNvPr>
          <p:cNvPicPr>
            <a:picLocks noChangeAspect="1"/>
          </p:cNvPicPr>
          <p:nvPr/>
        </p:nvPicPr>
        <p:blipFill>
          <a:blip r:embed="rId2"/>
          <a:stretch>
            <a:fillRect/>
          </a:stretch>
        </p:blipFill>
        <p:spPr>
          <a:xfrm>
            <a:off x="6246495" y="2280285"/>
            <a:ext cx="505658" cy="505658"/>
          </a:xfrm>
          <a:prstGeom prst="rect">
            <a:avLst/>
          </a:prstGeom>
        </p:spPr>
      </p:pic>
      <p:sp>
        <p:nvSpPr>
          <p:cNvPr id="5" name="Text 1"/>
          <p:cNvSpPr/>
          <p:nvPr/>
        </p:nvSpPr>
        <p:spPr>
          <a:xfrm>
            <a:off x="6246495" y="3003113"/>
            <a:ext cx="2112645" cy="678656"/>
          </a:xfrm>
          <a:prstGeom prst="rect">
            <a:avLst/>
          </a:prstGeom>
          <a:noFill/>
          <a:ln/>
        </p:spPr>
        <p:txBody>
          <a:bodyPr wrap="square" lIns="0" tIns="0" rIns="0" bIns="0" rtlCol="0" anchor="t"/>
          <a:lstStyle/>
          <a:p>
            <a:pPr algn="l" indent="0" marL="0">
              <a:lnSpc>
                <a:spcPts val="2650"/>
              </a:lnSpc>
              <a:buNone/>
            </a:pPr>
            <a:r>
              <a:rPr lang="en-US" sz="2100" b="1" dirty="0">
                <a:solidFill>
                  <a:srgbClr val="000000"/>
                </a:solidFill>
                <a:latin typeface="Inter Bold" pitchFamily="34" charset="0"/>
                <a:ea typeface="Inter Bold" pitchFamily="34" charset="-122"/>
                <a:cs typeface="Inter Bold" pitchFamily="34" charset="-120"/>
              </a:rPr>
              <a:t>Probability Assignment</a:t>
            </a:r>
            <a:endParaRPr lang="en-US" sz="2100" dirty="0"/>
          </a:p>
        </p:txBody>
      </p:sp>
      <p:sp>
        <p:nvSpPr>
          <p:cNvPr id="6" name="Text 2"/>
          <p:cNvSpPr/>
          <p:nvPr/>
        </p:nvSpPr>
        <p:spPr>
          <a:xfrm>
            <a:off x="6246495" y="3812024"/>
            <a:ext cx="2112645" cy="2779395"/>
          </a:xfrm>
          <a:prstGeom prst="rect">
            <a:avLst/>
          </a:prstGeom>
          <a:noFill/>
          <a:ln/>
        </p:spPr>
        <p:txBody>
          <a:bodyPr wrap="square" lIns="0" tIns="0" rIns="0" bIns="0" rtlCol="0" anchor="t"/>
          <a:lstStyle/>
          <a:p>
            <a:pPr algn="l" indent="0" marL="0">
              <a:lnSpc>
                <a:spcPts val="2700"/>
              </a:lnSpc>
              <a:buNone/>
            </a:pPr>
            <a:r>
              <a:rPr lang="en-US" sz="1700" dirty="0">
                <a:solidFill>
                  <a:srgbClr val="000000"/>
                </a:solidFill>
                <a:latin typeface="Inter" pitchFamily="34" charset="0"/>
                <a:ea typeface="Inter" pitchFamily="34" charset="-122"/>
                <a:cs typeface="Inter" pitchFamily="34" charset="-120"/>
              </a:rPr>
              <a:t>pᵢⱼ represents the probability assigned by the model that sample i belongs to class j. Better probability estimates lead to lower log loss.</a:t>
            </a:r>
            <a:endParaRPr lang="en-US" sz="1700" dirty="0"/>
          </a:p>
        </p:txBody>
      </p:sp>
      <p:pic>
        <p:nvPicPr>
          <p:cNvPr id="7" name="Image 2" descr="preencoded.png">    </p:cNvPr>
          <p:cNvPicPr>
            <a:picLocks noChangeAspect="1"/>
          </p:cNvPicPr>
          <p:nvPr/>
        </p:nvPicPr>
        <p:blipFill>
          <a:blip r:embed="rId3"/>
          <a:stretch>
            <a:fillRect/>
          </a:stretch>
        </p:blipFill>
        <p:spPr>
          <a:xfrm>
            <a:off x="8684895" y="2280285"/>
            <a:ext cx="505658" cy="505658"/>
          </a:xfrm>
          <a:prstGeom prst="rect">
            <a:avLst/>
          </a:prstGeom>
        </p:spPr>
      </p:pic>
      <p:sp>
        <p:nvSpPr>
          <p:cNvPr id="8" name="Text 3"/>
          <p:cNvSpPr/>
          <p:nvPr/>
        </p:nvSpPr>
        <p:spPr>
          <a:xfrm>
            <a:off x="8684895" y="3003113"/>
            <a:ext cx="2112645" cy="678656"/>
          </a:xfrm>
          <a:prstGeom prst="rect">
            <a:avLst/>
          </a:prstGeom>
          <a:noFill/>
          <a:ln/>
        </p:spPr>
        <p:txBody>
          <a:bodyPr wrap="square" lIns="0" tIns="0" rIns="0" bIns="0" rtlCol="0" anchor="t"/>
          <a:lstStyle/>
          <a:p>
            <a:pPr algn="l" indent="0" marL="0">
              <a:lnSpc>
                <a:spcPts val="2650"/>
              </a:lnSpc>
              <a:buNone/>
            </a:pPr>
            <a:r>
              <a:rPr lang="en-US" sz="2100" b="1" dirty="0">
                <a:solidFill>
                  <a:srgbClr val="000000"/>
                </a:solidFill>
                <a:latin typeface="Inter Bold" pitchFamily="34" charset="0"/>
                <a:ea typeface="Inter Bold" pitchFamily="34" charset="-122"/>
                <a:cs typeface="Inter Bold" pitchFamily="34" charset="-120"/>
              </a:rPr>
              <a:t>Actual Class Indicator</a:t>
            </a:r>
            <a:endParaRPr lang="en-US" sz="2100" dirty="0"/>
          </a:p>
        </p:txBody>
      </p:sp>
      <p:sp>
        <p:nvSpPr>
          <p:cNvPr id="9" name="Text 4"/>
          <p:cNvSpPr/>
          <p:nvPr/>
        </p:nvSpPr>
        <p:spPr>
          <a:xfrm>
            <a:off x="8684895" y="3812024"/>
            <a:ext cx="2112645" cy="2431971"/>
          </a:xfrm>
          <a:prstGeom prst="rect">
            <a:avLst/>
          </a:prstGeom>
          <a:noFill/>
          <a:ln/>
        </p:spPr>
        <p:txBody>
          <a:bodyPr wrap="square" lIns="0" tIns="0" rIns="0" bIns="0" rtlCol="0" anchor="t"/>
          <a:lstStyle/>
          <a:p>
            <a:pPr algn="l" indent="0" marL="0">
              <a:lnSpc>
                <a:spcPts val="2700"/>
              </a:lnSpc>
              <a:buNone/>
            </a:pPr>
            <a:r>
              <a:rPr lang="en-US" sz="1700" dirty="0">
                <a:solidFill>
                  <a:srgbClr val="000000"/>
                </a:solidFill>
                <a:latin typeface="Inter" pitchFamily="34" charset="0"/>
                <a:ea typeface="Inter" pitchFamily="34" charset="-122"/>
                <a:cs typeface="Inter" pitchFamily="34" charset="-120"/>
              </a:rPr>
              <a:t>yᵢⱼ indicates whether sample i belongs to class j (1 if true, 0 if false). This binary value acts as a filter in the loss calculation.</a:t>
            </a:r>
            <a:endParaRPr lang="en-US" sz="1700" dirty="0"/>
          </a:p>
        </p:txBody>
      </p:sp>
      <p:pic>
        <p:nvPicPr>
          <p:cNvPr id="10" name="Image 3" descr="preencoded.png">    </p:cNvPr>
          <p:cNvPicPr>
            <a:picLocks noChangeAspect="1"/>
          </p:cNvPicPr>
          <p:nvPr/>
        </p:nvPicPr>
        <p:blipFill>
          <a:blip r:embed="rId4"/>
          <a:stretch>
            <a:fillRect/>
          </a:stretch>
        </p:blipFill>
        <p:spPr>
          <a:xfrm>
            <a:off x="11123295" y="2280285"/>
            <a:ext cx="505658" cy="505658"/>
          </a:xfrm>
          <a:prstGeom prst="rect">
            <a:avLst/>
          </a:prstGeom>
        </p:spPr>
      </p:pic>
      <p:sp>
        <p:nvSpPr>
          <p:cNvPr id="11" name="Text 5"/>
          <p:cNvSpPr/>
          <p:nvPr/>
        </p:nvSpPr>
        <p:spPr>
          <a:xfrm>
            <a:off x="11123295" y="3003113"/>
            <a:ext cx="2112764" cy="678656"/>
          </a:xfrm>
          <a:prstGeom prst="rect">
            <a:avLst/>
          </a:prstGeom>
          <a:noFill/>
          <a:ln/>
        </p:spPr>
        <p:txBody>
          <a:bodyPr wrap="square" lIns="0" tIns="0" rIns="0" bIns="0" rtlCol="0" anchor="t"/>
          <a:lstStyle/>
          <a:p>
            <a:pPr algn="l" indent="0" marL="0">
              <a:lnSpc>
                <a:spcPts val="2650"/>
              </a:lnSpc>
              <a:buNone/>
            </a:pPr>
            <a:r>
              <a:rPr lang="en-US" sz="2100" b="1" dirty="0">
                <a:solidFill>
                  <a:srgbClr val="000000"/>
                </a:solidFill>
                <a:latin typeface="Inter Bold" pitchFamily="34" charset="0"/>
                <a:ea typeface="Inter Bold" pitchFamily="34" charset="-122"/>
                <a:cs typeface="Inter Bold" pitchFamily="34" charset="-120"/>
              </a:rPr>
              <a:t>Minimization Goal</a:t>
            </a:r>
            <a:endParaRPr lang="en-US" sz="2100" dirty="0"/>
          </a:p>
        </p:txBody>
      </p:sp>
      <p:sp>
        <p:nvSpPr>
          <p:cNvPr id="12" name="Text 6"/>
          <p:cNvSpPr/>
          <p:nvPr/>
        </p:nvSpPr>
        <p:spPr>
          <a:xfrm>
            <a:off x="11123295" y="3812024"/>
            <a:ext cx="2112764" cy="3821668"/>
          </a:xfrm>
          <a:prstGeom prst="rect">
            <a:avLst/>
          </a:prstGeom>
          <a:noFill/>
          <a:ln/>
        </p:spPr>
        <p:txBody>
          <a:bodyPr wrap="square" lIns="0" tIns="0" rIns="0" bIns="0" rtlCol="0" anchor="t"/>
          <a:lstStyle/>
          <a:p>
            <a:pPr algn="l" indent="0" marL="0">
              <a:lnSpc>
                <a:spcPts val="2700"/>
              </a:lnSpc>
              <a:buNone/>
            </a:pPr>
            <a:r>
              <a:rPr lang="en-US" sz="1700" dirty="0">
                <a:solidFill>
                  <a:srgbClr val="000000"/>
                </a:solidFill>
                <a:latin typeface="Inter" pitchFamily="34" charset="0"/>
                <a:ea typeface="Inter" pitchFamily="34" charset="-122"/>
                <a:cs typeface="Inter" pitchFamily="34" charset="-120"/>
              </a:rPr>
              <a:t>The primary objective is to minimize log loss. As log loss approaches zero, the model's predicted probabilities more closely match the actual distribution of classes.</a:t>
            </a:r>
            <a:endParaRPr lang="en-US" sz="1700" dirty="0"/>
          </a:p>
        </p:txBody>
      </p:sp>
      <p:pic>
        <p:nvPicPr>
          <p:cNvPr id="13" name="Image 4" descr="preencoded.png">    </p:cNvPr>
          <p:cNvPicPr>
            <a:picLocks noChangeAspect="1"/>
          </p:cNvPicPr>
          <p:nvPr/>
        </p:nvPicPr>
        <p:blipFill>
          <a:blip r:embed="rId5"/>
          <a:stretch>
            <a:fillRect/>
          </a:stretch>
        </p:blipFill>
        <p:spPr>
          <a:xfrm>
            <a:off x="13464778" y="228600"/>
            <a:ext cx="937022" cy="5028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209907" y="2467213"/>
            <a:ext cx="5066467" cy="3295174"/>
          </a:xfrm>
          <a:prstGeom prst="rect">
            <a:avLst/>
          </a:prstGeom>
        </p:spPr>
      </p:pic>
      <p:sp>
        <p:nvSpPr>
          <p:cNvPr id="4" name="Text 0"/>
          <p:cNvSpPr/>
          <p:nvPr/>
        </p:nvSpPr>
        <p:spPr>
          <a:xfrm>
            <a:off x="6074450" y="597813"/>
            <a:ext cx="5009317" cy="525066"/>
          </a:xfrm>
          <a:prstGeom prst="rect">
            <a:avLst/>
          </a:prstGeom>
          <a:noFill/>
          <a:ln/>
        </p:spPr>
        <p:txBody>
          <a:bodyPr wrap="none" lIns="0" tIns="0" rIns="0" bIns="0" rtlCol="0" anchor="t"/>
          <a:lstStyle/>
          <a:p>
            <a:pPr indent="0" marL="0">
              <a:lnSpc>
                <a:spcPts val="4100"/>
              </a:lnSpc>
              <a:buNone/>
            </a:pPr>
            <a:r>
              <a:rPr lang="en-US" sz="3300" b="1" dirty="0">
                <a:solidFill>
                  <a:srgbClr val="000000"/>
                </a:solidFill>
                <a:latin typeface="Inter Bold" pitchFamily="34" charset="0"/>
                <a:ea typeface="Inter Bold" pitchFamily="34" charset="-122"/>
                <a:cs typeface="Inter Bold" pitchFamily="34" charset="-120"/>
              </a:rPr>
              <a:t>Area Under Curve (AUC)</a:t>
            </a:r>
            <a:endParaRPr lang="en-US" sz="3300" dirty="0"/>
          </a:p>
        </p:txBody>
      </p:sp>
      <p:sp>
        <p:nvSpPr>
          <p:cNvPr id="5" name="Shape 1"/>
          <p:cNvSpPr/>
          <p:nvPr/>
        </p:nvSpPr>
        <p:spPr>
          <a:xfrm>
            <a:off x="6263402" y="1374815"/>
            <a:ext cx="22860" cy="6256973"/>
          </a:xfrm>
          <a:prstGeom prst="roundRect">
            <a:avLst>
              <a:gd name="adj" fmla="val 308697"/>
            </a:avLst>
          </a:prstGeom>
          <a:solidFill>
            <a:srgbClr val="DDBBBA"/>
          </a:solidFill>
          <a:ln/>
        </p:spPr>
      </p:sp>
      <p:sp>
        <p:nvSpPr>
          <p:cNvPr id="6" name="Shape 2"/>
          <p:cNvSpPr/>
          <p:nvPr/>
        </p:nvSpPr>
        <p:spPr>
          <a:xfrm>
            <a:off x="6429554" y="1741289"/>
            <a:ext cx="503992" cy="22860"/>
          </a:xfrm>
          <a:prstGeom prst="roundRect">
            <a:avLst>
              <a:gd name="adj" fmla="val 308697"/>
            </a:avLst>
          </a:prstGeom>
          <a:solidFill>
            <a:srgbClr val="DDBBBA"/>
          </a:solidFill>
          <a:ln/>
        </p:spPr>
      </p:sp>
      <p:sp>
        <p:nvSpPr>
          <p:cNvPr id="7" name="Shape 3"/>
          <p:cNvSpPr/>
          <p:nvPr/>
        </p:nvSpPr>
        <p:spPr>
          <a:xfrm>
            <a:off x="6074390" y="1563767"/>
            <a:ext cx="378023" cy="378023"/>
          </a:xfrm>
          <a:prstGeom prst="roundRect">
            <a:avLst>
              <a:gd name="adj" fmla="val 18668"/>
            </a:avLst>
          </a:prstGeom>
          <a:solidFill>
            <a:srgbClr val="F7D5D4"/>
          </a:solidFill>
          <a:ln w="7620">
            <a:solidFill>
              <a:srgbClr val="DDBBBA"/>
            </a:solidFill>
            <a:prstDash val="solid"/>
          </a:ln>
        </p:spPr>
      </p:sp>
      <p:sp>
        <p:nvSpPr>
          <p:cNvPr id="8" name="Text 4"/>
          <p:cNvSpPr/>
          <p:nvPr/>
        </p:nvSpPr>
        <p:spPr>
          <a:xfrm>
            <a:off x="6137374" y="1595259"/>
            <a:ext cx="251936" cy="314920"/>
          </a:xfrm>
          <a:prstGeom prst="rect">
            <a:avLst/>
          </a:prstGeom>
          <a:noFill/>
          <a:ln/>
        </p:spPr>
        <p:txBody>
          <a:bodyPr wrap="none" lIns="0" tIns="0" rIns="0" bIns="0" rtlCol="0" anchor="t"/>
          <a:lstStyle/>
          <a:p>
            <a:pPr algn="ctr" indent="0" marL="0">
              <a:lnSpc>
                <a:spcPts val="1950"/>
              </a:lnSpc>
              <a:buNone/>
            </a:pPr>
            <a:r>
              <a:rPr lang="en-US" sz="1950" b="1" dirty="0">
                <a:solidFill>
                  <a:srgbClr val="000000"/>
                </a:solidFill>
                <a:latin typeface="Inter Bold" pitchFamily="34" charset="0"/>
                <a:ea typeface="Inter Bold" pitchFamily="34" charset="-122"/>
                <a:cs typeface="Inter Bold" pitchFamily="34" charset="-120"/>
              </a:rPr>
              <a:t>1</a:t>
            </a:r>
            <a:endParaRPr lang="en-US" sz="1950" dirty="0"/>
          </a:p>
        </p:txBody>
      </p:sp>
      <p:sp>
        <p:nvSpPr>
          <p:cNvPr id="9" name="Text 5"/>
          <p:cNvSpPr/>
          <p:nvPr/>
        </p:nvSpPr>
        <p:spPr>
          <a:xfrm>
            <a:off x="7103507" y="1542812"/>
            <a:ext cx="2100143" cy="262533"/>
          </a:xfrm>
          <a:prstGeom prst="rect">
            <a:avLst/>
          </a:prstGeom>
          <a:noFill/>
          <a:ln/>
        </p:spPr>
        <p:txBody>
          <a:bodyPr wrap="none" lIns="0" tIns="0" rIns="0" bIns="0" rtlCol="0" anchor="t"/>
          <a:lstStyle/>
          <a:p>
            <a:pPr algn="l"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Definition</a:t>
            </a:r>
            <a:endParaRPr lang="en-US" sz="1650" dirty="0"/>
          </a:p>
        </p:txBody>
      </p:sp>
      <p:sp>
        <p:nvSpPr>
          <p:cNvPr id="10" name="Text 6"/>
          <p:cNvSpPr/>
          <p:nvPr/>
        </p:nvSpPr>
        <p:spPr>
          <a:xfrm>
            <a:off x="7103507" y="1906072"/>
            <a:ext cx="6132552" cy="806172"/>
          </a:xfrm>
          <a:prstGeom prst="rect">
            <a:avLst/>
          </a:prstGeom>
          <a:noFill/>
          <a:ln/>
        </p:spPr>
        <p:txBody>
          <a:bodyPr wrap="square" lIns="0" tIns="0" rIns="0" bIns="0" rtlCol="0" anchor="t"/>
          <a:lstStyle/>
          <a:p>
            <a:pPr algn="l" indent="0" marL="0">
              <a:lnSpc>
                <a:spcPts val="2100"/>
              </a:lnSpc>
              <a:buNone/>
            </a:pPr>
            <a:r>
              <a:rPr lang="en-US" sz="1300" dirty="0">
                <a:solidFill>
                  <a:srgbClr val="000000"/>
                </a:solidFill>
                <a:latin typeface="Inter" pitchFamily="34" charset="0"/>
                <a:ea typeface="Inter" pitchFamily="34" charset="-122"/>
                <a:cs typeface="Inter" pitchFamily="34" charset="-120"/>
              </a:rPr>
              <a:t>AUC is widely used for binary classification. It represents the probability that a classifier will rank a randomly chosen positive example higher than a randomly chosen negative example.</a:t>
            </a:r>
            <a:endParaRPr lang="en-US" sz="1300" dirty="0"/>
          </a:p>
        </p:txBody>
      </p:sp>
      <p:sp>
        <p:nvSpPr>
          <p:cNvPr id="11" name="Shape 7"/>
          <p:cNvSpPr/>
          <p:nvPr/>
        </p:nvSpPr>
        <p:spPr>
          <a:xfrm>
            <a:off x="6429554" y="3414713"/>
            <a:ext cx="503992" cy="22860"/>
          </a:xfrm>
          <a:prstGeom prst="roundRect">
            <a:avLst>
              <a:gd name="adj" fmla="val 308697"/>
            </a:avLst>
          </a:prstGeom>
          <a:solidFill>
            <a:srgbClr val="DDBBBA"/>
          </a:solidFill>
          <a:ln/>
        </p:spPr>
      </p:sp>
      <p:sp>
        <p:nvSpPr>
          <p:cNvPr id="12" name="Shape 8"/>
          <p:cNvSpPr/>
          <p:nvPr/>
        </p:nvSpPr>
        <p:spPr>
          <a:xfrm>
            <a:off x="6074390" y="3237190"/>
            <a:ext cx="378023" cy="378023"/>
          </a:xfrm>
          <a:prstGeom prst="roundRect">
            <a:avLst>
              <a:gd name="adj" fmla="val 18668"/>
            </a:avLst>
          </a:prstGeom>
          <a:solidFill>
            <a:srgbClr val="F7D5D4"/>
          </a:solidFill>
          <a:ln w="7620">
            <a:solidFill>
              <a:srgbClr val="DDBBBA"/>
            </a:solidFill>
            <a:prstDash val="solid"/>
          </a:ln>
        </p:spPr>
      </p:sp>
      <p:sp>
        <p:nvSpPr>
          <p:cNvPr id="13" name="Text 9"/>
          <p:cNvSpPr/>
          <p:nvPr/>
        </p:nvSpPr>
        <p:spPr>
          <a:xfrm>
            <a:off x="6137374" y="3268682"/>
            <a:ext cx="251936" cy="314920"/>
          </a:xfrm>
          <a:prstGeom prst="rect">
            <a:avLst/>
          </a:prstGeom>
          <a:noFill/>
          <a:ln/>
        </p:spPr>
        <p:txBody>
          <a:bodyPr wrap="none" lIns="0" tIns="0" rIns="0" bIns="0" rtlCol="0" anchor="t"/>
          <a:lstStyle/>
          <a:p>
            <a:pPr algn="ctr" indent="0" marL="0">
              <a:lnSpc>
                <a:spcPts val="1950"/>
              </a:lnSpc>
              <a:buNone/>
            </a:pPr>
            <a:r>
              <a:rPr lang="en-US" sz="1950" b="1" dirty="0">
                <a:solidFill>
                  <a:srgbClr val="000000"/>
                </a:solidFill>
                <a:latin typeface="Inter Bold" pitchFamily="34" charset="0"/>
                <a:ea typeface="Inter Bold" pitchFamily="34" charset="-122"/>
                <a:cs typeface="Inter Bold" pitchFamily="34" charset="-120"/>
              </a:rPr>
              <a:t>2</a:t>
            </a:r>
            <a:endParaRPr lang="en-US" sz="1950" dirty="0"/>
          </a:p>
        </p:txBody>
      </p:sp>
      <p:sp>
        <p:nvSpPr>
          <p:cNvPr id="14" name="Text 10"/>
          <p:cNvSpPr/>
          <p:nvPr/>
        </p:nvSpPr>
        <p:spPr>
          <a:xfrm>
            <a:off x="7103507" y="3216235"/>
            <a:ext cx="2100143" cy="262533"/>
          </a:xfrm>
          <a:prstGeom prst="rect">
            <a:avLst/>
          </a:prstGeom>
          <a:noFill/>
          <a:ln/>
        </p:spPr>
        <p:txBody>
          <a:bodyPr wrap="none" lIns="0" tIns="0" rIns="0" bIns="0" rtlCol="0" anchor="t"/>
          <a:lstStyle/>
          <a:p>
            <a:pPr algn="l"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ROC Curve</a:t>
            </a:r>
            <a:endParaRPr lang="en-US" sz="1650" dirty="0"/>
          </a:p>
        </p:txBody>
      </p:sp>
      <p:sp>
        <p:nvSpPr>
          <p:cNvPr id="15" name="Text 11"/>
          <p:cNvSpPr/>
          <p:nvPr/>
        </p:nvSpPr>
        <p:spPr>
          <a:xfrm>
            <a:off x="7103507" y="3579495"/>
            <a:ext cx="6132552" cy="806172"/>
          </a:xfrm>
          <a:prstGeom prst="rect">
            <a:avLst/>
          </a:prstGeom>
          <a:noFill/>
          <a:ln/>
        </p:spPr>
        <p:txBody>
          <a:bodyPr wrap="square" lIns="0" tIns="0" rIns="0" bIns="0" rtlCol="0" anchor="t"/>
          <a:lstStyle/>
          <a:p>
            <a:pPr algn="l" indent="0" marL="0">
              <a:lnSpc>
                <a:spcPts val="2100"/>
              </a:lnSpc>
              <a:buNone/>
            </a:pPr>
            <a:r>
              <a:rPr lang="en-US" sz="1300" dirty="0">
                <a:solidFill>
                  <a:srgbClr val="000000"/>
                </a:solidFill>
                <a:latin typeface="Inter" pitchFamily="34" charset="0"/>
                <a:ea typeface="Inter" pitchFamily="34" charset="-122"/>
                <a:cs typeface="Inter" pitchFamily="34" charset="-120"/>
              </a:rPr>
              <a:t>AUC is calculated from the Receiver Operating Characteristic (ROC) curve, which plots True Positive Rate versus False Positive Rate at different classification thresholds.</a:t>
            </a:r>
            <a:endParaRPr lang="en-US" sz="1300" dirty="0"/>
          </a:p>
        </p:txBody>
      </p:sp>
      <p:sp>
        <p:nvSpPr>
          <p:cNvPr id="16" name="Shape 12"/>
          <p:cNvSpPr/>
          <p:nvPr/>
        </p:nvSpPr>
        <p:spPr>
          <a:xfrm>
            <a:off x="6429554" y="5088136"/>
            <a:ext cx="503992" cy="22860"/>
          </a:xfrm>
          <a:prstGeom prst="roundRect">
            <a:avLst>
              <a:gd name="adj" fmla="val 308697"/>
            </a:avLst>
          </a:prstGeom>
          <a:solidFill>
            <a:srgbClr val="DDBBBA"/>
          </a:solidFill>
          <a:ln/>
        </p:spPr>
      </p:sp>
      <p:sp>
        <p:nvSpPr>
          <p:cNvPr id="17" name="Shape 13"/>
          <p:cNvSpPr/>
          <p:nvPr/>
        </p:nvSpPr>
        <p:spPr>
          <a:xfrm>
            <a:off x="6074390" y="4910614"/>
            <a:ext cx="378023" cy="378023"/>
          </a:xfrm>
          <a:prstGeom prst="roundRect">
            <a:avLst>
              <a:gd name="adj" fmla="val 18668"/>
            </a:avLst>
          </a:prstGeom>
          <a:solidFill>
            <a:srgbClr val="F7D5D4"/>
          </a:solidFill>
          <a:ln w="7620">
            <a:solidFill>
              <a:srgbClr val="DDBBBA"/>
            </a:solidFill>
            <a:prstDash val="solid"/>
          </a:ln>
        </p:spPr>
      </p:sp>
      <p:sp>
        <p:nvSpPr>
          <p:cNvPr id="18" name="Text 14"/>
          <p:cNvSpPr/>
          <p:nvPr/>
        </p:nvSpPr>
        <p:spPr>
          <a:xfrm>
            <a:off x="6137374" y="4942106"/>
            <a:ext cx="251936" cy="314920"/>
          </a:xfrm>
          <a:prstGeom prst="rect">
            <a:avLst/>
          </a:prstGeom>
          <a:noFill/>
          <a:ln/>
        </p:spPr>
        <p:txBody>
          <a:bodyPr wrap="none" lIns="0" tIns="0" rIns="0" bIns="0" rtlCol="0" anchor="t"/>
          <a:lstStyle/>
          <a:p>
            <a:pPr algn="ctr" indent="0" marL="0">
              <a:lnSpc>
                <a:spcPts val="1950"/>
              </a:lnSpc>
              <a:buNone/>
            </a:pPr>
            <a:r>
              <a:rPr lang="en-US" sz="1950" b="1" dirty="0">
                <a:solidFill>
                  <a:srgbClr val="000000"/>
                </a:solidFill>
                <a:latin typeface="Inter Bold" pitchFamily="34" charset="0"/>
                <a:ea typeface="Inter Bold" pitchFamily="34" charset="-122"/>
                <a:cs typeface="Inter Bold" pitchFamily="34" charset="-120"/>
              </a:rPr>
              <a:t>3</a:t>
            </a:r>
            <a:endParaRPr lang="en-US" sz="1950" dirty="0"/>
          </a:p>
        </p:txBody>
      </p:sp>
      <p:sp>
        <p:nvSpPr>
          <p:cNvPr id="19" name="Text 15"/>
          <p:cNvSpPr/>
          <p:nvPr/>
        </p:nvSpPr>
        <p:spPr>
          <a:xfrm>
            <a:off x="7103507" y="4889659"/>
            <a:ext cx="2100143" cy="262533"/>
          </a:xfrm>
          <a:prstGeom prst="rect">
            <a:avLst/>
          </a:prstGeom>
          <a:noFill/>
          <a:ln/>
        </p:spPr>
        <p:txBody>
          <a:bodyPr wrap="none" lIns="0" tIns="0" rIns="0" bIns="0" rtlCol="0" anchor="t"/>
          <a:lstStyle/>
          <a:p>
            <a:pPr algn="l"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Interpretation</a:t>
            </a:r>
            <a:endParaRPr lang="en-US" sz="1650" dirty="0"/>
          </a:p>
        </p:txBody>
      </p:sp>
      <p:sp>
        <p:nvSpPr>
          <p:cNvPr id="20" name="Text 16"/>
          <p:cNvSpPr/>
          <p:nvPr/>
        </p:nvSpPr>
        <p:spPr>
          <a:xfrm>
            <a:off x="7103507" y="5252918"/>
            <a:ext cx="6132552" cy="806172"/>
          </a:xfrm>
          <a:prstGeom prst="rect">
            <a:avLst/>
          </a:prstGeom>
          <a:noFill/>
          <a:ln/>
        </p:spPr>
        <p:txBody>
          <a:bodyPr wrap="square" lIns="0" tIns="0" rIns="0" bIns="0" rtlCol="0" anchor="t"/>
          <a:lstStyle/>
          <a:p>
            <a:pPr algn="l" indent="0" marL="0">
              <a:lnSpc>
                <a:spcPts val="2100"/>
              </a:lnSpc>
              <a:buNone/>
            </a:pPr>
            <a:r>
              <a:rPr lang="en-US" sz="1300" dirty="0">
                <a:solidFill>
                  <a:srgbClr val="000000"/>
                </a:solidFill>
                <a:latin typeface="Inter" pitchFamily="34" charset="0"/>
                <a:ea typeface="Inter" pitchFamily="34" charset="-122"/>
                <a:cs typeface="Inter" pitchFamily="34" charset="-120"/>
              </a:rPr>
              <a:t>Values range from 0 to 1, with higher values indicating better model performance. A value of 0.5 suggests no discriminative ability (equivalent to random guessing).</a:t>
            </a:r>
            <a:endParaRPr lang="en-US" sz="1300" dirty="0"/>
          </a:p>
        </p:txBody>
      </p:sp>
      <p:sp>
        <p:nvSpPr>
          <p:cNvPr id="21" name="Shape 17"/>
          <p:cNvSpPr/>
          <p:nvPr/>
        </p:nvSpPr>
        <p:spPr>
          <a:xfrm>
            <a:off x="6429554" y="6761559"/>
            <a:ext cx="503992" cy="22860"/>
          </a:xfrm>
          <a:prstGeom prst="roundRect">
            <a:avLst>
              <a:gd name="adj" fmla="val 308697"/>
            </a:avLst>
          </a:prstGeom>
          <a:solidFill>
            <a:srgbClr val="DDBBBA"/>
          </a:solidFill>
          <a:ln/>
        </p:spPr>
      </p:sp>
      <p:sp>
        <p:nvSpPr>
          <p:cNvPr id="22" name="Shape 18"/>
          <p:cNvSpPr/>
          <p:nvPr/>
        </p:nvSpPr>
        <p:spPr>
          <a:xfrm>
            <a:off x="6074390" y="6584037"/>
            <a:ext cx="378023" cy="378023"/>
          </a:xfrm>
          <a:prstGeom prst="roundRect">
            <a:avLst>
              <a:gd name="adj" fmla="val 18668"/>
            </a:avLst>
          </a:prstGeom>
          <a:solidFill>
            <a:srgbClr val="F7D5D4"/>
          </a:solidFill>
          <a:ln w="7620">
            <a:solidFill>
              <a:srgbClr val="DDBBBA"/>
            </a:solidFill>
            <a:prstDash val="solid"/>
          </a:ln>
        </p:spPr>
      </p:sp>
      <p:sp>
        <p:nvSpPr>
          <p:cNvPr id="23" name="Text 19"/>
          <p:cNvSpPr/>
          <p:nvPr/>
        </p:nvSpPr>
        <p:spPr>
          <a:xfrm>
            <a:off x="6137374" y="6615529"/>
            <a:ext cx="251936" cy="314920"/>
          </a:xfrm>
          <a:prstGeom prst="rect">
            <a:avLst/>
          </a:prstGeom>
          <a:noFill/>
          <a:ln/>
        </p:spPr>
        <p:txBody>
          <a:bodyPr wrap="none" lIns="0" tIns="0" rIns="0" bIns="0" rtlCol="0" anchor="t"/>
          <a:lstStyle/>
          <a:p>
            <a:pPr algn="ctr" indent="0" marL="0">
              <a:lnSpc>
                <a:spcPts val="1950"/>
              </a:lnSpc>
              <a:buNone/>
            </a:pPr>
            <a:r>
              <a:rPr lang="en-US" sz="1950" b="1" dirty="0">
                <a:solidFill>
                  <a:srgbClr val="000000"/>
                </a:solidFill>
                <a:latin typeface="Inter Bold" pitchFamily="34" charset="0"/>
                <a:ea typeface="Inter Bold" pitchFamily="34" charset="-122"/>
                <a:cs typeface="Inter Bold" pitchFamily="34" charset="-120"/>
              </a:rPr>
              <a:t>4</a:t>
            </a:r>
            <a:endParaRPr lang="en-US" sz="1950" dirty="0"/>
          </a:p>
        </p:txBody>
      </p:sp>
      <p:sp>
        <p:nvSpPr>
          <p:cNvPr id="24" name="Text 20"/>
          <p:cNvSpPr/>
          <p:nvPr/>
        </p:nvSpPr>
        <p:spPr>
          <a:xfrm>
            <a:off x="7103507" y="6563082"/>
            <a:ext cx="2100143" cy="262533"/>
          </a:xfrm>
          <a:prstGeom prst="rect">
            <a:avLst/>
          </a:prstGeom>
          <a:noFill/>
          <a:ln/>
        </p:spPr>
        <p:txBody>
          <a:bodyPr wrap="none" lIns="0" tIns="0" rIns="0" bIns="0" rtlCol="0" anchor="t"/>
          <a:lstStyle/>
          <a:p>
            <a:pPr algn="l" indent="0" marL="0">
              <a:lnSpc>
                <a:spcPts val="2050"/>
              </a:lnSpc>
              <a:buNone/>
            </a:pPr>
            <a:r>
              <a:rPr lang="en-US" sz="1650" b="1" dirty="0">
                <a:solidFill>
                  <a:srgbClr val="000000"/>
                </a:solidFill>
                <a:latin typeface="Inter Bold" pitchFamily="34" charset="0"/>
                <a:ea typeface="Inter Bold" pitchFamily="34" charset="-122"/>
                <a:cs typeface="Inter Bold" pitchFamily="34" charset="-120"/>
              </a:rPr>
              <a:t>Advantage</a:t>
            </a:r>
            <a:endParaRPr lang="en-US" sz="1650" dirty="0"/>
          </a:p>
        </p:txBody>
      </p:sp>
      <p:sp>
        <p:nvSpPr>
          <p:cNvPr id="25" name="Text 21"/>
          <p:cNvSpPr/>
          <p:nvPr/>
        </p:nvSpPr>
        <p:spPr>
          <a:xfrm>
            <a:off x="7103507" y="6926342"/>
            <a:ext cx="6132552" cy="537448"/>
          </a:xfrm>
          <a:prstGeom prst="rect">
            <a:avLst/>
          </a:prstGeom>
          <a:noFill/>
          <a:ln/>
        </p:spPr>
        <p:txBody>
          <a:bodyPr wrap="square" lIns="0" tIns="0" rIns="0" bIns="0" rtlCol="0" anchor="t"/>
          <a:lstStyle/>
          <a:p>
            <a:pPr algn="l" indent="0" marL="0">
              <a:lnSpc>
                <a:spcPts val="2100"/>
              </a:lnSpc>
              <a:buNone/>
            </a:pPr>
            <a:r>
              <a:rPr lang="en-US" sz="1300" dirty="0">
                <a:solidFill>
                  <a:srgbClr val="000000"/>
                </a:solidFill>
                <a:latin typeface="Inter" pitchFamily="34" charset="0"/>
                <a:ea typeface="Inter" pitchFamily="34" charset="-122"/>
                <a:cs typeface="Inter" pitchFamily="34" charset="-120"/>
              </a:rPr>
              <a:t>AUC is insensitive to class imbalance, making it particularly useful when working with datasets where one class is much more frequent than the other.</a:t>
            </a:r>
            <a:endParaRPr lang="en-US" sz="1300" dirty="0"/>
          </a:p>
        </p:txBody>
      </p:sp>
      <p:pic>
        <p:nvPicPr>
          <p:cNvPr id="26" name="Image 2" descr="preencoded.png">    </p:cNvPr>
          <p:cNvPicPr>
            <a:picLocks noChangeAspect="1"/>
          </p:cNvPicPr>
          <p:nvPr/>
        </p:nvPicPr>
        <p:blipFill>
          <a:blip r:embed="rId3"/>
          <a:stretch>
            <a:fillRect/>
          </a:stretch>
        </p:blipFill>
        <p:spPr>
          <a:xfrm>
            <a:off x="13464778" y="228600"/>
            <a:ext cx="937022" cy="5028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06279" y="759976"/>
            <a:ext cx="6903958" cy="630674"/>
          </a:xfrm>
          <a:prstGeom prst="rect">
            <a:avLst/>
          </a:prstGeom>
          <a:noFill/>
          <a:ln/>
        </p:spPr>
        <p:txBody>
          <a:bodyPr wrap="none" lIns="0" tIns="0" rIns="0" bIns="0" rtlCol="0" anchor="t"/>
          <a:lstStyle/>
          <a:p>
            <a:pPr indent="0" marL="0">
              <a:lnSpc>
                <a:spcPts val="4950"/>
              </a:lnSpc>
              <a:buNone/>
            </a:pPr>
            <a:r>
              <a:rPr lang="en-US" sz="3950" b="1" dirty="0">
                <a:solidFill>
                  <a:srgbClr val="000000"/>
                </a:solidFill>
                <a:latin typeface="Inter Bold" pitchFamily="34" charset="0"/>
                <a:ea typeface="Inter Bold" pitchFamily="34" charset="-122"/>
                <a:cs typeface="Inter Bold" pitchFamily="34" charset="-120"/>
              </a:rPr>
              <a:t>Understanding TPR and FPR</a:t>
            </a:r>
            <a:endParaRPr lang="en-US" sz="3950" dirty="0"/>
          </a:p>
        </p:txBody>
      </p:sp>
      <p:sp>
        <p:nvSpPr>
          <p:cNvPr id="4" name="Text 1"/>
          <p:cNvSpPr/>
          <p:nvPr/>
        </p:nvSpPr>
        <p:spPr>
          <a:xfrm>
            <a:off x="706279" y="1794153"/>
            <a:ext cx="3714393" cy="665917"/>
          </a:xfrm>
          <a:prstGeom prst="rect">
            <a:avLst/>
          </a:prstGeom>
          <a:noFill/>
          <a:ln/>
        </p:spPr>
        <p:txBody>
          <a:bodyPr wrap="none" lIns="0" tIns="0" rIns="0" bIns="0" rtlCol="0" anchor="t"/>
          <a:lstStyle/>
          <a:p>
            <a:pPr algn="ctr" indent="0" marL="0">
              <a:lnSpc>
                <a:spcPts val="5200"/>
              </a:lnSpc>
              <a:buNone/>
            </a:pPr>
            <a:r>
              <a:rPr lang="en-US" sz="5200" b="1" dirty="0">
                <a:solidFill>
                  <a:srgbClr val="000000"/>
                </a:solidFill>
                <a:latin typeface="Inter Bold" pitchFamily="34" charset="0"/>
                <a:ea typeface="Inter Bold" pitchFamily="34" charset="-122"/>
                <a:cs typeface="Inter Bold" pitchFamily="34" charset="-120"/>
              </a:rPr>
              <a:t>TPR</a:t>
            </a:r>
            <a:endParaRPr lang="en-US" sz="5200" dirty="0"/>
          </a:p>
        </p:txBody>
      </p:sp>
      <p:sp>
        <p:nvSpPr>
          <p:cNvPr id="5" name="Text 2"/>
          <p:cNvSpPr/>
          <p:nvPr/>
        </p:nvSpPr>
        <p:spPr>
          <a:xfrm>
            <a:off x="1302068" y="2712244"/>
            <a:ext cx="2522696" cy="315278"/>
          </a:xfrm>
          <a:prstGeom prst="rect">
            <a:avLst/>
          </a:prstGeom>
          <a:noFill/>
          <a:ln/>
        </p:spPr>
        <p:txBody>
          <a:bodyPr wrap="none" lIns="0" tIns="0" rIns="0" bIns="0" rtlCol="0" anchor="t"/>
          <a:lstStyle/>
          <a:p>
            <a:pPr algn="ctr"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True Positive Rate</a:t>
            </a:r>
            <a:endParaRPr lang="en-US" sz="1950" dirty="0"/>
          </a:p>
        </p:txBody>
      </p:sp>
      <p:sp>
        <p:nvSpPr>
          <p:cNvPr id="6" name="Text 3"/>
          <p:cNvSpPr/>
          <p:nvPr/>
        </p:nvSpPr>
        <p:spPr>
          <a:xfrm>
            <a:off x="706279" y="3148608"/>
            <a:ext cx="3714393" cy="1291590"/>
          </a:xfrm>
          <a:prstGeom prst="rect">
            <a:avLst/>
          </a:prstGeom>
          <a:noFill/>
          <a:ln/>
        </p:spPr>
        <p:txBody>
          <a:bodyPr wrap="square" lIns="0" tIns="0" rIns="0" bIns="0" rtlCol="0" anchor="t"/>
          <a:lstStyle/>
          <a:p>
            <a:pPr algn="ctr" indent="0" marL="0">
              <a:lnSpc>
                <a:spcPts val="2500"/>
              </a:lnSpc>
              <a:buNone/>
            </a:pPr>
            <a:r>
              <a:rPr lang="en-US" sz="1550" dirty="0">
                <a:solidFill>
                  <a:srgbClr val="000000"/>
                </a:solidFill>
                <a:latin typeface="Inter" pitchFamily="34" charset="0"/>
                <a:ea typeface="Inter" pitchFamily="34" charset="-122"/>
                <a:cs typeface="Inter" pitchFamily="34" charset="-120"/>
              </a:rPr>
              <a:t>Also called sensitivity, TPR is the proportion of actual positives correctly identified as such. Formula: TPR = TP / (TP + FN)</a:t>
            </a:r>
            <a:endParaRPr lang="en-US" sz="1550" dirty="0"/>
          </a:p>
        </p:txBody>
      </p:sp>
      <p:sp>
        <p:nvSpPr>
          <p:cNvPr id="7" name="Text 4"/>
          <p:cNvSpPr/>
          <p:nvPr/>
        </p:nvSpPr>
        <p:spPr>
          <a:xfrm>
            <a:off x="4723328" y="1794153"/>
            <a:ext cx="3714393" cy="665917"/>
          </a:xfrm>
          <a:prstGeom prst="rect">
            <a:avLst/>
          </a:prstGeom>
          <a:noFill/>
          <a:ln/>
        </p:spPr>
        <p:txBody>
          <a:bodyPr wrap="none" lIns="0" tIns="0" rIns="0" bIns="0" rtlCol="0" anchor="t"/>
          <a:lstStyle/>
          <a:p>
            <a:pPr algn="ctr" indent="0" marL="0">
              <a:lnSpc>
                <a:spcPts val="5200"/>
              </a:lnSpc>
              <a:buNone/>
            </a:pPr>
            <a:r>
              <a:rPr lang="en-US" sz="5200" b="1" dirty="0">
                <a:solidFill>
                  <a:srgbClr val="000000"/>
                </a:solidFill>
                <a:latin typeface="Inter Bold" pitchFamily="34" charset="0"/>
                <a:ea typeface="Inter Bold" pitchFamily="34" charset="-122"/>
                <a:cs typeface="Inter Bold" pitchFamily="34" charset="-120"/>
              </a:rPr>
              <a:t>TNR</a:t>
            </a:r>
            <a:endParaRPr lang="en-US" sz="5200" dirty="0"/>
          </a:p>
        </p:txBody>
      </p:sp>
      <p:sp>
        <p:nvSpPr>
          <p:cNvPr id="8" name="Text 5"/>
          <p:cNvSpPr/>
          <p:nvPr/>
        </p:nvSpPr>
        <p:spPr>
          <a:xfrm>
            <a:off x="5319117" y="2712244"/>
            <a:ext cx="2522696" cy="315278"/>
          </a:xfrm>
          <a:prstGeom prst="rect">
            <a:avLst/>
          </a:prstGeom>
          <a:noFill/>
          <a:ln/>
        </p:spPr>
        <p:txBody>
          <a:bodyPr wrap="none" lIns="0" tIns="0" rIns="0" bIns="0" rtlCol="0" anchor="t"/>
          <a:lstStyle/>
          <a:p>
            <a:pPr algn="ctr"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True Negative Rate</a:t>
            </a:r>
            <a:endParaRPr lang="en-US" sz="1950" dirty="0"/>
          </a:p>
        </p:txBody>
      </p:sp>
      <p:sp>
        <p:nvSpPr>
          <p:cNvPr id="9" name="Text 6"/>
          <p:cNvSpPr/>
          <p:nvPr/>
        </p:nvSpPr>
        <p:spPr>
          <a:xfrm>
            <a:off x="4723328" y="3148608"/>
            <a:ext cx="3714393" cy="1291590"/>
          </a:xfrm>
          <a:prstGeom prst="rect">
            <a:avLst/>
          </a:prstGeom>
          <a:noFill/>
          <a:ln/>
        </p:spPr>
        <p:txBody>
          <a:bodyPr wrap="square" lIns="0" tIns="0" rIns="0" bIns="0" rtlCol="0" anchor="t"/>
          <a:lstStyle/>
          <a:p>
            <a:pPr algn="ctr" indent="0" marL="0">
              <a:lnSpc>
                <a:spcPts val="2500"/>
              </a:lnSpc>
              <a:buNone/>
            </a:pPr>
            <a:r>
              <a:rPr lang="en-US" sz="1550" dirty="0">
                <a:solidFill>
                  <a:srgbClr val="000000"/>
                </a:solidFill>
                <a:latin typeface="Inter" pitchFamily="34" charset="0"/>
                <a:ea typeface="Inter" pitchFamily="34" charset="-122"/>
                <a:cs typeface="Inter" pitchFamily="34" charset="-120"/>
              </a:rPr>
              <a:t>Also called specificity, TNR is the proportion of actual negatives correctly identified as such. Formula: TNR = TN / (TN + FP)</a:t>
            </a:r>
            <a:endParaRPr lang="en-US" sz="1550" dirty="0"/>
          </a:p>
        </p:txBody>
      </p:sp>
      <p:sp>
        <p:nvSpPr>
          <p:cNvPr id="10" name="Text 7"/>
          <p:cNvSpPr/>
          <p:nvPr/>
        </p:nvSpPr>
        <p:spPr>
          <a:xfrm>
            <a:off x="2714744" y="5146477"/>
            <a:ext cx="3714393" cy="665917"/>
          </a:xfrm>
          <a:prstGeom prst="rect">
            <a:avLst/>
          </a:prstGeom>
          <a:noFill/>
          <a:ln/>
        </p:spPr>
        <p:txBody>
          <a:bodyPr wrap="none" lIns="0" tIns="0" rIns="0" bIns="0" rtlCol="0" anchor="t"/>
          <a:lstStyle/>
          <a:p>
            <a:pPr algn="ctr" indent="0" marL="0">
              <a:lnSpc>
                <a:spcPts val="5200"/>
              </a:lnSpc>
              <a:buNone/>
            </a:pPr>
            <a:r>
              <a:rPr lang="en-US" sz="5200" b="1" dirty="0">
                <a:solidFill>
                  <a:srgbClr val="000000"/>
                </a:solidFill>
                <a:latin typeface="Inter Bold" pitchFamily="34" charset="0"/>
                <a:ea typeface="Inter Bold" pitchFamily="34" charset="-122"/>
                <a:cs typeface="Inter Bold" pitchFamily="34" charset="-120"/>
              </a:rPr>
              <a:t>FPR</a:t>
            </a:r>
            <a:endParaRPr lang="en-US" sz="5200" dirty="0"/>
          </a:p>
        </p:txBody>
      </p:sp>
      <p:sp>
        <p:nvSpPr>
          <p:cNvPr id="11" name="Text 8"/>
          <p:cNvSpPr/>
          <p:nvPr/>
        </p:nvSpPr>
        <p:spPr>
          <a:xfrm>
            <a:off x="3310533" y="6064568"/>
            <a:ext cx="2522696" cy="315278"/>
          </a:xfrm>
          <a:prstGeom prst="rect">
            <a:avLst/>
          </a:prstGeom>
          <a:noFill/>
          <a:ln/>
        </p:spPr>
        <p:txBody>
          <a:bodyPr wrap="none" lIns="0" tIns="0" rIns="0" bIns="0" rtlCol="0" anchor="t"/>
          <a:lstStyle/>
          <a:p>
            <a:pPr algn="ctr"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False Positive Rate</a:t>
            </a:r>
            <a:endParaRPr lang="en-US" sz="1950" dirty="0"/>
          </a:p>
        </p:txBody>
      </p:sp>
      <p:sp>
        <p:nvSpPr>
          <p:cNvPr id="12" name="Text 9"/>
          <p:cNvSpPr/>
          <p:nvPr/>
        </p:nvSpPr>
        <p:spPr>
          <a:xfrm>
            <a:off x="2714744" y="6500932"/>
            <a:ext cx="3714393" cy="968693"/>
          </a:xfrm>
          <a:prstGeom prst="rect">
            <a:avLst/>
          </a:prstGeom>
          <a:noFill/>
          <a:ln/>
        </p:spPr>
        <p:txBody>
          <a:bodyPr wrap="square" lIns="0" tIns="0" rIns="0" bIns="0" rtlCol="0" anchor="t"/>
          <a:lstStyle/>
          <a:p>
            <a:pPr algn="ctr" indent="0" marL="0">
              <a:lnSpc>
                <a:spcPts val="2500"/>
              </a:lnSpc>
              <a:buNone/>
            </a:pPr>
            <a:r>
              <a:rPr lang="en-US" sz="1550" dirty="0">
                <a:solidFill>
                  <a:srgbClr val="000000"/>
                </a:solidFill>
                <a:latin typeface="Inter" pitchFamily="34" charset="0"/>
                <a:ea typeface="Inter" pitchFamily="34" charset="-122"/>
                <a:cs typeface="Inter" pitchFamily="34" charset="-120"/>
              </a:rPr>
              <a:t>The proportion of actual negatives incorrectly classified as positives. Formula: FPR = FP / (FP + TN)</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4018" y="561023"/>
            <a:ext cx="9971008" cy="637580"/>
          </a:xfrm>
          <a:prstGeom prst="rect">
            <a:avLst/>
          </a:prstGeom>
          <a:noFill/>
          <a:ln/>
        </p:spPr>
        <p:txBody>
          <a:bodyPr wrap="none" lIns="0" tIns="0" rIns="0" bIns="0" rtlCol="0" anchor="t"/>
          <a:lstStyle/>
          <a:p>
            <a:pPr indent="0" marL="0">
              <a:lnSpc>
                <a:spcPts val="5000"/>
              </a:lnSpc>
              <a:buNone/>
            </a:pPr>
            <a:r>
              <a:rPr lang="en-US" sz="4000" b="1" dirty="0">
                <a:solidFill>
                  <a:srgbClr val="000000"/>
                </a:solidFill>
                <a:latin typeface="Inter Bold" pitchFamily="34" charset="0"/>
                <a:ea typeface="Inter Bold" pitchFamily="34" charset="-122"/>
                <a:cs typeface="Inter Bold" pitchFamily="34" charset="-120"/>
              </a:rPr>
              <a:t>F1 Score: Balancing Precision and Recall</a:t>
            </a:r>
            <a:endParaRPr lang="en-US" sz="4000" dirty="0"/>
          </a:p>
        </p:txBody>
      </p:sp>
      <p:pic>
        <p:nvPicPr>
          <p:cNvPr id="3" name="Image 0" descr="preencoded.png">    </p:cNvPr>
          <p:cNvPicPr>
            <a:picLocks noChangeAspect="1"/>
          </p:cNvPicPr>
          <p:nvPr/>
        </p:nvPicPr>
        <p:blipFill>
          <a:blip r:embed="rId1"/>
          <a:stretch>
            <a:fillRect/>
          </a:stretch>
        </p:blipFill>
        <p:spPr>
          <a:xfrm>
            <a:off x="3069669" y="1606629"/>
            <a:ext cx="1549598" cy="1175504"/>
          </a:xfrm>
          <a:prstGeom prst="rect">
            <a:avLst/>
          </a:prstGeom>
        </p:spPr>
      </p:pic>
      <p:sp>
        <p:nvSpPr>
          <p:cNvPr id="4" name="Text 1"/>
          <p:cNvSpPr/>
          <p:nvPr/>
        </p:nvSpPr>
        <p:spPr>
          <a:xfrm>
            <a:off x="3701058" y="2160746"/>
            <a:ext cx="286822" cy="358616"/>
          </a:xfrm>
          <a:prstGeom prst="rect">
            <a:avLst/>
          </a:prstGeom>
          <a:noFill/>
          <a:ln/>
        </p:spPr>
        <p:txBody>
          <a:bodyPr wrap="none" lIns="0" tIns="0" rIns="0" bIns="0" rtlCol="0" anchor="t"/>
          <a:lstStyle/>
          <a:p>
            <a:pPr algn="ctr" indent="0" marL="0">
              <a:lnSpc>
                <a:spcPts val="3600"/>
              </a:lnSpc>
              <a:buNone/>
            </a:pPr>
            <a:r>
              <a:rPr lang="en-US" sz="2250" b="1" dirty="0">
                <a:solidFill>
                  <a:srgbClr val="000000"/>
                </a:solidFill>
                <a:latin typeface="Inter Bold" pitchFamily="34" charset="0"/>
                <a:ea typeface="Inter Bold" pitchFamily="34" charset="-122"/>
                <a:cs typeface="Inter Bold" pitchFamily="34" charset="-120"/>
              </a:rPr>
              <a:t>1</a:t>
            </a:r>
            <a:endParaRPr lang="en-US" sz="2250" dirty="0"/>
          </a:p>
        </p:txBody>
      </p:sp>
      <p:sp>
        <p:nvSpPr>
          <p:cNvPr id="5" name="Text 2"/>
          <p:cNvSpPr/>
          <p:nvPr/>
        </p:nvSpPr>
        <p:spPr>
          <a:xfrm>
            <a:off x="4823222" y="1810583"/>
            <a:ext cx="2550438" cy="318730"/>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F1 Score</a:t>
            </a:r>
            <a:endParaRPr lang="en-US" sz="2000" dirty="0"/>
          </a:p>
        </p:txBody>
      </p:sp>
      <p:sp>
        <p:nvSpPr>
          <p:cNvPr id="6" name="Text 3"/>
          <p:cNvSpPr/>
          <p:nvPr/>
        </p:nvSpPr>
        <p:spPr>
          <a:xfrm>
            <a:off x="4823222" y="2251710"/>
            <a:ext cx="3719632" cy="326469"/>
          </a:xfrm>
          <a:prstGeom prst="rect">
            <a:avLst/>
          </a:prstGeom>
          <a:noFill/>
          <a:ln/>
        </p:spPr>
        <p:txBody>
          <a:bodyPr wrap="non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Harmonic mean of precision and recall</a:t>
            </a:r>
            <a:endParaRPr lang="en-US" sz="1600" dirty="0"/>
          </a:p>
        </p:txBody>
      </p:sp>
      <p:sp>
        <p:nvSpPr>
          <p:cNvPr id="7" name="Shape 4"/>
          <p:cNvSpPr/>
          <p:nvPr/>
        </p:nvSpPr>
        <p:spPr>
          <a:xfrm>
            <a:off x="4670227" y="2798088"/>
            <a:ext cx="8514874" cy="11430"/>
          </a:xfrm>
          <a:prstGeom prst="roundRect">
            <a:avLst>
              <a:gd name="adj" fmla="val 749738"/>
            </a:avLst>
          </a:prstGeom>
          <a:solidFill>
            <a:srgbClr val="DDBBBA"/>
          </a:solidFill>
          <a:ln/>
        </p:spPr>
      </p:sp>
      <p:pic>
        <p:nvPicPr>
          <p:cNvPr id="8" name="Image 1" descr="preencoded.png">    </p:cNvPr>
          <p:cNvPicPr>
            <a:picLocks noChangeAspect="1"/>
          </p:cNvPicPr>
          <p:nvPr/>
        </p:nvPicPr>
        <p:blipFill>
          <a:blip r:embed="rId2"/>
          <a:stretch>
            <a:fillRect/>
          </a:stretch>
        </p:blipFill>
        <p:spPr>
          <a:xfrm>
            <a:off x="2294811" y="2833092"/>
            <a:ext cx="3099197" cy="1175504"/>
          </a:xfrm>
          <a:prstGeom prst="rect">
            <a:avLst/>
          </a:prstGeom>
        </p:spPr>
      </p:pic>
      <p:sp>
        <p:nvSpPr>
          <p:cNvPr id="9" name="Text 5"/>
          <p:cNvSpPr/>
          <p:nvPr/>
        </p:nvSpPr>
        <p:spPr>
          <a:xfrm>
            <a:off x="3700939" y="3241477"/>
            <a:ext cx="286822" cy="358616"/>
          </a:xfrm>
          <a:prstGeom prst="rect">
            <a:avLst/>
          </a:prstGeom>
          <a:noFill/>
          <a:ln/>
        </p:spPr>
        <p:txBody>
          <a:bodyPr wrap="none" lIns="0" tIns="0" rIns="0" bIns="0" rtlCol="0" anchor="t"/>
          <a:lstStyle/>
          <a:p>
            <a:pPr algn="ctr" indent="0" marL="0">
              <a:lnSpc>
                <a:spcPts val="3600"/>
              </a:lnSpc>
              <a:buNone/>
            </a:pPr>
            <a:r>
              <a:rPr lang="en-US" sz="2250" b="1" dirty="0">
                <a:solidFill>
                  <a:srgbClr val="000000"/>
                </a:solidFill>
                <a:latin typeface="Inter Bold" pitchFamily="34" charset="0"/>
                <a:ea typeface="Inter Bold" pitchFamily="34" charset="-122"/>
                <a:cs typeface="Inter Bold" pitchFamily="34" charset="-120"/>
              </a:rPr>
              <a:t>2</a:t>
            </a:r>
            <a:endParaRPr lang="en-US" sz="2250" dirty="0"/>
          </a:p>
        </p:txBody>
      </p:sp>
      <p:sp>
        <p:nvSpPr>
          <p:cNvPr id="10" name="Text 6"/>
          <p:cNvSpPr/>
          <p:nvPr/>
        </p:nvSpPr>
        <p:spPr>
          <a:xfrm>
            <a:off x="5597962" y="3037046"/>
            <a:ext cx="2339697" cy="318730"/>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Precision</a:t>
            </a:r>
            <a:endParaRPr lang="en-US" sz="2000" dirty="0"/>
          </a:p>
        </p:txBody>
      </p:sp>
      <p:sp>
        <p:nvSpPr>
          <p:cNvPr id="11" name="Text 7"/>
          <p:cNvSpPr/>
          <p:nvPr/>
        </p:nvSpPr>
        <p:spPr>
          <a:xfrm>
            <a:off x="5597962" y="3478173"/>
            <a:ext cx="2339697" cy="326469"/>
          </a:xfrm>
          <a:prstGeom prst="rect">
            <a:avLst/>
          </a:prstGeom>
          <a:noFill/>
          <a:ln/>
        </p:spPr>
        <p:txBody>
          <a:bodyPr wrap="non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Positive predictive value</a:t>
            </a:r>
            <a:endParaRPr lang="en-US" sz="1600" dirty="0"/>
          </a:p>
        </p:txBody>
      </p:sp>
      <p:sp>
        <p:nvSpPr>
          <p:cNvPr id="12" name="Shape 8"/>
          <p:cNvSpPr/>
          <p:nvPr/>
        </p:nvSpPr>
        <p:spPr>
          <a:xfrm>
            <a:off x="5444966" y="4024551"/>
            <a:ext cx="7740134" cy="11430"/>
          </a:xfrm>
          <a:prstGeom prst="roundRect">
            <a:avLst>
              <a:gd name="adj" fmla="val 749738"/>
            </a:avLst>
          </a:prstGeom>
          <a:solidFill>
            <a:srgbClr val="DDBBBA"/>
          </a:solidFill>
          <a:ln/>
        </p:spPr>
      </p:sp>
      <p:pic>
        <p:nvPicPr>
          <p:cNvPr id="13" name="Image 2" descr="preencoded.png">    </p:cNvPr>
          <p:cNvPicPr>
            <a:picLocks noChangeAspect="1"/>
          </p:cNvPicPr>
          <p:nvPr/>
        </p:nvPicPr>
        <p:blipFill>
          <a:blip r:embed="rId3"/>
          <a:stretch>
            <a:fillRect/>
          </a:stretch>
        </p:blipFill>
        <p:spPr>
          <a:xfrm>
            <a:off x="1520071" y="4059555"/>
            <a:ext cx="4648795" cy="1175504"/>
          </a:xfrm>
          <a:prstGeom prst="rect">
            <a:avLst/>
          </a:prstGeom>
        </p:spPr>
      </p:pic>
      <p:sp>
        <p:nvSpPr>
          <p:cNvPr id="14" name="Text 9"/>
          <p:cNvSpPr/>
          <p:nvPr/>
        </p:nvSpPr>
        <p:spPr>
          <a:xfrm>
            <a:off x="3700939" y="4467939"/>
            <a:ext cx="286822" cy="358616"/>
          </a:xfrm>
          <a:prstGeom prst="rect">
            <a:avLst/>
          </a:prstGeom>
          <a:noFill/>
          <a:ln/>
        </p:spPr>
        <p:txBody>
          <a:bodyPr wrap="none" lIns="0" tIns="0" rIns="0" bIns="0" rtlCol="0" anchor="t"/>
          <a:lstStyle/>
          <a:p>
            <a:pPr algn="ctr" indent="0" marL="0">
              <a:lnSpc>
                <a:spcPts val="3600"/>
              </a:lnSpc>
              <a:buNone/>
            </a:pPr>
            <a:r>
              <a:rPr lang="en-US" sz="2250" b="1" dirty="0">
                <a:solidFill>
                  <a:srgbClr val="000000"/>
                </a:solidFill>
                <a:latin typeface="Inter Bold" pitchFamily="34" charset="0"/>
                <a:ea typeface="Inter Bold" pitchFamily="34" charset="-122"/>
                <a:cs typeface="Inter Bold" pitchFamily="34" charset="-120"/>
              </a:rPr>
              <a:t>3</a:t>
            </a:r>
            <a:endParaRPr lang="en-US" sz="2250" dirty="0"/>
          </a:p>
        </p:txBody>
      </p:sp>
      <p:sp>
        <p:nvSpPr>
          <p:cNvPr id="15" name="Text 10"/>
          <p:cNvSpPr/>
          <p:nvPr/>
        </p:nvSpPr>
        <p:spPr>
          <a:xfrm>
            <a:off x="6372820" y="4263509"/>
            <a:ext cx="1676043" cy="318730"/>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Recall</a:t>
            </a:r>
            <a:endParaRPr lang="en-US" sz="2000" dirty="0"/>
          </a:p>
        </p:txBody>
      </p:sp>
      <p:sp>
        <p:nvSpPr>
          <p:cNvPr id="16" name="Text 11"/>
          <p:cNvSpPr/>
          <p:nvPr/>
        </p:nvSpPr>
        <p:spPr>
          <a:xfrm>
            <a:off x="6372820" y="4704636"/>
            <a:ext cx="1676043" cy="326469"/>
          </a:xfrm>
          <a:prstGeom prst="rect">
            <a:avLst/>
          </a:prstGeom>
          <a:noFill/>
          <a:ln/>
        </p:spPr>
        <p:txBody>
          <a:bodyPr wrap="non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True positive rate</a:t>
            </a:r>
            <a:endParaRPr lang="en-US" sz="1600" dirty="0"/>
          </a:p>
        </p:txBody>
      </p:sp>
      <p:sp>
        <p:nvSpPr>
          <p:cNvPr id="17" name="Shape 12"/>
          <p:cNvSpPr/>
          <p:nvPr/>
        </p:nvSpPr>
        <p:spPr>
          <a:xfrm>
            <a:off x="6219825" y="5251013"/>
            <a:ext cx="6965275" cy="11430"/>
          </a:xfrm>
          <a:prstGeom prst="roundRect">
            <a:avLst>
              <a:gd name="adj" fmla="val 749738"/>
            </a:avLst>
          </a:prstGeom>
          <a:solidFill>
            <a:srgbClr val="DDBBBA"/>
          </a:solidFill>
          <a:ln/>
        </p:spPr>
      </p:sp>
      <p:pic>
        <p:nvPicPr>
          <p:cNvPr id="18" name="Image 3" descr="preencoded.png">    </p:cNvPr>
          <p:cNvPicPr>
            <a:picLocks noChangeAspect="1"/>
          </p:cNvPicPr>
          <p:nvPr/>
        </p:nvPicPr>
        <p:blipFill>
          <a:blip r:embed="rId4"/>
          <a:stretch>
            <a:fillRect/>
          </a:stretch>
        </p:blipFill>
        <p:spPr>
          <a:xfrm>
            <a:off x="745212" y="5286018"/>
            <a:ext cx="6198394" cy="1175504"/>
          </a:xfrm>
          <a:prstGeom prst="rect">
            <a:avLst/>
          </a:prstGeom>
        </p:spPr>
      </p:pic>
      <p:sp>
        <p:nvSpPr>
          <p:cNvPr id="19" name="Text 13"/>
          <p:cNvSpPr/>
          <p:nvPr/>
        </p:nvSpPr>
        <p:spPr>
          <a:xfrm>
            <a:off x="3700939" y="5694402"/>
            <a:ext cx="286822" cy="358616"/>
          </a:xfrm>
          <a:prstGeom prst="rect">
            <a:avLst/>
          </a:prstGeom>
          <a:noFill/>
          <a:ln/>
        </p:spPr>
        <p:txBody>
          <a:bodyPr wrap="none" lIns="0" tIns="0" rIns="0" bIns="0" rtlCol="0" anchor="t"/>
          <a:lstStyle/>
          <a:p>
            <a:pPr algn="ctr" indent="0" marL="0">
              <a:lnSpc>
                <a:spcPts val="3600"/>
              </a:lnSpc>
              <a:buNone/>
            </a:pPr>
            <a:r>
              <a:rPr lang="en-US" sz="2250" b="1" dirty="0">
                <a:solidFill>
                  <a:srgbClr val="000000"/>
                </a:solidFill>
                <a:latin typeface="Inter Bold" pitchFamily="34" charset="0"/>
                <a:ea typeface="Inter Bold" pitchFamily="34" charset="-122"/>
                <a:cs typeface="Inter Bold" pitchFamily="34" charset="-120"/>
              </a:rPr>
              <a:t>4</a:t>
            </a:r>
            <a:endParaRPr lang="en-US" sz="2250" dirty="0"/>
          </a:p>
        </p:txBody>
      </p:sp>
      <p:sp>
        <p:nvSpPr>
          <p:cNvPr id="20" name="Text 14"/>
          <p:cNvSpPr/>
          <p:nvPr/>
        </p:nvSpPr>
        <p:spPr>
          <a:xfrm>
            <a:off x="7147560" y="5489972"/>
            <a:ext cx="3884295" cy="318730"/>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Inter Bold" pitchFamily="34" charset="0"/>
                <a:ea typeface="Inter Bold" pitchFamily="34" charset="-122"/>
                <a:cs typeface="Inter Bold" pitchFamily="34" charset="-120"/>
              </a:rPr>
              <a:t>True/False Positives/Negatives</a:t>
            </a:r>
            <a:endParaRPr lang="en-US" sz="2000" dirty="0"/>
          </a:p>
        </p:txBody>
      </p:sp>
      <p:sp>
        <p:nvSpPr>
          <p:cNvPr id="21" name="Text 15"/>
          <p:cNvSpPr/>
          <p:nvPr/>
        </p:nvSpPr>
        <p:spPr>
          <a:xfrm>
            <a:off x="7147560" y="5931098"/>
            <a:ext cx="3884295" cy="326469"/>
          </a:xfrm>
          <a:prstGeom prst="rect">
            <a:avLst/>
          </a:prstGeom>
          <a:noFill/>
          <a:ln/>
        </p:spPr>
        <p:txBody>
          <a:bodyPr wrap="none" lIns="0" tIns="0" rIns="0" bIns="0" rtlCol="0" anchor="t"/>
          <a:lstStyle/>
          <a:p>
            <a:pPr algn="l" indent="0" marL="0">
              <a:lnSpc>
                <a:spcPts val="2550"/>
              </a:lnSpc>
              <a:buNone/>
            </a:pPr>
            <a:r>
              <a:rPr lang="en-US" sz="1600" dirty="0">
                <a:solidFill>
                  <a:srgbClr val="000000"/>
                </a:solidFill>
                <a:latin typeface="Inter" pitchFamily="34" charset="0"/>
                <a:ea typeface="Inter" pitchFamily="34" charset="-122"/>
                <a:cs typeface="Inter" pitchFamily="34" charset="-120"/>
              </a:rPr>
              <a:t>Basic classification outcomes</a:t>
            </a:r>
            <a:endParaRPr lang="en-US" sz="1600" dirty="0"/>
          </a:p>
        </p:txBody>
      </p:sp>
      <p:sp>
        <p:nvSpPr>
          <p:cNvPr id="22" name="Text 16"/>
          <p:cNvSpPr/>
          <p:nvPr/>
        </p:nvSpPr>
        <p:spPr>
          <a:xfrm>
            <a:off x="714018" y="6690955"/>
            <a:ext cx="12522041" cy="979408"/>
          </a:xfrm>
          <a:prstGeom prst="rect">
            <a:avLst/>
          </a:prstGeom>
          <a:noFill/>
          <a:ln/>
        </p:spPr>
        <p:txBody>
          <a:bodyPr wrap="squar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The F1 score provides a single metric that balances precision and recall. With a range of [0,1], higher F1 scores indicate better performance. It's particularly useful when you need to find an optimal balance between precision and recall, as it penalizes extreme values in either metric.</a:t>
            </a:r>
            <a:endParaRPr lang="en-US" sz="1600" dirty="0"/>
          </a:p>
        </p:txBody>
      </p:sp>
      <p:pic>
        <p:nvPicPr>
          <p:cNvPr id="23" name="Image 4" descr="preencoded.png">    </p:cNvPr>
          <p:cNvPicPr>
            <a:picLocks noChangeAspect="1"/>
          </p:cNvPicPr>
          <p:nvPr/>
        </p:nvPicPr>
        <p:blipFill>
          <a:blip r:embed="rId5"/>
          <a:stretch>
            <a:fillRect/>
          </a:stretch>
        </p:blipFill>
        <p:spPr>
          <a:xfrm>
            <a:off x="13464778" y="228600"/>
            <a:ext cx="937022" cy="5028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5806" y="578168"/>
            <a:ext cx="11016734" cy="656987"/>
          </a:xfrm>
          <a:prstGeom prst="rect">
            <a:avLst/>
          </a:prstGeom>
          <a:noFill/>
          <a:ln/>
        </p:spPr>
        <p:txBody>
          <a:bodyPr wrap="none" lIns="0" tIns="0" rIns="0" bIns="0" rtlCol="0" anchor="t"/>
          <a:lstStyle/>
          <a:p>
            <a:pPr indent="0" marL="0">
              <a:lnSpc>
                <a:spcPts val="5150"/>
              </a:lnSpc>
              <a:buNone/>
            </a:pPr>
            <a:r>
              <a:rPr lang="en-US" sz="4100" b="1" dirty="0">
                <a:solidFill>
                  <a:srgbClr val="000000"/>
                </a:solidFill>
                <a:latin typeface="Inter Bold" pitchFamily="34" charset="0"/>
                <a:ea typeface="Inter Bold" pitchFamily="34" charset="-122"/>
                <a:cs typeface="Inter Bold" pitchFamily="34" charset="-120"/>
              </a:rPr>
              <a:t>Precision: Accuracy of Positive Predictions</a:t>
            </a:r>
            <a:endParaRPr lang="en-US" sz="4100" dirty="0"/>
          </a:p>
        </p:txBody>
      </p:sp>
      <p:sp>
        <p:nvSpPr>
          <p:cNvPr id="3" name="Shape 1"/>
          <p:cNvSpPr/>
          <p:nvPr/>
        </p:nvSpPr>
        <p:spPr>
          <a:xfrm>
            <a:off x="735806" y="1655564"/>
            <a:ext cx="2083356" cy="1211104"/>
          </a:xfrm>
          <a:prstGeom prst="roundRect">
            <a:avLst>
              <a:gd name="adj" fmla="val 7291"/>
            </a:avLst>
          </a:prstGeom>
          <a:solidFill>
            <a:srgbClr val="F7D5D4"/>
          </a:solidFill>
          <a:ln w="7620">
            <a:solidFill>
              <a:srgbClr val="DDBBBA"/>
            </a:solidFill>
            <a:prstDash val="solid"/>
          </a:ln>
        </p:spPr>
      </p:sp>
      <p:sp>
        <p:nvSpPr>
          <p:cNvPr id="4" name="Text 2"/>
          <p:cNvSpPr/>
          <p:nvPr/>
        </p:nvSpPr>
        <p:spPr>
          <a:xfrm>
            <a:off x="1629608" y="2076331"/>
            <a:ext cx="295632" cy="369570"/>
          </a:xfrm>
          <a:prstGeom prst="rect">
            <a:avLst/>
          </a:prstGeom>
          <a:noFill/>
          <a:ln/>
        </p:spPr>
        <p:txBody>
          <a:bodyPr wrap="none" lIns="0" tIns="0" rIns="0" bIns="0" rtlCol="0" anchor="t"/>
          <a:lstStyle/>
          <a:p>
            <a:pPr algn="ctr" indent="0" marL="0">
              <a:lnSpc>
                <a:spcPts val="3700"/>
              </a:lnSpc>
              <a:buNone/>
            </a:pPr>
            <a:r>
              <a:rPr lang="en-US" sz="2300" b="1" dirty="0">
                <a:solidFill>
                  <a:srgbClr val="000000"/>
                </a:solidFill>
                <a:latin typeface="Inter Bold" pitchFamily="34" charset="0"/>
                <a:ea typeface="Inter Bold" pitchFamily="34" charset="-122"/>
                <a:cs typeface="Inter Bold" pitchFamily="34" charset="-120"/>
              </a:rPr>
              <a:t>1</a:t>
            </a:r>
            <a:endParaRPr lang="en-US" sz="2300" dirty="0"/>
          </a:p>
        </p:txBody>
      </p:sp>
      <p:sp>
        <p:nvSpPr>
          <p:cNvPr id="5" name="Text 3"/>
          <p:cNvSpPr/>
          <p:nvPr/>
        </p:nvSpPr>
        <p:spPr>
          <a:xfrm>
            <a:off x="3029307" y="1865709"/>
            <a:ext cx="2628067" cy="328374"/>
          </a:xfrm>
          <a:prstGeom prst="rect">
            <a:avLst/>
          </a:prstGeom>
          <a:noFill/>
          <a:ln/>
        </p:spPr>
        <p:txBody>
          <a:bodyPr wrap="none" lIns="0" tIns="0" rIns="0" bIns="0" rtlCol="0" anchor="t"/>
          <a:lstStyle/>
          <a:p>
            <a:pPr algn="l" indent="0" marL="0">
              <a:lnSpc>
                <a:spcPts val="2550"/>
              </a:lnSpc>
              <a:buNone/>
            </a:pPr>
            <a:r>
              <a:rPr lang="en-US" sz="2050" b="1" dirty="0">
                <a:solidFill>
                  <a:srgbClr val="000000"/>
                </a:solidFill>
                <a:latin typeface="Inter Bold" pitchFamily="34" charset="0"/>
                <a:ea typeface="Inter Bold" pitchFamily="34" charset="-122"/>
                <a:cs typeface="Inter Bold" pitchFamily="34" charset="-120"/>
              </a:rPr>
              <a:t>Definition</a:t>
            </a:r>
            <a:endParaRPr lang="en-US" sz="2050" dirty="0"/>
          </a:p>
        </p:txBody>
      </p:sp>
      <p:sp>
        <p:nvSpPr>
          <p:cNvPr id="6" name="Text 4"/>
          <p:cNvSpPr/>
          <p:nvPr/>
        </p:nvSpPr>
        <p:spPr>
          <a:xfrm>
            <a:off x="3029307" y="2320171"/>
            <a:ext cx="4366379" cy="336352"/>
          </a:xfrm>
          <a:prstGeom prst="rect">
            <a:avLst/>
          </a:prstGeom>
          <a:noFill/>
          <a:ln/>
        </p:spPr>
        <p:txBody>
          <a:bodyPr wrap="none" lIns="0" tIns="0" rIns="0" bIns="0" rtlCol="0" anchor="t"/>
          <a:lstStyle/>
          <a:p>
            <a:pPr algn="l" indent="0" marL="0">
              <a:lnSpc>
                <a:spcPts val="2600"/>
              </a:lnSpc>
              <a:buNone/>
            </a:pPr>
            <a:r>
              <a:rPr lang="en-US" sz="1650" dirty="0">
                <a:solidFill>
                  <a:srgbClr val="000000"/>
                </a:solidFill>
                <a:latin typeface="Inter" pitchFamily="34" charset="0"/>
                <a:ea typeface="Inter" pitchFamily="34" charset="-122"/>
                <a:cs typeface="Inter" pitchFamily="34" charset="-120"/>
              </a:rPr>
              <a:t>Proportion of correct positive identifications</a:t>
            </a:r>
            <a:endParaRPr lang="en-US" sz="1650" dirty="0"/>
          </a:p>
        </p:txBody>
      </p:sp>
      <p:sp>
        <p:nvSpPr>
          <p:cNvPr id="7" name="Shape 5"/>
          <p:cNvSpPr/>
          <p:nvPr/>
        </p:nvSpPr>
        <p:spPr>
          <a:xfrm>
            <a:off x="2924175" y="2857143"/>
            <a:ext cx="10206871" cy="11430"/>
          </a:xfrm>
          <a:prstGeom prst="roundRect">
            <a:avLst>
              <a:gd name="adj" fmla="val 772563"/>
            </a:avLst>
          </a:prstGeom>
          <a:solidFill>
            <a:srgbClr val="DDBBBA"/>
          </a:solidFill>
          <a:ln/>
        </p:spPr>
      </p:sp>
      <p:sp>
        <p:nvSpPr>
          <p:cNvPr id="8" name="Shape 6"/>
          <p:cNvSpPr/>
          <p:nvPr/>
        </p:nvSpPr>
        <p:spPr>
          <a:xfrm>
            <a:off x="735806" y="2971681"/>
            <a:ext cx="4166711" cy="1211104"/>
          </a:xfrm>
          <a:prstGeom prst="roundRect">
            <a:avLst>
              <a:gd name="adj" fmla="val 7291"/>
            </a:avLst>
          </a:prstGeom>
          <a:solidFill>
            <a:srgbClr val="F7D5D4"/>
          </a:solidFill>
          <a:ln w="7620">
            <a:solidFill>
              <a:srgbClr val="DDBBBA"/>
            </a:solidFill>
            <a:prstDash val="solid"/>
          </a:ln>
        </p:spPr>
      </p:sp>
      <p:sp>
        <p:nvSpPr>
          <p:cNvPr id="9" name="Text 7"/>
          <p:cNvSpPr/>
          <p:nvPr/>
        </p:nvSpPr>
        <p:spPr>
          <a:xfrm>
            <a:off x="2671286" y="3392448"/>
            <a:ext cx="295632" cy="369570"/>
          </a:xfrm>
          <a:prstGeom prst="rect">
            <a:avLst/>
          </a:prstGeom>
          <a:noFill/>
          <a:ln/>
        </p:spPr>
        <p:txBody>
          <a:bodyPr wrap="none" lIns="0" tIns="0" rIns="0" bIns="0" rtlCol="0" anchor="t"/>
          <a:lstStyle/>
          <a:p>
            <a:pPr algn="ctr" indent="0" marL="0">
              <a:lnSpc>
                <a:spcPts val="3700"/>
              </a:lnSpc>
              <a:buNone/>
            </a:pPr>
            <a:r>
              <a:rPr lang="en-US" sz="2300" b="1" dirty="0">
                <a:solidFill>
                  <a:srgbClr val="000000"/>
                </a:solidFill>
                <a:latin typeface="Inter Bold" pitchFamily="34" charset="0"/>
                <a:ea typeface="Inter Bold" pitchFamily="34" charset="-122"/>
                <a:cs typeface="Inter Bold" pitchFamily="34" charset="-120"/>
              </a:rPr>
              <a:t>2</a:t>
            </a:r>
            <a:endParaRPr lang="en-US" sz="2300" dirty="0"/>
          </a:p>
        </p:txBody>
      </p:sp>
      <p:sp>
        <p:nvSpPr>
          <p:cNvPr id="10" name="Text 8"/>
          <p:cNvSpPr/>
          <p:nvPr/>
        </p:nvSpPr>
        <p:spPr>
          <a:xfrm>
            <a:off x="5112663" y="3181826"/>
            <a:ext cx="2575084" cy="328374"/>
          </a:xfrm>
          <a:prstGeom prst="rect">
            <a:avLst/>
          </a:prstGeom>
          <a:noFill/>
          <a:ln/>
        </p:spPr>
        <p:txBody>
          <a:bodyPr wrap="none" lIns="0" tIns="0" rIns="0" bIns="0" rtlCol="0" anchor="t"/>
          <a:lstStyle/>
          <a:p>
            <a:pPr algn="l" indent="0" marL="0">
              <a:lnSpc>
                <a:spcPts val="2550"/>
              </a:lnSpc>
              <a:buNone/>
            </a:pPr>
            <a:r>
              <a:rPr lang="en-US" sz="2050" b="1" dirty="0">
                <a:solidFill>
                  <a:srgbClr val="000000"/>
                </a:solidFill>
                <a:latin typeface="Inter Bold" pitchFamily="34" charset="0"/>
                <a:ea typeface="Inter Bold" pitchFamily="34" charset="-122"/>
                <a:cs typeface="Inter Bold" pitchFamily="34" charset="-120"/>
              </a:rPr>
              <a:t>Formula</a:t>
            </a:r>
            <a:endParaRPr lang="en-US" sz="2050" dirty="0"/>
          </a:p>
        </p:txBody>
      </p:sp>
      <p:sp>
        <p:nvSpPr>
          <p:cNvPr id="11" name="Text 9"/>
          <p:cNvSpPr/>
          <p:nvPr/>
        </p:nvSpPr>
        <p:spPr>
          <a:xfrm>
            <a:off x="5112663" y="3636288"/>
            <a:ext cx="2575084" cy="336352"/>
          </a:xfrm>
          <a:prstGeom prst="rect">
            <a:avLst/>
          </a:prstGeom>
          <a:noFill/>
          <a:ln/>
        </p:spPr>
        <p:txBody>
          <a:bodyPr wrap="none" lIns="0" tIns="0" rIns="0" bIns="0" rtlCol="0" anchor="t"/>
          <a:lstStyle/>
          <a:p>
            <a:pPr algn="l" indent="0" marL="0">
              <a:lnSpc>
                <a:spcPts val="2600"/>
              </a:lnSpc>
              <a:buNone/>
            </a:pPr>
            <a:r>
              <a:rPr lang="en-US" sz="1650" dirty="0">
                <a:solidFill>
                  <a:srgbClr val="000000"/>
                </a:solidFill>
                <a:latin typeface="Inter" pitchFamily="34" charset="0"/>
                <a:ea typeface="Inter" pitchFamily="34" charset="-122"/>
                <a:cs typeface="Inter" pitchFamily="34" charset="-120"/>
              </a:rPr>
              <a:t>Precision = TP / (TP + FP)</a:t>
            </a:r>
            <a:endParaRPr lang="en-US" sz="1650" dirty="0"/>
          </a:p>
        </p:txBody>
      </p:sp>
      <p:sp>
        <p:nvSpPr>
          <p:cNvPr id="12" name="Shape 10"/>
          <p:cNvSpPr/>
          <p:nvPr/>
        </p:nvSpPr>
        <p:spPr>
          <a:xfrm>
            <a:off x="5007531" y="4173260"/>
            <a:ext cx="8123515" cy="11430"/>
          </a:xfrm>
          <a:prstGeom prst="roundRect">
            <a:avLst>
              <a:gd name="adj" fmla="val 772563"/>
            </a:avLst>
          </a:prstGeom>
          <a:solidFill>
            <a:srgbClr val="DDBBBA"/>
          </a:solidFill>
          <a:ln/>
        </p:spPr>
      </p:sp>
      <p:sp>
        <p:nvSpPr>
          <p:cNvPr id="13" name="Shape 11"/>
          <p:cNvSpPr/>
          <p:nvPr/>
        </p:nvSpPr>
        <p:spPr>
          <a:xfrm>
            <a:off x="735806" y="4287798"/>
            <a:ext cx="6250067" cy="1211104"/>
          </a:xfrm>
          <a:prstGeom prst="roundRect">
            <a:avLst>
              <a:gd name="adj" fmla="val 7291"/>
            </a:avLst>
          </a:prstGeom>
          <a:solidFill>
            <a:srgbClr val="F7D5D4"/>
          </a:solidFill>
          <a:ln w="7620">
            <a:solidFill>
              <a:srgbClr val="DDBBBA"/>
            </a:solidFill>
            <a:prstDash val="solid"/>
          </a:ln>
        </p:spPr>
      </p:sp>
      <p:sp>
        <p:nvSpPr>
          <p:cNvPr id="14" name="Text 12"/>
          <p:cNvSpPr/>
          <p:nvPr/>
        </p:nvSpPr>
        <p:spPr>
          <a:xfrm>
            <a:off x="3712964" y="4708565"/>
            <a:ext cx="295632" cy="369570"/>
          </a:xfrm>
          <a:prstGeom prst="rect">
            <a:avLst/>
          </a:prstGeom>
          <a:noFill/>
          <a:ln/>
        </p:spPr>
        <p:txBody>
          <a:bodyPr wrap="none" lIns="0" tIns="0" rIns="0" bIns="0" rtlCol="0" anchor="t"/>
          <a:lstStyle/>
          <a:p>
            <a:pPr algn="ctr" indent="0" marL="0">
              <a:lnSpc>
                <a:spcPts val="3700"/>
              </a:lnSpc>
              <a:buNone/>
            </a:pPr>
            <a:r>
              <a:rPr lang="en-US" sz="2300" b="1" dirty="0">
                <a:solidFill>
                  <a:srgbClr val="000000"/>
                </a:solidFill>
                <a:latin typeface="Inter Bold" pitchFamily="34" charset="0"/>
                <a:ea typeface="Inter Bold" pitchFamily="34" charset="-122"/>
                <a:cs typeface="Inter Bold" pitchFamily="34" charset="-120"/>
              </a:rPr>
              <a:t>3</a:t>
            </a:r>
            <a:endParaRPr lang="en-US" sz="2300" dirty="0"/>
          </a:p>
        </p:txBody>
      </p:sp>
      <p:sp>
        <p:nvSpPr>
          <p:cNvPr id="15" name="Text 13"/>
          <p:cNvSpPr/>
          <p:nvPr/>
        </p:nvSpPr>
        <p:spPr>
          <a:xfrm>
            <a:off x="7196018" y="4497943"/>
            <a:ext cx="2628067" cy="328374"/>
          </a:xfrm>
          <a:prstGeom prst="rect">
            <a:avLst/>
          </a:prstGeom>
          <a:noFill/>
          <a:ln/>
        </p:spPr>
        <p:txBody>
          <a:bodyPr wrap="none" lIns="0" tIns="0" rIns="0" bIns="0" rtlCol="0" anchor="t"/>
          <a:lstStyle/>
          <a:p>
            <a:pPr algn="l" indent="0" marL="0">
              <a:lnSpc>
                <a:spcPts val="2550"/>
              </a:lnSpc>
              <a:buNone/>
            </a:pPr>
            <a:r>
              <a:rPr lang="en-US" sz="2050" b="1" dirty="0">
                <a:solidFill>
                  <a:srgbClr val="000000"/>
                </a:solidFill>
                <a:latin typeface="Inter Bold" pitchFamily="34" charset="0"/>
                <a:ea typeface="Inter Bold" pitchFamily="34" charset="-122"/>
                <a:cs typeface="Inter Bold" pitchFamily="34" charset="-120"/>
              </a:rPr>
              <a:t>Application</a:t>
            </a:r>
            <a:endParaRPr lang="en-US" sz="2050" dirty="0"/>
          </a:p>
        </p:txBody>
      </p:sp>
      <p:sp>
        <p:nvSpPr>
          <p:cNvPr id="16" name="Text 14"/>
          <p:cNvSpPr/>
          <p:nvPr/>
        </p:nvSpPr>
        <p:spPr>
          <a:xfrm>
            <a:off x="7196018" y="4952405"/>
            <a:ext cx="3807023" cy="336352"/>
          </a:xfrm>
          <a:prstGeom prst="rect">
            <a:avLst/>
          </a:prstGeom>
          <a:noFill/>
          <a:ln/>
        </p:spPr>
        <p:txBody>
          <a:bodyPr wrap="none" lIns="0" tIns="0" rIns="0" bIns="0" rtlCol="0" anchor="t"/>
          <a:lstStyle/>
          <a:p>
            <a:pPr algn="l" indent="0" marL="0">
              <a:lnSpc>
                <a:spcPts val="2600"/>
              </a:lnSpc>
              <a:buNone/>
            </a:pPr>
            <a:r>
              <a:rPr lang="en-US" sz="1650" dirty="0">
                <a:solidFill>
                  <a:srgbClr val="000000"/>
                </a:solidFill>
                <a:latin typeface="Inter" pitchFamily="34" charset="0"/>
                <a:ea typeface="Inter" pitchFamily="34" charset="-122"/>
                <a:cs typeface="Inter" pitchFamily="34" charset="-120"/>
              </a:rPr>
              <a:t>Critical when false positives are costly</a:t>
            </a:r>
            <a:endParaRPr lang="en-US" sz="1650" dirty="0"/>
          </a:p>
        </p:txBody>
      </p:sp>
      <p:sp>
        <p:nvSpPr>
          <p:cNvPr id="17" name="Text 15"/>
          <p:cNvSpPr/>
          <p:nvPr/>
        </p:nvSpPr>
        <p:spPr>
          <a:xfrm>
            <a:off x="735806" y="5735360"/>
            <a:ext cx="12500253" cy="1009055"/>
          </a:xfrm>
          <a:prstGeom prst="rect">
            <a:avLst/>
          </a:prstGeom>
          <a:noFill/>
          <a:ln/>
        </p:spPr>
        <p:txBody>
          <a:bodyPr wrap="square" lIns="0" tIns="0" rIns="0" bIns="0" rtlCol="0" anchor="t"/>
          <a:lstStyle/>
          <a:p>
            <a:pPr indent="0" marL="0">
              <a:lnSpc>
                <a:spcPts val="2600"/>
              </a:lnSpc>
              <a:buNone/>
            </a:pPr>
            <a:r>
              <a:rPr lang="en-US" sz="1650" dirty="0">
                <a:solidFill>
                  <a:srgbClr val="000000"/>
                </a:solidFill>
                <a:latin typeface="Inter" pitchFamily="34" charset="0"/>
                <a:ea typeface="Inter" pitchFamily="34" charset="-122"/>
                <a:cs typeface="Inter" pitchFamily="34" charset="-120"/>
              </a:rPr>
              <a:t>Precision measures how many of the positive predictions made by the model are actually correct. It's particularly important in scenarios where false positives carry a high cost, such as spam detection (where marking legitimate emails as spam is problematic) or medical diagnostics (where a false positive might lead to unnecessary treatments).</a:t>
            </a:r>
            <a:endParaRPr lang="en-US" sz="1650" dirty="0"/>
          </a:p>
        </p:txBody>
      </p:sp>
      <p:sp>
        <p:nvSpPr>
          <p:cNvPr id="18" name="Text 16"/>
          <p:cNvSpPr/>
          <p:nvPr/>
        </p:nvSpPr>
        <p:spPr>
          <a:xfrm>
            <a:off x="735806" y="6980872"/>
            <a:ext cx="12500253" cy="672703"/>
          </a:xfrm>
          <a:prstGeom prst="rect">
            <a:avLst/>
          </a:prstGeom>
          <a:noFill/>
          <a:ln/>
        </p:spPr>
        <p:txBody>
          <a:bodyPr wrap="square" lIns="0" tIns="0" rIns="0" bIns="0" rtlCol="0" anchor="t"/>
          <a:lstStyle/>
          <a:p>
            <a:pPr indent="0" marL="0">
              <a:lnSpc>
                <a:spcPts val="2600"/>
              </a:lnSpc>
              <a:buNone/>
            </a:pPr>
            <a:r>
              <a:rPr lang="en-US" sz="1650" dirty="0">
                <a:solidFill>
                  <a:srgbClr val="000000"/>
                </a:solidFill>
                <a:latin typeface="Inter" pitchFamily="34" charset="0"/>
                <a:ea typeface="Inter" pitchFamily="34" charset="-122"/>
                <a:cs typeface="Inter" pitchFamily="34" charset="-120"/>
              </a:rPr>
              <a:t>High precision indicates that when the model predicts the positive class, it is usually correct, though it doesn't tell us anything about the cases the model might have missed.</a:t>
            </a:r>
            <a:endParaRPr lang="en-US" sz="1650" dirty="0"/>
          </a:p>
        </p:txBody>
      </p:sp>
      <p:pic>
        <p:nvPicPr>
          <p:cNvPr id="19" name="Image 0" descr="preencoded.png">    </p:cNvPr>
          <p:cNvPicPr>
            <a:picLocks noChangeAspect="1"/>
          </p:cNvPicPr>
          <p:nvPr/>
        </p:nvPicPr>
        <p:blipFill>
          <a:blip r:embed="rId1"/>
          <a:stretch>
            <a:fillRect/>
          </a:stretch>
        </p:blipFill>
        <p:spPr>
          <a:xfrm>
            <a:off x="13464778" y="228600"/>
            <a:ext cx="937022" cy="50280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686050"/>
          </a:xfrm>
          <a:prstGeom prst="rect">
            <a:avLst/>
          </a:prstGeom>
        </p:spPr>
      </p:pic>
      <p:sp>
        <p:nvSpPr>
          <p:cNvPr id="3" name="Text 0"/>
          <p:cNvSpPr/>
          <p:nvPr/>
        </p:nvSpPr>
        <p:spPr>
          <a:xfrm>
            <a:off x="751999" y="3450074"/>
            <a:ext cx="9316283" cy="671512"/>
          </a:xfrm>
          <a:prstGeom prst="rect">
            <a:avLst/>
          </a:prstGeom>
          <a:noFill/>
          <a:ln/>
        </p:spPr>
        <p:txBody>
          <a:bodyPr wrap="none" lIns="0" tIns="0" rIns="0" bIns="0" rtlCol="0" anchor="t"/>
          <a:lstStyle/>
          <a:p>
            <a:pPr indent="0" marL="0">
              <a:lnSpc>
                <a:spcPts val="5250"/>
              </a:lnSpc>
              <a:buNone/>
            </a:pPr>
            <a:r>
              <a:rPr lang="en-US" sz="4200" b="1" dirty="0">
                <a:solidFill>
                  <a:srgbClr val="000000"/>
                </a:solidFill>
                <a:latin typeface="Inter Bold" pitchFamily="34" charset="0"/>
                <a:ea typeface="Inter Bold" pitchFamily="34" charset="-122"/>
                <a:cs typeface="Inter Bold" pitchFamily="34" charset="-120"/>
              </a:rPr>
              <a:t>Recall: Capturing All Positive Cases</a:t>
            </a:r>
            <a:endParaRPr lang="en-US" sz="4200" dirty="0"/>
          </a:p>
        </p:txBody>
      </p:sp>
      <p:sp>
        <p:nvSpPr>
          <p:cNvPr id="4" name="Shape 1"/>
          <p:cNvSpPr/>
          <p:nvPr/>
        </p:nvSpPr>
        <p:spPr>
          <a:xfrm>
            <a:off x="751999" y="5088493"/>
            <a:ext cx="4160520" cy="214789"/>
          </a:xfrm>
          <a:prstGeom prst="roundRect">
            <a:avLst>
              <a:gd name="adj" fmla="val 42020"/>
            </a:avLst>
          </a:prstGeom>
          <a:solidFill>
            <a:srgbClr val="F7D5D4"/>
          </a:solidFill>
          <a:ln w="7620">
            <a:solidFill>
              <a:srgbClr val="DDBBBA"/>
            </a:solidFill>
            <a:prstDash val="solid"/>
          </a:ln>
        </p:spPr>
      </p:sp>
      <p:sp>
        <p:nvSpPr>
          <p:cNvPr id="5" name="Text 2"/>
          <p:cNvSpPr/>
          <p:nvPr/>
        </p:nvSpPr>
        <p:spPr>
          <a:xfrm>
            <a:off x="751999" y="5625584"/>
            <a:ext cx="2686050" cy="335756"/>
          </a:xfrm>
          <a:prstGeom prst="rect">
            <a:avLst/>
          </a:prstGeom>
          <a:noFill/>
          <a:ln/>
        </p:spPr>
        <p:txBody>
          <a:bodyPr wrap="none" lIns="0" tIns="0" rIns="0" bIns="0" rtlCol="0" anchor="t"/>
          <a:lstStyle/>
          <a:p>
            <a:pPr algn="l" indent="0" marL="0">
              <a:lnSpc>
                <a:spcPts val="2600"/>
              </a:lnSpc>
              <a:buNone/>
            </a:pPr>
            <a:r>
              <a:rPr lang="en-US" sz="2100" b="1" dirty="0">
                <a:solidFill>
                  <a:srgbClr val="000000"/>
                </a:solidFill>
                <a:latin typeface="Inter Bold" pitchFamily="34" charset="0"/>
                <a:ea typeface="Inter Bold" pitchFamily="34" charset="-122"/>
                <a:cs typeface="Inter Bold" pitchFamily="34" charset="-120"/>
              </a:rPr>
              <a:t>Definition</a:t>
            </a:r>
            <a:endParaRPr lang="en-US" sz="2100" dirty="0"/>
          </a:p>
        </p:txBody>
      </p:sp>
      <p:sp>
        <p:nvSpPr>
          <p:cNvPr id="6" name="Text 3"/>
          <p:cNvSpPr/>
          <p:nvPr/>
        </p:nvSpPr>
        <p:spPr>
          <a:xfrm>
            <a:off x="751999" y="6090166"/>
            <a:ext cx="4160520" cy="1375410"/>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Inter" pitchFamily="34" charset="0"/>
                <a:ea typeface="Inter" pitchFamily="34" charset="-122"/>
                <a:cs typeface="Inter" pitchFamily="34" charset="-120"/>
              </a:rPr>
              <a:t>Recall measures how many of the actual positive cases our model captured. It's the proportion of actual positives correctly identified by the model.</a:t>
            </a:r>
            <a:endParaRPr lang="en-US" sz="1650" dirty="0"/>
          </a:p>
        </p:txBody>
      </p:sp>
      <p:sp>
        <p:nvSpPr>
          <p:cNvPr id="7" name="Shape 4"/>
          <p:cNvSpPr/>
          <p:nvPr/>
        </p:nvSpPr>
        <p:spPr>
          <a:xfrm>
            <a:off x="5234821" y="4766191"/>
            <a:ext cx="4160639" cy="214789"/>
          </a:xfrm>
          <a:prstGeom prst="roundRect">
            <a:avLst>
              <a:gd name="adj" fmla="val 42020"/>
            </a:avLst>
          </a:prstGeom>
          <a:solidFill>
            <a:srgbClr val="F7D5D4"/>
          </a:solidFill>
          <a:ln w="7620">
            <a:solidFill>
              <a:srgbClr val="DDBBBA"/>
            </a:solidFill>
            <a:prstDash val="solid"/>
          </a:ln>
        </p:spPr>
      </p:sp>
      <p:sp>
        <p:nvSpPr>
          <p:cNvPr id="8" name="Text 5"/>
          <p:cNvSpPr/>
          <p:nvPr/>
        </p:nvSpPr>
        <p:spPr>
          <a:xfrm>
            <a:off x="5234821" y="5303282"/>
            <a:ext cx="2686050" cy="335756"/>
          </a:xfrm>
          <a:prstGeom prst="rect">
            <a:avLst/>
          </a:prstGeom>
          <a:noFill/>
          <a:ln/>
        </p:spPr>
        <p:txBody>
          <a:bodyPr wrap="none" lIns="0" tIns="0" rIns="0" bIns="0" rtlCol="0" anchor="t"/>
          <a:lstStyle/>
          <a:p>
            <a:pPr algn="l" indent="0" marL="0">
              <a:lnSpc>
                <a:spcPts val="2600"/>
              </a:lnSpc>
              <a:buNone/>
            </a:pPr>
            <a:r>
              <a:rPr lang="en-US" sz="2100" b="1" dirty="0">
                <a:solidFill>
                  <a:srgbClr val="000000"/>
                </a:solidFill>
                <a:latin typeface="Inter Bold" pitchFamily="34" charset="0"/>
                <a:ea typeface="Inter Bold" pitchFamily="34" charset="-122"/>
                <a:cs typeface="Inter Bold" pitchFamily="34" charset="-120"/>
              </a:rPr>
              <a:t>Formula</a:t>
            </a:r>
            <a:endParaRPr lang="en-US" sz="2100" dirty="0"/>
          </a:p>
        </p:txBody>
      </p:sp>
      <p:sp>
        <p:nvSpPr>
          <p:cNvPr id="9" name="Text 6"/>
          <p:cNvSpPr/>
          <p:nvPr/>
        </p:nvSpPr>
        <p:spPr>
          <a:xfrm>
            <a:off x="5234821" y="5767864"/>
            <a:ext cx="4160639" cy="343853"/>
          </a:xfrm>
          <a:prstGeom prst="rect">
            <a:avLst/>
          </a:prstGeom>
          <a:noFill/>
          <a:ln/>
        </p:spPr>
        <p:txBody>
          <a:bodyPr wrap="none" lIns="0" tIns="0" rIns="0" bIns="0" rtlCol="0" anchor="t"/>
          <a:lstStyle/>
          <a:p>
            <a:pPr algn="l" indent="0" marL="0">
              <a:lnSpc>
                <a:spcPts val="2700"/>
              </a:lnSpc>
              <a:buNone/>
            </a:pPr>
            <a:r>
              <a:rPr lang="en-US" sz="1650" dirty="0">
                <a:solidFill>
                  <a:srgbClr val="000000"/>
                </a:solidFill>
                <a:latin typeface="Inter" pitchFamily="34" charset="0"/>
                <a:ea typeface="Inter" pitchFamily="34" charset="-122"/>
                <a:cs typeface="Inter" pitchFamily="34" charset="-120"/>
              </a:rPr>
              <a:t>Recall = TP / (TP + FN)</a:t>
            </a:r>
            <a:endParaRPr lang="en-US" sz="1650" dirty="0"/>
          </a:p>
        </p:txBody>
      </p:sp>
      <p:sp>
        <p:nvSpPr>
          <p:cNvPr id="10" name="Shape 7"/>
          <p:cNvSpPr/>
          <p:nvPr/>
        </p:nvSpPr>
        <p:spPr>
          <a:xfrm>
            <a:off x="9717762" y="4443889"/>
            <a:ext cx="4160639" cy="214789"/>
          </a:xfrm>
          <a:prstGeom prst="roundRect">
            <a:avLst>
              <a:gd name="adj" fmla="val 42020"/>
            </a:avLst>
          </a:prstGeom>
          <a:solidFill>
            <a:srgbClr val="F7D5D4"/>
          </a:solidFill>
          <a:ln w="7620">
            <a:solidFill>
              <a:srgbClr val="DDBBBA"/>
            </a:solidFill>
            <a:prstDash val="solid"/>
          </a:ln>
        </p:spPr>
      </p:sp>
      <p:sp>
        <p:nvSpPr>
          <p:cNvPr id="11" name="Text 8"/>
          <p:cNvSpPr/>
          <p:nvPr/>
        </p:nvSpPr>
        <p:spPr>
          <a:xfrm>
            <a:off x="9717762" y="4980980"/>
            <a:ext cx="2686050" cy="335756"/>
          </a:xfrm>
          <a:prstGeom prst="rect">
            <a:avLst/>
          </a:prstGeom>
          <a:noFill/>
          <a:ln/>
        </p:spPr>
        <p:txBody>
          <a:bodyPr wrap="none" lIns="0" tIns="0" rIns="0" bIns="0" rtlCol="0" anchor="t"/>
          <a:lstStyle/>
          <a:p>
            <a:pPr algn="l" indent="0" marL="0">
              <a:lnSpc>
                <a:spcPts val="2600"/>
              </a:lnSpc>
              <a:buNone/>
            </a:pPr>
            <a:r>
              <a:rPr lang="en-US" sz="2100" b="1" dirty="0">
                <a:solidFill>
                  <a:srgbClr val="000000"/>
                </a:solidFill>
                <a:latin typeface="Inter Bold" pitchFamily="34" charset="0"/>
                <a:ea typeface="Inter Bold" pitchFamily="34" charset="-122"/>
                <a:cs typeface="Inter Bold" pitchFamily="34" charset="-120"/>
              </a:rPr>
              <a:t>Application</a:t>
            </a:r>
            <a:endParaRPr lang="en-US" sz="2100" dirty="0"/>
          </a:p>
        </p:txBody>
      </p:sp>
      <p:sp>
        <p:nvSpPr>
          <p:cNvPr id="12" name="Text 9"/>
          <p:cNvSpPr/>
          <p:nvPr/>
        </p:nvSpPr>
        <p:spPr>
          <a:xfrm>
            <a:off x="9717762" y="5445562"/>
            <a:ext cx="4160639" cy="1719263"/>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Inter" pitchFamily="34" charset="0"/>
                <a:ea typeface="Inter" pitchFamily="34" charset="-122"/>
                <a:cs typeface="Inter" pitchFamily="34" charset="-120"/>
              </a:rPr>
              <a:t>Recall is critical in scenarios where missing positive cases is costly, such as disease detection or fraud identification. High recall ensures we minimize false negatives.</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71976" y="565309"/>
            <a:ext cx="6944678" cy="510540"/>
          </a:xfrm>
          <a:prstGeom prst="rect">
            <a:avLst/>
          </a:prstGeom>
          <a:noFill/>
          <a:ln/>
        </p:spPr>
        <p:txBody>
          <a:bodyPr wrap="none" lIns="0" tIns="0" rIns="0" bIns="0" rtlCol="0" anchor="t"/>
          <a:lstStyle/>
          <a:p>
            <a:pPr indent="0" marL="0">
              <a:lnSpc>
                <a:spcPts val="4000"/>
              </a:lnSpc>
              <a:buNone/>
            </a:pPr>
            <a:r>
              <a:rPr lang="en-US" sz="3200" b="1" dirty="0">
                <a:solidFill>
                  <a:srgbClr val="000000"/>
                </a:solidFill>
                <a:latin typeface="Inter Bold" pitchFamily="34" charset="0"/>
                <a:ea typeface="Inter Bold" pitchFamily="34" charset="-122"/>
                <a:cs typeface="Inter Bold" pitchFamily="34" charset="-120"/>
              </a:rPr>
              <a:t>F1 Score: Mathematical Expression</a:t>
            </a:r>
            <a:endParaRPr lang="en-US" sz="3200" dirty="0"/>
          </a:p>
        </p:txBody>
      </p:sp>
      <p:pic>
        <p:nvPicPr>
          <p:cNvPr id="3" name="Image 0" descr="preencoded.png">    </p:cNvPr>
          <p:cNvPicPr>
            <a:picLocks noChangeAspect="1"/>
          </p:cNvPicPr>
          <p:nvPr/>
        </p:nvPicPr>
        <p:blipFill>
          <a:blip r:embed="rId1"/>
          <a:stretch>
            <a:fillRect/>
          </a:stretch>
        </p:blipFill>
        <p:spPr>
          <a:xfrm>
            <a:off x="571976" y="1402675"/>
            <a:ext cx="9124117" cy="5109448"/>
          </a:xfrm>
          <a:prstGeom prst="rect">
            <a:avLst/>
          </a:prstGeom>
        </p:spPr>
      </p:pic>
      <p:sp>
        <p:nvSpPr>
          <p:cNvPr id="4" name="Text 1"/>
          <p:cNvSpPr/>
          <p:nvPr/>
        </p:nvSpPr>
        <p:spPr>
          <a:xfrm>
            <a:off x="571976" y="6695956"/>
            <a:ext cx="12664083" cy="261461"/>
          </a:xfrm>
          <a:prstGeom prst="rect">
            <a:avLst/>
          </a:prstGeom>
          <a:noFill/>
          <a:ln/>
        </p:spPr>
        <p:txBody>
          <a:bodyPr wrap="none" lIns="0" tIns="0" rIns="0" bIns="0" rtlCol="0" anchor="t"/>
          <a:lstStyle/>
          <a:p>
            <a:pPr indent="0" marL="0">
              <a:lnSpc>
                <a:spcPts val="2050"/>
              </a:lnSpc>
              <a:buNone/>
            </a:pPr>
            <a:r>
              <a:rPr lang="en-US" sz="1250" dirty="0">
                <a:solidFill>
                  <a:srgbClr val="000000"/>
                </a:solidFill>
                <a:latin typeface="Inter" pitchFamily="34" charset="0"/>
                <a:ea typeface="Inter" pitchFamily="34" charset="-122"/>
                <a:cs typeface="Inter" pitchFamily="34" charset="-120"/>
              </a:rPr>
              <a:t>The F1 score is expressed mathematically as: F1 = 2 × (1 / ((1/precision) + (1/recall)))</a:t>
            </a:r>
            <a:endParaRPr lang="en-US" sz="1250" dirty="0"/>
          </a:p>
        </p:txBody>
      </p:sp>
      <p:sp>
        <p:nvSpPr>
          <p:cNvPr id="5" name="Text 2"/>
          <p:cNvSpPr/>
          <p:nvPr/>
        </p:nvSpPr>
        <p:spPr>
          <a:xfrm>
            <a:off x="571976" y="7141250"/>
            <a:ext cx="12664083" cy="522922"/>
          </a:xfrm>
          <a:prstGeom prst="rect">
            <a:avLst/>
          </a:prstGeom>
          <a:noFill/>
          <a:ln/>
        </p:spPr>
        <p:txBody>
          <a:bodyPr wrap="square" lIns="0" tIns="0" rIns="0" bIns="0" rtlCol="0" anchor="t"/>
          <a:lstStyle/>
          <a:p>
            <a:pPr indent="0" marL="0">
              <a:lnSpc>
                <a:spcPts val="2050"/>
              </a:lnSpc>
              <a:buNone/>
            </a:pPr>
            <a:r>
              <a:rPr lang="en-US" sz="1250" dirty="0">
                <a:solidFill>
                  <a:srgbClr val="000000"/>
                </a:solidFill>
                <a:latin typeface="Inter" pitchFamily="34" charset="0"/>
                <a:ea typeface="Inter" pitchFamily="34" charset="-122"/>
                <a:cs typeface="Inter" pitchFamily="34" charset="-120"/>
              </a:rPr>
              <a:t>This formula shows that F1 score is the harmonic mean of precision and recall. The chart illustrates how different combinations of precision and recall affect the F1 score. Notice how the F1 score penalizes situations where either precision or recall is low, encouraging a balance between the two metrics.</a:t>
            </a:r>
            <a:endParaRPr lang="en-US" sz="1250" dirty="0"/>
          </a:p>
        </p:txBody>
      </p:sp>
      <p:pic>
        <p:nvPicPr>
          <p:cNvPr id="6" name="Image 1" descr="preencoded.png">    </p:cNvPr>
          <p:cNvPicPr>
            <a:picLocks noChangeAspect="1"/>
          </p:cNvPicPr>
          <p:nvPr/>
        </p:nvPicPr>
        <p:blipFill>
          <a:blip r:embed="rId2"/>
          <a:stretch>
            <a:fillRect/>
          </a:stretch>
        </p:blipFill>
        <p:spPr>
          <a:xfrm>
            <a:off x="13464778" y="228600"/>
            <a:ext cx="937022" cy="5028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573893"/>
          </a:xfrm>
          <a:prstGeom prst="rect">
            <a:avLst/>
          </a:prstGeom>
        </p:spPr>
      </p:pic>
      <p:sp>
        <p:nvSpPr>
          <p:cNvPr id="3" name="Text 0"/>
          <p:cNvSpPr/>
          <p:nvPr/>
        </p:nvSpPr>
        <p:spPr>
          <a:xfrm>
            <a:off x="720685" y="3140154"/>
            <a:ext cx="5147905" cy="643533"/>
          </a:xfrm>
          <a:prstGeom prst="rect">
            <a:avLst/>
          </a:prstGeom>
          <a:noFill/>
          <a:ln/>
        </p:spPr>
        <p:txBody>
          <a:bodyPr wrap="none" lIns="0" tIns="0" rIns="0" bIns="0" rtlCol="0" anchor="t"/>
          <a:lstStyle/>
          <a:p>
            <a:pPr indent="0" marL="0">
              <a:lnSpc>
                <a:spcPts val="5050"/>
              </a:lnSpc>
              <a:buNone/>
            </a:pPr>
            <a:r>
              <a:rPr lang="en-US" sz="4050" b="1" dirty="0">
                <a:solidFill>
                  <a:srgbClr val="000000"/>
                </a:solidFill>
                <a:latin typeface="Inter Bold" pitchFamily="34" charset="0"/>
                <a:ea typeface="Inter Bold" pitchFamily="34" charset="-122"/>
                <a:cs typeface="Inter Bold" pitchFamily="34" charset="-120"/>
              </a:rPr>
              <a:t>Confusion Matrix</a:t>
            </a:r>
            <a:endParaRPr lang="en-US" sz="4050" dirty="0"/>
          </a:p>
        </p:txBody>
      </p:sp>
      <p:sp>
        <p:nvSpPr>
          <p:cNvPr id="4" name="Shape 1"/>
          <p:cNvSpPr/>
          <p:nvPr/>
        </p:nvSpPr>
        <p:spPr>
          <a:xfrm>
            <a:off x="720685" y="4092535"/>
            <a:ext cx="13189029" cy="1790462"/>
          </a:xfrm>
          <a:prstGeom prst="roundRect">
            <a:avLst>
              <a:gd name="adj" fmla="val 4830"/>
            </a:avLst>
          </a:prstGeom>
          <a:noFill/>
          <a:ln w="7620">
            <a:solidFill>
              <a:srgbClr val="000000">
                <a:alpha val="8000"/>
              </a:srgbClr>
            </a:solidFill>
            <a:prstDash val="solid"/>
          </a:ln>
        </p:spPr>
      </p:sp>
      <p:sp>
        <p:nvSpPr>
          <p:cNvPr id="5" name="Shape 2"/>
          <p:cNvSpPr/>
          <p:nvPr/>
        </p:nvSpPr>
        <p:spPr>
          <a:xfrm>
            <a:off x="728305" y="4100155"/>
            <a:ext cx="13172361" cy="591741"/>
          </a:xfrm>
          <a:prstGeom prst="rect">
            <a:avLst/>
          </a:prstGeom>
          <a:solidFill>
            <a:srgbClr val="FFFFFF">
              <a:alpha val="4000"/>
            </a:srgbClr>
          </a:solidFill>
          <a:ln/>
        </p:spPr>
      </p:sp>
      <p:sp>
        <p:nvSpPr>
          <p:cNvPr id="6" name="Text 3"/>
          <p:cNvSpPr/>
          <p:nvPr/>
        </p:nvSpPr>
        <p:spPr>
          <a:xfrm>
            <a:off x="935593" y="4231243"/>
            <a:ext cx="3974783" cy="329565"/>
          </a:xfrm>
          <a:prstGeom prst="rect">
            <a:avLst/>
          </a:prstGeom>
          <a:noFill/>
          <a:ln/>
        </p:spPr>
        <p:txBody>
          <a:bodyPr wrap="non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n=165</a:t>
            </a:r>
            <a:endParaRPr lang="en-US" sz="1600" dirty="0"/>
          </a:p>
        </p:txBody>
      </p:sp>
      <p:sp>
        <p:nvSpPr>
          <p:cNvPr id="7" name="Text 4"/>
          <p:cNvSpPr/>
          <p:nvPr/>
        </p:nvSpPr>
        <p:spPr>
          <a:xfrm>
            <a:off x="5329714" y="4231243"/>
            <a:ext cx="3970973" cy="329565"/>
          </a:xfrm>
          <a:prstGeom prst="rect">
            <a:avLst/>
          </a:prstGeom>
          <a:noFill/>
          <a:ln/>
        </p:spPr>
        <p:txBody>
          <a:bodyPr wrap="non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Predicted: NO</a:t>
            </a:r>
            <a:endParaRPr lang="en-US" sz="1600" dirty="0"/>
          </a:p>
        </p:txBody>
      </p:sp>
      <p:sp>
        <p:nvSpPr>
          <p:cNvPr id="8" name="Text 5"/>
          <p:cNvSpPr/>
          <p:nvPr/>
        </p:nvSpPr>
        <p:spPr>
          <a:xfrm>
            <a:off x="9720024" y="4231243"/>
            <a:ext cx="3974783" cy="329565"/>
          </a:xfrm>
          <a:prstGeom prst="rect">
            <a:avLst/>
          </a:prstGeom>
          <a:noFill/>
          <a:ln/>
        </p:spPr>
        <p:txBody>
          <a:bodyPr wrap="non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Predicted: YES</a:t>
            </a:r>
            <a:endParaRPr lang="en-US" sz="1600" dirty="0"/>
          </a:p>
        </p:txBody>
      </p:sp>
      <p:sp>
        <p:nvSpPr>
          <p:cNvPr id="9" name="Shape 6"/>
          <p:cNvSpPr/>
          <p:nvPr/>
        </p:nvSpPr>
        <p:spPr>
          <a:xfrm>
            <a:off x="728305" y="4691896"/>
            <a:ext cx="13172361" cy="591741"/>
          </a:xfrm>
          <a:prstGeom prst="rect">
            <a:avLst/>
          </a:prstGeom>
          <a:solidFill>
            <a:srgbClr val="000000">
              <a:alpha val="4000"/>
            </a:srgbClr>
          </a:solidFill>
          <a:ln/>
        </p:spPr>
      </p:sp>
      <p:sp>
        <p:nvSpPr>
          <p:cNvPr id="10" name="Text 7"/>
          <p:cNvSpPr/>
          <p:nvPr/>
        </p:nvSpPr>
        <p:spPr>
          <a:xfrm>
            <a:off x="935593" y="4822984"/>
            <a:ext cx="3974783" cy="329565"/>
          </a:xfrm>
          <a:prstGeom prst="rect">
            <a:avLst/>
          </a:prstGeom>
          <a:noFill/>
          <a:ln/>
        </p:spPr>
        <p:txBody>
          <a:bodyPr wrap="non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Actual: NO</a:t>
            </a:r>
            <a:endParaRPr lang="en-US" sz="1600" dirty="0"/>
          </a:p>
        </p:txBody>
      </p:sp>
      <p:sp>
        <p:nvSpPr>
          <p:cNvPr id="11" name="Text 8"/>
          <p:cNvSpPr/>
          <p:nvPr/>
        </p:nvSpPr>
        <p:spPr>
          <a:xfrm>
            <a:off x="5329714" y="4822984"/>
            <a:ext cx="3970973" cy="329565"/>
          </a:xfrm>
          <a:prstGeom prst="rect">
            <a:avLst/>
          </a:prstGeom>
          <a:noFill/>
          <a:ln/>
        </p:spPr>
        <p:txBody>
          <a:bodyPr wrap="non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50 (True Negative)</a:t>
            </a:r>
            <a:endParaRPr lang="en-US" sz="1600" dirty="0"/>
          </a:p>
        </p:txBody>
      </p:sp>
      <p:sp>
        <p:nvSpPr>
          <p:cNvPr id="12" name="Text 9"/>
          <p:cNvSpPr/>
          <p:nvPr/>
        </p:nvSpPr>
        <p:spPr>
          <a:xfrm>
            <a:off x="9720024" y="4822984"/>
            <a:ext cx="3974783" cy="329565"/>
          </a:xfrm>
          <a:prstGeom prst="rect">
            <a:avLst/>
          </a:prstGeom>
          <a:noFill/>
          <a:ln/>
        </p:spPr>
        <p:txBody>
          <a:bodyPr wrap="non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10 (False Positive)</a:t>
            </a:r>
            <a:endParaRPr lang="en-US" sz="1600" dirty="0"/>
          </a:p>
        </p:txBody>
      </p:sp>
      <p:sp>
        <p:nvSpPr>
          <p:cNvPr id="13" name="Shape 10"/>
          <p:cNvSpPr/>
          <p:nvPr/>
        </p:nvSpPr>
        <p:spPr>
          <a:xfrm>
            <a:off x="728305" y="5283637"/>
            <a:ext cx="13172361" cy="591741"/>
          </a:xfrm>
          <a:prstGeom prst="rect">
            <a:avLst/>
          </a:prstGeom>
          <a:solidFill>
            <a:srgbClr val="FFFFFF">
              <a:alpha val="4000"/>
            </a:srgbClr>
          </a:solidFill>
          <a:ln/>
        </p:spPr>
      </p:sp>
      <p:sp>
        <p:nvSpPr>
          <p:cNvPr id="14" name="Text 11"/>
          <p:cNvSpPr/>
          <p:nvPr/>
        </p:nvSpPr>
        <p:spPr>
          <a:xfrm>
            <a:off x="935593" y="5414724"/>
            <a:ext cx="3974783" cy="329565"/>
          </a:xfrm>
          <a:prstGeom prst="rect">
            <a:avLst/>
          </a:prstGeom>
          <a:noFill/>
          <a:ln/>
        </p:spPr>
        <p:txBody>
          <a:bodyPr wrap="non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Actual: YES</a:t>
            </a:r>
            <a:endParaRPr lang="en-US" sz="1600" dirty="0"/>
          </a:p>
        </p:txBody>
      </p:sp>
      <p:sp>
        <p:nvSpPr>
          <p:cNvPr id="15" name="Text 12"/>
          <p:cNvSpPr/>
          <p:nvPr/>
        </p:nvSpPr>
        <p:spPr>
          <a:xfrm>
            <a:off x="5329714" y="5414724"/>
            <a:ext cx="3970973" cy="329565"/>
          </a:xfrm>
          <a:prstGeom prst="rect">
            <a:avLst/>
          </a:prstGeom>
          <a:noFill/>
          <a:ln/>
        </p:spPr>
        <p:txBody>
          <a:bodyPr wrap="non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5 (False Negative)</a:t>
            </a:r>
            <a:endParaRPr lang="en-US" sz="1600" dirty="0"/>
          </a:p>
        </p:txBody>
      </p:sp>
      <p:sp>
        <p:nvSpPr>
          <p:cNvPr id="16" name="Text 13"/>
          <p:cNvSpPr/>
          <p:nvPr/>
        </p:nvSpPr>
        <p:spPr>
          <a:xfrm>
            <a:off x="9720024" y="5414724"/>
            <a:ext cx="3974783" cy="329565"/>
          </a:xfrm>
          <a:prstGeom prst="rect">
            <a:avLst/>
          </a:prstGeom>
          <a:noFill/>
          <a:ln/>
        </p:spPr>
        <p:txBody>
          <a:bodyPr wrap="non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100 (True Positive)</a:t>
            </a:r>
            <a:endParaRPr lang="en-US" sz="1600" dirty="0"/>
          </a:p>
        </p:txBody>
      </p:sp>
      <p:sp>
        <p:nvSpPr>
          <p:cNvPr id="17" name="Text 14"/>
          <p:cNvSpPr/>
          <p:nvPr/>
        </p:nvSpPr>
        <p:spPr>
          <a:xfrm>
            <a:off x="720685" y="6114574"/>
            <a:ext cx="13189029" cy="659130"/>
          </a:xfrm>
          <a:prstGeom prst="rect">
            <a:avLst/>
          </a:prstGeom>
          <a:noFill/>
          <a:ln/>
        </p:spPr>
        <p:txBody>
          <a:bodyPr wrap="squar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A confusion matrix creates an N×N matrix, where N is the number of classes to be predicted. In binary classification (N=2), we get a 2×2 matrix as shown above. The matrix displays the counts of true positives, true negatives, false positives, and false negatives.</a:t>
            </a:r>
            <a:endParaRPr lang="en-US" sz="1600" dirty="0"/>
          </a:p>
        </p:txBody>
      </p:sp>
      <p:sp>
        <p:nvSpPr>
          <p:cNvPr id="18" name="Text 15"/>
          <p:cNvSpPr/>
          <p:nvPr/>
        </p:nvSpPr>
        <p:spPr>
          <a:xfrm>
            <a:off x="720685" y="7005280"/>
            <a:ext cx="13189029" cy="659130"/>
          </a:xfrm>
          <a:prstGeom prst="rect">
            <a:avLst/>
          </a:prstGeom>
          <a:noFill/>
          <a:ln/>
        </p:spPr>
        <p:txBody>
          <a:bodyPr wrap="square" lIns="0" tIns="0" rIns="0" bIns="0" rtlCol="0" anchor="t"/>
          <a:lstStyle/>
          <a:p>
            <a:pPr indent="0" marL="0">
              <a:lnSpc>
                <a:spcPts val="2550"/>
              </a:lnSpc>
              <a:buNone/>
            </a:pPr>
            <a:r>
              <a:rPr lang="en-US" sz="1600" dirty="0">
                <a:solidFill>
                  <a:srgbClr val="000000"/>
                </a:solidFill>
                <a:latin typeface="Inter" pitchFamily="34" charset="0"/>
                <a:ea typeface="Inter" pitchFamily="34" charset="-122"/>
                <a:cs typeface="Inter" pitchFamily="34" charset="-120"/>
              </a:rPr>
              <a:t>The accuracy from this matrix is calculated by taking the average of values in the main diagonal: Accuracy = (True Positive + True Negative) / Total Sample = (100 + 50) / 165 = 0.91</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865703"/>
            <a:ext cx="9940409"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Four Key Terms of Confusion Matrix</a:t>
            </a:r>
            <a:endParaRPr lang="en-US" sz="4450" dirty="0"/>
          </a:p>
        </p:txBody>
      </p:sp>
      <p:sp>
        <p:nvSpPr>
          <p:cNvPr id="3" name="Text 1"/>
          <p:cNvSpPr/>
          <p:nvPr/>
        </p:nvSpPr>
        <p:spPr>
          <a:xfrm>
            <a:off x="1662113" y="2332911"/>
            <a:ext cx="2835235" cy="354330"/>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True Positives (TP)</a:t>
            </a:r>
            <a:endParaRPr lang="en-US" sz="2200" dirty="0"/>
          </a:p>
        </p:txBody>
      </p:sp>
      <p:sp>
        <p:nvSpPr>
          <p:cNvPr id="4" name="Text 2"/>
          <p:cNvSpPr/>
          <p:nvPr/>
        </p:nvSpPr>
        <p:spPr>
          <a:xfrm>
            <a:off x="793790" y="2823329"/>
            <a:ext cx="3703558" cy="1088708"/>
          </a:xfrm>
          <a:prstGeom prst="rect">
            <a:avLst/>
          </a:prstGeom>
          <a:noFill/>
          <a:ln/>
        </p:spPr>
        <p:txBody>
          <a:bodyPr wrap="square" lIns="0" tIns="0" rIns="0" bIns="0" rtlCol="0" anchor="t"/>
          <a:lstStyle/>
          <a:p>
            <a:pPr algn="r" indent="0" marL="0">
              <a:lnSpc>
                <a:spcPts val="2850"/>
              </a:lnSpc>
              <a:buNone/>
            </a:pPr>
            <a:r>
              <a:rPr lang="en-US" sz="1750" dirty="0">
                <a:solidFill>
                  <a:srgbClr val="000000"/>
                </a:solidFill>
                <a:latin typeface="Inter" pitchFamily="34" charset="0"/>
                <a:ea typeface="Inter" pitchFamily="34" charset="-122"/>
                <a:cs typeface="Inter" pitchFamily="34" charset="-120"/>
              </a:rPr>
              <a:t>Cases where we predicted Yes and the actual output was also Yes</a:t>
            </a:r>
            <a:endParaRPr lang="en-US" sz="1750" dirty="0"/>
          </a:p>
        </p:txBody>
      </p:sp>
      <p:pic>
        <p:nvPicPr>
          <p:cNvPr id="5" name="Image 0" descr="preencoded.png">    </p:cNvPr>
          <p:cNvPicPr>
            <a:picLocks noChangeAspect="1"/>
          </p:cNvPicPr>
          <p:nvPr/>
        </p:nvPicPr>
        <p:blipFill>
          <a:blip r:embed="rId1"/>
          <a:stretch>
            <a:fillRect/>
          </a:stretch>
        </p:blipFill>
        <p:spPr>
          <a:xfrm>
            <a:off x="4837509" y="2028111"/>
            <a:ext cx="4354711" cy="4354711"/>
          </a:xfrm>
          <a:prstGeom prst="rect">
            <a:avLst/>
          </a:prstGeom>
        </p:spPr>
      </p:pic>
      <p:sp>
        <p:nvSpPr>
          <p:cNvPr id="6" name="Text 3"/>
          <p:cNvSpPr/>
          <p:nvPr/>
        </p:nvSpPr>
        <p:spPr>
          <a:xfrm>
            <a:off x="5968722" y="2746296"/>
            <a:ext cx="339328" cy="424220"/>
          </a:xfrm>
          <a:prstGeom prst="rect">
            <a:avLst/>
          </a:prstGeom>
          <a:noFill/>
          <a:ln/>
        </p:spPr>
        <p:txBody>
          <a:bodyPr wrap="none" lIns="0" tIns="0" rIns="0" bIns="0" rtlCol="0" anchor="t"/>
          <a:lstStyle/>
          <a:p>
            <a:pPr indent="0" marL="0">
              <a:lnSpc>
                <a:spcPts val="4250"/>
              </a:lnSpc>
              <a:buNone/>
            </a:pPr>
            <a:r>
              <a:rPr lang="en-US" sz="2650" b="1" dirty="0">
                <a:solidFill>
                  <a:srgbClr val="000000"/>
                </a:solidFill>
                <a:latin typeface="Inter Bold" pitchFamily="34" charset="0"/>
                <a:ea typeface="Inter Bold" pitchFamily="34" charset="-122"/>
                <a:cs typeface="Inter Bold" pitchFamily="34" charset="-120"/>
              </a:rPr>
              <a:t>1</a:t>
            </a:r>
            <a:endParaRPr lang="en-US" sz="2650" dirty="0"/>
          </a:p>
        </p:txBody>
      </p:sp>
      <p:sp>
        <p:nvSpPr>
          <p:cNvPr id="7" name="Text 4"/>
          <p:cNvSpPr/>
          <p:nvPr/>
        </p:nvSpPr>
        <p:spPr>
          <a:xfrm>
            <a:off x="9532382" y="251436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True Negatives (TN)</a:t>
            </a:r>
            <a:endParaRPr lang="en-US" sz="2200" dirty="0"/>
          </a:p>
        </p:txBody>
      </p:sp>
      <p:sp>
        <p:nvSpPr>
          <p:cNvPr id="8" name="Text 5"/>
          <p:cNvSpPr/>
          <p:nvPr/>
        </p:nvSpPr>
        <p:spPr>
          <a:xfrm>
            <a:off x="9532382" y="3004780"/>
            <a:ext cx="3703677"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Cases where we predicted No and the actual output was also No</a:t>
            </a:r>
            <a:endParaRPr lang="en-US" sz="1750" dirty="0"/>
          </a:p>
        </p:txBody>
      </p:sp>
      <p:pic>
        <p:nvPicPr>
          <p:cNvPr id="9" name="Image 1" descr="preencoded.png">    </p:cNvPr>
          <p:cNvPicPr>
            <a:picLocks noChangeAspect="1"/>
          </p:cNvPicPr>
          <p:nvPr/>
        </p:nvPicPr>
        <p:blipFill>
          <a:blip r:embed="rId2"/>
          <a:stretch>
            <a:fillRect/>
          </a:stretch>
        </p:blipFill>
        <p:spPr>
          <a:xfrm>
            <a:off x="4837509" y="2028111"/>
            <a:ext cx="4354711" cy="4354711"/>
          </a:xfrm>
          <a:prstGeom prst="rect">
            <a:avLst/>
          </a:prstGeom>
        </p:spPr>
      </p:pic>
      <p:sp>
        <p:nvSpPr>
          <p:cNvPr id="10" name="Text 6"/>
          <p:cNvSpPr/>
          <p:nvPr/>
        </p:nvSpPr>
        <p:spPr>
          <a:xfrm>
            <a:off x="8092083" y="3116818"/>
            <a:ext cx="339328" cy="424220"/>
          </a:xfrm>
          <a:prstGeom prst="rect">
            <a:avLst/>
          </a:prstGeom>
          <a:noFill/>
          <a:ln/>
        </p:spPr>
        <p:txBody>
          <a:bodyPr wrap="none" lIns="0" tIns="0" rIns="0" bIns="0" rtlCol="0" anchor="t"/>
          <a:lstStyle/>
          <a:p>
            <a:pPr indent="0" marL="0">
              <a:lnSpc>
                <a:spcPts val="4250"/>
              </a:lnSpc>
              <a:buNone/>
            </a:pPr>
            <a:r>
              <a:rPr lang="en-US" sz="2650" b="1" dirty="0">
                <a:solidFill>
                  <a:srgbClr val="000000"/>
                </a:solidFill>
                <a:latin typeface="Inter Bold" pitchFamily="34" charset="0"/>
                <a:ea typeface="Inter Bold" pitchFamily="34" charset="-122"/>
                <a:cs typeface="Inter Bold" pitchFamily="34" charset="-120"/>
              </a:rPr>
              <a:t>2</a:t>
            </a:r>
            <a:endParaRPr lang="en-US" sz="2650" dirty="0"/>
          </a:p>
        </p:txBody>
      </p:sp>
      <p:sp>
        <p:nvSpPr>
          <p:cNvPr id="11" name="Text 7"/>
          <p:cNvSpPr/>
          <p:nvPr/>
        </p:nvSpPr>
        <p:spPr>
          <a:xfrm>
            <a:off x="9532382" y="486179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False Positives (FP)</a:t>
            </a:r>
            <a:endParaRPr lang="en-US" sz="2200" dirty="0"/>
          </a:p>
        </p:txBody>
      </p:sp>
      <p:sp>
        <p:nvSpPr>
          <p:cNvPr id="12" name="Text 8"/>
          <p:cNvSpPr/>
          <p:nvPr/>
        </p:nvSpPr>
        <p:spPr>
          <a:xfrm>
            <a:off x="9532382" y="5352217"/>
            <a:ext cx="3703677"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Cases where we predicted Yes but the actual output was No</a:t>
            </a:r>
            <a:endParaRPr lang="en-US" sz="1750" dirty="0"/>
          </a:p>
        </p:txBody>
      </p:sp>
      <p:pic>
        <p:nvPicPr>
          <p:cNvPr id="13" name="Image 2" descr="preencoded.png">    </p:cNvPr>
          <p:cNvPicPr>
            <a:picLocks noChangeAspect="1"/>
          </p:cNvPicPr>
          <p:nvPr/>
        </p:nvPicPr>
        <p:blipFill>
          <a:blip r:embed="rId3"/>
          <a:stretch>
            <a:fillRect/>
          </a:stretch>
        </p:blipFill>
        <p:spPr>
          <a:xfrm>
            <a:off x="4837509" y="2028111"/>
            <a:ext cx="4354711" cy="4354711"/>
          </a:xfrm>
          <a:prstGeom prst="rect">
            <a:avLst/>
          </a:prstGeom>
        </p:spPr>
      </p:pic>
      <p:sp>
        <p:nvSpPr>
          <p:cNvPr id="14" name="Text 9"/>
          <p:cNvSpPr/>
          <p:nvPr/>
        </p:nvSpPr>
        <p:spPr>
          <a:xfrm>
            <a:off x="7721560" y="5240179"/>
            <a:ext cx="339328" cy="424220"/>
          </a:xfrm>
          <a:prstGeom prst="rect">
            <a:avLst/>
          </a:prstGeom>
          <a:noFill/>
          <a:ln/>
        </p:spPr>
        <p:txBody>
          <a:bodyPr wrap="none" lIns="0" tIns="0" rIns="0" bIns="0" rtlCol="0" anchor="t"/>
          <a:lstStyle/>
          <a:p>
            <a:pPr indent="0" marL="0">
              <a:lnSpc>
                <a:spcPts val="4250"/>
              </a:lnSpc>
              <a:buNone/>
            </a:pPr>
            <a:r>
              <a:rPr lang="en-US" sz="2650" b="1" dirty="0">
                <a:solidFill>
                  <a:srgbClr val="000000"/>
                </a:solidFill>
                <a:latin typeface="Inter Bold" pitchFamily="34" charset="0"/>
                <a:ea typeface="Inter Bold" pitchFamily="34" charset="-122"/>
                <a:cs typeface="Inter Bold" pitchFamily="34" charset="-120"/>
              </a:rPr>
              <a:t>3</a:t>
            </a:r>
            <a:endParaRPr lang="en-US" sz="2650" dirty="0"/>
          </a:p>
        </p:txBody>
      </p:sp>
      <p:sp>
        <p:nvSpPr>
          <p:cNvPr id="15" name="Text 10"/>
          <p:cNvSpPr/>
          <p:nvPr/>
        </p:nvSpPr>
        <p:spPr>
          <a:xfrm>
            <a:off x="1625322" y="4861798"/>
            <a:ext cx="2872026" cy="354330"/>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False Negatives (FN)</a:t>
            </a:r>
            <a:endParaRPr lang="en-US" sz="2200" dirty="0"/>
          </a:p>
        </p:txBody>
      </p:sp>
      <p:sp>
        <p:nvSpPr>
          <p:cNvPr id="16" name="Text 11"/>
          <p:cNvSpPr/>
          <p:nvPr/>
        </p:nvSpPr>
        <p:spPr>
          <a:xfrm>
            <a:off x="793790" y="5352217"/>
            <a:ext cx="3703558" cy="725805"/>
          </a:xfrm>
          <a:prstGeom prst="rect">
            <a:avLst/>
          </a:prstGeom>
          <a:noFill/>
          <a:ln/>
        </p:spPr>
        <p:txBody>
          <a:bodyPr wrap="square" lIns="0" tIns="0" rIns="0" bIns="0" rtlCol="0" anchor="t"/>
          <a:lstStyle/>
          <a:p>
            <a:pPr algn="r" indent="0" marL="0">
              <a:lnSpc>
                <a:spcPts val="2850"/>
              </a:lnSpc>
              <a:buNone/>
            </a:pPr>
            <a:r>
              <a:rPr lang="en-US" sz="1750" dirty="0">
                <a:solidFill>
                  <a:srgbClr val="000000"/>
                </a:solidFill>
                <a:latin typeface="Inter" pitchFamily="34" charset="0"/>
                <a:ea typeface="Inter" pitchFamily="34" charset="-122"/>
                <a:cs typeface="Inter" pitchFamily="34" charset="-120"/>
              </a:rPr>
              <a:t>Cases where we predicted No but the actual output was Yes</a:t>
            </a:r>
            <a:endParaRPr lang="en-US" sz="1750" dirty="0"/>
          </a:p>
        </p:txBody>
      </p:sp>
      <p:pic>
        <p:nvPicPr>
          <p:cNvPr id="17" name="Image 3" descr="preencoded.png">    </p:cNvPr>
          <p:cNvPicPr>
            <a:picLocks noChangeAspect="1"/>
          </p:cNvPicPr>
          <p:nvPr/>
        </p:nvPicPr>
        <p:blipFill>
          <a:blip r:embed="rId4"/>
          <a:stretch>
            <a:fillRect/>
          </a:stretch>
        </p:blipFill>
        <p:spPr>
          <a:xfrm>
            <a:off x="4837509" y="2028111"/>
            <a:ext cx="4354711" cy="4354711"/>
          </a:xfrm>
          <a:prstGeom prst="rect">
            <a:avLst/>
          </a:prstGeom>
        </p:spPr>
      </p:pic>
      <p:sp>
        <p:nvSpPr>
          <p:cNvPr id="18" name="Text 12"/>
          <p:cNvSpPr/>
          <p:nvPr/>
        </p:nvSpPr>
        <p:spPr>
          <a:xfrm>
            <a:off x="5598200" y="4869656"/>
            <a:ext cx="339328" cy="424220"/>
          </a:xfrm>
          <a:prstGeom prst="rect">
            <a:avLst/>
          </a:prstGeom>
          <a:noFill/>
          <a:ln/>
        </p:spPr>
        <p:txBody>
          <a:bodyPr wrap="none" lIns="0" tIns="0" rIns="0" bIns="0" rtlCol="0" anchor="t"/>
          <a:lstStyle/>
          <a:p>
            <a:pPr indent="0" marL="0">
              <a:lnSpc>
                <a:spcPts val="4250"/>
              </a:lnSpc>
              <a:buNone/>
            </a:pPr>
            <a:r>
              <a:rPr lang="en-US" sz="2650" b="1" dirty="0">
                <a:solidFill>
                  <a:srgbClr val="000000"/>
                </a:solidFill>
                <a:latin typeface="Inter Bold" pitchFamily="34" charset="0"/>
                <a:ea typeface="Inter Bold" pitchFamily="34" charset="-122"/>
                <a:cs typeface="Inter Bold" pitchFamily="34" charset="-120"/>
              </a:rPr>
              <a:t>4</a:t>
            </a:r>
            <a:endParaRPr lang="en-US" sz="2650" dirty="0"/>
          </a:p>
        </p:txBody>
      </p:sp>
      <p:sp>
        <p:nvSpPr>
          <p:cNvPr id="19" name="Text 13"/>
          <p:cNvSpPr/>
          <p:nvPr/>
        </p:nvSpPr>
        <p:spPr>
          <a:xfrm>
            <a:off x="793790" y="6637973"/>
            <a:ext cx="12442269" cy="725805"/>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These four terms form the foundation of many evaluation metrics in classification. Understanding them is crucial for interpreting not just the confusion matrix, but also derived metrics like precision, recall, and F1 score.</a:t>
            </a:r>
            <a:endParaRPr lang="en-US" sz="1750" dirty="0"/>
          </a:p>
        </p:txBody>
      </p:sp>
      <p:pic>
        <p:nvPicPr>
          <p:cNvPr id="20" name="Image 4" descr="preencoded.png">    </p:cNvPr>
          <p:cNvPicPr>
            <a:picLocks noChangeAspect="1"/>
          </p:cNvPicPr>
          <p:nvPr/>
        </p:nvPicPr>
        <p:blipFill>
          <a:blip r:embed="rId5"/>
          <a:stretch>
            <a:fillRect/>
          </a:stretch>
        </p:blipFill>
        <p:spPr>
          <a:xfrm>
            <a:off x="13464778" y="228600"/>
            <a:ext cx="937022" cy="5028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1032034"/>
            <a:ext cx="11175683"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Regression Evaluation Metrics Overview</a:t>
            </a:r>
            <a:endParaRPr lang="en-US" sz="4450" dirty="0"/>
          </a:p>
        </p:txBody>
      </p:sp>
      <p:pic>
        <p:nvPicPr>
          <p:cNvPr id="3" name="Image 0" descr="preencoded.png">    </p:cNvPr>
          <p:cNvPicPr>
            <a:picLocks noChangeAspect="1"/>
          </p:cNvPicPr>
          <p:nvPr/>
        </p:nvPicPr>
        <p:blipFill>
          <a:blip r:embed="rId1"/>
          <a:stretch>
            <a:fillRect/>
          </a:stretch>
        </p:blipFill>
        <p:spPr>
          <a:xfrm>
            <a:off x="793790" y="2194441"/>
            <a:ext cx="3920609" cy="2423041"/>
          </a:xfrm>
          <a:prstGeom prst="rect">
            <a:avLst/>
          </a:prstGeom>
        </p:spPr>
      </p:pic>
      <p:sp>
        <p:nvSpPr>
          <p:cNvPr id="4" name="Text 1"/>
          <p:cNvSpPr/>
          <p:nvPr/>
        </p:nvSpPr>
        <p:spPr>
          <a:xfrm>
            <a:off x="793790" y="4900970"/>
            <a:ext cx="3777258"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Mean Absolute Error (MAE)</a:t>
            </a:r>
            <a:endParaRPr lang="en-US" sz="2200" dirty="0"/>
          </a:p>
        </p:txBody>
      </p:sp>
      <p:sp>
        <p:nvSpPr>
          <p:cNvPr id="5" name="Text 2"/>
          <p:cNvSpPr/>
          <p:nvPr/>
        </p:nvSpPr>
        <p:spPr>
          <a:xfrm>
            <a:off x="793790" y="5391388"/>
            <a:ext cx="3920609"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Average of absolute differences between predicted and actual values, giving equal weight to all errors regardless of magnitude.</a:t>
            </a:r>
            <a:endParaRPr lang="en-US" sz="1750" dirty="0"/>
          </a:p>
        </p:txBody>
      </p:sp>
      <p:pic>
        <p:nvPicPr>
          <p:cNvPr id="6" name="Image 1" descr="preencoded.png">    </p:cNvPr>
          <p:cNvPicPr>
            <a:picLocks noChangeAspect="1"/>
          </p:cNvPicPr>
          <p:nvPr/>
        </p:nvPicPr>
        <p:blipFill>
          <a:blip r:embed="rId2"/>
          <a:stretch>
            <a:fillRect/>
          </a:stretch>
        </p:blipFill>
        <p:spPr>
          <a:xfrm>
            <a:off x="5054560" y="2194441"/>
            <a:ext cx="3920609" cy="2423041"/>
          </a:xfrm>
          <a:prstGeom prst="rect">
            <a:avLst/>
          </a:prstGeom>
        </p:spPr>
      </p:pic>
      <p:sp>
        <p:nvSpPr>
          <p:cNvPr id="7" name="Text 3"/>
          <p:cNvSpPr/>
          <p:nvPr/>
        </p:nvSpPr>
        <p:spPr>
          <a:xfrm>
            <a:off x="5054560" y="4900970"/>
            <a:ext cx="3666530"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Mean Squared Error (MSE)</a:t>
            </a:r>
            <a:endParaRPr lang="en-US" sz="2200" dirty="0"/>
          </a:p>
        </p:txBody>
      </p:sp>
      <p:sp>
        <p:nvSpPr>
          <p:cNvPr id="8" name="Text 4"/>
          <p:cNvSpPr/>
          <p:nvPr/>
        </p:nvSpPr>
        <p:spPr>
          <a:xfrm>
            <a:off x="5054560" y="5391388"/>
            <a:ext cx="3920609"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Average of squared differences between predicted and actual values, giving higher weight to larger errors.</a:t>
            </a:r>
            <a:endParaRPr lang="en-US" sz="1750" dirty="0"/>
          </a:p>
        </p:txBody>
      </p:sp>
      <p:pic>
        <p:nvPicPr>
          <p:cNvPr id="9" name="Image 2" descr="preencoded.png">    </p:cNvPr>
          <p:cNvPicPr>
            <a:picLocks noChangeAspect="1"/>
          </p:cNvPicPr>
          <p:nvPr/>
        </p:nvPicPr>
        <p:blipFill>
          <a:blip r:embed="rId3"/>
          <a:stretch>
            <a:fillRect/>
          </a:stretch>
        </p:blipFill>
        <p:spPr>
          <a:xfrm>
            <a:off x="9315331" y="2194441"/>
            <a:ext cx="3920728" cy="2423160"/>
          </a:xfrm>
          <a:prstGeom prst="rect">
            <a:avLst/>
          </a:prstGeom>
        </p:spPr>
      </p:pic>
      <p:sp>
        <p:nvSpPr>
          <p:cNvPr id="10" name="Text 5"/>
          <p:cNvSpPr/>
          <p:nvPr/>
        </p:nvSpPr>
        <p:spPr>
          <a:xfrm>
            <a:off x="9315331" y="4901089"/>
            <a:ext cx="3920728" cy="708660"/>
          </a:xfrm>
          <a:prstGeom prst="rect">
            <a:avLst/>
          </a:prstGeom>
          <a:noFill/>
          <a:ln/>
        </p:spPr>
        <p:txBody>
          <a:bodyPr wrap="squar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Root Mean Square Error (RMSE)</a:t>
            </a:r>
            <a:endParaRPr lang="en-US" sz="2200" dirty="0"/>
          </a:p>
        </p:txBody>
      </p:sp>
      <p:sp>
        <p:nvSpPr>
          <p:cNvPr id="11" name="Text 6"/>
          <p:cNvSpPr/>
          <p:nvPr/>
        </p:nvSpPr>
        <p:spPr>
          <a:xfrm>
            <a:off x="9315331" y="5745837"/>
            <a:ext cx="3920728"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Square root of MSE, bringing the units back to the same scale as the target variable for easier interpretation.</a:t>
            </a:r>
            <a:endParaRPr lang="en-US" sz="1750" dirty="0"/>
          </a:p>
        </p:txBody>
      </p:sp>
      <p:pic>
        <p:nvPicPr>
          <p:cNvPr id="12" name="Image 3" descr="preencoded.png">    </p:cNvPr>
          <p:cNvPicPr>
            <a:picLocks noChangeAspect="1"/>
          </p:cNvPicPr>
          <p:nvPr/>
        </p:nvPicPr>
        <p:blipFill>
          <a:blip r:embed="rId4"/>
          <a:stretch>
            <a:fillRect/>
          </a:stretch>
        </p:blipFill>
        <p:spPr>
          <a:xfrm>
            <a:off x="13464778" y="228600"/>
            <a:ext cx="937022" cy="50280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22233" y="567452"/>
            <a:ext cx="6293644" cy="644843"/>
          </a:xfrm>
          <a:prstGeom prst="rect">
            <a:avLst/>
          </a:prstGeom>
          <a:noFill/>
          <a:ln/>
        </p:spPr>
        <p:txBody>
          <a:bodyPr wrap="none" lIns="0" tIns="0" rIns="0" bIns="0" rtlCol="0" anchor="t"/>
          <a:lstStyle/>
          <a:p>
            <a:pPr indent="0" marL="0">
              <a:lnSpc>
                <a:spcPts val="5050"/>
              </a:lnSpc>
              <a:buNone/>
            </a:pPr>
            <a:r>
              <a:rPr lang="en-US" sz="4050" b="1" dirty="0">
                <a:solidFill>
                  <a:srgbClr val="000000"/>
                </a:solidFill>
                <a:latin typeface="Inter Bold" pitchFamily="34" charset="0"/>
                <a:ea typeface="Inter Bold" pitchFamily="34" charset="-122"/>
                <a:cs typeface="Inter Bold" pitchFamily="34" charset="-120"/>
              </a:rPr>
              <a:t>More Regression Metrics</a:t>
            </a:r>
            <a:endParaRPr lang="en-US" sz="4050" dirty="0"/>
          </a:p>
        </p:txBody>
      </p:sp>
      <p:pic>
        <p:nvPicPr>
          <p:cNvPr id="3" name="Image 0" descr="preencoded.png">    </p:cNvPr>
          <p:cNvPicPr>
            <a:picLocks noChangeAspect="1"/>
          </p:cNvPicPr>
          <p:nvPr/>
        </p:nvPicPr>
        <p:blipFill>
          <a:blip r:embed="rId1"/>
          <a:stretch>
            <a:fillRect/>
          </a:stretch>
        </p:blipFill>
        <p:spPr>
          <a:xfrm>
            <a:off x="729853" y="1758553"/>
            <a:ext cx="4056102" cy="4056102"/>
          </a:xfrm>
          <a:prstGeom prst="rect">
            <a:avLst/>
          </a:prstGeom>
        </p:spPr>
      </p:pic>
      <p:pic>
        <p:nvPicPr>
          <p:cNvPr id="4" name="Image 1" descr="preencoded.png">    </p:cNvPr>
          <p:cNvPicPr>
            <a:picLocks noChangeAspect="1"/>
          </p:cNvPicPr>
          <p:nvPr/>
        </p:nvPicPr>
        <p:blipFill>
          <a:blip r:embed="rId2"/>
          <a:stretch>
            <a:fillRect/>
          </a:stretch>
        </p:blipFill>
        <p:spPr>
          <a:xfrm>
            <a:off x="4950976" y="1758553"/>
            <a:ext cx="4056221" cy="4056221"/>
          </a:xfrm>
          <a:prstGeom prst="rect">
            <a:avLst/>
          </a:prstGeom>
        </p:spPr>
      </p:pic>
      <p:pic>
        <p:nvPicPr>
          <p:cNvPr id="5" name="Image 2" descr="preencoded.png">    </p:cNvPr>
          <p:cNvPicPr>
            <a:picLocks noChangeAspect="1"/>
          </p:cNvPicPr>
          <p:nvPr/>
        </p:nvPicPr>
        <p:blipFill>
          <a:blip r:embed="rId3"/>
          <a:stretch>
            <a:fillRect/>
          </a:stretch>
        </p:blipFill>
        <p:spPr>
          <a:xfrm>
            <a:off x="9172218" y="1758553"/>
            <a:ext cx="4056221" cy="4056221"/>
          </a:xfrm>
          <a:prstGeom prst="rect">
            <a:avLst/>
          </a:prstGeom>
        </p:spPr>
      </p:pic>
      <p:sp>
        <p:nvSpPr>
          <p:cNvPr id="6" name="Text 1"/>
          <p:cNvSpPr/>
          <p:nvPr/>
        </p:nvSpPr>
        <p:spPr>
          <a:xfrm>
            <a:off x="722233" y="6180534"/>
            <a:ext cx="12513826" cy="990124"/>
          </a:xfrm>
          <a:prstGeom prst="rect">
            <a:avLst/>
          </a:prstGeom>
          <a:noFill/>
          <a:ln/>
        </p:spPr>
        <p:txBody>
          <a:bodyPr wrap="square" lIns="0" tIns="0" rIns="0" bIns="0" rtlCol="0" anchor="t"/>
          <a:lstStyle/>
          <a:p>
            <a:pPr indent="0" marL="0">
              <a:lnSpc>
                <a:spcPts val="2600"/>
              </a:lnSpc>
              <a:buNone/>
            </a:pPr>
            <a:r>
              <a:rPr lang="en-US" sz="1600" dirty="0">
                <a:solidFill>
                  <a:srgbClr val="000000"/>
                </a:solidFill>
                <a:latin typeface="Inter" pitchFamily="34" charset="0"/>
                <a:ea typeface="Inter" pitchFamily="34" charset="-122"/>
                <a:cs typeface="Inter" pitchFamily="34" charset="-120"/>
              </a:rPr>
              <a:t>Beyond MAE, MSE, and RMSE, there are additional important regression metrics. Root Mean Squared Logarithmic Error (RMSLE) is particularly useful when the target variable spans a wide range of values and we want to penalize underestimation more than overestimation.</a:t>
            </a:r>
            <a:endParaRPr lang="en-US" sz="1600" dirty="0"/>
          </a:p>
        </p:txBody>
      </p:sp>
      <p:sp>
        <p:nvSpPr>
          <p:cNvPr id="7" name="Text 2"/>
          <p:cNvSpPr/>
          <p:nvPr/>
        </p:nvSpPr>
        <p:spPr>
          <a:xfrm>
            <a:off x="722233" y="7402830"/>
            <a:ext cx="12513826" cy="660083"/>
          </a:xfrm>
          <a:prstGeom prst="rect">
            <a:avLst/>
          </a:prstGeom>
          <a:noFill/>
          <a:ln/>
        </p:spPr>
        <p:txBody>
          <a:bodyPr wrap="square" lIns="0" tIns="0" rIns="0" bIns="0" rtlCol="0" anchor="t"/>
          <a:lstStyle/>
          <a:p>
            <a:pPr indent="0" marL="0">
              <a:lnSpc>
                <a:spcPts val="2600"/>
              </a:lnSpc>
              <a:buNone/>
            </a:pPr>
            <a:r>
              <a:rPr lang="en-US" sz="1600" dirty="0">
                <a:solidFill>
                  <a:srgbClr val="000000"/>
                </a:solidFill>
                <a:latin typeface="Inter" pitchFamily="34" charset="0"/>
                <a:ea typeface="Inter" pitchFamily="34" charset="-122"/>
                <a:cs typeface="Inter" pitchFamily="34" charset="-120"/>
              </a:rPr>
              <a:t>The R² Score or coefficient of determination indicates the proportion of variance in the dependent variable that can be predicted from the independent variables. It ranges from 0 to 1, with higher values indicating better fit.</a:t>
            </a:r>
            <a:endParaRPr lang="en-US" sz="1600" dirty="0"/>
          </a:p>
        </p:txBody>
      </p:sp>
      <p:pic>
        <p:nvPicPr>
          <p:cNvPr id="8" name="Image 3" descr="preencoded.png">    </p:cNvPr>
          <p:cNvPicPr>
            <a:picLocks noChangeAspect="1"/>
          </p:cNvPicPr>
          <p:nvPr/>
        </p:nvPicPr>
        <p:blipFill>
          <a:blip r:embed="rId4"/>
          <a:stretch>
            <a:fillRect/>
          </a:stretch>
        </p:blipFill>
        <p:spPr>
          <a:xfrm>
            <a:off x="13464778" y="228600"/>
            <a:ext cx="937022" cy="50280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09748" y="811530"/>
            <a:ext cx="4954905" cy="6606540"/>
          </a:xfrm>
          <a:prstGeom prst="rect">
            <a:avLst/>
          </a:prstGeom>
        </p:spPr>
      </p:pic>
      <p:sp>
        <p:nvSpPr>
          <p:cNvPr id="4" name="Text 0"/>
          <p:cNvSpPr/>
          <p:nvPr/>
        </p:nvSpPr>
        <p:spPr>
          <a:xfrm>
            <a:off x="744260" y="1085612"/>
            <a:ext cx="7084695" cy="664488"/>
          </a:xfrm>
          <a:prstGeom prst="rect">
            <a:avLst/>
          </a:prstGeom>
          <a:noFill/>
          <a:ln/>
        </p:spPr>
        <p:txBody>
          <a:bodyPr wrap="none" lIns="0" tIns="0" rIns="0" bIns="0" rtlCol="0" anchor="t"/>
          <a:lstStyle/>
          <a:p>
            <a:pPr indent="0" marL="0">
              <a:lnSpc>
                <a:spcPts val="5200"/>
              </a:lnSpc>
              <a:buNone/>
            </a:pPr>
            <a:r>
              <a:rPr lang="en-US" sz="4150" b="1" dirty="0">
                <a:solidFill>
                  <a:srgbClr val="000000"/>
                </a:solidFill>
                <a:latin typeface="Inter Bold" pitchFamily="34" charset="0"/>
                <a:ea typeface="Inter Bold" pitchFamily="34" charset="-122"/>
                <a:cs typeface="Inter Bold" pitchFamily="34" charset="-120"/>
              </a:rPr>
              <a:t>Mean Absolute Error (MAE)</a:t>
            </a:r>
            <a:endParaRPr lang="en-US" sz="4150" dirty="0"/>
          </a:p>
        </p:txBody>
      </p:sp>
      <p:sp>
        <p:nvSpPr>
          <p:cNvPr id="5" name="Shape 1"/>
          <p:cNvSpPr/>
          <p:nvPr/>
        </p:nvSpPr>
        <p:spPr>
          <a:xfrm>
            <a:off x="744260" y="2069068"/>
            <a:ext cx="3721418" cy="2941320"/>
          </a:xfrm>
          <a:prstGeom prst="roundRect">
            <a:avLst>
              <a:gd name="adj" fmla="val 3037"/>
            </a:avLst>
          </a:prstGeom>
          <a:solidFill>
            <a:srgbClr val="F7D5D4"/>
          </a:solidFill>
          <a:ln w="7620">
            <a:solidFill>
              <a:srgbClr val="DDBBBA"/>
            </a:solidFill>
            <a:prstDash val="solid"/>
          </a:ln>
        </p:spPr>
      </p:sp>
      <p:sp>
        <p:nvSpPr>
          <p:cNvPr id="6" name="Text 2"/>
          <p:cNvSpPr/>
          <p:nvPr/>
        </p:nvSpPr>
        <p:spPr>
          <a:xfrm>
            <a:off x="964525" y="2289334"/>
            <a:ext cx="2658070" cy="332303"/>
          </a:xfrm>
          <a:prstGeom prst="rect">
            <a:avLst/>
          </a:prstGeom>
          <a:noFill/>
          <a:ln/>
        </p:spPr>
        <p:txBody>
          <a:bodyPr wrap="none" lIns="0" tIns="0" rIns="0" bIns="0" rtlCol="0" anchor="t"/>
          <a:lstStyle/>
          <a:p>
            <a:pPr indent="0" marL="0">
              <a:lnSpc>
                <a:spcPts val="2600"/>
              </a:lnSpc>
              <a:buNone/>
            </a:pPr>
            <a:r>
              <a:rPr lang="en-US" sz="2050" b="1" dirty="0">
                <a:solidFill>
                  <a:srgbClr val="000000"/>
                </a:solidFill>
                <a:latin typeface="Inter Bold" pitchFamily="34" charset="0"/>
                <a:ea typeface="Inter Bold" pitchFamily="34" charset="-122"/>
                <a:cs typeface="Inter Bold" pitchFamily="34" charset="-120"/>
              </a:rPr>
              <a:t>Definition</a:t>
            </a:r>
            <a:endParaRPr lang="en-US" sz="2050" dirty="0"/>
          </a:p>
        </p:txBody>
      </p:sp>
      <p:sp>
        <p:nvSpPr>
          <p:cNvPr id="7" name="Text 3"/>
          <p:cNvSpPr/>
          <p:nvPr/>
        </p:nvSpPr>
        <p:spPr>
          <a:xfrm>
            <a:off x="964525" y="2749153"/>
            <a:ext cx="3280886" cy="2040969"/>
          </a:xfrm>
          <a:prstGeom prst="rect">
            <a:avLst/>
          </a:prstGeom>
          <a:noFill/>
          <a:ln/>
        </p:spPr>
        <p:txBody>
          <a:bodyPr wrap="square" lIns="0" tIns="0" rIns="0" bIns="0" rtlCol="0" anchor="t"/>
          <a:lstStyle/>
          <a:p>
            <a:pPr indent="0" marL="0">
              <a:lnSpc>
                <a:spcPts val="2650"/>
              </a:lnSpc>
              <a:buNone/>
            </a:pPr>
            <a:r>
              <a:rPr lang="en-US" sz="1650" dirty="0">
                <a:solidFill>
                  <a:srgbClr val="000000"/>
                </a:solidFill>
                <a:latin typeface="Inter" pitchFamily="34" charset="0"/>
                <a:ea typeface="Inter" pitchFamily="34" charset="-122"/>
                <a:cs typeface="Inter" pitchFamily="34" charset="-120"/>
              </a:rPr>
              <a:t>MAE measures the average magnitude of errors in a set of predictions, without considering their direction. It's the average of absolute differences between predicted and actual values.</a:t>
            </a:r>
            <a:endParaRPr lang="en-US" sz="1650" dirty="0"/>
          </a:p>
        </p:txBody>
      </p:sp>
      <p:sp>
        <p:nvSpPr>
          <p:cNvPr id="8" name="Shape 4"/>
          <p:cNvSpPr/>
          <p:nvPr/>
        </p:nvSpPr>
        <p:spPr>
          <a:xfrm>
            <a:off x="4678323" y="2069068"/>
            <a:ext cx="3721418" cy="2941320"/>
          </a:xfrm>
          <a:prstGeom prst="roundRect">
            <a:avLst>
              <a:gd name="adj" fmla="val 3037"/>
            </a:avLst>
          </a:prstGeom>
          <a:solidFill>
            <a:srgbClr val="F7D5D4"/>
          </a:solidFill>
          <a:ln w="7620">
            <a:solidFill>
              <a:srgbClr val="DDBBBA"/>
            </a:solidFill>
            <a:prstDash val="solid"/>
          </a:ln>
        </p:spPr>
      </p:sp>
      <p:sp>
        <p:nvSpPr>
          <p:cNvPr id="9" name="Text 5"/>
          <p:cNvSpPr/>
          <p:nvPr/>
        </p:nvSpPr>
        <p:spPr>
          <a:xfrm>
            <a:off x="4898588" y="2289334"/>
            <a:ext cx="2658070" cy="332303"/>
          </a:xfrm>
          <a:prstGeom prst="rect">
            <a:avLst/>
          </a:prstGeom>
          <a:noFill/>
          <a:ln/>
        </p:spPr>
        <p:txBody>
          <a:bodyPr wrap="none" lIns="0" tIns="0" rIns="0" bIns="0" rtlCol="0" anchor="t"/>
          <a:lstStyle/>
          <a:p>
            <a:pPr indent="0" marL="0">
              <a:lnSpc>
                <a:spcPts val="2600"/>
              </a:lnSpc>
              <a:buNone/>
            </a:pPr>
            <a:r>
              <a:rPr lang="en-US" sz="2050" b="1" dirty="0">
                <a:solidFill>
                  <a:srgbClr val="000000"/>
                </a:solidFill>
                <a:latin typeface="Inter Bold" pitchFamily="34" charset="0"/>
                <a:ea typeface="Inter Bold" pitchFamily="34" charset="-122"/>
                <a:cs typeface="Inter Bold" pitchFamily="34" charset="-120"/>
              </a:rPr>
              <a:t>Formula</a:t>
            </a:r>
            <a:endParaRPr lang="en-US" sz="2050" dirty="0"/>
          </a:p>
        </p:txBody>
      </p:sp>
      <p:sp>
        <p:nvSpPr>
          <p:cNvPr id="10" name="Text 6"/>
          <p:cNvSpPr/>
          <p:nvPr/>
        </p:nvSpPr>
        <p:spPr>
          <a:xfrm>
            <a:off x="4898588" y="2749153"/>
            <a:ext cx="3280886" cy="340162"/>
          </a:xfrm>
          <a:prstGeom prst="rect">
            <a:avLst/>
          </a:prstGeom>
          <a:noFill/>
          <a:ln/>
        </p:spPr>
        <p:txBody>
          <a:bodyPr wrap="none" lIns="0" tIns="0" rIns="0" bIns="0" rtlCol="0" anchor="t"/>
          <a:lstStyle/>
          <a:p>
            <a:pPr indent="0" marL="0">
              <a:lnSpc>
                <a:spcPts val="2650"/>
              </a:lnSpc>
              <a:buNone/>
            </a:pPr>
            <a:r>
              <a:rPr lang="en-US" sz="1650" dirty="0">
                <a:solidFill>
                  <a:srgbClr val="000000"/>
                </a:solidFill>
                <a:latin typeface="Inter" pitchFamily="34" charset="0"/>
                <a:ea typeface="Inter" pitchFamily="34" charset="-122"/>
                <a:cs typeface="Inter" pitchFamily="34" charset="-120"/>
              </a:rPr>
              <a:t>MAE = (1/N) × ∑|yⱼ - ŷⱼ|</a:t>
            </a:r>
            <a:endParaRPr lang="en-US" sz="1650" dirty="0"/>
          </a:p>
        </p:txBody>
      </p:sp>
      <p:sp>
        <p:nvSpPr>
          <p:cNvPr id="11" name="Shape 7"/>
          <p:cNvSpPr/>
          <p:nvPr/>
        </p:nvSpPr>
        <p:spPr>
          <a:xfrm>
            <a:off x="744260" y="5223034"/>
            <a:ext cx="7655481" cy="1920835"/>
          </a:xfrm>
          <a:prstGeom prst="roundRect">
            <a:avLst>
              <a:gd name="adj" fmla="val 4650"/>
            </a:avLst>
          </a:prstGeom>
          <a:solidFill>
            <a:srgbClr val="F7D5D4"/>
          </a:solidFill>
          <a:ln w="7620">
            <a:solidFill>
              <a:srgbClr val="DDBBBA"/>
            </a:solidFill>
            <a:prstDash val="solid"/>
          </a:ln>
        </p:spPr>
      </p:sp>
      <p:sp>
        <p:nvSpPr>
          <p:cNvPr id="12" name="Text 8"/>
          <p:cNvSpPr/>
          <p:nvPr/>
        </p:nvSpPr>
        <p:spPr>
          <a:xfrm>
            <a:off x="964525" y="5443299"/>
            <a:ext cx="2658070" cy="332303"/>
          </a:xfrm>
          <a:prstGeom prst="rect">
            <a:avLst/>
          </a:prstGeom>
          <a:noFill/>
          <a:ln/>
        </p:spPr>
        <p:txBody>
          <a:bodyPr wrap="none" lIns="0" tIns="0" rIns="0" bIns="0" rtlCol="0" anchor="t"/>
          <a:lstStyle/>
          <a:p>
            <a:pPr indent="0" marL="0">
              <a:lnSpc>
                <a:spcPts val="2600"/>
              </a:lnSpc>
              <a:buNone/>
            </a:pPr>
            <a:r>
              <a:rPr lang="en-US" sz="2050" b="1" dirty="0">
                <a:solidFill>
                  <a:srgbClr val="000000"/>
                </a:solidFill>
                <a:latin typeface="Inter Bold" pitchFamily="34" charset="0"/>
                <a:ea typeface="Inter Bold" pitchFamily="34" charset="-122"/>
                <a:cs typeface="Inter Bold" pitchFamily="34" charset="-120"/>
              </a:rPr>
              <a:t>Characteristics</a:t>
            </a:r>
            <a:endParaRPr lang="en-US" sz="2050" dirty="0"/>
          </a:p>
        </p:txBody>
      </p:sp>
      <p:sp>
        <p:nvSpPr>
          <p:cNvPr id="13" name="Text 9"/>
          <p:cNvSpPr/>
          <p:nvPr/>
        </p:nvSpPr>
        <p:spPr>
          <a:xfrm>
            <a:off x="964525" y="5903119"/>
            <a:ext cx="7214949" cy="1020485"/>
          </a:xfrm>
          <a:prstGeom prst="rect">
            <a:avLst/>
          </a:prstGeom>
          <a:noFill/>
          <a:ln/>
        </p:spPr>
        <p:txBody>
          <a:bodyPr wrap="square" lIns="0" tIns="0" rIns="0" bIns="0" rtlCol="0" anchor="t"/>
          <a:lstStyle/>
          <a:p>
            <a:pPr indent="0" marL="0">
              <a:lnSpc>
                <a:spcPts val="2650"/>
              </a:lnSpc>
              <a:buNone/>
            </a:pPr>
            <a:r>
              <a:rPr lang="en-US" sz="1650" dirty="0">
                <a:solidFill>
                  <a:srgbClr val="000000"/>
                </a:solidFill>
                <a:latin typeface="Inter" pitchFamily="34" charset="0"/>
                <a:ea typeface="Inter" pitchFamily="34" charset="-122"/>
                <a:cs typeface="Inter" pitchFamily="34" charset="-120"/>
              </a:rPr>
              <a:t>MAE is robust to outliers and easy to interpret as it's in the same units as the target variable. However, it doesn't give any indication of error direction (under or over-prediction).</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253127" y="794742"/>
            <a:ext cx="4980027" cy="6640116"/>
          </a:xfrm>
          <a:prstGeom prst="rect">
            <a:avLst/>
          </a:prstGeom>
        </p:spPr>
      </p:pic>
      <p:sp>
        <p:nvSpPr>
          <p:cNvPr id="4" name="Text 0"/>
          <p:cNvSpPr/>
          <p:nvPr/>
        </p:nvSpPr>
        <p:spPr>
          <a:xfrm>
            <a:off x="6195060" y="935950"/>
            <a:ext cx="6548914" cy="632817"/>
          </a:xfrm>
          <a:prstGeom prst="rect">
            <a:avLst/>
          </a:prstGeom>
          <a:noFill/>
          <a:ln/>
        </p:spPr>
        <p:txBody>
          <a:bodyPr wrap="none" lIns="0" tIns="0" rIns="0" bIns="0" rtlCol="0" anchor="t"/>
          <a:lstStyle/>
          <a:p>
            <a:pPr indent="0" marL="0">
              <a:lnSpc>
                <a:spcPts val="4950"/>
              </a:lnSpc>
              <a:buNone/>
            </a:pPr>
            <a:r>
              <a:rPr lang="en-US" sz="3950" b="1" dirty="0">
                <a:solidFill>
                  <a:srgbClr val="000000"/>
                </a:solidFill>
                <a:latin typeface="Inter Bold" pitchFamily="34" charset="0"/>
                <a:ea typeface="Inter Bold" pitchFamily="34" charset="-122"/>
                <a:cs typeface="Inter Bold" pitchFamily="34" charset="-120"/>
              </a:rPr>
              <a:t>Mean Squared Error (MSE)</a:t>
            </a:r>
            <a:endParaRPr lang="en-US" sz="3950" dirty="0"/>
          </a:p>
        </p:txBody>
      </p:sp>
      <p:sp>
        <p:nvSpPr>
          <p:cNvPr id="5" name="Shape 1"/>
          <p:cNvSpPr/>
          <p:nvPr/>
        </p:nvSpPr>
        <p:spPr>
          <a:xfrm>
            <a:off x="6195060" y="2100263"/>
            <a:ext cx="455533" cy="455533"/>
          </a:xfrm>
          <a:prstGeom prst="roundRect">
            <a:avLst>
              <a:gd name="adj" fmla="val 18671"/>
            </a:avLst>
          </a:prstGeom>
          <a:solidFill>
            <a:srgbClr val="F7D5D4"/>
          </a:solidFill>
          <a:ln w="7620">
            <a:solidFill>
              <a:srgbClr val="DDBBBA"/>
            </a:solidFill>
            <a:prstDash val="solid"/>
          </a:ln>
        </p:spPr>
      </p:sp>
      <p:sp>
        <p:nvSpPr>
          <p:cNvPr id="6" name="Text 2"/>
          <p:cNvSpPr/>
          <p:nvPr/>
        </p:nvSpPr>
        <p:spPr>
          <a:xfrm>
            <a:off x="6270962" y="2138184"/>
            <a:ext cx="303728" cy="379690"/>
          </a:xfrm>
          <a:prstGeom prst="rect">
            <a:avLst/>
          </a:prstGeom>
          <a:noFill/>
          <a:ln/>
        </p:spPr>
        <p:txBody>
          <a:bodyPr wrap="none" lIns="0" tIns="0" rIns="0" bIns="0" rtlCol="0" anchor="t"/>
          <a:lstStyle/>
          <a:p>
            <a:pPr algn="ctr" indent="0" marL="0">
              <a:lnSpc>
                <a:spcPts val="2350"/>
              </a:lnSpc>
              <a:buNone/>
            </a:pPr>
            <a:r>
              <a:rPr lang="en-US" sz="2350" b="1" dirty="0">
                <a:solidFill>
                  <a:srgbClr val="000000"/>
                </a:solidFill>
                <a:latin typeface="Inter Bold" pitchFamily="34" charset="0"/>
                <a:ea typeface="Inter Bold" pitchFamily="34" charset="-122"/>
                <a:cs typeface="Inter Bold" pitchFamily="34" charset="-120"/>
              </a:rPr>
              <a:t>1</a:t>
            </a:r>
            <a:endParaRPr lang="en-US" sz="2350" dirty="0"/>
          </a:p>
        </p:txBody>
      </p:sp>
      <p:sp>
        <p:nvSpPr>
          <p:cNvPr id="7" name="Text 3"/>
          <p:cNvSpPr/>
          <p:nvPr/>
        </p:nvSpPr>
        <p:spPr>
          <a:xfrm>
            <a:off x="6852999" y="2100263"/>
            <a:ext cx="2761417" cy="632698"/>
          </a:xfrm>
          <a:prstGeom prst="rect">
            <a:avLst/>
          </a:prstGeom>
          <a:noFill/>
          <a:ln/>
        </p:spPr>
        <p:txBody>
          <a:bodyPr wrap="square" lIns="0" tIns="0" rIns="0" bIns="0" rtlCol="0" anchor="t"/>
          <a:lstStyle/>
          <a:p>
            <a:pPr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Definition and Formula</a:t>
            </a:r>
            <a:endParaRPr lang="en-US" sz="1950" dirty="0"/>
          </a:p>
        </p:txBody>
      </p:sp>
      <p:sp>
        <p:nvSpPr>
          <p:cNvPr id="8" name="Text 4"/>
          <p:cNvSpPr/>
          <p:nvPr/>
        </p:nvSpPr>
        <p:spPr>
          <a:xfrm>
            <a:off x="6852999" y="2854404"/>
            <a:ext cx="2761417" cy="1943814"/>
          </a:xfrm>
          <a:prstGeom prst="rect">
            <a:avLst/>
          </a:prstGeom>
          <a:noFill/>
          <a:ln/>
        </p:spPr>
        <p:txBody>
          <a:bodyPr wrap="square" lIns="0" tIns="0" rIns="0" bIns="0" rtlCol="0" anchor="t"/>
          <a:lstStyle/>
          <a:p>
            <a:pPr indent="0" marL="0">
              <a:lnSpc>
                <a:spcPts val="2550"/>
              </a:lnSpc>
              <a:buNone/>
            </a:pPr>
            <a:r>
              <a:rPr lang="en-US" sz="1550" dirty="0">
                <a:solidFill>
                  <a:srgbClr val="000000"/>
                </a:solidFill>
                <a:latin typeface="Inter" pitchFamily="34" charset="0"/>
                <a:ea typeface="Inter" pitchFamily="34" charset="-122"/>
                <a:cs typeface="Inter" pitchFamily="34" charset="-120"/>
              </a:rPr>
              <a:t>MSE calculates the average of squared differences between predicted and actual values. Mathematically: MSE = (1/N) × ∑(yⱼ - ŷⱼ)²</a:t>
            </a:r>
            <a:endParaRPr lang="en-US" sz="1550" dirty="0"/>
          </a:p>
        </p:txBody>
      </p:sp>
      <p:sp>
        <p:nvSpPr>
          <p:cNvPr id="9" name="Shape 5"/>
          <p:cNvSpPr/>
          <p:nvPr/>
        </p:nvSpPr>
        <p:spPr>
          <a:xfrm>
            <a:off x="9816822" y="2100263"/>
            <a:ext cx="455533" cy="455533"/>
          </a:xfrm>
          <a:prstGeom prst="roundRect">
            <a:avLst>
              <a:gd name="adj" fmla="val 18671"/>
            </a:avLst>
          </a:prstGeom>
          <a:solidFill>
            <a:srgbClr val="F7D5D4"/>
          </a:solidFill>
          <a:ln w="7620">
            <a:solidFill>
              <a:srgbClr val="DDBBBA"/>
            </a:solidFill>
            <a:prstDash val="solid"/>
          </a:ln>
        </p:spPr>
      </p:sp>
      <p:sp>
        <p:nvSpPr>
          <p:cNvPr id="10" name="Text 6"/>
          <p:cNvSpPr/>
          <p:nvPr/>
        </p:nvSpPr>
        <p:spPr>
          <a:xfrm>
            <a:off x="9892725" y="2138184"/>
            <a:ext cx="303728" cy="379690"/>
          </a:xfrm>
          <a:prstGeom prst="rect">
            <a:avLst/>
          </a:prstGeom>
          <a:noFill/>
          <a:ln/>
        </p:spPr>
        <p:txBody>
          <a:bodyPr wrap="none" lIns="0" tIns="0" rIns="0" bIns="0" rtlCol="0" anchor="t"/>
          <a:lstStyle/>
          <a:p>
            <a:pPr algn="ctr" indent="0" marL="0">
              <a:lnSpc>
                <a:spcPts val="2350"/>
              </a:lnSpc>
              <a:buNone/>
            </a:pPr>
            <a:r>
              <a:rPr lang="en-US" sz="2350" b="1" dirty="0">
                <a:solidFill>
                  <a:srgbClr val="000000"/>
                </a:solidFill>
                <a:latin typeface="Inter Bold" pitchFamily="34" charset="0"/>
                <a:ea typeface="Inter Bold" pitchFamily="34" charset="-122"/>
                <a:cs typeface="Inter Bold" pitchFamily="34" charset="-120"/>
              </a:rPr>
              <a:t>2</a:t>
            </a:r>
            <a:endParaRPr lang="en-US" sz="2350" dirty="0"/>
          </a:p>
        </p:txBody>
      </p:sp>
      <p:sp>
        <p:nvSpPr>
          <p:cNvPr id="11" name="Text 7"/>
          <p:cNvSpPr/>
          <p:nvPr/>
        </p:nvSpPr>
        <p:spPr>
          <a:xfrm>
            <a:off x="10474762" y="2100263"/>
            <a:ext cx="2531269" cy="316349"/>
          </a:xfrm>
          <a:prstGeom prst="rect">
            <a:avLst/>
          </a:prstGeom>
          <a:noFill/>
          <a:ln/>
        </p:spPr>
        <p:txBody>
          <a:bodyPr wrap="none" lIns="0" tIns="0" rIns="0" bIns="0" rtlCol="0" anchor="t"/>
          <a:lstStyle/>
          <a:p>
            <a:pPr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Advantages</a:t>
            </a:r>
            <a:endParaRPr lang="en-US" sz="1950" dirty="0"/>
          </a:p>
        </p:txBody>
      </p:sp>
      <p:sp>
        <p:nvSpPr>
          <p:cNvPr id="12" name="Text 8"/>
          <p:cNvSpPr/>
          <p:nvPr/>
        </p:nvSpPr>
        <p:spPr>
          <a:xfrm>
            <a:off x="10474762" y="2538055"/>
            <a:ext cx="2761417" cy="2915722"/>
          </a:xfrm>
          <a:prstGeom prst="rect">
            <a:avLst/>
          </a:prstGeom>
          <a:noFill/>
          <a:ln/>
        </p:spPr>
        <p:txBody>
          <a:bodyPr wrap="square" lIns="0" tIns="0" rIns="0" bIns="0" rtlCol="0" anchor="t"/>
          <a:lstStyle/>
          <a:p>
            <a:pPr indent="0" marL="0">
              <a:lnSpc>
                <a:spcPts val="2550"/>
              </a:lnSpc>
              <a:buNone/>
            </a:pPr>
            <a:r>
              <a:rPr lang="en-US" sz="1550" dirty="0">
                <a:solidFill>
                  <a:srgbClr val="000000"/>
                </a:solidFill>
                <a:latin typeface="Inter" pitchFamily="34" charset="0"/>
                <a:ea typeface="Inter" pitchFamily="34" charset="-122"/>
                <a:cs typeface="Inter" pitchFamily="34" charset="-120"/>
              </a:rPr>
              <a:t>The primary advantage of MSE is mathematical convenience - it's easier to calculate gradients compared to MAE, making it useful for optimization in many algorithms. By squaring errors, it gives more weight to larger errors.</a:t>
            </a:r>
            <a:endParaRPr lang="en-US" sz="1550" dirty="0"/>
          </a:p>
        </p:txBody>
      </p:sp>
      <p:sp>
        <p:nvSpPr>
          <p:cNvPr id="13" name="Shape 9"/>
          <p:cNvSpPr/>
          <p:nvPr/>
        </p:nvSpPr>
        <p:spPr>
          <a:xfrm>
            <a:off x="6195060" y="5883950"/>
            <a:ext cx="455533" cy="455533"/>
          </a:xfrm>
          <a:prstGeom prst="roundRect">
            <a:avLst>
              <a:gd name="adj" fmla="val 18671"/>
            </a:avLst>
          </a:prstGeom>
          <a:solidFill>
            <a:srgbClr val="F7D5D4"/>
          </a:solidFill>
          <a:ln w="7620">
            <a:solidFill>
              <a:srgbClr val="DDBBBA"/>
            </a:solidFill>
            <a:prstDash val="solid"/>
          </a:ln>
        </p:spPr>
      </p:sp>
      <p:sp>
        <p:nvSpPr>
          <p:cNvPr id="14" name="Text 10"/>
          <p:cNvSpPr/>
          <p:nvPr/>
        </p:nvSpPr>
        <p:spPr>
          <a:xfrm>
            <a:off x="6270962" y="5921871"/>
            <a:ext cx="303728" cy="379690"/>
          </a:xfrm>
          <a:prstGeom prst="rect">
            <a:avLst/>
          </a:prstGeom>
          <a:noFill/>
          <a:ln/>
        </p:spPr>
        <p:txBody>
          <a:bodyPr wrap="none" lIns="0" tIns="0" rIns="0" bIns="0" rtlCol="0" anchor="t"/>
          <a:lstStyle/>
          <a:p>
            <a:pPr algn="ctr" indent="0" marL="0">
              <a:lnSpc>
                <a:spcPts val="2350"/>
              </a:lnSpc>
              <a:buNone/>
            </a:pPr>
            <a:r>
              <a:rPr lang="en-US" sz="2350" b="1" dirty="0">
                <a:solidFill>
                  <a:srgbClr val="000000"/>
                </a:solidFill>
                <a:latin typeface="Inter Bold" pitchFamily="34" charset="0"/>
                <a:ea typeface="Inter Bold" pitchFamily="34" charset="-122"/>
                <a:cs typeface="Inter Bold" pitchFamily="34" charset="-120"/>
              </a:rPr>
              <a:t>3</a:t>
            </a:r>
            <a:endParaRPr lang="en-US" sz="2350" dirty="0"/>
          </a:p>
        </p:txBody>
      </p:sp>
      <p:sp>
        <p:nvSpPr>
          <p:cNvPr id="15" name="Text 11"/>
          <p:cNvSpPr/>
          <p:nvPr/>
        </p:nvSpPr>
        <p:spPr>
          <a:xfrm>
            <a:off x="6852999" y="5883950"/>
            <a:ext cx="2531269" cy="316349"/>
          </a:xfrm>
          <a:prstGeom prst="rect">
            <a:avLst/>
          </a:prstGeom>
          <a:noFill/>
          <a:ln/>
        </p:spPr>
        <p:txBody>
          <a:bodyPr wrap="none" lIns="0" tIns="0" rIns="0" bIns="0" rtlCol="0" anchor="t"/>
          <a:lstStyle/>
          <a:p>
            <a:pPr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Limitations</a:t>
            </a:r>
            <a:endParaRPr lang="en-US" sz="1950" dirty="0"/>
          </a:p>
        </p:txBody>
      </p:sp>
      <p:sp>
        <p:nvSpPr>
          <p:cNvPr id="16" name="Text 12"/>
          <p:cNvSpPr/>
          <p:nvPr/>
        </p:nvSpPr>
        <p:spPr>
          <a:xfrm>
            <a:off x="6852999" y="6321743"/>
            <a:ext cx="6383060" cy="971907"/>
          </a:xfrm>
          <a:prstGeom prst="rect">
            <a:avLst/>
          </a:prstGeom>
          <a:noFill/>
          <a:ln/>
        </p:spPr>
        <p:txBody>
          <a:bodyPr wrap="square" lIns="0" tIns="0" rIns="0" bIns="0" rtlCol="0" anchor="t"/>
          <a:lstStyle/>
          <a:p>
            <a:pPr indent="0" marL="0">
              <a:lnSpc>
                <a:spcPts val="2550"/>
              </a:lnSpc>
              <a:buNone/>
            </a:pPr>
            <a:r>
              <a:rPr lang="en-US" sz="1550" dirty="0">
                <a:solidFill>
                  <a:srgbClr val="000000"/>
                </a:solidFill>
                <a:latin typeface="Inter" pitchFamily="34" charset="0"/>
                <a:ea typeface="Inter" pitchFamily="34" charset="-122"/>
                <a:cs typeface="Inter" pitchFamily="34" charset="-120"/>
              </a:rPr>
              <a:t>MSE is more sensitive to outliers than MAE. Additionally, the resulting value is in squared units, making direct interpretation less intuitive than metrics that preserve the original units.</a:t>
            </a:r>
            <a:endParaRPr lang="en-US" sz="1550" dirty="0"/>
          </a:p>
        </p:txBody>
      </p:sp>
      <p:pic>
        <p:nvPicPr>
          <p:cNvPr id="17" name="Image 2" descr="preencoded.png">    </p:cNvPr>
          <p:cNvPicPr>
            <a:picLocks noChangeAspect="1"/>
          </p:cNvPicPr>
          <p:nvPr/>
        </p:nvPicPr>
        <p:blipFill>
          <a:blip r:embed="rId3"/>
          <a:stretch>
            <a:fillRect/>
          </a:stretch>
        </p:blipFill>
        <p:spPr>
          <a:xfrm>
            <a:off x="13464778" y="228600"/>
            <a:ext cx="937022" cy="50280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368671" y="756761"/>
            <a:ext cx="5037058" cy="6716078"/>
          </a:xfrm>
          <a:prstGeom prst="rect">
            <a:avLst/>
          </a:prstGeom>
        </p:spPr>
      </p:pic>
      <p:sp>
        <p:nvSpPr>
          <p:cNvPr id="4" name="Text 0"/>
          <p:cNvSpPr/>
          <p:nvPr/>
        </p:nvSpPr>
        <p:spPr>
          <a:xfrm>
            <a:off x="629126" y="639485"/>
            <a:ext cx="6937653" cy="561737"/>
          </a:xfrm>
          <a:prstGeom prst="rect">
            <a:avLst/>
          </a:prstGeom>
          <a:noFill/>
          <a:ln/>
        </p:spPr>
        <p:txBody>
          <a:bodyPr wrap="none" lIns="0" tIns="0" rIns="0" bIns="0" rtlCol="0" anchor="t"/>
          <a:lstStyle/>
          <a:p>
            <a:pPr indent="0" marL="0">
              <a:lnSpc>
                <a:spcPts val="4400"/>
              </a:lnSpc>
              <a:buNone/>
            </a:pPr>
            <a:r>
              <a:rPr lang="en-US" sz="3500" b="1" dirty="0">
                <a:solidFill>
                  <a:srgbClr val="000000"/>
                </a:solidFill>
                <a:latin typeface="Inter Bold" pitchFamily="34" charset="0"/>
                <a:ea typeface="Inter Bold" pitchFamily="34" charset="-122"/>
                <a:cs typeface="Inter Bold" pitchFamily="34" charset="-120"/>
              </a:rPr>
              <a:t>Root Mean Square Error (RMSE)</a:t>
            </a:r>
            <a:endParaRPr lang="en-US" sz="3500" dirty="0"/>
          </a:p>
        </p:txBody>
      </p:sp>
      <p:sp>
        <p:nvSpPr>
          <p:cNvPr id="5" name="Shape 1"/>
          <p:cNvSpPr/>
          <p:nvPr/>
        </p:nvSpPr>
        <p:spPr>
          <a:xfrm>
            <a:off x="831294" y="1470779"/>
            <a:ext cx="22860" cy="6119217"/>
          </a:xfrm>
          <a:prstGeom prst="roundRect">
            <a:avLst>
              <a:gd name="adj" fmla="val 330295"/>
            </a:avLst>
          </a:prstGeom>
          <a:solidFill>
            <a:srgbClr val="DDBBBA"/>
          </a:solidFill>
          <a:ln/>
        </p:spPr>
      </p:sp>
      <p:sp>
        <p:nvSpPr>
          <p:cNvPr id="6" name="Shape 2"/>
          <p:cNvSpPr/>
          <p:nvPr/>
        </p:nvSpPr>
        <p:spPr>
          <a:xfrm>
            <a:off x="1010662" y="1863685"/>
            <a:ext cx="539234" cy="22860"/>
          </a:xfrm>
          <a:prstGeom prst="roundRect">
            <a:avLst>
              <a:gd name="adj" fmla="val 330295"/>
            </a:avLst>
          </a:prstGeom>
          <a:solidFill>
            <a:srgbClr val="DDBBBA"/>
          </a:solidFill>
          <a:ln/>
        </p:spPr>
      </p:sp>
      <p:sp>
        <p:nvSpPr>
          <p:cNvPr id="7" name="Shape 3"/>
          <p:cNvSpPr/>
          <p:nvPr/>
        </p:nvSpPr>
        <p:spPr>
          <a:xfrm>
            <a:off x="629067" y="1672947"/>
            <a:ext cx="404455" cy="404455"/>
          </a:xfrm>
          <a:prstGeom prst="roundRect">
            <a:avLst>
              <a:gd name="adj" fmla="val 18668"/>
            </a:avLst>
          </a:prstGeom>
          <a:solidFill>
            <a:srgbClr val="F7D5D4"/>
          </a:solidFill>
          <a:ln w="7620">
            <a:solidFill>
              <a:srgbClr val="DDBBBA"/>
            </a:solidFill>
            <a:prstDash val="solid"/>
          </a:ln>
        </p:spPr>
      </p:sp>
      <p:sp>
        <p:nvSpPr>
          <p:cNvPr id="8" name="Text 4"/>
          <p:cNvSpPr/>
          <p:nvPr/>
        </p:nvSpPr>
        <p:spPr>
          <a:xfrm>
            <a:off x="696456" y="1706582"/>
            <a:ext cx="269558" cy="337066"/>
          </a:xfrm>
          <a:prstGeom prst="rect">
            <a:avLst/>
          </a:prstGeom>
          <a:noFill/>
          <a:ln/>
        </p:spPr>
        <p:txBody>
          <a:bodyPr wrap="none" lIns="0" tIns="0" rIns="0" bIns="0" rtlCol="0" anchor="t"/>
          <a:lstStyle/>
          <a:p>
            <a:pPr algn="ctr" indent="0" marL="0">
              <a:lnSpc>
                <a:spcPts val="2100"/>
              </a:lnSpc>
              <a:buNone/>
            </a:pPr>
            <a:r>
              <a:rPr lang="en-US" sz="2100" b="1" dirty="0">
                <a:solidFill>
                  <a:srgbClr val="000000"/>
                </a:solidFill>
                <a:latin typeface="Inter Bold" pitchFamily="34" charset="0"/>
                <a:ea typeface="Inter Bold" pitchFamily="34" charset="-122"/>
                <a:cs typeface="Inter Bold" pitchFamily="34" charset="-120"/>
              </a:rPr>
              <a:t>1</a:t>
            </a:r>
            <a:endParaRPr lang="en-US" sz="2100" dirty="0"/>
          </a:p>
        </p:txBody>
      </p:sp>
      <p:sp>
        <p:nvSpPr>
          <p:cNvPr id="9" name="Text 5"/>
          <p:cNvSpPr/>
          <p:nvPr/>
        </p:nvSpPr>
        <p:spPr>
          <a:xfrm>
            <a:off x="1730216" y="1650444"/>
            <a:ext cx="2247186" cy="280749"/>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Inter Bold" pitchFamily="34" charset="0"/>
                <a:ea typeface="Inter Bold" pitchFamily="34" charset="-122"/>
                <a:cs typeface="Inter Bold" pitchFamily="34" charset="-120"/>
              </a:rPr>
              <a:t>Definition</a:t>
            </a:r>
            <a:endParaRPr lang="en-US" sz="1750" dirty="0"/>
          </a:p>
        </p:txBody>
      </p:sp>
      <p:sp>
        <p:nvSpPr>
          <p:cNvPr id="10" name="Text 6"/>
          <p:cNvSpPr/>
          <p:nvPr/>
        </p:nvSpPr>
        <p:spPr>
          <a:xfrm>
            <a:off x="1730216" y="2038945"/>
            <a:ext cx="6784657" cy="862965"/>
          </a:xfrm>
          <a:prstGeom prst="rect">
            <a:avLst/>
          </a:prstGeom>
          <a:noFill/>
          <a:ln/>
        </p:spPr>
        <p:txBody>
          <a:bodyPr wrap="square" lIns="0" tIns="0" rIns="0" bIns="0" rtlCol="0" anchor="t"/>
          <a:lstStyle/>
          <a:p>
            <a:pPr algn="l" indent="0" marL="0">
              <a:lnSpc>
                <a:spcPts val="2250"/>
              </a:lnSpc>
              <a:buNone/>
            </a:pPr>
            <a:r>
              <a:rPr lang="en-US" sz="1400" dirty="0">
                <a:solidFill>
                  <a:srgbClr val="000000"/>
                </a:solidFill>
                <a:latin typeface="Inter" pitchFamily="34" charset="0"/>
                <a:ea typeface="Inter" pitchFamily="34" charset="-122"/>
                <a:cs typeface="Inter" pitchFamily="34" charset="-120"/>
              </a:rPr>
              <a:t>RMSE is obtained by taking the square root of the MSE value. This brings the metric back to the same units as the target variable, making it more interpretable.</a:t>
            </a:r>
            <a:endParaRPr lang="en-US" sz="1400" dirty="0"/>
          </a:p>
        </p:txBody>
      </p:sp>
      <p:sp>
        <p:nvSpPr>
          <p:cNvPr id="11" name="Shape 7"/>
          <p:cNvSpPr/>
          <p:nvPr/>
        </p:nvSpPr>
        <p:spPr>
          <a:xfrm>
            <a:off x="1010662" y="3654147"/>
            <a:ext cx="539234" cy="22860"/>
          </a:xfrm>
          <a:prstGeom prst="roundRect">
            <a:avLst>
              <a:gd name="adj" fmla="val 330295"/>
            </a:avLst>
          </a:prstGeom>
          <a:solidFill>
            <a:srgbClr val="DDBBBA"/>
          </a:solidFill>
          <a:ln/>
        </p:spPr>
      </p:sp>
      <p:sp>
        <p:nvSpPr>
          <p:cNvPr id="12" name="Shape 8"/>
          <p:cNvSpPr/>
          <p:nvPr/>
        </p:nvSpPr>
        <p:spPr>
          <a:xfrm>
            <a:off x="629067" y="3463409"/>
            <a:ext cx="404455" cy="404455"/>
          </a:xfrm>
          <a:prstGeom prst="roundRect">
            <a:avLst>
              <a:gd name="adj" fmla="val 18668"/>
            </a:avLst>
          </a:prstGeom>
          <a:solidFill>
            <a:srgbClr val="F7D5D4"/>
          </a:solidFill>
          <a:ln w="7620">
            <a:solidFill>
              <a:srgbClr val="DDBBBA"/>
            </a:solidFill>
            <a:prstDash val="solid"/>
          </a:ln>
        </p:spPr>
      </p:sp>
      <p:sp>
        <p:nvSpPr>
          <p:cNvPr id="13" name="Text 9"/>
          <p:cNvSpPr/>
          <p:nvPr/>
        </p:nvSpPr>
        <p:spPr>
          <a:xfrm>
            <a:off x="696456" y="3497044"/>
            <a:ext cx="269558" cy="337066"/>
          </a:xfrm>
          <a:prstGeom prst="rect">
            <a:avLst/>
          </a:prstGeom>
          <a:noFill/>
          <a:ln/>
        </p:spPr>
        <p:txBody>
          <a:bodyPr wrap="none" lIns="0" tIns="0" rIns="0" bIns="0" rtlCol="0" anchor="t"/>
          <a:lstStyle/>
          <a:p>
            <a:pPr algn="ctr" indent="0" marL="0">
              <a:lnSpc>
                <a:spcPts val="2100"/>
              </a:lnSpc>
              <a:buNone/>
            </a:pPr>
            <a:r>
              <a:rPr lang="en-US" sz="2100" b="1" dirty="0">
                <a:solidFill>
                  <a:srgbClr val="000000"/>
                </a:solidFill>
                <a:latin typeface="Inter Bold" pitchFamily="34" charset="0"/>
                <a:ea typeface="Inter Bold" pitchFamily="34" charset="-122"/>
                <a:cs typeface="Inter Bold" pitchFamily="34" charset="-120"/>
              </a:rPr>
              <a:t>2</a:t>
            </a:r>
            <a:endParaRPr lang="en-US" sz="2100" dirty="0"/>
          </a:p>
        </p:txBody>
      </p:sp>
      <p:sp>
        <p:nvSpPr>
          <p:cNvPr id="14" name="Text 10"/>
          <p:cNvSpPr/>
          <p:nvPr/>
        </p:nvSpPr>
        <p:spPr>
          <a:xfrm>
            <a:off x="1730216" y="3440906"/>
            <a:ext cx="2247186" cy="280749"/>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Inter Bold" pitchFamily="34" charset="0"/>
                <a:ea typeface="Inter Bold" pitchFamily="34" charset="-122"/>
                <a:cs typeface="Inter Bold" pitchFamily="34" charset="-120"/>
              </a:rPr>
              <a:t>Formula</a:t>
            </a:r>
            <a:endParaRPr lang="en-US" sz="1750" dirty="0"/>
          </a:p>
        </p:txBody>
      </p:sp>
      <p:sp>
        <p:nvSpPr>
          <p:cNvPr id="15" name="Text 11"/>
          <p:cNvSpPr/>
          <p:nvPr/>
        </p:nvSpPr>
        <p:spPr>
          <a:xfrm>
            <a:off x="1730216" y="3829407"/>
            <a:ext cx="6784657" cy="287655"/>
          </a:xfrm>
          <a:prstGeom prst="rect">
            <a:avLst/>
          </a:prstGeom>
          <a:noFill/>
          <a:ln/>
        </p:spPr>
        <p:txBody>
          <a:bodyPr wrap="none" lIns="0" tIns="0" rIns="0" bIns="0" rtlCol="0" anchor="t"/>
          <a:lstStyle/>
          <a:p>
            <a:pPr algn="l" indent="0" marL="0">
              <a:lnSpc>
                <a:spcPts val="2250"/>
              </a:lnSpc>
              <a:buNone/>
            </a:pPr>
            <a:r>
              <a:rPr lang="en-US" sz="1400" dirty="0">
                <a:solidFill>
                  <a:srgbClr val="000000"/>
                </a:solidFill>
                <a:latin typeface="Inter" pitchFamily="34" charset="0"/>
                <a:ea typeface="Inter" pitchFamily="34" charset="-122"/>
                <a:cs typeface="Inter" pitchFamily="34" charset="-120"/>
              </a:rPr>
              <a:t>RMSE = √[(∑(yⱼ - ŷⱼ)²)/N]</a:t>
            </a:r>
            <a:endParaRPr lang="en-US" sz="1400" dirty="0"/>
          </a:p>
        </p:txBody>
      </p:sp>
      <p:sp>
        <p:nvSpPr>
          <p:cNvPr id="16" name="Shape 12"/>
          <p:cNvSpPr/>
          <p:nvPr/>
        </p:nvSpPr>
        <p:spPr>
          <a:xfrm>
            <a:off x="1010662" y="4869299"/>
            <a:ext cx="539234" cy="22860"/>
          </a:xfrm>
          <a:prstGeom prst="roundRect">
            <a:avLst>
              <a:gd name="adj" fmla="val 330295"/>
            </a:avLst>
          </a:prstGeom>
          <a:solidFill>
            <a:srgbClr val="DDBBBA"/>
          </a:solidFill>
          <a:ln/>
        </p:spPr>
      </p:sp>
      <p:sp>
        <p:nvSpPr>
          <p:cNvPr id="17" name="Shape 13"/>
          <p:cNvSpPr/>
          <p:nvPr/>
        </p:nvSpPr>
        <p:spPr>
          <a:xfrm>
            <a:off x="629067" y="4678561"/>
            <a:ext cx="404455" cy="404455"/>
          </a:xfrm>
          <a:prstGeom prst="roundRect">
            <a:avLst>
              <a:gd name="adj" fmla="val 18668"/>
            </a:avLst>
          </a:prstGeom>
          <a:solidFill>
            <a:srgbClr val="F7D5D4"/>
          </a:solidFill>
          <a:ln w="7620">
            <a:solidFill>
              <a:srgbClr val="DDBBBA"/>
            </a:solidFill>
            <a:prstDash val="solid"/>
          </a:ln>
        </p:spPr>
      </p:sp>
      <p:sp>
        <p:nvSpPr>
          <p:cNvPr id="18" name="Text 14"/>
          <p:cNvSpPr/>
          <p:nvPr/>
        </p:nvSpPr>
        <p:spPr>
          <a:xfrm>
            <a:off x="696456" y="4712196"/>
            <a:ext cx="269558" cy="337066"/>
          </a:xfrm>
          <a:prstGeom prst="rect">
            <a:avLst/>
          </a:prstGeom>
          <a:noFill/>
          <a:ln/>
        </p:spPr>
        <p:txBody>
          <a:bodyPr wrap="none" lIns="0" tIns="0" rIns="0" bIns="0" rtlCol="0" anchor="t"/>
          <a:lstStyle/>
          <a:p>
            <a:pPr algn="ctr" indent="0" marL="0">
              <a:lnSpc>
                <a:spcPts val="2100"/>
              </a:lnSpc>
              <a:buNone/>
            </a:pPr>
            <a:r>
              <a:rPr lang="en-US" sz="2100" b="1" dirty="0">
                <a:solidFill>
                  <a:srgbClr val="000000"/>
                </a:solidFill>
                <a:latin typeface="Inter Bold" pitchFamily="34" charset="0"/>
                <a:ea typeface="Inter Bold" pitchFamily="34" charset="-122"/>
                <a:cs typeface="Inter Bold" pitchFamily="34" charset="-120"/>
              </a:rPr>
              <a:t>3</a:t>
            </a:r>
            <a:endParaRPr lang="en-US" sz="2100" dirty="0"/>
          </a:p>
        </p:txBody>
      </p:sp>
      <p:sp>
        <p:nvSpPr>
          <p:cNvPr id="19" name="Text 15"/>
          <p:cNvSpPr/>
          <p:nvPr/>
        </p:nvSpPr>
        <p:spPr>
          <a:xfrm>
            <a:off x="1730216" y="4656058"/>
            <a:ext cx="2247186" cy="280749"/>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Inter Bold" pitchFamily="34" charset="0"/>
                <a:ea typeface="Inter Bold" pitchFamily="34" charset="-122"/>
                <a:cs typeface="Inter Bold" pitchFamily="34" charset="-120"/>
              </a:rPr>
              <a:t>Characteristics</a:t>
            </a:r>
            <a:endParaRPr lang="en-US" sz="1750" dirty="0"/>
          </a:p>
        </p:txBody>
      </p:sp>
      <p:sp>
        <p:nvSpPr>
          <p:cNvPr id="20" name="Text 16"/>
          <p:cNvSpPr/>
          <p:nvPr/>
        </p:nvSpPr>
        <p:spPr>
          <a:xfrm>
            <a:off x="1730216" y="5044559"/>
            <a:ext cx="6784657" cy="862965"/>
          </a:xfrm>
          <a:prstGeom prst="rect">
            <a:avLst/>
          </a:prstGeom>
          <a:noFill/>
          <a:ln/>
        </p:spPr>
        <p:txBody>
          <a:bodyPr wrap="square" lIns="0" tIns="0" rIns="0" bIns="0" rtlCol="0" anchor="t"/>
          <a:lstStyle/>
          <a:p>
            <a:pPr algn="l" indent="0" marL="0">
              <a:lnSpc>
                <a:spcPts val="2250"/>
              </a:lnSpc>
              <a:buNone/>
            </a:pPr>
            <a:r>
              <a:rPr lang="en-US" sz="1400" dirty="0">
                <a:solidFill>
                  <a:srgbClr val="000000"/>
                </a:solidFill>
                <a:latin typeface="Inter" pitchFamily="34" charset="0"/>
                <a:ea typeface="Inter" pitchFamily="34" charset="-122"/>
                <a:cs typeface="Inter" pitchFamily="34" charset="-120"/>
              </a:rPr>
              <a:t>Like MSE, RMSE gives higher weight to large errors and is sensitive to outliers. However, it provides a value in the same units as the original data, making it easier to understand in context.</a:t>
            </a:r>
            <a:endParaRPr lang="en-US" sz="1400" dirty="0"/>
          </a:p>
        </p:txBody>
      </p:sp>
      <p:sp>
        <p:nvSpPr>
          <p:cNvPr id="21" name="Shape 17"/>
          <p:cNvSpPr/>
          <p:nvPr/>
        </p:nvSpPr>
        <p:spPr>
          <a:xfrm>
            <a:off x="1010662" y="6659761"/>
            <a:ext cx="539234" cy="22860"/>
          </a:xfrm>
          <a:prstGeom prst="roundRect">
            <a:avLst>
              <a:gd name="adj" fmla="val 330295"/>
            </a:avLst>
          </a:prstGeom>
          <a:solidFill>
            <a:srgbClr val="DDBBBA"/>
          </a:solidFill>
          <a:ln/>
        </p:spPr>
      </p:sp>
      <p:sp>
        <p:nvSpPr>
          <p:cNvPr id="22" name="Shape 18"/>
          <p:cNvSpPr/>
          <p:nvPr/>
        </p:nvSpPr>
        <p:spPr>
          <a:xfrm>
            <a:off x="629067" y="6469023"/>
            <a:ext cx="404455" cy="404455"/>
          </a:xfrm>
          <a:prstGeom prst="roundRect">
            <a:avLst>
              <a:gd name="adj" fmla="val 18668"/>
            </a:avLst>
          </a:prstGeom>
          <a:solidFill>
            <a:srgbClr val="F7D5D4"/>
          </a:solidFill>
          <a:ln w="7620">
            <a:solidFill>
              <a:srgbClr val="DDBBBA"/>
            </a:solidFill>
            <a:prstDash val="solid"/>
          </a:ln>
        </p:spPr>
      </p:sp>
      <p:sp>
        <p:nvSpPr>
          <p:cNvPr id="23" name="Text 19"/>
          <p:cNvSpPr/>
          <p:nvPr/>
        </p:nvSpPr>
        <p:spPr>
          <a:xfrm>
            <a:off x="696456" y="6502658"/>
            <a:ext cx="269558" cy="337066"/>
          </a:xfrm>
          <a:prstGeom prst="rect">
            <a:avLst/>
          </a:prstGeom>
          <a:noFill/>
          <a:ln/>
        </p:spPr>
        <p:txBody>
          <a:bodyPr wrap="none" lIns="0" tIns="0" rIns="0" bIns="0" rtlCol="0" anchor="t"/>
          <a:lstStyle/>
          <a:p>
            <a:pPr algn="ctr" indent="0" marL="0">
              <a:lnSpc>
                <a:spcPts val="2100"/>
              </a:lnSpc>
              <a:buNone/>
            </a:pPr>
            <a:r>
              <a:rPr lang="en-US" sz="2100" b="1" dirty="0">
                <a:solidFill>
                  <a:srgbClr val="000000"/>
                </a:solidFill>
                <a:latin typeface="Inter Bold" pitchFamily="34" charset="0"/>
                <a:ea typeface="Inter Bold" pitchFamily="34" charset="-122"/>
                <a:cs typeface="Inter Bold" pitchFamily="34" charset="-120"/>
              </a:rPr>
              <a:t>4</a:t>
            </a:r>
            <a:endParaRPr lang="en-US" sz="2100" dirty="0"/>
          </a:p>
        </p:txBody>
      </p:sp>
      <p:sp>
        <p:nvSpPr>
          <p:cNvPr id="24" name="Text 20"/>
          <p:cNvSpPr/>
          <p:nvPr/>
        </p:nvSpPr>
        <p:spPr>
          <a:xfrm>
            <a:off x="1730216" y="6446520"/>
            <a:ext cx="2247186" cy="280749"/>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Inter Bold" pitchFamily="34" charset="0"/>
                <a:ea typeface="Inter Bold" pitchFamily="34" charset="-122"/>
                <a:cs typeface="Inter Bold" pitchFamily="34" charset="-120"/>
              </a:rPr>
              <a:t>Use Cases</a:t>
            </a:r>
            <a:endParaRPr lang="en-US" sz="1750" dirty="0"/>
          </a:p>
        </p:txBody>
      </p:sp>
      <p:sp>
        <p:nvSpPr>
          <p:cNvPr id="25" name="Text 21"/>
          <p:cNvSpPr/>
          <p:nvPr/>
        </p:nvSpPr>
        <p:spPr>
          <a:xfrm>
            <a:off x="1730216" y="6835021"/>
            <a:ext cx="6784657" cy="575310"/>
          </a:xfrm>
          <a:prstGeom prst="rect">
            <a:avLst/>
          </a:prstGeom>
          <a:noFill/>
          <a:ln/>
        </p:spPr>
        <p:txBody>
          <a:bodyPr wrap="square" lIns="0" tIns="0" rIns="0" bIns="0" rtlCol="0" anchor="t"/>
          <a:lstStyle/>
          <a:p>
            <a:pPr algn="l" indent="0" marL="0">
              <a:lnSpc>
                <a:spcPts val="2250"/>
              </a:lnSpc>
              <a:buNone/>
            </a:pPr>
            <a:r>
              <a:rPr lang="en-US" sz="1400" dirty="0">
                <a:solidFill>
                  <a:srgbClr val="000000"/>
                </a:solidFill>
                <a:latin typeface="Inter" pitchFamily="34" charset="0"/>
                <a:ea typeface="Inter" pitchFamily="34" charset="-122"/>
                <a:cs typeface="Inter" pitchFamily="34" charset="-120"/>
              </a:rPr>
              <a:t>RMSE is widely used in meteorology, geology, and financial forecasting where accuracy is critical and larger errors should be penalized more heavily.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86475" y="631150"/>
            <a:ext cx="7149584" cy="1071563"/>
          </a:xfrm>
          <a:prstGeom prst="rect">
            <a:avLst/>
          </a:prstGeom>
          <a:noFill/>
          <a:ln/>
        </p:spPr>
        <p:txBody>
          <a:bodyPr wrap="square" lIns="0" tIns="0" rIns="0" bIns="0" rtlCol="0" anchor="t"/>
          <a:lstStyle/>
          <a:p>
            <a:pPr indent="0" marL="0">
              <a:lnSpc>
                <a:spcPts val="4200"/>
              </a:lnSpc>
              <a:buNone/>
            </a:pPr>
            <a:r>
              <a:rPr lang="en-US" sz="3350" b="1" dirty="0">
                <a:solidFill>
                  <a:srgbClr val="000000"/>
                </a:solidFill>
                <a:latin typeface="Inter Bold" pitchFamily="34" charset="0"/>
                <a:ea typeface="Inter Bold" pitchFamily="34" charset="-122"/>
                <a:cs typeface="Inter Bold" pitchFamily="34" charset="-120"/>
              </a:rPr>
              <a:t>Root Mean Squared Logarithmic Error (RMSLE)</a:t>
            </a:r>
            <a:endParaRPr lang="en-US" sz="3350" dirty="0"/>
          </a:p>
        </p:txBody>
      </p:sp>
      <p:pic>
        <p:nvPicPr>
          <p:cNvPr id="4" name="Image 1" descr="preencoded.png">    </p:cNvPr>
          <p:cNvPicPr>
            <a:picLocks noChangeAspect="1"/>
          </p:cNvPicPr>
          <p:nvPr/>
        </p:nvPicPr>
        <p:blipFill>
          <a:blip r:embed="rId2"/>
          <a:stretch>
            <a:fillRect/>
          </a:stretch>
        </p:blipFill>
        <p:spPr>
          <a:xfrm>
            <a:off x="6086475" y="1959888"/>
            <a:ext cx="857250" cy="1536621"/>
          </a:xfrm>
          <a:prstGeom prst="rect">
            <a:avLst/>
          </a:prstGeom>
        </p:spPr>
      </p:pic>
      <p:sp>
        <p:nvSpPr>
          <p:cNvPr id="5" name="Text 1"/>
          <p:cNvSpPr/>
          <p:nvPr/>
        </p:nvSpPr>
        <p:spPr>
          <a:xfrm>
            <a:off x="7200900" y="2131338"/>
            <a:ext cx="2143125" cy="267891"/>
          </a:xfrm>
          <a:prstGeom prst="rect">
            <a:avLst/>
          </a:prstGeom>
          <a:noFill/>
          <a:ln/>
        </p:spPr>
        <p:txBody>
          <a:bodyPr wrap="none" lIns="0" tIns="0" rIns="0" bIns="0" rtlCol="0" anchor="t"/>
          <a:lstStyle/>
          <a:p>
            <a:pPr algn="l" indent="0" marL="0">
              <a:lnSpc>
                <a:spcPts val="2100"/>
              </a:lnSpc>
              <a:buNone/>
            </a:pPr>
            <a:r>
              <a:rPr lang="en-US" sz="1650" b="1" dirty="0">
                <a:solidFill>
                  <a:srgbClr val="000000"/>
                </a:solidFill>
                <a:latin typeface="Inter Bold" pitchFamily="34" charset="0"/>
                <a:ea typeface="Inter Bold" pitchFamily="34" charset="-122"/>
                <a:cs typeface="Inter Bold" pitchFamily="34" charset="-120"/>
              </a:rPr>
              <a:t>Definition</a:t>
            </a:r>
            <a:endParaRPr lang="en-US" sz="1650" dirty="0"/>
          </a:p>
        </p:txBody>
      </p:sp>
      <p:sp>
        <p:nvSpPr>
          <p:cNvPr id="6" name="Text 2"/>
          <p:cNvSpPr/>
          <p:nvPr/>
        </p:nvSpPr>
        <p:spPr>
          <a:xfrm>
            <a:off x="7200900" y="2502098"/>
            <a:ext cx="6035159" cy="822960"/>
          </a:xfrm>
          <a:prstGeom prst="rect">
            <a:avLst/>
          </a:prstGeom>
          <a:noFill/>
          <a:ln/>
        </p:spPr>
        <p:txBody>
          <a:bodyPr wrap="square" lIns="0" tIns="0" rIns="0" bIns="0" rtlCol="0" anchor="t"/>
          <a:lstStyle/>
          <a:p>
            <a:pPr algn="l" indent="0" marL="0">
              <a:lnSpc>
                <a:spcPts val="2150"/>
              </a:lnSpc>
              <a:buNone/>
            </a:pPr>
            <a:r>
              <a:rPr lang="en-US" sz="1350" dirty="0">
                <a:solidFill>
                  <a:srgbClr val="000000"/>
                </a:solidFill>
                <a:latin typeface="Inter" pitchFamily="34" charset="0"/>
                <a:ea typeface="Inter" pitchFamily="34" charset="-122"/>
                <a:cs typeface="Inter" pitchFamily="34" charset="-120"/>
              </a:rPr>
              <a:t>RMSLE applies a logarithmic transformation to both predicted and actual values before calculating RMSE. This makes it useful for cases where the target variable varies across a wide range of values.</a:t>
            </a:r>
            <a:endParaRPr lang="en-US" sz="1350" dirty="0"/>
          </a:p>
        </p:txBody>
      </p:sp>
      <p:pic>
        <p:nvPicPr>
          <p:cNvPr id="7" name="Image 2" descr="preencoded.png">    </p:cNvPr>
          <p:cNvPicPr>
            <a:picLocks noChangeAspect="1"/>
          </p:cNvPicPr>
          <p:nvPr/>
        </p:nvPicPr>
        <p:blipFill>
          <a:blip r:embed="rId3"/>
          <a:stretch>
            <a:fillRect/>
          </a:stretch>
        </p:blipFill>
        <p:spPr>
          <a:xfrm>
            <a:off x="6086475" y="3496508"/>
            <a:ext cx="857250" cy="1028700"/>
          </a:xfrm>
          <a:prstGeom prst="rect">
            <a:avLst/>
          </a:prstGeom>
        </p:spPr>
      </p:pic>
      <p:sp>
        <p:nvSpPr>
          <p:cNvPr id="8" name="Text 3"/>
          <p:cNvSpPr/>
          <p:nvPr/>
        </p:nvSpPr>
        <p:spPr>
          <a:xfrm>
            <a:off x="7200900" y="3667958"/>
            <a:ext cx="2143125" cy="267891"/>
          </a:xfrm>
          <a:prstGeom prst="rect">
            <a:avLst/>
          </a:prstGeom>
          <a:noFill/>
          <a:ln/>
        </p:spPr>
        <p:txBody>
          <a:bodyPr wrap="none" lIns="0" tIns="0" rIns="0" bIns="0" rtlCol="0" anchor="t"/>
          <a:lstStyle/>
          <a:p>
            <a:pPr algn="l" indent="0" marL="0">
              <a:lnSpc>
                <a:spcPts val="2100"/>
              </a:lnSpc>
              <a:buNone/>
            </a:pPr>
            <a:r>
              <a:rPr lang="en-US" sz="1650" b="1" dirty="0">
                <a:solidFill>
                  <a:srgbClr val="000000"/>
                </a:solidFill>
                <a:latin typeface="Inter Bold" pitchFamily="34" charset="0"/>
                <a:ea typeface="Inter Bold" pitchFamily="34" charset="-122"/>
                <a:cs typeface="Inter Bold" pitchFamily="34" charset="-120"/>
              </a:rPr>
              <a:t>Formula</a:t>
            </a:r>
            <a:endParaRPr lang="en-US" sz="1650" dirty="0"/>
          </a:p>
        </p:txBody>
      </p:sp>
      <p:sp>
        <p:nvSpPr>
          <p:cNvPr id="9" name="Text 4"/>
          <p:cNvSpPr/>
          <p:nvPr/>
        </p:nvSpPr>
        <p:spPr>
          <a:xfrm>
            <a:off x="7200900" y="4038719"/>
            <a:ext cx="6035159" cy="274320"/>
          </a:xfrm>
          <a:prstGeom prst="rect">
            <a:avLst/>
          </a:prstGeom>
          <a:noFill/>
          <a:ln/>
        </p:spPr>
        <p:txBody>
          <a:bodyPr wrap="none" lIns="0" tIns="0" rIns="0" bIns="0" rtlCol="0" anchor="t"/>
          <a:lstStyle/>
          <a:p>
            <a:pPr algn="l" indent="0" marL="0">
              <a:lnSpc>
                <a:spcPts val="2150"/>
              </a:lnSpc>
              <a:buNone/>
            </a:pPr>
            <a:r>
              <a:rPr lang="en-US" sz="1350" dirty="0">
                <a:solidFill>
                  <a:srgbClr val="000000"/>
                </a:solidFill>
                <a:latin typeface="Inter" pitchFamily="34" charset="0"/>
                <a:ea typeface="Inter" pitchFamily="34" charset="-122"/>
                <a:cs typeface="Inter" pitchFamily="34" charset="-120"/>
              </a:rPr>
              <a:t>RMSLE = √[(∑(log(ŷⱼ+1) - log(yⱼ+1))²)/N]</a:t>
            </a:r>
            <a:endParaRPr lang="en-US" sz="1350" dirty="0"/>
          </a:p>
        </p:txBody>
      </p:sp>
      <p:pic>
        <p:nvPicPr>
          <p:cNvPr id="10" name="Image 3" descr="preencoded.png">    </p:cNvPr>
          <p:cNvPicPr>
            <a:picLocks noChangeAspect="1"/>
          </p:cNvPicPr>
          <p:nvPr/>
        </p:nvPicPr>
        <p:blipFill>
          <a:blip r:embed="rId4"/>
          <a:stretch>
            <a:fillRect/>
          </a:stretch>
        </p:blipFill>
        <p:spPr>
          <a:xfrm>
            <a:off x="6086475" y="4525208"/>
            <a:ext cx="857250" cy="1536621"/>
          </a:xfrm>
          <a:prstGeom prst="rect">
            <a:avLst/>
          </a:prstGeom>
        </p:spPr>
      </p:pic>
      <p:sp>
        <p:nvSpPr>
          <p:cNvPr id="11" name="Text 5"/>
          <p:cNvSpPr/>
          <p:nvPr/>
        </p:nvSpPr>
        <p:spPr>
          <a:xfrm>
            <a:off x="7200900" y="4696658"/>
            <a:ext cx="2143125" cy="267891"/>
          </a:xfrm>
          <a:prstGeom prst="rect">
            <a:avLst/>
          </a:prstGeom>
          <a:noFill/>
          <a:ln/>
        </p:spPr>
        <p:txBody>
          <a:bodyPr wrap="none" lIns="0" tIns="0" rIns="0" bIns="0" rtlCol="0" anchor="t"/>
          <a:lstStyle/>
          <a:p>
            <a:pPr algn="l" indent="0" marL="0">
              <a:lnSpc>
                <a:spcPts val="2100"/>
              </a:lnSpc>
              <a:buNone/>
            </a:pPr>
            <a:r>
              <a:rPr lang="en-US" sz="1650" b="1" dirty="0">
                <a:solidFill>
                  <a:srgbClr val="000000"/>
                </a:solidFill>
                <a:latin typeface="Inter Bold" pitchFamily="34" charset="0"/>
                <a:ea typeface="Inter Bold" pitchFamily="34" charset="-122"/>
                <a:cs typeface="Inter Bold" pitchFamily="34" charset="-120"/>
              </a:rPr>
              <a:t>Key Benefits</a:t>
            </a:r>
            <a:endParaRPr lang="en-US" sz="1650" dirty="0"/>
          </a:p>
        </p:txBody>
      </p:sp>
      <p:sp>
        <p:nvSpPr>
          <p:cNvPr id="12" name="Text 6"/>
          <p:cNvSpPr/>
          <p:nvPr/>
        </p:nvSpPr>
        <p:spPr>
          <a:xfrm>
            <a:off x="7200900" y="5067419"/>
            <a:ext cx="6035159" cy="822960"/>
          </a:xfrm>
          <a:prstGeom prst="rect">
            <a:avLst/>
          </a:prstGeom>
          <a:noFill/>
          <a:ln/>
        </p:spPr>
        <p:txBody>
          <a:bodyPr wrap="square" lIns="0" tIns="0" rIns="0" bIns="0" rtlCol="0" anchor="t"/>
          <a:lstStyle/>
          <a:p>
            <a:pPr algn="l" indent="0" marL="0">
              <a:lnSpc>
                <a:spcPts val="2150"/>
              </a:lnSpc>
              <a:buNone/>
            </a:pPr>
            <a:r>
              <a:rPr lang="en-US" sz="1350" dirty="0">
                <a:solidFill>
                  <a:srgbClr val="000000"/>
                </a:solidFill>
                <a:latin typeface="Inter" pitchFamily="34" charset="0"/>
                <a:ea typeface="Inter" pitchFamily="34" charset="-122"/>
                <a:cs typeface="Inter" pitchFamily="34" charset="-120"/>
              </a:rPr>
              <a:t>RMSLE penalizes underestimation more heavily than overestimation, which is desirable in certain applications like sales forecasting where underestimating demand is typically more costly than overestimating.</a:t>
            </a:r>
            <a:endParaRPr lang="en-US" sz="1350" dirty="0"/>
          </a:p>
        </p:txBody>
      </p:sp>
      <p:pic>
        <p:nvPicPr>
          <p:cNvPr id="13" name="Image 4" descr="preencoded.png">    </p:cNvPr>
          <p:cNvPicPr>
            <a:picLocks noChangeAspect="1"/>
          </p:cNvPicPr>
          <p:nvPr/>
        </p:nvPicPr>
        <p:blipFill>
          <a:blip r:embed="rId5"/>
          <a:stretch>
            <a:fillRect/>
          </a:stretch>
        </p:blipFill>
        <p:spPr>
          <a:xfrm>
            <a:off x="6086475" y="6061829"/>
            <a:ext cx="857250" cy="1536621"/>
          </a:xfrm>
          <a:prstGeom prst="rect">
            <a:avLst/>
          </a:prstGeom>
        </p:spPr>
      </p:pic>
      <p:sp>
        <p:nvSpPr>
          <p:cNvPr id="14" name="Text 7"/>
          <p:cNvSpPr/>
          <p:nvPr/>
        </p:nvSpPr>
        <p:spPr>
          <a:xfrm>
            <a:off x="7200900" y="6233279"/>
            <a:ext cx="2143125" cy="267891"/>
          </a:xfrm>
          <a:prstGeom prst="rect">
            <a:avLst/>
          </a:prstGeom>
          <a:noFill/>
          <a:ln/>
        </p:spPr>
        <p:txBody>
          <a:bodyPr wrap="none" lIns="0" tIns="0" rIns="0" bIns="0" rtlCol="0" anchor="t"/>
          <a:lstStyle/>
          <a:p>
            <a:pPr algn="l" indent="0" marL="0">
              <a:lnSpc>
                <a:spcPts val="2100"/>
              </a:lnSpc>
              <a:buNone/>
            </a:pPr>
            <a:r>
              <a:rPr lang="en-US" sz="1650" b="1" dirty="0">
                <a:solidFill>
                  <a:srgbClr val="000000"/>
                </a:solidFill>
                <a:latin typeface="Inter Bold" pitchFamily="34" charset="0"/>
                <a:ea typeface="Inter Bold" pitchFamily="34" charset="-122"/>
                <a:cs typeface="Inter Bold" pitchFamily="34" charset="-120"/>
              </a:rPr>
              <a:t>Interpretation</a:t>
            </a:r>
            <a:endParaRPr lang="en-US" sz="1650" dirty="0"/>
          </a:p>
        </p:txBody>
      </p:sp>
      <p:sp>
        <p:nvSpPr>
          <p:cNvPr id="15" name="Text 8"/>
          <p:cNvSpPr/>
          <p:nvPr/>
        </p:nvSpPr>
        <p:spPr>
          <a:xfrm>
            <a:off x="7200900" y="6604040"/>
            <a:ext cx="6035159" cy="822960"/>
          </a:xfrm>
          <a:prstGeom prst="rect">
            <a:avLst/>
          </a:prstGeom>
          <a:noFill/>
          <a:ln/>
        </p:spPr>
        <p:txBody>
          <a:bodyPr wrap="square" lIns="0" tIns="0" rIns="0" bIns="0" rtlCol="0" anchor="t"/>
          <a:lstStyle/>
          <a:p>
            <a:pPr algn="l" indent="0" marL="0">
              <a:lnSpc>
                <a:spcPts val="2150"/>
              </a:lnSpc>
              <a:buNone/>
            </a:pPr>
            <a:r>
              <a:rPr lang="en-US" sz="1350" dirty="0">
                <a:solidFill>
                  <a:srgbClr val="000000"/>
                </a:solidFill>
                <a:latin typeface="Inter" pitchFamily="34" charset="0"/>
                <a:ea typeface="Inter" pitchFamily="34" charset="-122"/>
                <a:cs typeface="Inter" pitchFamily="34" charset="-120"/>
              </a:rPr>
              <a:t>Lower values indicate better fit, with 0 being perfect. The logarithmic transformation makes this metric less sensitive to large differences in the higher ranges of values.</a:t>
            </a:r>
            <a:endParaRPr lang="en-US" sz="1350" dirty="0"/>
          </a:p>
        </p:txBody>
      </p:sp>
      <p:pic>
        <p:nvPicPr>
          <p:cNvPr id="16" name="Image 5" descr="preencoded.png">    </p:cNvPr>
          <p:cNvPicPr>
            <a:picLocks noChangeAspect="1"/>
          </p:cNvPicPr>
          <p:nvPr/>
        </p:nvPicPr>
        <p:blipFill>
          <a:blip r:embed="rId6"/>
          <a:stretch>
            <a:fillRect/>
          </a:stretch>
        </p:blipFill>
        <p:spPr>
          <a:xfrm>
            <a:off x="13464778" y="228600"/>
            <a:ext cx="937022" cy="50280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1451253"/>
            <a:ext cx="10792301"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R² Score (Coefficient of Determination)</a:t>
            </a:r>
            <a:endParaRPr lang="en-US" sz="4450" dirty="0"/>
          </a:p>
        </p:txBody>
      </p:sp>
      <p:sp>
        <p:nvSpPr>
          <p:cNvPr id="3" name="Text 1"/>
          <p:cNvSpPr/>
          <p:nvPr/>
        </p:nvSpPr>
        <p:spPr>
          <a:xfrm>
            <a:off x="793790" y="2727008"/>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Definition</a:t>
            </a:r>
            <a:endParaRPr lang="en-US" sz="2200" dirty="0"/>
          </a:p>
        </p:txBody>
      </p:sp>
      <p:sp>
        <p:nvSpPr>
          <p:cNvPr id="4" name="Text 2"/>
          <p:cNvSpPr/>
          <p:nvPr/>
        </p:nvSpPr>
        <p:spPr>
          <a:xfrm>
            <a:off x="793790" y="3308152"/>
            <a:ext cx="3777972" cy="3266123"/>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The R² score, also known as the coefficient of determination, measures the proportion of variance in the dependent variable that is predictable from the independent variable(s). It indicates how well observed outcomes are replicated by the model.</a:t>
            </a:r>
            <a:endParaRPr lang="en-US" sz="1750" dirty="0"/>
          </a:p>
        </p:txBody>
      </p:sp>
      <p:sp>
        <p:nvSpPr>
          <p:cNvPr id="5" name="Text 3"/>
          <p:cNvSpPr/>
          <p:nvPr/>
        </p:nvSpPr>
        <p:spPr>
          <a:xfrm>
            <a:off x="5132784" y="2727008"/>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Formula</a:t>
            </a:r>
            <a:endParaRPr lang="en-US" sz="2200" dirty="0"/>
          </a:p>
        </p:txBody>
      </p:sp>
      <p:sp>
        <p:nvSpPr>
          <p:cNvPr id="6" name="Text 4"/>
          <p:cNvSpPr/>
          <p:nvPr/>
        </p:nvSpPr>
        <p:spPr>
          <a:xfrm>
            <a:off x="5132784" y="3308152"/>
            <a:ext cx="3777972" cy="2540318"/>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While not explicitly given in the input, R² is typically calculated as 1 minus the ratio of the sum of squared residuals to the total sum of squares. Values range from 0 to 1, with 1 indicating perfect prediction.</a:t>
            </a:r>
            <a:endParaRPr lang="en-US" sz="1750" dirty="0"/>
          </a:p>
        </p:txBody>
      </p:sp>
      <p:sp>
        <p:nvSpPr>
          <p:cNvPr id="7" name="Text 5"/>
          <p:cNvSpPr/>
          <p:nvPr/>
        </p:nvSpPr>
        <p:spPr>
          <a:xfrm>
            <a:off x="9471779" y="2727008"/>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Interpretation</a:t>
            </a:r>
            <a:endParaRPr lang="en-US" sz="2200" dirty="0"/>
          </a:p>
        </p:txBody>
      </p:sp>
      <p:sp>
        <p:nvSpPr>
          <p:cNvPr id="8" name="Text 6"/>
          <p:cNvSpPr/>
          <p:nvPr/>
        </p:nvSpPr>
        <p:spPr>
          <a:xfrm>
            <a:off x="9471779" y="3308152"/>
            <a:ext cx="3777972" cy="2177415"/>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Inter" pitchFamily="34" charset="0"/>
                <a:ea typeface="Inter" pitchFamily="34" charset="-122"/>
                <a:cs typeface="Inter" pitchFamily="34" charset="-120"/>
              </a:rPr>
              <a:t>An R² of 0.7 means that 70% of the variance in the dependent variable can be explained by the model. Higher values indicate better fit, though very high values can sometimes suggest overfitting.</a:t>
            </a:r>
            <a:endParaRPr lang="en-US" sz="1750" dirty="0"/>
          </a:p>
        </p:txBody>
      </p:sp>
      <p:pic>
        <p:nvPicPr>
          <p:cNvPr id="9" name="Image 0" descr="preencoded.png">    </p:cNvPr>
          <p:cNvPicPr>
            <a:picLocks noChangeAspect="1"/>
          </p:cNvPicPr>
          <p:nvPr/>
        </p:nvPicPr>
        <p:blipFill>
          <a:blip r:embed="rId1"/>
          <a:stretch>
            <a:fillRect/>
          </a:stretch>
        </p:blipFill>
        <p:spPr>
          <a:xfrm>
            <a:off x="13464778" y="228600"/>
            <a:ext cx="937022" cy="50280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719507"/>
          </a:xfrm>
          <a:prstGeom prst="rect">
            <a:avLst/>
          </a:prstGeom>
        </p:spPr>
      </p:pic>
      <p:sp>
        <p:nvSpPr>
          <p:cNvPr id="3" name="Text 0"/>
          <p:cNvSpPr/>
          <p:nvPr/>
        </p:nvSpPr>
        <p:spPr>
          <a:xfrm>
            <a:off x="761405" y="3317796"/>
            <a:ext cx="8881229" cy="679847"/>
          </a:xfrm>
          <a:prstGeom prst="rect">
            <a:avLst/>
          </a:prstGeom>
          <a:noFill/>
          <a:ln/>
        </p:spPr>
        <p:txBody>
          <a:bodyPr wrap="none" lIns="0" tIns="0" rIns="0" bIns="0" rtlCol="0" anchor="t"/>
          <a:lstStyle/>
          <a:p>
            <a:pPr indent="0" marL="0">
              <a:lnSpc>
                <a:spcPts val="5350"/>
              </a:lnSpc>
              <a:buNone/>
            </a:pPr>
            <a:r>
              <a:rPr lang="en-US" sz="4250" b="1" dirty="0">
                <a:solidFill>
                  <a:srgbClr val="000000"/>
                </a:solidFill>
                <a:latin typeface="Inter Bold" pitchFamily="34" charset="0"/>
                <a:ea typeface="Inter Bold" pitchFamily="34" charset="-122"/>
                <a:cs typeface="Inter Bold" pitchFamily="34" charset="-120"/>
              </a:rPr>
              <a:t>Comparing Classification Metrics</a:t>
            </a:r>
            <a:endParaRPr lang="en-US" sz="4250" dirty="0"/>
          </a:p>
        </p:txBody>
      </p:sp>
      <p:sp>
        <p:nvSpPr>
          <p:cNvPr id="4" name="Text 1"/>
          <p:cNvSpPr/>
          <p:nvPr/>
        </p:nvSpPr>
        <p:spPr>
          <a:xfrm>
            <a:off x="761405" y="4432578"/>
            <a:ext cx="4151709" cy="717947"/>
          </a:xfrm>
          <a:prstGeom prst="rect">
            <a:avLst/>
          </a:prstGeom>
          <a:noFill/>
          <a:ln/>
        </p:spPr>
        <p:txBody>
          <a:bodyPr wrap="none" lIns="0" tIns="0" rIns="0" bIns="0" rtlCol="0" anchor="t"/>
          <a:lstStyle/>
          <a:p>
            <a:pPr algn="ctr" indent="0" marL="0">
              <a:lnSpc>
                <a:spcPts val="5650"/>
              </a:lnSpc>
              <a:buNone/>
            </a:pPr>
            <a:r>
              <a:rPr lang="en-US" sz="5650" b="1" dirty="0">
                <a:solidFill>
                  <a:srgbClr val="000000"/>
                </a:solidFill>
                <a:latin typeface="Inter Bold" pitchFamily="34" charset="0"/>
                <a:ea typeface="Inter Bold" pitchFamily="34" charset="-122"/>
                <a:cs typeface="Inter Bold" pitchFamily="34" charset="-120"/>
              </a:rPr>
              <a:t>1st</a:t>
            </a:r>
            <a:endParaRPr lang="en-US" sz="5650" dirty="0"/>
          </a:p>
        </p:txBody>
      </p:sp>
      <p:sp>
        <p:nvSpPr>
          <p:cNvPr id="5" name="Text 2"/>
          <p:cNvSpPr/>
          <p:nvPr/>
        </p:nvSpPr>
        <p:spPr>
          <a:xfrm>
            <a:off x="1477447" y="5422344"/>
            <a:ext cx="2719507" cy="339923"/>
          </a:xfrm>
          <a:prstGeom prst="rect">
            <a:avLst/>
          </a:prstGeom>
          <a:noFill/>
          <a:ln/>
        </p:spPr>
        <p:txBody>
          <a:bodyPr wrap="none" lIns="0" tIns="0" rIns="0" bIns="0" rtlCol="0" anchor="t"/>
          <a:lstStyle/>
          <a:p>
            <a:pPr algn="ctr" indent="0" marL="0">
              <a:lnSpc>
                <a:spcPts val="2650"/>
              </a:lnSpc>
              <a:buNone/>
            </a:pPr>
            <a:r>
              <a:rPr lang="en-US" sz="2100" b="1" dirty="0">
                <a:solidFill>
                  <a:srgbClr val="000000"/>
                </a:solidFill>
                <a:latin typeface="Inter Bold" pitchFamily="34" charset="0"/>
                <a:ea typeface="Inter Bold" pitchFamily="34" charset="-122"/>
                <a:cs typeface="Inter Bold" pitchFamily="34" charset="-120"/>
              </a:rPr>
              <a:t>Accuracy</a:t>
            </a:r>
            <a:endParaRPr lang="en-US" sz="2100" dirty="0"/>
          </a:p>
        </p:txBody>
      </p:sp>
      <p:sp>
        <p:nvSpPr>
          <p:cNvPr id="6" name="Text 3"/>
          <p:cNvSpPr/>
          <p:nvPr/>
        </p:nvSpPr>
        <p:spPr>
          <a:xfrm>
            <a:off x="761405" y="5892760"/>
            <a:ext cx="4151709" cy="1392079"/>
          </a:xfrm>
          <a:prstGeom prst="rect">
            <a:avLst/>
          </a:prstGeom>
          <a:noFill/>
          <a:ln/>
        </p:spPr>
        <p:txBody>
          <a:bodyPr wrap="square" lIns="0" tIns="0" rIns="0" bIns="0" rtlCol="0" anchor="t"/>
          <a:lstStyle/>
          <a:p>
            <a:pPr algn="ctr" indent="0" marL="0">
              <a:lnSpc>
                <a:spcPts val="2700"/>
              </a:lnSpc>
              <a:buNone/>
            </a:pPr>
            <a:r>
              <a:rPr lang="en-US" sz="1700" dirty="0">
                <a:solidFill>
                  <a:srgbClr val="000000"/>
                </a:solidFill>
                <a:latin typeface="Inter" pitchFamily="34" charset="0"/>
                <a:ea typeface="Inter" pitchFamily="34" charset="-122"/>
                <a:cs typeface="Inter" pitchFamily="34" charset="-120"/>
              </a:rPr>
              <a:t>Best for balanced datasets with equal cost of false positives and false negatives. Simple and intuitive but can be misleading with imbalanced classes.</a:t>
            </a:r>
            <a:endParaRPr lang="en-US" sz="1700" dirty="0"/>
          </a:p>
        </p:txBody>
      </p:sp>
      <p:sp>
        <p:nvSpPr>
          <p:cNvPr id="7" name="Text 4"/>
          <p:cNvSpPr/>
          <p:nvPr/>
        </p:nvSpPr>
        <p:spPr>
          <a:xfrm>
            <a:off x="5239345" y="4432578"/>
            <a:ext cx="4151709" cy="717947"/>
          </a:xfrm>
          <a:prstGeom prst="rect">
            <a:avLst/>
          </a:prstGeom>
          <a:noFill/>
          <a:ln/>
        </p:spPr>
        <p:txBody>
          <a:bodyPr wrap="none" lIns="0" tIns="0" rIns="0" bIns="0" rtlCol="0" anchor="t"/>
          <a:lstStyle/>
          <a:p>
            <a:pPr algn="ctr" indent="0" marL="0">
              <a:lnSpc>
                <a:spcPts val="5650"/>
              </a:lnSpc>
              <a:buNone/>
            </a:pPr>
            <a:r>
              <a:rPr lang="en-US" sz="5650" b="1" dirty="0">
                <a:solidFill>
                  <a:srgbClr val="000000"/>
                </a:solidFill>
                <a:latin typeface="Inter Bold" pitchFamily="34" charset="0"/>
                <a:ea typeface="Inter Bold" pitchFamily="34" charset="-122"/>
                <a:cs typeface="Inter Bold" pitchFamily="34" charset="-120"/>
              </a:rPr>
              <a:t>2nd</a:t>
            </a:r>
            <a:endParaRPr lang="en-US" sz="5650" dirty="0"/>
          </a:p>
        </p:txBody>
      </p:sp>
      <p:sp>
        <p:nvSpPr>
          <p:cNvPr id="8" name="Text 5"/>
          <p:cNvSpPr/>
          <p:nvPr/>
        </p:nvSpPr>
        <p:spPr>
          <a:xfrm>
            <a:off x="5955387" y="5422344"/>
            <a:ext cx="2719507" cy="339923"/>
          </a:xfrm>
          <a:prstGeom prst="rect">
            <a:avLst/>
          </a:prstGeom>
          <a:noFill/>
          <a:ln/>
        </p:spPr>
        <p:txBody>
          <a:bodyPr wrap="none" lIns="0" tIns="0" rIns="0" bIns="0" rtlCol="0" anchor="t"/>
          <a:lstStyle/>
          <a:p>
            <a:pPr algn="ctr" indent="0" marL="0">
              <a:lnSpc>
                <a:spcPts val="2650"/>
              </a:lnSpc>
              <a:buNone/>
            </a:pPr>
            <a:r>
              <a:rPr lang="en-US" sz="2100" b="1" dirty="0">
                <a:solidFill>
                  <a:srgbClr val="000000"/>
                </a:solidFill>
                <a:latin typeface="Inter Bold" pitchFamily="34" charset="0"/>
                <a:ea typeface="Inter Bold" pitchFamily="34" charset="-122"/>
                <a:cs typeface="Inter Bold" pitchFamily="34" charset="-120"/>
              </a:rPr>
              <a:t>F1 Score</a:t>
            </a:r>
            <a:endParaRPr lang="en-US" sz="2100" dirty="0"/>
          </a:p>
        </p:txBody>
      </p:sp>
      <p:sp>
        <p:nvSpPr>
          <p:cNvPr id="9" name="Text 6"/>
          <p:cNvSpPr/>
          <p:nvPr/>
        </p:nvSpPr>
        <p:spPr>
          <a:xfrm>
            <a:off x="5239345" y="5892760"/>
            <a:ext cx="4151709" cy="1740098"/>
          </a:xfrm>
          <a:prstGeom prst="rect">
            <a:avLst/>
          </a:prstGeom>
          <a:noFill/>
          <a:ln/>
        </p:spPr>
        <p:txBody>
          <a:bodyPr wrap="square" lIns="0" tIns="0" rIns="0" bIns="0" rtlCol="0" anchor="t"/>
          <a:lstStyle/>
          <a:p>
            <a:pPr algn="ctr" indent="0" marL="0">
              <a:lnSpc>
                <a:spcPts val="2700"/>
              </a:lnSpc>
              <a:buNone/>
            </a:pPr>
            <a:r>
              <a:rPr lang="en-US" sz="1700" dirty="0">
                <a:solidFill>
                  <a:srgbClr val="000000"/>
                </a:solidFill>
                <a:latin typeface="Inter" pitchFamily="34" charset="0"/>
                <a:ea typeface="Inter" pitchFamily="34" charset="-122"/>
                <a:cs typeface="Inter" pitchFamily="34" charset="-120"/>
              </a:rPr>
              <a:t>Ideal when seeking balance between precision and recall. Particularly useful for imbalanced datasets where both false positives and false negatives are concerns.</a:t>
            </a:r>
            <a:endParaRPr lang="en-US" sz="1700" dirty="0"/>
          </a:p>
        </p:txBody>
      </p:sp>
      <p:sp>
        <p:nvSpPr>
          <p:cNvPr id="10" name="Text 7"/>
          <p:cNvSpPr/>
          <p:nvPr/>
        </p:nvSpPr>
        <p:spPr>
          <a:xfrm>
            <a:off x="9717286" y="4432578"/>
            <a:ext cx="4151709" cy="717947"/>
          </a:xfrm>
          <a:prstGeom prst="rect">
            <a:avLst/>
          </a:prstGeom>
          <a:noFill/>
          <a:ln/>
        </p:spPr>
        <p:txBody>
          <a:bodyPr wrap="none" lIns="0" tIns="0" rIns="0" bIns="0" rtlCol="0" anchor="t"/>
          <a:lstStyle/>
          <a:p>
            <a:pPr algn="ctr" indent="0" marL="0">
              <a:lnSpc>
                <a:spcPts val="5650"/>
              </a:lnSpc>
              <a:buNone/>
            </a:pPr>
            <a:r>
              <a:rPr lang="en-US" sz="5650" b="1" dirty="0">
                <a:solidFill>
                  <a:srgbClr val="000000"/>
                </a:solidFill>
                <a:latin typeface="Inter Bold" pitchFamily="34" charset="0"/>
                <a:ea typeface="Inter Bold" pitchFamily="34" charset="-122"/>
                <a:cs typeface="Inter Bold" pitchFamily="34" charset="-120"/>
              </a:rPr>
              <a:t>3rd</a:t>
            </a:r>
            <a:endParaRPr lang="en-US" sz="5650" dirty="0"/>
          </a:p>
        </p:txBody>
      </p:sp>
      <p:sp>
        <p:nvSpPr>
          <p:cNvPr id="11" name="Text 8"/>
          <p:cNvSpPr/>
          <p:nvPr/>
        </p:nvSpPr>
        <p:spPr>
          <a:xfrm>
            <a:off x="10433328" y="5422344"/>
            <a:ext cx="2719507" cy="339923"/>
          </a:xfrm>
          <a:prstGeom prst="rect">
            <a:avLst/>
          </a:prstGeom>
          <a:noFill/>
          <a:ln/>
        </p:spPr>
        <p:txBody>
          <a:bodyPr wrap="none" lIns="0" tIns="0" rIns="0" bIns="0" rtlCol="0" anchor="t"/>
          <a:lstStyle/>
          <a:p>
            <a:pPr algn="ctr" indent="0" marL="0">
              <a:lnSpc>
                <a:spcPts val="2650"/>
              </a:lnSpc>
              <a:buNone/>
            </a:pPr>
            <a:r>
              <a:rPr lang="en-US" sz="2100" b="1" dirty="0">
                <a:solidFill>
                  <a:srgbClr val="000000"/>
                </a:solidFill>
                <a:latin typeface="Inter Bold" pitchFamily="34" charset="0"/>
                <a:ea typeface="Inter Bold" pitchFamily="34" charset="-122"/>
                <a:cs typeface="Inter Bold" pitchFamily="34" charset="-120"/>
              </a:rPr>
              <a:t>AUC-ROC</a:t>
            </a:r>
            <a:endParaRPr lang="en-US" sz="2100" dirty="0"/>
          </a:p>
        </p:txBody>
      </p:sp>
      <p:sp>
        <p:nvSpPr>
          <p:cNvPr id="12" name="Text 9"/>
          <p:cNvSpPr/>
          <p:nvPr/>
        </p:nvSpPr>
        <p:spPr>
          <a:xfrm>
            <a:off x="9717286" y="5892760"/>
            <a:ext cx="4151709" cy="1392079"/>
          </a:xfrm>
          <a:prstGeom prst="rect">
            <a:avLst/>
          </a:prstGeom>
          <a:noFill/>
          <a:ln/>
        </p:spPr>
        <p:txBody>
          <a:bodyPr wrap="square" lIns="0" tIns="0" rIns="0" bIns="0" rtlCol="0" anchor="t"/>
          <a:lstStyle/>
          <a:p>
            <a:pPr algn="ctr" indent="0" marL="0">
              <a:lnSpc>
                <a:spcPts val="2700"/>
              </a:lnSpc>
              <a:buNone/>
            </a:pPr>
            <a:r>
              <a:rPr lang="en-US" sz="1700" dirty="0">
                <a:solidFill>
                  <a:srgbClr val="000000"/>
                </a:solidFill>
                <a:latin typeface="Inter" pitchFamily="34" charset="0"/>
                <a:ea typeface="Inter" pitchFamily="34" charset="-122"/>
                <a:cs typeface="Inter" pitchFamily="34" charset="-120"/>
              </a:rPr>
              <a:t>Excellent for ranking predictions and evaluating performance across various thresholds. Robust to class imbalance but may be less intuitive to interpret.</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88670" y="620673"/>
            <a:ext cx="7566660" cy="1408509"/>
          </a:xfrm>
          <a:prstGeom prst="rect">
            <a:avLst/>
          </a:prstGeom>
          <a:noFill/>
          <a:ln/>
        </p:spPr>
        <p:txBody>
          <a:bodyPr wrap="square" lIns="0" tIns="0" rIns="0" bIns="0" rtlCol="0" anchor="t"/>
          <a:lstStyle/>
          <a:p>
            <a:pPr indent="0" marL="0">
              <a:lnSpc>
                <a:spcPts val="5500"/>
              </a:lnSpc>
              <a:buNone/>
            </a:pPr>
            <a:r>
              <a:rPr lang="en-US" sz="4400" b="1" dirty="0">
                <a:solidFill>
                  <a:srgbClr val="000000"/>
                </a:solidFill>
                <a:latin typeface="Inter Bold" pitchFamily="34" charset="0"/>
                <a:ea typeface="Inter Bold" pitchFamily="34" charset="-122"/>
                <a:cs typeface="Inter Bold" pitchFamily="34" charset="-120"/>
              </a:rPr>
              <a:t>Comparing Regression Metrics</a:t>
            </a:r>
            <a:endParaRPr lang="en-US" sz="4400" dirty="0"/>
          </a:p>
        </p:txBody>
      </p:sp>
      <p:pic>
        <p:nvPicPr>
          <p:cNvPr id="4" name="Image 1" descr="preencoded.png">    </p:cNvPr>
          <p:cNvPicPr>
            <a:picLocks noChangeAspect="1"/>
          </p:cNvPicPr>
          <p:nvPr/>
        </p:nvPicPr>
        <p:blipFill>
          <a:blip r:embed="rId2"/>
          <a:stretch>
            <a:fillRect/>
          </a:stretch>
        </p:blipFill>
        <p:spPr>
          <a:xfrm>
            <a:off x="788670" y="2367201"/>
            <a:ext cx="563404" cy="563404"/>
          </a:xfrm>
          <a:prstGeom prst="rect">
            <a:avLst/>
          </a:prstGeom>
        </p:spPr>
      </p:pic>
      <p:pic>
        <p:nvPicPr>
          <p:cNvPr id="5" name="Image 2" descr="preencoded.png">    </p:cNvPr>
          <p:cNvPicPr>
            <a:picLocks noChangeAspect="1"/>
          </p:cNvPicPr>
          <p:nvPr/>
        </p:nvPicPr>
        <p:blipFill>
          <a:blip r:embed="rId3"/>
          <a:stretch>
            <a:fillRect/>
          </a:stretch>
        </p:blipFill>
        <p:spPr>
          <a:xfrm>
            <a:off x="788670" y="2367201"/>
            <a:ext cx="563404" cy="563404"/>
          </a:xfrm>
          <a:prstGeom prst="rect">
            <a:avLst/>
          </a:prstGeom>
        </p:spPr>
      </p:pic>
      <p:sp>
        <p:nvSpPr>
          <p:cNvPr id="6" name="Text 1"/>
          <p:cNvSpPr/>
          <p:nvPr/>
        </p:nvSpPr>
        <p:spPr>
          <a:xfrm>
            <a:off x="788670" y="3155871"/>
            <a:ext cx="2296835" cy="352068"/>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MAE</a:t>
            </a:r>
            <a:endParaRPr lang="en-US" sz="2200" dirty="0"/>
          </a:p>
        </p:txBody>
      </p:sp>
      <p:sp>
        <p:nvSpPr>
          <p:cNvPr id="7" name="Text 2"/>
          <p:cNvSpPr/>
          <p:nvPr/>
        </p:nvSpPr>
        <p:spPr>
          <a:xfrm>
            <a:off x="788670" y="3643074"/>
            <a:ext cx="2296835" cy="3605213"/>
          </a:xfrm>
          <a:prstGeom prst="rect">
            <a:avLst/>
          </a:prstGeom>
          <a:noFill/>
          <a:ln/>
        </p:spPr>
        <p:txBody>
          <a:bodyPr wrap="square" lIns="0" tIns="0" rIns="0" bIns="0" rtlCol="0" anchor="t"/>
          <a:lstStyle/>
          <a:p>
            <a:pPr algn="l" indent="0" marL="0">
              <a:lnSpc>
                <a:spcPts val="2800"/>
              </a:lnSpc>
              <a:buNone/>
            </a:pPr>
            <a:r>
              <a:rPr lang="en-US" sz="1750" dirty="0">
                <a:solidFill>
                  <a:srgbClr val="000000"/>
                </a:solidFill>
                <a:latin typeface="Inter" pitchFamily="34" charset="0"/>
                <a:ea typeface="Inter" pitchFamily="34" charset="-122"/>
                <a:cs typeface="Inter" pitchFamily="34" charset="-120"/>
              </a:rPr>
              <a:t>Use when errors should be treated equally regardless of direction. Less sensitive to outliers than squared error metrics. Provides error in the same units as the target variable.</a:t>
            </a:r>
            <a:endParaRPr lang="en-US" sz="1750" dirty="0"/>
          </a:p>
        </p:txBody>
      </p:sp>
      <p:pic>
        <p:nvPicPr>
          <p:cNvPr id="8" name="Image 3" descr="preencoded.png">    </p:cNvPr>
          <p:cNvPicPr>
            <a:picLocks noChangeAspect="1"/>
          </p:cNvPicPr>
          <p:nvPr/>
        </p:nvPicPr>
        <p:blipFill>
          <a:blip r:embed="rId4"/>
          <a:stretch>
            <a:fillRect/>
          </a:stretch>
        </p:blipFill>
        <p:spPr>
          <a:xfrm>
            <a:off x="3423523" y="2367201"/>
            <a:ext cx="563404" cy="563404"/>
          </a:xfrm>
          <a:prstGeom prst="rect">
            <a:avLst/>
          </a:prstGeom>
        </p:spPr>
      </p:pic>
      <p:pic>
        <p:nvPicPr>
          <p:cNvPr id="9" name="Image 4" descr="preencoded.png">    </p:cNvPr>
          <p:cNvPicPr>
            <a:picLocks noChangeAspect="1"/>
          </p:cNvPicPr>
          <p:nvPr/>
        </p:nvPicPr>
        <p:blipFill>
          <a:blip r:embed="rId5"/>
          <a:stretch>
            <a:fillRect/>
          </a:stretch>
        </p:blipFill>
        <p:spPr>
          <a:xfrm>
            <a:off x="3423523" y="2367201"/>
            <a:ext cx="563404" cy="563404"/>
          </a:xfrm>
          <a:prstGeom prst="rect">
            <a:avLst/>
          </a:prstGeom>
        </p:spPr>
      </p:pic>
      <p:sp>
        <p:nvSpPr>
          <p:cNvPr id="10" name="Text 3"/>
          <p:cNvSpPr/>
          <p:nvPr/>
        </p:nvSpPr>
        <p:spPr>
          <a:xfrm>
            <a:off x="3423523" y="3155871"/>
            <a:ext cx="2296835" cy="352068"/>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MSE/RMSE</a:t>
            </a:r>
            <a:endParaRPr lang="en-US" sz="2200" dirty="0"/>
          </a:p>
        </p:txBody>
      </p:sp>
      <p:sp>
        <p:nvSpPr>
          <p:cNvPr id="11" name="Text 4"/>
          <p:cNvSpPr/>
          <p:nvPr/>
        </p:nvSpPr>
        <p:spPr>
          <a:xfrm>
            <a:off x="3423523" y="3643074"/>
            <a:ext cx="2296835" cy="3965734"/>
          </a:xfrm>
          <a:prstGeom prst="rect">
            <a:avLst/>
          </a:prstGeom>
          <a:noFill/>
          <a:ln/>
        </p:spPr>
        <p:txBody>
          <a:bodyPr wrap="square" lIns="0" tIns="0" rIns="0" bIns="0" rtlCol="0" anchor="t"/>
          <a:lstStyle/>
          <a:p>
            <a:pPr algn="l" indent="0" marL="0">
              <a:lnSpc>
                <a:spcPts val="2800"/>
              </a:lnSpc>
              <a:buNone/>
            </a:pPr>
            <a:r>
              <a:rPr lang="en-US" sz="1750" dirty="0">
                <a:solidFill>
                  <a:srgbClr val="000000"/>
                </a:solidFill>
                <a:latin typeface="Inter" pitchFamily="34" charset="0"/>
                <a:ea typeface="Inter" pitchFamily="34" charset="-122"/>
                <a:cs typeface="Inter" pitchFamily="34" charset="-120"/>
              </a:rPr>
              <a:t>Use when large errors are particularly undesirable. RMSE provides error in the same units as the target variable, making it more interpretable than MSE. Both are sensitive to outliers.</a:t>
            </a:r>
            <a:endParaRPr lang="en-US" sz="1750" dirty="0"/>
          </a:p>
        </p:txBody>
      </p:sp>
      <p:pic>
        <p:nvPicPr>
          <p:cNvPr id="12" name="Image 5" descr="preencoded.png">    </p:cNvPr>
          <p:cNvPicPr>
            <a:picLocks noChangeAspect="1"/>
          </p:cNvPicPr>
          <p:nvPr/>
        </p:nvPicPr>
        <p:blipFill>
          <a:blip r:embed="rId6"/>
          <a:stretch>
            <a:fillRect/>
          </a:stretch>
        </p:blipFill>
        <p:spPr>
          <a:xfrm>
            <a:off x="6058376" y="2367201"/>
            <a:ext cx="563404" cy="563404"/>
          </a:xfrm>
          <a:prstGeom prst="rect">
            <a:avLst/>
          </a:prstGeom>
        </p:spPr>
      </p:pic>
      <p:pic>
        <p:nvPicPr>
          <p:cNvPr id="13" name="Image 6" descr="preencoded.png">    </p:cNvPr>
          <p:cNvPicPr>
            <a:picLocks noChangeAspect="1"/>
          </p:cNvPicPr>
          <p:nvPr/>
        </p:nvPicPr>
        <p:blipFill>
          <a:blip r:embed="rId7"/>
          <a:stretch>
            <a:fillRect/>
          </a:stretch>
        </p:blipFill>
        <p:spPr>
          <a:xfrm>
            <a:off x="6058376" y="2367201"/>
            <a:ext cx="563404" cy="563404"/>
          </a:xfrm>
          <a:prstGeom prst="rect">
            <a:avLst/>
          </a:prstGeom>
        </p:spPr>
      </p:pic>
      <p:sp>
        <p:nvSpPr>
          <p:cNvPr id="14" name="Text 5"/>
          <p:cNvSpPr/>
          <p:nvPr/>
        </p:nvSpPr>
        <p:spPr>
          <a:xfrm>
            <a:off x="6058376" y="3155871"/>
            <a:ext cx="2296954" cy="352068"/>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R² Score</a:t>
            </a:r>
            <a:endParaRPr lang="en-US" sz="2200" dirty="0"/>
          </a:p>
        </p:txBody>
      </p:sp>
      <p:sp>
        <p:nvSpPr>
          <p:cNvPr id="15" name="Text 6"/>
          <p:cNvSpPr/>
          <p:nvPr/>
        </p:nvSpPr>
        <p:spPr>
          <a:xfrm>
            <a:off x="6058376" y="3643074"/>
            <a:ext cx="2296954" cy="3244691"/>
          </a:xfrm>
          <a:prstGeom prst="rect">
            <a:avLst/>
          </a:prstGeom>
          <a:noFill/>
          <a:ln/>
        </p:spPr>
        <p:txBody>
          <a:bodyPr wrap="square" lIns="0" tIns="0" rIns="0" bIns="0" rtlCol="0" anchor="t"/>
          <a:lstStyle/>
          <a:p>
            <a:pPr algn="l" indent="0" marL="0">
              <a:lnSpc>
                <a:spcPts val="2800"/>
              </a:lnSpc>
              <a:buNone/>
            </a:pPr>
            <a:r>
              <a:rPr lang="en-US" sz="1750" dirty="0">
                <a:solidFill>
                  <a:srgbClr val="000000"/>
                </a:solidFill>
                <a:latin typeface="Inter" pitchFamily="34" charset="0"/>
                <a:ea typeface="Inter" pitchFamily="34" charset="-122"/>
                <a:cs typeface="Inter" pitchFamily="34" charset="-120"/>
              </a:rPr>
              <a:t>Use when you want to know how much of the variance is explained by your model. Standardized scale (0-1) makes it easy to interpret and compare across different models.</a:t>
            </a:r>
            <a:endParaRPr lang="en-US" sz="1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1058585"/>
            <a:ext cx="10184844" cy="708779"/>
          </a:xfrm>
          <a:prstGeom prst="rect">
            <a:avLst/>
          </a:prstGeom>
          <a:noFill/>
          <a:ln/>
        </p:spPr>
        <p:txBody>
          <a:bodyPr wrap="none" lIns="0" tIns="0" rIns="0" bIns="0" rtlCol="0" anchor="t"/>
          <a:lstStyle/>
          <a:p>
            <a:pPr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Summary: Choosing the Right Metric</a:t>
            </a:r>
            <a:endParaRPr lang="en-US" sz="4450" dirty="0"/>
          </a:p>
        </p:txBody>
      </p:sp>
      <p:sp>
        <p:nvSpPr>
          <p:cNvPr id="3" name="Text 1"/>
          <p:cNvSpPr/>
          <p:nvPr/>
        </p:nvSpPr>
        <p:spPr>
          <a:xfrm>
            <a:off x="2097643" y="2402443"/>
            <a:ext cx="2835235" cy="354330"/>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Problem Type</a:t>
            </a:r>
            <a:endParaRPr lang="en-US" sz="2200" dirty="0"/>
          </a:p>
        </p:txBody>
      </p:sp>
      <p:sp>
        <p:nvSpPr>
          <p:cNvPr id="4" name="Text 2"/>
          <p:cNvSpPr/>
          <p:nvPr/>
        </p:nvSpPr>
        <p:spPr>
          <a:xfrm>
            <a:off x="793790" y="2892862"/>
            <a:ext cx="4139089" cy="1451610"/>
          </a:xfrm>
          <a:prstGeom prst="rect">
            <a:avLst/>
          </a:prstGeom>
          <a:noFill/>
          <a:ln/>
        </p:spPr>
        <p:txBody>
          <a:bodyPr wrap="square" lIns="0" tIns="0" rIns="0" bIns="0" rtlCol="0" anchor="t"/>
          <a:lstStyle/>
          <a:p>
            <a:pPr algn="r" indent="0" marL="0">
              <a:lnSpc>
                <a:spcPts val="2850"/>
              </a:lnSpc>
              <a:buNone/>
            </a:pPr>
            <a:r>
              <a:rPr lang="en-US" sz="1750" dirty="0">
                <a:solidFill>
                  <a:srgbClr val="000000"/>
                </a:solidFill>
                <a:latin typeface="Inter" pitchFamily="34" charset="0"/>
                <a:ea typeface="Inter" pitchFamily="34" charset="-122"/>
                <a:cs typeface="Inter" pitchFamily="34" charset="-120"/>
              </a:rPr>
              <a:t>First determine if you're solving a classification or regression problem, as this dictates which family of metrics to consider.</a:t>
            </a:r>
            <a:endParaRPr lang="en-US" sz="1750" dirty="0"/>
          </a:p>
        </p:txBody>
      </p:sp>
      <p:pic>
        <p:nvPicPr>
          <p:cNvPr id="5" name="Image 0" descr="preencoded.png">    </p:cNvPr>
          <p:cNvPicPr>
            <a:picLocks noChangeAspect="1"/>
          </p:cNvPicPr>
          <p:nvPr/>
        </p:nvPicPr>
        <p:blipFill>
          <a:blip r:embed="rId1"/>
          <a:stretch>
            <a:fillRect/>
          </a:stretch>
        </p:blipFill>
        <p:spPr>
          <a:xfrm>
            <a:off x="5273040" y="2954060"/>
            <a:ext cx="3483769" cy="3483769"/>
          </a:xfrm>
          <a:prstGeom prst="rect">
            <a:avLst/>
          </a:prstGeom>
        </p:spPr>
      </p:pic>
      <p:sp>
        <p:nvSpPr>
          <p:cNvPr id="6" name="Shape 3"/>
          <p:cNvSpPr/>
          <p:nvPr/>
        </p:nvSpPr>
        <p:spPr>
          <a:xfrm>
            <a:off x="5545812" y="3226832"/>
            <a:ext cx="566976" cy="566976"/>
          </a:xfrm>
          <a:prstGeom prst="roundRect">
            <a:avLst>
              <a:gd name="adj" fmla="val 1611154"/>
            </a:avLst>
          </a:prstGeom>
          <a:solidFill>
            <a:srgbClr val="F7D5D4"/>
          </a:solidFill>
          <a:ln w="7620">
            <a:solidFill>
              <a:srgbClr val="DDBBBA"/>
            </a:solidFill>
            <a:prstDash val="solid"/>
          </a:ln>
        </p:spPr>
      </p:sp>
      <p:sp>
        <p:nvSpPr>
          <p:cNvPr id="7" name="Text 4"/>
          <p:cNvSpPr/>
          <p:nvPr/>
        </p:nvSpPr>
        <p:spPr>
          <a:xfrm>
            <a:off x="5701665" y="3350776"/>
            <a:ext cx="255151" cy="318968"/>
          </a:xfrm>
          <a:prstGeom prst="rect">
            <a:avLst/>
          </a:prstGeom>
          <a:noFill/>
          <a:ln/>
        </p:spPr>
        <p:txBody>
          <a:bodyPr wrap="none" lIns="0" tIns="0" rIns="0" bIns="0" rtlCol="0" anchor="t"/>
          <a:lstStyle/>
          <a:p>
            <a:pPr indent="0" marL="0">
              <a:lnSpc>
                <a:spcPts val="3200"/>
              </a:lnSpc>
              <a:buNone/>
            </a:pPr>
            <a:r>
              <a:rPr lang="en-US" sz="2000" b="1" dirty="0">
                <a:solidFill>
                  <a:srgbClr val="000000"/>
                </a:solidFill>
                <a:latin typeface="Inter Bold" pitchFamily="34" charset="0"/>
                <a:ea typeface="Inter Bold" pitchFamily="34" charset="-122"/>
                <a:cs typeface="Inter Bold" pitchFamily="34" charset="-120"/>
              </a:rPr>
              <a:t>1</a:t>
            </a:r>
            <a:endParaRPr lang="en-US" sz="2000" dirty="0"/>
          </a:p>
        </p:txBody>
      </p:sp>
      <p:sp>
        <p:nvSpPr>
          <p:cNvPr id="8" name="Text 5"/>
          <p:cNvSpPr/>
          <p:nvPr/>
        </p:nvSpPr>
        <p:spPr>
          <a:xfrm>
            <a:off x="9096970" y="222099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Data Characteristics</a:t>
            </a:r>
            <a:endParaRPr lang="en-US" sz="2200" dirty="0"/>
          </a:p>
        </p:txBody>
      </p:sp>
      <p:sp>
        <p:nvSpPr>
          <p:cNvPr id="9" name="Text 6"/>
          <p:cNvSpPr/>
          <p:nvPr/>
        </p:nvSpPr>
        <p:spPr>
          <a:xfrm>
            <a:off x="9096970" y="2711410"/>
            <a:ext cx="4139089" cy="1814513"/>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Consider class balance (for classification) or value distribution (for regression). Imbalanced datasets may require metrics like F1 score or AUC rather than accuracy.</a:t>
            </a:r>
            <a:endParaRPr lang="en-US" sz="1750" dirty="0"/>
          </a:p>
        </p:txBody>
      </p:sp>
      <p:pic>
        <p:nvPicPr>
          <p:cNvPr id="10" name="Image 1" descr="preencoded.png">    </p:cNvPr>
          <p:cNvPicPr>
            <a:picLocks noChangeAspect="1"/>
          </p:cNvPicPr>
          <p:nvPr/>
        </p:nvPicPr>
        <p:blipFill>
          <a:blip r:embed="rId2"/>
          <a:stretch>
            <a:fillRect/>
          </a:stretch>
        </p:blipFill>
        <p:spPr>
          <a:xfrm>
            <a:off x="5273040" y="2954060"/>
            <a:ext cx="3483769" cy="3483769"/>
          </a:xfrm>
          <a:prstGeom prst="rect">
            <a:avLst/>
          </a:prstGeom>
        </p:spPr>
      </p:pic>
      <p:sp>
        <p:nvSpPr>
          <p:cNvPr id="11" name="Shape 7"/>
          <p:cNvSpPr/>
          <p:nvPr/>
        </p:nvSpPr>
        <p:spPr>
          <a:xfrm>
            <a:off x="7916942" y="3226832"/>
            <a:ext cx="566976" cy="566976"/>
          </a:xfrm>
          <a:prstGeom prst="roundRect">
            <a:avLst>
              <a:gd name="adj" fmla="val 1611154"/>
            </a:avLst>
          </a:prstGeom>
          <a:solidFill>
            <a:srgbClr val="F7D5D4"/>
          </a:solidFill>
          <a:ln w="7620">
            <a:solidFill>
              <a:srgbClr val="DDBBBA"/>
            </a:solidFill>
            <a:prstDash val="solid"/>
          </a:ln>
        </p:spPr>
      </p:sp>
      <p:sp>
        <p:nvSpPr>
          <p:cNvPr id="12" name="Text 8"/>
          <p:cNvSpPr/>
          <p:nvPr/>
        </p:nvSpPr>
        <p:spPr>
          <a:xfrm>
            <a:off x="8072795" y="3350776"/>
            <a:ext cx="255151" cy="318968"/>
          </a:xfrm>
          <a:prstGeom prst="rect">
            <a:avLst/>
          </a:prstGeom>
          <a:noFill/>
          <a:ln/>
        </p:spPr>
        <p:txBody>
          <a:bodyPr wrap="none" lIns="0" tIns="0" rIns="0" bIns="0" rtlCol="0" anchor="t"/>
          <a:lstStyle/>
          <a:p>
            <a:pPr indent="0" marL="0">
              <a:lnSpc>
                <a:spcPts val="3200"/>
              </a:lnSpc>
              <a:buNone/>
            </a:pPr>
            <a:r>
              <a:rPr lang="en-US" sz="2000" b="1" dirty="0">
                <a:solidFill>
                  <a:srgbClr val="000000"/>
                </a:solidFill>
                <a:latin typeface="Inter Bold" pitchFamily="34" charset="0"/>
                <a:ea typeface="Inter Bold" pitchFamily="34" charset="-122"/>
                <a:cs typeface="Inter Bold" pitchFamily="34" charset="-120"/>
              </a:rPr>
              <a:t>2</a:t>
            </a:r>
            <a:endParaRPr lang="en-US" sz="2000" dirty="0"/>
          </a:p>
        </p:txBody>
      </p:sp>
      <p:sp>
        <p:nvSpPr>
          <p:cNvPr id="13" name="Text 9"/>
          <p:cNvSpPr/>
          <p:nvPr/>
        </p:nvSpPr>
        <p:spPr>
          <a:xfrm>
            <a:off x="9096970" y="504753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Error Tolerance</a:t>
            </a:r>
            <a:endParaRPr lang="en-US" sz="2200" dirty="0"/>
          </a:p>
        </p:txBody>
      </p:sp>
      <p:sp>
        <p:nvSpPr>
          <p:cNvPr id="14" name="Text 10"/>
          <p:cNvSpPr/>
          <p:nvPr/>
        </p:nvSpPr>
        <p:spPr>
          <a:xfrm>
            <a:off x="9096970" y="5537954"/>
            <a:ext cx="4139089"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Determine if all errors should be treated equally (MAE) or if larger errors should be penalized more heavily (MSE/RMSE).</a:t>
            </a:r>
            <a:endParaRPr lang="en-US" sz="1750" dirty="0"/>
          </a:p>
        </p:txBody>
      </p:sp>
      <p:pic>
        <p:nvPicPr>
          <p:cNvPr id="15" name="Image 2" descr="preencoded.png">    </p:cNvPr>
          <p:cNvPicPr>
            <a:picLocks noChangeAspect="1"/>
          </p:cNvPicPr>
          <p:nvPr/>
        </p:nvPicPr>
        <p:blipFill>
          <a:blip r:embed="rId3"/>
          <a:stretch>
            <a:fillRect/>
          </a:stretch>
        </p:blipFill>
        <p:spPr>
          <a:xfrm>
            <a:off x="5273040" y="2954060"/>
            <a:ext cx="3483769" cy="3483769"/>
          </a:xfrm>
          <a:prstGeom prst="rect">
            <a:avLst/>
          </a:prstGeom>
        </p:spPr>
      </p:pic>
      <p:sp>
        <p:nvSpPr>
          <p:cNvPr id="16" name="Shape 11"/>
          <p:cNvSpPr/>
          <p:nvPr/>
        </p:nvSpPr>
        <p:spPr>
          <a:xfrm>
            <a:off x="7916942" y="5597962"/>
            <a:ext cx="566976" cy="566976"/>
          </a:xfrm>
          <a:prstGeom prst="roundRect">
            <a:avLst>
              <a:gd name="adj" fmla="val 1611154"/>
            </a:avLst>
          </a:prstGeom>
          <a:solidFill>
            <a:srgbClr val="F7D5D4"/>
          </a:solidFill>
          <a:ln w="7620">
            <a:solidFill>
              <a:srgbClr val="DDBBBA"/>
            </a:solidFill>
            <a:prstDash val="solid"/>
          </a:ln>
        </p:spPr>
      </p:sp>
      <p:sp>
        <p:nvSpPr>
          <p:cNvPr id="17" name="Text 12"/>
          <p:cNvSpPr/>
          <p:nvPr/>
        </p:nvSpPr>
        <p:spPr>
          <a:xfrm>
            <a:off x="8072795" y="5721906"/>
            <a:ext cx="255151" cy="318968"/>
          </a:xfrm>
          <a:prstGeom prst="rect">
            <a:avLst/>
          </a:prstGeom>
          <a:noFill/>
          <a:ln/>
        </p:spPr>
        <p:txBody>
          <a:bodyPr wrap="none" lIns="0" tIns="0" rIns="0" bIns="0" rtlCol="0" anchor="t"/>
          <a:lstStyle/>
          <a:p>
            <a:pPr indent="0" marL="0">
              <a:lnSpc>
                <a:spcPts val="3200"/>
              </a:lnSpc>
              <a:buNone/>
            </a:pPr>
            <a:r>
              <a:rPr lang="en-US" sz="2000" b="1" dirty="0">
                <a:solidFill>
                  <a:srgbClr val="000000"/>
                </a:solidFill>
                <a:latin typeface="Inter Bold" pitchFamily="34" charset="0"/>
                <a:ea typeface="Inter Bold" pitchFamily="34" charset="-122"/>
                <a:cs typeface="Inter Bold" pitchFamily="34" charset="-120"/>
              </a:rPr>
              <a:t>3</a:t>
            </a:r>
            <a:endParaRPr lang="en-US" sz="2000" dirty="0"/>
          </a:p>
        </p:txBody>
      </p:sp>
      <p:sp>
        <p:nvSpPr>
          <p:cNvPr id="18" name="Text 13"/>
          <p:cNvSpPr/>
          <p:nvPr/>
        </p:nvSpPr>
        <p:spPr>
          <a:xfrm>
            <a:off x="2097643" y="4866084"/>
            <a:ext cx="2835235" cy="354330"/>
          </a:xfrm>
          <a:prstGeom prst="rect">
            <a:avLst/>
          </a:prstGeom>
          <a:noFill/>
          <a:ln/>
        </p:spPr>
        <p:txBody>
          <a:bodyPr wrap="none" lIns="0" tIns="0" rIns="0" bIns="0" rtlCol="0" anchor="t"/>
          <a:lstStyle/>
          <a:p>
            <a:pPr algn="r"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Application Context</a:t>
            </a:r>
            <a:endParaRPr lang="en-US" sz="2200" dirty="0"/>
          </a:p>
        </p:txBody>
      </p:sp>
      <p:sp>
        <p:nvSpPr>
          <p:cNvPr id="19" name="Text 14"/>
          <p:cNvSpPr/>
          <p:nvPr/>
        </p:nvSpPr>
        <p:spPr>
          <a:xfrm>
            <a:off x="793790" y="5356503"/>
            <a:ext cx="4139089" cy="1814513"/>
          </a:xfrm>
          <a:prstGeom prst="rect">
            <a:avLst/>
          </a:prstGeom>
          <a:noFill/>
          <a:ln/>
        </p:spPr>
        <p:txBody>
          <a:bodyPr wrap="square" lIns="0" tIns="0" rIns="0" bIns="0" rtlCol="0" anchor="t"/>
          <a:lstStyle/>
          <a:p>
            <a:pPr algn="r" indent="0" marL="0">
              <a:lnSpc>
                <a:spcPts val="2850"/>
              </a:lnSpc>
              <a:buNone/>
            </a:pPr>
            <a:r>
              <a:rPr lang="en-US" sz="1750" dirty="0">
                <a:solidFill>
                  <a:srgbClr val="000000"/>
                </a:solidFill>
                <a:latin typeface="Inter" pitchFamily="34" charset="0"/>
                <a:ea typeface="Inter" pitchFamily="34" charset="-122"/>
                <a:cs typeface="Inter" pitchFamily="34" charset="-120"/>
              </a:rPr>
              <a:t>Consider the real-world implications of different types of errors. Some applications may be more sensitive to false positives, others to false negatives.</a:t>
            </a:r>
            <a:endParaRPr lang="en-US" sz="1750" dirty="0"/>
          </a:p>
        </p:txBody>
      </p:sp>
      <p:pic>
        <p:nvPicPr>
          <p:cNvPr id="20" name="Image 3" descr="preencoded.png">    </p:cNvPr>
          <p:cNvPicPr>
            <a:picLocks noChangeAspect="1"/>
          </p:cNvPicPr>
          <p:nvPr/>
        </p:nvPicPr>
        <p:blipFill>
          <a:blip r:embed="rId4"/>
          <a:stretch>
            <a:fillRect/>
          </a:stretch>
        </p:blipFill>
        <p:spPr>
          <a:xfrm>
            <a:off x="5273040" y="2954060"/>
            <a:ext cx="3483769" cy="3483769"/>
          </a:xfrm>
          <a:prstGeom prst="rect">
            <a:avLst/>
          </a:prstGeom>
        </p:spPr>
      </p:pic>
      <p:sp>
        <p:nvSpPr>
          <p:cNvPr id="21" name="Shape 15"/>
          <p:cNvSpPr/>
          <p:nvPr/>
        </p:nvSpPr>
        <p:spPr>
          <a:xfrm>
            <a:off x="5545812" y="5597962"/>
            <a:ext cx="566976" cy="566976"/>
          </a:xfrm>
          <a:prstGeom prst="roundRect">
            <a:avLst>
              <a:gd name="adj" fmla="val 1611154"/>
            </a:avLst>
          </a:prstGeom>
          <a:solidFill>
            <a:srgbClr val="F7D5D4"/>
          </a:solidFill>
          <a:ln w="7620">
            <a:solidFill>
              <a:srgbClr val="DDBBBA"/>
            </a:solidFill>
            <a:prstDash val="solid"/>
          </a:ln>
        </p:spPr>
      </p:sp>
      <p:sp>
        <p:nvSpPr>
          <p:cNvPr id="22" name="Text 16"/>
          <p:cNvSpPr/>
          <p:nvPr/>
        </p:nvSpPr>
        <p:spPr>
          <a:xfrm>
            <a:off x="5701665" y="5721906"/>
            <a:ext cx="255151" cy="318968"/>
          </a:xfrm>
          <a:prstGeom prst="rect">
            <a:avLst/>
          </a:prstGeom>
          <a:noFill/>
          <a:ln/>
        </p:spPr>
        <p:txBody>
          <a:bodyPr wrap="none" lIns="0" tIns="0" rIns="0" bIns="0" rtlCol="0" anchor="t"/>
          <a:lstStyle/>
          <a:p>
            <a:pPr indent="0" marL="0">
              <a:lnSpc>
                <a:spcPts val="3200"/>
              </a:lnSpc>
              <a:buNone/>
            </a:pPr>
            <a:r>
              <a:rPr lang="en-US" sz="2000" b="1" dirty="0">
                <a:solidFill>
                  <a:srgbClr val="000000"/>
                </a:solidFill>
                <a:latin typeface="Inter Bold" pitchFamily="34" charset="0"/>
                <a:ea typeface="Inter Bold" pitchFamily="34" charset="-122"/>
                <a:cs typeface="Inter Bold" pitchFamily="34" charset="-120"/>
              </a:rPr>
              <a:t>4</a:t>
            </a:r>
            <a:endParaRPr lang="en-US" sz="2000" dirty="0"/>
          </a:p>
        </p:txBody>
      </p:sp>
      <p:pic>
        <p:nvPicPr>
          <p:cNvPr id="23" name="Image 4" descr="preencoded.png">    </p:cNvPr>
          <p:cNvPicPr>
            <a:picLocks noChangeAspect="1"/>
          </p:cNvPicPr>
          <p:nvPr/>
        </p:nvPicPr>
        <p:blipFill>
          <a:blip r:embed="rId5"/>
          <a:stretch>
            <a:fillRect/>
          </a:stretch>
        </p:blipFill>
        <p:spPr>
          <a:xfrm>
            <a:off x="13464778" y="228600"/>
            <a:ext cx="937022" cy="50280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2025-03-05T12:08:35Z</dcterms:created>
  <dcterms:modified xsi:type="dcterms:W3CDTF">2025-03-05T12:08:35Z</dcterms:modified>
</cp:coreProperties>
</file>