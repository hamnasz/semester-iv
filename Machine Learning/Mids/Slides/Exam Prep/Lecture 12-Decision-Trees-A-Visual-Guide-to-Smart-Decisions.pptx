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4630400" cy="8229600"/>
  <p:notesSz cx="8229600" cy="14630400"/>
  <p:embeddedFontLst>
    <p:embeddedFont>
      <p:font typeface="Libre Baskerville"/>
      <p:regular r:id="rId22"/>
    </p:embeddedFont>
    <p:embeddedFont>
      <p:font typeface="Libre Baskerville"/>
      <p:regular r:id="rId23"/>
    </p:embeddedFont>
    <p:embeddedFont>
      <p:font typeface="Libre Baskerville"/>
      <p:regular r:id="rId24"/>
    </p:embeddedFont>
    <p:embeddedFont>
      <p:font typeface="Libre Baskerville"/>
      <p:regular r:id="rId25"/>
    </p:embeddedFont>
    <p:embeddedFont>
      <p:font typeface="Libre Baskerville"/>
      <p:regular r:id="rId26"/>
    </p:embeddedFont>
    <p:embeddedFont>
      <p:font typeface="Libre Baskerville"/>
      <p:regular r:id="rId27"/>
    </p:embeddedFont>
    <p:embeddedFont>
      <p:font typeface="Libre Baskerville"/>
      <p:regular r:id="rId28"/>
    </p:embeddedFont>
    <p:embeddedFont>
      <p:font typeface="Libre Baskerville"/>
      <p:regular r:id="rId29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Relationship Id="rId26" Type="http://schemas.openxmlformats.org/officeDocument/2006/relationships/font" Target="fonts/font5.fntdata"/><Relationship Id="rId27" Type="http://schemas.openxmlformats.org/officeDocument/2006/relationships/font" Target="fonts/font6.fntdata"/><Relationship Id="rId28" Type="http://schemas.openxmlformats.org/officeDocument/2006/relationships/font" Target="fonts/font7.fntdata"/><Relationship Id="rId29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0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5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6.xml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982748"/>
            <a:ext cx="7100649" cy="2835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Understanding Decision Trees: A Visual Guide to Smart Decisions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5158026"/>
            <a:ext cx="710064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Decision trees are simple diagrams showing choices and their possible outcomes. They help you make decisions easily through visual representations of options.</a:t>
            </a:r>
            <a:endParaRPr lang="en-US" sz="17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897374"/>
            <a:ext cx="7100649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What is a Decision Tree?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2655094"/>
            <a:ext cx="3436977" cy="2765227"/>
          </a:xfrm>
          <a:prstGeom prst="roundRect">
            <a:avLst>
              <a:gd name="adj" fmla="val 3445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14624" y="2889528"/>
            <a:ext cx="296810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Visual Decision Tool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514624" y="3734276"/>
            <a:ext cx="29681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 graphical representation of different options for solving a problem.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9943981" y="2655094"/>
            <a:ext cx="3436977" cy="2765227"/>
          </a:xfrm>
          <a:prstGeom prst="roundRect">
            <a:avLst>
              <a:gd name="adj" fmla="val 3445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178415" y="2889528"/>
            <a:ext cx="296810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Hierarchical Structure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0178415" y="3734276"/>
            <a:ext cx="29681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Starts with one main question at the top and branches into different possible outcomes.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6280190" y="5647134"/>
            <a:ext cx="7100649" cy="1685092"/>
          </a:xfrm>
          <a:prstGeom prst="roundRect">
            <a:avLst>
              <a:gd name="adj" fmla="val 5654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14624" y="5881568"/>
            <a:ext cx="333470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Relationship Mapping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514624" y="6371987"/>
            <a:ext cx="663178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Shows how different factors are related and influence the final decision.</a:t>
            </a:r>
            <a:endParaRPr lang="en-US" sz="17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04" y="2563178"/>
            <a:ext cx="4959191" cy="310312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224111" y="1082397"/>
            <a:ext cx="6630353" cy="658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150"/>
              </a:lnSpc>
              <a:buNone/>
            </a:pPr>
            <a:r>
              <a:rPr lang="en-US" sz="41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Decision Tree Structure</a:t>
            </a:r>
            <a:endParaRPr lang="en-US" sz="4100" dirty="0"/>
          </a:p>
        </p:txBody>
      </p:sp>
      <p:sp>
        <p:nvSpPr>
          <p:cNvPr id="5" name="Shape 1"/>
          <p:cNvSpPr/>
          <p:nvPr/>
        </p:nvSpPr>
        <p:spPr>
          <a:xfrm>
            <a:off x="6224111" y="2294215"/>
            <a:ext cx="474226" cy="474226"/>
          </a:xfrm>
          <a:prstGeom prst="roundRect">
            <a:avLst>
              <a:gd name="adj" fmla="val 18670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6303109" y="2333685"/>
            <a:ext cx="316111" cy="395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1</a:t>
            </a:r>
            <a:endParaRPr lang="en-US" sz="2450" dirty="0"/>
          </a:p>
        </p:txBody>
      </p:sp>
      <p:sp>
        <p:nvSpPr>
          <p:cNvPr id="7" name="Text 3"/>
          <p:cNvSpPr/>
          <p:nvPr/>
        </p:nvSpPr>
        <p:spPr>
          <a:xfrm>
            <a:off x="6909078" y="2294215"/>
            <a:ext cx="2634972" cy="329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Root Node</a:t>
            </a:r>
            <a:endParaRPr lang="en-US" sz="2050" dirty="0"/>
          </a:p>
        </p:txBody>
      </p:sp>
      <p:sp>
        <p:nvSpPr>
          <p:cNvPr id="8" name="Text 4"/>
          <p:cNvSpPr/>
          <p:nvPr/>
        </p:nvSpPr>
        <p:spPr>
          <a:xfrm>
            <a:off x="6909078" y="2749987"/>
            <a:ext cx="6471761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The starting point representing the entire dataset.</a:t>
            </a:r>
            <a:endParaRPr lang="en-US" sz="1650" dirty="0"/>
          </a:p>
        </p:txBody>
      </p:sp>
      <p:sp>
        <p:nvSpPr>
          <p:cNvPr id="9" name="Shape 5"/>
          <p:cNvSpPr/>
          <p:nvPr/>
        </p:nvSpPr>
        <p:spPr>
          <a:xfrm>
            <a:off x="6224111" y="3535085"/>
            <a:ext cx="474226" cy="474226"/>
          </a:xfrm>
          <a:prstGeom prst="roundRect">
            <a:avLst>
              <a:gd name="adj" fmla="val 18670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303109" y="3574554"/>
            <a:ext cx="316111" cy="395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2</a:t>
            </a:r>
            <a:endParaRPr lang="en-US" sz="2450" dirty="0"/>
          </a:p>
        </p:txBody>
      </p:sp>
      <p:sp>
        <p:nvSpPr>
          <p:cNvPr id="11" name="Text 7"/>
          <p:cNvSpPr/>
          <p:nvPr/>
        </p:nvSpPr>
        <p:spPr>
          <a:xfrm>
            <a:off x="6909078" y="3535085"/>
            <a:ext cx="2634972" cy="329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Branches</a:t>
            </a:r>
            <a:endParaRPr lang="en-US" sz="2050" dirty="0"/>
          </a:p>
        </p:txBody>
      </p:sp>
      <p:sp>
        <p:nvSpPr>
          <p:cNvPr id="12" name="Text 8"/>
          <p:cNvSpPr/>
          <p:nvPr/>
        </p:nvSpPr>
        <p:spPr>
          <a:xfrm>
            <a:off x="6909078" y="3990856"/>
            <a:ext cx="6471761" cy="67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Lines connecting nodes, showing flow from one decision to another.</a:t>
            </a:r>
            <a:endParaRPr lang="en-US" sz="1650" dirty="0"/>
          </a:p>
        </p:txBody>
      </p:sp>
      <p:sp>
        <p:nvSpPr>
          <p:cNvPr id="13" name="Shape 9"/>
          <p:cNvSpPr/>
          <p:nvPr/>
        </p:nvSpPr>
        <p:spPr>
          <a:xfrm>
            <a:off x="6224111" y="5113258"/>
            <a:ext cx="474226" cy="474226"/>
          </a:xfrm>
          <a:prstGeom prst="roundRect">
            <a:avLst>
              <a:gd name="adj" fmla="val 18670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303109" y="5152727"/>
            <a:ext cx="316111" cy="395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3</a:t>
            </a:r>
            <a:endParaRPr lang="en-US" sz="2450" dirty="0"/>
          </a:p>
        </p:txBody>
      </p:sp>
      <p:sp>
        <p:nvSpPr>
          <p:cNvPr id="15" name="Text 11"/>
          <p:cNvSpPr/>
          <p:nvPr/>
        </p:nvSpPr>
        <p:spPr>
          <a:xfrm>
            <a:off x="6909078" y="5113258"/>
            <a:ext cx="2634972" cy="329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Internal Nodes</a:t>
            </a:r>
            <a:endParaRPr lang="en-US" sz="2050" dirty="0"/>
          </a:p>
        </p:txBody>
      </p:sp>
      <p:sp>
        <p:nvSpPr>
          <p:cNvPr id="16" name="Text 12"/>
          <p:cNvSpPr/>
          <p:nvPr/>
        </p:nvSpPr>
        <p:spPr>
          <a:xfrm>
            <a:off x="6909078" y="5569029"/>
            <a:ext cx="6471761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Points where decisions are made based on input features.</a:t>
            </a:r>
            <a:endParaRPr lang="en-US" sz="1650" dirty="0"/>
          </a:p>
        </p:txBody>
      </p:sp>
      <p:sp>
        <p:nvSpPr>
          <p:cNvPr id="17" name="Shape 13"/>
          <p:cNvSpPr/>
          <p:nvPr/>
        </p:nvSpPr>
        <p:spPr>
          <a:xfrm>
            <a:off x="6224111" y="6354128"/>
            <a:ext cx="474226" cy="474226"/>
          </a:xfrm>
          <a:prstGeom prst="roundRect">
            <a:avLst>
              <a:gd name="adj" fmla="val 18670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03109" y="6393597"/>
            <a:ext cx="316111" cy="395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4</a:t>
            </a:r>
            <a:endParaRPr lang="en-US" sz="2450" dirty="0"/>
          </a:p>
        </p:txBody>
      </p:sp>
      <p:sp>
        <p:nvSpPr>
          <p:cNvPr id="19" name="Text 15"/>
          <p:cNvSpPr/>
          <p:nvPr/>
        </p:nvSpPr>
        <p:spPr>
          <a:xfrm>
            <a:off x="6909078" y="6354128"/>
            <a:ext cx="2634972" cy="329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Leaf Nodes</a:t>
            </a:r>
            <a:endParaRPr lang="en-US" sz="2050" dirty="0"/>
          </a:p>
        </p:txBody>
      </p:sp>
      <p:sp>
        <p:nvSpPr>
          <p:cNvPr id="20" name="Text 16"/>
          <p:cNvSpPr/>
          <p:nvPr/>
        </p:nvSpPr>
        <p:spPr>
          <a:xfrm>
            <a:off x="6909078" y="6809899"/>
            <a:ext cx="6471761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Terminal nodes representing final outcomes or predictions.</a:t>
            </a:r>
            <a:endParaRPr lang="en-US" sz="16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085493"/>
            <a:ext cx="637627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Visualizing Decisions</a:t>
            </a:r>
            <a:endParaRPr lang="en-US" sz="4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190" y="2134433"/>
            <a:ext cx="1134070" cy="166985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754422" y="23612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Evaluate Options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7754422" y="2851666"/>
            <a:ext cx="562641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Decision trees support decision-making by visualizing potential outcomes.</a:t>
            </a:r>
            <a:endParaRPr lang="en-US" sz="17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190" y="3804285"/>
            <a:ext cx="1134070" cy="166985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754422" y="4031099"/>
            <a:ext cx="287000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Compare Branches</a:t>
            </a:r>
            <a:endParaRPr lang="en-US" sz="2200" dirty="0"/>
          </a:p>
        </p:txBody>
      </p:sp>
      <p:sp>
        <p:nvSpPr>
          <p:cNvPr id="9" name="Text 4"/>
          <p:cNvSpPr/>
          <p:nvPr/>
        </p:nvSpPr>
        <p:spPr>
          <a:xfrm>
            <a:off x="7754422" y="4521517"/>
            <a:ext cx="562641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Quickly evaluate different paths to determine the best course of action.</a:t>
            </a:r>
            <a:endParaRPr lang="en-US" sz="17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90" y="5474137"/>
            <a:ext cx="1134070" cy="166985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754422" y="57009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See Consequences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7754422" y="6191369"/>
            <a:ext cx="562641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View potential results of each decision before making a choice.</a:t>
            </a:r>
            <a:endParaRPr lang="en-US" sz="17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99" y="2000012"/>
            <a:ext cx="4962882" cy="4229457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219111" y="576858"/>
            <a:ext cx="7161728" cy="1308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50"/>
              </a:lnSpc>
              <a:buNone/>
            </a:pPr>
            <a:r>
              <a:rPr lang="en-US" sz="41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Real-World Example: Coffee Decision</a:t>
            </a:r>
            <a:endParaRPr lang="en-US" sz="4100" dirty="0"/>
          </a:p>
        </p:txBody>
      </p:sp>
      <p:sp>
        <p:nvSpPr>
          <p:cNvPr id="5" name="Shape 1"/>
          <p:cNvSpPr/>
          <p:nvPr/>
        </p:nvSpPr>
        <p:spPr>
          <a:xfrm>
            <a:off x="6454616" y="2199323"/>
            <a:ext cx="22860" cy="5453301"/>
          </a:xfrm>
          <a:prstGeom prst="roundRect">
            <a:avLst>
              <a:gd name="adj" fmla="val 384687"/>
            </a:avLst>
          </a:prstGeom>
          <a:solidFill>
            <a:srgbClr val="E5B2B2"/>
          </a:solidFill>
          <a:ln/>
        </p:spPr>
      </p:sp>
      <p:sp>
        <p:nvSpPr>
          <p:cNvPr id="6" name="Shape 2"/>
          <p:cNvSpPr/>
          <p:nvPr/>
        </p:nvSpPr>
        <p:spPr>
          <a:xfrm>
            <a:off x="6667262" y="2658904"/>
            <a:ext cx="628055" cy="22860"/>
          </a:xfrm>
          <a:prstGeom prst="roundRect">
            <a:avLst>
              <a:gd name="adj" fmla="val 384687"/>
            </a:avLst>
          </a:prstGeom>
          <a:solidFill>
            <a:srgbClr val="E5B2B2"/>
          </a:solidFill>
          <a:ln/>
        </p:spPr>
      </p:sp>
      <p:sp>
        <p:nvSpPr>
          <p:cNvPr id="7" name="Shape 3"/>
          <p:cNvSpPr/>
          <p:nvPr/>
        </p:nvSpPr>
        <p:spPr>
          <a:xfrm>
            <a:off x="6219111" y="2434828"/>
            <a:ext cx="471011" cy="471011"/>
          </a:xfrm>
          <a:prstGeom prst="roundRect">
            <a:avLst>
              <a:gd name="adj" fmla="val 18670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297632" y="2474059"/>
            <a:ext cx="313968" cy="3925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1</a:t>
            </a:r>
            <a:endParaRPr lang="en-US" sz="2450" dirty="0"/>
          </a:p>
        </p:txBody>
      </p:sp>
      <p:sp>
        <p:nvSpPr>
          <p:cNvPr id="9" name="Text 5"/>
          <p:cNvSpPr/>
          <p:nvPr/>
        </p:nvSpPr>
        <p:spPr>
          <a:xfrm>
            <a:off x="7501533" y="2408634"/>
            <a:ext cx="2617232" cy="327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Morning Check</a:t>
            </a:r>
            <a:endParaRPr lang="en-US" sz="2050" dirty="0"/>
          </a:p>
        </p:txBody>
      </p:sp>
      <p:sp>
        <p:nvSpPr>
          <p:cNvPr id="10" name="Text 6"/>
          <p:cNvSpPr/>
          <p:nvPr/>
        </p:nvSpPr>
        <p:spPr>
          <a:xfrm>
            <a:off x="7501533" y="2861310"/>
            <a:ext cx="5879306" cy="335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First, the tree checks if it's morning.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667262" y="4074557"/>
            <a:ext cx="628055" cy="22860"/>
          </a:xfrm>
          <a:prstGeom prst="roundRect">
            <a:avLst>
              <a:gd name="adj" fmla="val 384687"/>
            </a:avLst>
          </a:prstGeom>
          <a:solidFill>
            <a:srgbClr val="E5B2B2"/>
          </a:solidFill>
          <a:ln/>
        </p:spPr>
      </p:sp>
      <p:sp>
        <p:nvSpPr>
          <p:cNvPr id="12" name="Shape 8"/>
          <p:cNvSpPr/>
          <p:nvPr/>
        </p:nvSpPr>
        <p:spPr>
          <a:xfrm>
            <a:off x="6219111" y="3850481"/>
            <a:ext cx="471011" cy="471011"/>
          </a:xfrm>
          <a:prstGeom prst="roundRect">
            <a:avLst>
              <a:gd name="adj" fmla="val 18670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97632" y="3889712"/>
            <a:ext cx="313968" cy="3925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2</a:t>
            </a:r>
            <a:endParaRPr lang="en-US" sz="2450" dirty="0"/>
          </a:p>
        </p:txBody>
      </p:sp>
      <p:sp>
        <p:nvSpPr>
          <p:cNvPr id="14" name="Text 10"/>
          <p:cNvSpPr/>
          <p:nvPr/>
        </p:nvSpPr>
        <p:spPr>
          <a:xfrm>
            <a:off x="7501533" y="3824288"/>
            <a:ext cx="2617232" cy="327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Tiredness Level</a:t>
            </a:r>
            <a:endParaRPr lang="en-US" sz="2050" dirty="0"/>
          </a:p>
        </p:txBody>
      </p:sp>
      <p:sp>
        <p:nvSpPr>
          <p:cNvPr id="15" name="Text 11"/>
          <p:cNvSpPr/>
          <p:nvPr/>
        </p:nvSpPr>
        <p:spPr>
          <a:xfrm>
            <a:off x="7501533" y="4276963"/>
            <a:ext cx="5879306" cy="335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Then, it asks whether you are tired.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667262" y="5490210"/>
            <a:ext cx="628055" cy="22860"/>
          </a:xfrm>
          <a:prstGeom prst="roundRect">
            <a:avLst>
              <a:gd name="adj" fmla="val 384687"/>
            </a:avLst>
          </a:prstGeom>
          <a:solidFill>
            <a:srgbClr val="E5B2B2"/>
          </a:solidFill>
          <a:ln/>
        </p:spPr>
      </p:sp>
      <p:sp>
        <p:nvSpPr>
          <p:cNvPr id="17" name="Shape 13"/>
          <p:cNvSpPr/>
          <p:nvPr/>
        </p:nvSpPr>
        <p:spPr>
          <a:xfrm>
            <a:off x="6219111" y="5266134"/>
            <a:ext cx="471011" cy="471011"/>
          </a:xfrm>
          <a:prstGeom prst="roundRect">
            <a:avLst>
              <a:gd name="adj" fmla="val 18670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97632" y="5305365"/>
            <a:ext cx="313968" cy="3925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3</a:t>
            </a:r>
            <a:endParaRPr lang="en-US" sz="2450" dirty="0"/>
          </a:p>
        </p:txBody>
      </p:sp>
      <p:sp>
        <p:nvSpPr>
          <p:cNvPr id="19" name="Text 15"/>
          <p:cNvSpPr/>
          <p:nvPr/>
        </p:nvSpPr>
        <p:spPr>
          <a:xfrm>
            <a:off x="7501533" y="5239941"/>
            <a:ext cx="2617232" cy="327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Make Decision</a:t>
            </a:r>
            <a:endParaRPr lang="en-US" sz="2050" dirty="0"/>
          </a:p>
        </p:txBody>
      </p:sp>
      <p:sp>
        <p:nvSpPr>
          <p:cNvPr id="20" name="Text 16"/>
          <p:cNvSpPr/>
          <p:nvPr/>
        </p:nvSpPr>
        <p:spPr>
          <a:xfrm>
            <a:off x="7501533" y="5692616"/>
            <a:ext cx="5879306" cy="335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If tired, drink coffee. If not, no coffee needed.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667262" y="6905863"/>
            <a:ext cx="628055" cy="22860"/>
          </a:xfrm>
          <a:prstGeom prst="roundRect">
            <a:avLst>
              <a:gd name="adj" fmla="val 384687"/>
            </a:avLst>
          </a:prstGeom>
          <a:solidFill>
            <a:srgbClr val="E5B2B2"/>
          </a:solidFill>
          <a:ln/>
        </p:spPr>
      </p:sp>
      <p:sp>
        <p:nvSpPr>
          <p:cNvPr id="22" name="Shape 18"/>
          <p:cNvSpPr/>
          <p:nvPr/>
        </p:nvSpPr>
        <p:spPr>
          <a:xfrm>
            <a:off x="6219111" y="6681788"/>
            <a:ext cx="471011" cy="471011"/>
          </a:xfrm>
          <a:prstGeom prst="roundRect">
            <a:avLst>
              <a:gd name="adj" fmla="val 18670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297632" y="6721019"/>
            <a:ext cx="313968" cy="3925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2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4</a:t>
            </a:r>
            <a:endParaRPr lang="en-US" sz="2450" dirty="0"/>
          </a:p>
        </p:txBody>
      </p:sp>
      <p:sp>
        <p:nvSpPr>
          <p:cNvPr id="24" name="Text 20"/>
          <p:cNvSpPr/>
          <p:nvPr/>
        </p:nvSpPr>
        <p:spPr>
          <a:xfrm>
            <a:off x="7501533" y="6655594"/>
            <a:ext cx="2639616" cy="327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Afternoon Analysis</a:t>
            </a:r>
            <a:endParaRPr lang="en-US" sz="2050" dirty="0"/>
          </a:p>
        </p:txBody>
      </p:sp>
      <p:sp>
        <p:nvSpPr>
          <p:cNvPr id="25" name="Text 21"/>
          <p:cNvSpPr/>
          <p:nvPr/>
        </p:nvSpPr>
        <p:spPr>
          <a:xfrm>
            <a:off x="7501533" y="7108269"/>
            <a:ext cx="5879306" cy="335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Similar process repeats for afternoon decisions.</a:t>
            </a:r>
            <a:endParaRPr lang="en-US" sz="16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539960"/>
            <a:ext cx="716208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Types of Decision Trees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815715"/>
            <a:ext cx="291560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Classification Trees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396859"/>
            <a:ext cx="6016823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Designed to predict categorical outcomes. They classify data into different classes like "spam" or "not spam" emails.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371636" y="381571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Regression Trees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71636" y="4396859"/>
            <a:ext cx="6016823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Used when the target variable is continuous. They predict numerical values such as house prices based on features.</a:t>
            </a:r>
            <a:endParaRPr lang="en-US" sz="17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30881"/>
            <a:ext cx="1219402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How Decision Trees Work: Starting Point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1595676" y="408789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Root Node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578310"/>
            <a:ext cx="36371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Begins with a main question derived from dataset features.</a:t>
            </a:r>
            <a:endParaRPr lang="en-US" sz="17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4539" y="2493288"/>
            <a:ext cx="4405432" cy="44054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06403" y="4203978"/>
            <a:ext cx="12358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630132" y="290143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Initial Question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630132" y="3391853"/>
            <a:ext cx="375070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First decision point that serves as the starting point.</a:t>
            </a:r>
            <a:endParaRPr lang="en-US" sz="17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539" y="2493288"/>
            <a:ext cx="4405432" cy="44054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983974" y="3286244"/>
            <a:ext cx="18454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9630132" y="527423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Dataset Division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9630132" y="5764649"/>
            <a:ext cx="375070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Splits the entire dataset into initial categories.</a:t>
            </a:r>
            <a:endParaRPr lang="en-US" sz="17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539" y="2493288"/>
            <a:ext cx="4405432" cy="44054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526774" y="5917168"/>
            <a:ext cx="180618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3</a:t>
            </a:r>
            <a:endParaRPr lang="en-US" sz="22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30660" y="755333"/>
            <a:ext cx="7150179" cy="132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1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How Decision Trees Work: The Process</a:t>
            </a:r>
            <a:endParaRPr lang="en-US" sz="4150" dirty="0"/>
          </a:p>
        </p:txBody>
      </p:sp>
      <p:sp>
        <p:nvSpPr>
          <p:cNvPr id="4" name="Shape 1"/>
          <p:cNvSpPr/>
          <p:nvPr/>
        </p:nvSpPr>
        <p:spPr>
          <a:xfrm>
            <a:off x="6230660" y="2403277"/>
            <a:ext cx="159425" cy="1140143"/>
          </a:xfrm>
          <a:prstGeom prst="roundRect">
            <a:avLst>
              <a:gd name="adj" fmla="val 56022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709053" y="2403277"/>
            <a:ext cx="3053001" cy="332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Ask Yes/No Questions</a:t>
            </a:r>
            <a:endParaRPr lang="en-US" sz="2050" dirty="0"/>
          </a:p>
        </p:txBody>
      </p:sp>
      <p:sp>
        <p:nvSpPr>
          <p:cNvPr id="6" name="Text 3"/>
          <p:cNvSpPr/>
          <p:nvPr/>
        </p:nvSpPr>
        <p:spPr>
          <a:xfrm>
            <a:off x="6709053" y="2863096"/>
            <a:ext cx="6671786" cy="68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Series of questions designed to split data into subsets based on attributes.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6549628" y="3756065"/>
            <a:ext cx="159425" cy="799981"/>
          </a:xfrm>
          <a:prstGeom prst="roundRect">
            <a:avLst>
              <a:gd name="adj" fmla="val 56022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28021" y="3756065"/>
            <a:ext cx="2658070" cy="332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Follow Branches</a:t>
            </a:r>
            <a:endParaRPr lang="en-US" sz="2050" dirty="0"/>
          </a:p>
        </p:txBody>
      </p:sp>
      <p:sp>
        <p:nvSpPr>
          <p:cNvPr id="9" name="Text 6"/>
          <p:cNvSpPr/>
          <p:nvPr/>
        </p:nvSpPr>
        <p:spPr>
          <a:xfrm>
            <a:off x="7028021" y="4215884"/>
            <a:ext cx="6352818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Different responses lead down different paths in the tree.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868597" y="4768691"/>
            <a:ext cx="159425" cy="1140143"/>
          </a:xfrm>
          <a:prstGeom prst="roundRect">
            <a:avLst>
              <a:gd name="adj" fmla="val 56022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46990" y="4768691"/>
            <a:ext cx="2873335" cy="332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Continue Branching</a:t>
            </a:r>
            <a:endParaRPr lang="en-US" sz="2050" dirty="0"/>
          </a:p>
        </p:txBody>
      </p:sp>
      <p:sp>
        <p:nvSpPr>
          <p:cNvPr id="12" name="Text 9"/>
          <p:cNvSpPr/>
          <p:nvPr/>
        </p:nvSpPr>
        <p:spPr>
          <a:xfrm>
            <a:off x="7346990" y="5228511"/>
            <a:ext cx="6033849" cy="68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Process repeats, breaking data into smaller, more specific groups.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7187565" y="6121479"/>
            <a:ext cx="159425" cy="1140143"/>
          </a:xfrm>
          <a:prstGeom prst="roundRect">
            <a:avLst>
              <a:gd name="adj" fmla="val 56022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65958" y="6121479"/>
            <a:ext cx="2658070" cy="332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Reach Conclusion</a:t>
            </a:r>
            <a:endParaRPr lang="en-US" sz="2050" dirty="0"/>
          </a:p>
        </p:txBody>
      </p:sp>
      <p:sp>
        <p:nvSpPr>
          <p:cNvPr id="15" name="Text 12"/>
          <p:cNvSpPr/>
          <p:nvPr/>
        </p:nvSpPr>
        <p:spPr>
          <a:xfrm>
            <a:off x="7665958" y="6581299"/>
            <a:ext cx="5714881" cy="68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End at a leaf node with the final outcome or prediction.</a:t>
            </a:r>
            <a:endParaRPr lang="en-US" sz="16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644265"/>
            <a:ext cx="875240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Advantages of Decision Trees</a:t>
            </a:r>
            <a:endParaRPr lang="en-US" sz="4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0" y="4693206"/>
            <a:ext cx="566976" cy="56697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548699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Simplicity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793790" y="5977414"/>
            <a:ext cx="300549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Straightforward and easy to understand like a flowchart.</a:t>
            </a:r>
            <a:endParaRPr lang="en-US" sz="17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446" y="4693206"/>
            <a:ext cx="566976" cy="56697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139446" y="548699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Versatility</a:t>
            </a:r>
            <a:endParaRPr lang="en-US" sz="2200" dirty="0"/>
          </a:p>
        </p:txBody>
      </p:sp>
      <p:sp>
        <p:nvSpPr>
          <p:cNvPr id="9" name="Text 4"/>
          <p:cNvSpPr/>
          <p:nvPr/>
        </p:nvSpPr>
        <p:spPr>
          <a:xfrm>
            <a:off x="4139446" y="5977414"/>
            <a:ext cx="300561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Can be used for both classification and regression tasks.</a:t>
            </a:r>
            <a:endParaRPr lang="en-US" sz="17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5221" y="4693206"/>
            <a:ext cx="566976" cy="56697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485221" y="548699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No Feature Scaling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7485221" y="5977414"/>
            <a:ext cx="300561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Don't require normalizing or scaling your data.</a:t>
            </a:r>
            <a:endParaRPr lang="en-US" sz="17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0997" y="4693206"/>
            <a:ext cx="566976" cy="566976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830997" y="5486995"/>
            <a:ext cx="300561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Non-linear Relationships</a:t>
            </a:r>
            <a:endParaRPr lang="en-US" sz="2200" dirty="0"/>
          </a:p>
        </p:txBody>
      </p:sp>
      <p:sp>
        <p:nvSpPr>
          <p:cNvPr id="15" name="Text 8"/>
          <p:cNvSpPr/>
          <p:nvPr/>
        </p:nvSpPr>
        <p:spPr>
          <a:xfrm>
            <a:off x="10830997" y="6331744"/>
            <a:ext cx="300561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Capable of capturing complex relationships between variables.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16499"/>
            <a:ext cx="961882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Disadvantages of Decision Trees</a:t>
            </a:r>
            <a:endParaRPr lang="en-US" sz="44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2029" y="2678906"/>
            <a:ext cx="2076807" cy="130694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78580" y="3267551"/>
            <a:ext cx="12358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5205651" y="290572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Overfitting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205651" y="3396139"/>
            <a:ext cx="355532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Captures noise in training data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035510" y="3998952"/>
            <a:ext cx="8288655" cy="15240"/>
          </a:xfrm>
          <a:prstGeom prst="roundRect">
            <a:avLst>
              <a:gd name="adj" fmla="val 625116"/>
            </a:avLst>
          </a:prstGeom>
          <a:solidFill>
            <a:srgbClr val="E5B2B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685" y="4042529"/>
            <a:ext cx="4153614" cy="130694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848219" y="4469249"/>
            <a:ext cx="18454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6244114" y="426934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Instability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6244114" y="4759762"/>
            <a:ext cx="609457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Small input changes cause big prediction differences</a:t>
            </a:r>
            <a:endParaRPr lang="en-US" sz="1750" dirty="0"/>
          </a:p>
        </p:txBody>
      </p:sp>
      <p:sp>
        <p:nvSpPr>
          <p:cNvPr id="12" name="Shape 8"/>
          <p:cNvSpPr/>
          <p:nvPr/>
        </p:nvSpPr>
        <p:spPr>
          <a:xfrm>
            <a:off x="6073973" y="5362575"/>
            <a:ext cx="7250192" cy="15240"/>
          </a:xfrm>
          <a:prstGeom prst="roundRect">
            <a:avLst>
              <a:gd name="adj" fmla="val 625116"/>
            </a:avLst>
          </a:prstGeom>
          <a:solidFill>
            <a:srgbClr val="E5B2B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222" y="5406152"/>
            <a:ext cx="6230541" cy="130694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850124" y="5832872"/>
            <a:ext cx="180618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7282577" y="563296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Bias Issues</a:t>
            </a:r>
            <a:endParaRPr lang="en-US" sz="2200" dirty="0"/>
          </a:p>
        </p:txBody>
      </p:sp>
      <p:sp>
        <p:nvSpPr>
          <p:cNvPr id="16" name="Text 11"/>
          <p:cNvSpPr/>
          <p:nvPr/>
        </p:nvSpPr>
        <p:spPr>
          <a:xfrm>
            <a:off x="7282577" y="6123384"/>
            <a:ext cx="57971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Can overemphasize features with many categories</a:t>
            </a:r>
            <a:endParaRPr lang="en-US" sz="17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61616" y="610076"/>
            <a:ext cx="6199108" cy="692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450"/>
              </a:lnSpc>
              <a:buNone/>
            </a:pPr>
            <a:r>
              <a:rPr lang="en-US" sz="43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Application: Banking</a:t>
            </a:r>
            <a:endParaRPr lang="en-US" sz="4350" dirty="0"/>
          </a:p>
        </p:txBody>
      </p:sp>
      <p:sp>
        <p:nvSpPr>
          <p:cNvPr id="4" name="Text 1"/>
          <p:cNvSpPr/>
          <p:nvPr/>
        </p:nvSpPr>
        <p:spPr>
          <a:xfrm>
            <a:off x="6261616" y="1745099"/>
            <a:ext cx="3393519" cy="730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750"/>
              </a:lnSpc>
              <a:buNone/>
            </a:pPr>
            <a:r>
              <a:rPr lang="en-US" sz="57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1</a:t>
            </a:r>
            <a:endParaRPr lang="en-US" sz="5750" dirty="0"/>
          </a:p>
        </p:txBody>
      </p:sp>
      <p:sp>
        <p:nvSpPr>
          <p:cNvPr id="5" name="Text 2"/>
          <p:cNvSpPr/>
          <p:nvPr/>
        </p:nvSpPr>
        <p:spPr>
          <a:xfrm>
            <a:off x="6574036" y="2752844"/>
            <a:ext cx="2768679" cy="345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Loan Approval</a:t>
            </a:r>
            <a:endParaRPr lang="en-US" sz="2150" dirty="0"/>
          </a:p>
        </p:txBody>
      </p:sp>
      <p:sp>
        <p:nvSpPr>
          <p:cNvPr id="6" name="Text 3"/>
          <p:cNvSpPr/>
          <p:nvPr/>
        </p:nvSpPr>
        <p:spPr>
          <a:xfrm>
            <a:off x="6261616" y="3231713"/>
            <a:ext cx="3393519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Banks use decision trees to evaluate loan applications based on customer profiles.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987320" y="1745099"/>
            <a:ext cx="3393519" cy="730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750"/>
              </a:lnSpc>
              <a:buNone/>
            </a:pPr>
            <a:r>
              <a:rPr lang="en-US" sz="57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4</a:t>
            </a:r>
            <a:endParaRPr lang="en-US" sz="5750" dirty="0"/>
          </a:p>
        </p:txBody>
      </p:sp>
      <p:sp>
        <p:nvSpPr>
          <p:cNvPr id="8" name="Text 5"/>
          <p:cNvSpPr/>
          <p:nvPr/>
        </p:nvSpPr>
        <p:spPr>
          <a:xfrm>
            <a:off x="10299740" y="2752844"/>
            <a:ext cx="2768679" cy="345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Input Features</a:t>
            </a:r>
            <a:endParaRPr lang="en-US" sz="2150" dirty="0"/>
          </a:p>
        </p:txBody>
      </p:sp>
      <p:sp>
        <p:nvSpPr>
          <p:cNvPr id="9" name="Text 6"/>
          <p:cNvSpPr/>
          <p:nvPr/>
        </p:nvSpPr>
        <p:spPr>
          <a:xfrm>
            <a:off x="9987320" y="3231713"/>
            <a:ext cx="3393519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Income, credit score, employment status, and loan history inform the decision.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124468" y="5069800"/>
            <a:ext cx="3393519" cy="730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750"/>
              </a:lnSpc>
              <a:buNone/>
            </a:pPr>
            <a:r>
              <a:rPr lang="en-US" sz="57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2</a:t>
            </a:r>
            <a:endParaRPr lang="en-US" sz="5750" dirty="0"/>
          </a:p>
        </p:txBody>
      </p:sp>
      <p:sp>
        <p:nvSpPr>
          <p:cNvPr id="11" name="Text 8"/>
          <p:cNvSpPr/>
          <p:nvPr/>
        </p:nvSpPr>
        <p:spPr>
          <a:xfrm>
            <a:off x="8436888" y="6077545"/>
            <a:ext cx="2768679" cy="345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Outcomes</a:t>
            </a:r>
            <a:endParaRPr lang="en-US" sz="2150" dirty="0"/>
          </a:p>
        </p:txBody>
      </p:sp>
      <p:sp>
        <p:nvSpPr>
          <p:cNvPr id="12" name="Text 9"/>
          <p:cNvSpPr/>
          <p:nvPr/>
        </p:nvSpPr>
        <p:spPr>
          <a:xfrm>
            <a:off x="8124468" y="6556415"/>
            <a:ext cx="3393519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The tree predicts approval or rejection, enabling quick, reliable decisions.</a:t>
            </a:r>
            <a:endParaRPr lang="en-US" sz="17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71412"/>
            <a:ext cx="707874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Application: Healthcare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2149673" y="312170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Medical Diagnosis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3612118"/>
            <a:ext cx="419111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Predicting whether a patient has a specific condition like diabetes.</a:t>
            </a:r>
            <a:endParaRPr lang="en-US" sz="17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25070" y="2933819"/>
            <a:ext cx="3524369" cy="352436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04391" y="3213140"/>
            <a:ext cx="566976" cy="566976"/>
          </a:xfrm>
          <a:prstGeom prst="roundRect">
            <a:avLst>
              <a:gd name="adj" fmla="val 1611154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26085" y="3269813"/>
            <a:ext cx="12358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89601" y="312170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Clinical Data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89601" y="3612118"/>
            <a:ext cx="419123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Uses features like glucose levels, BMI, and blood pressure.</a:t>
            </a:r>
            <a:endParaRPr lang="en-US" sz="17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5070" y="2933819"/>
            <a:ext cx="3524369" cy="3524369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003024" y="3213140"/>
            <a:ext cx="566976" cy="566976"/>
          </a:xfrm>
          <a:prstGeom prst="roundRect">
            <a:avLst>
              <a:gd name="adj" fmla="val 1611154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194238" y="3269813"/>
            <a:ext cx="18454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9189601" y="5053965"/>
            <a:ext cx="314884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Patient Classification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9189601" y="5544383"/>
            <a:ext cx="419123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Tree categorizes patients to assist doctors in diagnosis.</a:t>
            </a:r>
            <a:endParaRPr lang="en-US" sz="17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070" y="2933819"/>
            <a:ext cx="3524369" cy="3524369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003024" y="5611773"/>
            <a:ext cx="566976" cy="566976"/>
          </a:xfrm>
          <a:prstGeom prst="roundRect">
            <a:avLst>
              <a:gd name="adj" fmla="val 1611154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196143" y="5668447"/>
            <a:ext cx="180618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1954768" y="5053965"/>
            <a:ext cx="303014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Treatment Planning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793790" y="5544383"/>
            <a:ext cx="419111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Helps determine appropriate care based on predicted outcomes.</a:t>
            </a:r>
            <a:endParaRPr lang="en-US" sz="175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5070" y="2933819"/>
            <a:ext cx="3524369" cy="3524369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604391" y="5611773"/>
            <a:ext cx="566976" cy="566976"/>
          </a:xfrm>
          <a:prstGeom prst="roundRect">
            <a:avLst>
              <a:gd name="adj" fmla="val 1611154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5793700" y="5668447"/>
            <a:ext cx="188238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4</a:t>
            </a:r>
            <a:endParaRPr lang="en-US" sz="22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59825"/>
            <a:ext cx="690122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Application: Education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622233"/>
            <a:ext cx="2097762" cy="1306949"/>
          </a:xfrm>
          <a:prstGeom prst="roundRect">
            <a:avLst>
              <a:gd name="adj" fmla="val 7289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224" y="3048953"/>
            <a:ext cx="12358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118366" y="2849047"/>
            <a:ext cx="403038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Student Success Prediction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118366" y="3339465"/>
            <a:ext cx="403038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Forecasting pass/fail outcomes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3004899" y="3913942"/>
            <a:ext cx="10262592" cy="15240"/>
          </a:xfrm>
          <a:prstGeom prst="roundRect">
            <a:avLst>
              <a:gd name="adj" fmla="val 625116"/>
            </a:avLst>
          </a:prstGeom>
          <a:solidFill>
            <a:srgbClr val="E5B2B2"/>
          </a:solidFill>
          <a:ln/>
        </p:spPr>
      </p:sp>
      <p:sp>
        <p:nvSpPr>
          <p:cNvPr id="8" name="Shape 6"/>
          <p:cNvSpPr/>
          <p:nvPr/>
        </p:nvSpPr>
        <p:spPr>
          <a:xfrm>
            <a:off x="793790" y="4042529"/>
            <a:ext cx="4195643" cy="1306949"/>
          </a:xfrm>
          <a:prstGeom prst="roundRect">
            <a:avLst>
              <a:gd name="adj" fmla="val 7289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8224" y="4469249"/>
            <a:ext cx="18454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216247" y="4269343"/>
            <a:ext cx="322790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Input Data Collection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16247" y="4759762"/>
            <a:ext cx="462807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Attendance, study time, previous grades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5102781" y="5334238"/>
            <a:ext cx="8164711" cy="15240"/>
          </a:xfrm>
          <a:prstGeom prst="roundRect">
            <a:avLst>
              <a:gd name="adj" fmla="val 625116"/>
            </a:avLst>
          </a:prstGeom>
          <a:solidFill>
            <a:srgbClr val="E5B2B2"/>
          </a:solidFill>
          <a:ln/>
        </p:spPr>
      </p:sp>
      <p:sp>
        <p:nvSpPr>
          <p:cNvPr id="13" name="Shape 11"/>
          <p:cNvSpPr/>
          <p:nvPr/>
        </p:nvSpPr>
        <p:spPr>
          <a:xfrm>
            <a:off x="793790" y="5462826"/>
            <a:ext cx="6293525" cy="1306949"/>
          </a:xfrm>
          <a:prstGeom prst="roundRect">
            <a:avLst>
              <a:gd name="adj" fmla="val 7289"/>
            </a:avLst>
          </a:prstGeom>
          <a:solidFill>
            <a:srgbClr val="FFCCCC"/>
          </a:solidFill>
          <a:ln w="7620">
            <a:solidFill>
              <a:srgbClr val="E5B2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8224" y="5889546"/>
            <a:ext cx="180618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4128" y="5689640"/>
            <a:ext cx="323754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At-Risk Identification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314128" y="6180058"/>
            <a:ext cx="41132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Targeting students needing support</a:t>
            </a:r>
            <a:endParaRPr lang="en-US" sz="175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75767"/>
            <a:ext cx="1000089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Building Effective Decision Trees</a:t>
            </a:r>
            <a:endParaRPr lang="en-US" sz="44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2538174"/>
            <a:ext cx="3968829" cy="24528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5274469"/>
            <a:ext cx="290429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Prevent Overfitting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5764887"/>
            <a:ext cx="396882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Prune your tree to remove unnecessary branches that might cause overfitting.</a:t>
            </a:r>
            <a:endParaRPr lang="en-US" sz="17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781" y="2538174"/>
            <a:ext cx="3968948" cy="245292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02781" y="527458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Balance Features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102781" y="5765006"/>
            <a:ext cx="396894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Ensure all important features are considered without bias toward any particular one.</a:t>
            </a:r>
            <a:endParaRPr lang="en-US" sz="17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1891" y="2538174"/>
            <a:ext cx="3968829" cy="245280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411891" y="52744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Validate Results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9411891" y="5764887"/>
            <a:ext cx="396882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Test your decision tree with new data to ensure accuracy and reliability.</a:t>
            </a:r>
            <a:endParaRPr lang="en-US" sz="17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93627"/>
            <a:ext cx="1000887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ibre Baskerville Bold" pitchFamily="34" charset="0"/>
                <a:ea typeface="Libre Baskerville Bold" pitchFamily="34" charset="-122"/>
                <a:cs typeface="Libre Baskerville Bold" pitchFamily="34" charset="-120"/>
              </a:rPr>
              <a:t>Decision Trees in Our Daily Lives</a:t>
            </a:r>
            <a:endParaRPr lang="en-US" sz="44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410" y="2702004"/>
            <a:ext cx="3006804" cy="3006804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9665" y="2702004"/>
            <a:ext cx="3006923" cy="3006923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702004"/>
            <a:ext cx="3006804" cy="3006804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6296" y="2702004"/>
            <a:ext cx="3006923" cy="3006923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793790" y="6110049"/>
            <a:ext cx="1258704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We use decision trees in everyday life—choosing clothes based on weather, selecting routes when driving, deciding what to buy online, or picking meals at restaurants.</a:t>
            </a:r>
            <a:endParaRPr lang="en-US" sz="1750" dirty="0"/>
          </a:p>
        </p:txBody>
      </p:sp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12892" y="228600"/>
            <a:ext cx="788908" cy="5942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2025-03-05T12:01:08Z</dcterms:created>
  <dcterms:modified xsi:type="dcterms:W3CDTF">2025-03-05T12:01:08Z</dcterms:modified>
</cp:coreProperties>
</file>