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Inter Medium" panose="020B0604020202020204" charset="0"/>
      <p:regular r:id="rId23"/>
    </p:embeddedFont>
    <p:embeddedFont>
      <p:font typeface="Calibri" panose="020F0502020204030204" pitchFamily="34" charset="0"/>
      <p:regular r:id="rId24"/>
      <p:bold r:id="rId25"/>
      <p:italic r:id="rId26"/>
      <p:boldItalic r:id="rId27"/>
    </p:embeddedFont>
    <p:embeddedFont>
      <p:font typeface="DM Sans Semi Bold" panose="020B0604020202020204"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6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618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5F5F5"/>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33.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78047" y="622697"/>
            <a:ext cx="7560707" cy="2120622"/>
          </a:xfrm>
          <a:prstGeom prst="rect">
            <a:avLst/>
          </a:prstGeom>
          <a:noFill/>
          <a:ln/>
        </p:spPr>
        <p:txBody>
          <a:bodyPr wrap="squar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Principal Component Analysis (PCA): How to Use for Feature Selection</a:t>
            </a:r>
            <a:endParaRPr lang="en-US" sz="4450" dirty="0"/>
          </a:p>
        </p:txBody>
      </p:sp>
      <p:sp>
        <p:nvSpPr>
          <p:cNvPr id="4" name="Text 1"/>
          <p:cNvSpPr/>
          <p:nvPr/>
        </p:nvSpPr>
        <p:spPr>
          <a:xfrm>
            <a:off x="6278047" y="3421117"/>
            <a:ext cx="7560707" cy="2033751"/>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Principal Component Analysis (PCA) is a powerful statistical technique widely used for dimensionality reduction and feature selection. This technique transforms a dataset with potentially correlated variables into a set of linearly uncorrelated variables called principal components.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3635" y="579596"/>
            <a:ext cx="5265896" cy="658178"/>
          </a:xfrm>
          <a:prstGeom prst="rect">
            <a:avLst/>
          </a:prstGeom>
          <a:noFill/>
          <a:ln/>
        </p:spPr>
        <p:txBody>
          <a:bodyPr wrap="none" lIns="0" tIns="0" rIns="0" bIns="0" rtlCol="0" anchor="t"/>
          <a:lstStyle/>
          <a:p>
            <a:pPr marL="0" indent="0">
              <a:lnSpc>
                <a:spcPts val="5150"/>
              </a:lnSpc>
              <a:buNone/>
            </a:pPr>
            <a:r>
              <a:rPr lang="en-US" sz="4100" dirty="0">
                <a:solidFill>
                  <a:srgbClr val="030303"/>
                </a:solidFill>
                <a:latin typeface="DM Sans Semi Bold" pitchFamily="34" charset="0"/>
                <a:ea typeface="DM Sans Semi Bold" pitchFamily="34" charset="-122"/>
                <a:cs typeface="DM Sans Semi Bold" pitchFamily="34" charset="-120"/>
              </a:rPr>
              <a:t>Agenda</a:t>
            </a:r>
            <a:endParaRPr lang="en-US" sz="4100" dirty="0"/>
          </a:p>
        </p:txBody>
      </p:sp>
      <p:sp>
        <p:nvSpPr>
          <p:cNvPr id="4" name="Shape 1"/>
          <p:cNvSpPr/>
          <p:nvPr/>
        </p:nvSpPr>
        <p:spPr>
          <a:xfrm>
            <a:off x="6223635" y="1790581"/>
            <a:ext cx="473869" cy="473869"/>
          </a:xfrm>
          <a:prstGeom prst="roundRect">
            <a:avLst>
              <a:gd name="adj" fmla="val 6668"/>
            </a:avLst>
          </a:prstGeom>
          <a:solidFill>
            <a:srgbClr val="F2EEEE"/>
          </a:solidFill>
          <a:ln/>
        </p:spPr>
      </p:sp>
      <p:sp>
        <p:nvSpPr>
          <p:cNvPr id="5" name="Text 2"/>
          <p:cNvSpPr/>
          <p:nvPr/>
        </p:nvSpPr>
        <p:spPr>
          <a:xfrm>
            <a:off x="6405563" y="1869519"/>
            <a:ext cx="110014" cy="315992"/>
          </a:xfrm>
          <a:prstGeom prst="rect">
            <a:avLst/>
          </a:prstGeom>
          <a:noFill/>
          <a:ln/>
        </p:spPr>
        <p:txBody>
          <a:bodyPr wrap="none" lIns="0" tIns="0" rIns="0" bIns="0" rtlCol="0" anchor="t"/>
          <a:lstStyle/>
          <a:p>
            <a:pPr marL="0" indent="0" algn="ctr">
              <a:lnSpc>
                <a:spcPts val="2450"/>
              </a:lnSpc>
              <a:buNone/>
            </a:pPr>
            <a:r>
              <a:rPr lang="en-US" sz="2450" dirty="0">
                <a:solidFill>
                  <a:srgbClr val="464646"/>
                </a:solidFill>
                <a:latin typeface="DM Sans Semi Bold" pitchFamily="34" charset="0"/>
                <a:ea typeface="DM Sans Semi Bold" pitchFamily="34" charset="-122"/>
                <a:cs typeface="DM Sans Semi Bold" pitchFamily="34" charset="-120"/>
              </a:rPr>
              <a:t>1</a:t>
            </a:r>
            <a:endParaRPr lang="en-US" sz="2450" dirty="0"/>
          </a:p>
        </p:txBody>
      </p:sp>
      <p:sp>
        <p:nvSpPr>
          <p:cNvPr id="6" name="Text 3"/>
          <p:cNvSpPr/>
          <p:nvPr/>
        </p:nvSpPr>
        <p:spPr>
          <a:xfrm>
            <a:off x="6908125" y="1790581"/>
            <a:ext cx="2632948" cy="328970"/>
          </a:xfrm>
          <a:prstGeom prst="rect">
            <a:avLst/>
          </a:prstGeom>
          <a:noFill/>
          <a:ln/>
        </p:spPr>
        <p:txBody>
          <a:bodyPr wrap="none" lIns="0" tIns="0" rIns="0" bIns="0" rtlCol="0" anchor="t"/>
          <a:lstStyle/>
          <a:p>
            <a:pPr marL="0" indent="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Introduction to PCA</a:t>
            </a:r>
            <a:endParaRPr lang="en-US" sz="2050" dirty="0"/>
          </a:p>
        </p:txBody>
      </p:sp>
      <p:sp>
        <p:nvSpPr>
          <p:cNvPr id="7" name="Text 4"/>
          <p:cNvSpPr/>
          <p:nvPr/>
        </p:nvSpPr>
        <p:spPr>
          <a:xfrm>
            <a:off x="6908125" y="2245876"/>
            <a:ext cx="6985040" cy="673894"/>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Understanding what PCA is and why it's valuable in data analysis and machine learning workflows.</a:t>
            </a:r>
            <a:endParaRPr lang="en-US" sz="1650" dirty="0"/>
          </a:p>
        </p:txBody>
      </p:sp>
      <p:sp>
        <p:nvSpPr>
          <p:cNvPr id="8" name="Shape 5"/>
          <p:cNvSpPr/>
          <p:nvPr/>
        </p:nvSpPr>
        <p:spPr>
          <a:xfrm>
            <a:off x="6223635" y="3367326"/>
            <a:ext cx="473869" cy="473869"/>
          </a:xfrm>
          <a:prstGeom prst="roundRect">
            <a:avLst>
              <a:gd name="adj" fmla="val 6668"/>
            </a:avLst>
          </a:prstGeom>
          <a:solidFill>
            <a:srgbClr val="F2EEEE"/>
          </a:solidFill>
          <a:ln/>
        </p:spPr>
      </p:sp>
      <p:sp>
        <p:nvSpPr>
          <p:cNvPr id="9" name="Text 6"/>
          <p:cNvSpPr/>
          <p:nvPr/>
        </p:nvSpPr>
        <p:spPr>
          <a:xfrm>
            <a:off x="6369368" y="3446264"/>
            <a:ext cx="182285" cy="315992"/>
          </a:xfrm>
          <a:prstGeom prst="rect">
            <a:avLst/>
          </a:prstGeom>
          <a:noFill/>
          <a:ln/>
        </p:spPr>
        <p:txBody>
          <a:bodyPr wrap="none" lIns="0" tIns="0" rIns="0" bIns="0" rtlCol="0" anchor="t"/>
          <a:lstStyle/>
          <a:p>
            <a:pPr marL="0" indent="0" algn="ctr">
              <a:lnSpc>
                <a:spcPts val="2450"/>
              </a:lnSpc>
              <a:buNone/>
            </a:pPr>
            <a:r>
              <a:rPr lang="en-US" sz="2450" dirty="0">
                <a:solidFill>
                  <a:srgbClr val="464646"/>
                </a:solidFill>
                <a:latin typeface="DM Sans Semi Bold" pitchFamily="34" charset="0"/>
                <a:ea typeface="DM Sans Semi Bold" pitchFamily="34" charset="-122"/>
                <a:cs typeface="DM Sans Semi Bold" pitchFamily="34" charset="-120"/>
              </a:rPr>
              <a:t>2</a:t>
            </a:r>
            <a:endParaRPr lang="en-US" sz="2450" dirty="0"/>
          </a:p>
        </p:txBody>
      </p:sp>
      <p:sp>
        <p:nvSpPr>
          <p:cNvPr id="10" name="Text 7"/>
          <p:cNvSpPr/>
          <p:nvPr/>
        </p:nvSpPr>
        <p:spPr>
          <a:xfrm>
            <a:off x="6908125" y="3367326"/>
            <a:ext cx="3387804" cy="328970"/>
          </a:xfrm>
          <a:prstGeom prst="rect">
            <a:avLst/>
          </a:prstGeom>
          <a:noFill/>
          <a:ln/>
        </p:spPr>
        <p:txBody>
          <a:bodyPr wrap="none" lIns="0" tIns="0" rIns="0" bIns="0" rtlCol="0" anchor="t"/>
          <a:lstStyle/>
          <a:p>
            <a:pPr marL="0" indent="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Mathematical Foundations</a:t>
            </a:r>
            <a:endParaRPr lang="en-US" sz="2050" dirty="0"/>
          </a:p>
        </p:txBody>
      </p:sp>
      <p:sp>
        <p:nvSpPr>
          <p:cNvPr id="11" name="Text 8"/>
          <p:cNvSpPr/>
          <p:nvPr/>
        </p:nvSpPr>
        <p:spPr>
          <a:xfrm>
            <a:off x="6908125" y="3822621"/>
            <a:ext cx="6985040" cy="673894"/>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Exploring the underlying mathematics that make PCA work, including covariance matrices, eigenvalues, and eigenvectors.</a:t>
            </a:r>
            <a:endParaRPr lang="en-US" sz="1650" dirty="0"/>
          </a:p>
        </p:txBody>
      </p:sp>
      <p:sp>
        <p:nvSpPr>
          <p:cNvPr id="12" name="Shape 9"/>
          <p:cNvSpPr/>
          <p:nvPr/>
        </p:nvSpPr>
        <p:spPr>
          <a:xfrm>
            <a:off x="6223635" y="4944070"/>
            <a:ext cx="473869" cy="473869"/>
          </a:xfrm>
          <a:prstGeom prst="roundRect">
            <a:avLst>
              <a:gd name="adj" fmla="val 6668"/>
            </a:avLst>
          </a:prstGeom>
          <a:solidFill>
            <a:srgbClr val="F2EEEE"/>
          </a:solidFill>
          <a:ln/>
        </p:spPr>
      </p:sp>
      <p:sp>
        <p:nvSpPr>
          <p:cNvPr id="13" name="Text 10"/>
          <p:cNvSpPr/>
          <p:nvPr/>
        </p:nvSpPr>
        <p:spPr>
          <a:xfrm>
            <a:off x="6365915" y="5023009"/>
            <a:ext cx="189309" cy="315992"/>
          </a:xfrm>
          <a:prstGeom prst="rect">
            <a:avLst/>
          </a:prstGeom>
          <a:noFill/>
          <a:ln/>
        </p:spPr>
        <p:txBody>
          <a:bodyPr wrap="none" lIns="0" tIns="0" rIns="0" bIns="0" rtlCol="0" anchor="t"/>
          <a:lstStyle/>
          <a:p>
            <a:pPr marL="0" indent="0" algn="ctr">
              <a:lnSpc>
                <a:spcPts val="2450"/>
              </a:lnSpc>
              <a:buNone/>
            </a:pPr>
            <a:r>
              <a:rPr lang="en-US" sz="2450" dirty="0">
                <a:solidFill>
                  <a:srgbClr val="464646"/>
                </a:solidFill>
                <a:latin typeface="DM Sans Semi Bold" pitchFamily="34" charset="0"/>
                <a:ea typeface="DM Sans Semi Bold" pitchFamily="34" charset="-122"/>
                <a:cs typeface="DM Sans Semi Bold" pitchFamily="34" charset="-120"/>
              </a:rPr>
              <a:t>3</a:t>
            </a:r>
            <a:endParaRPr lang="en-US" sz="2450" dirty="0"/>
          </a:p>
        </p:txBody>
      </p:sp>
      <p:sp>
        <p:nvSpPr>
          <p:cNvPr id="14" name="Text 11"/>
          <p:cNvSpPr/>
          <p:nvPr/>
        </p:nvSpPr>
        <p:spPr>
          <a:xfrm>
            <a:off x="6908125" y="4944070"/>
            <a:ext cx="3405664" cy="328970"/>
          </a:xfrm>
          <a:prstGeom prst="rect">
            <a:avLst/>
          </a:prstGeom>
          <a:noFill/>
          <a:ln/>
        </p:spPr>
        <p:txBody>
          <a:bodyPr wrap="none" lIns="0" tIns="0" rIns="0" bIns="0" rtlCol="0" anchor="t"/>
          <a:lstStyle/>
          <a:p>
            <a:pPr marL="0" indent="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Implementation Procedure</a:t>
            </a:r>
            <a:endParaRPr lang="en-US" sz="2050" dirty="0"/>
          </a:p>
        </p:txBody>
      </p:sp>
      <p:sp>
        <p:nvSpPr>
          <p:cNvPr id="15" name="Text 12"/>
          <p:cNvSpPr/>
          <p:nvPr/>
        </p:nvSpPr>
        <p:spPr>
          <a:xfrm>
            <a:off x="6908125" y="5399365"/>
            <a:ext cx="6985040" cy="673894"/>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Step-by-step breakdown of how to implement PCA, from data preprocessing to interpreting results.</a:t>
            </a:r>
            <a:endParaRPr lang="en-US" sz="1650" dirty="0"/>
          </a:p>
        </p:txBody>
      </p:sp>
      <p:sp>
        <p:nvSpPr>
          <p:cNvPr id="16" name="Shape 13"/>
          <p:cNvSpPr/>
          <p:nvPr/>
        </p:nvSpPr>
        <p:spPr>
          <a:xfrm>
            <a:off x="6223635" y="6520815"/>
            <a:ext cx="473869" cy="473869"/>
          </a:xfrm>
          <a:prstGeom prst="roundRect">
            <a:avLst>
              <a:gd name="adj" fmla="val 6668"/>
            </a:avLst>
          </a:prstGeom>
          <a:solidFill>
            <a:srgbClr val="F2EEEE"/>
          </a:solidFill>
          <a:ln/>
        </p:spPr>
      </p:sp>
      <p:sp>
        <p:nvSpPr>
          <p:cNvPr id="17" name="Text 14"/>
          <p:cNvSpPr/>
          <p:nvPr/>
        </p:nvSpPr>
        <p:spPr>
          <a:xfrm>
            <a:off x="6359723" y="6599753"/>
            <a:ext cx="201573" cy="315992"/>
          </a:xfrm>
          <a:prstGeom prst="rect">
            <a:avLst/>
          </a:prstGeom>
          <a:noFill/>
          <a:ln/>
        </p:spPr>
        <p:txBody>
          <a:bodyPr wrap="none" lIns="0" tIns="0" rIns="0" bIns="0" rtlCol="0" anchor="t"/>
          <a:lstStyle/>
          <a:p>
            <a:pPr marL="0" indent="0" algn="ctr">
              <a:lnSpc>
                <a:spcPts val="2450"/>
              </a:lnSpc>
              <a:buNone/>
            </a:pPr>
            <a:r>
              <a:rPr lang="en-US" sz="2450" dirty="0">
                <a:solidFill>
                  <a:srgbClr val="464646"/>
                </a:solidFill>
                <a:latin typeface="DM Sans Semi Bold" pitchFamily="34" charset="0"/>
                <a:ea typeface="DM Sans Semi Bold" pitchFamily="34" charset="-122"/>
                <a:cs typeface="DM Sans Semi Bold" pitchFamily="34" charset="-120"/>
              </a:rPr>
              <a:t>4</a:t>
            </a:r>
            <a:endParaRPr lang="en-US" sz="2450" dirty="0"/>
          </a:p>
        </p:txBody>
      </p:sp>
      <p:sp>
        <p:nvSpPr>
          <p:cNvPr id="18" name="Text 15"/>
          <p:cNvSpPr/>
          <p:nvPr/>
        </p:nvSpPr>
        <p:spPr>
          <a:xfrm>
            <a:off x="6908125" y="6520815"/>
            <a:ext cx="3889772" cy="328970"/>
          </a:xfrm>
          <a:prstGeom prst="rect">
            <a:avLst/>
          </a:prstGeom>
          <a:noFill/>
          <a:ln/>
        </p:spPr>
        <p:txBody>
          <a:bodyPr wrap="none" lIns="0" tIns="0" rIns="0" bIns="0" rtlCol="0" anchor="t"/>
          <a:lstStyle/>
          <a:p>
            <a:pPr marL="0" indent="0">
              <a:lnSpc>
                <a:spcPts val="2550"/>
              </a:lnSpc>
              <a:buNone/>
            </a:pPr>
            <a:r>
              <a:rPr lang="en-US" sz="2050" dirty="0">
                <a:solidFill>
                  <a:srgbClr val="464646"/>
                </a:solidFill>
                <a:latin typeface="DM Sans Semi Bold" pitchFamily="34" charset="0"/>
                <a:ea typeface="DM Sans Semi Bold" pitchFamily="34" charset="-122"/>
                <a:cs typeface="DM Sans Semi Bold" pitchFamily="34" charset="-120"/>
              </a:rPr>
              <a:t>Feature Selection Applications</a:t>
            </a:r>
            <a:endParaRPr lang="en-US" sz="2050" dirty="0"/>
          </a:p>
        </p:txBody>
      </p:sp>
      <p:sp>
        <p:nvSpPr>
          <p:cNvPr id="19" name="Text 16"/>
          <p:cNvSpPr/>
          <p:nvPr/>
        </p:nvSpPr>
        <p:spPr>
          <a:xfrm>
            <a:off x="6908125" y="6976110"/>
            <a:ext cx="6985040" cy="673894"/>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Practical approaches to using PCA specifically for feature selection, with examples and best practices.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4384" y="616268"/>
            <a:ext cx="10536079" cy="700326"/>
          </a:xfrm>
          <a:prstGeom prst="rect">
            <a:avLst/>
          </a:prstGeom>
          <a:noFill/>
          <a:ln/>
        </p:spPr>
        <p:txBody>
          <a:bodyPr wrap="none" lIns="0" tIns="0" rIns="0" bIns="0" rtlCol="0" anchor="t"/>
          <a:lstStyle/>
          <a:p>
            <a:pPr marL="0" indent="0">
              <a:lnSpc>
                <a:spcPts val="5500"/>
              </a:lnSpc>
              <a:buNone/>
            </a:pPr>
            <a:r>
              <a:rPr lang="en-US" sz="4400" dirty="0">
                <a:solidFill>
                  <a:srgbClr val="030303"/>
                </a:solidFill>
                <a:latin typeface="DM Sans Semi Bold" pitchFamily="34" charset="0"/>
                <a:ea typeface="DM Sans Semi Bold" pitchFamily="34" charset="-122"/>
                <a:cs typeface="DM Sans Semi Bold" pitchFamily="34" charset="-120"/>
              </a:rPr>
              <a:t>What is Principal Component Analysis?</a:t>
            </a:r>
            <a:endParaRPr lang="en-US" sz="4400" dirty="0"/>
          </a:p>
        </p:txBody>
      </p:sp>
      <p:sp>
        <p:nvSpPr>
          <p:cNvPr id="3" name="Text 1"/>
          <p:cNvSpPr/>
          <p:nvPr/>
        </p:nvSpPr>
        <p:spPr>
          <a:xfrm>
            <a:off x="784384" y="1854398"/>
            <a:ext cx="6257449" cy="1792486"/>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Principal Component Analysis (PCA) is a dimensionality reduction technique that transforms the original features into a new set of uncorrelated variables called principal components. These components are ordered by the amount of variance they explain in the data.</a:t>
            </a:r>
            <a:endParaRPr lang="en-US" sz="1750" dirty="0"/>
          </a:p>
        </p:txBody>
      </p:sp>
      <p:sp>
        <p:nvSpPr>
          <p:cNvPr id="4" name="Text 2"/>
          <p:cNvSpPr/>
          <p:nvPr/>
        </p:nvSpPr>
        <p:spPr>
          <a:xfrm>
            <a:off x="784384" y="3848576"/>
            <a:ext cx="6257449" cy="1792486"/>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PCA finds the directions (principal components) along which the variation in the data is maximal. By projecting the data onto these components, we can reduce dimensionality while retaining most of the important information.</a:t>
            </a:r>
            <a:endParaRPr lang="en-US" sz="1750" dirty="0"/>
          </a:p>
        </p:txBody>
      </p:sp>
      <p:pic>
        <p:nvPicPr>
          <p:cNvPr id="5" name="Image 0" descr="preencoded.png"/>
          <p:cNvPicPr>
            <a:picLocks noChangeAspect="1"/>
          </p:cNvPicPr>
          <p:nvPr/>
        </p:nvPicPr>
        <p:blipFill>
          <a:blip r:embed="rId3"/>
          <a:stretch>
            <a:fillRect/>
          </a:stretch>
        </p:blipFill>
        <p:spPr>
          <a:xfrm>
            <a:off x="7596187" y="1904762"/>
            <a:ext cx="6182916" cy="3468410"/>
          </a:xfrm>
          <a:prstGeom prst="rect">
            <a:avLst/>
          </a:prstGeom>
        </p:spPr>
      </p:pic>
      <p:sp>
        <p:nvSpPr>
          <p:cNvPr id="6" name="Text 3"/>
          <p:cNvSpPr/>
          <p:nvPr/>
        </p:nvSpPr>
        <p:spPr>
          <a:xfrm>
            <a:off x="7596187" y="5625227"/>
            <a:ext cx="6257449" cy="1792486"/>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At its core, PCA helps us understand the internal structure of the data in a way that best explains the variance in the data. This makes it incredibly valuable for feature selection, data visualization, and preprocessing for machine learning models.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75428"/>
          </a:xfrm>
          <a:prstGeom prst="rect">
            <a:avLst/>
          </a:prstGeom>
        </p:spPr>
      </p:pic>
      <p:sp>
        <p:nvSpPr>
          <p:cNvPr id="3" name="Text 0"/>
          <p:cNvSpPr/>
          <p:nvPr/>
        </p:nvSpPr>
        <p:spPr>
          <a:xfrm>
            <a:off x="693063" y="3021449"/>
            <a:ext cx="8087439" cy="618768"/>
          </a:xfrm>
          <a:prstGeom prst="rect">
            <a:avLst/>
          </a:prstGeom>
          <a:noFill/>
          <a:ln/>
        </p:spPr>
        <p:txBody>
          <a:bodyPr wrap="none" lIns="0" tIns="0" rIns="0" bIns="0" rtlCol="0" anchor="t"/>
          <a:lstStyle/>
          <a:p>
            <a:pPr marL="0" indent="0">
              <a:lnSpc>
                <a:spcPts val="4850"/>
              </a:lnSpc>
              <a:buNone/>
            </a:pPr>
            <a:r>
              <a:rPr lang="en-US" sz="3850" dirty="0">
                <a:solidFill>
                  <a:srgbClr val="030303"/>
                </a:solidFill>
                <a:latin typeface="DM Sans Semi Bold" pitchFamily="34" charset="0"/>
                <a:ea typeface="DM Sans Semi Bold" pitchFamily="34" charset="-122"/>
                <a:cs typeface="DM Sans Semi Bold" pitchFamily="34" charset="-120"/>
              </a:rPr>
              <a:t>Why PCA Matters in Data Analysis</a:t>
            </a:r>
            <a:endParaRPr lang="en-US" sz="3850" dirty="0"/>
          </a:p>
        </p:txBody>
      </p:sp>
      <p:sp>
        <p:nvSpPr>
          <p:cNvPr id="4" name="Shape 1"/>
          <p:cNvSpPr/>
          <p:nvPr/>
        </p:nvSpPr>
        <p:spPr>
          <a:xfrm>
            <a:off x="693063" y="3937159"/>
            <a:ext cx="6523196" cy="1774150"/>
          </a:xfrm>
          <a:prstGeom prst="roundRect">
            <a:avLst>
              <a:gd name="adj" fmla="val 1674"/>
            </a:avLst>
          </a:prstGeom>
          <a:solidFill>
            <a:srgbClr val="F2EEEE"/>
          </a:solidFill>
          <a:ln/>
        </p:spPr>
      </p:sp>
      <p:sp>
        <p:nvSpPr>
          <p:cNvPr id="5" name="Text 2"/>
          <p:cNvSpPr/>
          <p:nvPr/>
        </p:nvSpPr>
        <p:spPr>
          <a:xfrm>
            <a:off x="891064" y="4135160"/>
            <a:ext cx="3054072" cy="309324"/>
          </a:xfrm>
          <a:prstGeom prst="rect">
            <a:avLst/>
          </a:prstGeom>
          <a:noFill/>
          <a:ln/>
        </p:spPr>
        <p:txBody>
          <a:bodyPr wrap="none" lIns="0" tIns="0" rIns="0" bIns="0" rtlCol="0" anchor="t"/>
          <a:lstStyle/>
          <a:p>
            <a:pPr marL="0" indent="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Dimensionality Reduction</a:t>
            </a:r>
            <a:endParaRPr lang="en-US" sz="1900" dirty="0"/>
          </a:p>
        </p:txBody>
      </p:sp>
      <p:sp>
        <p:nvSpPr>
          <p:cNvPr id="6" name="Text 3"/>
          <p:cNvSpPr/>
          <p:nvPr/>
        </p:nvSpPr>
        <p:spPr>
          <a:xfrm>
            <a:off x="891064" y="4563189"/>
            <a:ext cx="6127194" cy="950119"/>
          </a:xfrm>
          <a:prstGeom prst="rect">
            <a:avLst/>
          </a:prstGeom>
          <a:noFill/>
          <a:ln/>
        </p:spPr>
        <p:txBody>
          <a:bodyPr wrap="square" lIns="0" tIns="0" rIns="0" bIns="0" rtlCol="0" anchor="t"/>
          <a:lstStyle/>
          <a:p>
            <a:pPr marL="0" indent="0">
              <a:lnSpc>
                <a:spcPts val="2450"/>
              </a:lnSpc>
              <a:buNone/>
            </a:pPr>
            <a:r>
              <a:rPr lang="en-US" sz="1550" dirty="0">
                <a:solidFill>
                  <a:srgbClr val="464646"/>
                </a:solidFill>
                <a:latin typeface="Inter Medium" pitchFamily="34" charset="0"/>
                <a:ea typeface="Inter Medium" pitchFamily="34" charset="-122"/>
                <a:cs typeface="Inter Medium" pitchFamily="34" charset="-120"/>
              </a:rPr>
              <a:t>Reduces the number of features while preserving as much information as possible, making analysis more computationally efficient and avoiding the curse of dimensionality.</a:t>
            </a:r>
            <a:endParaRPr lang="en-US" sz="1550" dirty="0"/>
          </a:p>
        </p:txBody>
      </p:sp>
      <p:sp>
        <p:nvSpPr>
          <p:cNvPr id="7" name="Shape 4"/>
          <p:cNvSpPr/>
          <p:nvPr/>
        </p:nvSpPr>
        <p:spPr>
          <a:xfrm>
            <a:off x="7414260" y="3937159"/>
            <a:ext cx="6523196" cy="1774150"/>
          </a:xfrm>
          <a:prstGeom prst="roundRect">
            <a:avLst>
              <a:gd name="adj" fmla="val 1674"/>
            </a:avLst>
          </a:prstGeom>
          <a:solidFill>
            <a:srgbClr val="F2EEEE"/>
          </a:solidFill>
          <a:ln/>
        </p:spPr>
      </p:sp>
      <p:sp>
        <p:nvSpPr>
          <p:cNvPr id="8" name="Text 5"/>
          <p:cNvSpPr/>
          <p:nvPr/>
        </p:nvSpPr>
        <p:spPr>
          <a:xfrm>
            <a:off x="7612261" y="4135160"/>
            <a:ext cx="2475428" cy="309324"/>
          </a:xfrm>
          <a:prstGeom prst="rect">
            <a:avLst/>
          </a:prstGeom>
          <a:noFill/>
          <a:ln/>
        </p:spPr>
        <p:txBody>
          <a:bodyPr wrap="none" lIns="0" tIns="0" rIns="0" bIns="0" rtlCol="0" anchor="t"/>
          <a:lstStyle/>
          <a:p>
            <a:pPr marL="0" indent="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Feature Selection</a:t>
            </a:r>
            <a:endParaRPr lang="en-US" sz="1900" dirty="0"/>
          </a:p>
        </p:txBody>
      </p:sp>
      <p:sp>
        <p:nvSpPr>
          <p:cNvPr id="9" name="Text 6"/>
          <p:cNvSpPr/>
          <p:nvPr/>
        </p:nvSpPr>
        <p:spPr>
          <a:xfrm>
            <a:off x="7612261" y="4563189"/>
            <a:ext cx="6127194" cy="950119"/>
          </a:xfrm>
          <a:prstGeom prst="rect">
            <a:avLst/>
          </a:prstGeom>
          <a:noFill/>
          <a:ln/>
        </p:spPr>
        <p:txBody>
          <a:bodyPr wrap="square" lIns="0" tIns="0" rIns="0" bIns="0" rtlCol="0" anchor="t"/>
          <a:lstStyle/>
          <a:p>
            <a:pPr marL="0" indent="0">
              <a:lnSpc>
                <a:spcPts val="2450"/>
              </a:lnSpc>
              <a:buNone/>
            </a:pPr>
            <a:r>
              <a:rPr lang="en-US" sz="1550" dirty="0">
                <a:solidFill>
                  <a:srgbClr val="464646"/>
                </a:solidFill>
                <a:latin typeface="Inter Medium" pitchFamily="34" charset="0"/>
                <a:ea typeface="Inter Medium" pitchFamily="34" charset="-122"/>
                <a:cs typeface="Inter Medium" pitchFamily="34" charset="-120"/>
              </a:rPr>
              <a:t>Helps identify which combinations of features contain the most information, enabling more effective model training with fewer variables.</a:t>
            </a:r>
            <a:endParaRPr lang="en-US" sz="1550" dirty="0"/>
          </a:p>
        </p:txBody>
      </p:sp>
      <p:sp>
        <p:nvSpPr>
          <p:cNvPr id="10" name="Shape 7"/>
          <p:cNvSpPr/>
          <p:nvPr/>
        </p:nvSpPr>
        <p:spPr>
          <a:xfrm>
            <a:off x="693063" y="5909310"/>
            <a:ext cx="6523196" cy="1774150"/>
          </a:xfrm>
          <a:prstGeom prst="roundRect">
            <a:avLst>
              <a:gd name="adj" fmla="val 1674"/>
            </a:avLst>
          </a:prstGeom>
          <a:solidFill>
            <a:srgbClr val="F2EEEE"/>
          </a:solidFill>
          <a:ln/>
        </p:spPr>
      </p:sp>
      <p:sp>
        <p:nvSpPr>
          <p:cNvPr id="11" name="Text 8"/>
          <p:cNvSpPr/>
          <p:nvPr/>
        </p:nvSpPr>
        <p:spPr>
          <a:xfrm>
            <a:off x="891064" y="6107311"/>
            <a:ext cx="2475428" cy="309324"/>
          </a:xfrm>
          <a:prstGeom prst="rect">
            <a:avLst/>
          </a:prstGeom>
          <a:noFill/>
          <a:ln/>
        </p:spPr>
        <p:txBody>
          <a:bodyPr wrap="none" lIns="0" tIns="0" rIns="0" bIns="0" rtlCol="0" anchor="t"/>
          <a:lstStyle/>
          <a:p>
            <a:pPr marL="0" indent="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Noise Reduction</a:t>
            </a:r>
            <a:endParaRPr lang="en-US" sz="1900" dirty="0"/>
          </a:p>
        </p:txBody>
      </p:sp>
      <p:sp>
        <p:nvSpPr>
          <p:cNvPr id="12" name="Text 9"/>
          <p:cNvSpPr/>
          <p:nvPr/>
        </p:nvSpPr>
        <p:spPr>
          <a:xfrm>
            <a:off x="891064" y="6535341"/>
            <a:ext cx="6127194" cy="633413"/>
          </a:xfrm>
          <a:prstGeom prst="rect">
            <a:avLst/>
          </a:prstGeom>
          <a:noFill/>
          <a:ln/>
        </p:spPr>
        <p:txBody>
          <a:bodyPr wrap="square" lIns="0" tIns="0" rIns="0" bIns="0" rtlCol="0" anchor="t"/>
          <a:lstStyle/>
          <a:p>
            <a:pPr marL="0" indent="0">
              <a:lnSpc>
                <a:spcPts val="2450"/>
              </a:lnSpc>
              <a:buNone/>
            </a:pPr>
            <a:r>
              <a:rPr lang="en-US" sz="1550" dirty="0">
                <a:solidFill>
                  <a:srgbClr val="464646"/>
                </a:solidFill>
                <a:latin typeface="Inter Medium" pitchFamily="34" charset="0"/>
                <a:ea typeface="Inter Medium" pitchFamily="34" charset="-122"/>
                <a:cs typeface="Inter Medium" pitchFamily="34" charset="-120"/>
              </a:rPr>
              <a:t>By focusing on components with highest variance, PCA can filter out noise in the data, resulting in cleaner signals for analysis.</a:t>
            </a:r>
            <a:endParaRPr lang="en-US" sz="1550" dirty="0"/>
          </a:p>
        </p:txBody>
      </p:sp>
      <p:sp>
        <p:nvSpPr>
          <p:cNvPr id="13" name="Shape 10"/>
          <p:cNvSpPr/>
          <p:nvPr/>
        </p:nvSpPr>
        <p:spPr>
          <a:xfrm>
            <a:off x="7414260" y="5909310"/>
            <a:ext cx="6523196" cy="1774150"/>
          </a:xfrm>
          <a:prstGeom prst="roundRect">
            <a:avLst>
              <a:gd name="adj" fmla="val 1674"/>
            </a:avLst>
          </a:prstGeom>
          <a:solidFill>
            <a:srgbClr val="F2EEEE"/>
          </a:solidFill>
          <a:ln/>
        </p:spPr>
      </p:sp>
      <p:sp>
        <p:nvSpPr>
          <p:cNvPr id="14" name="Text 11"/>
          <p:cNvSpPr/>
          <p:nvPr/>
        </p:nvSpPr>
        <p:spPr>
          <a:xfrm>
            <a:off x="7612261" y="6107311"/>
            <a:ext cx="2475428" cy="309324"/>
          </a:xfrm>
          <a:prstGeom prst="rect">
            <a:avLst/>
          </a:prstGeom>
          <a:noFill/>
          <a:ln/>
        </p:spPr>
        <p:txBody>
          <a:bodyPr wrap="none" lIns="0" tIns="0" rIns="0" bIns="0" rtlCol="0" anchor="t"/>
          <a:lstStyle/>
          <a:p>
            <a:pPr marL="0" indent="0">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Data Visualization</a:t>
            </a:r>
            <a:endParaRPr lang="en-US" sz="1900" dirty="0"/>
          </a:p>
        </p:txBody>
      </p:sp>
      <p:sp>
        <p:nvSpPr>
          <p:cNvPr id="15" name="Text 12"/>
          <p:cNvSpPr/>
          <p:nvPr/>
        </p:nvSpPr>
        <p:spPr>
          <a:xfrm>
            <a:off x="7612261" y="6535341"/>
            <a:ext cx="6127194" cy="950119"/>
          </a:xfrm>
          <a:prstGeom prst="rect">
            <a:avLst/>
          </a:prstGeom>
          <a:noFill/>
          <a:ln/>
        </p:spPr>
        <p:txBody>
          <a:bodyPr wrap="square" lIns="0" tIns="0" rIns="0" bIns="0" rtlCol="0" anchor="t"/>
          <a:lstStyle/>
          <a:p>
            <a:pPr marL="0" indent="0">
              <a:lnSpc>
                <a:spcPts val="2450"/>
              </a:lnSpc>
              <a:buNone/>
            </a:pPr>
            <a:r>
              <a:rPr lang="en-US" sz="1550" dirty="0">
                <a:solidFill>
                  <a:srgbClr val="464646"/>
                </a:solidFill>
                <a:latin typeface="Inter Medium" pitchFamily="34" charset="0"/>
                <a:ea typeface="Inter Medium" pitchFamily="34" charset="-122"/>
                <a:cs typeface="Inter Medium" pitchFamily="34" charset="-120"/>
              </a:rPr>
              <a:t>Enables visualization of high-dimensional data by projecting it into 2D or 3D space, making patterns and clusters more apparent to the human eye.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7321" y="893207"/>
            <a:ext cx="6765846" cy="625793"/>
          </a:xfrm>
          <a:prstGeom prst="rect">
            <a:avLst/>
          </a:prstGeom>
          <a:noFill/>
          <a:ln/>
        </p:spPr>
        <p:txBody>
          <a:bodyPr wrap="none" lIns="0" tIns="0" rIns="0" bIns="0" rtlCol="0" anchor="t"/>
          <a:lstStyle/>
          <a:p>
            <a:pPr marL="0" indent="0">
              <a:lnSpc>
                <a:spcPts val="4900"/>
              </a:lnSpc>
              <a:buNone/>
            </a:pPr>
            <a:r>
              <a:rPr lang="en-US" sz="3900" dirty="0">
                <a:solidFill>
                  <a:srgbClr val="030303"/>
                </a:solidFill>
                <a:latin typeface="DM Sans Semi Bold" pitchFamily="34" charset="0"/>
                <a:ea typeface="DM Sans Semi Bold" pitchFamily="34" charset="-122"/>
                <a:cs typeface="DM Sans Semi Bold" pitchFamily="34" charset="-120"/>
              </a:rPr>
              <a:t>The Curse of Dimensionality</a:t>
            </a:r>
            <a:endParaRPr lang="en-US" sz="3900" dirty="0"/>
          </a:p>
        </p:txBody>
      </p:sp>
      <p:pic>
        <p:nvPicPr>
          <p:cNvPr id="4" name="Image 1" descr="preencoded.png"/>
          <p:cNvPicPr>
            <a:picLocks noChangeAspect="1"/>
          </p:cNvPicPr>
          <p:nvPr/>
        </p:nvPicPr>
        <p:blipFill>
          <a:blip r:embed="rId4"/>
          <a:stretch>
            <a:fillRect/>
          </a:stretch>
        </p:blipFill>
        <p:spPr>
          <a:xfrm>
            <a:off x="6187321" y="1819394"/>
            <a:ext cx="500658" cy="500658"/>
          </a:xfrm>
          <a:prstGeom prst="rect">
            <a:avLst/>
          </a:prstGeom>
        </p:spPr>
      </p:pic>
      <p:sp>
        <p:nvSpPr>
          <p:cNvPr id="5" name="Text 1"/>
          <p:cNvSpPr/>
          <p:nvPr/>
        </p:nvSpPr>
        <p:spPr>
          <a:xfrm>
            <a:off x="6187321" y="2520315"/>
            <a:ext cx="2380417" cy="312896"/>
          </a:xfrm>
          <a:prstGeom prst="rect">
            <a:avLst/>
          </a:prstGeom>
          <a:noFill/>
          <a:ln/>
        </p:spPr>
        <p:txBody>
          <a:bodyPr wrap="non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Sparsity Problem</a:t>
            </a:r>
            <a:endParaRPr lang="en-US" sz="1950" dirty="0"/>
          </a:p>
        </p:txBody>
      </p:sp>
      <p:sp>
        <p:nvSpPr>
          <p:cNvPr id="6" name="Text 2"/>
          <p:cNvSpPr/>
          <p:nvPr/>
        </p:nvSpPr>
        <p:spPr>
          <a:xfrm>
            <a:off x="6187321" y="2953345"/>
            <a:ext cx="2380417" cy="2563178"/>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As dimensions increase, data becomes increasingly sparse. The available data points become insufficient to find reliable patterns, leading to poor model performance.</a:t>
            </a:r>
            <a:endParaRPr lang="en-US" sz="1550" dirty="0"/>
          </a:p>
        </p:txBody>
      </p:sp>
      <p:pic>
        <p:nvPicPr>
          <p:cNvPr id="7" name="Image 2" descr="preencoded.png"/>
          <p:cNvPicPr>
            <a:picLocks noChangeAspect="1"/>
          </p:cNvPicPr>
          <p:nvPr/>
        </p:nvPicPr>
        <p:blipFill>
          <a:blip r:embed="rId5"/>
          <a:stretch>
            <a:fillRect/>
          </a:stretch>
        </p:blipFill>
        <p:spPr>
          <a:xfrm>
            <a:off x="8868132" y="1819394"/>
            <a:ext cx="500658" cy="500658"/>
          </a:xfrm>
          <a:prstGeom prst="rect">
            <a:avLst/>
          </a:prstGeom>
        </p:spPr>
      </p:pic>
      <p:sp>
        <p:nvSpPr>
          <p:cNvPr id="8" name="Text 3"/>
          <p:cNvSpPr/>
          <p:nvPr/>
        </p:nvSpPr>
        <p:spPr>
          <a:xfrm>
            <a:off x="8868132" y="2520315"/>
            <a:ext cx="2380417" cy="625793"/>
          </a:xfrm>
          <a:prstGeom prst="rect">
            <a:avLst/>
          </a:prstGeom>
          <a:noFill/>
          <a:ln/>
        </p:spPr>
        <p:txBody>
          <a:bodyPr wrap="squar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Computational Complexity</a:t>
            </a:r>
            <a:endParaRPr lang="en-US" sz="1950" dirty="0"/>
          </a:p>
        </p:txBody>
      </p:sp>
      <p:sp>
        <p:nvSpPr>
          <p:cNvPr id="9" name="Text 4"/>
          <p:cNvSpPr/>
          <p:nvPr/>
        </p:nvSpPr>
        <p:spPr>
          <a:xfrm>
            <a:off x="8868132" y="3266242"/>
            <a:ext cx="2380417" cy="2883575"/>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Higher dimensions exponentially increase computational requirements. Algorithms that work well in low dimensions may become prohibitively expensive as dimensions grow.</a:t>
            </a:r>
            <a:endParaRPr lang="en-US" sz="1550" dirty="0"/>
          </a:p>
        </p:txBody>
      </p:sp>
      <p:pic>
        <p:nvPicPr>
          <p:cNvPr id="10" name="Image 3" descr="preencoded.png"/>
          <p:cNvPicPr>
            <a:picLocks noChangeAspect="1"/>
          </p:cNvPicPr>
          <p:nvPr/>
        </p:nvPicPr>
        <p:blipFill>
          <a:blip r:embed="rId6"/>
          <a:stretch>
            <a:fillRect/>
          </a:stretch>
        </p:blipFill>
        <p:spPr>
          <a:xfrm>
            <a:off x="11548943" y="1819394"/>
            <a:ext cx="500658" cy="500658"/>
          </a:xfrm>
          <a:prstGeom prst="rect">
            <a:avLst/>
          </a:prstGeom>
        </p:spPr>
      </p:pic>
      <p:sp>
        <p:nvSpPr>
          <p:cNvPr id="11" name="Text 5"/>
          <p:cNvSpPr/>
          <p:nvPr/>
        </p:nvSpPr>
        <p:spPr>
          <a:xfrm>
            <a:off x="11548943" y="2520315"/>
            <a:ext cx="2380417" cy="312896"/>
          </a:xfrm>
          <a:prstGeom prst="rect">
            <a:avLst/>
          </a:prstGeom>
          <a:noFill/>
          <a:ln/>
        </p:spPr>
        <p:txBody>
          <a:bodyPr wrap="non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Overfitting Risk</a:t>
            </a:r>
            <a:endParaRPr lang="en-US" sz="1950" dirty="0"/>
          </a:p>
        </p:txBody>
      </p:sp>
      <p:sp>
        <p:nvSpPr>
          <p:cNvPr id="12" name="Text 6"/>
          <p:cNvSpPr/>
          <p:nvPr/>
        </p:nvSpPr>
        <p:spPr>
          <a:xfrm>
            <a:off x="11548943" y="2953345"/>
            <a:ext cx="2380417" cy="2242780"/>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With too many features relative to observations, models tend to overfit training data, capturing noise rather than actual patterns and performing poorly on new data.</a:t>
            </a:r>
            <a:endParaRPr lang="en-US" sz="1550" dirty="0"/>
          </a:p>
        </p:txBody>
      </p:sp>
      <p:sp>
        <p:nvSpPr>
          <p:cNvPr id="13" name="Text 7"/>
          <p:cNvSpPr/>
          <p:nvPr/>
        </p:nvSpPr>
        <p:spPr>
          <a:xfrm>
            <a:off x="6187321" y="6375083"/>
            <a:ext cx="7742158" cy="961192"/>
          </a:xfrm>
          <a:prstGeom prst="rect">
            <a:avLst/>
          </a:prstGeom>
          <a:noFill/>
          <a:ln/>
        </p:spPr>
        <p:txBody>
          <a:bodyPr wrap="square" lIns="0" tIns="0" rIns="0" bIns="0" rtlCol="0" anchor="t"/>
          <a:lstStyle/>
          <a:p>
            <a:pPr marL="0" indent="0">
              <a:lnSpc>
                <a:spcPts val="2500"/>
              </a:lnSpc>
              <a:buNone/>
            </a:pPr>
            <a:r>
              <a:rPr lang="en-US" sz="1550" dirty="0">
                <a:solidFill>
                  <a:srgbClr val="464646"/>
                </a:solidFill>
                <a:latin typeface="Inter Medium" pitchFamily="34" charset="0"/>
                <a:ea typeface="Inter Medium" pitchFamily="34" charset="-122"/>
                <a:cs typeface="Inter Medium" pitchFamily="34" charset="-120"/>
              </a:rPr>
              <a:t>PCA directly addresses these challenges by reducing the dimensionality of data while preserving most of the information, making subsequent analyses more robust and efficient.</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6760" y="638056"/>
            <a:ext cx="8161615" cy="666869"/>
          </a:xfrm>
          <a:prstGeom prst="rect">
            <a:avLst/>
          </a:prstGeom>
          <a:noFill/>
          <a:ln/>
        </p:spPr>
        <p:txBody>
          <a:bodyPr wrap="none" lIns="0" tIns="0" rIns="0" bIns="0" rtlCol="0" anchor="t"/>
          <a:lstStyle/>
          <a:p>
            <a:pPr marL="0" indent="0">
              <a:lnSpc>
                <a:spcPts val="5250"/>
              </a:lnSpc>
              <a:buNone/>
            </a:pPr>
            <a:r>
              <a:rPr lang="en-US" sz="4200" dirty="0">
                <a:solidFill>
                  <a:srgbClr val="030303"/>
                </a:solidFill>
                <a:latin typeface="DM Sans Semi Bold" pitchFamily="34" charset="0"/>
                <a:ea typeface="DM Sans Semi Bold" pitchFamily="34" charset="-122"/>
                <a:cs typeface="DM Sans Semi Bold" pitchFamily="34" charset="-120"/>
              </a:rPr>
              <a:t>How PCA Works: The Big Picture</a:t>
            </a:r>
            <a:endParaRPr lang="en-US" sz="4200" dirty="0"/>
          </a:p>
        </p:txBody>
      </p:sp>
      <p:sp>
        <p:nvSpPr>
          <p:cNvPr id="3" name="Shape 1"/>
          <p:cNvSpPr/>
          <p:nvPr/>
        </p:nvSpPr>
        <p:spPr>
          <a:xfrm>
            <a:off x="7299960" y="1731645"/>
            <a:ext cx="30480" cy="5859780"/>
          </a:xfrm>
          <a:prstGeom prst="roundRect">
            <a:avLst>
              <a:gd name="adj" fmla="val 105016"/>
            </a:avLst>
          </a:prstGeom>
          <a:solidFill>
            <a:srgbClr val="D8D4D4"/>
          </a:solidFill>
          <a:ln/>
        </p:spPr>
      </p:sp>
      <p:sp>
        <p:nvSpPr>
          <p:cNvPr id="4" name="Shape 2"/>
          <p:cNvSpPr/>
          <p:nvPr/>
        </p:nvSpPr>
        <p:spPr>
          <a:xfrm>
            <a:off x="6358890" y="2196465"/>
            <a:ext cx="746760" cy="30480"/>
          </a:xfrm>
          <a:prstGeom prst="roundRect">
            <a:avLst>
              <a:gd name="adj" fmla="val 105016"/>
            </a:avLst>
          </a:prstGeom>
          <a:solidFill>
            <a:srgbClr val="D8D4D4"/>
          </a:solidFill>
          <a:ln/>
        </p:spPr>
      </p:sp>
      <p:sp>
        <p:nvSpPr>
          <p:cNvPr id="5" name="Shape 3"/>
          <p:cNvSpPr/>
          <p:nvPr/>
        </p:nvSpPr>
        <p:spPr>
          <a:xfrm>
            <a:off x="7075170" y="1971675"/>
            <a:ext cx="480060" cy="480060"/>
          </a:xfrm>
          <a:prstGeom prst="roundRect">
            <a:avLst>
              <a:gd name="adj" fmla="val 6668"/>
            </a:avLst>
          </a:prstGeom>
          <a:solidFill>
            <a:srgbClr val="F2EEEE"/>
          </a:solidFill>
          <a:ln/>
        </p:spPr>
      </p:sp>
      <p:sp>
        <p:nvSpPr>
          <p:cNvPr id="6" name="Text 4"/>
          <p:cNvSpPr/>
          <p:nvPr/>
        </p:nvSpPr>
        <p:spPr>
          <a:xfrm>
            <a:off x="7259479" y="2051685"/>
            <a:ext cx="111443" cy="320040"/>
          </a:xfrm>
          <a:prstGeom prst="rect">
            <a:avLst/>
          </a:prstGeom>
          <a:noFill/>
          <a:ln/>
        </p:spPr>
        <p:txBody>
          <a:bodyPr wrap="none" lIns="0" tIns="0" rIns="0" bIns="0" rtlCol="0" anchor="t"/>
          <a:lstStyle/>
          <a:p>
            <a:pPr marL="0" indent="0" algn="ctr">
              <a:lnSpc>
                <a:spcPts val="2500"/>
              </a:lnSpc>
              <a:buNone/>
            </a:pPr>
            <a:r>
              <a:rPr lang="en-US" sz="2500" dirty="0">
                <a:solidFill>
                  <a:srgbClr val="464646"/>
                </a:solidFill>
                <a:latin typeface="DM Sans Semi Bold" pitchFamily="34" charset="0"/>
                <a:ea typeface="DM Sans Semi Bold" pitchFamily="34" charset="-122"/>
                <a:cs typeface="DM Sans Semi Bold" pitchFamily="34" charset="-120"/>
              </a:rPr>
              <a:t>1</a:t>
            </a:r>
            <a:endParaRPr lang="en-US" sz="2500" dirty="0"/>
          </a:p>
        </p:txBody>
      </p:sp>
      <p:sp>
        <p:nvSpPr>
          <p:cNvPr id="7" name="Text 5"/>
          <p:cNvSpPr/>
          <p:nvPr/>
        </p:nvSpPr>
        <p:spPr>
          <a:xfrm>
            <a:off x="3474244" y="1945005"/>
            <a:ext cx="2667357" cy="333375"/>
          </a:xfrm>
          <a:prstGeom prst="rect">
            <a:avLst/>
          </a:prstGeom>
          <a:noFill/>
          <a:ln/>
        </p:spPr>
        <p:txBody>
          <a:bodyPr wrap="none" lIns="0" tIns="0" rIns="0" bIns="0" rtlCol="0" anchor="t"/>
          <a:lstStyle/>
          <a:p>
            <a:pPr marL="0" indent="0" algn="r">
              <a:lnSpc>
                <a:spcPts val="2600"/>
              </a:lnSpc>
              <a:buNone/>
            </a:pPr>
            <a:r>
              <a:rPr lang="en-US" sz="2100" dirty="0">
                <a:solidFill>
                  <a:srgbClr val="464646"/>
                </a:solidFill>
                <a:latin typeface="DM Sans Semi Bold" pitchFamily="34" charset="0"/>
                <a:ea typeface="DM Sans Semi Bold" pitchFamily="34" charset="-122"/>
                <a:cs typeface="DM Sans Semi Bold" pitchFamily="34" charset="-120"/>
              </a:rPr>
              <a:t>Original Data</a:t>
            </a:r>
            <a:endParaRPr lang="en-US" sz="2100" dirty="0"/>
          </a:p>
        </p:txBody>
      </p:sp>
      <p:sp>
        <p:nvSpPr>
          <p:cNvPr id="8" name="Text 6"/>
          <p:cNvSpPr/>
          <p:nvPr/>
        </p:nvSpPr>
        <p:spPr>
          <a:xfrm>
            <a:off x="746760" y="2406372"/>
            <a:ext cx="5394841" cy="682704"/>
          </a:xfrm>
          <a:prstGeom prst="rect">
            <a:avLst/>
          </a:prstGeom>
          <a:noFill/>
          <a:ln/>
        </p:spPr>
        <p:txBody>
          <a:bodyPr wrap="square" lIns="0" tIns="0" rIns="0" bIns="0" rtlCol="0" anchor="t"/>
          <a:lstStyle/>
          <a:p>
            <a:pPr marL="0" indent="0" algn="r">
              <a:lnSpc>
                <a:spcPts val="2650"/>
              </a:lnSpc>
              <a:buNone/>
            </a:pPr>
            <a:r>
              <a:rPr lang="en-US" sz="1650" dirty="0">
                <a:solidFill>
                  <a:srgbClr val="464646"/>
                </a:solidFill>
                <a:latin typeface="Inter Medium" pitchFamily="34" charset="0"/>
                <a:ea typeface="Inter Medium" pitchFamily="34" charset="-122"/>
                <a:cs typeface="Inter Medium" pitchFamily="34" charset="-120"/>
              </a:rPr>
              <a:t>Start with a dataset containing potentially correlated features in high-dimensional space.</a:t>
            </a:r>
            <a:endParaRPr lang="en-US" sz="1650" dirty="0"/>
          </a:p>
        </p:txBody>
      </p:sp>
      <p:sp>
        <p:nvSpPr>
          <p:cNvPr id="9" name="Shape 7"/>
          <p:cNvSpPr/>
          <p:nvPr/>
        </p:nvSpPr>
        <p:spPr>
          <a:xfrm>
            <a:off x="7524750" y="3263384"/>
            <a:ext cx="746760" cy="30480"/>
          </a:xfrm>
          <a:prstGeom prst="roundRect">
            <a:avLst>
              <a:gd name="adj" fmla="val 105016"/>
            </a:avLst>
          </a:prstGeom>
          <a:solidFill>
            <a:srgbClr val="D8D4D4"/>
          </a:solidFill>
          <a:ln/>
        </p:spPr>
      </p:sp>
      <p:sp>
        <p:nvSpPr>
          <p:cNvPr id="10" name="Shape 8"/>
          <p:cNvSpPr/>
          <p:nvPr/>
        </p:nvSpPr>
        <p:spPr>
          <a:xfrm>
            <a:off x="7075170" y="3038594"/>
            <a:ext cx="480060" cy="480060"/>
          </a:xfrm>
          <a:prstGeom prst="roundRect">
            <a:avLst>
              <a:gd name="adj" fmla="val 6668"/>
            </a:avLst>
          </a:prstGeom>
          <a:solidFill>
            <a:srgbClr val="F2EEEE"/>
          </a:solidFill>
          <a:ln/>
        </p:spPr>
      </p:sp>
      <p:sp>
        <p:nvSpPr>
          <p:cNvPr id="11" name="Text 9"/>
          <p:cNvSpPr/>
          <p:nvPr/>
        </p:nvSpPr>
        <p:spPr>
          <a:xfrm>
            <a:off x="7222808" y="3118604"/>
            <a:ext cx="184666" cy="320040"/>
          </a:xfrm>
          <a:prstGeom prst="rect">
            <a:avLst/>
          </a:prstGeom>
          <a:noFill/>
          <a:ln/>
        </p:spPr>
        <p:txBody>
          <a:bodyPr wrap="none" lIns="0" tIns="0" rIns="0" bIns="0" rtlCol="0" anchor="t"/>
          <a:lstStyle/>
          <a:p>
            <a:pPr marL="0" indent="0" algn="ctr">
              <a:lnSpc>
                <a:spcPts val="2500"/>
              </a:lnSpc>
              <a:buNone/>
            </a:pPr>
            <a:r>
              <a:rPr lang="en-US" sz="2500" dirty="0">
                <a:solidFill>
                  <a:srgbClr val="464646"/>
                </a:solidFill>
                <a:latin typeface="DM Sans Semi Bold" pitchFamily="34" charset="0"/>
                <a:ea typeface="DM Sans Semi Bold" pitchFamily="34" charset="-122"/>
                <a:cs typeface="DM Sans Semi Bold" pitchFamily="34" charset="-120"/>
              </a:rPr>
              <a:t>2</a:t>
            </a:r>
            <a:endParaRPr lang="en-US" sz="2500" dirty="0"/>
          </a:p>
        </p:txBody>
      </p:sp>
      <p:sp>
        <p:nvSpPr>
          <p:cNvPr id="12" name="Text 10"/>
          <p:cNvSpPr/>
          <p:nvPr/>
        </p:nvSpPr>
        <p:spPr>
          <a:xfrm>
            <a:off x="8488799" y="3011924"/>
            <a:ext cx="2667357" cy="333375"/>
          </a:xfrm>
          <a:prstGeom prst="rect">
            <a:avLst/>
          </a:prstGeom>
          <a:noFill/>
          <a:ln/>
        </p:spPr>
        <p:txBody>
          <a:bodyPr wrap="none" lIns="0" tIns="0" rIns="0" bIns="0" rtlCol="0" anchor="t"/>
          <a:lstStyle/>
          <a:p>
            <a:pPr marL="0" indent="0" algn="l">
              <a:lnSpc>
                <a:spcPts val="2600"/>
              </a:lnSpc>
              <a:buNone/>
            </a:pPr>
            <a:r>
              <a:rPr lang="en-US" sz="2100" dirty="0">
                <a:solidFill>
                  <a:srgbClr val="464646"/>
                </a:solidFill>
                <a:latin typeface="DM Sans Semi Bold" pitchFamily="34" charset="0"/>
                <a:ea typeface="DM Sans Semi Bold" pitchFamily="34" charset="-122"/>
                <a:cs typeface="DM Sans Semi Bold" pitchFamily="34" charset="-120"/>
              </a:rPr>
              <a:t>Standardization</a:t>
            </a:r>
            <a:endParaRPr lang="en-US" sz="2100" dirty="0"/>
          </a:p>
        </p:txBody>
      </p:sp>
      <p:sp>
        <p:nvSpPr>
          <p:cNvPr id="13" name="Text 11"/>
          <p:cNvSpPr/>
          <p:nvPr/>
        </p:nvSpPr>
        <p:spPr>
          <a:xfrm>
            <a:off x="8488799" y="3473291"/>
            <a:ext cx="5394841" cy="682704"/>
          </a:xfrm>
          <a:prstGeom prst="rect">
            <a:avLst/>
          </a:prstGeom>
          <a:noFill/>
          <a:ln/>
        </p:spPr>
        <p:txBody>
          <a:bodyPr wrap="square" lIns="0" tIns="0" rIns="0" bIns="0" rtlCol="0" anchor="t"/>
          <a:lstStyle/>
          <a:p>
            <a:pPr marL="0" indent="0" algn="l">
              <a:lnSpc>
                <a:spcPts val="2650"/>
              </a:lnSpc>
              <a:buNone/>
            </a:pPr>
            <a:r>
              <a:rPr lang="en-US" sz="1650" dirty="0">
                <a:solidFill>
                  <a:srgbClr val="464646"/>
                </a:solidFill>
                <a:latin typeface="Inter Medium" pitchFamily="34" charset="0"/>
                <a:ea typeface="Inter Medium" pitchFamily="34" charset="-122"/>
                <a:cs typeface="Inter Medium" pitchFamily="34" charset="-120"/>
              </a:rPr>
              <a:t>Standardize the data so that features with larger scales don't dominate the analysis.</a:t>
            </a:r>
            <a:endParaRPr lang="en-US" sz="1650" dirty="0"/>
          </a:p>
        </p:txBody>
      </p:sp>
      <p:sp>
        <p:nvSpPr>
          <p:cNvPr id="14" name="Shape 12"/>
          <p:cNvSpPr/>
          <p:nvPr/>
        </p:nvSpPr>
        <p:spPr>
          <a:xfrm>
            <a:off x="6358890" y="4223623"/>
            <a:ext cx="746760" cy="30480"/>
          </a:xfrm>
          <a:prstGeom prst="roundRect">
            <a:avLst>
              <a:gd name="adj" fmla="val 105016"/>
            </a:avLst>
          </a:prstGeom>
          <a:solidFill>
            <a:srgbClr val="D8D4D4"/>
          </a:solidFill>
          <a:ln/>
        </p:spPr>
      </p:sp>
      <p:sp>
        <p:nvSpPr>
          <p:cNvPr id="15" name="Shape 13"/>
          <p:cNvSpPr/>
          <p:nvPr/>
        </p:nvSpPr>
        <p:spPr>
          <a:xfrm>
            <a:off x="7075170" y="3998833"/>
            <a:ext cx="480060" cy="480060"/>
          </a:xfrm>
          <a:prstGeom prst="roundRect">
            <a:avLst>
              <a:gd name="adj" fmla="val 6668"/>
            </a:avLst>
          </a:prstGeom>
          <a:solidFill>
            <a:srgbClr val="F2EEEE"/>
          </a:solidFill>
          <a:ln/>
        </p:spPr>
      </p:sp>
      <p:sp>
        <p:nvSpPr>
          <p:cNvPr id="16" name="Text 14"/>
          <p:cNvSpPr/>
          <p:nvPr/>
        </p:nvSpPr>
        <p:spPr>
          <a:xfrm>
            <a:off x="7219236" y="4078843"/>
            <a:ext cx="191810" cy="320040"/>
          </a:xfrm>
          <a:prstGeom prst="rect">
            <a:avLst/>
          </a:prstGeom>
          <a:noFill/>
          <a:ln/>
        </p:spPr>
        <p:txBody>
          <a:bodyPr wrap="none" lIns="0" tIns="0" rIns="0" bIns="0" rtlCol="0" anchor="t"/>
          <a:lstStyle/>
          <a:p>
            <a:pPr marL="0" indent="0" algn="ctr">
              <a:lnSpc>
                <a:spcPts val="2500"/>
              </a:lnSpc>
              <a:buNone/>
            </a:pPr>
            <a:r>
              <a:rPr lang="en-US" sz="2500" dirty="0">
                <a:solidFill>
                  <a:srgbClr val="464646"/>
                </a:solidFill>
                <a:latin typeface="DM Sans Semi Bold" pitchFamily="34" charset="0"/>
                <a:ea typeface="DM Sans Semi Bold" pitchFamily="34" charset="-122"/>
                <a:cs typeface="DM Sans Semi Bold" pitchFamily="34" charset="-120"/>
              </a:rPr>
              <a:t>3</a:t>
            </a:r>
            <a:endParaRPr lang="en-US" sz="2500" dirty="0"/>
          </a:p>
        </p:txBody>
      </p:sp>
      <p:sp>
        <p:nvSpPr>
          <p:cNvPr id="17" name="Text 15"/>
          <p:cNvSpPr/>
          <p:nvPr/>
        </p:nvSpPr>
        <p:spPr>
          <a:xfrm>
            <a:off x="3474244" y="3972163"/>
            <a:ext cx="2667357" cy="333375"/>
          </a:xfrm>
          <a:prstGeom prst="rect">
            <a:avLst/>
          </a:prstGeom>
          <a:noFill/>
          <a:ln/>
        </p:spPr>
        <p:txBody>
          <a:bodyPr wrap="none" lIns="0" tIns="0" rIns="0" bIns="0" rtlCol="0" anchor="t"/>
          <a:lstStyle/>
          <a:p>
            <a:pPr marL="0" indent="0" algn="r">
              <a:lnSpc>
                <a:spcPts val="2600"/>
              </a:lnSpc>
              <a:buNone/>
            </a:pPr>
            <a:r>
              <a:rPr lang="en-US" sz="2100" dirty="0">
                <a:solidFill>
                  <a:srgbClr val="464646"/>
                </a:solidFill>
                <a:latin typeface="DM Sans Semi Bold" pitchFamily="34" charset="0"/>
                <a:ea typeface="DM Sans Semi Bold" pitchFamily="34" charset="-122"/>
                <a:cs typeface="DM Sans Semi Bold" pitchFamily="34" charset="-120"/>
              </a:rPr>
              <a:t>Covariance Matrix</a:t>
            </a:r>
            <a:endParaRPr lang="en-US" sz="2100" dirty="0"/>
          </a:p>
        </p:txBody>
      </p:sp>
      <p:sp>
        <p:nvSpPr>
          <p:cNvPr id="18" name="Text 16"/>
          <p:cNvSpPr/>
          <p:nvPr/>
        </p:nvSpPr>
        <p:spPr>
          <a:xfrm>
            <a:off x="746760" y="4433530"/>
            <a:ext cx="5394841" cy="682704"/>
          </a:xfrm>
          <a:prstGeom prst="rect">
            <a:avLst/>
          </a:prstGeom>
          <a:noFill/>
          <a:ln/>
        </p:spPr>
        <p:txBody>
          <a:bodyPr wrap="square" lIns="0" tIns="0" rIns="0" bIns="0" rtlCol="0" anchor="t"/>
          <a:lstStyle/>
          <a:p>
            <a:pPr marL="0" indent="0" algn="r">
              <a:lnSpc>
                <a:spcPts val="2650"/>
              </a:lnSpc>
              <a:buNone/>
            </a:pPr>
            <a:r>
              <a:rPr lang="en-US" sz="1650" dirty="0">
                <a:solidFill>
                  <a:srgbClr val="464646"/>
                </a:solidFill>
                <a:latin typeface="Inter Medium" pitchFamily="34" charset="0"/>
                <a:ea typeface="Inter Medium" pitchFamily="34" charset="-122"/>
                <a:cs typeface="Inter Medium" pitchFamily="34" charset="-120"/>
              </a:rPr>
              <a:t>Calculate the covariance matrix to understand relationships between features.</a:t>
            </a:r>
            <a:endParaRPr lang="en-US" sz="1650" dirty="0"/>
          </a:p>
        </p:txBody>
      </p:sp>
      <p:sp>
        <p:nvSpPr>
          <p:cNvPr id="19" name="Shape 17"/>
          <p:cNvSpPr/>
          <p:nvPr/>
        </p:nvSpPr>
        <p:spPr>
          <a:xfrm>
            <a:off x="7524750" y="5183862"/>
            <a:ext cx="746760" cy="30480"/>
          </a:xfrm>
          <a:prstGeom prst="roundRect">
            <a:avLst>
              <a:gd name="adj" fmla="val 105016"/>
            </a:avLst>
          </a:prstGeom>
          <a:solidFill>
            <a:srgbClr val="D8D4D4"/>
          </a:solidFill>
          <a:ln/>
        </p:spPr>
      </p:sp>
      <p:sp>
        <p:nvSpPr>
          <p:cNvPr id="20" name="Shape 18"/>
          <p:cNvSpPr/>
          <p:nvPr/>
        </p:nvSpPr>
        <p:spPr>
          <a:xfrm>
            <a:off x="7075170" y="4959072"/>
            <a:ext cx="480060" cy="480060"/>
          </a:xfrm>
          <a:prstGeom prst="roundRect">
            <a:avLst>
              <a:gd name="adj" fmla="val 6668"/>
            </a:avLst>
          </a:prstGeom>
          <a:solidFill>
            <a:srgbClr val="F2EEEE"/>
          </a:solidFill>
          <a:ln/>
        </p:spPr>
      </p:sp>
      <p:sp>
        <p:nvSpPr>
          <p:cNvPr id="21" name="Text 19"/>
          <p:cNvSpPr/>
          <p:nvPr/>
        </p:nvSpPr>
        <p:spPr>
          <a:xfrm>
            <a:off x="7213044" y="5039082"/>
            <a:ext cx="204192" cy="320040"/>
          </a:xfrm>
          <a:prstGeom prst="rect">
            <a:avLst/>
          </a:prstGeom>
          <a:noFill/>
          <a:ln/>
        </p:spPr>
        <p:txBody>
          <a:bodyPr wrap="none" lIns="0" tIns="0" rIns="0" bIns="0" rtlCol="0" anchor="t"/>
          <a:lstStyle/>
          <a:p>
            <a:pPr marL="0" indent="0" algn="ctr">
              <a:lnSpc>
                <a:spcPts val="2500"/>
              </a:lnSpc>
              <a:buNone/>
            </a:pPr>
            <a:r>
              <a:rPr lang="en-US" sz="2500" dirty="0">
                <a:solidFill>
                  <a:srgbClr val="464646"/>
                </a:solidFill>
                <a:latin typeface="DM Sans Semi Bold" pitchFamily="34" charset="0"/>
                <a:ea typeface="DM Sans Semi Bold" pitchFamily="34" charset="-122"/>
                <a:cs typeface="DM Sans Semi Bold" pitchFamily="34" charset="-120"/>
              </a:rPr>
              <a:t>4</a:t>
            </a:r>
            <a:endParaRPr lang="en-US" sz="2500" dirty="0"/>
          </a:p>
        </p:txBody>
      </p:sp>
      <p:sp>
        <p:nvSpPr>
          <p:cNvPr id="22" name="Text 20"/>
          <p:cNvSpPr/>
          <p:nvPr/>
        </p:nvSpPr>
        <p:spPr>
          <a:xfrm>
            <a:off x="8488799" y="4932402"/>
            <a:ext cx="2667357" cy="333375"/>
          </a:xfrm>
          <a:prstGeom prst="rect">
            <a:avLst/>
          </a:prstGeom>
          <a:noFill/>
          <a:ln/>
        </p:spPr>
        <p:txBody>
          <a:bodyPr wrap="none" lIns="0" tIns="0" rIns="0" bIns="0" rtlCol="0" anchor="t"/>
          <a:lstStyle/>
          <a:p>
            <a:pPr marL="0" indent="0" algn="l">
              <a:lnSpc>
                <a:spcPts val="2600"/>
              </a:lnSpc>
              <a:buNone/>
            </a:pPr>
            <a:r>
              <a:rPr lang="en-US" sz="2100" dirty="0">
                <a:solidFill>
                  <a:srgbClr val="464646"/>
                </a:solidFill>
                <a:latin typeface="DM Sans Semi Bold" pitchFamily="34" charset="0"/>
                <a:ea typeface="DM Sans Semi Bold" pitchFamily="34" charset="-122"/>
                <a:cs typeface="DM Sans Semi Bold" pitchFamily="34" charset="-120"/>
              </a:rPr>
              <a:t>Eigenvectors</a:t>
            </a:r>
            <a:endParaRPr lang="en-US" sz="2100" dirty="0"/>
          </a:p>
        </p:txBody>
      </p:sp>
      <p:sp>
        <p:nvSpPr>
          <p:cNvPr id="23" name="Text 21"/>
          <p:cNvSpPr/>
          <p:nvPr/>
        </p:nvSpPr>
        <p:spPr>
          <a:xfrm>
            <a:off x="8488799" y="5393769"/>
            <a:ext cx="5394841" cy="682704"/>
          </a:xfrm>
          <a:prstGeom prst="rect">
            <a:avLst/>
          </a:prstGeom>
          <a:noFill/>
          <a:ln/>
        </p:spPr>
        <p:txBody>
          <a:bodyPr wrap="square" lIns="0" tIns="0" rIns="0" bIns="0" rtlCol="0" anchor="t"/>
          <a:lstStyle/>
          <a:p>
            <a:pPr marL="0" indent="0" algn="l">
              <a:lnSpc>
                <a:spcPts val="2650"/>
              </a:lnSpc>
              <a:buNone/>
            </a:pPr>
            <a:r>
              <a:rPr lang="en-US" sz="1650" dirty="0">
                <a:solidFill>
                  <a:srgbClr val="464646"/>
                </a:solidFill>
                <a:latin typeface="Inter Medium" pitchFamily="34" charset="0"/>
                <a:ea typeface="Inter Medium" pitchFamily="34" charset="-122"/>
                <a:cs typeface="Inter Medium" pitchFamily="34" charset="-120"/>
              </a:rPr>
              <a:t>Find eigenvectors and eigenvalues of the covariance matrix, which will become our principal components.</a:t>
            </a:r>
            <a:endParaRPr lang="en-US" sz="1650" dirty="0"/>
          </a:p>
        </p:txBody>
      </p:sp>
      <p:sp>
        <p:nvSpPr>
          <p:cNvPr id="24" name="Shape 22"/>
          <p:cNvSpPr/>
          <p:nvPr/>
        </p:nvSpPr>
        <p:spPr>
          <a:xfrm>
            <a:off x="6358890" y="6144101"/>
            <a:ext cx="746760" cy="30480"/>
          </a:xfrm>
          <a:prstGeom prst="roundRect">
            <a:avLst>
              <a:gd name="adj" fmla="val 105016"/>
            </a:avLst>
          </a:prstGeom>
          <a:solidFill>
            <a:srgbClr val="D8D4D4"/>
          </a:solidFill>
          <a:ln/>
        </p:spPr>
      </p:sp>
      <p:sp>
        <p:nvSpPr>
          <p:cNvPr id="25" name="Shape 23"/>
          <p:cNvSpPr/>
          <p:nvPr/>
        </p:nvSpPr>
        <p:spPr>
          <a:xfrm>
            <a:off x="7075170" y="5919311"/>
            <a:ext cx="480060" cy="480060"/>
          </a:xfrm>
          <a:prstGeom prst="roundRect">
            <a:avLst>
              <a:gd name="adj" fmla="val 6668"/>
            </a:avLst>
          </a:prstGeom>
          <a:solidFill>
            <a:srgbClr val="F2EEEE"/>
          </a:solidFill>
          <a:ln/>
        </p:spPr>
      </p:sp>
      <p:sp>
        <p:nvSpPr>
          <p:cNvPr id="26" name="Text 24"/>
          <p:cNvSpPr/>
          <p:nvPr/>
        </p:nvSpPr>
        <p:spPr>
          <a:xfrm>
            <a:off x="7216259" y="5999321"/>
            <a:ext cx="197882" cy="320040"/>
          </a:xfrm>
          <a:prstGeom prst="rect">
            <a:avLst/>
          </a:prstGeom>
          <a:noFill/>
          <a:ln/>
        </p:spPr>
        <p:txBody>
          <a:bodyPr wrap="none" lIns="0" tIns="0" rIns="0" bIns="0" rtlCol="0" anchor="t"/>
          <a:lstStyle/>
          <a:p>
            <a:pPr marL="0" indent="0" algn="ctr">
              <a:lnSpc>
                <a:spcPts val="2500"/>
              </a:lnSpc>
              <a:buNone/>
            </a:pPr>
            <a:r>
              <a:rPr lang="en-US" sz="2500" dirty="0">
                <a:solidFill>
                  <a:srgbClr val="464646"/>
                </a:solidFill>
                <a:latin typeface="DM Sans Semi Bold" pitchFamily="34" charset="0"/>
                <a:ea typeface="DM Sans Semi Bold" pitchFamily="34" charset="-122"/>
                <a:cs typeface="DM Sans Semi Bold" pitchFamily="34" charset="-120"/>
              </a:rPr>
              <a:t>5</a:t>
            </a:r>
            <a:endParaRPr lang="en-US" sz="2500" dirty="0"/>
          </a:p>
        </p:txBody>
      </p:sp>
      <p:sp>
        <p:nvSpPr>
          <p:cNvPr id="27" name="Text 25"/>
          <p:cNvSpPr/>
          <p:nvPr/>
        </p:nvSpPr>
        <p:spPr>
          <a:xfrm>
            <a:off x="3474244" y="5892641"/>
            <a:ext cx="2667357" cy="333375"/>
          </a:xfrm>
          <a:prstGeom prst="rect">
            <a:avLst/>
          </a:prstGeom>
          <a:noFill/>
          <a:ln/>
        </p:spPr>
        <p:txBody>
          <a:bodyPr wrap="none" lIns="0" tIns="0" rIns="0" bIns="0" rtlCol="0" anchor="t"/>
          <a:lstStyle/>
          <a:p>
            <a:pPr marL="0" indent="0" algn="r">
              <a:lnSpc>
                <a:spcPts val="2600"/>
              </a:lnSpc>
              <a:buNone/>
            </a:pPr>
            <a:r>
              <a:rPr lang="en-US" sz="2100" dirty="0">
                <a:solidFill>
                  <a:srgbClr val="464646"/>
                </a:solidFill>
                <a:latin typeface="DM Sans Semi Bold" pitchFamily="34" charset="0"/>
                <a:ea typeface="DM Sans Semi Bold" pitchFamily="34" charset="-122"/>
                <a:cs typeface="DM Sans Semi Bold" pitchFamily="34" charset="-120"/>
              </a:rPr>
              <a:t>Feature Projection</a:t>
            </a:r>
            <a:endParaRPr lang="en-US" sz="2100" dirty="0"/>
          </a:p>
        </p:txBody>
      </p:sp>
      <p:sp>
        <p:nvSpPr>
          <p:cNvPr id="28" name="Text 26"/>
          <p:cNvSpPr/>
          <p:nvPr/>
        </p:nvSpPr>
        <p:spPr>
          <a:xfrm>
            <a:off x="746760" y="6354008"/>
            <a:ext cx="5394841" cy="1024057"/>
          </a:xfrm>
          <a:prstGeom prst="rect">
            <a:avLst/>
          </a:prstGeom>
          <a:noFill/>
          <a:ln/>
        </p:spPr>
        <p:txBody>
          <a:bodyPr wrap="square" lIns="0" tIns="0" rIns="0" bIns="0" rtlCol="0" anchor="t"/>
          <a:lstStyle/>
          <a:p>
            <a:pPr marL="0" indent="0" algn="r">
              <a:lnSpc>
                <a:spcPts val="2650"/>
              </a:lnSpc>
              <a:buNone/>
            </a:pPr>
            <a:r>
              <a:rPr lang="en-US" sz="1650" dirty="0">
                <a:solidFill>
                  <a:srgbClr val="464646"/>
                </a:solidFill>
                <a:latin typeface="Inter Medium" pitchFamily="34" charset="0"/>
                <a:ea typeface="Inter Medium" pitchFamily="34" charset="-122"/>
                <a:cs typeface="Inter Medium" pitchFamily="34" charset="-120"/>
              </a:rPr>
              <a:t>Project the original data onto the principal components to obtain the reduced-dimensional representation.</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240036"/>
            <a:ext cx="12236529" cy="708779"/>
          </a:xfrm>
          <a:prstGeom prst="rect">
            <a:avLst/>
          </a:prstGeom>
          <a:noFill/>
          <a:ln/>
        </p:spPr>
        <p:txBody>
          <a:bodyPr wrap="none" lIns="0" tIns="0" rIns="0" bIns="0" rtlCol="0" anchor="t"/>
          <a:lstStyle/>
          <a:p>
            <a:pPr marL="0" indent="0">
              <a:lnSpc>
                <a:spcPts val="5550"/>
              </a:lnSpc>
              <a:buNone/>
            </a:pPr>
            <a:r>
              <a:rPr lang="en-US" sz="4450" dirty="0">
                <a:solidFill>
                  <a:srgbClr val="030303"/>
                </a:solidFill>
                <a:latin typeface="DM Sans Semi Bold" pitchFamily="34" charset="0"/>
                <a:ea typeface="DM Sans Semi Bold" pitchFamily="34" charset="-122"/>
                <a:cs typeface="DM Sans Semi Bold" pitchFamily="34" charset="-120"/>
              </a:rPr>
              <a:t>Mathematical Foundation: Covariance Matrix</a:t>
            </a:r>
            <a:endParaRPr lang="en-US" sz="4450" dirty="0"/>
          </a:p>
        </p:txBody>
      </p:sp>
      <p:sp>
        <p:nvSpPr>
          <p:cNvPr id="3" name="Text 1"/>
          <p:cNvSpPr/>
          <p:nvPr/>
        </p:nvSpPr>
        <p:spPr>
          <a:xfrm>
            <a:off x="1857256" y="2402443"/>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Data Matrix X</a:t>
            </a:r>
            <a:endParaRPr lang="en-US" sz="2200" dirty="0"/>
          </a:p>
        </p:txBody>
      </p:sp>
      <p:sp>
        <p:nvSpPr>
          <p:cNvPr id="4" name="Text 2"/>
          <p:cNvSpPr/>
          <p:nvPr/>
        </p:nvSpPr>
        <p:spPr>
          <a:xfrm>
            <a:off x="793790" y="2892862"/>
            <a:ext cx="3898702" cy="1814513"/>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Begin with data matrix X of size n×p (n observations, p features). Standardize this matrix so each feature has mean 0 and standard deviation 1.</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sp>
        <p:nvSpPr>
          <p:cNvPr id="6" name="Text 3"/>
          <p:cNvSpPr/>
          <p:nvPr/>
        </p:nvSpPr>
        <p:spPr>
          <a:xfrm>
            <a:off x="6135886" y="3339346"/>
            <a:ext cx="9870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1</a:t>
            </a:r>
            <a:endParaRPr lang="en-US" sz="2200" dirty="0"/>
          </a:p>
        </p:txBody>
      </p:sp>
      <p:sp>
        <p:nvSpPr>
          <p:cNvPr id="7" name="Text 4"/>
          <p:cNvSpPr/>
          <p:nvPr/>
        </p:nvSpPr>
        <p:spPr>
          <a:xfrm>
            <a:off x="9937790" y="2765346"/>
            <a:ext cx="3161586"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Covariance Calculation</a:t>
            </a:r>
            <a:endParaRPr lang="en-US" sz="2200" dirty="0"/>
          </a:p>
        </p:txBody>
      </p:sp>
      <p:sp>
        <p:nvSpPr>
          <p:cNvPr id="8" name="Text 5"/>
          <p:cNvSpPr/>
          <p:nvPr/>
        </p:nvSpPr>
        <p:spPr>
          <a:xfrm>
            <a:off x="9937790" y="3255764"/>
            <a:ext cx="3898821" cy="1088708"/>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The covariance between two features is calculated as: cov(Xi, Xj) = Σ(Xik - μi)(Xjk - μj)/n</a:t>
            </a:r>
            <a:endParaRPr lang="en-US" sz="1750" dirty="0"/>
          </a:p>
        </p:txBody>
      </p:sp>
      <p:pic>
        <p:nvPicPr>
          <p:cNvPr id="9" name="Image 1" descr="preencoded.png"/>
          <p:cNvPicPr>
            <a:picLocks noChangeAspect="1"/>
          </p:cNvPicPr>
          <p:nvPr/>
        </p:nvPicPr>
        <p:blipFill>
          <a:blip r:embed="rId4"/>
          <a:stretch>
            <a:fillRect/>
          </a:stretch>
        </p:blipFill>
        <p:spPr>
          <a:xfrm>
            <a:off x="5032653" y="2413516"/>
            <a:ext cx="4564975" cy="4564975"/>
          </a:xfrm>
          <a:prstGeom prst="rect">
            <a:avLst/>
          </a:prstGeom>
        </p:spPr>
      </p:pic>
      <p:sp>
        <p:nvSpPr>
          <p:cNvPr id="10" name="Text 6"/>
          <p:cNvSpPr/>
          <p:nvPr/>
        </p:nvSpPr>
        <p:spPr>
          <a:xfrm>
            <a:off x="8363069" y="3339346"/>
            <a:ext cx="163592"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2</a:t>
            </a:r>
            <a:endParaRPr lang="en-US" sz="2200" dirty="0"/>
          </a:p>
        </p:txBody>
      </p:sp>
      <p:sp>
        <p:nvSpPr>
          <p:cNvPr id="11" name="Text 7"/>
          <p:cNvSpPr/>
          <p:nvPr/>
        </p:nvSpPr>
        <p:spPr>
          <a:xfrm>
            <a:off x="9937790" y="504753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Covariance Matrix</a:t>
            </a:r>
            <a:endParaRPr lang="en-US" sz="2200" dirty="0"/>
          </a:p>
        </p:txBody>
      </p:sp>
      <p:sp>
        <p:nvSpPr>
          <p:cNvPr id="12" name="Text 8"/>
          <p:cNvSpPr/>
          <p:nvPr/>
        </p:nvSpPr>
        <p:spPr>
          <a:xfrm>
            <a:off x="9937790" y="5537954"/>
            <a:ext cx="3898821" cy="1451610"/>
          </a:xfrm>
          <a:prstGeom prst="rect">
            <a:avLst/>
          </a:prstGeom>
          <a:noFill/>
          <a:ln/>
        </p:spPr>
        <p:txBody>
          <a:bodyPr wrap="square" lIns="0" tIns="0" rIns="0" bIns="0" rtlCol="0" anchor="t"/>
          <a:lstStyle/>
          <a:p>
            <a:pPr marL="0" indent="0" algn="l">
              <a:lnSpc>
                <a:spcPts val="2850"/>
              </a:lnSpc>
              <a:buNone/>
            </a:pPr>
            <a:r>
              <a:rPr lang="en-US" sz="1750" dirty="0">
                <a:solidFill>
                  <a:srgbClr val="464646"/>
                </a:solidFill>
                <a:latin typeface="Inter Medium" pitchFamily="34" charset="0"/>
                <a:ea typeface="Inter Medium" pitchFamily="34" charset="-122"/>
                <a:cs typeface="Inter Medium" pitchFamily="34" charset="-120"/>
              </a:rPr>
              <a:t>The covariance matrix C is a p×p matrix where each element Cij represents the covariance between features i and j.</a:t>
            </a:r>
            <a:endParaRPr lang="en-US" sz="1750" dirty="0"/>
          </a:p>
        </p:txBody>
      </p:sp>
      <p:pic>
        <p:nvPicPr>
          <p:cNvPr id="13" name="Image 2" descr="preencoded.png"/>
          <p:cNvPicPr>
            <a:picLocks noChangeAspect="1"/>
          </p:cNvPicPr>
          <p:nvPr/>
        </p:nvPicPr>
        <p:blipFill>
          <a:blip r:embed="rId5"/>
          <a:stretch>
            <a:fillRect/>
          </a:stretch>
        </p:blipFill>
        <p:spPr>
          <a:xfrm>
            <a:off x="5032653" y="2413516"/>
            <a:ext cx="4564975" cy="4564975"/>
          </a:xfrm>
          <a:prstGeom prst="rect">
            <a:avLst/>
          </a:prstGeom>
        </p:spPr>
      </p:pic>
      <p:sp>
        <p:nvSpPr>
          <p:cNvPr id="14" name="Text 9"/>
          <p:cNvSpPr/>
          <p:nvPr/>
        </p:nvSpPr>
        <p:spPr>
          <a:xfrm>
            <a:off x="8359973" y="5598914"/>
            <a:ext cx="169783"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3</a:t>
            </a:r>
            <a:endParaRPr lang="en-US" sz="2200" dirty="0"/>
          </a:p>
        </p:txBody>
      </p:sp>
      <p:sp>
        <p:nvSpPr>
          <p:cNvPr id="15" name="Text 10"/>
          <p:cNvSpPr/>
          <p:nvPr/>
        </p:nvSpPr>
        <p:spPr>
          <a:xfrm>
            <a:off x="1857256" y="5228987"/>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64646"/>
                </a:solidFill>
                <a:latin typeface="DM Sans Semi Bold" pitchFamily="34" charset="0"/>
                <a:ea typeface="DM Sans Semi Bold" pitchFamily="34" charset="-122"/>
                <a:cs typeface="DM Sans Semi Bold" pitchFamily="34" charset="-120"/>
              </a:rPr>
              <a:t>Properties</a:t>
            </a:r>
            <a:endParaRPr lang="en-US" sz="2200" dirty="0"/>
          </a:p>
        </p:txBody>
      </p:sp>
      <p:sp>
        <p:nvSpPr>
          <p:cNvPr id="16" name="Text 11"/>
          <p:cNvSpPr/>
          <p:nvPr/>
        </p:nvSpPr>
        <p:spPr>
          <a:xfrm>
            <a:off x="793790" y="5719405"/>
            <a:ext cx="3898702" cy="1088708"/>
          </a:xfrm>
          <a:prstGeom prst="rect">
            <a:avLst/>
          </a:prstGeom>
          <a:noFill/>
          <a:ln/>
        </p:spPr>
        <p:txBody>
          <a:bodyPr wrap="square" lIns="0" tIns="0" rIns="0" bIns="0" rtlCol="0" anchor="t"/>
          <a:lstStyle/>
          <a:p>
            <a:pPr marL="0" indent="0" algn="r">
              <a:lnSpc>
                <a:spcPts val="2850"/>
              </a:lnSpc>
              <a:buNone/>
            </a:pPr>
            <a:r>
              <a:rPr lang="en-US" sz="1750" dirty="0">
                <a:solidFill>
                  <a:srgbClr val="464646"/>
                </a:solidFill>
                <a:latin typeface="Inter Medium" pitchFamily="34" charset="0"/>
                <a:ea typeface="Inter Medium" pitchFamily="34" charset="-122"/>
                <a:cs typeface="Inter Medium" pitchFamily="34" charset="-120"/>
              </a:rPr>
              <a:t>The covariance matrix is symmetric and positive semi-definite, meaning all eigenvalues are non-negative.</a:t>
            </a:r>
            <a:endParaRPr lang="en-US" sz="1750" dirty="0"/>
          </a:p>
        </p:txBody>
      </p:sp>
      <p:pic>
        <p:nvPicPr>
          <p:cNvPr id="17" name="Image 3" descr="preencoded.png"/>
          <p:cNvPicPr>
            <a:picLocks noChangeAspect="1"/>
          </p:cNvPicPr>
          <p:nvPr/>
        </p:nvPicPr>
        <p:blipFill>
          <a:blip r:embed="rId6"/>
          <a:stretch>
            <a:fillRect/>
          </a:stretch>
        </p:blipFill>
        <p:spPr>
          <a:xfrm>
            <a:off x="5032653" y="2413516"/>
            <a:ext cx="4564975" cy="4564975"/>
          </a:xfrm>
          <a:prstGeom prst="rect">
            <a:avLst/>
          </a:prstGeom>
        </p:spPr>
      </p:pic>
      <p:sp>
        <p:nvSpPr>
          <p:cNvPr id="18" name="Text 12"/>
          <p:cNvSpPr/>
          <p:nvPr/>
        </p:nvSpPr>
        <p:spPr>
          <a:xfrm>
            <a:off x="6094809" y="5598914"/>
            <a:ext cx="180856" cy="453509"/>
          </a:xfrm>
          <a:prstGeom prst="rect">
            <a:avLst/>
          </a:prstGeom>
          <a:noFill/>
          <a:ln/>
        </p:spPr>
        <p:txBody>
          <a:bodyPr wrap="none" lIns="0" tIns="0" rIns="0" bIns="0" rtlCol="0" anchor="t"/>
          <a:lstStyle/>
          <a:p>
            <a:pPr marL="0" indent="0">
              <a:lnSpc>
                <a:spcPts val="3550"/>
              </a:lnSpc>
              <a:buNone/>
            </a:pPr>
            <a:r>
              <a:rPr lang="en-US" sz="2200" dirty="0">
                <a:solidFill>
                  <a:srgbClr val="464646"/>
                </a:solidFill>
                <a:latin typeface="DM Sans Semi Bold" pitchFamily="34" charset="0"/>
                <a:ea typeface="DM Sans Semi Bold" pitchFamily="34" charset="-122"/>
                <a:cs typeface="DM Sans Semi Bold" pitchFamily="34" charset="-120"/>
              </a:rPr>
              <a:t>4</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14494" y="562927"/>
            <a:ext cx="7715012" cy="1275874"/>
          </a:xfrm>
          <a:prstGeom prst="rect">
            <a:avLst/>
          </a:prstGeom>
          <a:noFill/>
          <a:ln/>
        </p:spPr>
        <p:txBody>
          <a:bodyPr wrap="square" lIns="0" tIns="0" rIns="0" bIns="0" rtlCol="0" anchor="t"/>
          <a:lstStyle/>
          <a:p>
            <a:pPr marL="0" indent="0">
              <a:lnSpc>
                <a:spcPts val="5000"/>
              </a:lnSpc>
              <a:buNone/>
            </a:pPr>
            <a:r>
              <a:rPr lang="en-US" sz="4000" dirty="0">
                <a:solidFill>
                  <a:srgbClr val="030303"/>
                </a:solidFill>
                <a:latin typeface="DM Sans Semi Bold" pitchFamily="34" charset="0"/>
                <a:ea typeface="DM Sans Semi Bold" pitchFamily="34" charset="-122"/>
                <a:cs typeface="DM Sans Semi Bold" pitchFamily="34" charset="-120"/>
              </a:rPr>
              <a:t>Mathematical Foundation: Eigendecomposition</a:t>
            </a:r>
            <a:endParaRPr lang="en-US" sz="4000" dirty="0"/>
          </a:p>
        </p:txBody>
      </p:sp>
      <p:sp>
        <p:nvSpPr>
          <p:cNvPr id="4" name="Shape 1"/>
          <p:cNvSpPr/>
          <p:nvPr/>
        </p:nvSpPr>
        <p:spPr>
          <a:xfrm>
            <a:off x="714494" y="2144911"/>
            <a:ext cx="152995" cy="1094661"/>
          </a:xfrm>
          <a:prstGeom prst="roundRect">
            <a:avLst>
              <a:gd name="adj" fmla="val 20015"/>
            </a:avLst>
          </a:prstGeom>
          <a:solidFill>
            <a:srgbClr val="F2EEEE"/>
          </a:solidFill>
          <a:ln/>
        </p:spPr>
      </p:sp>
      <p:sp>
        <p:nvSpPr>
          <p:cNvPr id="5" name="Text 2"/>
          <p:cNvSpPr/>
          <p:nvPr/>
        </p:nvSpPr>
        <p:spPr>
          <a:xfrm>
            <a:off x="1173599" y="2144911"/>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Find Eigenvalues</a:t>
            </a:r>
            <a:endParaRPr lang="en-US" sz="2000" dirty="0"/>
          </a:p>
        </p:txBody>
      </p:sp>
      <p:sp>
        <p:nvSpPr>
          <p:cNvPr id="6" name="Text 3"/>
          <p:cNvSpPr/>
          <p:nvPr/>
        </p:nvSpPr>
        <p:spPr>
          <a:xfrm>
            <a:off x="1173599" y="2586157"/>
            <a:ext cx="7255907" cy="653415"/>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Solve the characteristic equation |C - λI| = 0 to find the eigenvalues λ1, λ2, ..., λp of the covariance matrix.</a:t>
            </a:r>
            <a:endParaRPr lang="en-US" sz="1600" dirty="0"/>
          </a:p>
        </p:txBody>
      </p:sp>
      <p:sp>
        <p:nvSpPr>
          <p:cNvPr id="7" name="Shape 4"/>
          <p:cNvSpPr/>
          <p:nvPr/>
        </p:nvSpPr>
        <p:spPr>
          <a:xfrm>
            <a:off x="1020604" y="3443645"/>
            <a:ext cx="152995" cy="1094661"/>
          </a:xfrm>
          <a:prstGeom prst="roundRect">
            <a:avLst>
              <a:gd name="adj" fmla="val 20015"/>
            </a:avLst>
          </a:prstGeom>
          <a:solidFill>
            <a:srgbClr val="F2EEEE"/>
          </a:solidFill>
          <a:ln/>
        </p:spPr>
      </p:sp>
      <p:sp>
        <p:nvSpPr>
          <p:cNvPr id="8" name="Text 5"/>
          <p:cNvSpPr/>
          <p:nvPr/>
        </p:nvSpPr>
        <p:spPr>
          <a:xfrm>
            <a:off x="1479709" y="3443645"/>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Find Eigenvectors</a:t>
            </a:r>
            <a:endParaRPr lang="en-US" sz="2000" dirty="0"/>
          </a:p>
        </p:txBody>
      </p:sp>
      <p:sp>
        <p:nvSpPr>
          <p:cNvPr id="9" name="Text 6"/>
          <p:cNvSpPr/>
          <p:nvPr/>
        </p:nvSpPr>
        <p:spPr>
          <a:xfrm>
            <a:off x="1479709" y="3884890"/>
            <a:ext cx="6949797" cy="653415"/>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For each eigenvalue λi, find the corresponding eigenvector vi that satisfies Cvi = λivi.</a:t>
            </a:r>
            <a:endParaRPr lang="en-US" sz="1600" dirty="0"/>
          </a:p>
        </p:txBody>
      </p:sp>
      <p:sp>
        <p:nvSpPr>
          <p:cNvPr id="10" name="Shape 7"/>
          <p:cNvSpPr/>
          <p:nvPr/>
        </p:nvSpPr>
        <p:spPr>
          <a:xfrm>
            <a:off x="1326833" y="4742378"/>
            <a:ext cx="152995" cy="1094661"/>
          </a:xfrm>
          <a:prstGeom prst="roundRect">
            <a:avLst>
              <a:gd name="adj" fmla="val 20015"/>
            </a:avLst>
          </a:prstGeom>
          <a:solidFill>
            <a:srgbClr val="F2EEEE"/>
          </a:solidFill>
          <a:ln/>
        </p:spPr>
      </p:sp>
      <p:sp>
        <p:nvSpPr>
          <p:cNvPr id="11" name="Text 8"/>
          <p:cNvSpPr/>
          <p:nvPr/>
        </p:nvSpPr>
        <p:spPr>
          <a:xfrm>
            <a:off x="1785938" y="4742378"/>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Sort by Eigenvalues</a:t>
            </a:r>
            <a:endParaRPr lang="en-US" sz="2000" dirty="0"/>
          </a:p>
        </p:txBody>
      </p:sp>
      <p:sp>
        <p:nvSpPr>
          <p:cNvPr id="12" name="Text 9"/>
          <p:cNvSpPr/>
          <p:nvPr/>
        </p:nvSpPr>
        <p:spPr>
          <a:xfrm>
            <a:off x="1785938" y="5183624"/>
            <a:ext cx="6643568" cy="653415"/>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Sort eigenvalues in descending order λ1 ≥ λ2 ≥ ... ≥ λp and rearrange eigenvectors accordingly.</a:t>
            </a:r>
            <a:endParaRPr lang="en-US" sz="1600" dirty="0"/>
          </a:p>
        </p:txBody>
      </p:sp>
      <p:sp>
        <p:nvSpPr>
          <p:cNvPr id="13" name="Shape 10"/>
          <p:cNvSpPr/>
          <p:nvPr/>
        </p:nvSpPr>
        <p:spPr>
          <a:xfrm>
            <a:off x="1633061" y="6041112"/>
            <a:ext cx="152995" cy="1421368"/>
          </a:xfrm>
          <a:prstGeom prst="roundRect">
            <a:avLst>
              <a:gd name="adj" fmla="val 20015"/>
            </a:avLst>
          </a:prstGeom>
          <a:solidFill>
            <a:srgbClr val="F2EEEE"/>
          </a:solidFill>
          <a:ln/>
        </p:spPr>
      </p:sp>
      <p:sp>
        <p:nvSpPr>
          <p:cNvPr id="14" name="Text 11"/>
          <p:cNvSpPr/>
          <p:nvPr/>
        </p:nvSpPr>
        <p:spPr>
          <a:xfrm>
            <a:off x="2092166" y="6041112"/>
            <a:ext cx="3418046" cy="318849"/>
          </a:xfrm>
          <a:prstGeom prst="rect">
            <a:avLst/>
          </a:prstGeom>
          <a:noFill/>
          <a:ln/>
        </p:spPr>
        <p:txBody>
          <a:bodyPr wrap="none" lIns="0" tIns="0" rIns="0" bIns="0" rtlCol="0" anchor="t"/>
          <a:lstStyle/>
          <a:p>
            <a:pPr marL="0" indent="0" algn="l">
              <a:lnSpc>
                <a:spcPts val="2500"/>
              </a:lnSpc>
              <a:buNone/>
            </a:pPr>
            <a:r>
              <a:rPr lang="en-US" sz="2000" dirty="0">
                <a:solidFill>
                  <a:srgbClr val="464646"/>
                </a:solidFill>
                <a:latin typeface="DM Sans Semi Bold" pitchFamily="34" charset="0"/>
                <a:ea typeface="DM Sans Semi Bold" pitchFamily="34" charset="-122"/>
                <a:cs typeface="DM Sans Semi Bold" pitchFamily="34" charset="-120"/>
              </a:rPr>
              <a:t>Form Principal Components</a:t>
            </a:r>
            <a:endParaRPr lang="en-US" sz="2000" dirty="0"/>
          </a:p>
        </p:txBody>
      </p:sp>
      <p:sp>
        <p:nvSpPr>
          <p:cNvPr id="15" name="Text 12"/>
          <p:cNvSpPr/>
          <p:nvPr/>
        </p:nvSpPr>
        <p:spPr>
          <a:xfrm>
            <a:off x="2092166" y="6482358"/>
            <a:ext cx="6337340" cy="980123"/>
          </a:xfrm>
          <a:prstGeom prst="rect">
            <a:avLst/>
          </a:prstGeom>
          <a:noFill/>
          <a:ln/>
        </p:spPr>
        <p:txBody>
          <a:bodyPr wrap="square" lIns="0" tIns="0" rIns="0" bIns="0" rtlCol="0" anchor="t"/>
          <a:lstStyle/>
          <a:p>
            <a:pPr marL="0" indent="0" algn="l">
              <a:lnSpc>
                <a:spcPts val="2550"/>
              </a:lnSpc>
              <a:buNone/>
            </a:pPr>
            <a:r>
              <a:rPr lang="en-US" sz="1600" dirty="0">
                <a:solidFill>
                  <a:srgbClr val="464646"/>
                </a:solidFill>
                <a:latin typeface="Inter Medium" pitchFamily="34" charset="0"/>
                <a:ea typeface="Inter Medium" pitchFamily="34" charset="-122"/>
                <a:cs typeface="Inter Medium" pitchFamily="34" charset="-120"/>
              </a:rPr>
              <a:t>The eigenvectors become the principal components, with the first eigenvector (corresponding to largest eigenvalue) being the first principal component.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7708" y="613767"/>
            <a:ext cx="7728585" cy="1263729"/>
          </a:xfrm>
          <a:prstGeom prst="rect">
            <a:avLst/>
          </a:prstGeom>
          <a:noFill/>
          <a:ln/>
        </p:spPr>
        <p:txBody>
          <a:bodyPr wrap="square" lIns="0" tIns="0" rIns="0" bIns="0" rtlCol="0" anchor="t"/>
          <a:lstStyle/>
          <a:p>
            <a:pPr marL="0" indent="0">
              <a:lnSpc>
                <a:spcPts val="4950"/>
              </a:lnSpc>
              <a:buNone/>
            </a:pPr>
            <a:r>
              <a:rPr lang="en-US" sz="3950" dirty="0">
                <a:solidFill>
                  <a:srgbClr val="030303"/>
                </a:solidFill>
                <a:latin typeface="DM Sans Semi Bold" pitchFamily="34" charset="0"/>
                <a:ea typeface="DM Sans Semi Bold" pitchFamily="34" charset="-122"/>
                <a:cs typeface="DM Sans Semi Bold" pitchFamily="34" charset="-120"/>
              </a:rPr>
              <a:t>Step-by-Step PCA Procedure: Part 1</a:t>
            </a:r>
            <a:endParaRPr lang="en-US" sz="3950" dirty="0"/>
          </a:p>
        </p:txBody>
      </p:sp>
      <p:pic>
        <p:nvPicPr>
          <p:cNvPr id="4" name="Image 1" descr="preencoded.png"/>
          <p:cNvPicPr>
            <a:picLocks noChangeAspect="1"/>
          </p:cNvPicPr>
          <p:nvPr/>
        </p:nvPicPr>
        <p:blipFill>
          <a:blip r:embed="rId4"/>
          <a:stretch>
            <a:fillRect/>
          </a:stretch>
        </p:blipFill>
        <p:spPr>
          <a:xfrm>
            <a:off x="707708" y="2180749"/>
            <a:ext cx="1010960" cy="1811655"/>
          </a:xfrm>
          <a:prstGeom prst="rect">
            <a:avLst/>
          </a:prstGeom>
        </p:spPr>
      </p:pic>
      <p:sp>
        <p:nvSpPr>
          <p:cNvPr id="5" name="Text 1"/>
          <p:cNvSpPr/>
          <p:nvPr/>
        </p:nvSpPr>
        <p:spPr>
          <a:xfrm>
            <a:off x="2021919" y="2382917"/>
            <a:ext cx="2527578" cy="315873"/>
          </a:xfrm>
          <a:prstGeom prst="rect">
            <a:avLst/>
          </a:prstGeom>
          <a:noFill/>
          <a:ln/>
        </p:spPr>
        <p:txBody>
          <a:bodyPr wrap="non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Data Preparation</a:t>
            </a:r>
            <a:endParaRPr lang="en-US" sz="1950" dirty="0"/>
          </a:p>
        </p:txBody>
      </p:sp>
      <p:sp>
        <p:nvSpPr>
          <p:cNvPr id="6" name="Text 2"/>
          <p:cNvSpPr/>
          <p:nvPr/>
        </p:nvSpPr>
        <p:spPr>
          <a:xfrm>
            <a:off x="2021919" y="2820114"/>
            <a:ext cx="6414373" cy="970121"/>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Organize your data into a matrix X where rows represent observations and columns represent features. Handle missing values appropriately, typically by imputation or removal.</a:t>
            </a:r>
            <a:endParaRPr lang="en-US" sz="1550" dirty="0"/>
          </a:p>
        </p:txBody>
      </p:sp>
      <p:pic>
        <p:nvPicPr>
          <p:cNvPr id="7" name="Image 2" descr="preencoded.png"/>
          <p:cNvPicPr>
            <a:picLocks noChangeAspect="1"/>
          </p:cNvPicPr>
          <p:nvPr/>
        </p:nvPicPr>
        <p:blipFill>
          <a:blip r:embed="rId5"/>
          <a:stretch>
            <a:fillRect/>
          </a:stretch>
        </p:blipFill>
        <p:spPr>
          <a:xfrm>
            <a:off x="707708" y="3992404"/>
            <a:ext cx="1010960" cy="1811655"/>
          </a:xfrm>
          <a:prstGeom prst="rect">
            <a:avLst/>
          </a:prstGeom>
        </p:spPr>
      </p:pic>
      <p:sp>
        <p:nvSpPr>
          <p:cNvPr id="8" name="Text 3"/>
          <p:cNvSpPr/>
          <p:nvPr/>
        </p:nvSpPr>
        <p:spPr>
          <a:xfrm>
            <a:off x="2021919" y="4194572"/>
            <a:ext cx="2527578" cy="315873"/>
          </a:xfrm>
          <a:prstGeom prst="rect">
            <a:avLst/>
          </a:prstGeom>
          <a:noFill/>
          <a:ln/>
        </p:spPr>
        <p:txBody>
          <a:bodyPr wrap="non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Standardization</a:t>
            </a:r>
            <a:endParaRPr lang="en-US" sz="1950" dirty="0"/>
          </a:p>
        </p:txBody>
      </p:sp>
      <p:sp>
        <p:nvSpPr>
          <p:cNvPr id="9" name="Text 4"/>
          <p:cNvSpPr/>
          <p:nvPr/>
        </p:nvSpPr>
        <p:spPr>
          <a:xfrm>
            <a:off x="2021919" y="4631769"/>
            <a:ext cx="6414373" cy="970121"/>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Standardize the data to have zero mean and unit variance. This ensures that features with larger scales don't dominate the analysis. Formula: Z = (X - μ)/σ for each feature.</a:t>
            </a:r>
            <a:endParaRPr lang="en-US" sz="1550" dirty="0"/>
          </a:p>
        </p:txBody>
      </p:sp>
      <p:pic>
        <p:nvPicPr>
          <p:cNvPr id="10" name="Image 3" descr="preencoded.png"/>
          <p:cNvPicPr>
            <a:picLocks noChangeAspect="1"/>
          </p:cNvPicPr>
          <p:nvPr/>
        </p:nvPicPr>
        <p:blipFill>
          <a:blip r:embed="rId6"/>
          <a:stretch>
            <a:fillRect/>
          </a:stretch>
        </p:blipFill>
        <p:spPr>
          <a:xfrm>
            <a:off x="707708" y="5804059"/>
            <a:ext cx="1010960" cy="1811655"/>
          </a:xfrm>
          <a:prstGeom prst="rect">
            <a:avLst/>
          </a:prstGeom>
        </p:spPr>
      </p:pic>
      <p:sp>
        <p:nvSpPr>
          <p:cNvPr id="11" name="Text 5"/>
          <p:cNvSpPr/>
          <p:nvPr/>
        </p:nvSpPr>
        <p:spPr>
          <a:xfrm>
            <a:off x="2021919" y="6006227"/>
            <a:ext cx="3888581" cy="315873"/>
          </a:xfrm>
          <a:prstGeom prst="rect">
            <a:avLst/>
          </a:prstGeom>
          <a:noFill/>
          <a:ln/>
        </p:spPr>
        <p:txBody>
          <a:bodyPr wrap="none" lIns="0" tIns="0" rIns="0" bIns="0" rtlCol="0" anchor="t"/>
          <a:lstStyle/>
          <a:p>
            <a:pPr marL="0" indent="0" algn="l">
              <a:lnSpc>
                <a:spcPts val="2450"/>
              </a:lnSpc>
              <a:buNone/>
            </a:pPr>
            <a:r>
              <a:rPr lang="en-US" sz="1950" dirty="0">
                <a:solidFill>
                  <a:srgbClr val="464646"/>
                </a:solidFill>
                <a:latin typeface="DM Sans Semi Bold" pitchFamily="34" charset="0"/>
                <a:ea typeface="DM Sans Semi Bold" pitchFamily="34" charset="-122"/>
                <a:cs typeface="DM Sans Semi Bold" pitchFamily="34" charset="-120"/>
              </a:rPr>
              <a:t>Covariance Matrix Computation</a:t>
            </a:r>
            <a:endParaRPr lang="en-US" sz="1950" dirty="0"/>
          </a:p>
        </p:txBody>
      </p:sp>
      <p:sp>
        <p:nvSpPr>
          <p:cNvPr id="12" name="Text 6"/>
          <p:cNvSpPr/>
          <p:nvPr/>
        </p:nvSpPr>
        <p:spPr>
          <a:xfrm>
            <a:off x="2021919" y="6443424"/>
            <a:ext cx="6414373" cy="970121"/>
          </a:xfrm>
          <a:prstGeom prst="rect">
            <a:avLst/>
          </a:prstGeom>
          <a:noFill/>
          <a:ln/>
        </p:spPr>
        <p:txBody>
          <a:bodyPr wrap="square" lIns="0" tIns="0" rIns="0" bIns="0" rtlCol="0" anchor="t"/>
          <a:lstStyle/>
          <a:p>
            <a:pPr marL="0" indent="0" algn="l">
              <a:lnSpc>
                <a:spcPts val="2500"/>
              </a:lnSpc>
              <a:buNone/>
            </a:pPr>
            <a:r>
              <a:rPr lang="en-US" sz="1550" dirty="0">
                <a:solidFill>
                  <a:srgbClr val="464646"/>
                </a:solidFill>
                <a:latin typeface="Inter Medium" pitchFamily="34" charset="0"/>
                <a:ea typeface="Inter Medium" pitchFamily="34" charset="-122"/>
                <a:cs typeface="Inter Medium" pitchFamily="34" charset="-120"/>
              </a:rPr>
              <a:t>Calculate the covariance matrix of the standardized data. This p×p matrix shows how each feature varies with respect to others. Formula: C = (1/n)ZTZ.</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084546"/>
          </a:xfrm>
          <a:prstGeom prst="rect">
            <a:avLst/>
          </a:prstGeom>
        </p:spPr>
      </p:pic>
      <p:sp>
        <p:nvSpPr>
          <p:cNvPr id="3" name="Text 0"/>
          <p:cNvSpPr/>
          <p:nvPr/>
        </p:nvSpPr>
        <p:spPr>
          <a:xfrm>
            <a:off x="583644" y="2656761"/>
            <a:ext cx="7336036" cy="521137"/>
          </a:xfrm>
          <a:prstGeom prst="rect">
            <a:avLst/>
          </a:prstGeom>
          <a:noFill/>
          <a:ln/>
        </p:spPr>
        <p:txBody>
          <a:bodyPr wrap="none" lIns="0" tIns="0" rIns="0" bIns="0" rtlCol="0" anchor="t"/>
          <a:lstStyle/>
          <a:p>
            <a:pPr marL="0" indent="0">
              <a:lnSpc>
                <a:spcPts val="4100"/>
              </a:lnSpc>
              <a:buNone/>
            </a:pPr>
            <a:r>
              <a:rPr lang="en-US" sz="3250" dirty="0">
                <a:solidFill>
                  <a:srgbClr val="030303"/>
                </a:solidFill>
                <a:latin typeface="DM Sans Semi Bold" pitchFamily="34" charset="0"/>
                <a:ea typeface="DM Sans Semi Bold" pitchFamily="34" charset="-122"/>
                <a:cs typeface="DM Sans Semi Bold" pitchFamily="34" charset="-120"/>
              </a:rPr>
              <a:t>Step-by-Step PCA Procedure: Part 2</a:t>
            </a:r>
            <a:endParaRPr lang="en-US" sz="3250" dirty="0"/>
          </a:p>
        </p:txBody>
      </p:sp>
      <p:pic>
        <p:nvPicPr>
          <p:cNvPr id="4" name="Image 1" descr="preencoded.png"/>
          <p:cNvPicPr>
            <a:picLocks noChangeAspect="1"/>
          </p:cNvPicPr>
          <p:nvPr/>
        </p:nvPicPr>
        <p:blipFill>
          <a:blip r:embed="rId4"/>
          <a:stretch>
            <a:fillRect/>
          </a:stretch>
        </p:blipFill>
        <p:spPr>
          <a:xfrm>
            <a:off x="583644" y="3428048"/>
            <a:ext cx="833795" cy="1227534"/>
          </a:xfrm>
          <a:prstGeom prst="rect">
            <a:avLst/>
          </a:prstGeom>
        </p:spPr>
      </p:pic>
      <p:sp>
        <p:nvSpPr>
          <p:cNvPr id="5" name="Text 1"/>
          <p:cNvSpPr/>
          <p:nvPr/>
        </p:nvSpPr>
        <p:spPr>
          <a:xfrm>
            <a:off x="1667589" y="3594735"/>
            <a:ext cx="2084546" cy="260509"/>
          </a:xfrm>
          <a:prstGeom prst="rect">
            <a:avLst/>
          </a:prstGeom>
          <a:noFill/>
          <a:ln/>
        </p:spPr>
        <p:txBody>
          <a:bodyPr wrap="none" lIns="0" tIns="0" rIns="0" bIns="0" rtlCol="0" anchor="t"/>
          <a:lstStyle/>
          <a:p>
            <a:pPr marL="0" indent="0" algn="l">
              <a:lnSpc>
                <a:spcPts val="2050"/>
              </a:lnSpc>
              <a:buNone/>
            </a:pPr>
            <a:r>
              <a:rPr lang="en-US" sz="1600" dirty="0">
                <a:solidFill>
                  <a:srgbClr val="464646"/>
                </a:solidFill>
                <a:latin typeface="DM Sans Semi Bold" pitchFamily="34" charset="0"/>
                <a:ea typeface="DM Sans Semi Bold" pitchFamily="34" charset="-122"/>
                <a:cs typeface="DM Sans Semi Bold" pitchFamily="34" charset="-120"/>
              </a:rPr>
              <a:t>Eigendecomposition</a:t>
            </a:r>
            <a:endParaRPr lang="en-US" sz="1600" dirty="0"/>
          </a:p>
        </p:txBody>
      </p:sp>
      <p:sp>
        <p:nvSpPr>
          <p:cNvPr id="6" name="Text 2"/>
          <p:cNvSpPr/>
          <p:nvPr/>
        </p:nvSpPr>
        <p:spPr>
          <a:xfrm>
            <a:off x="1667589" y="3955256"/>
            <a:ext cx="12379166" cy="533638"/>
          </a:xfrm>
          <a:prstGeom prst="rect">
            <a:avLst/>
          </a:prstGeom>
          <a:noFill/>
          <a:ln/>
        </p:spPr>
        <p:txBody>
          <a:bodyPr wrap="square" lIns="0" tIns="0" rIns="0" bIns="0" rtlCol="0" anchor="t"/>
          <a:lstStyle/>
          <a:p>
            <a:pPr marL="0" indent="0" algn="l">
              <a:lnSpc>
                <a:spcPts val="2100"/>
              </a:lnSpc>
              <a:buNone/>
            </a:pPr>
            <a:r>
              <a:rPr lang="en-US" sz="1300" dirty="0">
                <a:solidFill>
                  <a:srgbClr val="464646"/>
                </a:solidFill>
                <a:latin typeface="Inter Medium" pitchFamily="34" charset="0"/>
                <a:ea typeface="Inter Medium" pitchFamily="34" charset="-122"/>
                <a:cs typeface="Inter Medium" pitchFamily="34" charset="-120"/>
              </a:rPr>
              <a:t>Compute the eigenvalues and eigenvectors of the covariance matrix. The eigenvalues represent the amount of variance explained by each principal component.</a:t>
            </a:r>
            <a:endParaRPr lang="en-US" sz="1300" dirty="0"/>
          </a:p>
        </p:txBody>
      </p:sp>
      <p:pic>
        <p:nvPicPr>
          <p:cNvPr id="7" name="Image 2" descr="preencoded.png"/>
          <p:cNvPicPr>
            <a:picLocks noChangeAspect="1"/>
          </p:cNvPicPr>
          <p:nvPr/>
        </p:nvPicPr>
        <p:blipFill>
          <a:blip r:embed="rId5"/>
          <a:stretch>
            <a:fillRect/>
          </a:stretch>
        </p:blipFill>
        <p:spPr>
          <a:xfrm>
            <a:off x="583644" y="4655582"/>
            <a:ext cx="833795" cy="1000601"/>
          </a:xfrm>
          <a:prstGeom prst="rect">
            <a:avLst/>
          </a:prstGeom>
        </p:spPr>
      </p:pic>
      <p:sp>
        <p:nvSpPr>
          <p:cNvPr id="8" name="Text 3"/>
          <p:cNvSpPr/>
          <p:nvPr/>
        </p:nvSpPr>
        <p:spPr>
          <a:xfrm>
            <a:off x="1667589" y="4822269"/>
            <a:ext cx="2915603" cy="260509"/>
          </a:xfrm>
          <a:prstGeom prst="rect">
            <a:avLst/>
          </a:prstGeom>
          <a:noFill/>
          <a:ln/>
        </p:spPr>
        <p:txBody>
          <a:bodyPr wrap="none" lIns="0" tIns="0" rIns="0" bIns="0" rtlCol="0" anchor="t"/>
          <a:lstStyle/>
          <a:p>
            <a:pPr marL="0" indent="0" algn="l">
              <a:lnSpc>
                <a:spcPts val="2050"/>
              </a:lnSpc>
              <a:buNone/>
            </a:pPr>
            <a:r>
              <a:rPr lang="en-US" sz="1600" dirty="0">
                <a:solidFill>
                  <a:srgbClr val="464646"/>
                </a:solidFill>
                <a:latin typeface="DM Sans Semi Bold" pitchFamily="34" charset="0"/>
                <a:ea typeface="DM Sans Semi Bold" pitchFamily="34" charset="-122"/>
                <a:cs typeface="DM Sans Semi Bold" pitchFamily="34" charset="-120"/>
              </a:rPr>
              <a:t>Select Principal Components</a:t>
            </a:r>
            <a:endParaRPr lang="en-US" sz="1600" dirty="0"/>
          </a:p>
        </p:txBody>
      </p:sp>
      <p:sp>
        <p:nvSpPr>
          <p:cNvPr id="9" name="Text 4"/>
          <p:cNvSpPr/>
          <p:nvPr/>
        </p:nvSpPr>
        <p:spPr>
          <a:xfrm>
            <a:off x="1667589" y="5182791"/>
            <a:ext cx="12379166" cy="266819"/>
          </a:xfrm>
          <a:prstGeom prst="rect">
            <a:avLst/>
          </a:prstGeom>
          <a:noFill/>
          <a:ln/>
        </p:spPr>
        <p:txBody>
          <a:bodyPr wrap="none" lIns="0" tIns="0" rIns="0" bIns="0" rtlCol="0" anchor="t"/>
          <a:lstStyle/>
          <a:p>
            <a:pPr marL="0" indent="0" algn="l">
              <a:lnSpc>
                <a:spcPts val="2100"/>
              </a:lnSpc>
              <a:buNone/>
            </a:pPr>
            <a:r>
              <a:rPr lang="en-US" sz="1300" dirty="0">
                <a:solidFill>
                  <a:srgbClr val="464646"/>
                </a:solidFill>
                <a:latin typeface="Inter Medium" pitchFamily="34" charset="0"/>
                <a:ea typeface="Inter Medium" pitchFamily="34" charset="-122"/>
                <a:cs typeface="Inter Medium" pitchFamily="34" charset="-120"/>
              </a:rPr>
              <a:t>Sort eigenvalues in descending order and select the top k eigenvectors based on the desired dimensionality reduction or variance retention threshold.</a:t>
            </a:r>
            <a:endParaRPr lang="en-US" sz="1300" dirty="0"/>
          </a:p>
        </p:txBody>
      </p:sp>
      <p:pic>
        <p:nvPicPr>
          <p:cNvPr id="10" name="Image 3" descr="preencoded.png"/>
          <p:cNvPicPr>
            <a:picLocks noChangeAspect="1"/>
          </p:cNvPicPr>
          <p:nvPr/>
        </p:nvPicPr>
        <p:blipFill>
          <a:blip r:embed="rId6"/>
          <a:stretch>
            <a:fillRect/>
          </a:stretch>
        </p:blipFill>
        <p:spPr>
          <a:xfrm>
            <a:off x="583644" y="5656183"/>
            <a:ext cx="833795" cy="1000601"/>
          </a:xfrm>
          <a:prstGeom prst="rect">
            <a:avLst/>
          </a:prstGeom>
        </p:spPr>
      </p:pic>
      <p:sp>
        <p:nvSpPr>
          <p:cNvPr id="11" name="Text 5"/>
          <p:cNvSpPr/>
          <p:nvPr/>
        </p:nvSpPr>
        <p:spPr>
          <a:xfrm>
            <a:off x="1667589" y="5822871"/>
            <a:ext cx="2084546" cy="260509"/>
          </a:xfrm>
          <a:prstGeom prst="rect">
            <a:avLst/>
          </a:prstGeom>
          <a:noFill/>
          <a:ln/>
        </p:spPr>
        <p:txBody>
          <a:bodyPr wrap="none" lIns="0" tIns="0" rIns="0" bIns="0" rtlCol="0" anchor="t"/>
          <a:lstStyle/>
          <a:p>
            <a:pPr marL="0" indent="0" algn="l">
              <a:lnSpc>
                <a:spcPts val="2050"/>
              </a:lnSpc>
              <a:buNone/>
            </a:pPr>
            <a:r>
              <a:rPr lang="en-US" sz="1600" dirty="0">
                <a:solidFill>
                  <a:srgbClr val="464646"/>
                </a:solidFill>
                <a:latin typeface="DM Sans Semi Bold" pitchFamily="34" charset="0"/>
                <a:ea typeface="DM Sans Semi Bold" pitchFamily="34" charset="-122"/>
                <a:cs typeface="DM Sans Semi Bold" pitchFamily="34" charset="-120"/>
              </a:rPr>
              <a:t>Project Data</a:t>
            </a:r>
            <a:endParaRPr lang="en-US" sz="1600" dirty="0"/>
          </a:p>
        </p:txBody>
      </p:sp>
      <p:sp>
        <p:nvSpPr>
          <p:cNvPr id="12" name="Text 6"/>
          <p:cNvSpPr/>
          <p:nvPr/>
        </p:nvSpPr>
        <p:spPr>
          <a:xfrm>
            <a:off x="1667589" y="6183392"/>
            <a:ext cx="12379166" cy="266819"/>
          </a:xfrm>
          <a:prstGeom prst="rect">
            <a:avLst/>
          </a:prstGeom>
          <a:noFill/>
          <a:ln/>
        </p:spPr>
        <p:txBody>
          <a:bodyPr wrap="none" lIns="0" tIns="0" rIns="0" bIns="0" rtlCol="0" anchor="t"/>
          <a:lstStyle/>
          <a:p>
            <a:pPr marL="0" indent="0" algn="l">
              <a:lnSpc>
                <a:spcPts val="2100"/>
              </a:lnSpc>
              <a:buNone/>
            </a:pPr>
            <a:r>
              <a:rPr lang="en-US" sz="1300" dirty="0">
                <a:solidFill>
                  <a:srgbClr val="464646"/>
                </a:solidFill>
                <a:latin typeface="Inter Medium" pitchFamily="34" charset="0"/>
                <a:ea typeface="Inter Medium" pitchFamily="34" charset="-122"/>
                <a:cs typeface="Inter Medium" pitchFamily="34" charset="-120"/>
              </a:rPr>
              <a:t>Project the standardized data onto the selected principal components. Formula: Y = ZW, where W is the matrix of selected eigenvectors.</a:t>
            </a:r>
            <a:endParaRPr lang="en-US" sz="1300" dirty="0"/>
          </a:p>
        </p:txBody>
      </p:sp>
      <p:pic>
        <p:nvPicPr>
          <p:cNvPr id="13" name="Image 4" descr="preencoded.png"/>
          <p:cNvPicPr>
            <a:picLocks noChangeAspect="1"/>
          </p:cNvPicPr>
          <p:nvPr/>
        </p:nvPicPr>
        <p:blipFill>
          <a:blip r:embed="rId7"/>
          <a:stretch>
            <a:fillRect/>
          </a:stretch>
        </p:blipFill>
        <p:spPr>
          <a:xfrm>
            <a:off x="583644" y="6656784"/>
            <a:ext cx="833795" cy="1000601"/>
          </a:xfrm>
          <a:prstGeom prst="rect">
            <a:avLst/>
          </a:prstGeom>
        </p:spPr>
      </p:pic>
      <p:sp>
        <p:nvSpPr>
          <p:cNvPr id="14" name="Text 7"/>
          <p:cNvSpPr/>
          <p:nvPr/>
        </p:nvSpPr>
        <p:spPr>
          <a:xfrm>
            <a:off x="1667589" y="6823472"/>
            <a:ext cx="2084546" cy="260509"/>
          </a:xfrm>
          <a:prstGeom prst="rect">
            <a:avLst/>
          </a:prstGeom>
          <a:noFill/>
          <a:ln/>
        </p:spPr>
        <p:txBody>
          <a:bodyPr wrap="none" lIns="0" tIns="0" rIns="0" bIns="0" rtlCol="0" anchor="t"/>
          <a:lstStyle/>
          <a:p>
            <a:pPr marL="0" indent="0" algn="l">
              <a:lnSpc>
                <a:spcPts val="2050"/>
              </a:lnSpc>
              <a:buNone/>
            </a:pPr>
            <a:r>
              <a:rPr lang="en-US" sz="1600" dirty="0">
                <a:solidFill>
                  <a:srgbClr val="464646"/>
                </a:solidFill>
                <a:latin typeface="DM Sans Semi Bold" pitchFamily="34" charset="0"/>
                <a:ea typeface="DM Sans Semi Bold" pitchFamily="34" charset="-122"/>
                <a:cs typeface="DM Sans Semi Bold" pitchFamily="34" charset="-120"/>
              </a:rPr>
              <a:t>Analyze Results</a:t>
            </a:r>
            <a:endParaRPr lang="en-US" sz="1600" dirty="0"/>
          </a:p>
        </p:txBody>
      </p:sp>
      <p:sp>
        <p:nvSpPr>
          <p:cNvPr id="15" name="Text 8"/>
          <p:cNvSpPr/>
          <p:nvPr/>
        </p:nvSpPr>
        <p:spPr>
          <a:xfrm>
            <a:off x="1667589" y="7183993"/>
            <a:ext cx="12379166" cy="266819"/>
          </a:xfrm>
          <a:prstGeom prst="rect">
            <a:avLst/>
          </a:prstGeom>
          <a:noFill/>
          <a:ln/>
        </p:spPr>
        <p:txBody>
          <a:bodyPr wrap="none" lIns="0" tIns="0" rIns="0" bIns="0" rtlCol="0" anchor="t"/>
          <a:lstStyle/>
          <a:p>
            <a:pPr marL="0" indent="0" algn="l">
              <a:lnSpc>
                <a:spcPts val="2100"/>
              </a:lnSpc>
              <a:buNone/>
            </a:pPr>
            <a:r>
              <a:rPr lang="en-US" sz="1300" dirty="0">
                <a:solidFill>
                  <a:srgbClr val="464646"/>
                </a:solidFill>
                <a:latin typeface="Inter Medium" pitchFamily="34" charset="0"/>
                <a:ea typeface="Inter Medium" pitchFamily="34" charset="-122"/>
                <a:cs typeface="Inter Medium" pitchFamily="34" charset="-120"/>
              </a:rPr>
              <a:t>Interpret the principal components and analyze the transformed data. Evaluate how much variance is explained by the selected components.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0218" y="620792"/>
            <a:ext cx="10683359" cy="705564"/>
          </a:xfrm>
          <a:prstGeom prst="rect">
            <a:avLst/>
          </a:prstGeom>
          <a:noFill/>
          <a:ln/>
        </p:spPr>
        <p:txBody>
          <a:bodyPr wrap="none" lIns="0" tIns="0" rIns="0" bIns="0" rtlCol="0" anchor="t"/>
          <a:lstStyle/>
          <a:p>
            <a:pPr marL="0" indent="0">
              <a:lnSpc>
                <a:spcPts val="5550"/>
              </a:lnSpc>
              <a:buNone/>
            </a:pPr>
            <a:r>
              <a:rPr lang="en-US" sz="4400" dirty="0">
                <a:solidFill>
                  <a:srgbClr val="030303"/>
                </a:solidFill>
                <a:latin typeface="DM Sans Semi Bold" pitchFamily="34" charset="0"/>
                <a:ea typeface="DM Sans Semi Bold" pitchFamily="34" charset="-122"/>
                <a:cs typeface="DM Sans Semi Bold" pitchFamily="34" charset="-120"/>
              </a:rPr>
              <a:t>Visualizing PCA: Dimensional Reduction</a:t>
            </a:r>
            <a:endParaRPr lang="en-US" sz="4400" dirty="0"/>
          </a:p>
        </p:txBody>
      </p:sp>
      <p:pic>
        <p:nvPicPr>
          <p:cNvPr id="3" name="Image 0" descr="preencoded.png"/>
          <p:cNvPicPr>
            <a:picLocks noChangeAspect="1"/>
          </p:cNvPicPr>
          <p:nvPr/>
        </p:nvPicPr>
        <p:blipFill>
          <a:blip r:embed="rId3"/>
          <a:stretch>
            <a:fillRect/>
          </a:stretch>
        </p:blipFill>
        <p:spPr>
          <a:xfrm>
            <a:off x="797838" y="1923217"/>
            <a:ext cx="4224457" cy="4224457"/>
          </a:xfrm>
          <a:prstGeom prst="rect">
            <a:avLst/>
          </a:prstGeom>
        </p:spPr>
      </p:pic>
      <p:pic>
        <p:nvPicPr>
          <p:cNvPr id="4" name="Image 1" descr="preencoded.png"/>
          <p:cNvPicPr>
            <a:picLocks noChangeAspect="1"/>
          </p:cNvPicPr>
          <p:nvPr/>
        </p:nvPicPr>
        <p:blipFill>
          <a:blip r:embed="rId4"/>
          <a:stretch>
            <a:fillRect/>
          </a:stretch>
        </p:blipFill>
        <p:spPr>
          <a:xfrm>
            <a:off x="5202912" y="1923217"/>
            <a:ext cx="4224457" cy="4224457"/>
          </a:xfrm>
          <a:prstGeom prst="rect">
            <a:avLst/>
          </a:prstGeom>
        </p:spPr>
      </p:pic>
      <p:pic>
        <p:nvPicPr>
          <p:cNvPr id="5" name="Image 2" descr="preencoded.png"/>
          <p:cNvPicPr>
            <a:picLocks noChangeAspect="1"/>
          </p:cNvPicPr>
          <p:nvPr/>
        </p:nvPicPr>
        <p:blipFill>
          <a:blip r:embed="rId5"/>
          <a:stretch>
            <a:fillRect/>
          </a:stretch>
        </p:blipFill>
        <p:spPr>
          <a:xfrm>
            <a:off x="9607987" y="1923217"/>
            <a:ext cx="4224457" cy="4224457"/>
          </a:xfrm>
          <a:prstGeom prst="rect">
            <a:avLst/>
          </a:prstGeom>
        </p:spPr>
      </p:pic>
      <p:sp>
        <p:nvSpPr>
          <p:cNvPr id="6" name="Text 1"/>
          <p:cNvSpPr/>
          <p:nvPr/>
        </p:nvSpPr>
        <p:spPr>
          <a:xfrm>
            <a:off x="790218" y="6547009"/>
            <a:ext cx="13049964" cy="1083350"/>
          </a:xfrm>
          <a:prstGeom prst="rect">
            <a:avLst/>
          </a:prstGeom>
          <a:noFill/>
          <a:ln/>
        </p:spPr>
        <p:txBody>
          <a:bodyPr wrap="square" lIns="0" tIns="0" rIns="0" bIns="0" rtlCol="0" anchor="t"/>
          <a:lstStyle/>
          <a:p>
            <a:pPr marL="0" indent="0">
              <a:lnSpc>
                <a:spcPts val="2800"/>
              </a:lnSpc>
              <a:buNone/>
            </a:pPr>
            <a:r>
              <a:rPr lang="en-US" sz="1750" dirty="0">
                <a:solidFill>
                  <a:srgbClr val="464646"/>
                </a:solidFill>
                <a:latin typeface="Inter Medium" pitchFamily="34" charset="0"/>
                <a:ea typeface="Inter Medium" pitchFamily="34" charset="-122"/>
                <a:cs typeface="Inter Medium" pitchFamily="34" charset="-120"/>
              </a:rPr>
              <a:t>PCA visualization reveals how high-dimensional data can be effectively represented in lower dimensions. The left figure shows the projection from 3D to 2D space. The center image compares original clusters with their PCA representation. The right figure illustrates how PCA rotates the coordinate system to align with directions of maximum variance.</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21149" y="489704"/>
            <a:ext cx="8659178" cy="554593"/>
          </a:xfrm>
          <a:prstGeom prst="rect">
            <a:avLst/>
          </a:prstGeom>
          <a:noFill/>
          <a:ln/>
        </p:spPr>
        <p:txBody>
          <a:bodyPr wrap="none" lIns="0" tIns="0" rIns="0" bIns="0" rtlCol="0" anchor="t"/>
          <a:lstStyle/>
          <a:p>
            <a:pPr marL="0" indent="0">
              <a:lnSpc>
                <a:spcPts val="4350"/>
              </a:lnSpc>
              <a:buNone/>
            </a:pPr>
            <a:r>
              <a:rPr lang="en-US" sz="3450" dirty="0">
                <a:solidFill>
                  <a:srgbClr val="030303"/>
                </a:solidFill>
                <a:latin typeface="DM Sans Semi Bold" pitchFamily="34" charset="0"/>
                <a:ea typeface="DM Sans Semi Bold" pitchFamily="34" charset="-122"/>
                <a:cs typeface="DM Sans Semi Bold" pitchFamily="34" charset="-120"/>
              </a:rPr>
              <a:t>PCA for Feature Selection: Core Concept</a:t>
            </a:r>
            <a:endParaRPr lang="en-US" sz="3450" dirty="0"/>
          </a:p>
        </p:txBody>
      </p:sp>
      <p:pic>
        <p:nvPicPr>
          <p:cNvPr id="3" name="Image 0" descr="preencoded.png"/>
          <p:cNvPicPr>
            <a:picLocks noChangeAspect="1"/>
          </p:cNvPicPr>
          <p:nvPr/>
        </p:nvPicPr>
        <p:blipFill>
          <a:blip r:embed="rId3"/>
          <a:stretch>
            <a:fillRect/>
          </a:stretch>
        </p:blipFill>
        <p:spPr>
          <a:xfrm>
            <a:off x="3305413" y="1399222"/>
            <a:ext cx="1325404" cy="1022390"/>
          </a:xfrm>
          <a:prstGeom prst="rect">
            <a:avLst/>
          </a:prstGeom>
        </p:spPr>
      </p:pic>
      <p:sp>
        <p:nvSpPr>
          <p:cNvPr id="4" name="Text 1"/>
          <p:cNvSpPr/>
          <p:nvPr/>
        </p:nvSpPr>
        <p:spPr>
          <a:xfrm>
            <a:off x="3929420" y="1859637"/>
            <a:ext cx="77272" cy="354806"/>
          </a:xfrm>
          <a:prstGeom prst="rect">
            <a:avLst/>
          </a:prstGeom>
          <a:noFill/>
          <a:ln/>
        </p:spPr>
        <p:txBody>
          <a:bodyPr wrap="none" lIns="0" tIns="0" rIns="0" bIns="0" rtlCol="0" anchor="t"/>
          <a:lstStyle/>
          <a:p>
            <a:pPr marL="0" indent="0" algn="ctr">
              <a:lnSpc>
                <a:spcPts val="2750"/>
              </a:lnSpc>
              <a:buNone/>
            </a:pPr>
            <a:r>
              <a:rPr lang="en-US" sz="1700" dirty="0">
                <a:solidFill>
                  <a:srgbClr val="464646"/>
                </a:solidFill>
                <a:latin typeface="DM Sans Semi Bold" pitchFamily="34" charset="0"/>
                <a:ea typeface="DM Sans Semi Bold" pitchFamily="34" charset="-122"/>
                <a:cs typeface="DM Sans Semi Bold" pitchFamily="34" charset="-120"/>
              </a:rPr>
              <a:t>1</a:t>
            </a:r>
            <a:endParaRPr lang="en-US" sz="1700" dirty="0"/>
          </a:p>
        </p:txBody>
      </p:sp>
      <p:sp>
        <p:nvSpPr>
          <p:cNvPr id="5" name="Text 2"/>
          <p:cNvSpPr/>
          <p:nvPr/>
        </p:nvSpPr>
        <p:spPr>
          <a:xfrm>
            <a:off x="4808220" y="1576626"/>
            <a:ext cx="2218492" cy="277178"/>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Original Features</a:t>
            </a:r>
            <a:endParaRPr lang="en-US" sz="1700" dirty="0"/>
          </a:p>
        </p:txBody>
      </p:sp>
      <p:sp>
        <p:nvSpPr>
          <p:cNvPr id="6" name="Text 3"/>
          <p:cNvSpPr/>
          <p:nvPr/>
        </p:nvSpPr>
        <p:spPr>
          <a:xfrm>
            <a:off x="4808220" y="1960245"/>
            <a:ext cx="3275409" cy="283964"/>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Multiple potentially correlated features</a:t>
            </a:r>
            <a:endParaRPr lang="en-US" sz="1350" dirty="0"/>
          </a:p>
        </p:txBody>
      </p:sp>
      <p:sp>
        <p:nvSpPr>
          <p:cNvPr id="7" name="Shape 4"/>
          <p:cNvSpPr/>
          <p:nvPr/>
        </p:nvSpPr>
        <p:spPr>
          <a:xfrm>
            <a:off x="4675108" y="2434233"/>
            <a:ext cx="9289852" cy="11430"/>
          </a:xfrm>
          <a:prstGeom prst="roundRect">
            <a:avLst>
              <a:gd name="adj" fmla="val 232922"/>
            </a:avLst>
          </a:prstGeom>
          <a:solidFill>
            <a:srgbClr val="D8D4D4"/>
          </a:solidFill>
          <a:ln/>
        </p:spPr>
      </p:sp>
      <p:pic>
        <p:nvPicPr>
          <p:cNvPr id="8" name="Image 1" descr="preencoded.png"/>
          <p:cNvPicPr>
            <a:picLocks noChangeAspect="1"/>
          </p:cNvPicPr>
          <p:nvPr/>
        </p:nvPicPr>
        <p:blipFill>
          <a:blip r:embed="rId4"/>
          <a:stretch>
            <a:fillRect/>
          </a:stretch>
        </p:blipFill>
        <p:spPr>
          <a:xfrm>
            <a:off x="2642711" y="2465903"/>
            <a:ext cx="2650808" cy="1022390"/>
          </a:xfrm>
          <a:prstGeom prst="rect">
            <a:avLst/>
          </a:prstGeom>
        </p:spPr>
      </p:pic>
      <p:sp>
        <p:nvSpPr>
          <p:cNvPr id="9" name="Text 5"/>
          <p:cNvSpPr/>
          <p:nvPr/>
        </p:nvSpPr>
        <p:spPr>
          <a:xfrm>
            <a:off x="3904059" y="2799636"/>
            <a:ext cx="127992" cy="354806"/>
          </a:xfrm>
          <a:prstGeom prst="rect">
            <a:avLst/>
          </a:prstGeom>
          <a:noFill/>
          <a:ln/>
        </p:spPr>
        <p:txBody>
          <a:bodyPr wrap="none" lIns="0" tIns="0" rIns="0" bIns="0" rtlCol="0" anchor="t"/>
          <a:lstStyle/>
          <a:p>
            <a:pPr marL="0" indent="0" algn="ctr">
              <a:lnSpc>
                <a:spcPts val="2750"/>
              </a:lnSpc>
              <a:buNone/>
            </a:pPr>
            <a:r>
              <a:rPr lang="en-US" sz="1700" dirty="0">
                <a:solidFill>
                  <a:srgbClr val="464646"/>
                </a:solidFill>
                <a:latin typeface="DM Sans Semi Bold" pitchFamily="34" charset="0"/>
                <a:ea typeface="DM Sans Semi Bold" pitchFamily="34" charset="-122"/>
                <a:cs typeface="DM Sans Semi Bold" pitchFamily="34" charset="-120"/>
              </a:rPr>
              <a:t>2</a:t>
            </a:r>
            <a:endParaRPr lang="en-US" sz="1700" dirty="0"/>
          </a:p>
        </p:txBody>
      </p:sp>
      <p:sp>
        <p:nvSpPr>
          <p:cNvPr id="10" name="Text 6"/>
          <p:cNvSpPr/>
          <p:nvPr/>
        </p:nvSpPr>
        <p:spPr>
          <a:xfrm>
            <a:off x="5470922" y="2643307"/>
            <a:ext cx="2374583" cy="277178"/>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Principal Components</a:t>
            </a:r>
            <a:endParaRPr lang="en-US" sz="1700" dirty="0"/>
          </a:p>
        </p:txBody>
      </p:sp>
      <p:sp>
        <p:nvSpPr>
          <p:cNvPr id="11" name="Text 7"/>
          <p:cNvSpPr/>
          <p:nvPr/>
        </p:nvSpPr>
        <p:spPr>
          <a:xfrm>
            <a:off x="5470922" y="3026926"/>
            <a:ext cx="3785592" cy="283964"/>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Uncorrelated linear combinations of features</a:t>
            </a:r>
            <a:endParaRPr lang="en-US" sz="1350" dirty="0"/>
          </a:p>
        </p:txBody>
      </p:sp>
      <p:sp>
        <p:nvSpPr>
          <p:cNvPr id="12" name="Shape 8"/>
          <p:cNvSpPr/>
          <p:nvPr/>
        </p:nvSpPr>
        <p:spPr>
          <a:xfrm>
            <a:off x="5337810" y="3500914"/>
            <a:ext cx="8627150" cy="11430"/>
          </a:xfrm>
          <a:prstGeom prst="roundRect">
            <a:avLst>
              <a:gd name="adj" fmla="val 232922"/>
            </a:avLst>
          </a:prstGeom>
          <a:solidFill>
            <a:srgbClr val="D8D4D4"/>
          </a:solidFill>
          <a:ln/>
        </p:spPr>
      </p:sp>
      <p:pic>
        <p:nvPicPr>
          <p:cNvPr id="13" name="Image 2" descr="preencoded.png"/>
          <p:cNvPicPr>
            <a:picLocks noChangeAspect="1"/>
          </p:cNvPicPr>
          <p:nvPr/>
        </p:nvPicPr>
        <p:blipFill>
          <a:blip r:embed="rId5"/>
          <a:stretch>
            <a:fillRect/>
          </a:stretch>
        </p:blipFill>
        <p:spPr>
          <a:xfrm>
            <a:off x="1980009" y="3532584"/>
            <a:ext cx="3976211" cy="1022390"/>
          </a:xfrm>
          <a:prstGeom prst="rect">
            <a:avLst/>
          </a:prstGeom>
        </p:spPr>
      </p:pic>
      <p:sp>
        <p:nvSpPr>
          <p:cNvPr id="14" name="Text 9"/>
          <p:cNvSpPr/>
          <p:nvPr/>
        </p:nvSpPr>
        <p:spPr>
          <a:xfrm>
            <a:off x="3901678" y="3866317"/>
            <a:ext cx="132874" cy="354806"/>
          </a:xfrm>
          <a:prstGeom prst="rect">
            <a:avLst/>
          </a:prstGeom>
          <a:noFill/>
          <a:ln/>
        </p:spPr>
        <p:txBody>
          <a:bodyPr wrap="none" lIns="0" tIns="0" rIns="0" bIns="0" rtlCol="0" anchor="t"/>
          <a:lstStyle/>
          <a:p>
            <a:pPr marL="0" indent="0" algn="ctr">
              <a:lnSpc>
                <a:spcPts val="2750"/>
              </a:lnSpc>
              <a:buNone/>
            </a:pPr>
            <a:r>
              <a:rPr lang="en-US" sz="1700" dirty="0">
                <a:solidFill>
                  <a:srgbClr val="464646"/>
                </a:solidFill>
                <a:latin typeface="DM Sans Semi Bold" pitchFamily="34" charset="0"/>
                <a:ea typeface="DM Sans Semi Bold" pitchFamily="34" charset="-122"/>
                <a:cs typeface="DM Sans Semi Bold" pitchFamily="34" charset="-120"/>
              </a:rPr>
              <a:t>3</a:t>
            </a:r>
            <a:endParaRPr lang="en-US" sz="1700" dirty="0"/>
          </a:p>
        </p:txBody>
      </p:sp>
      <p:sp>
        <p:nvSpPr>
          <p:cNvPr id="15" name="Text 10"/>
          <p:cNvSpPr/>
          <p:nvPr/>
        </p:nvSpPr>
        <p:spPr>
          <a:xfrm>
            <a:off x="6133624" y="3709988"/>
            <a:ext cx="2218492" cy="277178"/>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Feature Importance</a:t>
            </a:r>
            <a:endParaRPr lang="en-US" sz="1700" dirty="0"/>
          </a:p>
        </p:txBody>
      </p:sp>
      <p:sp>
        <p:nvSpPr>
          <p:cNvPr id="16" name="Text 11"/>
          <p:cNvSpPr/>
          <p:nvPr/>
        </p:nvSpPr>
        <p:spPr>
          <a:xfrm>
            <a:off x="6133624" y="4093607"/>
            <a:ext cx="3235047" cy="283964"/>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Features with high loadings in top PCs</a:t>
            </a:r>
            <a:endParaRPr lang="en-US" sz="1350" dirty="0"/>
          </a:p>
        </p:txBody>
      </p:sp>
      <p:sp>
        <p:nvSpPr>
          <p:cNvPr id="17" name="Shape 12"/>
          <p:cNvSpPr/>
          <p:nvPr/>
        </p:nvSpPr>
        <p:spPr>
          <a:xfrm>
            <a:off x="6000512" y="4567595"/>
            <a:ext cx="7964448" cy="11430"/>
          </a:xfrm>
          <a:prstGeom prst="roundRect">
            <a:avLst>
              <a:gd name="adj" fmla="val 232922"/>
            </a:avLst>
          </a:prstGeom>
          <a:solidFill>
            <a:srgbClr val="D8D4D4"/>
          </a:solidFill>
          <a:ln/>
        </p:spPr>
      </p:sp>
      <p:pic>
        <p:nvPicPr>
          <p:cNvPr id="18" name="Image 3" descr="preencoded.png"/>
          <p:cNvPicPr>
            <a:picLocks noChangeAspect="1"/>
          </p:cNvPicPr>
          <p:nvPr/>
        </p:nvPicPr>
        <p:blipFill>
          <a:blip r:embed="rId6"/>
          <a:stretch>
            <a:fillRect/>
          </a:stretch>
        </p:blipFill>
        <p:spPr>
          <a:xfrm>
            <a:off x="1317308" y="4599265"/>
            <a:ext cx="5301615" cy="1022390"/>
          </a:xfrm>
          <a:prstGeom prst="rect">
            <a:avLst/>
          </a:prstGeom>
        </p:spPr>
      </p:pic>
      <p:sp>
        <p:nvSpPr>
          <p:cNvPr id="19" name="Text 13"/>
          <p:cNvSpPr/>
          <p:nvPr/>
        </p:nvSpPr>
        <p:spPr>
          <a:xfrm>
            <a:off x="3897273" y="4932998"/>
            <a:ext cx="141565" cy="354806"/>
          </a:xfrm>
          <a:prstGeom prst="rect">
            <a:avLst/>
          </a:prstGeom>
          <a:noFill/>
          <a:ln/>
        </p:spPr>
        <p:txBody>
          <a:bodyPr wrap="none" lIns="0" tIns="0" rIns="0" bIns="0" rtlCol="0" anchor="t"/>
          <a:lstStyle/>
          <a:p>
            <a:pPr marL="0" indent="0" algn="ctr">
              <a:lnSpc>
                <a:spcPts val="2750"/>
              </a:lnSpc>
              <a:buNone/>
            </a:pPr>
            <a:r>
              <a:rPr lang="en-US" sz="1700" dirty="0">
                <a:solidFill>
                  <a:srgbClr val="464646"/>
                </a:solidFill>
                <a:latin typeface="DM Sans Semi Bold" pitchFamily="34" charset="0"/>
                <a:ea typeface="DM Sans Semi Bold" pitchFamily="34" charset="-122"/>
                <a:cs typeface="DM Sans Semi Bold" pitchFamily="34" charset="-120"/>
              </a:rPr>
              <a:t>4</a:t>
            </a:r>
            <a:endParaRPr lang="en-US" sz="1700" dirty="0"/>
          </a:p>
        </p:txBody>
      </p:sp>
      <p:sp>
        <p:nvSpPr>
          <p:cNvPr id="20" name="Text 14"/>
          <p:cNvSpPr/>
          <p:nvPr/>
        </p:nvSpPr>
        <p:spPr>
          <a:xfrm>
            <a:off x="6796326" y="4776668"/>
            <a:ext cx="2738080" cy="277178"/>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Dimensionality Reduction</a:t>
            </a:r>
            <a:endParaRPr lang="en-US" sz="1700" dirty="0"/>
          </a:p>
        </p:txBody>
      </p:sp>
      <p:sp>
        <p:nvSpPr>
          <p:cNvPr id="21" name="Text 15"/>
          <p:cNvSpPr/>
          <p:nvPr/>
        </p:nvSpPr>
        <p:spPr>
          <a:xfrm>
            <a:off x="6796326" y="5160288"/>
            <a:ext cx="2738080" cy="283964"/>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Select top k components</a:t>
            </a:r>
            <a:endParaRPr lang="en-US" sz="1350" dirty="0"/>
          </a:p>
        </p:txBody>
      </p:sp>
      <p:sp>
        <p:nvSpPr>
          <p:cNvPr id="22" name="Shape 16"/>
          <p:cNvSpPr/>
          <p:nvPr/>
        </p:nvSpPr>
        <p:spPr>
          <a:xfrm>
            <a:off x="6663214" y="5634276"/>
            <a:ext cx="7301746" cy="11430"/>
          </a:xfrm>
          <a:prstGeom prst="roundRect">
            <a:avLst>
              <a:gd name="adj" fmla="val 232922"/>
            </a:avLst>
          </a:prstGeom>
          <a:solidFill>
            <a:srgbClr val="D8D4D4"/>
          </a:solidFill>
          <a:ln/>
        </p:spPr>
      </p:sp>
      <p:pic>
        <p:nvPicPr>
          <p:cNvPr id="23" name="Image 4" descr="preencoded.png"/>
          <p:cNvPicPr>
            <a:picLocks noChangeAspect="1"/>
          </p:cNvPicPr>
          <p:nvPr/>
        </p:nvPicPr>
        <p:blipFill>
          <a:blip r:embed="rId7"/>
          <a:stretch>
            <a:fillRect/>
          </a:stretch>
        </p:blipFill>
        <p:spPr>
          <a:xfrm>
            <a:off x="654606" y="5665946"/>
            <a:ext cx="6627019" cy="1022390"/>
          </a:xfrm>
          <a:prstGeom prst="rect">
            <a:avLst/>
          </a:prstGeom>
        </p:spPr>
      </p:pic>
      <p:sp>
        <p:nvSpPr>
          <p:cNvPr id="24" name="Text 17"/>
          <p:cNvSpPr/>
          <p:nvPr/>
        </p:nvSpPr>
        <p:spPr>
          <a:xfrm>
            <a:off x="3899535" y="5999678"/>
            <a:ext cx="137160" cy="354806"/>
          </a:xfrm>
          <a:prstGeom prst="rect">
            <a:avLst/>
          </a:prstGeom>
          <a:noFill/>
          <a:ln/>
        </p:spPr>
        <p:txBody>
          <a:bodyPr wrap="none" lIns="0" tIns="0" rIns="0" bIns="0" rtlCol="0" anchor="t"/>
          <a:lstStyle/>
          <a:p>
            <a:pPr marL="0" indent="0" algn="ctr">
              <a:lnSpc>
                <a:spcPts val="2750"/>
              </a:lnSpc>
              <a:buNone/>
            </a:pPr>
            <a:r>
              <a:rPr lang="en-US" sz="1700" dirty="0">
                <a:solidFill>
                  <a:srgbClr val="464646"/>
                </a:solidFill>
                <a:latin typeface="DM Sans Semi Bold" pitchFamily="34" charset="0"/>
                <a:ea typeface="DM Sans Semi Bold" pitchFamily="34" charset="-122"/>
                <a:cs typeface="DM Sans Semi Bold" pitchFamily="34" charset="-120"/>
              </a:rPr>
              <a:t>5</a:t>
            </a:r>
            <a:endParaRPr lang="en-US" sz="1700" dirty="0"/>
          </a:p>
        </p:txBody>
      </p:sp>
      <p:sp>
        <p:nvSpPr>
          <p:cNvPr id="25" name="Text 18"/>
          <p:cNvSpPr/>
          <p:nvPr/>
        </p:nvSpPr>
        <p:spPr>
          <a:xfrm>
            <a:off x="7459027" y="5843349"/>
            <a:ext cx="2527221" cy="277178"/>
          </a:xfrm>
          <a:prstGeom prst="rect">
            <a:avLst/>
          </a:prstGeom>
          <a:noFill/>
          <a:ln/>
        </p:spPr>
        <p:txBody>
          <a:bodyPr wrap="none" lIns="0" tIns="0" rIns="0" bIns="0" rtlCol="0" anchor="t"/>
          <a:lstStyle/>
          <a:p>
            <a:pPr marL="0" indent="0" algn="l">
              <a:lnSpc>
                <a:spcPts val="2150"/>
              </a:lnSpc>
              <a:buNone/>
            </a:pPr>
            <a:r>
              <a:rPr lang="en-US" sz="1700" dirty="0">
                <a:solidFill>
                  <a:srgbClr val="464646"/>
                </a:solidFill>
                <a:latin typeface="DM Sans Semi Bold" pitchFamily="34" charset="0"/>
                <a:ea typeface="DM Sans Semi Bold" pitchFamily="34" charset="-122"/>
                <a:cs typeface="DM Sans Semi Bold" pitchFamily="34" charset="-120"/>
              </a:rPr>
              <a:t>Optimal Feature Subset</a:t>
            </a:r>
            <a:endParaRPr lang="en-US" sz="1700" dirty="0"/>
          </a:p>
        </p:txBody>
      </p:sp>
      <p:sp>
        <p:nvSpPr>
          <p:cNvPr id="26" name="Text 19"/>
          <p:cNvSpPr/>
          <p:nvPr/>
        </p:nvSpPr>
        <p:spPr>
          <a:xfrm>
            <a:off x="7459027" y="6226969"/>
            <a:ext cx="3762137" cy="283964"/>
          </a:xfrm>
          <a:prstGeom prst="rect">
            <a:avLst/>
          </a:prstGeom>
          <a:noFill/>
          <a:ln/>
        </p:spPr>
        <p:txBody>
          <a:bodyPr wrap="none" lIns="0" tIns="0" rIns="0" bIns="0" rtlCol="0" anchor="t"/>
          <a:lstStyle/>
          <a:p>
            <a:pPr marL="0" indent="0" algn="l">
              <a:lnSpc>
                <a:spcPts val="2200"/>
              </a:lnSpc>
              <a:buNone/>
            </a:pPr>
            <a:r>
              <a:rPr lang="en-US" sz="1350" dirty="0">
                <a:solidFill>
                  <a:srgbClr val="464646"/>
                </a:solidFill>
                <a:latin typeface="Inter Medium" pitchFamily="34" charset="0"/>
                <a:ea typeface="Inter Medium" pitchFamily="34" charset="-122"/>
                <a:cs typeface="Inter Medium" pitchFamily="34" charset="-120"/>
              </a:rPr>
              <a:t>Maximal information, minimal dimensionality</a:t>
            </a:r>
            <a:endParaRPr lang="en-US" sz="1350" dirty="0"/>
          </a:p>
        </p:txBody>
      </p:sp>
      <p:sp>
        <p:nvSpPr>
          <p:cNvPr id="27" name="Text 20"/>
          <p:cNvSpPr/>
          <p:nvPr/>
        </p:nvSpPr>
        <p:spPr>
          <a:xfrm>
            <a:off x="621149" y="6888004"/>
            <a:ext cx="13388102" cy="851892"/>
          </a:xfrm>
          <a:prstGeom prst="rect">
            <a:avLst/>
          </a:prstGeom>
          <a:noFill/>
          <a:ln/>
        </p:spPr>
        <p:txBody>
          <a:bodyPr wrap="squar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When using PCA for feature selection, we're looking for the original features that contribute most significantly to the top principal components. By examining the loading factors (coefficients of each original feature in the principal components), we can identify which original features are most informative and potentially select a subset for downstream analysis.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58071" y="595551"/>
            <a:ext cx="13114258" cy="1353741"/>
          </a:xfrm>
          <a:prstGeom prst="rect">
            <a:avLst/>
          </a:prstGeom>
          <a:noFill/>
          <a:ln/>
        </p:spPr>
        <p:txBody>
          <a:bodyPr wrap="square" lIns="0" tIns="0" rIns="0" bIns="0" rtlCol="0" anchor="t"/>
          <a:lstStyle/>
          <a:p>
            <a:pPr marL="0" indent="0">
              <a:lnSpc>
                <a:spcPts val="5300"/>
              </a:lnSpc>
              <a:buNone/>
            </a:pPr>
            <a:r>
              <a:rPr lang="en-US" sz="4250" dirty="0">
                <a:solidFill>
                  <a:srgbClr val="030303"/>
                </a:solidFill>
                <a:latin typeface="DM Sans Semi Bold" pitchFamily="34" charset="0"/>
                <a:ea typeface="DM Sans Semi Bold" pitchFamily="34" charset="-122"/>
                <a:cs typeface="DM Sans Semi Bold" pitchFamily="34" charset="-120"/>
              </a:rPr>
              <a:t>Methods for Choosing the Number of Principal Components</a:t>
            </a:r>
            <a:endParaRPr lang="en-US" sz="4250" dirty="0"/>
          </a:p>
        </p:txBody>
      </p:sp>
      <p:pic>
        <p:nvPicPr>
          <p:cNvPr id="3" name="Image 0" descr="preencoded.png"/>
          <p:cNvPicPr>
            <a:picLocks noChangeAspect="1"/>
          </p:cNvPicPr>
          <p:nvPr/>
        </p:nvPicPr>
        <p:blipFill>
          <a:blip r:embed="rId3"/>
          <a:stretch>
            <a:fillRect/>
          </a:stretch>
        </p:blipFill>
        <p:spPr>
          <a:xfrm>
            <a:off x="758071" y="2382441"/>
            <a:ext cx="3967401" cy="2451973"/>
          </a:xfrm>
          <a:prstGeom prst="rect">
            <a:avLst/>
          </a:prstGeom>
        </p:spPr>
      </p:pic>
      <p:sp>
        <p:nvSpPr>
          <p:cNvPr id="4" name="Text 1"/>
          <p:cNvSpPr/>
          <p:nvPr/>
        </p:nvSpPr>
        <p:spPr>
          <a:xfrm>
            <a:off x="758071" y="5105162"/>
            <a:ext cx="2707481" cy="338376"/>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Scree Plot Analysis</a:t>
            </a:r>
            <a:endParaRPr lang="en-US" sz="2100" dirty="0"/>
          </a:p>
        </p:txBody>
      </p:sp>
      <p:sp>
        <p:nvSpPr>
          <p:cNvPr id="5" name="Text 2"/>
          <p:cNvSpPr/>
          <p:nvPr/>
        </p:nvSpPr>
        <p:spPr>
          <a:xfrm>
            <a:off x="758071" y="5573435"/>
            <a:ext cx="4154805" cy="2078831"/>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Look for the "elbow" point in the scree plot where the rate of decrease in eigenvalues slows significantly. This indicates where additional components start contributing less meaningful information.</a:t>
            </a:r>
            <a:endParaRPr lang="en-US" sz="1700" dirty="0"/>
          </a:p>
        </p:txBody>
      </p:sp>
      <p:pic>
        <p:nvPicPr>
          <p:cNvPr id="6" name="Image 1" descr="preencoded.png"/>
          <p:cNvPicPr>
            <a:picLocks noChangeAspect="1"/>
          </p:cNvPicPr>
          <p:nvPr/>
        </p:nvPicPr>
        <p:blipFill>
          <a:blip r:embed="rId4"/>
          <a:stretch>
            <a:fillRect/>
          </a:stretch>
        </p:blipFill>
        <p:spPr>
          <a:xfrm>
            <a:off x="5237678" y="2382441"/>
            <a:ext cx="3967520" cy="2452092"/>
          </a:xfrm>
          <a:prstGeom prst="rect">
            <a:avLst/>
          </a:prstGeom>
        </p:spPr>
      </p:pic>
      <p:sp>
        <p:nvSpPr>
          <p:cNvPr id="7" name="Text 3"/>
          <p:cNvSpPr/>
          <p:nvPr/>
        </p:nvSpPr>
        <p:spPr>
          <a:xfrm>
            <a:off x="5237678" y="5105281"/>
            <a:ext cx="3851672" cy="338376"/>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Variance Explained Threshold</a:t>
            </a:r>
            <a:endParaRPr lang="en-US" sz="2100" dirty="0"/>
          </a:p>
        </p:txBody>
      </p:sp>
      <p:sp>
        <p:nvSpPr>
          <p:cNvPr id="8" name="Text 4"/>
          <p:cNvSpPr/>
          <p:nvPr/>
        </p:nvSpPr>
        <p:spPr>
          <a:xfrm>
            <a:off x="5237678" y="5573554"/>
            <a:ext cx="4154924" cy="2078831"/>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Select enough components to explain a predetermined percentage of total variance (typically 80-95%). This ensures you retain most of the information while reducing dimensionality.</a:t>
            </a:r>
            <a:endParaRPr lang="en-US" sz="1700" dirty="0"/>
          </a:p>
        </p:txBody>
      </p:sp>
      <p:pic>
        <p:nvPicPr>
          <p:cNvPr id="9" name="Image 2" descr="preencoded.png"/>
          <p:cNvPicPr>
            <a:picLocks noChangeAspect="1"/>
          </p:cNvPicPr>
          <p:nvPr/>
        </p:nvPicPr>
        <p:blipFill>
          <a:blip r:embed="rId5"/>
          <a:stretch>
            <a:fillRect/>
          </a:stretch>
        </p:blipFill>
        <p:spPr>
          <a:xfrm>
            <a:off x="9717405" y="2382441"/>
            <a:ext cx="3967520" cy="2452092"/>
          </a:xfrm>
          <a:prstGeom prst="rect">
            <a:avLst/>
          </a:prstGeom>
        </p:spPr>
      </p:pic>
      <p:sp>
        <p:nvSpPr>
          <p:cNvPr id="10" name="Text 5"/>
          <p:cNvSpPr/>
          <p:nvPr/>
        </p:nvSpPr>
        <p:spPr>
          <a:xfrm>
            <a:off x="9717405" y="5105281"/>
            <a:ext cx="2707481" cy="338376"/>
          </a:xfrm>
          <a:prstGeom prst="rect">
            <a:avLst/>
          </a:prstGeom>
          <a:noFill/>
          <a:ln/>
        </p:spPr>
        <p:txBody>
          <a:bodyPr wrap="none" lIns="0" tIns="0" rIns="0" bIns="0" rtlCol="0" anchor="t"/>
          <a:lstStyle/>
          <a:p>
            <a:pPr marL="0" indent="0" algn="l">
              <a:lnSpc>
                <a:spcPts val="2650"/>
              </a:lnSpc>
              <a:buNone/>
            </a:pPr>
            <a:r>
              <a:rPr lang="en-US" sz="2100" dirty="0">
                <a:solidFill>
                  <a:srgbClr val="464646"/>
                </a:solidFill>
                <a:latin typeface="DM Sans Semi Bold" pitchFamily="34" charset="0"/>
                <a:ea typeface="DM Sans Semi Bold" pitchFamily="34" charset="-122"/>
                <a:cs typeface="DM Sans Semi Bold" pitchFamily="34" charset="-120"/>
              </a:rPr>
              <a:t>Cross-Validation</a:t>
            </a:r>
            <a:endParaRPr lang="en-US" sz="2100" dirty="0"/>
          </a:p>
        </p:txBody>
      </p:sp>
      <p:sp>
        <p:nvSpPr>
          <p:cNvPr id="11" name="Text 6"/>
          <p:cNvSpPr/>
          <p:nvPr/>
        </p:nvSpPr>
        <p:spPr>
          <a:xfrm>
            <a:off x="9717405" y="5573554"/>
            <a:ext cx="4154924" cy="1732359"/>
          </a:xfrm>
          <a:prstGeom prst="rect">
            <a:avLst/>
          </a:prstGeom>
          <a:noFill/>
          <a:ln/>
        </p:spPr>
        <p:txBody>
          <a:bodyPr wrap="square" lIns="0" tIns="0" rIns="0" bIns="0" rtlCol="0" anchor="t"/>
          <a:lstStyle/>
          <a:p>
            <a:pPr marL="0" indent="0" algn="l">
              <a:lnSpc>
                <a:spcPts val="2700"/>
              </a:lnSpc>
              <a:buNone/>
            </a:pPr>
            <a:r>
              <a:rPr lang="en-US" sz="1700" dirty="0">
                <a:solidFill>
                  <a:srgbClr val="464646"/>
                </a:solidFill>
                <a:latin typeface="Inter Medium" pitchFamily="34" charset="0"/>
                <a:ea typeface="Inter Medium" pitchFamily="34" charset="-122"/>
                <a:cs typeface="Inter Medium" pitchFamily="34" charset="-120"/>
              </a:rPr>
              <a:t>Use cross-validation to determine the optimal number of components based on downstream task performance. This directly ties feature selection to the predictive or analytical goal.</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34127" y="498515"/>
            <a:ext cx="9248537" cy="566261"/>
          </a:xfrm>
          <a:prstGeom prst="rect">
            <a:avLst/>
          </a:prstGeom>
          <a:noFill/>
          <a:ln/>
        </p:spPr>
        <p:txBody>
          <a:bodyPr wrap="none" lIns="0" tIns="0" rIns="0" bIns="0" rtlCol="0" anchor="t"/>
          <a:lstStyle/>
          <a:p>
            <a:pPr marL="0" indent="0">
              <a:lnSpc>
                <a:spcPts val="4450"/>
              </a:lnSpc>
              <a:buNone/>
            </a:pPr>
            <a:r>
              <a:rPr lang="en-US" sz="3550" dirty="0">
                <a:solidFill>
                  <a:srgbClr val="030303"/>
                </a:solidFill>
                <a:latin typeface="DM Sans Semi Bold" pitchFamily="34" charset="0"/>
                <a:ea typeface="DM Sans Semi Bold" pitchFamily="34" charset="-122"/>
                <a:cs typeface="DM Sans Semi Bold" pitchFamily="34" charset="-120"/>
              </a:rPr>
              <a:t>Approaches to Feature Selection with PCA</a:t>
            </a:r>
            <a:endParaRPr lang="en-US" sz="3550" dirty="0"/>
          </a:p>
        </p:txBody>
      </p:sp>
      <p:sp>
        <p:nvSpPr>
          <p:cNvPr id="3" name="Shape 1"/>
          <p:cNvSpPr/>
          <p:nvPr/>
        </p:nvSpPr>
        <p:spPr>
          <a:xfrm>
            <a:off x="634127" y="1427083"/>
            <a:ext cx="1670209" cy="1043821"/>
          </a:xfrm>
          <a:prstGeom prst="roundRect">
            <a:avLst>
              <a:gd name="adj" fmla="val 2604"/>
            </a:avLst>
          </a:prstGeom>
          <a:solidFill>
            <a:srgbClr val="F2EEEE"/>
          </a:solidFill>
          <a:ln/>
        </p:spPr>
      </p:sp>
      <p:sp>
        <p:nvSpPr>
          <p:cNvPr id="4" name="Text 2"/>
          <p:cNvSpPr/>
          <p:nvPr/>
        </p:nvSpPr>
        <p:spPr>
          <a:xfrm>
            <a:off x="815221" y="1767840"/>
            <a:ext cx="78819"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1</a:t>
            </a:r>
            <a:endParaRPr lang="en-US" sz="1750" dirty="0"/>
          </a:p>
        </p:txBody>
      </p:sp>
      <p:sp>
        <p:nvSpPr>
          <p:cNvPr id="5" name="Text 3"/>
          <p:cNvSpPr/>
          <p:nvPr/>
        </p:nvSpPr>
        <p:spPr>
          <a:xfrm>
            <a:off x="2485430" y="1608177"/>
            <a:ext cx="2738795"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Loading-Based Selection</a:t>
            </a:r>
            <a:endParaRPr lang="en-US" sz="1750" dirty="0"/>
          </a:p>
        </p:txBody>
      </p:sp>
      <p:sp>
        <p:nvSpPr>
          <p:cNvPr id="6" name="Text 4"/>
          <p:cNvSpPr/>
          <p:nvPr/>
        </p:nvSpPr>
        <p:spPr>
          <a:xfrm>
            <a:off x="2485430" y="1999893"/>
            <a:ext cx="4007168" cy="289917"/>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Choose original features with highest loadings</a:t>
            </a:r>
            <a:endParaRPr lang="en-US" sz="1400" dirty="0"/>
          </a:p>
        </p:txBody>
      </p:sp>
      <p:sp>
        <p:nvSpPr>
          <p:cNvPr id="7" name="Shape 5"/>
          <p:cNvSpPr/>
          <p:nvPr/>
        </p:nvSpPr>
        <p:spPr>
          <a:xfrm>
            <a:off x="2394823" y="2461379"/>
            <a:ext cx="11510963" cy="11430"/>
          </a:xfrm>
          <a:prstGeom prst="roundRect">
            <a:avLst>
              <a:gd name="adj" fmla="val 237783"/>
            </a:avLst>
          </a:prstGeom>
          <a:solidFill>
            <a:srgbClr val="D8D4D4"/>
          </a:solidFill>
          <a:ln/>
        </p:spPr>
      </p:sp>
      <p:sp>
        <p:nvSpPr>
          <p:cNvPr id="8" name="Shape 6"/>
          <p:cNvSpPr/>
          <p:nvPr/>
        </p:nvSpPr>
        <p:spPr>
          <a:xfrm>
            <a:off x="634127" y="2561392"/>
            <a:ext cx="3340537" cy="1043821"/>
          </a:xfrm>
          <a:prstGeom prst="roundRect">
            <a:avLst>
              <a:gd name="adj" fmla="val 2604"/>
            </a:avLst>
          </a:prstGeom>
          <a:solidFill>
            <a:srgbClr val="F2EEEE"/>
          </a:solidFill>
          <a:ln/>
        </p:spPr>
      </p:sp>
      <p:sp>
        <p:nvSpPr>
          <p:cNvPr id="9" name="Text 7"/>
          <p:cNvSpPr/>
          <p:nvPr/>
        </p:nvSpPr>
        <p:spPr>
          <a:xfrm>
            <a:off x="815221" y="2902148"/>
            <a:ext cx="130731"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2</a:t>
            </a:r>
            <a:endParaRPr lang="en-US" sz="1750" dirty="0"/>
          </a:p>
        </p:txBody>
      </p:sp>
      <p:sp>
        <p:nvSpPr>
          <p:cNvPr id="10" name="Text 8"/>
          <p:cNvSpPr/>
          <p:nvPr/>
        </p:nvSpPr>
        <p:spPr>
          <a:xfrm>
            <a:off x="4155758" y="2742486"/>
            <a:ext cx="2835950"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Variance-Based Selection</a:t>
            </a:r>
            <a:endParaRPr lang="en-US" sz="1750" dirty="0"/>
          </a:p>
        </p:txBody>
      </p:sp>
      <p:sp>
        <p:nvSpPr>
          <p:cNvPr id="11" name="Text 9"/>
          <p:cNvSpPr/>
          <p:nvPr/>
        </p:nvSpPr>
        <p:spPr>
          <a:xfrm>
            <a:off x="4155758" y="3134201"/>
            <a:ext cx="3893820" cy="289917"/>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Select features contributing most to variance</a:t>
            </a:r>
            <a:endParaRPr lang="en-US" sz="1400" dirty="0"/>
          </a:p>
        </p:txBody>
      </p:sp>
      <p:sp>
        <p:nvSpPr>
          <p:cNvPr id="12" name="Shape 10"/>
          <p:cNvSpPr/>
          <p:nvPr/>
        </p:nvSpPr>
        <p:spPr>
          <a:xfrm>
            <a:off x="4065151" y="3595688"/>
            <a:ext cx="9840635" cy="11430"/>
          </a:xfrm>
          <a:prstGeom prst="roundRect">
            <a:avLst>
              <a:gd name="adj" fmla="val 237783"/>
            </a:avLst>
          </a:prstGeom>
          <a:solidFill>
            <a:srgbClr val="D8D4D4"/>
          </a:solidFill>
          <a:ln/>
        </p:spPr>
      </p:sp>
      <p:sp>
        <p:nvSpPr>
          <p:cNvPr id="13" name="Shape 11"/>
          <p:cNvSpPr/>
          <p:nvPr/>
        </p:nvSpPr>
        <p:spPr>
          <a:xfrm>
            <a:off x="634127" y="3695700"/>
            <a:ext cx="5010745" cy="1043821"/>
          </a:xfrm>
          <a:prstGeom prst="roundRect">
            <a:avLst>
              <a:gd name="adj" fmla="val 2604"/>
            </a:avLst>
          </a:prstGeom>
          <a:solidFill>
            <a:srgbClr val="F2EEEE"/>
          </a:solidFill>
          <a:ln/>
        </p:spPr>
      </p:sp>
      <p:sp>
        <p:nvSpPr>
          <p:cNvPr id="14" name="Text 12"/>
          <p:cNvSpPr/>
          <p:nvPr/>
        </p:nvSpPr>
        <p:spPr>
          <a:xfrm>
            <a:off x="815221" y="4036457"/>
            <a:ext cx="135731"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3</a:t>
            </a:r>
            <a:endParaRPr lang="en-US" sz="1750" dirty="0"/>
          </a:p>
        </p:txBody>
      </p:sp>
      <p:sp>
        <p:nvSpPr>
          <p:cNvPr id="15" name="Text 13"/>
          <p:cNvSpPr/>
          <p:nvPr/>
        </p:nvSpPr>
        <p:spPr>
          <a:xfrm>
            <a:off x="5825966" y="3876794"/>
            <a:ext cx="3218498"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Recursive Feature Elimination</a:t>
            </a:r>
            <a:endParaRPr lang="en-US" sz="1750" dirty="0"/>
          </a:p>
        </p:txBody>
      </p:sp>
      <p:sp>
        <p:nvSpPr>
          <p:cNvPr id="16" name="Text 14"/>
          <p:cNvSpPr/>
          <p:nvPr/>
        </p:nvSpPr>
        <p:spPr>
          <a:xfrm>
            <a:off x="5825966" y="4268510"/>
            <a:ext cx="3595330" cy="289917"/>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Iteratively remove less important features</a:t>
            </a:r>
            <a:endParaRPr lang="en-US" sz="1400" dirty="0"/>
          </a:p>
        </p:txBody>
      </p:sp>
      <p:sp>
        <p:nvSpPr>
          <p:cNvPr id="17" name="Shape 15"/>
          <p:cNvSpPr/>
          <p:nvPr/>
        </p:nvSpPr>
        <p:spPr>
          <a:xfrm>
            <a:off x="5735360" y="4729996"/>
            <a:ext cx="8170426" cy="11430"/>
          </a:xfrm>
          <a:prstGeom prst="roundRect">
            <a:avLst>
              <a:gd name="adj" fmla="val 237783"/>
            </a:avLst>
          </a:prstGeom>
          <a:solidFill>
            <a:srgbClr val="D8D4D4"/>
          </a:solidFill>
          <a:ln/>
        </p:spPr>
      </p:sp>
      <p:sp>
        <p:nvSpPr>
          <p:cNvPr id="18" name="Shape 16"/>
          <p:cNvSpPr/>
          <p:nvPr/>
        </p:nvSpPr>
        <p:spPr>
          <a:xfrm>
            <a:off x="634127" y="4830008"/>
            <a:ext cx="6681073" cy="1043821"/>
          </a:xfrm>
          <a:prstGeom prst="roundRect">
            <a:avLst>
              <a:gd name="adj" fmla="val 2604"/>
            </a:avLst>
          </a:prstGeom>
          <a:solidFill>
            <a:srgbClr val="F2EEEE"/>
          </a:solidFill>
          <a:ln/>
        </p:spPr>
      </p:sp>
      <p:sp>
        <p:nvSpPr>
          <p:cNvPr id="19" name="Text 17"/>
          <p:cNvSpPr/>
          <p:nvPr/>
        </p:nvSpPr>
        <p:spPr>
          <a:xfrm>
            <a:off x="815221" y="5170765"/>
            <a:ext cx="144542" cy="362307"/>
          </a:xfrm>
          <a:prstGeom prst="rect">
            <a:avLst/>
          </a:prstGeom>
          <a:noFill/>
          <a:ln/>
        </p:spPr>
        <p:txBody>
          <a:bodyPr wrap="none" lIns="0" tIns="0" rIns="0" bIns="0" rtlCol="0" anchor="t"/>
          <a:lstStyle/>
          <a:p>
            <a:pPr marL="0" indent="0" algn="ctr">
              <a:lnSpc>
                <a:spcPts val="2850"/>
              </a:lnSpc>
              <a:buNone/>
            </a:pPr>
            <a:r>
              <a:rPr lang="en-US" sz="1750" dirty="0">
                <a:solidFill>
                  <a:srgbClr val="464646"/>
                </a:solidFill>
                <a:latin typeface="DM Sans Semi Bold" pitchFamily="34" charset="0"/>
                <a:ea typeface="DM Sans Semi Bold" pitchFamily="34" charset="-122"/>
                <a:cs typeface="DM Sans Semi Bold" pitchFamily="34" charset="-120"/>
              </a:rPr>
              <a:t>4</a:t>
            </a:r>
            <a:endParaRPr lang="en-US" sz="1750" dirty="0"/>
          </a:p>
        </p:txBody>
      </p:sp>
      <p:sp>
        <p:nvSpPr>
          <p:cNvPr id="20" name="Text 18"/>
          <p:cNvSpPr/>
          <p:nvPr/>
        </p:nvSpPr>
        <p:spPr>
          <a:xfrm>
            <a:off x="7496294" y="5011103"/>
            <a:ext cx="2264807" cy="283012"/>
          </a:xfrm>
          <a:prstGeom prst="rect">
            <a:avLst/>
          </a:prstGeom>
          <a:noFill/>
          <a:ln/>
        </p:spPr>
        <p:txBody>
          <a:bodyPr wrap="none" lIns="0" tIns="0" rIns="0" bIns="0" rtlCol="0" anchor="t"/>
          <a:lstStyle/>
          <a:p>
            <a:pPr marL="0" indent="0" algn="l">
              <a:lnSpc>
                <a:spcPts val="2200"/>
              </a:lnSpc>
              <a:buNone/>
            </a:pPr>
            <a:r>
              <a:rPr lang="en-US" sz="1750" dirty="0">
                <a:solidFill>
                  <a:srgbClr val="464646"/>
                </a:solidFill>
                <a:latin typeface="DM Sans Semi Bold" pitchFamily="34" charset="0"/>
                <a:ea typeface="DM Sans Semi Bold" pitchFamily="34" charset="-122"/>
                <a:cs typeface="DM Sans Semi Bold" pitchFamily="34" charset="-120"/>
              </a:rPr>
              <a:t>Hybrid Approaches</a:t>
            </a:r>
            <a:endParaRPr lang="en-US" sz="1750" dirty="0"/>
          </a:p>
        </p:txBody>
      </p:sp>
      <p:sp>
        <p:nvSpPr>
          <p:cNvPr id="21" name="Text 19"/>
          <p:cNvSpPr/>
          <p:nvPr/>
        </p:nvSpPr>
        <p:spPr>
          <a:xfrm>
            <a:off x="7496294" y="5402818"/>
            <a:ext cx="3756660" cy="289917"/>
          </a:xfrm>
          <a:prstGeom prst="rect">
            <a:avLst/>
          </a:prstGeom>
          <a:noFill/>
          <a:ln/>
        </p:spPr>
        <p:txBody>
          <a:bodyPr wrap="none" lIns="0" tIns="0" rIns="0" bIns="0" rtlCol="0" anchor="t"/>
          <a:lstStyle/>
          <a:p>
            <a:pPr marL="0" indent="0" algn="l">
              <a:lnSpc>
                <a:spcPts val="2250"/>
              </a:lnSpc>
              <a:buNone/>
            </a:pPr>
            <a:r>
              <a:rPr lang="en-US" sz="1400" dirty="0">
                <a:solidFill>
                  <a:srgbClr val="464646"/>
                </a:solidFill>
                <a:latin typeface="Inter Medium" pitchFamily="34" charset="0"/>
                <a:ea typeface="Inter Medium" pitchFamily="34" charset="-122"/>
                <a:cs typeface="Inter Medium" pitchFamily="34" charset="-120"/>
              </a:rPr>
              <a:t>Combine PCA with other selection methods</a:t>
            </a:r>
            <a:endParaRPr lang="en-US" sz="1400" dirty="0"/>
          </a:p>
        </p:txBody>
      </p:sp>
      <p:sp>
        <p:nvSpPr>
          <p:cNvPr id="22" name="Text 20"/>
          <p:cNvSpPr/>
          <p:nvPr/>
        </p:nvSpPr>
        <p:spPr>
          <a:xfrm>
            <a:off x="634127" y="6077664"/>
            <a:ext cx="13362146" cy="869752"/>
          </a:xfrm>
          <a:prstGeom prst="rect">
            <a:avLst/>
          </a:prstGeom>
          <a:noFill/>
          <a:ln/>
        </p:spPr>
        <p:txBody>
          <a:bodyPr wrap="square" lIns="0" tIns="0" rIns="0" bIns="0" rtlCol="0" anchor="t"/>
          <a:lstStyle/>
          <a:p>
            <a:pPr marL="0" indent="0">
              <a:lnSpc>
                <a:spcPts val="2250"/>
              </a:lnSpc>
              <a:buNone/>
            </a:pPr>
            <a:r>
              <a:rPr lang="en-US" sz="1400" dirty="0">
                <a:solidFill>
                  <a:srgbClr val="464646"/>
                </a:solidFill>
                <a:latin typeface="Inter Medium" pitchFamily="34" charset="0"/>
                <a:ea typeface="Inter Medium" pitchFamily="34" charset="-122"/>
                <a:cs typeface="Inter Medium" pitchFamily="34" charset="-120"/>
              </a:rPr>
              <a:t>When performing feature selection with PCA, multiple strategies can be employed. Loading-based approaches focus on identifying which original features have the strongest association with the top principal components. Variance-based methods prioritize features that explain the most variation in the data. Recursive techniques systematically eliminate features to find an optimal subset.</a:t>
            </a:r>
            <a:endParaRPr lang="en-US" sz="1400" dirty="0"/>
          </a:p>
        </p:txBody>
      </p:sp>
      <p:sp>
        <p:nvSpPr>
          <p:cNvPr id="23" name="Text 21"/>
          <p:cNvSpPr/>
          <p:nvPr/>
        </p:nvSpPr>
        <p:spPr>
          <a:xfrm>
            <a:off x="634127" y="7151251"/>
            <a:ext cx="13362146" cy="579834"/>
          </a:xfrm>
          <a:prstGeom prst="rect">
            <a:avLst/>
          </a:prstGeom>
          <a:noFill/>
          <a:ln/>
        </p:spPr>
        <p:txBody>
          <a:bodyPr wrap="square" lIns="0" tIns="0" rIns="0" bIns="0" rtlCol="0" anchor="t"/>
          <a:lstStyle/>
          <a:p>
            <a:pPr marL="0" indent="0">
              <a:lnSpc>
                <a:spcPts val="2250"/>
              </a:lnSpc>
              <a:buNone/>
            </a:pPr>
            <a:r>
              <a:rPr lang="en-US" sz="1400" dirty="0">
                <a:solidFill>
                  <a:srgbClr val="464646"/>
                </a:solidFill>
                <a:latin typeface="Inter Medium" pitchFamily="34" charset="0"/>
                <a:ea typeface="Inter Medium" pitchFamily="34" charset="-122"/>
                <a:cs typeface="Inter Medium" pitchFamily="34" charset="-120"/>
              </a:rPr>
              <a:t>The best approach depends on your specific dataset and objectives. A hybrid strategy often yields superior results by leveraging the strengths of multiple methods.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14601" y="482918"/>
            <a:ext cx="5259943" cy="548878"/>
          </a:xfrm>
          <a:prstGeom prst="rect">
            <a:avLst/>
          </a:prstGeom>
          <a:noFill/>
          <a:ln/>
        </p:spPr>
        <p:txBody>
          <a:bodyPr wrap="none" lIns="0" tIns="0" rIns="0" bIns="0" rtlCol="0" anchor="t"/>
          <a:lstStyle/>
          <a:p>
            <a:pPr marL="0" indent="0">
              <a:lnSpc>
                <a:spcPts val="4300"/>
              </a:lnSpc>
              <a:buNone/>
            </a:pPr>
            <a:r>
              <a:rPr lang="en-US" sz="3450" dirty="0">
                <a:solidFill>
                  <a:srgbClr val="030303"/>
                </a:solidFill>
                <a:latin typeface="DM Sans Semi Bold" pitchFamily="34" charset="0"/>
                <a:ea typeface="DM Sans Semi Bold" pitchFamily="34" charset="-122"/>
                <a:cs typeface="DM Sans Semi Bold" pitchFamily="34" charset="-120"/>
              </a:rPr>
              <a:t>Feature Loading Analysis</a:t>
            </a:r>
            <a:endParaRPr lang="en-US" sz="3450" dirty="0"/>
          </a:p>
        </p:txBody>
      </p:sp>
      <p:sp>
        <p:nvSpPr>
          <p:cNvPr id="3" name="Shape 1"/>
          <p:cNvSpPr/>
          <p:nvPr/>
        </p:nvSpPr>
        <p:spPr>
          <a:xfrm>
            <a:off x="614601" y="1383030"/>
            <a:ext cx="13401199" cy="4577953"/>
          </a:xfrm>
          <a:prstGeom prst="roundRect">
            <a:avLst>
              <a:gd name="adj" fmla="val 575"/>
            </a:avLst>
          </a:prstGeom>
          <a:noFill/>
          <a:ln w="7620">
            <a:solidFill>
              <a:srgbClr val="000000">
                <a:alpha val="8000"/>
              </a:srgbClr>
            </a:solidFill>
            <a:prstDash val="solid"/>
          </a:ln>
        </p:spPr>
      </p:sp>
      <p:sp>
        <p:nvSpPr>
          <p:cNvPr id="4" name="Shape 2"/>
          <p:cNvSpPr/>
          <p:nvPr/>
        </p:nvSpPr>
        <p:spPr>
          <a:xfrm>
            <a:off x="622221" y="1390650"/>
            <a:ext cx="13385959" cy="506968"/>
          </a:xfrm>
          <a:prstGeom prst="rect">
            <a:avLst/>
          </a:prstGeom>
          <a:solidFill>
            <a:srgbClr val="FFFFFF">
              <a:alpha val="4000"/>
            </a:srgbClr>
          </a:solidFill>
          <a:ln/>
        </p:spPr>
      </p:sp>
      <p:sp>
        <p:nvSpPr>
          <p:cNvPr id="5" name="Text 3"/>
          <p:cNvSpPr/>
          <p:nvPr/>
        </p:nvSpPr>
        <p:spPr>
          <a:xfrm>
            <a:off x="798195" y="1503640"/>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Feature</a:t>
            </a:r>
            <a:endParaRPr lang="en-US" sz="1350" dirty="0"/>
          </a:p>
        </p:txBody>
      </p:sp>
      <p:sp>
        <p:nvSpPr>
          <p:cNvPr id="6" name="Text 4"/>
          <p:cNvSpPr/>
          <p:nvPr/>
        </p:nvSpPr>
        <p:spPr>
          <a:xfrm>
            <a:off x="3479125" y="1503640"/>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PC1 Loading</a:t>
            </a:r>
            <a:endParaRPr lang="en-US" sz="1350" dirty="0"/>
          </a:p>
        </p:txBody>
      </p:sp>
      <p:sp>
        <p:nvSpPr>
          <p:cNvPr id="7" name="Text 5"/>
          <p:cNvSpPr/>
          <p:nvPr/>
        </p:nvSpPr>
        <p:spPr>
          <a:xfrm>
            <a:off x="6156246" y="1503640"/>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PC2 Loading</a:t>
            </a:r>
            <a:endParaRPr lang="en-US" sz="1350" dirty="0"/>
          </a:p>
        </p:txBody>
      </p:sp>
      <p:sp>
        <p:nvSpPr>
          <p:cNvPr id="8" name="Text 6"/>
          <p:cNvSpPr/>
          <p:nvPr/>
        </p:nvSpPr>
        <p:spPr>
          <a:xfrm>
            <a:off x="8833366" y="1503640"/>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PC3 Loading</a:t>
            </a:r>
            <a:endParaRPr lang="en-US" sz="1350" dirty="0"/>
          </a:p>
        </p:txBody>
      </p:sp>
      <p:sp>
        <p:nvSpPr>
          <p:cNvPr id="9" name="Text 7"/>
          <p:cNvSpPr/>
          <p:nvPr/>
        </p:nvSpPr>
        <p:spPr>
          <a:xfrm>
            <a:off x="11510486" y="1503640"/>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Importance</a:t>
            </a:r>
            <a:endParaRPr lang="en-US" sz="1350" dirty="0"/>
          </a:p>
        </p:txBody>
      </p:sp>
      <p:sp>
        <p:nvSpPr>
          <p:cNvPr id="10" name="Shape 8"/>
          <p:cNvSpPr/>
          <p:nvPr/>
        </p:nvSpPr>
        <p:spPr>
          <a:xfrm>
            <a:off x="622221" y="1897618"/>
            <a:ext cx="13385959" cy="506968"/>
          </a:xfrm>
          <a:prstGeom prst="rect">
            <a:avLst/>
          </a:prstGeom>
          <a:solidFill>
            <a:srgbClr val="000000">
              <a:alpha val="4000"/>
            </a:srgbClr>
          </a:solidFill>
          <a:ln/>
        </p:spPr>
      </p:sp>
      <p:sp>
        <p:nvSpPr>
          <p:cNvPr id="11" name="Text 9"/>
          <p:cNvSpPr/>
          <p:nvPr/>
        </p:nvSpPr>
        <p:spPr>
          <a:xfrm>
            <a:off x="798195" y="2010608"/>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Age</a:t>
            </a:r>
            <a:endParaRPr lang="en-US" sz="1350" dirty="0"/>
          </a:p>
        </p:txBody>
      </p:sp>
      <p:sp>
        <p:nvSpPr>
          <p:cNvPr id="12" name="Text 10"/>
          <p:cNvSpPr/>
          <p:nvPr/>
        </p:nvSpPr>
        <p:spPr>
          <a:xfrm>
            <a:off x="3479125" y="2010608"/>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0.82</a:t>
            </a:r>
            <a:endParaRPr lang="en-US" sz="1350" dirty="0"/>
          </a:p>
        </p:txBody>
      </p:sp>
      <p:sp>
        <p:nvSpPr>
          <p:cNvPr id="13" name="Text 11"/>
          <p:cNvSpPr/>
          <p:nvPr/>
        </p:nvSpPr>
        <p:spPr>
          <a:xfrm>
            <a:off x="6156246" y="2010608"/>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0.15</a:t>
            </a:r>
            <a:endParaRPr lang="en-US" sz="1350" dirty="0"/>
          </a:p>
        </p:txBody>
      </p:sp>
      <p:sp>
        <p:nvSpPr>
          <p:cNvPr id="14" name="Text 12"/>
          <p:cNvSpPr/>
          <p:nvPr/>
        </p:nvSpPr>
        <p:spPr>
          <a:xfrm>
            <a:off x="8833366" y="2010608"/>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0.05</a:t>
            </a:r>
            <a:endParaRPr lang="en-US" sz="1350" dirty="0"/>
          </a:p>
        </p:txBody>
      </p:sp>
      <p:sp>
        <p:nvSpPr>
          <p:cNvPr id="15" name="Text 13"/>
          <p:cNvSpPr/>
          <p:nvPr/>
        </p:nvSpPr>
        <p:spPr>
          <a:xfrm>
            <a:off x="11510486" y="2010608"/>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High</a:t>
            </a:r>
            <a:endParaRPr lang="en-US" sz="1350" dirty="0"/>
          </a:p>
        </p:txBody>
      </p:sp>
      <p:sp>
        <p:nvSpPr>
          <p:cNvPr id="16" name="Shape 14"/>
          <p:cNvSpPr/>
          <p:nvPr/>
        </p:nvSpPr>
        <p:spPr>
          <a:xfrm>
            <a:off x="622221" y="2404586"/>
            <a:ext cx="13385959" cy="506968"/>
          </a:xfrm>
          <a:prstGeom prst="rect">
            <a:avLst/>
          </a:prstGeom>
          <a:solidFill>
            <a:srgbClr val="FFFFFF">
              <a:alpha val="4000"/>
            </a:srgbClr>
          </a:solidFill>
          <a:ln/>
        </p:spPr>
      </p:sp>
      <p:sp>
        <p:nvSpPr>
          <p:cNvPr id="17" name="Text 15"/>
          <p:cNvSpPr/>
          <p:nvPr/>
        </p:nvSpPr>
        <p:spPr>
          <a:xfrm>
            <a:off x="798195" y="2517577"/>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Income</a:t>
            </a:r>
            <a:endParaRPr lang="en-US" sz="1350" dirty="0"/>
          </a:p>
        </p:txBody>
      </p:sp>
      <p:sp>
        <p:nvSpPr>
          <p:cNvPr id="18" name="Text 16"/>
          <p:cNvSpPr/>
          <p:nvPr/>
        </p:nvSpPr>
        <p:spPr>
          <a:xfrm>
            <a:off x="3479125" y="251757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0.76</a:t>
            </a:r>
            <a:endParaRPr lang="en-US" sz="1350" dirty="0"/>
          </a:p>
        </p:txBody>
      </p:sp>
      <p:sp>
        <p:nvSpPr>
          <p:cNvPr id="19" name="Text 17"/>
          <p:cNvSpPr/>
          <p:nvPr/>
        </p:nvSpPr>
        <p:spPr>
          <a:xfrm>
            <a:off x="6156246" y="251757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0.22</a:t>
            </a:r>
            <a:endParaRPr lang="en-US" sz="1350" dirty="0"/>
          </a:p>
        </p:txBody>
      </p:sp>
      <p:sp>
        <p:nvSpPr>
          <p:cNvPr id="20" name="Text 18"/>
          <p:cNvSpPr/>
          <p:nvPr/>
        </p:nvSpPr>
        <p:spPr>
          <a:xfrm>
            <a:off x="8833366" y="251757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0.11</a:t>
            </a:r>
            <a:endParaRPr lang="en-US" sz="1350" dirty="0"/>
          </a:p>
        </p:txBody>
      </p:sp>
      <p:sp>
        <p:nvSpPr>
          <p:cNvPr id="21" name="Text 19"/>
          <p:cNvSpPr/>
          <p:nvPr/>
        </p:nvSpPr>
        <p:spPr>
          <a:xfrm>
            <a:off x="11510486" y="2517577"/>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High</a:t>
            </a:r>
            <a:endParaRPr lang="en-US" sz="1350" dirty="0"/>
          </a:p>
        </p:txBody>
      </p:sp>
      <p:sp>
        <p:nvSpPr>
          <p:cNvPr id="22" name="Shape 20"/>
          <p:cNvSpPr/>
          <p:nvPr/>
        </p:nvSpPr>
        <p:spPr>
          <a:xfrm>
            <a:off x="622221" y="2911554"/>
            <a:ext cx="13385959" cy="506968"/>
          </a:xfrm>
          <a:prstGeom prst="rect">
            <a:avLst/>
          </a:prstGeom>
          <a:solidFill>
            <a:srgbClr val="000000">
              <a:alpha val="4000"/>
            </a:srgbClr>
          </a:solidFill>
          <a:ln/>
        </p:spPr>
      </p:sp>
      <p:sp>
        <p:nvSpPr>
          <p:cNvPr id="23" name="Text 21"/>
          <p:cNvSpPr/>
          <p:nvPr/>
        </p:nvSpPr>
        <p:spPr>
          <a:xfrm>
            <a:off x="798195" y="3024545"/>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Education</a:t>
            </a:r>
            <a:endParaRPr lang="en-US" sz="1350" dirty="0"/>
          </a:p>
        </p:txBody>
      </p:sp>
      <p:sp>
        <p:nvSpPr>
          <p:cNvPr id="24" name="Text 22"/>
          <p:cNvSpPr/>
          <p:nvPr/>
        </p:nvSpPr>
        <p:spPr>
          <a:xfrm>
            <a:off x="3479125" y="302454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0.64</a:t>
            </a:r>
            <a:endParaRPr lang="en-US" sz="1350" dirty="0"/>
          </a:p>
        </p:txBody>
      </p:sp>
      <p:sp>
        <p:nvSpPr>
          <p:cNvPr id="25" name="Text 23"/>
          <p:cNvSpPr/>
          <p:nvPr/>
        </p:nvSpPr>
        <p:spPr>
          <a:xfrm>
            <a:off x="6156246" y="302454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0.35</a:t>
            </a:r>
            <a:endParaRPr lang="en-US" sz="1350" dirty="0"/>
          </a:p>
        </p:txBody>
      </p:sp>
      <p:sp>
        <p:nvSpPr>
          <p:cNvPr id="26" name="Text 24"/>
          <p:cNvSpPr/>
          <p:nvPr/>
        </p:nvSpPr>
        <p:spPr>
          <a:xfrm>
            <a:off x="8833366" y="302454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0.18</a:t>
            </a:r>
            <a:endParaRPr lang="en-US" sz="1350" dirty="0"/>
          </a:p>
        </p:txBody>
      </p:sp>
      <p:sp>
        <p:nvSpPr>
          <p:cNvPr id="27" name="Text 25"/>
          <p:cNvSpPr/>
          <p:nvPr/>
        </p:nvSpPr>
        <p:spPr>
          <a:xfrm>
            <a:off x="11510486" y="3024545"/>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Medium</a:t>
            </a:r>
            <a:endParaRPr lang="en-US" sz="1350" dirty="0"/>
          </a:p>
        </p:txBody>
      </p:sp>
      <p:sp>
        <p:nvSpPr>
          <p:cNvPr id="28" name="Shape 26"/>
          <p:cNvSpPr/>
          <p:nvPr/>
        </p:nvSpPr>
        <p:spPr>
          <a:xfrm>
            <a:off x="622221" y="3418523"/>
            <a:ext cx="13385959" cy="506968"/>
          </a:xfrm>
          <a:prstGeom prst="rect">
            <a:avLst/>
          </a:prstGeom>
          <a:solidFill>
            <a:srgbClr val="FFFFFF">
              <a:alpha val="4000"/>
            </a:srgbClr>
          </a:solidFill>
          <a:ln/>
        </p:spPr>
      </p:sp>
      <p:sp>
        <p:nvSpPr>
          <p:cNvPr id="29" name="Text 27"/>
          <p:cNvSpPr/>
          <p:nvPr/>
        </p:nvSpPr>
        <p:spPr>
          <a:xfrm>
            <a:off x="798195" y="3531513"/>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Experience</a:t>
            </a:r>
            <a:endParaRPr lang="en-US" sz="1350" dirty="0"/>
          </a:p>
        </p:txBody>
      </p:sp>
      <p:sp>
        <p:nvSpPr>
          <p:cNvPr id="30" name="Text 28"/>
          <p:cNvSpPr/>
          <p:nvPr/>
        </p:nvSpPr>
        <p:spPr>
          <a:xfrm>
            <a:off x="3479125" y="3531513"/>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0.78</a:t>
            </a:r>
            <a:endParaRPr lang="en-US" sz="1350" dirty="0"/>
          </a:p>
        </p:txBody>
      </p:sp>
      <p:sp>
        <p:nvSpPr>
          <p:cNvPr id="31" name="Text 29"/>
          <p:cNvSpPr/>
          <p:nvPr/>
        </p:nvSpPr>
        <p:spPr>
          <a:xfrm>
            <a:off x="6156246" y="3531513"/>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0.13</a:t>
            </a:r>
            <a:endParaRPr lang="en-US" sz="1350" dirty="0"/>
          </a:p>
        </p:txBody>
      </p:sp>
      <p:sp>
        <p:nvSpPr>
          <p:cNvPr id="32" name="Text 30"/>
          <p:cNvSpPr/>
          <p:nvPr/>
        </p:nvSpPr>
        <p:spPr>
          <a:xfrm>
            <a:off x="8833366" y="3531513"/>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0.07</a:t>
            </a:r>
            <a:endParaRPr lang="en-US" sz="1350" dirty="0"/>
          </a:p>
        </p:txBody>
      </p:sp>
      <p:sp>
        <p:nvSpPr>
          <p:cNvPr id="33" name="Text 31"/>
          <p:cNvSpPr/>
          <p:nvPr/>
        </p:nvSpPr>
        <p:spPr>
          <a:xfrm>
            <a:off x="11510486" y="3531513"/>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High</a:t>
            </a:r>
            <a:endParaRPr lang="en-US" sz="1350" dirty="0"/>
          </a:p>
        </p:txBody>
      </p:sp>
      <p:sp>
        <p:nvSpPr>
          <p:cNvPr id="34" name="Shape 32"/>
          <p:cNvSpPr/>
          <p:nvPr/>
        </p:nvSpPr>
        <p:spPr>
          <a:xfrm>
            <a:off x="622221" y="3925491"/>
            <a:ext cx="13385959" cy="506968"/>
          </a:xfrm>
          <a:prstGeom prst="rect">
            <a:avLst/>
          </a:prstGeom>
          <a:solidFill>
            <a:srgbClr val="000000">
              <a:alpha val="4000"/>
            </a:srgbClr>
          </a:solidFill>
          <a:ln/>
        </p:spPr>
      </p:sp>
      <p:sp>
        <p:nvSpPr>
          <p:cNvPr id="35" name="Text 33"/>
          <p:cNvSpPr/>
          <p:nvPr/>
        </p:nvSpPr>
        <p:spPr>
          <a:xfrm>
            <a:off x="798195" y="4038481"/>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Credit Score</a:t>
            </a:r>
            <a:endParaRPr lang="en-US" sz="1350" dirty="0"/>
          </a:p>
        </p:txBody>
      </p:sp>
      <p:sp>
        <p:nvSpPr>
          <p:cNvPr id="36" name="Text 34"/>
          <p:cNvSpPr/>
          <p:nvPr/>
        </p:nvSpPr>
        <p:spPr>
          <a:xfrm>
            <a:off x="3479125" y="4038481"/>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0.25</a:t>
            </a:r>
            <a:endParaRPr lang="en-US" sz="1350" dirty="0"/>
          </a:p>
        </p:txBody>
      </p:sp>
      <p:sp>
        <p:nvSpPr>
          <p:cNvPr id="37" name="Text 35"/>
          <p:cNvSpPr/>
          <p:nvPr/>
        </p:nvSpPr>
        <p:spPr>
          <a:xfrm>
            <a:off x="6156246" y="4038481"/>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0.71</a:t>
            </a:r>
            <a:endParaRPr lang="en-US" sz="1350" dirty="0"/>
          </a:p>
        </p:txBody>
      </p:sp>
      <p:sp>
        <p:nvSpPr>
          <p:cNvPr id="38" name="Text 36"/>
          <p:cNvSpPr/>
          <p:nvPr/>
        </p:nvSpPr>
        <p:spPr>
          <a:xfrm>
            <a:off x="8833366" y="4038481"/>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0.16</a:t>
            </a:r>
            <a:endParaRPr lang="en-US" sz="1350" dirty="0"/>
          </a:p>
        </p:txBody>
      </p:sp>
      <p:sp>
        <p:nvSpPr>
          <p:cNvPr id="39" name="Text 37"/>
          <p:cNvSpPr/>
          <p:nvPr/>
        </p:nvSpPr>
        <p:spPr>
          <a:xfrm>
            <a:off x="11510486" y="4038481"/>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Medium</a:t>
            </a:r>
            <a:endParaRPr lang="en-US" sz="1350" dirty="0"/>
          </a:p>
        </p:txBody>
      </p:sp>
      <p:sp>
        <p:nvSpPr>
          <p:cNvPr id="40" name="Shape 38"/>
          <p:cNvSpPr/>
          <p:nvPr/>
        </p:nvSpPr>
        <p:spPr>
          <a:xfrm>
            <a:off x="622221" y="4432459"/>
            <a:ext cx="13385959" cy="506968"/>
          </a:xfrm>
          <a:prstGeom prst="rect">
            <a:avLst/>
          </a:prstGeom>
          <a:solidFill>
            <a:srgbClr val="FFFFFF">
              <a:alpha val="4000"/>
            </a:srgbClr>
          </a:solidFill>
          <a:ln/>
        </p:spPr>
      </p:sp>
      <p:sp>
        <p:nvSpPr>
          <p:cNvPr id="41" name="Text 39"/>
          <p:cNvSpPr/>
          <p:nvPr/>
        </p:nvSpPr>
        <p:spPr>
          <a:xfrm>
            <a:off x="798195" y="4545449"/>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Debt Ratio</a:t>
            </a:r>
            <a:endParaRPr lang="en-US" sz="1350" dirty="0"/>
          </a:p>
        </p:txBody>
      </p:sp>
      <p:sp>
        <p:nvSpPr>
          <p:cNvPr id="42" name="Text 40"/>
          <p:cNvSpPr/>
          <p:nvPr/>
        </p:nvSpPr>
        <p:spPr>
          <a:xfrm>
            <a:off x="3479125" y="4545449"/>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0.19</a:t>
            </a:r>
            <a:endParaRPr lang="en-US" sz="1350" dirty="0"/>
          </a:p>
        </p:txBody>
      </p:sp>
      <p:sp>
        <p:nvSpPr>
          <p:cNvPr id="43" name="Text 41"/>
          <p:cNvSpPr/>
          <p:nvPr/>
        </p:nvSpPr>
        <p:spPr>
          <a:xfrm>
            <a:off x="6156246" y="4545449"/>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0.67</a:t>
            </a:r>
            <a:endParaRPr lang="en-US" sz="1350" dirty="0"/>
          </a:p>
        </p:txBody>
      </p:sp>
      <p:sp>
        <p:nvSpPr>
          <p:cNvPr id="44" name="Text 42"/>
          <p:cNvSpPr/>
          <p:nvPr/>
        </p:nvSpPr>
        <p:spPr>
          <a:xfrm>
            <a:off x="8833366" y="4545449"/>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0.22</a:t>
            </a:r>
            <a:endParaRPr lang="en-US" sz="1350" dirty="0"/>
          </a:p>
        </p:txBody>
      </p:sp>
      <p:sp>
        <p:nvSpPr>
          <p:cNvPr id="45" name="Text 43"/>
          <p:cNvSpPr/>
          <p:nvPr/>
        </p:nvSpPr>
        <p:spPr>
          <a:xfrm>
            <a:off x="11510486" y="4545449"/>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Medium</a:t>
            </a:r>
            <a:endParaRPr lang="en-US" sz="1350" dirty="0"/>
          </a:p>
        </p:txBody>
      </p:sp>
      <p:sp>
        <p:nvSpPr>
          <p:cNvPr id="46" name="Shape 44"/>
          <p:cNvSpPr/>
          <p:nvPr/>
        </p:nvSpPr>
        <p:spPr>
          <a:xfrm>
            <a:off x="622221" y="4939427"/>
            <a:ext cx="13385959" cy="506968"/>
          </a:xfrm>
          <a:prstGeom prst="rect">
            <a:avLst/>
          </a:prstGeom>
          <a:solidFill>
            <a:srgbClr val="000000">
              <a:alpha val="4000"/>
            </a:srgbClr>
          </a:solidFill>
          <a:ln/>
        </p:spPr>
      </p:sp>
      <p:sp>
        <p:nvSpPr>
          <p:cNvPr id="47" name="Text 45"/>
          <p:cNvSpPr/>
          <p:nvPr/>
        </p:nvSpPr>
        <p:spPr>
          <a:xfrm>
            <a:off x="798195" y="5052417"/>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Savings</a:t>
            </a:r>
            <a:endParaRPr lang="en-US" sz="1350" dirty="0"/>
          </a:p>
        </p:txBody>
      </p:sp>
      <p:sp>
        <p:nvSpPr>
          <p:cNvPr id="48" name="Text 46"/>
          <p:cNvSpPr/>
          <p:nvPr/>
        </p:nvSpPr>
        <p:spPr>
          <a:xfrm>
            <a:off x="3479125" y="505241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0.32</a:t>
            </a:r>
            <a:endParaRPr lang="en-US" sz="1350" dirty="0"/>
          </a:p>
        </p:txBody>
      </p:sp>
      <p:sp>
        <p:nvSpPr>
          <p:cNvPr id="49" name="Text 47"/>
          <p:cNvSpPr/>
          <p:nvPr/>
        </p:nvSpPr>
        <p:spPr>
          <a:xfrm>
            <a:off x="6156246" y="505241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0.73</a:t>
            </a:r>
            <a:endParaRPr lang="en-US" sz="1350" dirty="0"/>
          </a:p>
        </p:txBody>
      </p:sp>
      <p:sp>
        <p:nvSpPr>
          <p:cNvPr id="50" name="Text 48"/>
          <p:cNvSpPr/>
          <p:nvPr/>
        </p:nvSpPr>
        <p:spPr>
          <a:xfrm>
            <a:off x="8833366" y="5052417"/>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0.14</a:t>
            </a:r>
            <a:endParaRPr lang="en-US" sz="1350" dirty="0"/>
          </a:p>
        </p:txBody>
      </p:sp>
      <p:sp>
        <p:nvSpPr>
          <p:cNvPr id="51" name="Text 49"/>
          <p:cNvSpPr/>
          <p:nvPr/>
        </p:nvSpPr>
        <p:spPr>
          <a:xfrm>
            <a:off x="11510486" y="5052417"/>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Medium</a:t>
            </a:r>
            <a:endParaRPr lang="en-US" sz="1350" dirty="0"/>
          </a:p>
        </p:txBody>
      </p:sp>
      <p:sp>
        <p:nvSpPr>
          <p:cNvPr id="52" name="Shape 50"/>
          <p:cNvSpPr/>
          <p:nvPr/>
        </p:nvSpPr>
        <p:spPr>
          <a:xfrm>
            <a:off x="622221" y="5446395"/>
            <a:ext cx="13385959" cy="506968"/>
          </a:xfrm>
          <a:prstGeom prst="rect">
            <a:avLst/>
          </a:prstGeom>
          <a:solidFill>
            <a:srgbClr val="FFFFFF">
              <a:alpha val="4000"/>
            </a:srgbClr>
          </a:solidFill>
          <a:ln/>
        </p:spPr>
      </p:sp>
      <p:sp>
        <p:nvSpPr>
          <p:cNvPr id="53" name="Text 51"/>
          <p:cNvSpPr/>
          <p:nvPr/>
        </p:nvSpPr>
        <p:spPr>
          <a:xfrm>
            <a:off x="798195" y="5559385"/>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Location</a:t>
            </a:r>
            <a:endParaRPr lang="en-US" sz="1350" dirty="0"/>
          </a:p>
        </p:txBody>
      </p:sp>
      <p:sp>
        <p:nvSpPr>
          <p:cNvPr id="54" name="Text 52"/>
          <p:cNvSpPr/>
          <p:nvPr/>
        </p:nvSpPr>
        <p:spPr>
          <a:xfrm>
            <a:off x="3479125" y="555938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0.11</a:t>
            </a:r>
            <a:endParaRPr lang="en-US" sz="1350" dirty="0"/>
          </a:p>
        </p:txBody>
      </p:sp>
      <p:sp>
        <p:nvSpPr>
          <p:cNvPr id="55" name="Text 53"/>
          <p:cNvSpPr/>
          <p:nvPr/>
        </p:nvSpPr>
        <p:spPr>
          <a:xfrm>
            <a:off x="6156246" y="555938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0.23</a:t>
            </a:r>
            <a:endParaRPr lang="en-US" sz="1350" dirty="0"/>
          </a:p>
        </p:txBody>
      </p:sp>
      <p:sp>
        <p:nvSpPr>
          <p:cNvPr id="56" name="Text 54"/>
          <p:cNvSpPr/>
          <p:nvPr/>
        </p:nvSpPr>
        <p:spPr>
          <a:xfrm>
            <a:off x="8833366" y="5559385"/>
            <a:ext cx="231826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0.79</a:t>
            </a:r>
            <a:endParaRPr lang="en-US" sz="1350" dirty="0"/>
          </a:p>
        </p:txBody>
      </p:sp>
      <p:sp>
        <p:nvSpPr>
          <p:cNvPr id="57" name="Text 55"/>
          <p:cNvSpPr/>
          <p:nvPr/>
        </p:nvSpPr>
        <p:spPr>
          <a:xfrm>
            <a:off x="11510486" y="5559385"/>
            <a:ext cx="2322076" cy="280988"/>
          </a:xfrm>
          <a:prstGeom prst="rect">
            <a:avLst/>
          </a:prstGeom>
          <a:noFill/>
          <a:ln/>
        </p:spPr>
        <p:txBody>
          <a:bodyPr wrap="non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Low</a:t>
            </a:r>
            <a:endParaRPr lang="en-US" sz="1350" dirty="0"/>
          </a:p>
        </p:txBody>
      </p:sp>
      <p:sp>
        <p:nvSpPr>
          <p:cNvPr id="58" name="Text 56"/>
          <p:cNvSpPr/>
          <p:nvPr/>
        </p:nvSpPr>
        <p:spPr>
          <a:xfrm>
            <a:off x="614601" y="6158508"/>
            <a:ext cx="13401199" cy="842963"/>
          </a:xfrm>
          <a:prstGeom prst="rect">
            <a:avLst/>
          </a:prstGeom>
          <a:noFill/>
          <a:ln/>
        </p:spPr>
        <p:txBody>
          <a:bodyPr wrap="squar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The loading table shows how strongly each original feature contributes to the principal components. Features with high loadings on important principal components are considered most influential. In this example, Age, Income, and Experience have high loadings on PC1, making them strong candidates for inclusion in a reduced feature set.</a:t>
            </a:r>
            <a:endParaRPr lang="en-US" sz="1350" dirty="0"/>
          </a:p>
        </p:txBody>
      </p:sp>
      <p:sp>
        <p:nvSpPr>
          <p:cNvPr id="59" name="Text 57"/>
          <p:cNvSpPr/>
          <p:nvPr/>
        </p:nvSpPr>
        <p:spPr>
          <a:xfrm>
            <a:off x="614601" y="7198995"/>
            <a:ext cx="13401199" cy="561975"/>
          </a:xfrm>
          <a:prstGeom prst="rect">
            <a:avLst/>
          </a:prstGeom>
          <a:noFill/>
          <a:ln/>
        </p:spPr>
        <p:txBody>
          <a:bodyPr wrap="square" lIns="0" tIns="0" rIns="0" bIns="0" rtlCol="0" anchor="t"/>
          <a:lstStyle/>
          <a:p>
            <a:pPr marL="0" indent="0">
              <a:lnSpc>
                <a:spcPts val="2200"/>
              </a:lnSpc>
              <a:buNone/>
            </a:pPr>
            <a:r>
              <a:rPr lang="en-US" sz="1350" dirty="0">
                <a:solidFill>
                  <a:srgbClr val="464646"/>
                </a:solidFill>
                <a:latin typeface="Inter Medium" pitchFamily="34" charset="0"/>
                <a:ea typeface="Inter Medium" pitchFamily="34" charset="-122"/>
                <a:cs typeface="Inter Medium" pitchFamily="34" charset="-120"/>
              </a:rPr>
              <a:t>For feature selection, we typically focus on features with consistently high loadings across the most important principal components, or those with particularly high loadings on a single important component.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4609" y="610076"/>
            <a:ext cx="11399996" cy="611148"/>
          </a:xfrm>
          <a:prstGeom prst="rect">
            <a:avLst/>
          </a:prstGeom>
          <a:noFill/>
          <a:ln/>
        </p:spPr>
        <p:txBody>
          <a:bodyPr wrap="none" lIns="0" tIns="0" rIns="0" bIns="0" rtlCol="0" anchor="t"/>
          <a:lstStyle/>
          <a:p>
            <a:pPr marL="0" indent="0">
              <a:lnSpc>
                <a:spcPts val="4800"/>
              </a:lnSpc>
              <a:buNone/>
            </a:pPr>
            <a:r>
              <a:rPr lang="en-US" sz="3850" dirty="0">
                <a:solidFill>
                  <a:srgbClr val="030303"/>
                </a:solidFill>
                <a:latin typeface="DM Sans Semi Bold" pitchFamily="34" charset="0"/>
                <a:ea typeface="DM Sans Semi Bold" pitchFamily="34" charset="-122"/>
                <a:cs typeface="DM Sans Semi Bold" pitchFamily="34" charset="-120"/>
              </a:rPr>
              <a:t>PCA-Based Feature Selection: Practical Example</a:t>
            </a:r>
            <a:endParaRPr lang="en-US" sz="3850" dirty="0"/>
          </a:p>
        </p:txBody>
      </p:sp>
      <p:sp>
        <p:nvSpPr>
          <p:cNvPr id="3" name="Text 1"/>
          <p:cNvSpPr/>
          <p:nvPr/>
        </p:nvSpPr>
        <p:spPr>
          <a:xfrm>
            <a:off x="2575441" y="2171700"/>
            <a:ext cx="2445068" cy="305633"/>
          </a:xfrm>
          <a:prstGeom prst="rect">
            <a:avLst/>
          </a:prstGeom>
          <a:noFill/>
          <a:ln/>
        </p:spPr>
        <p:txBody>
          <a:bodyPr wrap="none" lIns="0" tIns="0" rIns="0" bIns="0" rtlCol="0" anchor="t"/>
          <a:lstStyle/>
          <a:p>
            <a:pPr marL="0" indent="0" algn="r">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Original Dataset</a:t>
            </a:r>
            <a:endParaRPr lang="en-US" sz="1900" dirty="0"/>
          </a:p>
        </p:txBody>
      </p:sp>
      <p:sp>
        <p:nvSpPr>
          <p:cNvPr id="4" name="Text 2"/>
          <p:cNvSpPr/>
          <p:nvPr/>
        </p:nvSpPr>
        <p:spPr>
          <a:xfrm>
            <a:off x="684609" y="2594610"/>
            <a:ext cx="4335899" cy="312896"/>
          </a:xfrm>
          <a:prstGeom prst="rect">
            <a:avLst/>
          </a:prstGeom>
          <a:noFill/>
          <a:ln/>
        </p:spPr>
        <p:txBody>
          <a:bodyPr wrap="none" lIns="0" tIns="0" rIns="0" bIns="0" rtlCol="0" anchor="t"/>
          <a:lstStyle/>
          <a:p>
            <a:pPr marL="0" indent="0" algn="r">
              <a:lnSpc>
                <a:spcPts val="2450"/>
              </a:lnSpc>
              <a:buNone/>
            </a:pPr>
            <a:r>
              <a:rPr lang="en-US" sz="1500" dirty="0">
                <a:solidFill>
                  <a:srgbClr val="464646"/>
                </a:solidFill>
                <a:latin typeface="Inter Medium" pitchFamily="34" charset="0"/>
                <a:ea typeface="Inter Medium" pitchFamily="34" charset="-122"/>
                <a:cs typeface="Inter Medium" pitchFamily="34" charset="-120"/>
              </a:rPr>
              <a:t>Start with high-dimensional data</a:t>
            </a:r>
            <a:endParaRPr lang="en-US" sz="1500" dirty="0"/>
          </a:p>
        </p:txBody>
      </p:sp>
      <p:pic>
        <p:nvPicPr>
          <p:cNvPr id="5" name="Image 0" descr="preencoded.png"/>
          <p:cNvPicPr>
            <a:picLocks noChangeAspect="1"/>
          </p:cNvPicPr>
          <p:nvPr/>
        </p:nvPicPr>
        <p:blipFill>
          <a:blip r:embed="rId3"/>
          <a:stretch>
            <a:fillRect/>
          </a:stretch>
        </p:blipFill>
        <p:spPr>
          <a:xfrm>
            <a:off x="5313878" y="1612344"/>
            <a:ext cx="4002524" cy="4002524"/>
          </a:xfrm>
          <a:prstGeom prst="rect">
            <a:avLst/>
          </a:prstGeom>
        </p:spPr>
      </p:pic>
      <p:sp>
        <p:nvSpPr>
          <p:cNvPr id="6" name="Text 3"/>
          <p:cNvSpPr/>
          <p:nvPr/>
        </p:nvSpPr>
        <p:spPr>
          <a:xfrm>
            <a:off x="6297632" y="2411909"/>
            <a:ext cx="85130" cy="391239"/>
          </a:xfrm>
          <a:prstGeom prst="rect">
            <a:avLst/>
          </a:prstGeom>
          <a:noFill/>
          <a:ln/>
        </p:spPr>
        <p:txBody>
          <a:bodyPr wrap="none" lIns="0" tIns="0" rIns="0" bIns="0" rtlCol="0" anchor="t"/>
          <a:lstStyle/>
          <a:p>
            <a:pPr marL="0" indent="0">
              <a:lnSpc>
                <a:spcPts val="3050"/>
              </a:lnSpc>
              <a:buNone/>
            </a:pPr>
            <a:r>
              <a:rPr lang="en-US" sz="1900" dirty="0">
                <a:solidFill>
                  <a:srgbClr val="464646"/>
                </a:solidFill>
                <a:latin typeface="DM Sans Semi Bold" pitchFamily="34" charset="0"/>
                <a:ea typeface="DM Sans Semi Bold" pitchFamily="34" charset="-122"/>
                <a:cs typeface="DM Sans Semi Bold" pitchFamily="34" charset="-120"/>
              </a:rPr>
              <a:t>1</a:t>
            </a:r>
            <a:endParaRPr lang="en-US" sz="1900" dirty="0"/>
          </a:p>
        </p:txBody>
      </p:sp>
      <p:sp>
        <p:nvSpPr>
          <p:cNvPr id="7" name="Text 4"/>
          <p:cNvSpPr/>
          <p:nvPr/>
        </p:nvSpPr>
        <p:spPr>
          <a:xfrm>
            <a:off x="9609773" y="1813679"/>
            <a:ext cx="2445068" cy="305633"/>
          </a:xfrm>
          <a:prstGeom prst="rect">
            <a:avLst/>
          </a:prstGeom>
          <a:noFill/>
          <a:ln/>
        </p:spPr>
        <p:txBody>
          <a:bodyPr wrap="none" lIns="0" tIns="0" rIns="0" bIns="0" rtlCol="0" anchor="t"/>
          <a:lstStyle/>
          <a:p>
            <a:pPr marL="0" indent="0" algn="l">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Apply PCA</a:t>
            </a:r>
            <a:endParaRPr lang="en-US" sz="1900" dirty="0"/>
          </a:p>
        </p:txBody>
      </p:sp>
      <p:sp>
        <p:nvSpPr>
          <p:cNvPr id="8" name="Text 5"/>
          <p:cNvSpPr/>
          <p:nvPr/>
        </p:nvSpPr>
        <p:spPr>
          <a:xfrm>
            <a:off x="9609773" y="2236589"/>
            <a:ext cx="4336018" cy="312896"/>
          </a:xfrm>
          <a:prstGeom prst="rect">
            <a:avLst/>
          </a:prstGeom>
          <a:noFill/>
          <a:ln/>
        </p:spPr>
        <p:txBody>
          <a:bodyPr wrap="none" lIns="0" tIns="0" rIns="0" bIns="0" rtlCol="0" anchor="t"/>
          <a:lstStyle/>
          <a:p>
            <a:pPr marL="0" indent="0" algn="l">
              <a:lnSpc>
                <a:spcPts val="2450"/>
              </a:lnSpc>
              <a:buNone/>
            </a:pPr>
            <a:r>
              <a:rPr lang="en-US" sz="1500" dirty="0">
                <a:solidFill>
                  <a:srgbClr val="464646"/>
                </a:solidFill>
                <a:latin typeface="Inter Medium" pitchFamily="34" charset="0"/>
                <a:ea typeface="Inter Medium" pitchFamily="34" charset="-122"/>
                <a:cs typeface="Inter Medium" pitchFamily="34" charset="-120"/>
              </a:rPr>
              <a:t>Transform to principal components</a:t>
            </a:r>
            <a:endParaRPr lang="en-US" sz="1500" dirty="0"/>
          </a:p>
        </p:txBody>
      </p:sp>
      <p:pic>
        <p:nvPicPr>
          <p:cNvPr id="9" name="Image 1" descr="preencoded.png"/>
          <p:cNvPicPr>
            <a:picLocks noChangeAspect="1"/>
          </p:cNvPicPr>
          <p:nvPr/>
        </p:nvPicPr>
        <p:blipFill>
          <a:blip r:embed="rId4"/>
          <a:stretch>
            <a:fillRect/>
          </a:stretch>
        </p:blipFill>
        <p:spPr>
          <a:xfrm>
            <a:off x="5313878" y="1612344"/>
            <a:ext cx="4002524" cy="4002524"/>
          </a:xfrm>
          <a:prstGeom prst="rect">
            <a:avLst/>
          </a:prstGeom>
        </p:spPr>
      </p:pic>
      <p:sp>
        <p:nvSpPr>
          <p:cNvPr id="10" name="Text 6"/>
          <p:cNvSpPr/>
          <p:nvPr/>
        </p:nvSpPr>
        <p:spPr>
          <a:xfrm>
            <a:off x="7900095" y="2179856"/>
            <a:ext cx="141089" cy="391239"/>
          </a:xfrm>
          <a:prstGeom prst="rect">
            <a:avLst/>
          </a:prstGeom>
          <a:noFill/>
          <a:ln/>
        </p:spPr>
        <p:txBody>
          <a:bodyPr wrap="none" lIns="0" tIns="0" rIns="0" bIns="0" rtlCol="0" anchor="t"/>
          <a:lstStyle/>
          <a:p>
            <a:pPr marL="0" indent="0">
              <a:lnSpc>
                <a:spcPts val="3050"/>
              </a:lnSpc>
              <a:buNone/>
            </a:pPr>
            <a:r>
              <a:rPr lang="en-US" sz="1900" dirty="0">
                <a:solidFill>
                  <a:srgbClr val="464646"/>
                </a:solidFill>
                <a:latin typeface="DM Sans Semi Bold" pitchFamily="34" charset="0"/>
                <a:ea typeface="DM Sans Semi Bold" pitchFamily="34" charset="-122"/>
                <a:cs typeface="DM Sans Semi Bold" pitchFamily="34" charset="-120"/>
              </a:rPr>
              <a:t>2</a:t>
            </a:r>
            <a:endParaRPr lang="en-US" sz="1900" dirty="0"/>
          </a:p>
        </p:txBody>
      </p:sp>
      <p:sp>
        <p:nvSpPr>
          <p:cNvPr id="11" name="Text 7"/>
          <p:cNvSpPr/>
          <p:nvPr/>
        </p:nvSpPr>
        <p:spPr>
          <a:xfrm>
            <a:off x="9707523" y="3245644"/>
            <a:ext cx="2445068" cy="305633"/>
          </a:xfrm>
          <a:prstGeom prst="rect">
            <a:avLst/>
          </a:prstGeom>
          <a:noFill/>
          <a:ln/>
        </p:spPr>
        <p:txBody>
          <a:bodyPr wrap="none" lIns="0" tIns="0" rIns="0" bIns="0" rtlCol="0" anchor="t"/>
          <a:lstStyle/>
          <a:p>
            <a:pPr marL="0" indent="0" algn="l">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Analyze Loadings</a:t>
            </a:r>
            <a:endParaRPr lang="en-US" sz="1900" dirty="0"/>
          </a:p>
        </p:txBody>
      </p:sp>
      <p:sp>
        <p:nvSpPr>
          <p:cNvPr id="12" name="Text 8"/>
          <p:cNvSpPr/>
          <p:nvPr/>
        </p:nvSpPr>
        <p:spPr>
          <a:xfrm>
            <a:off x="9707523" y="3668554"/>
            <a:ext cx="4238268" cy="312896"/>
          </a:xfrm>
          <a:prstGeom prst="rect">
            <a:avLst/>
          </a:prstGeom>
          <a:noFill/>
          <a:ln/>
        </p:spPr>
        <p:txBody>
          <a:bodyPr wrap="none" lIns="0" tIns="0" rIns="0" bIns="0" rtlCol="0" anchor="t"/>
          <a:lstStyle/>
          <a:p>
            <a:pPr marL="0" indent="0" algn="l">
              <a:lnSpc>
                <a:spcPts val="2450"/>
              </a:lnSpc>
              <a:buNone/>
            </a:pPr>
            <a:r>
              <a:rPr lang="en-US" sz="1500" dirty="0">
                <a:solidFill>
                  <a:srgbClr val="464646"/>
                </a:solidFill>
                <a:latin typeface="Inter Medium" pitchFamily="34" charset="0"/>
                <a:ea typeface="Inter Medium" pitchFamily="34" charset="-122"/>
                <a:cs typeface="Inter Medium" pitchFamily="34" charset="-120"/>
              </a:rPr>
              <a:t>Identify important features</a:t>
            </a:r>
            <a:endParaRPr lang="en-US" sz="1500" dirty="0"/>
          </a:p>
        </p:txBody>
      </p:sp>
      <p:pic>
        <p:nvPicPr>
          <p:cNvPr id="13" name="Image 2" descr="preencoded.png"/>
          <p:cNvPicPr>
            <a:picLocks noChangeAspect="1"/>
          </p:cNvPicPr>
          <p:nvPr/>
        </p:nvPicPr>
        <p:blipFill>
          <a:blip r:embed="rId5"/>
          <a:stretch>
            <a:fillRect/>
          </a:stretch>
        </p:blipFill>
        <p:spPr>
          <a:xfrm>
            <a:off x="5313878" y="1612344"/>
            <a:ext cx="4002524" cy="4002524"/>
          </a:xfrm>
          <a:prstGeom prst="rect">
            <a:avLst/>
          </a:prstGeom>
        </p:spPr>
      </p:pic>
      <p:sp>
        <p:nvSpPr>
          <p:cNvPr id="14" name="Text 9"/>
          <p:cNvSpPr/>
          <p:nvPr/>
        </p:nvSpPr>
        <p:spPr>
          <a:xfrm>
            <a:off x="8621851" y="3658731"/>
            <a:ext cx="146447" cy="391239"/>
          </a:xfrm>
          <a:prstGeom prst="rect">
            <a:avLst/>
          </a:prstGeom>
          <a:noFill/>
          <a:ln/>
        </p:spPr>
        <p:txBody>
          <a:bodyPr wrap="none" lIns="0" tIns="0" rIns="0" bIns="0" rtlCol="0" anchor="t"/>
          <a:lstStyle/>
          <a:p>
            <a:pPr marL="0" indent="0">
              <a:lnSpc>
                <a:spcPts val="3050"/>
              </a:lnSpc>
              <a:buNone/>
            </a:pPr>
            <a:r>
              <a:rPr lang="en-US" sz="1900" dirty="0">
                <a:solidFill>
                  <a:srgbClr val="464646"/>
                </a:solidFill>
                <a:latin typeface="DM Sans Semi Bold" pitchFamily="34" charset="0"/>
                <a:ea typeface="DM Sans Semi Bold" pitchFamily="34" charset="-122"/>
                <a:cs typeface="DM Sans Semi Bold" pitchFamily="34" charset="-120"/>
              </a:rPr>
              <a:t>3</a:t>
            </a:r>
            <a:endParaRPr lang="en-US" sz="1900" dirty="0"/>
          </a:p>
        </p:txBody>
      </p:sp>
      <p:sp>
        <p:nvSpPr>
          <p:cNvPr id="15" name="Text 10"/>
          <p:cNvSpPr/>
          <p:nvPr/>
        </p:nvSpPr>
        <p:spPr>
          <a:xfrm>
            <a:off x="9609773" y="4677608"/>
            <a:ext cx="2445068" cy="305633"/>
          </a:xfrm>
          <a:prstGeom prst="rect">
            <a:avLst/>
          </a:prstGeom>
          <a:noFill/>
          <a:ln/>
        </p:spPr>
        <p:txBody>
          <a:bodyPr wrap="none" lIns="0" tIns="0" rIns="0" bIns="0" rtlCol="0" anchor="t"/>
          <a:lstStyle/>
          <a:p>
            <a:pPr marL="0" indent="0" algn="l">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Select Features</a:t>
            </a:r>
            <a:endParaRPr lang="en-US" sz="1900" dirty="0"/>
          </a:p>
        </p:txBody>
      </p:sp>
      <p:sp>
        <p:nvSpPr>
          <p:cNvPr id="16" name="Text 11"/>
          <p:cNvSpPr/>
          <p:nvPr/>
        </p:nvSpPr>
        <p:spPr>
          <a:xfrm>
            <a:off x="9609773" y="5100518"/>
            <a:ext cx="4336018" cy="312896"/>
          </a:xfrm>
          <a:prstGeom prst="rect">
            <a:avLst/>
          </a:prstGeom>
          <a:noFill/>
          <a:ln/>
        </p:spPr>
        <p:txBody>
          <a:bodyPr wrap="none" lIns="0" tIns="0" rIns="0" bIns="0" rtlCol="0" anchor="t"/>
          <a:lstStyle/>
          <a:p>
            <a:pPr marL="0" indent="0" algn="l">
              <a:lnSpc>
                <a:spcPts val="2450"/>
              </a:lnSpc>
              <a:buNone/>
            </a:pPr>
            <a:r>
              <a:rPr lang="en-US" sz="1500" dirty="0">
                <a:solidFill>
                  <a:srgbClr val="464646"/>
                </a:solidFill>
                <a:latin typeface="Inter Medium" pitchFamily="34" charset="0"/>
                <a:ea typeface="Inter Medium" pitchFamily="34" charset="-122"/>
                <a:cs typeface="Inter Medium" pitchFamily="34" charset="-120"/>
              </a:rPr>
              <a:t>Choose optimal subset</a:t>
            </a:r>
            <a:endParaRPr lang="en-US" sz="1500" dirty="0"/>
          </a:p>
        </p:txBody>
      </p:sp>
      <p:pic>
        <p:nvPicPr>
          <p:cNvPr id="17" name="Image 3" descr="preencoded.png"/>
          <p:cNvPicPr>
            <a:picLocks noChangeAspect="1"/>
          </p:cNvPicPr>
          <p:nvPr/>
        </p:nvPicPr>
        <p:blipFill>
          <a:blip r:embed="rId6"/>
          <a:stretch>
            <a:fillRect/>
          </a:stretch>
        </p:blipFill>
        <p:spPr>
          <a:xfrm>
            <a:off x="5313878" y="1612344"/>
            <a:ext cx="4002524" cy="4002524"/>
          </a:xfrm>
          <a:prstGeom prst="rect">
            <a:avLst/>
          </a:prstGeom>
        </p:spPr>
      </p:pic>
      <p:sp>
        <p:nvSpPr>
          <p:cNvPr id="18" name="Text 12"/>
          <p:cNvSpPr/>
          <p:nvPr/>
        </p:nvSpPr>
        <p:spPr>
          <a:xfrm>
            <a:off x="7434441" y="4804827"/>
            <a:ext cx="155972" cy="391239"/>
          </a:xfrm>
          <a:prstGeom prst="rect">
            <a:avLst/>
          </a:prstGeom>
          <a:noFill/>
          <a:ln/>
        </p:spPr>
        <p:txBody>
          <a:bodyPr wrap="none" lIns="0" tIns="0" rIns="0" bIns="0" rtlCol="0" anchor="t"/>
          <a:lstStyle/>
          <a:p>
            <a:pPr marL="0" indent="0">
              <a:lnSpc>
                <a:spcPts val="3050"/>
              </a:lnSpc>
              <a:buNone/>
            </a:pPr>
            <a:r>
              <a:rPr lang="en-US" sz="1900" dirty="0">
                <a:solidFill>
                  <a:srgbClr val="464646"/>
                </a:solidFill>
                <a:latin typeface="DM Sans Semi Bold" pitchFamily="34" charset="0"/>
                <a:ea typeface="DM Sans Semi Bold" pitchFamily="34" charset="-122"/>
                <a:cs typeface="DM Sans Semi Bold" pitchFamily="34" charset="-120"/>
              </a:rPr>
              <a:t>4</a:t>
            </a:r>
            <a:endParaRPr lang="en-US" sz="1900" dirty="0"/>
          </a:p>
        </p:txBody>
      </p:sp>
      <p:sp>
        <p:nvSpPr>
          <p:cNvPr id="19" name="Text 13"/>
          <p:cNvSpPr/>
          <p:nvPr/>
        </p:nvSpPr>
        <p:spPr>
          <a:xfrm>
            <a:off x="2482215" y="4319587"/>
            <a:ext cx="2538293" cy="305633"/>
          </a:xfrm>
          <a:prstGeom prst="rect">
            <a:avLst/>
          </a:prstGeom>
          <a:noFill/>
          <a:ln/>
        </p:spPr>
        <p:txBody>
          <a:bodyPr wrap="none" lIns="0" tIns="0" rIns="0" bIns="0" rtlCol="0" anchor="t"/>
          <a:lstStyle/>
          <a:p>
            <a:pPr marL="0" indent="0" algn="r">
              <a:lnSpc>
                <a:spcPts val="2400"/>
              </a:lnSpc>
              <a:buNone/>
            </a:pPr>
            <a:r>
              <a:rPr lang="en-US" sz="1900" dirty="0">
                <a:solidFill>
                  <a:srgbClr val="464646"/>
                </a:solidFill>
                <a:latin typeface="DM Sans Semi Bold" pitchFamily="34" charset="0"/>
                <a:ea typeface="DM Sans Semi Bold" pitchFamily="34" charset="-122"/>
                <a:cs typeface="DM Sans Semi Bold" pitchFamily="34" charset="-120"/>
              </a:rPr>
              <a:t>Validate Performance</a:t>
            </a:r>
            <a:endParaRPr lang="en-US" sz="1900" dirty="0"/>
          </a:p>
        </p:txBody>
      </p:sp>
      <p:sp>
        <p:nvSpPr>
          <p:cNvPr id="20" name="Text 14"/>
          <p:cNvSpPr/>
          <p:nvPr/>
        </p:nvSpPr>
        <p:spPr>
          <a:xfrm>
            <a:off x="684609" y="4742498"/>
            <a:ext cx="4335899" cy="312896"/>
          </a:xfrm>
          <a:prstGeom prst="rect">
            <a:avLst/>
          </a:prstGeom>
          <a:noFill/>
          <a:ln/>
        </p:spPr>
        <p:txBody>
          <a:bodyPr wrap="none" lIns="0" tIns="0" rIns="0" bIns="0" rtlCol="0" anchor="t"/>
          <a:lstStyle/>
          <a:p>
            <a:pPr marL="0" indent="0" algn="r">
              <a:lnSpc>
                <a:spcPts val="2450"/>
              </a:lnSpc>
              <a:buNone/>
            </a:pPr>
            <a:r>
              <a:rPr lang="en-US" sz="1500" dirty="0">
                <a:solidFill>
                  <a:srgbClr val="464646"/>
                </a:solidFill>
                <a:latin typeface="Inter Medium" pitchFamily="34" charset="0"/>
                <a:ea typeface="Inter Medium" pitchFamily="34" charset="-122"/>
                <a:cs typeface="Inter Medium" pitchFamily="34" charset="-120"/>
              </a:rPr>
              <a:t>Test on downstream tasks</a:t>
            </a:r>
            <a:endParaRPr lang="en-US" sz="1500" dirty="0"/>
          </a:p>
        </p:txBody>
      </p:sp>
      <p:pic>
        <p:nvPicPr>
          <p:cNvPr id="21" name="Image 4" descr="preencoded.png"/>
          <p:cNvPicPr>
            <a:picLocks noChangeAspect="1"/>
          </p:cNvPicPr>
          <p:nvPr/>
        </p:nvPicPr>
        <p:blipFill>
          <a:blip r:embed="rId7"/>
          <a:stretch>
            <a:fillRect/>
          </a:stretch>
        </p:blipFill>
        <p:spPr>
          <a:xfrm>
            <a:off x="5313878" y="1612344"/>
            <a:ext cx="4002524" cy="4002524"/>
          </a:xfrm>
          <a:prstGeom prst="rect">
            <a:avLst/>
          </a:prstGeom>
        </p:spPr>
      </p:pic>
      <p:sp>
        <p:nvSpPr>
          <p:cNvPr id="22" name="Text 15"/>
          <p:cNvSpPr/>
          <p:nvPr/>
        </p:nvSpPr>
        <p:spPr>
          <a:xfrm>
            <a:off x="5981521" y="4034135"/>
            <a:ext cx="151090" cy="391239"/>
          </a:xfrm>
          <a:prstGeom prst="rect">
            <a:avLst/>
          </a:prstGeom>
          <a:noFill/>
          <a:ln/>
        </p:spPr>
        <p:txBody>
          <a:bodyPr wrap="none" lIns="0" tIns="0" rIns="0" bIns="0" rtlCol="0" anchor="t"/>
          <a:lstStyle/>
          <a:p>
            <a:pPr marL="0" indent="0">
              <a:lnSpc>
                <a:spcPts val="3050"/>
              </a:lnSpc>
              <a:buNone/>
            </a:pPr>
            <a:r>
              <a:rPr lang="en-US" sz="1900" dirty="0">
                <a:solidFill>
                  <a:srgbClr val="464646"/>
                </a:solidFill>
                <a:latin typeface="DM Sans Semi Bold" pitchFamily="34" charset="0"/>
                <a:ea typeface="DM Sans Semi Bold" pitchFamily="34" charset="-122"/>
                <a:cs typeface="DM Sans Semi Bold" pitchFamily="34" charset="-120"/>
              </a:rPr>
              <a:t>5</a:t>
            </a:r>
            <a:endParaRPr lang="en-US" sz="1900" dirty="0"/>
          </a:p>
        </p:txBody>
      </p:sp>
      <p:sp>
        <p:nvSpPr>
          <p:cNvPr id="23" name="Text 16"/>
          <p:cNvSpPr/>
          <p:nvPr/>
        </p:nvSpPr>
        <p:spPr>
          <a:xfrm>
            <a:off x="684609" y="5834896"/>
            <a:ext cx="13261181" cy="938689"/>
          </a:xfrm>
          <a:prstGeom prst="rect">
            <a:avLst/>
          </a:prstGeom>
          <a:noFill/>
          <a:ln/>
        </p:spPr>
        <p:txBody>
          <a:bodyPr wrap="square" lIns="0" tIns="0" rIns="0" bIns="0" rtlCol="0" anchor="t"/>
          <a:lstStyle/>
          <a:p>
            <a:pPr marL="0" indent="0">
              <a:lnSpc>
                <a:spcPts val="2450"/>
              </a:lnSpc>
              <a:buNone/>
            </a:pPr>
            <a:r>
              <a:rPr lang="en-US" sz="1500" dirty="0">
                <a:solidFill>
                  <a:srgbClr val="464646"/>
                </a:solidFill>
                <a:latin typeface="Inter Medium" pitchFamily="34" charset="0"/>
                <a:ea typeface="Inter Medium" pitchFamily="34" charset="-122"/>
                <a:cs typeface="Inter Medium" pitchFamily="34" charset="-120"/>
              </a:rPr>
              <a:t>Consider a dataset with gene expression measurements across thousands of genes. Traditional feature selection would be challenging given the high dimensionality. By applying PCA, we transform the data and examine which original genes have the highest loadings on the top principal components.</a:t>
            </a:r>
            <a:endParaRPr lang="en-US" sz="1500" dirty="0"/>
          </a:p>
        </p:txBody>
      </p:sp>
      <p:sp>
        <p:nvSpPr>
          <p:cNvPr id="24" name="Text 17"/>
          <p:cNvSpPr/>
          <p:nvPr/>
        </p:nvSpPr>
        <p:spPr>
          <a:xfrm>
            <a:off x="684609" y="6993612"/>
            <a:ext cx="13261181" cy="625793"/>
          </a:xfrm>
          <a:prstGeom prst="rect">
            <a:avLst/>
          </a:prstGeom>
          <a:noFill/>
          <a:ln/>
        </p:spPr>
        <p:txBody>
          <a:bodyPr wrap="square" lIns="0" tIns="0" rIns="0" bIns="0" rtlCol="0" anchor="t"/>
          <a:lstStyle/>
          <a:p>
            <a:pPr marL="0" indent="0">
              <a:lnSpc>
                <a:spcPts val="2450"/>
              </a:lnSpc>
              <a:buNone/>
            </a:pPr>
            <a:r>
              <a:rPr lang="en-US" sz="1500" dirty="0">
                <a:solidFill>
                  <a:srgbClr val="464646"/>
                </a:solidFill>
                <a:latin typeface="Inter Medium" pitchFamily="34" charset="0"/>
                <a:ea typeface="Inter Medium" pitchFamily="34" charset="-122"/>
                <a:cs typeface="Inter Medium" pitchFamily="34" charset="-120"/>
              </a:rPr>
              <a:t>In a real case study with cancer classification data, reducing from 10,000 genes to just 50 genes with the highest PCA loadings maintained 95% of the classification accuracy while dramatically reducing computational requirements and improving model interpretability.</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2345" y="815697"/>
            <a:ext cx="12852916" cy="591383"/>
          </a:xfrm>
          <a:prstGeom prst="rect">
            <a:avLst/>
          </a:prstGeom>
          <a:noFill/>
          <a:ln/>
        </p:spPr>
        <p:txBody>
          <a:bodyPr wrap="none" lIns="0" tIns="0" rIns="0" bIns="0" rtlCol="0" anchor="t"/>
          <a:lstStyle/>
          <a:p>
            <a:pPr marL="0" indent="0">
              <a:lnSpc>
                <a:spcPts val="4650"/>
              </a:lnSpc>
              <a:buNone/>
            </a:pPr>
            <a:r>
              <a:rPr lang="en-US" sz="3700" dirty="0">
                <a:solidFill>
                  <a:srgbClr val="030303"/>
                </a:solidFill>
                <a:latin typeface="DM Sans Semi Bold" pitchFamily="34" charset="0"/>
                <a:ea typeface="DM Sans Semi Bold" pitchFamily="34" charset="-122"/>
                <a:cs typeface="DM Sans Semi Bold" pitchFamily="34" charset="-120"/>
              </a:rPr>
              <a:t>Advantages and Limitations of PCA for Feature Selection</a:t>
            </a:r>
            <a:endParaRPr lang="en-US" sz="3700" dirty="0"/>
          </a:p>
        </p:txBody>
      </p:sp>
      <p:sp>
        <p:nvSpPr>
          <p:cNvPr id="3" name="Text 1"/>
          <p:cNvSpPr/>
          <p:nvPr/>
        </p:nvSpPr>
        <p:spPr>
          <a:xfrm>
            <a:off x="662345" y="1879997"/>
            <a:ext cx="6510933" cy="624483"/>
          </a:xfrm>
          <a:prstGeom prst="rect">
            <a:avLst/>
          </a:prstGeom>
          <a:noFill/>
          <a:ln/>
        </p:spPr>
        <p:txBody>
          <a:bodyPr wrap="none" lIns="0" tIns="0" rIns="0" bIns="0" rtlCol="0" anchor="t"/>
          <a:lstStyle/>
          <a:p>
            <a:pPr marL="0" indent="0" algn="ctr">
              <a:lnSpc>
                <a:spcPts val="4900"/>
              </a:lnSpc>
              <a:buNone/>
            </a:pPr>
            <a:r>
              <a:rPr lang="en-US" sz="4900" dirty="0">
                <a:solidFill>
                  <a:srgbClr val="464646"/>
                </a:solidFill>
                <a:latin typeface="DM Sans Semi Bold" pitchFamily="34" charset="0"/>
                <a:ea typeface="DM Sans Semi Bold" pitchFamily="34" charset="-122"/>
                <a:cs typeface="DM Sans Semi Bold" pitchFamily="34" charset="-120"/>
              </a:rPr>
              <a:t>90%</a:t>
            </a:r>
            <a:endParaRPr lang="en-US" sz="4900" dirty="0"/>
          </a:p>
        </p:txBody>
      </p:sp>
      <p:sp>
        <p:nvSpPr>
          <p:cNvPr id="4" name="Text 2"/>
          <p:cNvSpPr/>
          <p:nvPr/>
        </p:nvSpPr>
        <p:spPr>
          <a:xfrm>
            <a:off x="2734985" y="2740938"/>
            <a:ext cx="2365534" cy="295632"/>
          </a:xfrm>
          <a:prstGeom prst="rect">
            <a:avLst/>
          </a:prstGeom>
          <a:noFill/>
          <a:ln/>
        </p:spPr>
        <p:txBody>
          <a:bodyPr wrap="none" lIns="0" tIns="0" rIns="0" bIns="0" rtlCol="0" anchor="t"/>
          <a:lstStyle/>
          <a:p>
            <a:pPr marL="0" indent="0" algn="ctr">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Variance Retention</a:t>
            </a:r>
            <a:endParaRPr lang="en-US" sz="1850" dirty="0"/>
          </a:p>
        </p:txBody>
      </p:sp>
      <p:sp>
        <p:nvSpPr>
          <p:cNvPr id="5" name="Text 3"/>
          <p:cNvSpPr/>
          <p:nvPr/>
        </p:nvSpPr>
        <p:spPr>
          <a:xfrm>
            <a:off x="662345" y="3150037"/>
            <a:ext cx="6510933" cy="605314"/>
          </a:xfrm>
          <a:prstGeom prst="rect">
            <a:avLst/>
          </a:prstGeom>
          <a:noFill/>
          <a:ln/>
        </p:spPr>
        <p:txBody>
          <a:bodyPr wrap="square" lIns="0" tIns="0" rIns="0" bIns="0" rtlCol="0" anchor="t"/>
          <a:lstStyle/>
          <a:p>
            <a:pPr marL="0" indent="0" algn="ctr">
              <a:lnSpc>
                <a:spcPts val="2350"/>
              </a:lnSpc>
              <a:buNone/>
            </a:pPr>
            <a:r>
              <a:rPr lang="en-US" sz="1450" dirty="0">
                <a:solidFill>
                  <a:srgbClr val="464646"/>
                </a:solidFill>
                <a:latin typeface="Inter Medium" pitchFamily="34" charset="0"/>
                <a:ea typeface="Inter Medium" pitchFamily="34" charset="-122"/>
                <a:cs typeface="Inter Medium" pitchFamily="34" charset="-120"/>
              </a:rPr>
              <a:t>PCA can often retain 90% or more of the original data variance with significantly fewer dimensions.</a:t>
            </a:r>
            <a:endParaRPr lang="en-US" sz="1450" dirty="0"/>
          </a:p>
        </p:txBody>
      </p:sp>
      <p:sp>
        <p:nvSpPr>
          <p:cNvPr id="6" name="Text 4"/>
          <p:cNvSpPr/>
          <p:nvPr/>
        </p:nvSpPr>
        <p:spPr>
          <a:xfrm>
            <a:off x="7457123" y="1879997"/>
            <a:ext cx="6510933" cy="624483"/>
          </a:xfrm>
          <a:prstGeom prst="rect">
            <a:avLst/>
          </a:prstGeom>
          <a:noFill/>
          <a:ln/>
        </p:spPr>
        <p:txBody>
          <a:bodyPr wrap="none" lIns="0" tIns="0" rIns="0" bIns="0" rtlCol="0" anchor="t"/>
          <a:lstStyle/>
          <a:p>
            <a:pPr marL="0" indent="0" algn="ctr">
              <a:lnSpc>
                <a:spcPts val="4900"/>
              </a:lnSpc>
              <a:buNone/>
            </a:pPr>
            <a:r>
              <a:rPr lang="en-US" sz="4900" dirty="0">
                <a:solidFill>
                  <a:srgbClr val="464646"/>
                </a:solidFill>
                <a:latin typeface="DM Sans Semi Bold" pitchFamily="34" charset="0"/>
                <a:ea typeface="DM Sans Semi Bold" pitchFamily="34" charset="-122"/>
                <a:cs typeface="DM Sans Semi Bold" pitchFamily="34" charset="-120"/>
              </a:rPr>
              <a:t>10x</a:t>
            </a:r>
            <a:endParaRPr lang="en-US" sz="4900" dirty="0"/>
          </a:p>
        </p:txBody>
      </p:sp>
      <p:sp>
        <p:nvSpPr>
          <p:cNvPr id="7" name="Text 5"/>
          <p:cNvSpPr/>
          <p:nvPr/>
        </p:nvSpPr>
        <p:spPr>
          <a:xfrm>
            <a:off x="9318784" y="2740938"/>
            <a:ext cx="2787610" cy="295632"/>
          </a:xfrm>
          <a:prstGeom prst="rect">
            <a:avLst/>
          </a:prstGeom>
          <a:noFill/>
          <a:ln/>
        </p:spPr>
        <p:txBody>
          <a:bodyPr wrap="none" lIns="0" tIns="0" rIns="0" bIns="0" rtlCol="0" anchor="t"/>
          <a:lstStyle/>
          <a:p>
            <a:pPr marL="0" indent="0" algn="ctr">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Computational Speedup</a:t>
            </a:r>
            <a:endParaRPr lang="en-US" sz="1850" dirty="0"/>
          </a:p>
        </p:txBody>
      </p:sp>
      <p:sp>
        <p:nvSpPr>
          <p:cNvPr id="8" name="Text 6"/>
          <p:cNvSpPr/>
          <p:nvPr/>
        </p:nvSpPr>
        <p:spPr>
          <a:xfrm>
            <a:off x="7457123" y="3150037"/>
            <a:ext cx="6510933" cy="605314"/>
          </a:xfrm>
          <a:prstGeom prst="rect">
            <a:avLst/>
          </a:prstGeom>
          <a:noFill/>
          <a:ln/>
        </p:spPr>
        <p:txBody>
          <a:bodyPr wrap="square" lIns="0" tIns="0" rIns="0" bIns="0" rtlCol="0" anchor="t"/>
          <a:lstStyle/>
          <a:p>
            <a:pPr marL="0" indent="0" algn="ctr">
              <a:lnSpc>
                <a:spcPts val="2350"/>
              </a:lnSpc>
              <a:buNone/>
            </a:pPr>
            <a:r>
              <a:rPr lang="en-US" sz="1450" dirty="0">
                <a:solidFill>
                  <a:srgbClr val="464646"/>
                </a:solidFill>
                <a:latin typeface="Inter Medium" pitchFamily="34" charset="0"/>
                <a:ea typeface="Inter Medium" pitchFamily="34" charset="-122"/>
                <a:cs typeface="Inter Medium" pitchFamily="34" charset="-120"/>
              </a:rPr>
              <a:t>Machine learning models can run up to 10 times faster with PCA-selected features on large datasets.</a:t>
            </a:r>
            <a:endParaRPr lang="en-US" sz="1450" dirty="0"/>
          </a:p>
        </p:txBody>
      </p:sp>
      <p:sp>
        <p:nvSpPr>
          <p:cNvPr id="9" name="Text 7"/>
          <p:cNvSpPr/>
          <p:nvPr/>
        </p:nvSpPr>
        <p:spPr>
          <a:xfrm>
            <a:off x="662345" y="4417576"/>
            <a:ext cx="6510933" cy="624483"/>
          </a:xfrm>
          <a:prstGeom prst="rect">
            <a:avLst/>
          </a:prstGeom>
          <a:noFill/>
          <a:ln/>
        </p:spPr>
        <p:txBody>
          <a:bodyPr wrap="none" lIns="0" tIns="0" rIns="0" bIns="0" rtlCol="0" anchor="t"/>
          <a:lstStyle/>
          <a:p>
            <a:pPr marL="0" indent="0" algn="ctr">
              <a:lnSpc>
                <a:spcPts val="4900"/>
              </a:lnSpc>
              <a:buNone/>
            </a:pPr>
            <a:r>
              <a:rPr lang="en-US" sz="4900" dirty="0">
                <a:solidFill>
                  <a:srgbClr val="464646"/>
                </a:solidFill>
                <a:latin typeface="DM Sans Semi Bold" pitchFamily="34" charset="0"/>
                <a:ea typeface="DM Sans Semi Bold" pitchFamily="34" charset="-122"/>
                <a:cs typeface="DM Sans Semi Bold" pitchFamily="34" charset="-120"/>
              </a:rPr>
              <a:t>0</a:t>
            </a:r>
            <a:endParaRPr lang="en-US" sz="4900" dirty="0"/>
          </a:p>
        </p:txBody>
      </p:sp>
      <p:sp>
        <p:nvSpPr>
          <p:cNvPr id="10" name="Text 8"/>
          <p:cNvSpPr/>
          <p:nvPr/>
        </p:nvSpPr>
        <p:spPr>
          <a:xfrm>
            <a:off x="2734985" y="5278517"/>
            <a:ext cx="2365534" cy="295632"/>
          </a:xfrm>
          <a:prstGeom prst="rect">
            <a:avLst/>
          </a:prstGeom>
          <a:noFill/>
          <a:ln/>
        </p:spPr>
        <p:txBody>
          <a:bodyPr wrap="none" lIns="0" tIns="0" rIns="0" bIns="0" rtlCol="0" anchor="t"/>
          <a:lstStyle/>
          <a:p>
            <a:pPr marL="0" indent="0" algn="ctr">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Correlation Handling</a:t>
            </a:r>
            <a:endParaRPr lang="en-US" sz="1850" dirty="0"/>
          </a:p>
        </p:txBody>
      </p:sp>
      <p:sp>
        <p:nvSpPr>
          <p:cNvPr id="11" name="Text 9"/>
          <p:cNvSpPr/>
          <p:nvPr/>
        </p:nvSpPr>
        <p:spPr>
          <a:xfrm>
            <a:off x="662345" y="5687616"/>
            <a:ext cx="6510933" cy="605314"/>
          </a:xfrm>
          <a:prstGeom prst="rect">
            <a:avLst/>
          </a:prstGeom>
          <a:noFill/>
          <a:ln/>
        </p:spPr>
        <p:txBody>
          <a:bodyPr wrap="square" lIns="0" tIns="0" rIns="0" bIns="0" rtlCol="0" anchor="t"/>
          <a:lstStyle/>
          <a:p>
            <a:pPr marL="0" indent="0" algn="ctr">
              <a:lnSpc>
                <a:spcPts val="2350"/>
              </a:lnSpc>
              <a:buNone/>
            </a:pPr>
            <a:r>
              <a:rPr lang="en-US" sz="1450" dirty="0">
                <a:solidFill>
                  <a:srgbClr val="464646"/>
                </a:solidFill>
                <a:latin typeface="Inter Medium" pitchFamily="34" charset="0"/>
                <a:ea typeface="Inter Medium" pitchFamily="34" charset="-122"/>
                <a:cs typeface="Inter Medium" pitchFamily="34" charset="-120"/>
              </a:rPr>
              <a:t>PCA completely removes correlation between features, eliminating redundancy in the data.</a:t>
            </a:r>
            <a:endParaRPr lang="en-US" sz="1450" dirty="0"/>
          </a:p>
        </p:txBody>
      </p:sp>
      <p:sp>
        <p:nvSpPr>
          <p:cNvPr id="12" name="Text 10"/>
          <p:cNvSpPr/>
          <p:nvPr/>
        </p:nvSpPr>
        <p:spPr>
          <a:xfrm>
            <a:off x="7457123" y="4417576"/>
            <a:ext cx="6510933" cy="624483"/>
          </a:xfrm>
          <a:prstGeom prst="rect">
            <a:avLst/>
          </a:prstGeom>
          <a:noFill/>
          <a:ln/>
        </p:spPr>
        <p:txBody>
          <a:bodyPr wrap="none" lIns="0" tIns="0" rIns="0" bIns="0" rtlCol="0" anchor="t"/>
          <a:lstStyle/>
          <a:p>
            <a:pPr marL="0" indent="0" algn="ctr">
              <a:lnSpc>
                <a:spcPts val="4900"/>
              </a:lnSpc>
              <a:buNone/>
            </a:pPr>
            <a:r>
              <a:rPr lang="en-US" sz="4900" dirty="0">
                <a:solidFill>
                  <a:srgbClr val="464646"/>
                </a:solidFill>
                <a:latin typeface="DM Sans Semi Bold" pitchFamily="34" charset="0"/>
                <a:ea typeface="DM Sans Semi Bold" pitchFamily="34" charset="-122"/>
                <a:cs typeface="DM Sans Semi Bold" pitchFamily="34" charset="-120"/>
              </a:rPr>
              <a:t>40%</a:t>
            </a:r>
            <a:endParaRPr lang="en-US" sz="4900" dirty="0"/>
          </a:p>
        </p:txBody>
      </p:sp>
      <p:sp>
        <p:nvSpPr>
          <p:cNvPr id="13" name="Text 11"/>
          <p:cNvSpPr/>
          <p:nvPr/>
        </p:nvSpPr>
        <p:spPr>
          <a:xfrm>
            <a:off x="9529763" y="5278517"/>
            <a:ext cx="2365534" cy="295632"/>
          </a:xfrm>
          <a:prstGeom prst="rect">
            <a:avLst/>
          </a:prstGeom>
          <a:noFill/>
          <a:ln/>
        </p:spPr>
        <p:txBody>
          <a:bodyPr wrap="none" lIns="0" tIns="0" rIns="0" bIns="0" rtlCol="0" anchor="t"/>
          <a:lstStyle/>
          <a:p>
            <a:pPr marL="0" indent="0" algn="ctr">
              <a:lnSpc>
                <a:spcPts val="2300"/>
              </a:lnSpc>
              <a:buNone/>
            </a:pPr>
            <a:r>
              <a:rPr lang="en-US" sz="1850" dirty="0">
                <a:solidFill>
                  <a:srgbClr val="464646"/>
                </a:solidFill>
                <a:latin typeface="DM Sans Semi Bold" pitchFamily="34" charset="0"/>
                <a:ea typeface="DM Sans Semi Bold" pitchFamily="34" charset="-122"/>
                <a:cs typeface="DM Sans Semi Bold" pitchFamily="34" charset="-120"/>
              </a:rPr>
              <a:t>Interpretability Loss</a:t>
            </a:r>
            <a:endParaRPr lang="en-US" sz="1850" dirty="0"/>
          </a:p>
        </p:txBody>
      </p:sp>
      <p:sp>
        <p:nvSpPr>
          <p:cNvPr id="14" name="Text 12"/>
          <p:cNvSpPr/>
          <p:nvPr/>
        </p:nvSpPr>
        <p:spPr>
          <a:xfrm>
            <a:off x="7457123" y="5687616"/>
            <a:ext cx="6510933" cy="605314"/>
          </a:xfrm>
          <a:prstGeom prst="rect">
            <a:avLst/>
          </a:prstGeom>
          <a:noFill/>
          <a:ln/>
        </p:spPr>
        <p:txBody>
          <a:bodyPr wrap="square" lIns="0" tIns="0" rIns="0" bIns="0" rtlCol="0" anchor="t"/>
          <a:lstStyle/>
          <a:p>
            <a:pPr marL="0" indent="0" algn="ctr">
              <a:lnSpc>
                <a:spcPts val="2350"/>
              </a:lnSpc>
              <a:buNone/>
            </a:pPr>
            <a:r>
              <a:rPr lang="en-US" sz="1450" dirty="0">
                <a:solidFill>
                  <a:srgbClr val="464646"/>
                </a:solidFill>
                <a:latin typeface="Inter Medium" pitchFamily="34" charset="0"/>
                <a:ea typeface="Inter Medium" pitchFamily="34" charset="-122"/>
                <a:cs typeface="Inter Medium" pitchFamily="34" charset="-120"/>
              </a:rPr>
              <a:t>Up to 40% of data scientists report challenges in interpreting models built on principal components rather than original features.</a:t>
            </a:r>
            <a:endParaRPr lang="en-US" sz="1450" dirty="0"/>
          </a:p>
        </p:txBody>
      </p:sp>
      <p:sp>
        <p:nvSpPr>
          <p:cNvPr id="15" name="Text 13"/>
          <p:cNvSpPr/>
          <p:nvPr/>
        </p:nvSpPr>
        <p:spPr>
          <a:xfrm>
            <a:off x="662345" y="6505813"/>
            <a:ext cx="13305711" cy="907971"/>
          </a:xfrm>
          <a:prstGeom prst="rect">
            <a:avLst/>
          </a:prstGeom>
          <a:noFill/>
          <a:ln/>
        </p:spPr>
        <p:txBody>
          <a:bodyPr wrap="square" lIns="0" tIns="0" rIns="0" bIns="0" rtlCol="0" anchor="t"/>
          <a:lstStyle/>
          <a:p>
            <a:pPr marL="0" indent="0">
              <a:lnSpc>
                <a:spcPts val="2350"/>
              </a:lnSpc>
              <a:buNone/>
            </a:pPr>
            <a:r>
              <a:rPr lang="en-US" sz="1450" dirty="0">
                <a:solidFill>
                  <a:srgbClr val="464646"/>
                </a:solidFill>
                <a:latin typeface="Inter Medium" pitchFamily="34" charset="0"/>
                <a:ea typeface="Inter Medium" pitchFamily="34" charset="-122"/>
                <a:cs typeface="Inter Medium" pitchFamily="34" charset="-120"/>
              </a:rPr>
              <a:t>While PCA excels at dimensionality reduction and handling correlated features, it transforms the original feature space, which can make interpretation more difficult. Additionally, PCA is sensitive to scaling and focuses on variance rather than class separation, which may not be optimal for all machine learning tasks.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33638" y="419338"/>
            <a:ext cx="8025289" cy="476488"/>
          </a:xfrm>
          <a:prstGeom prst="rect">
            <a:avLst/>
          </a:prstGeom>
          <a:noFill/>
          <a:ln/>
        </p:spPr>
        <p:txBody>
          <a:bodyPr wrap="none" lIns="0" tIns="0" rIns="0" bIns="0" rtlCol="0" anchor="t"/>
          <a:lstStyle/>
          <a:p>
            <a:pPr marL="0" indent="0">
              <a:lnSpc>
                <a:spcPts val="3750"/>
              </a:lnSpc>
              <a:buNone/>
            </a:pPr>
            <a:r>
              <a:rPr lang="en-US" sz="3000" dirty="0">
                <a:solidFill>
                  <a:srgbClr val="030303"/>
                </a:solidFill>
                <a:latin typeface="DM Sans Semi Bold" pitchFamily="34" charset="0"/>
                <a:ea typeface="DM Sans Semi Bold" pitchFamily="34" charset="-122"/>
                <a:cs typeface="DM Sans Semi Bold" pitchFamily="34" charset="-120"/>
              </a:rPr>
              <a:t>PCA vs. Other Feature Selection Techniques</a:t>
            </a:r>
            <a:endParaRPr lang="en-US" sz="3000" dirty="0"/>
          </a:p>
        </p:txBody>
      </p:sp>
      <p:pic>
        <p:nvPicPr>
          <p:cNvPr id="3" name="Image 0" descr="preencoded.png"/>
          <p:cNvPicPr>
            <a:picLocks noChangeAspect="1"/>
          </p:cNvPicPr>
          <p:nvPr/>
        </p:nvPicPr>
        <p:blipFill>
          <a:blip r:embed="rId3"/>
          <a:stretch>
            <a:fillRect/>
          </a:stretch>
        </p:blipFill>
        <p:spPr>
          <a:xfrm>
            <a:off x="533638" y="1200745"/>
            <a:ext cx="9117925" cy="4648438"/>
          </a:xfrm>
          <a:prstGeom prst="rect">
            <a:avLst/>
          </a:prstGeom>
        </p:spPr>
      </p:pic>
      <p:sp>
        <p:nvSpPr>
          <p:cNvPr id="4" name="Shape 1"/>
          <p:cNvSpPr/>
          <p:nvPr/>
        </p:nvSpPr>
        <p:spPr>
          <a:xfrm>
            <a:off x="2791897" y="5849183"/>
            <a:ext cx="152400" cy="152400"/>
          </a:xfrm>
          <a:prstGeom prst="roundRect">
            <a:avLst>
              <a:gd name="adj" fmla="val 12000"/>
            </a:avLst>
          </a:prstGeom>
          <a:solidFill>
            <a:srgbClr val="0C4130"/>
          </a:solidFill>
          <a:ln/>
        </p:spPr>
      </p:sp>
      <p:sp>
        <p:nvSpPr>
          <p:cNvPr id="5" name="Text 2"/>
          <p:cNvSpPr/>
          <p:nvPr/>
        </p:nvSpPr>
        <p:spPr>
          <a:xfrm>
            <a:off x="3005257" y="5849183"/>
            <a:ext cx="466011" cy="152400"/>
          </a:xfrm>
          <a:prstGeom prst="rect">
            <a:avLst/>
          </a:prstGeom>
          <a:noFill/>
          <a:ln/>
        </p:spPr>
        <p:txBody>
          <a:bodyPr wrap="none" lIns="0" tIns="0" rIns="0" bIns="0" rtlCol="0" anchor="t"/>
          <a:lstStyle/>
          <a:p>
            <a:pPr marL="0" indent="0" algn="l">
              <a:lnSpc>
                <a:spcPts val="1200"/>
              </a:lnSpc>
              <a:buNone/>
            </a:pPr>
            <a:r>
              <a:rPr lang="en-US" sz="1200" dirty="0">
                <a:solidFill>
                  <a:srgbClr val="464646"/>
                </a:solidFill>
                <a:latin typeface="Inter Medium" pitchFamily="34" charset="0"/>
                <a:ea typeface="Inter Medium" pitchFamily="34" charset="-122"/>
                <a:cs typeface="Inter Medium" pitchFamily="34" charset="-120"/>
              </a:rPr>
              <a:t>Speed</a:t>
            </a:r>
            <a:endParaRPr lang="en-US" sz="1200" dirty="0"/>
          </a:p>
        </p:txBody>
      </p:sp>
      <p:sp>
        <p:nvSpPr>
          <p:cNvPr id="6" name="Shape 3"/>
          <p:cNvSpPr/>
          <p:nvPr/>
        </p:nvSpPr>
        <p:spPr>
          <a:xfrm>
            <a:off x="4453295" y="5849183"/>
            <a:ext cx="152400" cy="152400"/>
          </a:xfrm>
          <a:prstGeom prst="roundRect">
            <a:avLst>
              <a:gd name="adj" fmla="val 12000"/>
            </a:avLst>
          </a:prstGeom>
          <a:solidFill>
            <a:srgbClr val="126248"/>
          </a:solidFill>
          <a:ln/>
        </p:spPr>
      </p:sp>
      <p:sp>
        <p:nvSpPr>
          <p:cNvPr id="7" name="Text 4"/>
          <p:cNvSpPr/>
          <p:nvPr/>
        </p:nvSpPr>
        <p:spPr>
          <a:xfrm>
            <a:off x="4666655" y="5849183"/>
            <a:ext cx="1065014" cy="152400"/>
          </a:xfrm>
          <a:prstGeom prst="rect">
            <a:avLst/>
          </a:prstGeom>
          <a:noFill/>
          <a:ln/>
        </p:spPr>
        <p:txBody>
          <a:bodyPr wrap="none" lIns="0" tIns="0" rIns="0" bIns="0" rtlCol="0" anchor="t"/>
          <a:lstStyle/>
          <a:p>
            <a:pPr marL="0" indent="0" algn="l">
              <a:lnSpc>
                <a:spcPts val="1200"/>
              </a:lnSpc>
              <a:buNone/>
            </a:pPr>
            <a:r>
              <a:rPr lang="en-US" sz="1200" dirty="0">
                <a:solidFill>
                  <a:srgbClr val="464646"/>
                </a:solidFill>
                <a:latin typeface="Inter Medium" pitchFamily="34" charset="0"/>
                <a:ea typeface="Inter Medium" pitchFamily="34" charset="-122"/>
                <a:cs typeface="Inter Medium" pitchFamily="34" charset="-120"/>
              </a:rPr>
              <a:t>Interpretability</a:t>
            </a:r>
            <a:endParaRPr lang="en-US" sz="1200" dirty="0"/>
          </a:p>
        </p:txBody>
      </p:sp>
      <p:sp>
        <p:nvSpPr>
          <p:cNvPr id="8" name="Shape 5"/>
          <p:cNvSpPr/>
          <p:nvPr/>
        </p:nvSpPr>
        <p:spPr>
          <a:xfrm>
            <a:off x="6713815" y="5849183"/>
            <a:ext cx="152400" cy="152400"/>
          </a:xfrm>
          <a:prstGeom prst="roundRect">
            <a:avLst>
              <a:gd name="adj" fmla="val 12000"/>
            </a:avLst>
          </a:prstGeom>
          <a:solidFill>
            <a:srgbClr val="188261"/>
          </a:solidFill>
          <a:ln/>
        </p:spPr>
      </p:sp>
      <p:sp>
        <p:nvSpPr>
          <p:cNvPr id="9" name="Text 6"/>
          <p:cNvSpPr/>
          <p:nvPr/>
        </p:nvSpPr>
        <p:spPr>
          <a:xfrm>
            <a:off x="6927175" y="5849183"/>
            <a:ext cx="1445776" cy="152400"/>
          </a:xfrm>
          <a:prstGeom prst="rect">
            <a:avLst/>
          </a:prstGeom>
          <a:noFill/>
          <a:ln/>
        </p:spPr>
        <p:txBody>
          <a:bodyPr wrap="none" lIns="0" tIns="0" rIns="0" bIns="0" rtlCol="0" anchor="t"/>
          <a:lstStyle/>
          <a:p>
            <a:pPr marL="0" indent="0" algn="l">
              <a:lnSpc>
                <a:spcPts val="1200"/>
              </a:lnSpc>
              <a:buNone/>
            </a:pPr>
            <a:r>
              <a:rPr lang="en-US" sz="1200" dirty="0">
                <a:solidFill>
                  <a:srgbClr val="464646"/>
                </a:solidFill>
                <a:latin typeface="Inter Medium" pitchFamily="34" charset="0"/>
                <a:ea typeface="Inter Medium" pitchFamily="34" charset="-122"/>
                <a:cs typeface="Inter Medium" pitchFamily="34" charset="-120"/>
              </a:rPr>
              <a:t>Handles Correlation</a:t>
            </a:r>
            <a:endParaRPr lang="en-US" sz="1200" dirty="0"/>
          </a:p>
        </p:txBody>
      </p:sp>
      <p:sp>
        <p:nvSpPr>
          <p:cNvPr id="10" name="Text 7"/>
          <p:cNvSpPr/>
          <p:nvPr/>
        </p:nvSpPr>
        <p:spPr>
          <a:xfrm>
            <a:off x="533638" y="6478191"/>
            <a:ext cx="13563124" cy="731877"/>
          </a:xfrm>
          <a:prstGeom prst="rect">
            <a:avLst/>
          </a:prstGeom>
          <a:noFill/>
          <a:ln/>
        </p:spPr>
        <p:txBody>
          <a:bodyPr wrap="square" lIns="0" tIns="0" rIns="0" bIns="0" rtlCol="0" anchor="t"/>
          <a:lstStyle/>
          <a:p>
            <a:pPr marL="0" indent="0">
              <a:lnSpc>
                <a:spcPts val="1900"/>
              </a:lnSpc>
              <a:buNone/>
            </a:pPr>
            <a:r>
              <a:rPr lang="en-US" sz="1200" dirty="0">
                <a:solidFill>
                  <a:srgbClr val="464646"/>
                </a:solidFill>
                <a:latin typeface="Inter Medium" pitchFamily="34" charset="0"/>
                <a:ea typeface="Inter Medium" pitchFamily="34" charset="-122"/>
                <a:cs typeface="Inter Medium" pitchFamily="34" charset="-120"/>
              </a:rPr>
              <a:t>PCA excels at handling correlated features and offers good computational efficiency compared to other feature selection methods. Filter methods like variance thresholding are faster but don't address feature correlations effectively. Wrapper methods provide high-quality feature subsets but are computationally expensive. Embedded methods like LASSO offer a middle ground.</a:t>
            </a:r>
            <a:endParaRPr lang="en-US" sz="1200" dirty="0"/>
          </a:p>
        </p:txBody>
      </p:sp>
      <p:sp>
        <p:nvSpPr>
          <p:cNvPr id="11" name="Text 8"/>
          <p:cNvSpPr/>
          <p:nvPr/>
        </p:nvSpPr>
        <p:spPr>
          <a:xfrm>
            <a:off x="533638" y="7381518"/>
            <a:ext cx="13563124" cy="487918"/>
          </a:xfrm>
          <a:prstGeom prst="rect">
            <a:avLst/>
          </a:prstGeom>
          <a:noFill/>
          <a:ln/>
        </p:spPr>
        <p:txBody>
          <a:bodyPr wrap="square" lIns="0" tIns="0" rIns="0" bIns="0" rtlCol="0" anchor="t"/>
          <a:lstStyle/>
          <a:p>
            <a:pPr marL="0" indent="0">
              <a:lnSpc>
                <a:spcPts val="1900"/>
              </a:lnSpc>
              <a:buNone/>
            </a:pPr>
            <a:r>
              <a:rPr lang="en-US" sz="1200" dirty="0">
                <a:solidFill>
                  <a:srgbClr val="464646"/>
                </a:solidFill>
                <a:latin typeface="Inter Medium" pitchFamily="34" charset="0"/>
                <a:ea typeface="Inter Medium" pitchFamily="34" charset="-122"/>
                <a:cs typeface="Inter Medium" pitchFamily="34" charset="-120"/>
              </a:rPr>
              <a:t>The ideal approach often involves combining techniques. For example, using PCA to handle correlations followed by a wrapper method on the reduced feature set can leverage the strengths of multiple approaches.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25887" y="334566"/>
            <a:ext cx="8098155" cy="380167"/>
          </a:xfrm>
          <a:prstGeom prst="rect">
            <a:avLst/>
          </a:prstGeom>
          <a:noFill/>
          <a:ln/>
        </p:spPr>
        <p:txBody>
          <a:bodyPr wrap="none" lIns="0" tIns="0" rIns="0" bIns="0" rtlCol="0" anchor="t"/>
          <a:lstStyle/>
          <a:p>
            <a:pPr marL="0" indent="0">
              <a:lnSpc>
                <a:spcPts val="2950"/>
              </a:lnSpc>
              <a:buNone/>
            </a:pPr>
            <a:r>
              <a:rPr lang="en-US" sz="2350" dirty="0">
                <a:solidFill>
                  <a:srgbClr val="030303"/>
                </a:solidFill>
                <a:latin typeface="DM Sans Semi Bold" pitchFamily="34" charset="0"/>
                <a:ea typeface="DM Sans Semi Bold" pitchFamily="34" charset="-122"/>
                <a:cs typeface="DM Sans Semi Bold" pitchFamily="34" charset="-120"/>
              </a:rPr>
              <a:t>Implementing PCA for Feature Selection: Code Example</a:t>
            </a:r>
            <a:endParaRPr lang="en-US" sz="2350" dirty="0"/>
          </a:p>
        </p:txBody>
      </p:sp>
      <p:sp>
        <p:nvSpPr>
          <p:cNvPr id="3" name="Shape 1"/>
          <p:cNvSpPr/>
          <p:nvPr/>
        </p:nvSpPr>
        <p:spPr>
          <a:xfrm>
            <a:off x="425887" y="958096"/>
            <a:ext cx="13778627" cy="6411754"/>
          </a:xfrm>
          <a:prstGeom prst="roundRect">
            <a:avLst>
              <a:gd name="adj" fmla="val 285"/>
            </a:avLst>
          </a:prstGeom>
          <a:solidFill>
            <a:srgbClr val="D4F7EC"/>
          </a:solidFill>
          <a:ln/>
        </p:spPr>
      </p:sp>
      <p:sp>
        <p:nvSpPr>
          <p:cNvPr id="4" name="Shape 2"/>
          <p:cNvSpPr/>
          <p:nvPr/>
        </p:nvSpPr>
        <p:spPr>
          <a:xfrm>
            <a:off x="419814" y="958096"/>
            <a:ext cx="13790771" cy="6411754"/>
          </a:xfrm>
          <a:prstGeom prst="roundRect">
            <a:avLst>
              <a:gd name="adj" fmla="val 285"/>
            </a:avLst>
          </a:prstGeom>
          <a:solidFill>
            <a:srgbClr val="D4F7EC"/>
          </a:solidFill>
          <a:ln/>
        </p:spPr>
      </p:sp>
      <p:sp>
        <p:nvSpPr>
          <p:cNvPr id="5" name="Text 3"/>
          <p:cNvSpPr/>
          <p:nvPr/>
        </p:nvSpPr>
        <p:spPr>
          <a:xfrm>
            <a:off x="541496" y="1049298"/>
            <a:ext cx="13547408" cy="6229350"/>
          </a:xfrm>
          <a:prstGeom prst="rect">
            <a:avLst/>
          </a:prstGeom>
          <a:noFill/>
          <a:ln/>
        </p:spPr>
        <p:txBody>
          <a:bodyPr wrap="square" lIns="0" tIns="0" rIns="0" bIns="0" rtlCol="0" anchor="t"/>
          <a:lstStyle/>
          <a:p>
            <a:pPr marL="0" indent="0">
              <a:lnSpc>
                <a:spcPts val="1500"/>
              </a:lnSpc>
              <a:buNone/>
            </a:pPr>
            <a:r>
              <a:rPr lang="en-US" sz="950" dirty="0">
                <a:solidFill>
                  <a:srgbClr val="464646"/>
                </a:solidFill>
                <a:highlight>
                  <a:srgbClr val="D4F7EC"/>
                </a:highlight>
                <a:latin typeface="Consolas Medium" pitchFamily="34" charset="0"/>
                <a:ea typeface="Consolas Medium" pitchFamily="34" charset="-122"/>
                <a:cs typeface="Consolas Medium" pitchFamily="34" charset="-120"/>
              </a:rPr>
              <a:t># Python implementation of PCA for feature selection
import numpy as np
import pandas as pd
from sklearn.decomposition import PCA
from sklearn.preprocessing import StandardScaler
# Load and standardize data
X = pd.read_csv('data.csv')
scaler = StandardScaler()
X_scaled = scaler.fit_transform(X)
# Apply PCA
pca = PCA()
pca.fit(X_scaled)
X_pca = pca.transform(X_scaled)
# Analyze variance explained
explained_variance_ratio = pca.explained_variance_ratio_
cumulative_variance = np.cumsum(explained_variance_ratio)
# Select optimal number of components
n_components = np.argmax(cumulative_variance &gt;= 0.95) + 1
# Get feature importance from loadings
feature_importance = np.abs(pca.components_[:n_components]).sum(axis=0)
feature_names = X.columns
top_features = [feature_names[i] for i in np.argsort(feature_importance)[::-1]]
# Select top features
selected_features = top_features[:10]  # Select top 10 features
X_selected = X[selected_features]
</a:t>
            </a:r>
            <a:endParaRPr lang="en-US" sz="950" dirty="0"/>
          </a:p>
        </p:txBody>
      </p:sp>
      <p:sp>
        <p:nvSpPr>
          <p:cNvPr id="6" name="Text 4"/>
          <p:cNvSpPr/>
          <p:nvPr/>
        </p:nvSpPr>
        <p:spPr>
          <a:xfrm>
            <a:off x="425887" y="7506652"/>
            <a:ext cx="13778627" cy="389334"/>
          </a:xfrm>
          <a:prstGeom prst="rect">
            <a:avLst/>
          </a:prstGeom>
          <a:noFill/>
          <a:ln/>
        </p:spPr>
        <p:txBody>
          <a:bodyPr wrap="square" lIns="0" tIns="0" rIns="0" bIns="0" rtlCol="0" anchor="t"/>
          <a:lstStyle/>
          <a:p>
            <a:pPr marL="0" indent="0">
              <a:lnSpc>
                <a:spcPts val="1500"/>
              </a:lnSpc>
              <a:buNone/>
            </a:pPr>
            <a:r>
              <a:rPr lang="en-US" sz="950" dirty="0">
                <a:solidFill>
                  <a:srgbClr val="464646"/>
                </a:solidFill>
                <a:latin typeface="Inter Medium" pitchFamily="34" charset="0"/>
                <a:ea typeface="Inter Medium" pitchFamily="34" charset="-122"/>
                <a:cs typeface="Inter Medium" pitchFamily="34" charset="-120"/>
              </a:rPr>
              <a:t>This Python code demonstrates a practical implementation of PCA for feature selection. It standardizes the data, applies PCA, examines the cumulative variance to select the optimal number of components, and identifies the most important original features based on their loadings in the principal components.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44855" y="585192"/>
            <a:ext cx="7843480" cy="665083"/>
          </a:xfrm>
          <a:prstGeom prst="rect">
            <a:avLst/>
          </a:prstGeom>
          <a:noFill/>
          <a:ln/>
        </p:spPr>
        <p:txBody>
          <a:bodyPr wrap="none" lIns="0" tIns="0" rIns="0" bIns="0" rtlCol="0" anchor="t"/>
          <a:lstStyle/>
          <a:p>
            <a:pPr marL="0" indent="0">
              <a:lnSpc>
                <a:spcPts val="5200"/>
              </a:lnSpc>
              <a:buNone/>
            </a:pPr>
            <a:r>
              <a:rPr lang="en-US" sz="4150" dirty="0">
                <a:solidFill>
                  <a:srgbClr val="030303"/>
                </a:solidFill>
                <a:latin typeface="DM Sans Semi Bold" pitchFamily="34" charset="0"/>
                <a:ea typeface="DM Sans Semi Bold" pitchFamily="34" charset="-122"/>
                <a:cs typeface="DM Sans Semi Bold" pitchFamily="34" charset="-120"/>
              </a:rPr>
              <a:t>Key Takeaways and Next Steps</a:t>
            </a:r>
            <a:endParaRPr lang="en-US" sz="4150" dirty="0"/>
          </a:p>
        </p:txBody>
      </p:sp>
      <p:sp>
        <p:nvSpPr>
          <p:cNvPr id="3" name="Shape 1"/>
          <p:cNvSpPr/>
          <p:nvPr/>
        </p:nvSpPr>
        <p:spPr>
          <a:xfrm>
            <a:off x="744855" y="1675924"/>
            <a:ext cx="6464022" cy="2247662"/>
          </a:xfrm>
          <a:prstGeom prst="roundRect">
            <a:avLst>
              <a:gd name="adj" fmla="val 1420"/>
            </a:avLst>
          </a:prstGeom>
          <a:solidFill>
            <a:srgbClr val="F2EEEE"/>
          </a:solidFill>
          <a:ln/>
        </p:spPr>
      </p:sp>
      <p:sp>
        <p:nvSpPr>
          <p:cNvPr id="4" name="Text 2"/>
          <p:cNvSpPr/>
          <p:nvPr/>
        </p:nvSpPr>
        <p:spPr>
          <a:xfrm>
            <a:off x="957620" y="1888688"/>
            <a:ext cx="4014549" cy="332423"/>
          </a:xfrm>
          <a:prstGeom prst="rect">
            <a:avLst/>
          </a:prstGeom>
          <a:noFill/>
          <a:ln/>
        </p:spPr>
        <p:txBody>
          <a:bodyPr wrap="none" lIns="0" tIns="0" rIns="0" bIns="0" rtlCol="0" anchor="t"/>
          <a:lstStyle/>
          <a:p>
            <a:pPr marL="0" indent="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PCA is Powerful but Not Perfect</a:t>
            </a:r>
            <a:endParaRPr lang="en-US" sz="2050" dirty="0"/>
          </a:p>
        </p:txBody>
      </p:sp>
      <p:sp>
        <p:nvSpPr>
          <p:cNvPr id="5" name="Text 3"/>
          <p:cNvSpPr/>
          <p:nvPr/>
        </p:nvSpPr>
        <p:spPr>
          <a:xfrm>
            <a:off x="957620" y="2348746"/>
            <a:ext cx="6038493" cy="1362075"/>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PCA excels at dimensionality reduction and handling correlated features, but consider its limitations regarding interpretability and its focus on variance rather than class separation.</a:t>
            </a:r>
            <a:endParaRPr lang="en-US" sz="1650" dirty="0"/>
          </a:p>
        </p:txBody>
      </p:sp>
      <p:sp>
        <p:nvSpPr>
          <p:cNvPr id="6" name="Shape 4"/>
          <p:cNvSpPr/>
          <p:nvPr/>
        </p:nvSpPr>
        <p:spPr>
          <a:xfrm>
            <a:off x="7421642" y="1675924"/>
            <a:ext cx="6464022" cy="2247662"/>
          </a:xfrm>
          <a:prstGeom prst="roundRect">
            <a:avLst>
              <a:gd name="adj" fmla="val 1420"/>
            </a:avLst>
          </a:prstGeom>
          <a:solidFill>
            <a:srgbClr val="F2EEEE"/>
          </a:solidFill>
          <a:ln/>
        </p:spPr>
      </p:sp>
      <p:sp>
        <p:nvSpPr>
          <p:cNvPr id="7" name="Text 5"/>
          <p:cNvSpPr/>
          <p:nvPr/>
        </p:nvSpPr>
        <p:spPr>
          <a:xfrm>
            <a:off x="7634407" y="1888688"/>
            <a:ext cx="4306133" cy="332423"/>
          </a:xfrm>
          <a:prstGeom prst="rect">
            <a:avLst/>
          </a:prstGeom>
          <a:noFill/>
          <a:ln/>
        </p:spPr>
        <p:txBody>
          <a:bodyPr wrap="none" lIns="0" tIns="0" rIns="0" bIns="0" rtlCol="0" anchor="t"/>
          <a:lstStyle/>
          <a:p>
            <a:pPr marL="0" indent="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Choose the Right Implementation</a:t>
            </a:r>
            <a:endParaRPr lang="en-US" sz="2050" dirty="0"/>
          </a:p>
        </p:txBody>
      </p:sp>
      <p:sp>
        <p:nvSpPr>
          <p:cNvPr id="8" name="Text 6"/>
          <p:cNvSpPr/>
          <p:nvPr/>
        </p:nvSpPr>
        <p:spPr>
          <a:xfrm>
            <a:off x="7634407" y="2348746"/>
            <a:ext cx="6038493" cy="1362075"/>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Standardize your data before applying PCA. Select the number of components based on cumulative variance or validation performance. Consider domain knowledge when interpreting the results.</a:t>
            </a:r>
            <a:endParaRPr lang="en-US" sz="1650" dirty="0"/>
          </a:p>
        </p:txBody>
      </p:sp>
      <p:sp>
        <p:nvSpPr>
          <p:cNvPr id="9" name="Shape 7"/>
          <p:cNvSpPr/>
          <p:nvPr/>
        </p:nvSpPr>
        <p:spPr>
          <a:xfrm>
            <a:off x="744855" y="4136350"/>
            <a:ext cx="6464022" cy="2247662"/>
          </a:xfrm>
          <a:prstGeom prst="roundRect">
            <a:avLst>
              <a:gd name="adj" fmla="val 1420"/>
            </a:avLst>
          </a:prstGeom>
          <a:solidFill>
            <a:srgbClr val="F2EEEE"/>
          </a:solidFill>
          <a:ln/>
        </p:spPr>
      </p:sp>
      <p:sp>
        <p:nvSpPr>
          <p:cNvPr id="10" name="Text 8"/>
          <p:cNvSpPr/>
          <p:nvPr/>
        </p:nvSpPr>
        <p:spPr>
          <a:xfrm>
            <a:off x="957620" y="4349115"/>
            <a:ext cx="4126230" cy="332423"/>
          </a:xfrm>
          <a:prstGeom prst="rect">
            <a:avLst/>
          </a:prstGeom>
          <a:noFill/>
          <a:ln/>
        </p:spPr>
        <p:txBody>
          <a:bodyPr wrap="none" lIns="0" tIns="0" rIns="0" bIns="0" rtlCol="0" anchor="t"/>
          <a:lstStyle/>
          <a:p>
            <a:pPr marL="0" indent="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Combine with Other Techniques</a:t>
            </a:r>
            <a:endParaRPr lang="en-US" sz="2050" dirty="0"/>
          </a:p>
        </p:txBody>
      </p:sp>
      <p:sp>
        <p:nvSpPr>
          <p:cNvPr id="11" name="Text 9"/>
          <p:cNvSpPr/>
          <p:nvPr/>
        </p:nvSpPr>
        <p:spPr>
          <a:xfrm>
            <a:off x="957620" y="4809173"/>
            <a:ext cx="6038493" cy="1362075"/>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For optimal results, consider using PCA in conjunction with other feature selection methods. PCA can be a preprocessing step before applying filter, wrapper, or embedded methods.</a:t>
            </a:r>
            <a:endParaRPr lang="en-US" sz="1650" dirty="0"/>
          </a:p>
        </p:txBody>
      </p:sp>
      <p:sp>
        <p:nvSpPr>
          <p:cNvPr id="12" name="Shape 10"/>
          <p:cNvSpPr/>
          <p:nvPr/>
        </p:nvSpPr>
        <p:spPr>
          <a:xfrm>
            <a:off x="7421642" y="4136350"/>
            <a:ext cx="6464022" cy="2247662"/>
          </a:xfrm>
          <a:prstGeom prst="roundRect">
            <a:avLst>
              <a:gd name="adj" fmla="val 1420"/>
            </a:avLst>
          </a:prstGeom>
          <a:solidFill>
            <a:srgbClr val="F2EEEE"/>
          </a:solidFill>
          <a:ln/>
        </p:spPr>
      </p:sp>
      <p:sp>
        <p:nvSpPr>
          <p:cNvPr id="13" name="Text 11"/>
          <p:cNvSpPr/>
          <p:nvPr/>
        </p:nvSpPr>
        <p:spPr>
          <a:xfrm>
            <a:off x="7634407" y="4349115"/>
            <a:ext cx="3935849" cy="332423"/>
          </a:xfrm>
          <a:prstGeom prst="rect">
            <a:avLst/>
          </a:prstGeom>
          <a:noFill/>
          <a:ln/>
        </p:spPr>
        <p:txBody>
          <a:bodyPr wrap="none" lIns="0" tIns="0" rIns="0" bIns="0" rtlCol="0" anchor="t"/>
          <a:lstStyle/>
          <a:p>
            <a:pPr marL="0" indent="0">
              <a:lnSpc>
                <a:spcPts val="2600"/>
              </a:lnSpc>
              <a:buNone/>
            </a:pPr>
            <a:r>
              <a:rPr lang="en-US" sz="2050" dirty="0">
                <a:solidFill>
                  <a:srgbClr val="464646"/>
                </a:solidFill>
                <a:latin typeface="DM Sans Semi Bold" pitchFamily="34" charset="0"/>
                <a:ea typeface="DM Sans Semi Bold" pitchFamily="34" charset="-122"/>
                <a:cs typeface="DM Sans Semi Bold" pitchFamily="34" charset="-120"/>
              </a:rPr>
              <a:t>Evaluate on Downstream Tasks</a:t>
            </a:r>
            <a:endParaRPr lang="en-US" sz="2050" dirty="0"/>
          </a:p>
        </p:txBody>
      </p:sp>
      <p:sp>
        <p:nvSpPr>
          <p:cNvPr id="14" name="Text 12"/>
          <p:cNvSpPr/>
          <p:nvPr/>
        </p:nvSpPr>
        <p:spPr>
          <a:xfrm>
            <a:off x="7634407" y="4809173"/>
            <a:ext cx="6038493" cy="1021556"/>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Always validate the effectiveness of your feature selection by evaluating performance on the downstream task, whether it's classification, regression, or clustering.</a:t>
            </a:r>
            <a:endParaRPr lang="en-US" sz="1650" dirty="0"/>
          </a:p>
        </p:txBody>
      </p:sp>
      <p:sp>
        <p:nvSpPr>
          <p:cNvPr id="15" name="Text 13"/>
          <p:cNvSpPr/>
          <p:nvPr/>
        </p:nvSpPr>
        <p:spPr>
          <a:xfrm>
            <a:off x="744855" y="6623447"/>
            <a:ext cx="13140690" cy="1021556"/>
          </a:xfrm>
          <a:prstGeom prst="rect">
            <a:avLst/>
          </a:prstGeom>
          <a:noFill/>
          <a:ln/>
        </p:spPr>
        <p:txBody>
          <a:bodyPr wrap="square" lIns="0" tIns="0" rIns="0" bIns="0" rtlCol="0" anchor="t"/>
          <a:lstStyle/>
          <a:p>
            <a:pPr marL="0" indent="0">
              <a:lnSpc>
                <a:spcPts val="2650"/>
              </a:lnSpc>
              <a:buNone/>
            </a:pPr>
            <a:r>
              <a:rPr lang="en-US" sz="1650" dirty="0">
                <a:solidFill>
                  <a:srgbClr val="464646"/>
                </a:solidFill>
                <a:latin typeface="Inter Medium" pitchFamily="34" charset="0"/>
                <a:ea typeface="Inter Medium" pitchFamily="34" charset="-122"/>
                <a:cs typeface="Inter Medium" pitchFamily="34" charset="-120"/>
              </a:rPr>
              <a:t>PCA provides a mathematical foundation for reducing dimensionality while preserving information. By understanding both its theoretical underpinnings and practical applications, you can leverage PCA effectively for feature selection across a wide range of data science projects.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2132</Words>
  <Application>Microsoft Office PowerPoint</Application>
  <PresentationFormat>Custom</PresentationFormat>
  <Paragraphs>250</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Inter Medium</vt:lpstr>
      <vt:lpstr>Arial</vt:lpstr>
      <vt:lpstr>Calibri</vt:lpstr>
      <vt:lpstr>DM Sans Semi Bold</vt:lpstr>
      <vt:lpstr>Consolas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Silicon computers</cp:lastModifiedBy>
  <cp:revision>2</cp:revision>
  <dcterms:created xsi:type="dcterms:W3CDTF">2025-03-02T11:58:10Z</dcterms:created>
  <dcterms:modified xsi:type="dcterms:W3CDTF">2025-03-02T11:59:41Z</dcterms:modified>
</cp:coreProperties>
</file>