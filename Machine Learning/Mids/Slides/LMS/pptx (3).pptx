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4630400" cy="8229600"/>
  <p:notesSz cx="8229600" cy="14630400"/>
  <p:embeddedFontLst>
    <p:embeddedFont>
      <p:font typeface="Calibri" panose="020F0502020204030204" pitchFamily="34" charset="0"/>
      <p:regular r:id="rId18"/>
      <p:bold r:id="rId19"/>
      <p:italic r:id="rId20"/>
      <p:boldItalic r:id="rId21"/>
    </p:embeddedFont>
    <p:embeddedFont>
      <p:font typeface="Libre Baskerville" panose="020B0604020202020204" charset="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1" d="100"/>
          <a:sy n="61" d="100"/>
        </p:scale>
        <p:origin x="6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84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1.xml"/><Relationship Id="rId5" Type="http://schemas.openxmlformats.org/officeDocument/2006/relationships/image" Target="../media/image2.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2.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5.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1466850"/>
            <a:ext cx="7556421" cy="2126337"/>
          </a:xfrm>
          <a:prstGeom prst="rect">
            <a:avLst/>
          </a:prstGeom>
          <a:noFill/>
          <a:ln/>
        </p:spPr>
        <p:txBody>
          <a:bodyPr wrap="square" lIns="0" tIns="0" rIns="0" bIns="0" rtlCol="0" anchor="t"/>
          <a:lstStyle/>
          <a:p>
            <a:pPr marL="0" indent="0">
              <a:lnSpc>
                <a:spcPts val="5550"/>
              </a:lnSpc>
              <a:buNone/>
            </a:pPr>
            <a:r>
              <a:rPr lang="en-US" sz="4450" b="1" dirty="0">
                <a:solidFill>
                  <a:srgbClr val="000000"/>
                </a:solidFill>
                <a:latin typeface="Libre Baskerville Bold" pitchFamily="34" charset="0"/>
                <a:ea typeface="Libre Baskerville Bold" pitchFamily="34" charset="-122"/>
                <a:cs typeface="Libre Baskerville Bold" pitchFamily="34" charset="-120"/>
              </a:rPr>
              <a:t>Noisy Data and Pruning Techniques in Machine Learning</a:t>
            </a:r>
            <a:endParaRPr lang="en-US" sz="4450" dirty="0"/>
          </a:p>
        </p:txBody>
      </p:sp>
      <p:sp>
        <p:nvSpPr>
          <p:cNvPr id="4" name="Text 1"/>
          <p:cNvSpPr/>
          <p:nvPr/>
        </p:nvSpPr>
        <p:spPr>
          <a:xfrm>
            <a:off x="6101256" y="3933349"/>
            <a:ext cx="7735356" cy="2640872"/>
          </a:xfrm>
          <a:prstGeom prst="rect">
            <a:avLst/>
          </a:prstGeom>
          <a:noFill/>
          <a:ln/>
        </p:spPr>
        <p:txBody>
          <a:bodyPr wrap="square" lIns="0" tIns="0" rIns="0" bIns="0" rtlCol="0" anchor="t"/>
          <a:lstStyle/>
          <a:p>
            <a:pPr marL="0" indent="0" algn="just">
              <a:lnSpc>
                <a:spcPct val="150000"/>
              </a:lnSpc>
              <a:buNone/>
            </a:pPr>
            <a:r>
              <a:rPr lang="en-US" sz="2000" dirty="0">
                <a:solidFill>
                  <a:srgbClr val="000000"/>
                </a:solidFill>
                <a:latin typeface="Libre Baskerville" pitchFamily="34" charset="0"/>
                <a:ea typeface="Libre Baskerville" pitchFamily="34" charset="-122"/>
                <a:cs typeface="Libre Baskerville" pitchFamily="34" charset="-120"/>
              </a:rPr>
              <a:t>Noisy data is a common challenge in machine learning, affecting model accuracy and generalization. Noise in data refers to irrelevant, incorrect, or misleading information that can distort model training. To counteract this issue, various pruning techniques are applied to simplify models, remove redundant information, and enhance predictive performance.</a:t>
            </a:r>
            <a:endParaRPr lang="en-US" sz="2000" dirty="0"/>
          </a:p>
        </p:txBody>
      </p:sp>
      <p:pic>
        <p:nvPicPr>
          <p:cNvPr id="8" name="Image 1" descr="preencoded.png"/>
          <p:cNvPicPr>
            <a:picLocks noChangeAspect="1"/>
          </p:cNvPicPr>
          <p:nvPr/>
        </p:nvPicPr>
        <p:blipFill>
          <a:blip r:embed="rId4"/>
          <a:stretch>
            <a:fillRect/>
          </a:stretch>
        </p:blipFill>
        <p:spPr>
          <a:xfrm>
            <a:off x="13612892" y="228600"/>
            <a:ext cx="788908" cy="59424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723543"/>
            <a:ext cx="7556421" cy="1275874"/>
          </a:xfrm>
          <a:prstGeom prst="rect">
            <a:avLst/>
          </a:prstGeom>
          <a:noFill/>
          <a:ln/>
        </p:spPr>
        <p:txBody>
          <a:bodyPr wrap="square" lIns="0" tIns="0" rIns="0" bIns="0" rtlCol="0" anchor="t"/>
          <a:lstStyle/>
          <a:p>
            <a:pPr marL="0" indent="0">
              <a:lnSpc>
                <a:spcPts val="5000"/>
              </a:lnSpc>
              <a:buNone/>
            </a:pPr>
            <a:r>
              <a:rPr lang="en-US" sz="4000" b="1" dirty="0">
                <a:solidFill>
                  <a:srgbClr val="000000"/>
                </a:solidFill>
                <a:latin typeface="Libre Baskerville Bold" pitchFamily="34" charset="0"/>
                <a:ea typeface="Libre Baskerville Bold" pitchFamily="34" charset="-122"/>
                <a:cs typeface="Libre Baskerville Bold" pitchFamily="34" charset="-120"/>
              </a:rPr>
              <a:t>Understanding Noisy Data in Machine Learning</a:t>
            </a:r>
            <a:endParaRPr lang="en-US" sz="4000" dirty="0"/>
          </a:p>
        </p:txBody>
      </p:sp>
      <p:sp>
        <p:nvSpPr>
          <p:cNvPr id="4" name="Shape 1"/>
          <p:cNvSpPr/>
          <p:nvPr/>
        </p:nvSpPr>
        <p:spPr>
          <a:xfrm>
            <a:off x="6280190" y="2305526"/>
            <a:ext cx="3676174" cy="3151584"/>
          </a:xfrm>
          <a:prstGeom prst="roundRect">
            <a:avLst>
              <a:gd name="adj" fmla="val 2721"/>
            </a:avLst>
          </a:prstGeom>
          <a:solidFill>
            <a:srgbClr val="FFCCCC"/>
          </a:solidFill>
          <a:ln w="7620">
            <a:solidFill>
              <a:srgbClr val="E5B2B2"/>
            </a:solidFill>
            <a:prstDash val="solid"/>
          </a:ln>
        </p:spPr>
      </p:sp>
      <p:sp>
        <p:nvSpPr>
          <p:cNvPr id="5" name="Text 2"/>
          <p:cNvSpPr/>
          <p:nvPr/>
        </p:nvSpPr>
        <p:spPr>
          <a:xfrm>
            <a:off x="6491883" y="2517219"/>
            <a:ext cx="2652355" cy="318849"/>
          </a:xfrm>
          <a:prstGeom prst="rect">
            <a:avLst/>
          </a:prstGeom>
          <a:noFill/>
          <a:ln/>
        </p:spPr>
        <p:txBody>
          <a:bodyPr wrap="none" lIns="0" tIns="0" rIns="0" bIns="0" rtlCol="0" anchor="t"/>
          <a:lstStyle/>
          <a:p>
            <a:pPr marL="0" indent="0">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What is Noisy Data?</a:t>
            </a:r>
            <a:endParaRPr lang="en-US" sz="2000" dirty="0"/>
          </a:p>
        </p:txBody>
      </p:sp>
      <p:sp>
        <p:nvSpPr>
          <p:cNvPr id="6" name="Text 3"/>
          <p:cNvSpPr/>
          <p:nvPr/>
        </p:nvSpPr>
        <p:spPr>
          <a:xfrm>
            <a:off x="6491883" y="2958465"/>
            <a:ext cx="3252788" cy="2286953"/>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Noisy data refers to irrelevant, incorrect, or misleading information that can distort model training. It presents a common challenge in machine learning, affecting model accuracy and generalization.</a:t>
            </a:r>
            <a:endParaRPr lang="en-US" sz="1600" dirty="0"/>
          </a:p>
        </p:txBody>
      </p:sp>
      <p:sp>
        <p:nvSpPr>
          <p:cNvPr id="7" name="Shape 4"/>
          <p:cNvSpPr/>
          <p:nvPr/>
        </p:nvSpPr>
        <p:spPr>
          <a:xfrm>
            <a:off x="10160437" y="2305526"/>
            <a:ext cx="3676174" cy="3151584"/>
          </a:xfrm>
          <a:prstGeom prst="roundRect">
            <a:avLst>
              <a:gd name="adj" fmla="val 2721"/>
            </a:avLst>
          </a:prstGeom>
          <a:solidFill>
            <a:srgbClr val="FFCCCC"/>
          </a:solidFill>
          <a:ln w="7620">
            <a:solidFill>
              <a:srgbClr val="E5B2B2"/>
            </a:solidFill>
            <a:prstDash val="solid"/>
          </a:ln>
        </p:spPr>
      </p:sp>
      <p:sp>
        <p:nvSpPr>
          <p:cNvPr id="8" name="Text 5"/>
          <p:cNvSpPr/>
          <p:nvPr/>
        </p:nvSpPr>
        <p:spPr>
          <a:xfrm>
            <a:off x="10372130" y="2517219"/>
            <a:ext cx="2551748" cy="318849"/>
          </a:xfrm>
          <a:prstGeom prst="rect">
            <a:avLst/>
          </a:prstGeom>
          <a:noFill/>
          <a:ln/>
        </p:spPr>
        <p:txBody>
          <a:bodyPr wrap="none" lIns="0" tIns="0" rIns="0" bIns="0" rtlCol="0" anchor="t"/>
          <a:lstStyle/>
          <a:p>
            <a:pPr marL="0" indent="0">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Impact on Models</a:t>
            </a:r>
            <a:endParaRPr lang="en-US" sz="2000" dirty="0"/>
          </a:p>
        </p:txBody>
      </p:sp>
      <p:sp>
        <p:nvSpPr>
          <p:cNvPr id="9" name="Text 6"/>
          <p:cNvSpPr/>
          <p:nvPr/>
        </p:nvSpPr>
        <p:spPr>
          <a:xfrm>
            <a:off x="10372130" y="2958465"/>
            <a:ext cx="3252788" cy="1960245"/>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Noise in data can significantly impact the learning process, causing models to capture irrelevant patterns instead of meaningful relationships in the data.</a:t>
            </a:r>
            <a:endParaRPr lang="en-US" sz="1600" dirty="0"/>
          </a:p>
        </p:txBody>
      </p:sp>
      <p:sp>
        <p:nvSpPr>
          <p:cNvPr id="10" name="Shape 7"/>
          <p:cNvSpPr/>
          <p:nvPr/>
        </p:nvSpPr>
        <p:spPr>
          <a:xfrm>
            <a:off x="6280190" y="5661184"/>
            <a:ext cx="7556421" cy="1844754"/>
          </a:xfrm>
          <a:prstGeom prst="roundRect">
            <a:avLst>
              <a:gd name="adj" fmla="val 4648"/>
            </a:avLst>
          </a:prstGeom>
          <a:solidFill>
            <a:srgbClr val="FFCCCC"/>
          </a:solidFill>
          <a:ln w="7620">
            <a:solidFill>
              <a:srgbClr val="E5B2B2"/>
            </a:solidFill>
            <a:prstDash val="solid"/>
          </a:ln>
        </p:spPr>
      </p:sp>
      <p:sp>
        <p:nvSpPr>
          <p:cNvPr id="11" name="Text 8"/>
          <p:cNvSpPr/>
          <p:nvPr/>
        </p:nvSpPr>
        <p:spPr>
          <a:xfrm>
            <a:off x="6491883" y="5872877"/>
            <a:ext cx="2551748" cy="318849"/>
          </a:xfrm>
          <a:prstGeom prst="rect">
            <a:avLst/>
          </a:prstGeom>
          <a:noFill/>
          <a:ln/>
        </p:spPr>
        <p:txBody>
          <a:bodyPr wrap="none" lIns="0" tIns="0" rIns="0" bIns="0" rtlCol="0" anchor="t"/>
          <a:lstStyle/>
          <a:p>
            <a:pPr marL="0" indent="0">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Need for Solutions</a:t>
            </a:r>
            <a:endParaRPr lang="en-US" sz="2000" dirty="0"/>
          </a:p>
        </p:txBody>
      </p:sp>
      <p:sp>
        <p:nvSpPr>
          <p:cNvPr id="12" name="Text 9"/>
          <p:cNvSpPr/>
          <p:nvPr/>
        </p:nvSpPr>
        <p:spPr>
          <a:xfrm>
            <a:off x="6491883" y="6314123"/>
            <a:ext cx="7133034" cy="980123"/>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To counteract this issue, various pruning techniques are applied to simplify models, remove redundant information, and enhance predictive performance.</a:t>
            </a:r>
            <a:endParaRPr lang="en-US" sz="1600" dirty="0"/>
          </a:p>
        </p:txBody>
      </p:sp>
      <p:pic>
        <p:nvPicPr>
          <p:cNvPr id="13" name="Image 1" descr="preencoded.png"/>
          <p:cNvPicPr>
            <a:picLocks noChangeAspect="1"/>
          </p:cNvPicPr>
          <p:nvPr/>
        </p:nvPicPr>
        <p:blipFill>
          <a:blip r:embed="rId4"/>
          <a:stretch>
            <a:fillRect/>
          </a:stretch>
        </p:blipFill>
        <p:spPr>
          <a:xfrm>
            <a:off x="13612892" y="228600"/>
            <a:ext cx="788908" cy="59424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1767364"/>
            <a:ext cx="6512957"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Libre Baskerville Bold" pitchFamily="34" charset="0"/>
                <a:ea typeface="Libre Baskerville Bold" pitchFamily="34" charset="-122"/>
                <a:cs typeface="Libre Baskerville Bold" pitchFamily="34" charset="-120"/>
              </a:rPr>
              <a:t>Sources of Noisy Data</a:t>
            </a:r>
            <a:endParaRPr lang="en-US" sz="4450" dirty="0"/>
          </a:p>
        </p:txBody>
      </p:sp>
      <p:sp>
        <p:nvSpPr>
          <p:cNvPr id="3" name="Shape 1"/>
          <p:cNvSpPr/>
          <p:nvPr/>
        </p:nvSpPr>
        <p:spPr>
          <a:xfrm>
            <a:off x="793790" y="3184922"/>
            <a:ext cx="510302" cy="510302"/>
          </a:xfrm>
          <a:prstGeom prst="roundRect">
            <a:avLst>
              <a:gd name="adj" fmla="val 18669"/>
            </a:avLst>
          </a:prstGeom>
          <a:solidFill>
            <a:srgbClr val="FFCCCC"/>
          </a:solidFill>
          <a:ln w="7620">
            <a:solidFill>
              <a:srgbClr val="E5B2B2"/>
            </a:solidFill>
            <a:prstDash val="solid"/>
          </a:ln>
        </p:spPr>
      </p:sp>
      <p:sp>
        <p:nvSpPr>
          <p:cNvPr id="4" name="Text 2"/>
          <p:cNvSpPr/>
          <p:nvPr/>
        </p:nvSpPr>
        <p:spPr>
          <a:xfrm>
            <a:off x="878860" y="3227427"/>
            <a:ext cx="340162" cy="425291"/>
          </a:xfrm>
          <a:prstGeom prst="rect">
            <a:avLst/>
          </a:prstGeom>
          <a:noFill/>
          <a:ln/>
        </p:spPr>
        <p:txBody>
          <a:bodyPr wrap="none" lIns="0" tIns="0" rIns="0" bIns="0" rtlCol="0" anchor="t"/>
          <a:lstStyle/>
          <a:p>
            <a:pPr marL="0" indent="0" algn="ctr">
              <a:lnSpc>
                <a:spcPts val="2650"/>
              </a:lnSpc>
              <a:buNone/>
            </a:pPr>
            <a:r>
              <a:rPr lang="en-US" sz="2650" b="1" dirty="0">
                <a:solidFill>
                  <a:srgbClr val="000000"/>
                </a:solidFill>
                <a:latin typeface="Libre Baskerville Bold" pitchFamily="34" charset="0"/>
                <a:ea typeface="Libre Baskerville Bold" pitchFamily="34" charset="-122"/>
                <a:cs typeface="Libre Baskerville Bold" pitchFamily="34" charset="-120"/>
              </a:rPr>
              <a:t>1</a:t>
            </a:r>
            <a:endParaRPr lang="en-US" sz="2650" dirty="0"/>
          </a:p>
        </p:txBody>
      </p:sp>
      <p:sp>
        <p:nvSpPr>
          <p:cNvPr id="5" name="Text 3"/>
          <p:cNvSpPr/>
          <p:nvPr/>
        </p:nvSpPr>
        <p:spPr>
          <a:xfrm>
            <a:off x="1530906" y="3184922"/>
            <a:ext cx="3060502"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Measurement errors</a:t>
            </a:r>
            <a:endParaRPr lang="en-US" sz="2200" dirty="0"/>
          </a:p>
        </p:txBody>
      </p:sp>
      <p:sp>
        <p:nvSpPr>
          <p:cNvPr id="6" name="Text 4"/>
          <p:cNvSpPr/>
          <p:nvPr/>
        </p:nvSpPr>
        <p:spPr>
          <a:xfrm>
            <a:off x="1530906" y="3675340"/>
            <a:ext cx="3459242" cy="1088708"/>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Inaccuracies in data collection that introduce noise into datasets.</a:t>
            </a:r>
            <a:endParaRPr lang="en-US" sz="1750" dirty="0"/>
          </a:p>
        </p:txBody>
      </p:sp>
      <p:sp>
        <p:nvSpPr>
          <p:cNvPr id="7" name="Shape 5"/>
          <p:cNvSpPr/>
          <p:nvPr/>
        </p:nvSpPr>
        <p:spPr>
          <a:xfrm>
            <a:off x="5216962" y="3184922"/>
            <a:ext cx="510302" cy="510302"/>
          </a:xfrm>
          <a:prstGeom prst="roundRect">
            <a:avLst>
              <a:gd name="adj" fmla="val 18669"/>
            </a:avLst>
          </a:prstGeom>
          <a:solidFill>
            <a:srgbClr val="FFCCCC"/>
          </a:solidFill>
          <a:ln w="7620">
            <a:solidFill>
              <a:srgbClr val="E5B2B2"/>
            </a:solidFill>
            <a:prstDash val="solid"/>
          </a:ln>
        </p:spPr>
      </p:sp>
      <p:sp>
        <p:nvSpPr>
          <p:cNvPr id="8" name="Text 6"/>
          <p:cNvSpPr/>
          <p:nvPr/>
        </p:nvSpPr>
        <p:spPr>
          <a:xfrm>
            <a:off x="5302032" y="3227427"/>
            <a:ext cx="340162" cy="425291"/>
          </a:xfrm>
          <a:prstGeom prst="rect">
            <a:avLst/>
          </a:prstGeom>
          <a:noFill/>
          <a:ln/>
        </p:spPr>
        <p:txBody>
          <a:bodyPr wrap="none" lIns="0" tIns="0" rIns="0" bIns="0" rtlCol="0" anchor="t"/>
          <a:lstStyle/>
          <a:p>
            <a:pPr marL="0" indent="0" algn="ctr">
              <a:lnSpc>
                <a:spcPts val="2650"/>
              </a:lnSpc>
              <a:buNone/>
            </a:pPr>
            <a:r>
              <a:rPr lang="en-US" sz="2650" b="1" dirty="0">
                <a:solidFill>
                  <a:srgbClr val="000000"/>
                </a:solidFill>
                <a:latin typeface="Libre Baskerville Bold" pitchFamily="34" charset="0"/>
                <a:ea typeface="Libre Baskerville Bold" pitchFamily="34" charset="-122"/>
                <a:cs typeface="Libre Baskerville Bold" pitchFamily="34" charset="-120"/>
              </a:rPr>
              <a:t>2</a:t>
            </a:r>
            <a:endParaRPr lang="en-US" sz="2650" dirty="0"/>
          </a:p>
        </p:txBody>
      </p:sp>
      <p:sp>
        <p:nvSpPr>
          <p:cNvPr id="9" name="Text 7"/>
          <p:cNvSpPr/>
          <p:nvPr/>
        </p:nvSpPr>
        <p:spPr>
          <a:xfrm>
            <a:off x="5954078" y="3184922"/>
            <a:ext cx="283523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Human errors</a:t>
            </a:r>
            <a:endParaRPr lang="en-US" sz="2200" dirty="0"/>
          </a:p>
        </p:txBody>
      </p:sp>
      <p:sp>
        <p:nvSpPr>
          <p:cNvPr id="10" name="Text 8"/>
          <p:cNvSpPr/>
          <p:nvPr/>
        </p:nvSpPr>
        <p:spPr>
          <a:xfrm>
            <a:off x="5954078" y="3675340"/>
            <a:ext cx="3459242" cy="1088708"/>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Incorrect labeling or input mistakes made during the data entry process.</a:t>
            </a:r>
            <a:endParaRPr lang="en-US" sz="1750" dirty="0"/>
          </a:p>
        </p:txBody>
      </p:sp>
      <p:sp>
        <p:nvSpPr>
          <p:cNvPr id="11" name="Shape 9"/>
          <p:cNvSpPr/>
          <p:nvPr/>
        </p:nvSpPr>
        <p:spPr>
          <a:xfrm>
            <a:off x="9640133" y="3184922"/>
            <a:ext cx="510302" cy="510302"/>
          </a:xfrm>
          <a:prstGeom prst="roundRect">
            <a:avLst>
              <a:gd name="adj" fmla="val 18669"/>
            </a:avLst>
          </a:prstGeom>
          <a:solidFill>
            <a:srgbClr val="FFCCCC"/>
          </a:solidFill>
          <a:ln w="7620">
            <a:solidFill>
              <a:srgbClr val="E5B2B2"/>
            </a:solidFill>
            <a:prstDash val="solid"/>
          </a:ln>
        </p:spPr>
      </p:sp>
      <p:sp>
        <p:nvSpPr>
          <p:cNvPr id="12" name="Text 10"/>
          <p:cNvSpPr/>
          <p:nvPr/>
        </p:nvSpPr>
        <p:spPr>
          <a:xfrm>
            <a:off x="9725204" y="3227427"/>
            <a:ext cx="340162" cy="425291"/>
          </a:xfrm>
          <a:prstGeom prst="rect">
            <a:avLst/>
          </a:prstGeom>
          <a:noFill/>
          <a:ln/>
        </p:spPr>
        <p:txBody>
          <a:bodyPr wrap="none" lIns="0" tIns="0" rIns="0" bIns="0" rtlCol="0" anchor="t"/>
          <a:lstStyle/>
          <a:p>
            <a:pPr marL="0" indent="0" algn="ctr">
              <a:lnSpc>
                <a:spcPts val="2650"/>
              </a:lnSpc>
              <a:buNone/>
            </a:pPr>
            <a:r>
              <a:rPr lang="en-US" sz="2650" b="1" dirty="0">
                <a:solidFill>
                  <a:srgbClr val="000000"/>
                </a:solidFill>
                <a:latin typeface="Libre Baskerville Bold" pitchFamily="34" charset="0"/>
                <a:ea typeface="Libre Baskerville Bold" pitchFamily="34" charset="-122"/>
                <a:cs typeface="Libre Baskerville Bold" pitchFamily="34" charset="-120"/>
              </a:rPr>
              <a:t>3</a:t>
            </a:r>
            <a:endParaRPr lang="en-US" sz="2650" dirty="0"/>
          </a:p>
        </p:txBody>
      </p:sp>
      <p:sp>
        <p:nvSpPr>
          <p:cNvPr id="13" name="Text 11"/>
          <p:cNvSpPr/>
          <p:nvPr/>
        </p:nvSpPr>
        <p:spPr>
          <a:xfrm>
            <a:off x="10377249" y="3184922"/>
            <a:ext cx="283523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Outliers</a:t>
            </a:r>
            <a:endParaRPr lang="en-US" sz="2200" dirty="0"/>
          </a:p>
        </p:txBody>
      </p:sp>
      <p:sp>
        <p:nvSpPr>
          <p:cNvPr id="14" name="Text 12"/>
          <p:cNvSpPr/>
          <p:nvPr/>
        </p:nvSpPr>
        <p:spPr>
          <a:xfrm>
            <a:off x="10377249" y="3675340"/>
            <a:ext cx="3459242" cy="1088708"/>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Extreme values that deviate from expected patterns and can skew model training.</a:t>
            </a:r>
            <a:endParaRPr lang="en-US" sz="1750" dirty="0"/>
          </a:p>
        </p:txBody>
      </p:sp>
      <p:sp>
        <p:nvSpPr>
          <p:cNvPr id="15" name="Shape 13"/>
          <p:cNvSpPr/>
          <p:nvPr/>
        </p:nvSpPr>
        <p:spPr>
          <a:xfrm>
            <a:off x="793790" y="5246013"/>
            <a:ext cx="510302" cy="510302"/>
          </a:xfrm>
          <a:prstGeom prst="roundRect">
            <a:avLst>
              <a:gd name="adj" fmla="val 18669"/>
            </a:avLst>
          </a:prstGeom>
          <a:solidFill>
            <a:srgbClr val="FFCCCC"/>
          </a:solidFill>
          <a:ln w="7620">
            <a:solidFill>
              <a:srgbClr val="E5B2B2"/>
            </a:solidFill>
            <a:prstDash val="solid"/>
          </a:ln>
        </p:spPr>
      </p:sp>
      <p:sp>
        <p:nvSpPr>
          <p:cNvPr id="16" name="Text 14"/>
          <p:cNvSpPr/>
          <p:nvPr/>
        </p:nvSpPr>
        <p:spPr>
          <a:xfrm>
            <a:off x="878860" y="5288518"/>
            <a:ext cx="340162" cy="425291"/>
          </a:xfrm>
          <a:prstGeom prst="rect">
            <a:avLst/>
          </a:prstGeom>
          <a:noFill/>
          <a:ln/>
        </p:spPr>
        <p:txBody>
          <a:bodyPr wrap="none" lIns="0" tIns="0" rIns="0" bIns="0" rtlCol="0" anchor="t"/>
          <a:lstStyle/>
          <a:p>
            <a:pPr marL="0" indent="0" algn="ctr">
              <a:lnSpc>
                <a:spcPts val="2650"/>
              </a:lnSpc>
              <a:buNone/>
            </a:pPr>
            <a:r>
              <a:rPr lang="en-US" sz="2650" b="1" dirty="0">
                <a:solidFill>
                  <a:srgbClr val="000000"/>
                </a:solidFill>
                <a:latin typeface="Libre Baskerville Bold" pitchFamily="34" charset="0"/>
                <a:ea typeface="Libre Baskerville Bold" pitchFamily="34" charset="-122"/>
                <a:cs typeface="Libre Baskerville Bold" pitchFamily="34" charset="-120"/>
              </a:rPr>
              <a:t>4</a:t>
            </a:r>
            <a:endParaRPr lang="en-US" sz="2650" dirty="0"/>
          </a:p>
        </p:txBody>
      </p:sp>
      <p:sp>
        <p:nvSpPr>
          <p:cNvPr id="17" name="Text 15"/>
          <p:cNvSpPr/>
          <p:nvPr/>
        </p:nvSpPr>
        <p:spPr>
          <a:xfrm>
            <a:off x="1530906" y="5246013"/>
            <a:ext cx="3375303"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Environmental factors</a:t>
            </a:r>
            <a:endParaRPr lang="en-US" sz="2200" dirty="0"/>
          </a:p>
        </p:txBody>
      </p:sp>
      <p:sp>
        <p:nvSpPr>
          <p:cNvPr id="18" name="Text 16"/>
          <p:cNvSpPr/>
          <p:nvPr/>
        </p:nvSpPr>
        <p:spPr>
          <a:xfrm>
            <a:off x="1530906" y="5736431"/>
            <a:ext cx="5670947" cy="72580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Sensor malfunctions, network issues, and other external factors affecting data quality.</a:t>
            </a:r>
            <a:endParaRPr lang="en-US" sz="1750" dirty="0"/>
          </a:p>
        </p:txBody>
      </p:sp>
      <p:sp>
        <p:nvSpPr>
          <p:cNvPr id="19" name="Shape 17"/>
          <p:cNvSpPr/>
          <p:nvPr/>
        </p:nvSpPr>
        <p:spPr>
          <a:xfrm>
            <a:off x="7428667" y="5246013"/>
            <a:ext cx="510302" cy="510302"/>
          </a:xfrm>
          <a:prstGeom prst="roundRect">
            <a:avLst>
              <a:gd name="adj" fmla="val 18669"/>
            </a:avLst>
          </a:prstGeom>
          <a:solidFill>
            <a:srgbClr val="FFCCCC"/>
          </a:solidFill>
          <a:ln w="7620">
            <a:solidFill>
              <a:srgbClr val="E5B2B2"/>
            </a:solidFill>
            <a:prstDash val="solid"/>
          </a:ln>
        </p:spPr>
      </p:sp>
      <p:sp>
        <p:nvSpPr>
          <p:cNvPr id="20" name="Text 18"/>
          <p:cNvSpPr/>
          <p:nvPr/>
        </p:nvSpPr>
        <p:spPr>
          <a:xfrm>
            <a:off x="7513737" y="5288518"/>
            <a:ext cx="340162" cy="425291"/>
          </a:xfrm>
          <a:prstGeom prst="rect">
            <a:avLst/>
          </a:prstGeom>
          <a:noFill/>
          <a:ln/>
        </p:spPr>
        <p:txBody>
          <a:bodyPr wrap="none" lIns="0" tIns="0" rIns="0" bIns="0" rtlCol="0" anchor="t"/>
          <a:lstStyle/>
          <a:p>
            <a:pPr marL="0" indent="0" algn="ctr">
              <a:lnSpc>
                <a:spcPts val="2650"/>
              </a:lnSpc>
              <a:buNone/>
            </a:pPr>
            <a:r>
              <a:rPr lang="en-US" sz="2650" b="1" dirty="0">
                <a:solidFill>
                  <a:srgbClr val="000000"/>
                </a:solidFill>
                <a:latin typeface="Libre Baskerville Bold" pitchFamily="34" charset="0"/>
                <a:ea typeface="Libre Baskerville Bold" pitchFamily="34" charset="-122"/>
                <a:cs typeface="Libre Baskerville Bold" pitchFamily="34" charset="-120"/>
              </a:rPr>
              <a:t>5</a:t>
            </a:r>
            <a:endParaRPr lang="en-US" sz="2650" dirty="0"/>
          </a:p>
        </p:txBody>
      </p:sp>
      <p:sp>
        <p:nvSpPr>
          <p:cNvPr id="21" name="Text 19"/>
          <p:cNvSpPr/>
          <p:nvPr/>
        </p:nvSpPr>
        <p:spPr>
          <a:xfrm>
            <a:off x="8165783" y="5246013"/>
            <a:ext cx="283523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Irrelevant features</a:t>
            </a:r>
            <a:endParaRPr lang="en-US" sz="2200" dirty="0"/>
          </a:p>
        </p:txBody>
      </p:sp>
      <p:sp>
        <p:nvSpPr>
          <p:cNvPr id="22" name="Text 20"/>
          <p:cNvSpPr/>
          <p:nvPr/>
        </p:nvSpPr>
        <p:spPr>
          <a:xfrm>
            <a:off x="8165783" y="5736431"/>
            <a:ext cx="5670947" cy="72580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Unnecessary attributes that increase model complexity without adding predictive value.</a:t>
            </a:r>
            <a:endParaRPr lang="en-US" sz="1750" dirty="0"/>
          </a:p>
        </p:txBody>
      </p:sp>
      <p:pic>
        <p:nvPicPr>
          <p:cNvPr id="23" name="Image 0" descr="preencoded.png"/>
          <p:cNvPicPr>
            <a:picLocks noChangeAspect="1"/>
          </p:cNvPicPr>
          <p:nvPr/>
        </p:nvPicPr>
        <p:blipFill>
          <a:blip r:embed="rId3"/>
          <a:stretch>
            <a:fillRect/>
          </a:stretch>
        </p:blipFill>
        <p:spPr>
          <a:xfrm>
            <a:off x="13612892" y="228600"/>
            <a:ext cx="788908" cy="59424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1682353"/>
            <a:ext cx="6226016"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Libre Baskerville Bold" pitchFamily="34" charset="0"/>
                <a:ea typeface="Libre Baskerville Bold" pitchFamily="34" charset="-122"/>
                <a:cs typeface="Libre Baskerville Bold" pitchFamily="34" charset="-120"/>
              </a:rPr>
              <a:t>Effects of Noisy Data</a:t>
            </a:r>
            <a:endParaRPr lang="en-US" sz="4450" dirty="0"/>
          </a:p>
        </p:txBody>
      </p:sp>
      <p:pic>
        <p:nvPicPr>
          <p:cNvPr id="4" name="Image 1" descr="preencoded.png"/>
          <p:cNvPicPr>
            <a:picLocks noChangeAspect="1"/>
          </p:cNvPicPr>
          <p:nvPr/>
        </p:nvPicPr>
        <p:blipFill>
          <a:blip r:embed="rId4"/>
          <a:stretch>
            <a:fillRect/>
          </a:stretch>
        </p:blipFill>
        <p:spPr>
          <a:xfrm>
            <a:off x="793790" y="2731294"/>
            <a:ext cx="566976" cy="566976"/>
          </a:xfrm>
          <a:prstGeom prst="rect">
            <a:avLst/>
          </a:prstGeom>
        </p:spPr>
      </p:pic>
      <p:sp>
        <p:nvSpPr>
          <p:cNvPr id="5" name="Text 1"/>
          <p:cNvSpPr/>
          <p:nvPr/>
        </p:nvSpPr>
        <p:spPr>
          <a:xfrm>
            <a:off x="793790" y="3525083"/>
            <a:ext cx="2291953" cy="708660"/>
          </a:xfrm>
          <a:prstGeom prst="rect">
            <a:avLst/>
          </a:prstGeom>
          <a:noFill/>
          <a:ln/>
        </p:spPr>
        <p:txBody>
          <a:bodyPr wrap="square" lIns="0" tIns="0" rIns="0" bIns="0" rtlCol="0" anchor="t"/>
          <a:lstStyle/>
          <a:p>
            <a:pPr marL="0" indent="0" algn="l">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Reduced Accuracy</a:t>
            </a:r>
            <a:endParaRPr lang="en-US" sz="2200" dirty="0"/>
          </a:p>
        </p:txBody>
      </p:sp>
      <p:sp>
        <p:nvSpPr>
          <p:cNvPr id="6" name="Text 2"/>
          <p:cNvSpPr/>
          <p:nvPr/>
        </p:nvSpPr>
        <p:spPr>
          <a:xfrm>
            <a:off x="793790" y="4369832"/>
            <a:ext cx="2291953" cy="1814513"/>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Reduces model accuracy and interpretability, making predictions less reliable.</a:t>
            </a:r>
            <a:endParaRPr lang="en-US" sz="1750" dirty="0"/>
          </a:p>
        </p:txBody>
      </p:sp>
      <p:pic>
        <p:nvPicPr>
          <p:cNvPr id="7" name="Image 2" descr="preencoded.png"/>
          <p:cNvPicPr>
            <a:picLocks noChangeAspect="1"/>
          </p:cNvPicPr>
          <p:nvPr/>
        </p:nvPicPr>
        <p:blipFill>
          <a:blip r:embed="rId5"/>
          <a:stretch>
            <a:fillRect/>
          </a:stretch>
        </p:blipFill>
        <p:spPr>
          <a:xfrm>
            <a:off x="3425904" y="2731294"/>
            <a:ext cx="566976" cy="566976"/>
          </a:xfrm>
          <a:prstGeom prst="rect">
            <a:avLst/>
          </a:prstGeom>
        </p:spPr>
      </p:pic>
      <p:sp>
        <p:nvSpPr>
          <p:cNvPr id="8" name="Text 3"/>
          <p:cNvSpPr/>
          <p:nvPr/>
        </p:nvSpPr>
        <p:spPr>
          <a:xfrm>
            <a:off x="3425904" y="3525083"/>
            <a:ext cx="2292072" cy="708660"/>
          </a:xfrm>
          <a:prstGeom prst="rect">
            <a:avLst/>
          </a:prstGeom>
          <a:noFill/>
          <a:ln/>
        </p:spPr>
        <p:txBody>
          <a:bodyPr wrap="square" lIns="0" tIns="0" rIns="0" bIns="0" rtlCol="0" anchor="t"/>
          <a:lstStyle/>
          <a:p>
            <a:pPr marL="0" indent="0" algn="l">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Increased Training Time</a:t>
            </a:r>
            <a:endParaRPr lang="en-US" sz="2200" dirty="0"/>
          </a:p>
        </p:txBody>
      </p:sp>
      <p:sp>
        <p:nvSpPr>
          <p:cNvPr id="9" name="Text 4"/>
          <p:cNvSpPr/>
          <p:nvPr/>
        </p:nvSpPr>
        <p:spPr>
          <a:xfrm>
            <a:off x="3425904" y="4369832"/>
            <a:ext cx="2292072" cy="217741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Increases training time and computational costs as models struggle to find patterns.</a:t>
            </a:r>
            <a:endParaRPr lang="en-US" sz="1750" dirty="0"/>
          </a:p>
        </p:txBody>
      </p:sp>
      <p:pic>
        <p:nvPicPr>
          <p:cNvPr id="10" name="Image 3" descr="preencoded.png"/>
          <p:cNvPicPr>
            <a:picLocks noChangeAspect="1"/>
          </p:cNvPicPr>
          <p:nvPr/>
        </p:nvPicPr>
        <p:blipFill>
          <a:blip r:embed="rId6"/>
          <a:stretch>
            <a:fillRect/>
          </a:stretch>
        </p:blipFill>
        <p:spPr>
          <a:xfrm>
            <a:off x="6058138" y="2731294"/>
            <a:ext cx="566976" cy="566976"/>
          </a:xfrm>
          <a:prstGeom prst="rect">
            <a:avLst/>
          </a:prstGeom>
        </p:spPr>
      </p:pic>
      <p:sp>
        <p:nvSpPr>
          <p:cNvPr id="11" name="Text 5"/>
          <p:cNvSpPr/>
          <p:nvPr/>
        </p:nvSpPr>
        <p:spPr>
          <a:xfrm>
            <a:off x="6058138" y="3525083"/>
            <a:ext cx="2291953" cy="708660"/>
          </a:xfrm>
          <a:prstGeom prst="rect">
            <a:avLst/>
          </a:prstGeom>
          <a:noFill/>
          <a:ln/>
        </p:spPr>
        <p:txBody>
          <a:bodyPr wrap="square" lIns="0" tIns="0" rIns="0" bIns="0" rtlCol="0" anchor="t"/>
          <a:lstStyle/>
          <a:p>
            <a:pPr marL="0" indent="0" algn="l">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Overfitting Issues</a:t>
            </a:r>
            <a:endParaRPr lang="en-US" sz="2200" dirty="0"/>
          </a:p>
        </p:txBody>
      </p:sp>
      <p:sp>
        <p:nvSpPr>
          <p:cNvPr id="12" name="Text 6"/>
          <p:cNvSpPr/>
          <p:nvPr/>
        </p:nvSpPr>
        <p:spPr>
          <a:xfrm>
            <a:off x="6058138" y="4369832"/>
            <a:ext cx="2291953" cy="217741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Leads to overfitting, where models learn from noise instead of underlying patterns.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2361" y="624007"/>
            <a:ext cx="13045678" cy="1344216"/>
          </a:xfrm>
          <a:prstGeom prst="rect">
            <a:avLst/>
          </a:prstGeom>
          <a:noFill/>
          <a:ln/>
        </p:spPr>
        <p:txBody>
          <a:bodyPr wrap="square" lIns="0" tIns="0" rIns="0" bIns="0" rtlCol="0" anchor="t"/>
          <a:lstStyle/>
          <a:p>
            <a:pPr marL="0" indent="0">
              <a:lnSpc>
                <a:spcPts val="5250"/>
              </a:lnSpc>
              <a:buNone/>
            </a:pPr>
            <a:r>
              <a:rPr lang="en-US" sz="4200" b="1" dirty="0">
                <a:solidFill>
                  <a:srgbClr val="000000"/>
                </a:solidFill>
                <a:latin typeface="Libre Baskerville Bold" pitchFamily="34" charset="0"/>
                <a:ea typeface="Libre Baskerville Bold" pitchFamily="34" charset="-122"/>
                <a:cs typeface="Libre Baskerville Bold" pitchFamily="34" charset="-120"/>
              </a:rPr>
              <a:t>Techniques for Handling Noisy Data: Overview</a:t>
            </a:r>
            <a:endParaRPr lang="en-US" sz="4200" dirty="0"/>
          </a:p>
        </p:txBody>
      </p:sp>
      <p:sp>
        <p:nvSpPr>
          <p:cNvPr id="3" name="Shape 1"/>
          <p:cNvSpPr/>
          <p:nvPr/>
        </p:nvSpPr>
        <p:spPr>
          <a:xfrm>
            <a:off x="792361" y="2398395"/>
            <a:ext cx="2174200" cy="1239203"/>
          </a:xfrm>
          <a:prstGeom prst="roundRect">
            <a:avLst>
              <a:gd name="adj" fmla="val 7290"/>
            </a:avLst>
          </a:prstGeom>
          <a:solidFill>
            <a:srgbClr val="FFCCCC"/>
          </a:solidFill>
          <a:ln w="7620">
            <a:solidFill>
              <a:srgbClr val="E5B2B2"/>
            </a:solidFill>
            <a:prstDash val="solid"/>
          </a:ln>
        </p:spPr>
      </p:sp>
      <p:sp>
        <p:nvSpPr>
          <p:cNvPr id="4" name="Text 2"/>
          <p:cNvSpPr/>
          <p:nvPr/>
        </p:nvSpPr>
        <p:spPr>
          <a:xfrm>
            <a:off x="1728192" y="2828925"/>
            <a:ext cx="302419" cy="378023"/>
          </a:xfrm>
          <a:prstGeom prst="rect">
            <a:avLst/>
          </a:prstGeom>
          <a:noFill/>
          <a:ln/>
        </p:spPr>
        <p:txBody>
          <a:bodyPr wrap="none" lIns="0" tIns="0" rIns="0" bIns="0" rtlCol="0" anchor="t"/>
          <a:lstStyle/>
          <a:p>
            <a:pPr marL="0" indent="0" algn="ctr">
              <a:lnSpc>
                <a:spcPts val="3800"/>
              </a:lnSpc>
              <a:buNone/>
            </a:pPr>
            <a:r>
              <a:rPr lang="en-US" sz="2350" b="1" dirty="0">
                <a:solidFill>
                  <a:srgbClr val="000000"/>
                </a:solidFill>
                <a:latin typeface="Libre Baskerville Bold" pitchFamily="34" charset="0"/>
                <a:ea typeface="Libre Baskerville Bold" pitchFamily="34" charset="-122"/>
                <a:cs typeface="Libre Baskerville Bold" pitchFamily="34" charset="-120"/>
              </a:rPr>
              <a:t>1</a:t>
            </a:r>
            <a:endParaRPr lang="en-US" sz="2350" dirty="0"/>
          </a:p>
        </p:txBody>
      </p:sp>
      <p:sp>
        <p:nvSpPr>
          <p:cNvPr id="5" name="Text 3"/>
          <p:cNvSpPr/>
          <p:nvPr/>
        </p:nvSpPr>
        <p:spPr>
          <a:xfrm>
            <a:off x="3181588" y="2613422"/>
            <a:ext cx="2688550" cy="335994"/>
          </a:xfrm>
          <a:prstGeom prst="rect">
            <a:avLst/>
          </a:prstGeom>
          <a:noFill/>
          <a:ln/>
        </p:spPr>
        <p:txBody>
          <a:bodyPr wrap="none" lIns="0" tIns="0" rIns="0" bIns="0" rtlCol="0" anchor="t"/>
          <a:lstStyle/>
          <a:p>
            <a:pPr marL="0" indent="0" algn="l">
              <a:lnSpc>
                <a:spcPts val="2600"/>
              </a:lnSpc>
              <a:buNone/>
            </a:pPr>
            <a:r>
              <a:rPr lang="en-US" sz="2100" b="1" dirty="0">
                <a:solidFill>
                  <a:srgbClr val="000000"/>
                </a:solidFill>
                <a:latin typeface="Libre Baskerville Bold" pitchFamily="34" charset="0"/>
                <a:ea typeface="Libre Baskerville Bold" pitchFamily="34" charset="-122"/>
                <a:cs typeface="Libre Baskerville Bold" pitchFamily="34" charset="-120"/>
              </a:rPr>
              <a:t>Data Cleaning</a:t>
            </a:r>
            <a:endParaRPr lang="en-US" sz="2100" dirty="0"/>
          </a:p>
        </p:txBody>
      </p:sp>
      <p:sp>
        <p:nvSpPr>
          <p:cNvPr id="6" name="Text 4"/>
          <p:cNvSpPr/>
          <p:nvPr/>
        </p:nvSpPr>
        <p:spPr>
          <a:xfrm>
            <a:off x="3181588" y="3078361"/>
            <a:ext cx="6612731" cy="344210"/>
          </a:xfrm>
          <a:prstGeom prst="rect">
            <a:avLst/>
          </a:prstGeom>
          <a:noFill/>
          <a:ln/>
        </p:spPr>
        <p:txBody>
          <a:bodyPr wrap="none" lIns="0" tIns="0" rIns="0" bIns="0" rtlCol="0" anchor="t"/>
          <a:lstStyle/>
          <a:p>
            <a:pPr marL="0" indent="0" algn="l">
              <a:lnSpc>
                <a:spcPts val="2700"/>
              </a:lnSpc>
              <a:buNone/>
            </a:pPr>
            <a:r>
              <a:rPr lang="en-US" sz="1650" dirty="0">
                <a:solidFill>
                  <a:srgbClr val="000000"/>
                </a:solidFill>
                <a:latin typeface="Libre Baskerville" pitchFamily="34" charset="0"/>
                <a:ea typeface="Libre Baskerville" pitchFamily="34" charset="-122"/>
                <a:cs typeface="Libre Baskerville" pitchFamily="34" charset="-120"/>
              </a:rPr>
              <a:t>Methods to identify and remove or correct noisy data points</a:t>
            </a:r>
            <a:endParaRPr lang="en-US" sz="1650" dirty="0"/>
          </a:p>
        </p:txBody>
      </p:sp>
      <p:sp>
        <p:nvSpPr>
          <p:cNvPr id="7" name="Shape 5"/>
          <p:cNvSpPr/>
          <p:nvPr/>
        </p:nvSpPr>
        <p:spPr>
          <a:xfrm>
            <a:off x="3074075" y="3622358"/>
            <a:ext cx="10656451" cy="15240"/>
          </a:xfrm>
          <a:prstGeom prst="roundRect">
            <a:avLst>
              <a:gd name="adj" fmla="val 592763"/>
            </a:avLst>
          </a:prstGeom>
          <a:solidFill>
            <a:srgbClr val="E5B2B2"/>
          </a:solidFill>
          <a:ln/>
        </p:spPr>
      </p:sp>
      <p:sp>
        <p:nvSpPr>
          <p:cNvPr id="8" name="Shape 6"/>
          <p:cNvSpPr/>
          <p:nvPr/>
        </p:nvSpPr>
        <p:spPr>
          <a:xfrm>
            <a:off x="792361" y="3745111"/>
            <a:ext cx="4348520" cy="1239203"/>
          </a:xfrm>
          <a:prstGeom prst="roundRect">
            <a:avLst>
              <a:gd name="adj" fmla="val 7290"/>
            </a:avLst>
          </a:prstGeom>
          <a:solidFill>
            <a:srgbClr val="FFCCCC"/>
          </a:solidFill>
          <a:ln w="7620">
            <a:solidFill>
              <a:srgbClr val="E5B2B2"/>
            </a:solidFill>
            <a:prstDash val="solid"/>
          </a:ln>
        </p:spPr>
      </p:sp>
      <p:sp>
        <p:nvSpPr>
          <p:cNvPr id="9" name="Text 7"/>
          <p:cNvSpPr/>
          <p:nvPr/>
        </p:nvSpPr>
        <p:spPr>
          <a:xfrm>
            <a:off x="2815352" y="4175641"/>
            <a:ext cx="302419" cy="378023"/>
          </a:xfrm>
          <a:prstGeom prst="rect">
            <a:avLst/>
          </a:prstGeom>
          <a:noFill/>
          <a:ln/>
        </p:spPr>
        <p:txBody>
          <a:bodyPr wrap="none" lIns="0" tIns="0" rIns="0" bIns="0" rtlCol="0" anchor="t"/>
          <a:lstStyle/>
          <a:p>
            <a:pPr marL="0" indent="0" algn="ctr">
              <a:lnSpc>
                <a:spcPts val="3800"/>
              </a:lnSpc>
              <a:buNone/>
            </a:pPr>
            <a:r>
              <a:rPr lang="en-US" sz="2350" b="1" dirty="0">
                <a:solidFill>
                  <a:srgbClr val="000000"/>
                </a:solidFill>
                <a:latin typeface="Libre Baskerville Bold" pitchFamily="34" charset="0"/>
                <a:ea typeface="Libre Baskerville Bold" pitchFamily="34" charset="-122"/>
                <a:cs typeface="Libre Baskerville Bold" pitchFamily="34" charset="-120"/>
              </a:rPr>
              <a:t>2</a:t>
            </a:r>
            <a:endParaRPr lang="en-US" sz="2350" dirty="0"/>
          </a:p>
        </p:txBody>
      </p:sp>
      <p:sp>
        <p:nvSpPr>
          <p:cNvPr id="10" name="Text 8"/>
          <p:cNvSpPr/>
          <p:nvPr/>
        </p:nvSpPr>
        <p:spPr>
          <a:xfrm>
            <a:off x="5355907" y="3960138"/>
            <a:ext cx="2688550" cy="335994"/>
          </a:xfrm>
          <a:prstGeom prst="rect">
            <a:avLst/>
          </a:prstGeom>
          <a:noFill/>
          <a:ln/>
        </p:spPr>
        <p:txBody>
          <a:bodyPr wrap="none" lIns="0" tIns="0" rIns="0" bIns="0" rtlCol="0" anchor="t"/>
          <a:lstStyle/>
          <a:p>
            <a:pPr marL="0" indent="0" algn="l">
              <a:lnSpc>
                <a:spcPts val="2600"/>
              </a:lnSpc>
              <a:buNone/>
            </a:pPr>
            <a:r>
              <a:rPr lang="en-US" sz="2100" b="1" dirty="0">
                <a:solidFill>
                  <a:srgbClr val="000000"/>
                </a:solidFill>
                <a:latin typeface="Libre Baskerville Bold" pitchFamily="34" charset="0"/>
                <a:ea typeface="Libre Baskerville Bold" pitchFamily="34" charset="-122"/>
                <a:cs typeface="Libre Baskerville Bold" pitchFamily="34" charset="-120"/>
              </a:rPr>
              <a:t>Feature Selection</a:t>
            </a:r>
            <a:endParaRPr lang="en-US" sz="2100" dirty="0"/>
          </a:p>
        </p:txBody>
      </p:sp>
      <p:sp>
        <p:nvSpPr>
          <p:cNvPr id="11" name="Text 9"/>
          <p:cNvSpPr/>
          <p:nvPr/>
        </p:nvSpPr>
        <p:spPr>
          <a:xfrm>
            <a:off x="5355907" y="4425077"/>
            <a:ext cx="6897053" cy="344210"/>
          </a:xfrm>
          <a:prstGeom prst="rect">
            <a:avLst/>
          </a:prstGeom>
          <a:noFill/>
          <a:ln/>
        </p:spPr>
        <p:txBody>
          <a:bodyPr wrap="none" lIns="0" tIns="0" rIns="0" bIns="0" rtlCol="0" anchor="t"/>
          <a:lstStyle/>
          <a:p>
            <a:pPr marL="0" indent="0" algn="l">
              <a:lnSpc>
                <a:spcPts val="2700"/>
              </a:lnSpc>
              <a:buNone/>
            </a:pPr>
            <a:r>
              <a:rPr lang="en-US" sz="1650" dirty="0">
                <a:solidFill>
                  <a:srgbClr val="000000"/>
                </a:solidFill>
                <a:latin typeface="Libre Baskerville" pitchFamily="34" charset="0"/>
                <a:ea typeface="Libre Baskerville" pitchFamily="34" charset="-122"/>
                <a:cs typeface="Libre Baskerville" pitchFamily="34" charset="-120"/>
              </a:rPr>
              <a:t>Approaches to identify and focus on the most relevant features</a:t>
            </a:r>
            <a:endParaRPr lang="en-US" sz="1650" dirty="0"/>
          </a:p>
        </p:txBody>
      </p:sp>
      <p:sp>
        <p:nvSpPr>
          <p:cNvPr id="12" name="Shape 10"/>
          <p:cNvSpPr/>
          <p:nvPr/>
        </p:nvSpPr>
        <p:spPr>
          <a:xfrm>
            <a:off x="5248394" y="4969073"/>
            <a:ext cx="8482132" cy="15240"/>
          </a:xfrm>
          <a:prstGeom prst="roundRect">
            <a:avLst>
              <a:gd name="adj" fmla="val 592763"/>
            </a:avLst>
          </a:prstGeom>
          <a:solidFill>
            <a:srgbClr val="E5B2B2"/>
          </a:solidFill>
          <a:ln/>
        </p:spPr>
      </p:sp>
      <p:sp>
        <p:nvSpPr>
          <p:cNvPr id="13" name="Shape 11"/>
          <p:cNvSpPr/>
          <p:nvPr/>
        </p:nvSpPr>
        <p:spPr>
          <a:xfrm>
            <a:off x="792361" y="5091827"/>
            <a:ext cx="6522839" cy="1583412"/>
          </a:xfrm>
          <a:prstGeom prst="roundRect">
            <a:avLst>
              <a:gd name="adj" fmla="val 5705"/>
            </a:avLst>
          </a:prstGeom>
          <a:solidFill>
            <a:srgbClr val="FFCCCC"/>
          </a:solidFill>
          <a:ln w="7620">
            <a:solidFill>
              <a:srgbClr val="E5B2B2"/>
            </a:solidFill>
            <a:prstDash val="solid"/>
          </a:ln>
        </p:spPr>
      </p:sp>
      <p:sp>
        <p:nvSpPr>
          <p:cNvPr id="14" name="Text 12"/>
          <p:cNvSpPr/>
          <p:nvPr/>
        </p:nvSpPr>
        <p:spPr>
          <a:xfrm>
            <a:off x="3902512" y="5694521"/>
            <a:ext cx="302419" cy="378023"/>
          </a:xfrm>
          <a:prstGeom prst="rect">
            <a:avLst/>
          </a:prstGeom>
          <a:noFill/>
          <a:ln/>
        </p:spPr>
        <p:txBody>
          <a:bodyPr wrap="none" lIns="0" tIns="0" rIns="0" bIns="0" rtlCol="0" anchor="t"/>
          <a:lstStyle/>
          <a:p>
            <a:pPr marL="0" indent="0" algn="ctr">
              <a:lnSpc>
                <a:spcPts val="3800"/>
              </a:lnSpc>
              <a:buNone/>
            </a:pPr>
            <a:r>
              <a:rPr lang="en-US" sz="2350" b="1" dirty="0">
                <a:solidFill>
                  <a:srgbClr val="000000"/>
                </a:solidFill>
                <a:latin typeface="Libre Baskerville Bold" pitchFamily="34" charset="0"/>
                <a:ea typeface="Libre Baskerville Bold" pitchFamily="34" charset="-122"/>
                <a:cs typeface="Libre Baskerville Bold" pitchFamily="34" charset="-120"/>
              </a:rPr>
              <a:t>3</a:t>
            </a:r>
            <a:endParaRPr lang="en-US" sz="2350" dirty="0"/>
          </a:p>
        </p:txBody>
      </p:sp>
      <p:sp>
        <p:nvSpPr>
          <p:cNvPr id="15" name="Text 13"/>
          <p:cNvSpPr/>
          <p:nvPr/>
        </p:nvSpPr>
        <p:spPr>
          <a:xfrm>
            <a:off x="7530227" y="5306854"/>
            <a:ext cx="2761178" cy="335994"/>
          </a:xfrm>
          <a:prstGeom prst="rect">
            <a:avLst/>
          </a:prstGeom>
          <a:noFill/>
          <a:ln/>
        </p:spPr>
        <p:txBody>
          <a:bodyPr wrap="none" lIns="0" tIns="0" rIns="0" bIns="0" rtlCol="0" anchor="t"/>
          <a:lstStyle/>
          <a:p>
            <a:pPr marL="0" indent="0" algn="l">
              <a:lnSpc>
                <a:spcPts val="2600"/>
              </a:lnSpc>
              <a:buNone/>
            </a:pPr>
            <a:r>
              <a:rPr lang="en-US" sz="2100" b="1" dirty="0">
                <a:solidFill>
                  <a:srgbClr val="000000"/>
                </a:solidFill>
                <a:latin typeface="Libre Baskerville Bold" pitchFamily="34" charset="0"/>
                <a:ea typeface="Libre Baskerville Bold" pitchFamily="34" charset="-122"/>
                <a:cs typeface="Libre Baskerville Bold" pitchFamily="34" charset="-120"/>
              </a:rPr>
              <a:t>Data Augmentation</a:t>
            </a:r>
            <a:endParaRPr lang="en-US" sz="2100" dirty="0"/>
          </a:p>
        </p:txBody>
      </p:sp>
      <p:sp>
        <p:nvSpPr>
          <p:cNvPr id="16" name="Text 14"/>
          <p:cNvSpPr/>
          <p:nvPr/>
        </p:nvSpPr>
        <p:spPr>
          <a:xfrm>
            <a:off x="7530227" y="5771793"/>
            <a:ext cx="6092785" cy="688419"/>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Libre Baskerville" pitchFamily="34" charset="0"/>
                <a:ea typeface="Libre Baskerville" pitchFamily="34" charset="-122"/>
                <a:cs typeface="Libre Baskerville" pitchFamily="34" charset="-120"/>
              </a:rPr>
              <a:t>Techniques to enhance datasets and build model robustness</a:t>
            </a:r>
            <a:endParaRPr lang="en-US" sz="1650" dirty="0"/>
          </a:p>
        </p:txBody>
      </p:sp>
      <p:sp>
        <p:nvSpPr>
          <p:cNvPr id="17" name="Text 15"/>
          <p:cNvSpPr/>
          <p:nvPr/>
        </p:nvSpPr>
        <p:spPr>
          <a:xfrm>
            <a:off x="792361" y="6917174"/>
            <a:ext cx="13045678" cy="688419"/>
          </a:xfrm>
          <a:prstGeom prst="rect">
            <a:avLst/>
          </a:prstGeom>
          <a:noFill/>
          <a:ln/>
        </p:spPr>
        <p:txBody>
          <a:bodyPr wrap="square" lIns="0" tIns="0" rIns="0" bIns="0" rtlCol="0" anchor="t"/>
          <a:lstStyle/>
          <a:p>
            <a:pPr marL="0" indent="0">
              <a:lnSpc>
                <a:spcPts val="2700"/>
              </a:lnSpc>
              <a:buNone/>
            </a:pPr>
            <a:r>
              <a:rPr lang="en-US" sz="1650" dirty="0">
                <a:solidFill>
                  <a:srgbClr val="000000"/>
                </a:solidFill>
                <a:latin typeface="Libre Baskerville" pitchFamily="34" charset="0"/>
                <a:ea typeface="Libre Baskerville" pitchFamily="34" charset="-122"/>
                <a:cs typeface="Libre Baskerville" pitchFamily="34" charset="-120"/>
              </a:rPr>
              <a:t>To improve model robustness, various techniques can be applied to manage noisy data. These approaches work at different stages of the machine learning pipeline, from preprocessing to model training.</a:t>
            </a:r>
            <a:endParaRPr lang="en-US" sz="1650" dirty="0"/>
          </a:p>
        </p:txBody>
      </p:sp>
      <p:pic>
        <p:nvPicPr>
          <p:cNvPr id="18" name="Image 0" descr="preencoded.png"/>
          <p:cNvPicPr>
            <a:picLocks noChangeAspect="1"/>
          </p:cNvPicPr>
          <p:nvPr/>
        </p:nvPicPr>
        <p:blipFill>
          <a:blip r:embed="rId3"/>
          <a:stretch>
            <a:fillRect/>
          </a:stretch>
        </p:blipFill>
        <p:spPr>
          <a:xfrm>
            <a:off x="13612892" y="228600"/>
            <a:ext cx="788908" cy="59424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1818442"/>
            <a:ext cx="7840147" cy="708779"/>
          </a:xfrm>
          <a:prstGeom prst="rect">
            <a:avLst/>
          </a:prstGeom>
          <a:noFill/>
          <a:ln/>
        </p:spPr>
        <p:txBody>
          <a:bodyPr wrap="none" lIns="0" tIns="0" rIns="0" bIns="0" rtlCol="0" anchor="t"/>
          <a:lstStyle/>
          <a:p>
            <a:pPr marL="0" indent="0">
              <a:lnSpc>
                <a:spcPts val="5550"/>
              </a:lnSpc>
              <a:buNone/>
            </a:pPr>
            <a:r>
              <a:rPr lang="en-US" sz="4450" b="1" dirty="0">
                <a:solidFill>
                  <a:srgbClr val="000000"/>
                </a:solidFill>
                <a:latin typeface="Libre Baskerville Bold" pitchFamily="34" charset="0"/>
                <a:ea typeface="Libre Baskerville Bold" pitchFamily="34" charset="-122"/>
                <a:cs typeface="Libre Baskerville Bold" pitchFamily="34" charset="-120"/>
              </a:rPr>
              <a:t>Data Cleaning Techniques</a:t>
            </a:r>
            <a:endParaRPr lang="en-US" sz="4450" dirty="0"/>
          </a:p>
        </p:txBody>
      </p:sp>
      <p:sp>
        <p:nvSpPr>
          <p:cNvPr id="3" name="Text 1"/>
          <p:cNvSpPr/>
          <p:nvPr/>
        </p:nvSpPr>
        <p:spPr>
          <a:xfrm>
            <a:off x="793790" y="3094196"/>
            <a:ext cx="3978116" cy="708660"/>
          </a:xfrm>
          <a:prstGeom prst="rect">
            <a:avLst/>
          </a:prstGeom>
          <a:noFill/>
          <a:ln/>
        </p:spPr>
        <p:txBody>
          <a:bodyPr wrap="squar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Outlier Detection and Removal</a:t>
            </a:r>
            <a:endParaRPr lang="en-US" sz="2200" dirty="0"/>
          </a:p>
        </p:txBody>
      </p:sp>
      <p:sp>
        <p:nvSpPr>
          <p:cNvPr id="4" name="Text 2"/>
          <p:cNvSpPr/>
          <p:nvPr/>
        </p:nvSpPr>
        <p:spPr>
          <a:xfrm>
            <a:off x="793790" y="4029670"/>
            <a:ext cx="3978116" cy="2177415"/>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Using statistical methods like Z-score, IQR, or machine learning approaches such as Isolation Forest to identify and remove extreme values that could negatively impact model training.</a:t>
            </a:r>
            <a:endParaRPr lang="en-US" sz="1750" dirty="0"/>
          </a:p>
        </p:txBody>
      </p:sp>
      <p:sp>
        <p:nvSpPr>
          <p:cNvPr id="5" name="Text 3"/>
          <p:cNvSpPr/>
          <p:nvPr/>
        </p:nvSpPr>
        <p:spPr>
          <a:xfrm>
            <a:off x="5332928" y="3094196"/>
            <a:ext cx="3512463"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Imputation Techniques</a:t>
            </a:r>
            <a:endParaRPr lang="en-US" sz="2200" dirty="0"/>
          </a:p>
        </p:txBody>
      </p:sp>
      <p:sp>
        <p:nvSpPr>
          <p:cNvPr id="6" name="Text 4"/>
          <p:cNvSpPr/>
          <p:nvPr/>
        </p:nvSpPr>
        <p:spPr>
          <a:xfrm>
            <a:off x="5332928" y="3675340"/>
            <a:ext cx="3978116" cy="1814513"/>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Filling missing values with mean, median, or mode to create a complete dataset that can be more effectively used for model training.</a:t>
            </a:r>
            <a:endParaRPr lang="en-US" sz="1750" dirty="0"/>
          </a:p>
        </p:txBody>
      </p:sp>
      <p:sp>
        <p:nvSpPr>
          <p:cNvPr id="7" name="Text 5"/>
          <p:cNvSpPr/>
          <p:nvPr/>
        </p:nvSpPr>
        <p:spPr>
          <a:xfrm>
            <a:off x="9872067" y="3094196"/>
            <a:ext cx="2835235" cy="354330"/>
          </a:xfrm>
          <a:prstGeom prst="rect">
            <a:avLst/>
          </a:prstGeom>
          <a:noFill/>
          <a:ln/>
        </p:spPr>
        <p:txBody>
          <a:bodyPr wrap="none" lIns="0" tIns="0" rIns="0" bIns="0" rtlCol="0" anchor="t"/>
          <a:lstStyle/>
          <a:p>
            <a:pPr marL="0" indent="0">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Noise Filtering</a:t>
            </a:r>
            <a:endParaRPr lang="en-US" sz="2200" dirty="0"/>
          </a:p>
        </p:txBody>
      </p:sp>
      <p:sp>
        <p:nvSpPr>
          <p:cNvPr id="8" name="Text 6"/>
          <p:cNvSpPr/>
          <p:nvPr/>
        </p:nvSpPr>
        <p:spPr>
          <a:xfrm>
            <a:off x="9872067" y="3675340"/>
            <a:ext cx="3978116" cy="1451610"/>
          </a:xfrm>
          <a:prstGeom prst="rect">
            <a:avLst/>
          </a:prstGeom>
          <a:noFill/>
          <a:ln/>
        </p:spPr>
        <p:txBody>
          <a:bodyPr wrap="square" lIns="0" tIns="0" rIns="0" bIns="0" rtlCol="0" anchor="t"/>
          <a:lstStyle/>
          <a:p>
            <a:pPr marL="0" indent="0">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Using clustering or similarity-based methods to remove anomalies and smooth out noisy patterns in the dataset.</a:t>
            </a:r>
            <a:endParaRPr lang="en-US" sz="1750" dirty="0"/>
          </a:p>
        </p:txBody>
      </p:sp>
      <p:pic>
        <p:nvPicPr>
          <p:cNvPr id="9" name="Image 0" descr="preencoded.png"/>
          <p:cNvPicPr>
            <a:picLocks noChangeAspect="1"/>
          </p:cNvPicPr>
          <p:nvPr/>
        </p:nvPicPr>
        <p:blipFill>
          <a:blip r:embed="rId3"/>
          <a:stretch>
            <a:fillRect/>
          </a:stretch>
        </p:blipFill>
        <p:spPr>
          <a:xfrm>
            <a:off x="13612892" y="228600"/>
            <a:ext cx="788908" cy="5942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742831"/>
            <a:ext cx="7556421" cy="1275874"/>
          </a:xfrm>
          <a:prstGeom prst="rect">
            <a:avLst/>
          </a:prstGeom>
          <a:noFill/>
          <a:ln/>
        </p:spPr>
        <p:txBody>
          <a:bodyPr wrap="square" lIns="0" tIns="0" rIns="0" bIns="0" rtlCol="0" anchor="t"/>
          <a:lstStyle/>
          <a:p>
            <a:pPr marL="0" indent="0">
              <a:lnSpc>
                <a:spcPts val="5000"/>
              </a:lnSpc>
              <a:buNone/>
            </a:pPr>
            <a:r>
              <a:rPr lang="en-US" sz="4000" b="1" dirty="0">
                <a:solidFill>
                  <a:srgbClr val="000000"/>
                </a:solidFill>
                <a:latin typeface="Libre Baskerville Bold" pitchFamily="34" charset="0"/>
                <a:ea typeface="Libre Baskerville Bold" pitchFamily="34" charset="-122"/>
                <a:cs typeface="Libre Baskerville Bold" pitchFamily="34" charset="-120"/>
              </a:rPr>
              <a:t>Feature Selection Techniques</a:t>
            </a:r>
            <a:endParaRPr lang="en-US" sz="4000" dirty="0"/>
          </a:p>
        </p:txBody>
      </p:sp>
      <p:pic>
        <p:nvPicPr>
          <p:cNvPr id="4" name="Image 1" descr="preencoded.png"/>
          <p:cNvPicPr>
            <a:picLocks noChangeAspect="1"/>
          </p:cNvPicPr>
          <p:nvPr/>
        </p:nvPicPr>
        <p:blipFill>
          <a:blip r:embed="rId4"/>
          <a:stretch>
            <a:fillRect/>
          </a:stretch>
        </p:blipFill>
        <p:spPr>
          <a:xfrm>
            <a:off x="6280190" y="2324814"/>
            <a:ext cx="1020723" cy="1829514"/>
          </a:xfrm>
          <a:prstGeom prst="rect">
            <a:avLst/>
          </a:prstGeom>
        </p:spPr>
      </p:pic>
      <p:sp>
        <p:nvSpPr>
          <p:cNvPr id="5" name="Text 1"/>
          <p:cNvSpPr/>
          <p:nvPr/>
        </p:nvSpPr>
        <p:spPr>
          <a:xfrm>
            <a:off x="7607022" y="2528888"/>
            <a:ext cx="4944666"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Principal Component Analysis (PCA)</a:t>
            </a:r>
            <a:endParaRPr lang="en-US" sz="2000" dirty="0"/>
          </a:p>
        </p:txBody>
      </p:sp>
      <p:sp>
        <p:nvSpPr>
          <p:cNvPr id="6" name="Text 2"/>
          <p:cNvSpPr/>
          <p:nvPr/>
        </p:nvSpPr>
        <p:spPr>
          <a:xfrm>
            <a:off x="7607022" y="2970133"/>
            <a:ext cx="6229588" cy="980123"/>
          </a:xfrm>
          <a:prstGeom prst="rect">
            <a:avLst/>
          </a:prstGeom>
          <a:noFill/>
          <a:ln/>
        </p:spPr>
        <p:txBody>
          <a:bodyPr wrap="squar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Reduces dimensionality and filters noise by transforming the data into a new coordinate system where the greatest variances lie on the new axes.</a:t>
            </a:r>
            <a:endParaRPr lang="en-US" sz="1600" dirty="0"/>
          </a:p>
        </p:txBody>
      </p:sp>
      <p:pic>
        <p:nvPicPr>
          <p:cNvPr id="7" name="Image 2" descr="preencoded.png"/>
          <p:cNvPicPr>
            <a:picLocks noChangeAspect="1"/>
          </p:cNvPicPr>
          <p:nvPr/>
        </p:nvPicPr>
        <p:blipFill>
          <a:blip r:embed="rId5"/>
          <a:stretch>
            <a:fillRect/>
          </a:stretch>
        </p:blipFill>
        <p:spPr>
          <a:xfrm>
            <a:off x="6280190" y="4154329"/>
            <a:ext cx="1020723" cy="1502807"/>
          </a:xfrm>
          <a:prstGeom prst="rect">
            <a:avLst/>
          </a:prstGeom>
        </p:spPr>
      </p:pic>
      <p:sp>
        <p:nvSpPr>
          <p:cNvPr id="8" name="Text 3"/>
          <p:cNvSpPr/>
          <p:nvPr/>
        </p:nvSpPr>
        <p:spPr>
          <a:xfrm>
            <a:off x="7607022" y="4358402"/>
            <a:ext cx="5362813"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Mutual Information &amp; Chi-Square Tests</a:t>
            </a:r>
            <a:endParaRPr lang="en-US" sz="2000" dirty="0"/>
          </a:p>
        </p:txBody>
      </p:sp>
      <p:sp>
        <p:nvSpPr>
          <p:cNvPr id="9" name="Text 4"/>
          <p:cNvSpPr/>
          <p:nvPr/>
        </p:nvSpPr>
        <p:spPr>
          <a:xfrm>
            <a:off x="7607022" y="4799648"/>
            <a:ext cx="6229588" cy="653415"/>
          </a:xfrm>
          <a:prstGeom prst="rect">
            <a:avLst/>
          </a:prstGeom>
          <a:noFill/>
          <a:ln/>
        </p:spPr>
        <p:txBody>
          <a:bodyPr wrap="squar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Identify relevant features by measuring the dependency between variables and target outcomes.</a:t>
            </a:r>
            <a:endParaRPr lang="en-US" sz="1600" dirty="0"/>
          </a:p>
        </p:txBody>
      </p:sp>
      <p:pic>
        <p:nvPicPr>
          <p:cNvPr id="10" name="Image 3" descr="preencoded.png"/>
          <p:cNvPicPr>
            <a:picLocks noChangeAspect="1"/>
          </p:cNvPicPr>
          <p:nvPr/>
        </p:nvPicPr>
        <p:blipFill>
          <a:blip r:embed="rId6"/>
          <a:stretch>
            <a:fillRect/>
          </a:stretch>
        </p:blipFill>
        <p:spPr>
          <a:xfrm>
            <a:off x="6280190" y="5657136"/>
            <a:ext cx="1020723" cy="1829514"/>
          </a:xfrm>
          <a:prstGeom prst="rect">
            <a:avLst/>
          </a:prstGeom>
        </p:spPr>
      </p:pic>
      <p:sp>
        <p:nvSpPr>
          <p:cNvPr id="11" name="Text 5"/>
          <p:cNvSpPr/>
          <p:nvPr/>
        </p:nvSpPr>
        <p:spPr>
          <a:xfrm>
            <a:off x="7607022" y="5861209"/>
            <a:ext cx="2551748"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Wrapper Methods</a:t>
            </a:r>
            <a:endParaRPr lang="en-US" sz="2000" dirty="0"/>
          </a:p>
        </p:txBody>
      </p:sp>
      <p:sp>
        <p:nvSpPr>
          <p:cNvPr id="12" name="Text 6"/>
          <p:cNvSpPr/>
          <p:nvPr/>
        </p:nvSpPr>
        <p:spPr>
          <a:xfrm>
            <a:off x="7607022" y="6302454"/>
            <a:ext cx="6229588" cy="980123"/>
          </a:xfrm>
          <a:prstGeom prst="rect">
            <a:avLst/>
          </a:prstGeom>
          <a:noFill/>
          <a:ln/>
        </p:spPr>
        <p:txBody>
          <a:bodyPr wrap="squar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Iterative selection using models like Recursive Feature Elimination (RFE) to progressively remove less important features.</a:t>
            </a:r>
            <a:endParaRPr lang="en-US" sz="1600" dirty="0"/>
          </a:p>
        </p:txBody>
      </p:sp>
      <p:pic>
        <p:nvPicPr>
          <p:cNvPr id="13" name="Image 4" descr="preencoded.png"/>
          <p:cNvPicPr>
            <a:picLocks noChangeAspect="1"/>
          </p:cNvPicPr>
          <p:nvPr/>
        </p:nvPicPr>
        <p:blipFill>
          <a:blip r:embed="rId7"/>
          <a:stretch>
            <a:fillRect/>
          </a:stretch>
        </p:blipFill>
        <p:spPr>
          <a:xfrm>
            <a:off x="13612892" y="228600"/>
            <a:ext cx="788908" cy="59424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661273"/>
            <a:ext cx="7076123" cy="531614"/>
          </a:xfrm>
          <a:prstGeom prst="rect">
            <a:avLst/>
          </a:prstGeom>
          <a:noFill/>
          <a:ln/>
        </p:spPr>
        <p:txBody>
          <a:bodyPr wrap="none" lIns="0" tIns="0" rIns="0" bIns="0" rtlCol="0" anchor="t"/>
          <a:lstStyle/>
          <a:p>
            <a:pPr marL="0" indent="0">
              <a:lnSpc>
                <a:spcPts val="4150"/>
              </a:lnSpc>
              <a:buNone/>
            </a:pPr>
            <a:r>
              <a:rPr lang="en-US" sz="3300" b="1" dirty="0">
                <a:solidFill>
                  <a:srgbClr val="000000"/>
                </a:solidFill>
                <a:latin typeface="Libre Baskerville Bold" pitchFamily="34" charset="0"/>
                <a:ea typeface="Libre Baskerville Bold" pitchFamily="34" charset="-122"/>
                <a:cs typeface="Libre Baskerville Bold" pitchFamily="34" charset="-120"/>
              </a:rPr>
              <a:t>Data Augmentation Techniques</a:t>
            </a:r>
            <a:endParaRPr lang="en-US" sz="3300" dirty="0"/>
          </a:p>
        </p:txBody>
      </p:sp>
      <p:pic>
        <p:nvPicPr>
          <p:cNvPr id="3" name="Image 0" descr="preencoded.png"/>
          <p:cNvPicPr>
            <a:picLocks noChangeAspect="1"/>
          </p:cNvPicPr>
          <p:nvPr/>
        </p:nvPicPr>
        <p:blipFill>
          <a:blip r:embed="rId3"/>
          <a:stretch>
            <a:fillRect/>
          </a:stretch>
        </p:blipFill>
        <p:spPr>
          <a:xfrm>
            <a:off x="801410" y="1644491"/>
            <a:ext cx="4251722" cy="4251722"/>
          </a:xfrm>
          <a:prstGeom prst="rect">
            <a:avLst/>
          </a:prstGeom>
        </p:spPr>
      </p:pic>
      <p:pic>
        <p:nvPicPr>
          <p:cNvPr id="4" name="Image 1" descr="preencoded.png"/>
          <p:cNvPicPr>
            <a:picLocks noChangeAspect="1"/>
          </p:cNvPicPr>
          <p:nvPr/>
        </p:nvPicPr>
        <p:blipFill>
          <a:blip r:embed="rId4"/>
          <a:stretch>
            <a:fillRect/>
          </a:stretch>
        </p:blipFill>
        <p:spPr>
          <a:xfrm>
            <a:off x="5189220" y="1644491"/>
            <a:ext cx="4251841" cy="4251841"/>
          </a:xfrm>
          <a:prstGeom prst="rect">
            <a:avLst/>
          </a:prstGeom>
        </p:spPr>
      </p:pic>
      <p:pic>
        <p:nvPicPr>
          <p:cNvPr id="5" name="Image 2" descr="preencoded.png"/>
          <p:cNvPicPr>
            <a:picLocks noChangeAspect="1"/>
          </p:cNvPicPr>
          <p:nvPr/>
        </p:nvPicPr>
        <p:blipFill>
          <a:blip r:embed="rId5"/>
          <a:stretch>
            <a:fillRect/>
          </a:stretch>
        </p:blipFill>
        <p:spPr>
          <a:xfrm>
            <a:off x="9577149" y="1644491"/>
            <a:ext cx="4251841" cy="4251841"/>
          </a:xfrm>
          <a:prstGeom prst="rect">
            <a:avLst/>
          </a:prstGeom>
        </p:spPr>
      </p:pic>
      <p:sp>
        <p:nvSpPr>
          <p:cNvPr id="6" name="Shape 1"/>
          <p:cNvSpPr/>
          <p:nvPr/>
        </p:nvSpPr>
        <p:spPr>
          <a:xfrm>
            <a:off x="793790" y="6390442"/>
            <a:ext cx="382667" cy="382667"/>
          </a:xfrm>
          <a:prstGeom prst="roundRect">
            <a:avLst>
              <a:gd name="adj" fmla="val 18672"/>
            </a:avLst>
          </a:prstGeom>
          <a:solidFill>
            <a:srgbClr val="FFCCCC"/>
          </a:solidFill>
          <a:ln w="7620">
            <a:solidFill>
              <a:srgbClr val="E5B2B2"/>
            </a:solidFill>
            <a:prstDash val="solid"/>
          </a:ln>
        </p:spPr>
      </p:sp>
      <p:sp>
        <p:nvSpPr>
          <p:cNvPr id="7" name="Text 2"/>
          <p:cNvSpPr/>
          <p:nvPr/>
        </p:nvSpPr>
        <p:spPr>
          <a:xfrm>
            <a:off x="857548" y="6422291"/>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1</a:t>
            </a:r>
            <a:endParaRPr lang="en-US" sz="2000" dirty="0"/>
          </a:p>
        </p:txBody>
      </p:sp>
      <p:sp>
        <p:nvSpPr>
          <p:cNvPr id="8" name="Text 3"/>
          <p:cNvSpPr/>
          <p:nvPr/>
        </p:nvSpPr>
        <p:spPr>
          <a:xfrm>
            <a:off x="1346478" y="6390442"/>
            <a:ext cx="5883712" cy="531495"/>
          </a:xfrm>
          <a:prstGeom prst="rect">
            <a:avLst/>
          </a:prstGeom>
          <a:noFill/>
          <a:ln/>
        </p:spPr>
        <p:txBody>
          <a:bodyPr wrap="square" lIns="0" tIns="0" rIns="0" bIns="0" rtlCol="0" anchor="t"/>
          <a:lstStyle/>
          <a:p>
            <a:pPr marL="0" indent="0">
              <a:lnSpc>
                <a:spcPts val="2050"/>
              </a:lnSpc>
              <a:buNone/>
            </a:pPr>
            <a:r>
              <a:rPr lang="en-US" sz="1650" b="1" dirty="0">
                <a:solidFill>
                  <a:srgbClr val="000000"/>
                </a:solidFill>
                <a:latin typeface="Libre Baskerville Bold" pitchFamily="34" charset="0"/>
                <a:ea typeface="Libre Baskerville Bold" pitchFamily="34" charset="-122"/>
                <a:cs typeface="Libre Baskerville Bold" pitchFamily="34" charset="-120"/>
              </a:rPr>
              <a:t>SMOTE (Synthetic Minority Over-sampling Technique)</a:t>
            </a:r>
            <a:endParaRPr lang="en-US" sz="1650" dirty="0"/>
          </a:p>
        </p:txBody>
      </p:sp>
      <p:sp>
        <p:nvSpPr>
          <p:cNvPr id="9" name="Text 4"/>
          <p:cNvSpPr/>
          <p:nvPr/>
        </p:nvSpPr>
        <p:spPr>
          <a:xfrm>
            <a:off x="1346478" y="7023973"/>
            <a:ext cx="5883712" cy="544354"/>
          </a:xfrm>
          <a:prstGeom prst="rect">
            <a:avLst/>
          </a:prstGeom>
          <a:noFill/>
          <a:ln/>
        </p:spPr>
        <p:txBody>
          <a:bodyPr wrap="square" lIns="0" tIns="0" rIns="0" bIns="0" rtlCol="0" anchor="t"/>
          <a:lstStyle/>
          <a:p>
            <a:pPr marL="0" indent="0">
              <a:lnSpc>
                <a:spcPts val="2100"/>
              </a:lnSpc>
              <a:buNone/>
            </a:pPr>
            <a:r>
              <a:rPr lang="en-US" sz="1300" dirty="0">
                <a:solidFill>
                  <a:srgbClr val="000000"/>
                </a:solidFill>
                <a:latin typeface="Libre Baskerville" pitchFamily="34" charset="0"/>
                <a:ea typeface="Libre Baskerville" pitchFamily="34" charset="-122"/>
                <a:cs typeface="Libre Baskerville" pitchFamily="34" charset="-120"/>
              </a:rPr>
              <a:t>Balances class distributions by creating synthetic examples for minority classes, helping models learn rare patterns better.</a:t>
            </a:r>
            <a:endParaRPr lang="en-US" sz="1300" dirty="0"/>
          </a:p>
        </p:txBody>
      </p:sp>
      <p:sp>
        <p:nvSpPr>
          <p:cNvPr id="10" name="Shape 5"/>
          <p:cNvSpPr/>
          <p:nvPr/>
        </p:nvSpPr>
        <p:spPr>
          <a:xfrm>
            <a:off x="7400211" y="6390442"/>
            <a:ext cx="382667" cy="382667"/>
          </a:xfrm>
          <a:prstGeom prst="roundRect">
            <a:avLst>
              <a:gd name="adj" fmla="val 18672"/>
            </a:avLst>
          </a:prstGeom>
          <a:solidFill>
            <a:srgbClr val="FFCCCC"/>
          </a:solidFill>
          <a:ln w="7620">
            <a:solidFill>
              <a:srgbClr val="E5B2B2"/>
            </a:solidFill>
            <a:prstDash val="solid"/>
          </a:ln>
        </p:spPr>
      </p:sp>
      <p:sp>
        <p:nvSpPr>
          <p:cNvPr id="11" name="Text 6"/>
          <p:cNvSpPr/>
          <p:nvPr/>
        </p:nvSpPr>
        <p:spPr>
          <a:xfrm>
            <a:off x="7463969" y="6422291"/>
            <a:ext cx="255151" cy="318968"/>
          </a:xfrm>
          <a:prstGeom prst="rect">
            <a:avLst/>
          </a:prstGeom>
          <a:noFill/>
          <a:ln/>
        </p:spPr>
        <p:txBody>
          <a:bodyPr wrap="none" lIns="0" tIns="0" rIns="0" bIns="0" rtlCol="0" anchor="t"/>
          <a:lstStyle/>
          <a:p>
            <a:pPr marL="0" indent="0" algn="ctr">
              <a:lnSpc>
                <a:spcPts val="20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2</a:t>
            </a:r>
            <a:endParaRPr lang="en-US" sz="2000" dirty="0"/>
          </a:p>
        </p:txBody>
      </p:sp>
      <p:sp>
        <p:nvSpPr>
          <p:cNvPr id="12" name="Text 7"/>
          <p:cNvSpPr/>
          <p:nvPr/>
        </p:nvSpPr>
        <p:spPr>
          <a:xfrm>
            <a:off x="7952899" y="6390442"/>
            <a:ext cx="2878693" cy="265747"/>
          </a:xfrm>
          <a:prstGeom prst="rect">
            <a:avLst/>
          </a:prstGeom>
          <a:noFill/>
          <a:ln/>
        </p:spPr>
        <p:txBody>
          <a:bodyPr wrap="none" lIns="0" tIns="0" rIns="0" bIns="0" rtlCol="0" anchor="t"/>
          <a:lstStyle/>
          <a:p>
            <a:pPr marL="0" indent="0">
              <a:lnSpc>
                <a:spcPts val="2050"/>
              </a:lnSpc>
              <a:buNone/>
            </a:pPr>
            <a:r>
              <a:rPr lang="en-US" sz="1650" b="1" dirty="0">
                <a:solidFill>
                  <a:srgbClr val="000000"/>
                </a:solidFill>
                <a:latin typeface="Libre Baskerville Bold" pitchFamily="34" charset="0"/>
                <a:ea typeface="Libre Baskerville Bold" pitchFamily="34" charset="-122"/>
                <a:cs typeface="Libre Baskerville Bold" pitchFamily="34" charset="-120"/>
              </a:rPr>
              <a:t>Noisy Data Augmentation</a:t>
            </a:r>
            <a:endParaRPr lang="en-US" sz="1650" dirty="0"/>
          </a:p>
        </p:txBody>
      </p:sp>
      <p:sp>
        <p:nvSpPr>
          <p:cNvPr id="13" name="Text 8"/>
          <p:cNvSpPr/>
          <p:nvPr/>
        </p:nvSpPr>
        <p:spPr>
          <a:xfrm>
            <a:off x="7952899" y="6758226"/>
            <a:ext cx="5883712" cy="544354"/>
          </a:xfrm>
          <a:prstGeom prst="rect">
            <a:avLst/>
          </a:prstGeom>
          <a:noFill/>
          <a:ln/>
        </p:spPr>
        <p:txBody>
          <a:bodyPr wrap="square" lIns="0" tIns="0" rIns="0" bIns="0" rtlCol="0" anchor="t"/>
          <a:lstStyle/>
          <a:p>
            <a:pPr marL="0" indent="0">
              <a:lnSpc>
                <a:spcPts val="2100"/>
              </a:lnSpc>
              <a:buNone/>
            </a:pPr>
            <a:r>
              <a:rPr lang="en-US" sz="1300" dirty="0">
                <a:solidFill>
                  <a:srgbClr val="000000"/>
                </a:solidFill>
                <a:latin typeface="Libre Baskerville" pitchFamily="34" charset="0"/>
                <a:ea typeface="Libre Baskerville" pitchFamily="34" charset="-122"/>
                <a:cs typeface="Libre Baskerville" pitchFamily="34" charset="-120"/>
              </a:rPr>
              <a:t>Controlled noise injection to enhance model robustness by exposing the model to various potential distortions during training.</a:t>
            </a:r>
            <a:endParaRPr lang="en-US" sz="1300" dirty="0"/>
          </a:p>
        </p:txBody>
      </p:sp>
      <p:pic>
        <p:nvPicPr>
          <p:cNvPr id="14" name="Image 3" descr="preencoded.png"/>
          <p:cNvPicPr>
            <a:picLocks noChangeAspect="1"/>
          </p:cNvPicPr>
          <p:nvPr/>
        </p:nvPicPr>
        <p:blipFill>
          <a:blip r:embed="rId6"/>
          <a:stretch>
            <a:fillRect/>
          </a:stretch>
        </p:blipFill>
        <p:spPr>
          <a:xfrm>
            <a:off x="13612892" y="228600"/>
            <a:ext cx="788908" cy="5942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721519"/>
            <a:ext cx="9730502" cy="637937"/>
          </a:xfrm>
          <a:prstGeom prst="rect">
            <a:avLst/>
          </a:prstGeom>
          <a:noFill/>
          <a:ln/>
        </p:spPr>
        <p:txBody>
          <a:bodyPr wrap="none" lIns="0" tIns="0" rIns="0" bIns="0" rtlCol="0" anchor="t"/>
          <a:lstStyle/>
          <a:p>
            <a:pPr marL="0" indent="0">
              <a:lnSpc>
                <a:spcPts val="5000"/>
              </a:lnSpc>
              <a:buNone/>
            </a:pPr>
            <a:r>
              <a:rPr lang="en-US" sz="4000" b="1" dirty="0">
                <a:solidFill>
                  <a:srgbClr val="000000"/>
                </a:solidFill>
                <a:latin typeface="Libre Baskerville Bold" pitchFamily="34" charset="0"/>
                <a:ea typeface="Libre Baskerville Bold" pitchFamily="34" charset="-122"/>
                <a:cs typeface="Libre Baskerville Bold" pitchFamily="34" charset="-120"/>
              </a:rPr>
              <a:t>Introduction to Pruning Techniques</a:t>
            </a:r>
            <a:endParaRPr lang="en-US" sz="4000" dirty="0"/>
          </a:p>
        </p:txBody>
      </p:sp>
      <p:pic>
        <p:nvPicPr>
          <p:cNvPr id="3" name="Image 0" descr="preencoded.png"/>
          <p:cNvPicPr>
            <a:picLocks noChangeAspect="1"/>
          </p:cNvPicPr>
          <p:nvPr/>
        </p:nvPicPr>
        <p:blipFill>
          <a:blip r:embed="rId3"/>
          <a:stretch>
            <a:fillRect/>
          </a:stretch>
        </p:blipFill>
        <p:spPr>
          <a:xfrm>
            <a:off x="3247430" y="1767721"/>
            <a:ext cx="1614011" cy="1176099"/>
          </a:xfrm>
          <a:prstGeom prst="rect">
            <a:avLst/>
          </a:prstGeom>
        </p:spPr>
      </p:pic>
      <p:sp>
        <p:nvSpPr>
          <p:cNvPr id="4" name="Text 1"/>
          <p:cNvSpPr/>
          <p:nvPr/>
        </p:nvSpPr>
        <p:spPr>
          <a:xfrm>
            <a:off x="3910846" y="2322076"/>
            <a:ext cx="287060" cy="358735"/>
          </a:xfrm>
          <a:prstGeom prst="rect">
            <a:avLst/>
          </a:prstGeom>
          <a:noFill/>
          <a:ln/>
        </p:spPr>
        <p:txBody>
          <a:bodyPr wrap="none" lIns="0" tIns="0" rIns="0" bIns="0" rtlCol="0" anchor="t"/>
          <a:lstStyle/>
          <a:p>
            <a:pPr marL="0" indent="0" algn="ctr">
              <a:lnSpc>
                <a:spcPts val="360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1</a:t>
            </a:r>
            <a:endParaRPr lang="en-US" sz="2250" dirty="0"/>
          </a:p>
        </p:txBody>
      </p:sp>
      <p:sp>
        <p:nvSpPr>
          <p:cNvPr id="5" name="Text 2"/>
          <p:cNvSpPr/>
          <p:nvPr/>
        </p:nvSpPr>
        <p:spPr>
          <a:xfrm>
            <a:off x="5065514" y="1971794"/>
            <a:ext cx="2799517"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Improved Efficiency</a:t>
            </a:r>
            <a:endParaRPr lang="en-US" sz="2000" dirty="0"/>
          </a:p>
        </p:txBody>
      </p:sp>
      <p:sp>
        <p:nvSpPr>
          <p:cNvPr id="6" name="Text 3"/>
          <p:cNvSpPr/>
          <p:nvPr/>
        </p:nvSpPr>
        <p:spPr>
          <a:xfrm>
            <a:off x="5065514" y="2413040"/>
            <a:ext cx="2799517" cy="326708"/>
          </a:xfrm>
          <a:prstGeom prst="rect">
            <a:avLst/>
          </a:prstGeom>
          <a:noFill/>
          <a:ln/>
        </p:spPr>
        <p:txBody>
          <a:bodyPr wrap="non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Faster inference time</a:t>
            </a:r>
            <a:endParaRPr lang="en-US" sz="1600" dirty="0"/>
          </a:p>
        </p:txBody>
      </p:sp>
      <p:sp>
        <p:nvSpPr>
          <p:cNvPr id="7" name="Shape 4"/>
          <p:cNvSpPr/>
          <p:nvPr/>
        </p:nvSpPr>
        <p:spPr>
          <a:xfrm>
            <a:off x="4912400" y="2959775"/>
            <a:ext cx="8873252" cy="11430"/>
          </a:xfrm>
          <a:prstGeom prst="roundRect">
            <a:avLst>
              <a:gd name="adj" fmla="val 750139"/>
            </a:avLst>
          </a:prstGeom>
          <a:solidFill>
            <a:srgbClr val="E5B2B2"/>
          </a:solidFill>
          <a:ln/>
        </p:spPr>
      </p:sp>
      <p:pic>
        <p:nvPicPr>
          <p:cNvPr id="8" name="Image 1" descr="preencoded.png"/>
          <p:cNvPicPr>
            <a:picLocks noChangeAspect="1"/>
          </p:cNvPicPr>
          <p:nvPr/>
        </p:nvPicPr>
        <p:blipFill>
          <a:blip r:embed="rId4"/>
          <a:stretch>
            <a:fillRect/>
          </a:stretch>
        </p:blipFill>
        <p:spPr>
          <a:xfrm>
            <a:off x="2440424" y="2994779"/>
            <a:ext cx="3228022" cy="1176099"/>
          </a:xfrm>
          <a:prstGeom prst="rect">
            <a:avLst/>
          </a:prstGeom>
        </p:spPr>
      </p:pic>
      <p:sp>
        <p:nvSpPr>
          <p:cNvPr id="9" name="Text 5"/>
          <p:cNvSpPr/>
          <p:nvPr/>
        </p:nvSpPr>
        <p:spPr>
          <a:xfrm>
            <a:off x="3910846" y="3403402"/>
            <a:ext cx="287060" cy="358735"/>
          </a:xfrm>
          <a:prstGeom prst="rect">
            <a:avLst/>
          </a:prstGeom>
          <a:noFill/>
          <a:ln/>
        </p:spPr>
        <p:txBody>
          <a:bodyPr wrap="none" lIns="0" tIns="0" rIns="0" bIns="0" rtlCol="0" anchor="t"/>
          <a:lstStyle/>
          <a:p>
            <a:pPr marL="0" indent="0" algn="ctr">
              <a:lnSpc>
                <a:spcPts val="360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2</a:t>
            </a:r>
            <a:endParaRPr lang="en-US" sz="2250" dirty="0"/>
          </a:p>
        </p:txBody>
      </p:sp>
      <p:sp>
        <p:nvSpPr>
          <p:cNvPr id="10" name="Text 6"/>
          <p:cNvSpPr/>
          <p:nvPr/>
        </p:nvSpPr>
        <p:spPr>
          <a:xfrm>
            <a:off x="5872520" y="3198852"/>
            <a:ext cx="2757488"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Reduced Overfitting</a:t>
            </a:r>
            <a:endParaRPr lang="en-US" sz="2000" dirty="0"/>
          </a:p>
        </p:txBody>
      </p:sp>
      <p:sp>
        <p:nvSpPr>
          <p:cNvPr id="11" name="Text 7"/>
          <p:cNvSpPr/>
          <p:nvPr/>
        </p:nvSpPr>
        <p:spPr>
          <a:xfrm>
            <a:off x="5872520" y="3640098"/>
            <a:ext cx="2757488" cy="326708"/>
          </a:xfrm>
          <a:prstGeom prst="rect">
            <a:avLst/>
          </a:prstGeom>
          <a:noFill/>
          <a:ln/>
        </p:spPr>
        <p:txBody>
          <a:bodyPr wrap="non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Better generalization</a:t>
            </a:r>
            <a:endParaRPr lang="en-US" sz="1600" dirty="0"/>
          </a:p>
        </p:txBody>
      </p:sp>
      <p:sp>
        <p:nvSpPr>
          <p:cNvPr id="12" name="Shape 8"/>
          <p:cNvSpPr/>
          <p:nvPr/>
        </p:nvSpPr>
        <p:spPr>
          <a:xfrm>
            <a:off x="5719405" y="4186833"/>
            <a:ext cx="8066246" cy="11430"/>
          </a:xfrm>
          <a:prstGeom prst="roundRect">
            <a:avLst>
              <a:gd name="adj" fmla="val 750139"/>
            </a:avLst>
          </a:prstGeom>
          <a:solidFill>
            <a:srgbClr val="E5B2B2"/>
          </a:solidFill>
          <a:ln/>
        </p:spPr>
      </p:sp>
      <p:pic>
        <p:nvPicPr>
          <p:cNvPr id="13" name="Image 2" descr="preencoded.png"/>
          <p:cNvPicPr>
            <a:picLocks noChangeAspect="1"/>
          </p:cNvPicPr>
          <p:nvPr/>
        </p:nvPicPr>
        <p:blipFill>
          <a:blip r:embed="rId5"/>
          <a:stretch>
            <a:fillRect/>
          </a:stretch>
        </p:blipFill>
        <p:spPr>
          <a:xfrm>
            <a:off x="1633418" y="4221837"/>
            <a:ext cx="4842034" cy="1176099"/>
          </a:xfrm>
          <a:prstGeom prst="rect">
            <a:avLst/>
          </a:prstGeom>
        </p:spPr>
      </p:pic>
      <p:sp>
        <p:nvSpPr>
          <p:cNvPr id="14" name="Text 9"/>
          <p:cNvSpPr/>
          <p:nvPr/>
        </p:nvSpPr>
        <p:spPr>
          <a:xfrm>
            <a:off x="3910846" y="4630460"/>
            <a:ext cx="287060" cy="358735"/>
          </a:xfrm>
          <a:prstGeom prst="rect">
            <a:avLst/>
          </a:prstGeom>
          <a:noFill/>
          <a:ln/>
        </p:spPr>
        <p:txBody>
          <a:bodyPr wrap="none" lIns="0" tIns="0" rIns="0" bIns="0" rtlCol="0" anchor="t"/>
          <a:lstStyle/>
          <a:p>
            <a:pPr marL="0" indent="0" algn="ctr">
              <a:lnSpc>
                <a:spcPts val="360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3</a:t>
            </a:r>
            <a:endParaRPr lang="en-US" sz="2250" dirty="0"/>
          </a:p>
        </p:txBody>
      </p:sp>
      <p:sp>
        <p:nvSpPr>
          <p:cNvPr id="15" name="Text 10"/>
          <p:cNvSpPr/>
          <p:nvPr/>
        </p:nvSpPr>
        <p:spPr>
          <a:xfrm>
            <a:off x="6679525" y="4425910"/>
            <a:ext cx="2551748"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Simplified Model</a:t>
            </a:r>
            <a:endParaRPr lang="en-US" sz="2000" dirty="0"/>
          </a:p>
        </p:txBody>
      </p:sp>
      <p:sp>
        <p:nvSpPr>
          <p:cNvPr id="16" name="Text 11"/>
          <p:cNvSpPr/>
          <p:nvPr/>
        </p:nvSpPr>
        <p:spPr>
          <a:xfrm>
            <a:off x="6679525" y="4867156"/>
            <a:ext cx="3597473" cy="326708"/>
          </a:xfrm>
          <a:prstGeom prst="rect">
            <a:avLst/>
          </a:prstGeom>
          <a:noFill/>
          <a:ln/>
        </p:spPr>
        <p:txBody>
          <a:bodyPr wrap="non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Removal of redundant parameters</a:t>
            </a:r>
            <a:endParaRPr lang="en-US" sz="1600" dirty="0"/>
          </a:p>
        </p:txBody>
      </p:sp>
      <p:sp>
        <p:nvSpPr>
          <p:cNvPr id="17" name="Shape 12"/>
          <p:cNvSpPr/>
          <p:nvPr/>
        </p:nvSpPr>
        <p:spPr>
          <a:xfrm>
            <a:off x="6526411" y="5413891"/>
            <a:ext cx="7259241" cy="11430"/>
          </a:xfrm>
          <a:prstGeom prst="roundRect">
            <a:avLst>
              <a:gd name="adj" fmla="val 750139"/>
            </a:avLst>
          </a:prstGeom>
          <a:solidFill>
            <a:srgbClr val="E5B2B2"/>
          </a:solidFill>
          <a:ln/>
        </p:spPr>
      </p:sp>
      <p:pic>
        <p:nvPicPr>
          <p:cNvPr id="18" name="Image 3" descr="preencoded.png"/>
          <p:cNvPicPr>
            <a:picLocks noChangeAspect="1"/>
          </p:cNvPicPr>
          <p:nvPr/>
        </p:nvPicPr>
        <p:blipFill>
          <a:blip r:embed="rId6"/>
          <a:stretch>
            <a:fillRect/>
          </a:stretch>
        </p:blipFill>
        <p:spPr>
          <a:xfrm>
            <a:off x="826294" y="5448895"/>
            <a:ext cx="6456164" cy="1176099"/>
          </a:xfrm>
          <a:prstGeom prst="rect">
            <a:avLst/>
          </a:prstGeom>
        </p:spPr>
      </p:pic>
      <p:sp>
        <p:nvSpPr>
          <p:cNvPr id="19" name="Text 13"/>
          <p:cNvSpPr/>
          <p:nvPr/>
        </p:nvSpPr>
        <p:spPr>
          <a:xfrm>
            <a:off x="3910727" y="5857518"/>
            <a:ext cx="287060" cy="358735"/>
          </a:xfrm>
          <a:prstGeom prst="rect">
            <a:avLst/>
          </a:prstGeom>
          <a:noFill/>
          <a:ln/>
        </p:spPr>
        <p:txBody>
          <a:bodyPr wrap="none" lIns="0" tIns="0" rIns="0" bIns="0" rtlCol="0" anchor="t"/>
          <a:lstStyle/>
          <a:p>
            <a:pPr marL="0" indent="0" algn="ctr">
              <a:lnSpc>
                <a:spcPts val="360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4</a:t>
            </a:r>
            <a:endParaRPr lang="en-US" sz="2250" dirty="0"/>
          </a:p>
        </p:txBody>
      </p:sp>
      <p:sp>
        <p:nvSpPr>
          <p:cNvPr id="20" name="Text 14"/>
          <p:cNvSpPr/>
          <p:nvPr/>
        </p:nvSpPr>
        <p:spPr>
          <a:xfrm>
            <a:off x="7486531" y="5652968"/>
            <a:ext cx="2551748" cy="318849"/>
          </a:xfrm>
          <a:prstGeom prst="rect">
            <a:avLst/>
          </a:prstGeom>
          <a:noFill/>
          <a:ln/>
        </p:spPr>
        <p:txBody>
          <a:bodyPr wrap="none" lIns="0" tIns="0" rIns="0" bIns="0" rtlCol="0" anchor="t"/>
          <a:lstStyle/>
          <a:p>
            <a:pPr marL="0" indent="0" algn="l">
              <a:lnSpc>
                <a:spcPts val="2500"/>
              </a:lnSpc>
              <a:buNone/>
            </a:pPr>
            <a:r>
              <a:rPr lang="en-US" sz="2000" b="1" dirty="0">
                <a:solidFill>
                  <a:srgbClr val="000000"/>
                </a:solidFill>
                <a:latin typeface="Libre Baskerville Bold" pitchFamily="34" charset="0"/>
                <a:ea typeface="Libre Baskerville Bold" pitchFamily="34" charset="-122"/>
                <a:cs typeface="Libre Baskerville Bold" pitchFamily="34" charset="-120"/>
              </a:rPr>
              <a:t>Base Model</a:t>
            </a:r>
            <a:endParaRPr lang="en-US" sz="2000" dirty="0"/>
          </a:p>
        </p:txBody>
      </p:sp>
      <p:sp>
        <p:nvSpPr>
          <p:cNvPr id="21" name="Text 15"/>
          <p:cNvSpPr/>
          <p:nvPr/>
        </p:nvSpPr>
        <p:spPr>
          <a:xfrm>
            <a:off x="7486531" y="6094214"/>
            <a:ext cx="4172307" cy="326708"/>
          </a:xfrm>
          <a:prstGeom prst="rect">
            <a:avLst/>
          </a:prstGeom>
          <a:noFill/>
          <a:ln/>
        </p:spPr>
        <p:txBody>
          <a:bodyPr wrap="none" lIns="0" tIns="0" rIns="0" bIns="0" rtlCol="0" anchor="t"/>
          <a:lstStyle/>
          <a:p>
            <a:pPr marL="0" indent="0" algn="l">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Complex with unnecessary components</a:t>
            </a:r>
            <a:endParaRPr lang="en-US" sz="1600" dirty="0"/>
          </a:p>
        </p:txBody>
      </p:sp>
      <p:sp>
        <p:nvSpPr>
          <p:cNvPr id="22" name="Text 16"/>
          <p:cNvSpPr/>
          <p:nvPr/>
        </p:nvSpPr>
        <p:spPr>
          <a:xfrm>
            <a:off x="793790" y="6854547"/>
            <a:ext cx="13042821" cy="653415"/>
          </a:xfrm>
          <a:prstGeom prst="rect">
            <a:avLst/>
          </a:prstGeom>
          <a:noFill/>
          <a:ln/>
        </p:spPr>
        <p:txBody>
          <a:bodyPr wrap="square" lIns="0" tIns="0" rIns="0" bIns="0" rtlCol="0" anchor="t"/>
          <a:lstStyle/>
          <a:p>
            <a:pPr marL="0" indent="0">
              <a:lnSpc>
                <a:spcPts val="2550"/>
              </a:lnSpc>
              <a:buNone/>
            </a:pPr>
            <a:r>
              <a:rPr lang="en-US" sz="1600" dirty="0">
                <a:solidFill>
                  <a:srgbClr val="000000"/>
                </a:solidFill>
                <a:latin typeface="Libre Baskerville" pitchFamily="34" charset="0"/>
                <a:ea typeface="Libre Baskerville" pitchFamily="34" charset="-122"/>
                <a:cs typeface="Libre Baskerville" pitchFamily="34" charset="-120"/>
              </a:rPr>
              <a:t>Pruning is a method used to remove unnecessary parameters or nodes from machine learning models to reduce overfitting and improve efficiency. It acts as a form of regularization that helps models generalize better to unseen data.</a:t>
            </a:r>
            <a:endParaRPr lang="en-US" sz="1600" dirty="0"/>
          </a:p>
        </p:txBody>
      </p:sp>
      <p:pic>
        <p:nvPicPr>
          <p:cNvPr id="23" name="Image 4" descr="preencoded.png"/>
          <p:cNvPicPr>
            <a:picLocks noChangeAspect="1"/>
          </p:cNvPicPr>
          <p:nvPr/>
        </p:nvPicPr>
        <p:blipFill>
          <a:blip r:embed="rId7"/>
          <a:stretch>
            <a:fillRect/>
          </a:stretch>
        </p:blipFill>
        <p:spPr>
          <a:xfrm>
            <a:off x="13612892" y="228600"/>
            <a:ext cx="788908" cy="59424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93790" y="638413"/>
            <a:ext cx="6438424" cy="673418"/>
          </a:xfrm>
          <a:prstGeom prst="rect">
            <a:avLst/>
          </a:prstGeom>
          <a:noFill/>
          <a:ln/>
        </p:spPr>
        <p:txBody>
          <a:bodyPr wrap="none" lIns="0" tIns="0" rIns="0" bIns="0" rtlCol="0" anchor="t"/>
          <a:lstStyle/>
          <a:p>
            <a:pPr marL="0" indent="0">
              <a:lnSpc>
                <a:spcPts val="5300"/>
              </a:lnSpc>
              <a:buNone/>
            </a:pPr>
            <a:r>
              <a:rPr lang="en-US" sz="4200" b="1" dirty="0">
                <a:solidFill>
                  <a:srgbClr val="000000"/>
                </a:solidFill>
                <a:latin typeface="Libre Baskerville Bold" pitchFamily="34" charset="0"/>
                <a:ea typeface="Libre Baskerville Bold" pitchFamily="34" charset="-122"/>
                <a:cs typeface="Libre Baskerville Bold" pitchFamily="34" charset="-120"/>
              </a:rPr>
              <a:t>Decision Tree Pruning</a:t>
            </a:r>
            <a:endParaRPr lang="en-US" sz="4200" dirty="0"/>
          </a:p>
        </p:txBody>
      </p:sp>
      <p:pic>
        <p:nvPicPr>
          <p:cNvPr id="3" name="Image 0" descr="preencoded.png"/>
          <p:cNvPicPr>
            <a:picLocks noChangeAspect="1"/>
          </p:cNvPicPr>
          <p:nvPr/>
        </p:nvPicPr>
        <p:blipFill>
          <a:blip r:embed="rId3"/>
          <a:stretch>
            <a:fillRect/>
          </a:stretch>
        </p:blipFill>
        <p:spPr>
          <a:xfrm>
            <a:off x="793790" y="1742718"/>
            <a:ext cx="6041827" cy="3734038"/>
          </a:xfrm>
          <a:prstGeom prst="rect">
            <a:avLst/>
          </a:prstGeom>
        </p:spPr>
      </p:pic>
      <p:sp>
        <p:nvSpPr>
          <p:cNvPr id="4" name="Text 1"/>
          <p:cNvSpPr/>
          <p:nvPr/>
        </p:nvSpPr>
        <p:spPr>
          <a:xfrm>
            <a:off x="793790" y="5746075"/>
            <a:ext cx="414004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Libre Baskerville Bold" pitchFamily="34" charset="0"/>
                <a:ea typeface="Libre Baskerville Bold" pitchFamily="34" charset="-122"/>
                <a:cs typeface="Libre Baskerville Bold" pitchFamily="34" charset="-120"/>
              </a:rPr>
              <a:t>Pre-Pruning (Early Stopping)</a:t>
            </a:r>
            <a:endParaRPr lang="en-US" sz="2100" dirty="0"/>
          </a:p>
        </p:txBody>
      </p:sp>
      <p:sp>
        <p:nvSpPr>
          <p:cNvPr id="5" name="Text 2"/>
          <p:cNvSpPr/>
          <p:nvPr/>
        </p:nvSpPr>
        <p:spPr>
          <a:xfrm>
            <a:off x="793790" y="6211848"/>
            <a:ext cx="6359843" cy="137922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Libre Baskerville" pitchFamily="34" charset="0"/>
                <a:ea typeface="Libre Baskerville" pitchFamily="34" charset="-122"/>
                <a:cs typeface="Libre Baskerville" pitchFamily="34" charset="-120"/>
              </a:rPr>
              <a:t>Halts tree growth based on constraints like depth or minimum samples per split. This approach prevents the tree from becoming too complex during the building phase.</a:t>
            </a:r>
            <a:endParaRPr lang="en-US" sz="1650" dirty="0"/>
          </a:p>
        </p:txBody>
      </p:sp>
      <p:pic>
        <p:nvPicPr>
          <p:cNvPr id="6" name="Image 1" descr="preencoded.png"/>
          <p:cNvPicPr>
            <a:picLocks noChangeAspect="1"/>
          </p:cNvPicPr>
          <p:nvPr/>
        </p:nvPicPr>
        <p:blipFill>
          <a:blip r:embed="rId4"/>
          <a:stretch>
            <a:fillRect/>
          </a:stretch>
        </p:blipFill>
        <p:spPr>
          <a:xfrm>
            <a:off x="7476768" y="1742718"/>
            <a:ext cx="6041827" cy="3734038"/>
          </a:xfrm>
          <a:prstGeom prst="rect">
            <a:avLst/>
          </a:prstGeom>
        </p:spPr>
      </p:pic>
      <p:sp>
        <p:nvSpPr>
          <p:cNvPr id="7" name="Text 3"/>
          <p:cNvSpPr/>
          <p:nvPr/>
        </p:nvSpPr>
        <p:spPr>
          <a:xfrm>
            <a:off x="7476768" y="5746075"/>
            <a:ext cx="5746433"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Libre Baskerville Bold" pitchFamily="34" charset="0"/>
                <a:ea typeface="Libre Baskerville Bold" pitchFamily="34" charset="-122"/>
                <a:cs typeface="Libre Baskerville Bold" pitchFamily="34" charset="-120"/>
              </a:rPr>
              <a:t>Post-Pruning (Cost Complexity Pruning)</a:t>
            </a:r>
            <a:endParaRPr lang="en-US" sz="2100" dirty="0"/>
          </a:p>
        </p:txBody>
      </p:sp>
      <p:sp>
        <p:nvSpPr>
          <p:cNvPr id="8" name="Text 4"/>
          <p:cNvSpPr/>
          <p:nvPr/>
        </p:nvSpPr>
        <p:spPr>
          <a:xfrm>
            <a:off x="7476768" y="6211848"/>
            <a:ext cx="6359843" cy="137922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Libre Baskerville" pitchFamily="34" charset="0"/>
                <a:ea typeface="Libre Baskerville" pitchFamily="34" charset="-122"/>
                <a:cs typeface="Libre Baskerville" pitchFamily="34" charset="-120"/>
              </a:rPr>
              <a:t>Removes branches with minimal impact on accuracy using techniques like Reduced Error Pruning. This is done after the tree is fully constructed to optimize its structure.</a:t>
            </a:r>
            <a:endParaRPr lang="en-US" sz="1650" dirty="0"/>
          </a:p>
        </p:txBody>
      </p:sp>
      <p:pic>
        <p:nvPicPr>
          <p:cNvPr id="9" name="Image 2" descr="preencoded.png"/>
          <p:cNvPicPr>
            <a:picLocks noChangeAspect="1"/>
          </p:cNvPicPr>
          <p:nvPr/>
        </p:nvPicPr>
        <p:blipFill>
          <a:blip r:embed="rId5"/>
          <a:stretch>
            <a:fillRect/>
          </a:stretch>
        </p:blipFill>
        <p:spPr>
          <a:xfrm>
            <a:off x="13612892" y="228600"/>
            <a:ext cx="788908" cy="59424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785813" y="617458"/>
            <a:ext cx="6971705" cy="666512"/>
          </a:xfrm>
          <a:prstGeom prst="rect">
            <a:avLst/>
          </a:prstGeom>
          <a:noFill/>
          <a:ln/>
        </p:spPr>
        <p:txBody>
          <a:bodyPr wrap="none" lIns="0" tIns="0" rIns="0" bIns="0" rtlCol="0" anchor="t"/>
          <a:lstStyle/>
          <a:p>
            <a:pPr marL="0" indent="0">
              <a:lnSpc>
                <a:spcPts val="5200"/>
              </a:lnSpc>
              <a:buNone/>
            </a:pPr>
            <a:r>
              <a:rPr lang="en-US" sz="4150" b="1" dirty="0">
                <a:solidFill>
                  <a:srgbClr val="000000"/>
                </a:solidFill>
                <a:latin typeface="Libre Baskerville Bold" pitchFamily="34" charset="0"/>
                <a:ea typeface="Libre Baskerville Bold" pitchFamily="34" charset="-122"/>
                <a:cs typeface="Libre Baskerville Bold" pitchFamily="34" charset="-120"/>
              </a:rPr>
              <a:t>Neural Network Pruning</a:t>
            </a:r>
            <a:endParaRPr lang="en-US" sz="4150" dirty="0"/>
          </a:p>
        </p:txBody>
      </p:sp>
      <p:sp>
        <p:nvSpPr>
          <p:cNvPr id="3" name="Text 1"/>
          <p:cNvSpPr/>
          <p:nvPr/>
        </p:nvSpPr>
        <p:spPr>
          <a:xfrm>
            <a:off x="2073116" y="3287673"/>
            <a:ext cx="2666405" cy="333375"/>
          </a:xfrm>
          <a:prstGeom prst="rect">
            <a:avLst/>
          </a:prstGeom>
          <a:noFill/>
          <a:ln/>
        </p:spPr>
        <p:txBody>
          <a:bodyPr wrap="none" lIns="0" tIns="0" rIns="0" bIns="0" rtlCol="0" anchor="t"/>
          <a:lstStyle/>
          <a:p>
            <a:pPr marL="0" indent="0" algn="r">
              <a:lnSpc>
                <a:spcPts val="2600"/>
              </a:lnSpc>
              <a:buNone/>
            </a:pPr>
            <a:r>
              <a:rPr lang="en-US" sz="2050" b="1" dirty="0">
                <a:solidFill>
                  <a:srgbClr val="000000"/>
                </a:solidFill>
                <a:latin typeface="Libre Baskerville Bold" pitchFamily="34" charset="0"/>
                <a:ea typeface="Libre Baskerville Bold" pitchFamily="34" charset="-122"/>
                <a:cs typeface="Libre Baskerville Bold" pitchFamily="34" charset="-120"/>
              </a:rPr>
              <a:t>Weight Pruning</a:t>
            </a:r>
            <a:endParaRPr lang="en-US" sz="2050" dirty="0"/>
          </a:p>
        </p:txBody>
      </p:sp>
      <p:sp>
        <p:nvSpPr>
          <p:cNvPr id="4" name="Text 2"/>
          <p:cNvSpPr/>
          <p:nvPr/>
        </p:nvSpPr>
        <p:spPr>
          <a:xfrm>
            <a:off x="785813" y="3748921"/>
            <a:ext cx="3953708" cy="682704"/>
          </a:xfrm>
          <a:prstGeom prst="rect">
            <a:avLst/>
          </a:prstGeom>
          <a:noFill/>
          <a:ln/>
        </p:spPr>
        <p:txBody>
          <a:bodyPr wrap="square" lIns="0" tIns="0" rIns="0" bIns="0" rtlCol="0" anchor="t"/>
          <a:lstStyle/>
          <a:p>
            <a:pPr marL="0" indent="0" algn="r">
              <a:lnSpc>
                <a:spcPts val="2650"/>
              </a:lnSpc>
              <a:buNone/>
            </a:pPr>
            <a:r>
              <a:rPr lang="en-US" sz="1650" dirty="0">
                <a:solidFill>
                  <a:srgbClr val="000000"/>
                </a:solidFill>
                <a:latin typeface="Libre Baskerville" pitchFamily="34" charset="0"/>
                <a:ea typeface="Libre Baskerville" pitchFamily="34" charset="-122"/>
                <a:cs typeface="Libre Baskerville" pitchFamily="34" charset="-120"/>
              </a:rPr>
              <a:t>Eliminates small weights in neural networks</a:t>
            </a:r>
            <a:endParaRPr lang="en-US" sz="1650" dirty="0"/>
          </a:p>
        </p:txBody>
      </p:sp>
      <p:pic>
        <p:nvPicPr>
          <p:cNvPr id="5" name="Image 0" descr="preencoded.png"/>
          <p:cNvPicPr>
            <a:picLocks noChangeAspect="1"/>
          </p:cNvPicPr>
          <p:nvPr/>
        </p:nvPicPr>
        <p:blipFill>
          <a:blip r:embed="rId3"/>
          <a:stretch>
            <a:fillRect/>
          </a:stretch>
        </p:blipFill>
        <p:spPr>
          <a:xfrm>
            <a:off x="5166122" y="1710571"/>
            <a:ext cx="4298156" cy="4298156"/>
          </a:xfrm>
          <a:prstGeom prst="rect">
            <a:avLst/>
          </a:prstGeom>
        </p:spPr>
      </p:pic>
      <p:sp>
        <p:nvSpPr>
          <p:cNvPr id="6" name="Text 3"/>
          <p:cNvSpPr/>
          <p:nvPr/>
        </p:nvSpPr>
        <p:spPr>
          <a:xfrm>
            <a:off x="5673626" y="3401437"/>
            <a:ext cx="319088" cy="398859"/>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1</a:t>
            </a:r>
            <a:endParaRPr lang="en-US" sz="2500" dirty="0"/>
          </a:p>
        </p:txBody>
      </p:sp>
      <p:sp>
        <p:nvSpPr>
          <p:cNvPr id="7" name="Text 4"/>
          <p:cNvSpPr/>
          <p:nvPr/>
        </p:nvSpPr>
        <p:spPr>
          <a:xfrm>
            <a:off x="9784199" y="2303740"/>
            <a:ext cx="2666405" cy="333375"/>
          </a:xfrm>
          <a:prstGeom prst="rect">
            <a:avLst/>
          </a:prstGeom>
          <a:noFill/>
          <a:ln/>
        </p:spPr>
        <p:txBody>
          <a:bodyPr wrap="none" lIns="0" tIns="0" rIns="0" bIns="0" rtlCol="0" anchor="t"/>
          <a:lstStyle/>
          <a:p>
            <a:pPr marL="0" indent="0" algn="l">
              <a:lnSpc>
                <a:spcPts val="2600"/>
              </a:lnSpc>
              <a:buNone/>
            </a:pPr>
            <a:r>
              <a:rPr lang="en-US" sz="2050" b="1" dirty="0">
                <a:solidFill>
                  <a:srgbClr val="000000"/>
                </a:solidFill>
                <a:latin typeface="Libre Baskerville Bold" pitchFamily="34" charset="0"/>
                <a:ea typeface="Libre Baskerville Bold" pitchFamily="34" charset="-122"/>
                <a:cs typeface="Libre Baskerville Bold" pitchFamily="34" charset="-120"/>
              </a:rPr>
              <a:t>Neuron Pruning</a:t>
            </a:r>
            <a:endParaRPr lang="en-US" sz="2050" dirty="0"/>
          </a:p>
        </p:txBody>
      </p:sp>
      <p:sp>
        <p:nvSpPr>
          <p:cNvPr id="8" name="Text 5"/>
          <p:cNvSpPr/>
          <p:nvPr/>
        </p:nvSpPr>
        <p:spPr>
          <a:xfrm>
            <a:off x="9784199" y="2764988"/>
            <a:ext cx="4060388" cy="341352"/>
          </a:xfrm>
          <a:prstGeom prst="rect">
            <a:avLst/>
          </a:prstGeom>
          <a:noFill/>
          <a:ln/>
        </p:spPr>
        <p:txBody>
          <a:bodyPr wrap="none" lIns="0" tIns="0" rIns="0" bIns="0" rtlCol="0" anchor="t"/>
          <a:lstStyle/>
          <a:p>
            <a:pPr marL="0" indent="0" algn="l">
              <a:lnSpc>
                <a:spcPts val="2650"/>
              </a:lnSpc>
              <a:buNone/>
            </a:pPr>
            <a:r>
              <a:rPr lang="en-US" sz="1650" dirty="0">
                <a:solidFill>
                  <a:srgbClr val="000000"/>
                </a:solidFill>
                <a:latin typeface="Libre Baskerville" pitchFamily="34" charset="0"/>
                <a:ea typeface="Libre Baskerville" pitchFamily="34" charset="-122"/>
                <a:cs typeface="Libre Baskerville" pitchFamily="34" charset="-120"/>
              </a:rPr>
              <a:t>Removes redundant neurons</a:t>
            </a:r>
            <a:endParaRPr lang="en-US" sz="1650" dirty="0"/>
          </a:p>
        </p:txBody>
      </p:sp>
      <p:pic>
        <p:nvPicPr>
          <p:cNvPr id="9" name="Image 1" descr="preencoded.png"/>
          <p:cNvPicPr>
            <a:picLocks noChangeAspect="1"/>
          </p:cNvPicPr>
          <p:nvPr/>
        </p:nvPicPr>
        <p:blipFill>
          <a:blip r:embed="rId4"/>
          <a:stretch>
            <a:fillRect/>
          </a:stretch>
        </p:blipFill>
        <p:spPr>
          <a:xfrm>
            <a:off x="5166122" y="1710571"/>
            <a:ext cx="4298156" cy="4298156"/>
          </a:xfrm>
          <a:prstGeom prst="rect">
            <a:avLst/>
          </a:prstGeom>
        </p:spPr>
      </p:pic>
      <p:sp>
        <p:nvSpPr>
          <p:cNvPr id="10" name="Text 6"/>
          <p:cNvSpPr/>
          <p:nvPr/>
        </p:nvSpPr>
        <p:spPr>
          <a:xfrm>
            <a:off x="8120479" y="2505968"/>
            <a:ext cx="319088" cy="398859"/>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2</a:t>
            </a:r>
            <a:endParaRPr lang="en-US" sz="2500" dirty="0"/>
          </a:p>
        </p:txBody>
      </p:sp>
      <p:sp>
        <p:nvSpPr>
          <p:cNvPr id="11" name="Text 7"/>
          <p:cNvSpPr/>
          <p:nvPr/>
        </p:nvSpPr>
        <p:spPr>
          <a:xfrm>
            <a:off x="9784199" y="4612838"/>
            <a:ext cx="2742367" cy="333375"/>
          </a:xfrm>
          <a:prstGeom prst="rect">
            <a:avLst/>
          </a:prstGeom>
          <a:noFill/>
          <a:ln/>
        </p:spPr>
        <p:txBody>
          <a:bodyPr wrap="none" lIns="0" tIns="0" rIns="0" bIns="0" rtlCol="0" anchor="t"/>
          <a:lstStyle/>
          <a:p>
            <a:pPr marL="0" indent="0" algn="l">
              <a:lnSpc>
                <a:spcPts val="2600"/>
              </a:lnSpc>
              <a:buNone/>
            </a:pPr>
            <a:r>
              <a:rPr lang="en-US" sz="2050" b="1" dirty="0">
                <a:solidFill>
                  <a:srgbClr val="000000"/>
                </a:solidFill>
                <a:latin typeface="Libre Baskerville Bold" pitchFamily="34" charset="0"/>
                <a:ea typeface="Libre Baskerville Bold" pitchFamily="34" charset="-122"/>
                <a:cs typeface="Libre Baskerville Bold" pitchFamily="34" charset="-120"/>
              </a:rPr>
              <a:t>Structured Pruning</a:t>
            </a:r>
            <a:endParaRPr lang="en-US" sz="2050" dirty="0"/>
          </a:p>
        </p:txBody>
      </p:sp>
      <p:sp>
        <p:nvSpPr>
          <p:cNvPr id="12" name="Text 8"/>
          <p:cNvSpPr/>
          <p:nvPr/>
        </p:nvSpPr>
        <p:spPr>
          <a:xfrm>
            <a:off x="9784199" y="5074087"/>
            <a:ext cx="4060388" cy="341352"/>
          </a:xfrm>
          <a:prstGeom prst="rect">
            <a:avLst/>
          </a:prstGeom>
          <a:noFill/>
          <a:ln/>
        </p:spPr>
        <p:txBody>
          <a:bodyPr wrap="none" lIns="0" tIns="0" rIns="0" bIns="0" rtlCol="0" anchor="t"/>
          <a:lstStyle/>
          <a:p>
            <a:pPr marL="0" indent="0" algn="l">
              <a:lnSpc>
                <a:spcPts val="2650"/>
              </a:lnSpc>
              <a:buNone/>
            </a:pPr>
            <a:r>
              <a:rPr lang="en-US" sz="1650" dirty="0">
                <a:solidFill>
                  <a:srgbClr val="000000"/>
                </a:solidFill>
                <a:latin typeface="Libre Baskerville" pitchFamily="34" charset="0"/>
                <a:ea typeface="Libre Baskerville" pitchFamily="34" charset="-122"/>
                <a:cs typeface="Libre Baskerville" pitchFamily="34" charset="-120"/>
              </a:rPr>
              <a:t>Removes entire layers or channels</a:t>
            </a:r>
            <a:endParaRPr lang="en-US" sz="1650" dirty="0"/>
          </a:p>
        </p:txBody>
      </p:sp>
      <p:pic>
        <p:nvPicPr>
          <p:cNvPr id="13" name="Image 2" descr="preencoded.png"/>
          <p:cNvPicPr>
            <a:picLocks noChangeAspect="1"/>
          </p:cNvPicPr>
          <p:nvPr/>
        </p:nvPicPr>
        <p:blipFill>
          <a:blip r:embed="rId5"/>
          <a:stretch>
            <a:fillRect/>
          </a:stretch>
        </p:blipFill>
        <p:spPr>
          <a:xfrm>
            <a:off x="5166122" y="1710571"/>
            <a:ext cx="4298156" cy="4298156"/>
          </a:xfrm>
          <a:prstGeom prst="rect">
            <a:avLst/>
          </a:prstGeom>
        </p:spPr>
      </p:pic>
      <p:sp>
        <p:nvSpPr>
          <p:cNvPr id="14" name="Text 9"/>
          <p:cNvSpPr/>
          <p:nvPr/>
        </p:nvSpPr>
        <p:spPr>
          <a:xfrm>
            <a:off x="7672566" y="5072836"/>
            <a:ext cx="319088" cy="398859"/>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3</a:t>
            </a:r>
            <a:endParaRPr lang="en-US" sz="2500" dirty="0"/>
          </a:p>
        </p:txBody>
      </p:sp>
      <p:sp>
        <p:nvSpPr>
          <p:cNvPr id="15" name="Text 10"/>
          <p:cNvSpPr/>
          <p:nvPr/>
        </p:nvSpPr>
        <p:spPr>
          <a:xfrm>
            <a:off x="785813" y="6248638"/>
            <a:ext cx="13058775" cy="1365409"/>
          </a:xfrm>
          <a:prstGeom prst="rect">
            <a:avLst/>
          </a:prstGeom>
          <a:noFill/>
          <a:ln/>
        </p:spPr>
        <p:txBody>
          <a:bodyPr wrap="square" lIns="0" tIns="0" rIns="0" bIns="0" rtlCol="0" anchor="t"/>
          <a:lstStyle/>
          <a:p>
            <a:pPr marL="0" indent="0">
              <a:lnSpc>
                <a:spcPts val="2650"/>
              </a:lnSpc>
              <a:buNone/>
            </a:pPr>
            <a:r>
              <a:rPr lang="en-US" sz="1650" dirty="0">
                <a:solidFill>
                  <a:srgbClr val="000000"/>
                </a:solidFill>
                <a:latin typeface="Libre Baskerville" pitchFamily="34" charset="0"/>
                <a:ea typeface="Libre Baskerville" pitchFamily="34" charset="-122"/>
                <a:cs typeface="Libre Baskerville" pitchFamily="34" charset="-120"/>
              </a:rPr>
              <a:t>Neural network pruning involves systematically removing components of the network while maintaining accuracy. Weight pruning eliminates small weights in neural networks, reducing complexity. Neuron pruning removes redundant neurons while maintaining accuracy. Structured pruning removes entire layers or channels in convolutional networks for more efficient computation.</a:t>
            </a:r>
            <a:endParaRPr lang="en-US" sz="1650" dirty="0"/>
          </a:p>
        </p:txBody>
      </p:sp>
      <p:pic>
        <p:nvPicPr>
          <p:cNvPr id="16" name="Image 3" descr="preencoded.png"/>
          <p:cNvPicPr>
            <a:picLocks noChangeAspect="1"/>
          </p:cNvPicPr>
          <p:nvPr/>
        </p:nvPicPr>
        <p:blipFill>
          <a:blip r:embed="rId6"/>
          <a:stretch>
            <a:fillRect/>
          </a:stretch>
        </p:blipFill>
        <p:spPr>
          <a:xfrm>
            <a:off x="13612892" y="228600"/>
            <a:ext cx="788908" cy="59424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409944"/>
          </a:xfrm>
          <a:prstGeom prst="rect">
            <a:avLst/>
          </a:prstGeom>
        </p:spPr>
      </p:pic>
      <p:sp>
        <p:nvSpPr>
          <p:cNvPr id="3" name="Text 0"/>
          <p:cNvSpPr/>
          <p:nvPr/>
        </p:nvSpPr>
        <p:spPr>
          <a:xfrm>
            <a:off x="793790" y="3094434"/>
            <a:ext cx="5587008" cy="602456"/>
          </a:xfrm>
          <a:prstGeom prst="rect">
            <a:avLst/>
          </a:prstGeom>
          <a:noFill/>
          <a:ln/>
        </p:spPr>
        <p:txBody>
          <a:bodyPr wrap="none" lIns="0" tIns="0" rIns="0" bIns="0" rtlCol="0" anchor="t"/>
          <a:lstStyle/>
          <a:p>
            <a:pPr marL="0" indent="0">
              <a:lnSpc>
                <a:spcPts val="4700"/>
              </a:lnSpc>
              <a:buNone/>
            </a:pPr>
            <a:r>
              <a:rPr lang="en-US" sz="3750" b="1" dirty="0">
                <a:solidFill>
                  <a:srgbClr val="000000"/>
                </a:solidFill>
                <a:latin typeface="Libre Baskerville Bold" pitchFamily="34" charset="0"/>
                <a:ea typeface="Libre Baskerville Bold" pitchFamily="34" charset="-122"/>
                <a:cs typeface="Libre Baskerville Bold" pitchFamily="34" charset="-120"/>
              </a:rPr>
              <a:t>Model-Based Pruning</a:t>
            </a:r>
            <a:endParaRPr lang="en-US" sz="3750" dirty="0"/>
          </a:p>
        </p:txBody>
      </p:sp>
      <p:sp>
        <p:nvSpPr>
          <p:cNvPr id="4" name="Shape 1"/>
          <p:cNvSpPr/>
          <p:nvPr/>
        </p:nvSpPr>
        <p:spPr>
          <a:xfrm>
            <a:off x="7303770" y="3986093"/>
            <a:ext cx="22860" cy="3559016"/>
          </a:xfrm>
          <a:prstGeom prst="roundRect">
            <a:avLst>
              <a:gd name="adj" fmla="val 354232"/>
            </a:avLst>
          </a:prstGeom>
          <a:solidFill>
            <a:srgbClr val="E5B2B2"/>
          </a:solidFill>
          <a:ln/>
        </p:spPr>
      </p:sp>
      <p:sp>
        <p:nvSpPr>
          <p:cNvPr id="5" name="Shape 2"/>
          <p:cNvSpPr/>
          <p:nvPr/>
        </p:nvSpPr>
        <p:spPr>
          <a:xfrm>
            <a:off x="6542782" y="4408289"/>
            <a:ext cx="578406" cy="22860"/>
          </a:xfrm>
          <a:prstGeom prst="roundRect">
            <a:avLst>
              <a:gd name="adj" fmla="val 354232"/>
            </a:avLst>
          </a:prstGeom>
          <a:solidFill>
            <a:srgbClr val="E5B2B2"/>
          </a:solidFill>
          <a:ln/>
        </p:spPr>
      </p:sp>
      <p:sp>
        <p:nvSpPr>
          <p:cNvPr id="6" name="Shape 3"/>
          <p:cNvSpPr/>
          <p:nvPr/>
        </p:nvSpPr>
        <p:spPr>
          <a:xfrm>
            <a:off x="7098328" y="4202906"/>
            <a:ext cx="433745" cy="433745"/>
          </a:xfrm>
          <a:prstGeom prst="roundRect">
            <a:avLst>
              <a:gd name="adj" fmla="val 18669"/>
            </a:avLst>
          </a:prstGeom>
          <a:solidFill>
            <a:srgbClr val="FFCCCC"/>
          </a:solidFill>
          <a:ln w="7620">
            <a:solidFill>
              <a:srgbClr val="E5B2B2"/>
            </a:solidFill>
            <a:prstDash val="solid"/>
          </a:ln>
        </p:spPr>
      </p:sp>
      <p:sp>
        <p:nvSpPr>
          <p:cNvPr id="7" name="Text 4"/>
          <p:cNvSpPr/>
          <p:nvPr/>
        </p:nvSpPr>
        <p:spPr>
          <a:xfrm>
            <a:off x="7170539" y="4238982"/>
            <a:ext cx="289203" cy="361474"/>
          </a:xfrm>
          <a:prstGeom prst="rect">
            <a:avLst/>
          </a:prstGeom>
          <a:noFill/>
          <a:ln/>
        </p:spPr>
        <p:txBody>
          <a:bodyPr wrap="none" lIns="0" tIns="0" rIns="0" bIns="0" rtlCol="0" anchor="t"/>
          <a:lstStyle/>
          <a:p>
            <a:pPr marL="0" indent="0" algn="ctr">
              <a:lnSpc>
                <a:spcPts val="225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1</a:t>
            </a:r>
            <a:endParaRPr lang="en-US" sz="2250" dirty="0"/>
          </a:p>
        </p:txBody>
      </p:sp>
      <p:sp>
        <p:nvSpPr>
          <p:cNvPr id="8" name="Text 5"/>
          <p:cNvSpPr/>
          <p:nvPr/>
        </p:nvSpPr>
        <p:spPr>
          <a:xfrm>
            <a:off x="3674507" y="4178856"/>
            <a:ext cx="2676763" cy="301228"/>
          </a:xfrm>
          <a:prstGeom prst="rect">
            <a:avLst/>
          </a:prstGeom>
          <a:noFill/>
          <a:ln/>
        </p:spPr>
        <p:txBody>
          <a:bodyPr wrap="none" lIns="0" tIns="0" rIns="0" bIns="0" rtlCol="0" anchor="t"/>
          <a:lstStyle/>
          <a:p>
            <a:pPr marL="0" indent="0" algn="r">
              <a:lnSpc>
                <a:spcPts val="235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L1/L2 Regularization</a:t>
            </a:r>
            <a:endParaRPr lang="en-US" sz="1850" dirty="0"/>
          </a:p>
        </p:txBody>
      </p:sp>
      <p:sp>
        <p:nvSpPr>
          <p:cNvPr id="9" name="Text 6"/>
          <p:cNvSpPr/>
          <p:nvPr/>
        </p:nvSpPr>
        <p:spPr>
          <a:xfrm>
            <a:off x="793790" y="4595693"/>
            <a:ext cx="5557480" cy="925116"/>
          </a:xfrm>
          <a:prstGeom prst="rect">
            <a:avLst/>
          </a:prstGeom>
          <a:noFill/>
          <a:ln/>
        </p:spPr>
        <p:txBody>
          <a:bodyPr wrap="square" lIns="0" tIns="0" rIns="0" bIns="0" rtlCol="0" anchor="t"/>
          <a:lstStyle/>
          <a:p>
            <a:pPr marL="0" indent="0" algn="r">
              <a:lnSpc>
                <a:spcPts val="2400"/>
              </a:lnSpc>
              <a:buNone/>
            </a:pPr>
            <a:r>
              <a:rPr lang="en-US" sz="1500" dirty="0">
                <a:solidFill>
                  <a:srgbClr val="000000"/>
                </a:solidFill>
                <a:latin typeface="Libre Baskerville" pitchFamily="34" charset="0"/>
                <a:ea typeface="Libre Baskerville" pitchFamily="34" charset="-122"/>
                <a:cs typeface="Libre Baskerville" pitchFamily="34" charset="-120"/>
              </a:rPr>
              <a:t>Enforces sparsity to remove redundant weights by adding penalty terms to the loss function based on weight magnitudes.</a:t>
            </a:r>
            <a:endParaRPr lang="en-US" sz="1500" dirty="0"/>
          </a:p>
        </p:txBody>
      </p:sp>
      <p:sp>
        <p:nvSpPr>
          <p:cNvPr id="10" name="Shape 7"/>
          <p:cNvSpPr/>
          <p:nvPr/>
        </p:nvSpPr>
        <p:spPr>
          <a:xfrm>
            <a:off x="7509212" y="5372219"/>
            <a:ext cx="578406" cy="22860"/>
          </a:xfrm>
          <a:prstGeom prst="roundRect">
            <a:avLst>
              <a:gd name="adj" fmla="val 354232"/>
            </a:avLst>
          </a:prstGeom>
          <a:solidFill>
            <a:srgbClr val="E5B2B2"/>
          </a:solidFill>
          <a:ln/>
        </p:spPr>
      </p:sp>
      <p:sp>
        <p:nvSpPr>
          <p:cNvPr id="11" name="Shape 8"/>
          <p:cNvSpPr/>
          <p:nvPr/>
        </p:nvSpPr>
        <p:spPr>
          <a:xfrm>
            <a:off x="7098328" y="5166836"/>
            <a:ext cx="433745" cy="433745"/>
          </a:xfrm>
          <a:prstGeom prst="roundRect">
            <a:avLst>
              <a:gd name="adj" fmla="val 18669"/>
            </a:avLst>
          </a:prstGeom>
          <a:solidFill>
            <a:srgbClr val="FFCCCC"/>
          </a:solidFill>
          <a:ln w="7620">
            <a:solidFill>
              <a:srgbClr val="E5B2B2"/>
            </a:solidFill>
            <a:prstDash val="solid"/>
          </a:ln>
        </p:spPr>
      </p:sp>
      <p:sp>
        <p:nvSpPr>
          <p:cNvPr id="12" name="Text 9"/>
          <p:cNvSpPr/>
          <p:nvPr/>
        </p:nvSpPr>
        <p:spPr>
          <a:xfrm>
            <a:off x="7170539" y="5202912"/>
            <a:ext cx="289203" cy="361474"/>
          </a:xfrm>
          <a:prstGeom prst="rect">
            <a:avLst/>
          </a:prstGeom>
          <a:noFill/>
          <a:ln/>
        </p:spPr>
        <p:txBody>
          <a:bodyPr wrap="none" lIns="0" tIns="0" rIns="0" bIns="0" rtlCol="0" anchor="t"/>
          <a:lstStyle/>
          <a:p>
            <a:pPr marL="0" indent="0" algn="ctr">
              <a:lnSpc>
                <a:spcPts val="225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2</a:t>
            </a:r>
            <a:endParaRPr lang="en-US" sz="2250" dirty="0"/>
          </a:p>
        </p:txBody>
      </p:sp>
      <p:sp>
        <p:nvSpPr>
          <p:cNvPr id="13" name="Text 10"/>
          <p:cNvSpPr/>
          <p:nvPr/>
        </p:nvSpPr>
        <p:spPr>
          <a:xfrm>
            <a:off x="8279130" y="5142786"/>
            <a:ext cx="2409944" cy="301228"/>
          </a:xfrm>
          <a:prstGeom prst="rect">
            <a:avLst/>
          </a:prstGeom>
          <a:noFill/>
          <a:ln/>
        </p:spPr>
        <p:txBody>
          <a:bodyPr wrap="none" lIns="0" tIns="0" rIns="0" bIns="0" rtlCol="0" anchor="t"/>
          <a:lstStyle/>
          <a:p>
            <a:pPr marL="0" indent="0" algn="l">
              <a:lnSpc>
                <a:spcPts val="235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Dropout</a:t>
            </a:r>
            <a:endParaRPr lang="en-US" sz="1850" dirty="0"/>
          </a:p>
        </p:txBody>
      </p:sp>
      <p:sp>
        <p:nvSpPr>
          <p:cNvPr id="14" name="Text 11"/>
          <p:cNvSpPr/>
          <p:nvPr/>
        </p:nvSpPr>
        <p:spPr>
          <a:xfrm>
            <a:off x="8279130" y="5559623"/>
            <a:ext cx="5557480" cy="925116"/>
          </a:xfrm>
          <a:prstGeom prst="rect">
            <a:avLst/>
          </a:prstGeom>
          <a:noFill/>
          <a:ln/>
        </p:spPr>
        <p:txBody>
          <a:bodyPr wrap="square" lIns="0" tIns="0" rIns="0" bIns="0" rtlCol="0" anchor="t"/>
          <a:lstStyle/>
          <a:p>
            <a:pPr marL="0" indent="0" algn="l">
              <a:lnSpc>
                <a:spcPts val="2400"/>
              </a:lnSpc>
              <a:buNone/>
            </a:pPr>
            <a:r>
              <a:rPr lang="en-US" sz="1500" dirty="0">
                <a:solidFill>
                  <a:srgbClr val="000000"/>
                </a:solidFill>
                <a:latin typeface="Libre Baskerville" pitchFamily="34" charset="0"/>
                <a:ea typeface="Libre Baskerville" pitchFamily="34" charset="-122"/>
                <a:cs typeface="Libre Baskerville" pitchFamily="34" charset="-120"/>
              </a:rPr>
              <a:t>Prevents co-adaptation by randomly dropping neurons during training, effectively training an ensemble of sub-networks.</a:t>
            </a:r>
            <a:endParaRPr lang="en-US" sz="1500" dirty="0"/>
          </a:p>
        </p:txBody>
      </p:sp>
      <p:sp>
        <p:nvSpPr>
          <p:cNvPr id="15" name="Shape 12"/>
          <p:cNvSpPr/>
          <p:nvPr/>
        </p:nvSpPr>
        <p:spPr>
          <a:xfrm>
            <a:off x="6542782" y="6332339"/>
            <a:ext cx="578406" cy="22860"/>
          </a:xfrm>
          <a:prstGeom prst="roundRect">
            <a:avLst>
              <a:gd name="adj" fmla="val 354232"/>
            </a:avLst>
          </a:prstGeom>
          <a:solidFill>
            <a:srgbClr val="E5B2B2"/>
          </a:solidFill>
          <a:ln/>
        </p:spPr>
      </p:sp>
      <p:sp>
        <p:nvSpPr>
          <p:cNvPr id="16" name="Shape 13"/>
          <p:cNvSpPr/>
          <p:nvPr/>
        </p:nvSpPr>
        <p:spPr>
          <a:xfrm>
            <a:off x="7098328" y="6126956"/>
            <a:ext cx="433745" cy="433745"/>
          </a:xfrm>
          <a:prstGeom prst="roundRect">
            <a:avLst>
              <a:gd name="adj" fmla="val 18669"/>
            </a:avLst>
          </a:prstGeom>
          <a:solidFill>
            <a:srgbClr val="FFCCCC"/>
          </a:solidFill>
          <a:ln w="7620">
            <a:solidFill>
              <a:srgbClr val="E5B2B2"/>
            </a:solidFill>
            <a:prstDash val="solid"/>
          </a:ln>
        </p:spPr>
      </p:sp>
      <p:sp>
        <p:nvSpPr>
          <p:cNvPr id="17" name="Text 14"/>
          <p:cNvSpPr/>
          <p:nvPr/>
        </p:nvSpPr>
        <p:spPr>
          <a:xfrm>
            <a:off x="7170539" y="6163032"/>
            <a:ext cx="289203" cy="361474"/>
          </a:xfrm>
          <a:prstGeom prst="rect">
            <a:avLst/>
          </a:prstGeom>
          <a:noFill/>
          <a:ln/>
        </p:spPr>
        <p:txBody>
          <a:bodyPr wrap="none" lIns="0" tIns="0" rIns="0" bIns="0" rtlCol="0" anchor="t"/>
          <a:lstStyle/>
          <a:p>
            <a:pPr marL="0" indent="0" algn="ctr">
              <a:lnSpc>
                <a:spcPts val="2250"/>
              </a:lnSpc>
              <a:buNone/>
            </a:pPr>
            <a:r>
              <a:rPr lang="en-US" sz="2250" b="1" dirty="0">
                <a:solidFill>
                  <a:srgbClr val="000000"/>
                </a:solidFill>
                <a:latin typeface="Libre Baskerville Bold" pitchFamily="34" charset="0"/>
                <a:ea typeface="Libre Baskerville Bold" pitchFamily="34" charset="-122"/>
                <a:cs typeface="Libre Baskerville Bold" pitchFamily="34" charset="-120"/>
              </a:rPr>
              <a:t>3</a:t>
            </a:r>
            <a:endParaRPr lang="en-US" sz="2250" dirty="0"/>
          </a:p>
        </p:txBody>
      </p:sp>
      <p:sp>
        <p:nvSpPr>
          <p:cNvPr id="18" name="Text 15"/>
          <p:cNvSpPr/>
          <p:nvPr/>
        </p:nvSpPr>
        <p:spPr>
          <a:xfrm>
            <a:off x="2987993" y="6102906"/>
            <a:ext cx="3363278" cy="301228"/>
          </a:xfrm>
          <a:prstGeom prst="rect">
            <a:avLst/>
          </a:prstGeom>
          <a:noFill/>
          <a:ln/>
        </p:spPr>
        <p:txBody>
          <a:bodyPr wrap="none" lIns="0" tIns="0" rIns="0" bIns="0" rtlCol="0" anchor="t"/>
          <a:lstStyle/>
          <a:p>
            <a:pPr marL="0" indent="0" algn="r">
              <a:lnSpc>
                <a:spcPts val="235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Magnitude-Based Pruning</a:t>
            </a:r>
            <a:endParaRPr lang="en-US" sz="1850" dirty="0"/>
          </a:p>
        </p:txBody>
      </p:sp>
      <p:sp>
        <p:nvSpPr>
          <p:cNvPr id="19" name="Text 16"/>
          <p:cNvSpPr/>
          <p:nvPr/>
        </p:nvSpPr>
        <p:spPr>
          <a:xfrm>
            <a:off x="793790" y="6519743"/>
            <a:ext cx="5557480" cy="616744"/>
          </a:xfrm>
          <a:prstGeom prst="rect">
            <a:avLst/>
          </a:prstGeom>
          <a:noFill/>
          <a:ln/>
        </p:spPr>
        <p:txBody>
          <a:bodyPr wrap="square" lIns="0" tIns="0" rIns="0" bIns="0" rtlCol="0" anchor="t"/>
          <a:lstStyle/>
          <a:p>
            <a:pPr marL="0" indent="0" algn="r">
              <a:lnSpc>
                <a:spcPts val="2400"/>
              </a:lnSpc>
              <a:buNone/>
            </a:pPr>
            <a:r>
              <a:rPr lang="en-US" sz="1500" dirty="0">
                <a:solidFill>
                  <a:srgbClr val="000000"/>
                </a:solidFill>
                <a:latin typeface="Libre Baskerville" pitchFamily="34" charset="0"/>
                <a:ea typeface="Libre Baskerville" pitchFamily="34" charset="-122"/>
                <a:cs typeface="Libre Baskerville" pitchFamily="34" charset="-120"/>
              </a:rPr>
              <a:t>Removes weights below a certain threshold, assuming smaller weights contribute less to the final output.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706160"/>
            <a:ext cx="6358771" cy="566976"/>
          </a:xfrm>
          <a:prstGeom prst="rect">
            <a:avLst/>
          </a:prstGeom>
          <a:noFill/>
          <a:ln/>
        </p:spPr>
        <p:txBody>
          <a:bodyPr wrap="none" lIns="0" tIns="0" rIns="0" bIns="0" rtlCol="0" anchor="t"/>
          <a:lstStyle/>
          <a:p>
            <a:pPr marL="0" indent="0">
              <a:lnSpc>
                <a:spcPts val="4450"/>
              </a:lnSpc>
              <a:buNone/>
            </a:pPr>
            <a:r>
              <a:rPr lang="en-US" sz="3550" b="1" dirty="0">
                <a:solidFill>
                  <a:srgbClr val="000000"/>
                </a:solidFill>
                <a:latin typeface="Libre Baskerville Bold" pitchFamily="34" charset="0"/>
                <a:ea typeface="Libre Baskerville Bold" pitchFamily="34" charset="-122"/>
                <a:cs typeface="Libre Baskerville Bold" pitchFamily="34" charset="-120"/>
              </a:rPr>
              <a:t>Applications in Healthcare</a:t>
            </a:r>
            <a:endParaRPr lang="en-US" sz="3550" dirty="0"/>
          </a:p>
        </p:txBody>
      </p:sp>
      <p:sp>
        <p:nvSpPr>
          <p:cNvPr id="4" name="Text 1"/>
          <p:cNvSpPr/>
          <p:nvPr/>
        </p:nvSpPr>
        <p:spPr>
          <a:xfrm>
            <a:off x="793790" y="1636038"/>
            <a:ext cx="3642122" cy="598765"/>
          </a:xfrm>
          <a:prstGeom prst="rect">
            <a:avLst/>
          </a:prstGeom>
          <a:noFill/>
          <a:ln/>
        </p:spPr>
        <p:txBody>
          <a:bodyPr wrap="none" lIns="0" tIns="0" rIns="0" bIns="0" rtlCol="0" anchor="t"/>
          <a:lstStyle/>
          <a:p>
            <a:pPr marL="0" indent="0" algn="ctr">
              <a:lnSpc>
                <a:spcPts val="4700"/>
              </a:lnSpc>
              <a:buNone/>
            </a:pPr>
            <a:r>
              <a:rPr lang="en-US" sz="4700" b="1" dirty="0">
                <a:solidFill>
                  <a:srgbClr val="000000"/>
                </a:solidFill>
                <a:latin typeface="Libre Baskerville Bold" pitchFamily="34" charset="0"/>
                <a:ea typeface="Libre Baskerville Bold" pitchFamily="34" charset="-122"/>
                <a:cs typeface="Libre Baskerville Bold" pitchFamily="34" charset="-120"/>
              </a:rPr>
              <a:t>99.5%</a:t>
            </a:r>
            <a:endParaRPr lang="en-US" sz="4700" dirty="0"/>
          </a:p>
        </p:txBody>
      </p:sp>
      <p:sp>
        <p:nvSpPr>
          <p:cNvPr id="5" name="Text 2"/>
          <p:cNvSpPr/>
          <p:nvPr/>
        </p:nvSpPr>
        <p:spPr>
          <a:xfrm>
            <a:off x="1395055" y="2461617"/>
            <a:ext cx="2439472" cy="283488"/>
          </a:xfrm>
          <a:prstGeom prst="rect">
            <a:avLst/>
          </a:prstGeom>
          <a:noFill/>
          <a:ln/>
        </p:spPr>
        <p:txBody>
          <a:bodyPr wrap="none" lIns="0" tIns="0" rIns="0" bIns="0" rtlCol="0" anchor="t"/>
          <a:lstStyle/>
          <a:p>
            <a:pPr marL="0" indent="0" algn="ctr">
              <a:lnSpc>
                <a:spcPts val="2200"/>
              </a:lnSpc>
              <a:buNone/>
            </a:pPr>
            <a:r>
              <a:rPr lang="en-US" sz="1750" b="1" dirty="0">
                <a:solidFill>
                  <a:srgbClr val="000000"/>
                </a:solidFill>
                <a:latin typeface="Libre Baskerville Bold" pitchFamily="34" charset="0"/>
                <a:ea typeface="Libre Baskerville Bold" pitchFamily="34" charset="-122"/>
                <a:cs typeface="Libre Baskerville Bold" pitchFamily="34" charset="-120"/>
              </a:rPr>
              <a:t>Diagnostic Accuracy</a:t>
            </a:r>
            <a:endParaRPr lang="en-US" sz="1750" dirty="0"/>
          </a:p>
        </p:txBody>
      </p:sp>
      <p:sp>
        <p:nvSpPr>
          <p:cNvPr id="6" name="Text 3"/>
          <p:cNvSpPr/>
          <p:nvPr/>
        </p:nvSpPr>
        <p:spPr>
          <a:xfrm>
            <a:off x="793790" y="2853928"/>
            <a:ext cx="3642122" cy="580549"/>
          </a:xfrm>
          <a:prstGeom prst="rect">
            <a:avLst/>
          </a:prstGeom>
          <a:noFill/>
          <a:ln/>
        </p:spPr>
        <p:txBody>
          <a:bodyPr wrap="square" lIns="0" tIns="0" rIns="0" bIns="0" rtlCol="0" anchor="t"/>
          <a:lstStyle/>
          <a:p>
            <a:pPr marL="0" indent="0" algn="ctr">
              <a:lnSpc>
                <a:spcPts val="2250"/>
              </a:lnSpc>
              <a:buNone/>
            </a:pPr>
            <a:r>
              <a:rPr lang="en-US" sz="1400" dirty="0">
                <a:solidFill>
                  <a:srgbClr val="000000"/>
                </a:solidFill>
                <a:latin typeface="Libre Baskerville" pitchFamily="34" charset="0"/>
                <a:ea typeface="Libre Baskerville" pitchFamily="34" charset="-122"/>
                <a:cs typeface="Libre Baskerville" pitchFamily="34" charset="-120"/>
              </a:rPr>
              <a:t>Potential accuracy after noise removal in medical imaging.</a:t>
            </a:r>
            <a:endParaRPr lang="en-US" sz="1400" dirty="0"/>
          </a:p>
        </p:txBody>
      </p:sp>
      <p:sp>
        <p:nvSpPr>
          <p:cNvPr id="7" name="Text 4"/>
          <p:cNvSpPr/>
          <p:nvPr/>
        </p:nvSpPr>
        <p:spPr>
          <a:xfrm>
            <a:off x="4708088" y="1636038"/>
            <a:ext cx="3642122" cy="598765"/>
          </a:xfrm>
          <a:prstGeom prst="rect">
            <a:avLst/>
          </a:prstGeom>
          <a:noFill/>
          <a:ln/>
        </p:spPr>
        <p:txBody>
          <a:bodyPr wrap="none" lIns="0" tIns="0" rIns="0" bIns="0" rtlCol="0" anchor="t"/>
          <a:lstStyle/>
          <a:p>
            <a:pPr marL="0" indent="0" algn="ctr">
              <a:lnSpc>
                <a:spcPts val="4700"/>
              </a:lnSpc>
              <a:buNone/>
            </a:pPr>
            <a:r>
              <a:rPr lang="en-US" sz="4700" b="1" dirty="0">
                <a:solidFill>
                  <a:srgbClr val="000000"/>
                </a:solidFill>
                <a:latin typeface="Libre Baskerville Bold" pitchFamily="34" charset="0"/>
                <a:ea typeface="Libre Baskerville Bold" pitchFamily="34" charset="-122"/>
                <a:cs typeface="Libre Baskerville Bold" pitchFamily="34" charset="-120"/>
              </a:rPr>
              <a:t>60%</a:t>
            </a:r>
            <a:endParaRPr lang="en-US" sz="4700" dirty="0"/>
          </a:p>
        </p:txBody>
      </p:sp>
      <p:sp>
        <p:nvSpPr>
          <p:cNvPr id="8" name="Text 5"/>
          <p:cNvSpPr/>
          <p:nvPr/>
        </p:nvSpPr>
        <p:spPr>
          <a:xfrm>
            <a:off x="5212437" y="2461617"/>
            <a:ext cx="2633305" cy="283488"/>
          </a:xfrm>
          <a:prstGeom prst="rect">
            <a:avLst/>
          </a:prstGeom>
          <a:noFill/>
          <a:ln/>
        </p:spPr>
        <p:txBody>
          <a:bodyPr wrap="none" lIns="0" tIns="0" rIns="0" bIns="0" rtlCol="0" anchor="t"/>
          <a:lstStyle/>
          <a:p>
            <a:pPr marL="0" indent="0" algn="ctr">
              <a:lnSpc>
                <a:spcPts val="2200"/>
              </a:lnSpc>
              <a:buNone/>
            </a:pPr>
            <a:r>
              <a:rPr lang="en-US" sz="1750" b="1" dirty="0">
                <a:solidFill>
                  <a:srgbClr val="000000"/>
                </a:solidFill>
                <a:latin typeface="Libre Baskerville Bold" pitchFamily="34" charset="0"/>
                <a:ea typeface="Libre Baskerville Bold" pitchFamily="34" charset="-122"/>
                <a:cs typeface="Libre Baskerville Bold" pitchFamily="34" charset="-120"/>
              </a:rPr>
              <a:t>Model Size Reduction</a:t>
            </a:r>
            <a:endParaRPr lang="en-US" sz="1750" dirty="0"/>
          </a:p>
        </p:txBody>
      </p:sp>
      <p:sp>
        <p:nvSpPr>
          <p:cNvPr id="9" name="Text 6"/>
          <p:cNvSpPr/>
          <p:nvPr/>
        </p:nvSpPr>
        <p:spPr>
          <a:xfrm>
            <a:off x="4708088" y="2853928"/>
            <a:ext cx="3642122" cy="580549"/>
          </a:xfrm>
          <a:prstGeom prst="rect">
            <a:avLst/>
          </a:prstGeom>
          <a:noFill/>
          <a:ln/>
        </p:spPr>
        <p:txBody>
          <a:bodyPr wrap="square" lIns="0" tIns="0" rIns="0" bIns="0" rtlCol="0" anchor="t"/>
          <a:lstStyle/>
          <a:p>
            <a:pPr marL="0" indent="0" algn="ctr">
              <a:lnSpc>
                <a:spcPts val="2250"/>
              </a:lnSpc>
              <a:buNone/>
            </a:pPr>
            <a:r>
              <a:rPr lang="en-US" sz="1400" dirty="0">
                <a:solidFill>
                  <a:srgbClr val="000000"/>
                </a:solidFill>
                <a:latin typeface="Libre Baskerville" pitchFamily="34" charset="0"/>
                <a:ea typeface="Libre Baskerville" pitchFamily="34" charset="-122"/>
                <a:cs typeface="Libre Baskerville" pitchFamily="34" charset="-120"/>
              </a:rPr>
              <a:t>Typical reduction in model size after pruning for medical applications.</a:t>
            </a:r>
            <a:endParaRPr lang="en-US" sz="1400" dirty="0"/>
          </a:p>
        </p:txBody>
      </p:sp>
      <p:sp>
        <p:nvSpPr>
          <p:cNvPr id="10" name="Text 7"/>
          <p:cNvSpPr/>
          <p:nvPr/>
        </p:nvSpPr>
        <p:spPr>
          <a:xfrm>
            <a:off x="2750939" y="4069556"/>
            <a:ext cx="3642122" cy="598765"/>
          </a:xfrm>
          <a:prstGeom prst="rect">
            <a:avLst/>
          </a:prstGeom>
          <a:noFill/>
          <a:ln/>
        </p:spPr>
        <p:txBody>
          <a:bodyPr wrap="none" lIns="0" tIns="0" rIns="0" bIns="0" rtlCol="0" anchor="t"/>
          <a:lstStyle/>
          <a:p>
            <a:pPr marL="0" indent="0" algn="ctr">
              <a:lnSpc>
                <a:spcPts val="4700"/>
              </a:lnSpc>
              <a:buNone/>
            </a:pPr>
            <a:r>
              <a:rPr lang="en-US" sz="4700" b="1" dirty="0">
                <a:solidFill>
                  <a:srgbClr val="000000"/>
                </a:solidFill>
                <a:latin typeface="Libre Baskerville Bold" pitchFamily="34" charset="0"/>
                <a:ea typeface="Libre Baskerville Bold" pitchFamily="34" charset="-122"/>
                <a:cs typeface="Libre Baskerville Bold" pitchFamily="34" charset="-120"/>
              </a:rPr>
              <a:t>3x</a:t>
            </a:r>
            <a:endParaRPr lang="en-US" sz="4700" dirty="0"/>
          </a:p>
        </p:txBody>
      </p:sp>
      <p:sp>
        <p:nvSpPr>
          <p:cNvPr id="11" name="Text 8"/>
          <p:cNvSpPr/>
          <p:nvPr/>
        </p:nvSpPr>
        <p:spPr>
          <a:xfrm>
            <a:off x="3437811" y="4895136"/>
            <a:ext cx="2268260" cy="283488"/>
          </a:xfrm>
          <a:prstGeom prst="rect">
            <a:avLst/>
          </a:prstGeom>
          <a:noFill/>
          <a:ln/>
        </p:spPr>
        <p:txBody>
          <a:bodyPr wrap="none" lIns="0" tIns="0" rIns="0" bIns="0" rtlCol="0" anchor="t"/>
          <a:lstStyle/>
          <a:p>
            <a:pPr marL="0" indent="0" algn="ctr">
              <a:lnSpc>
                <a:spcPts val="2200"/>
              </a:lnSpc>
              <a:buNone/>
            </a:pPr>
            <a:r>
              <a:rPr lang="en-US" sz="1750" b="1" dirty="0">
                <a:solidFill>
                  <a:srgbClr val="000000"/>
                </a:solidFill>
                <a:latin typeface="Libre Baskerville Bold" pitchFamily="34" charset="0"/>
                <a:ea typeface="Libre Baskerville Bold" pitchFamily="34" charset="-122"/>
                <a:cs typeface="Libre Baskerville Bold" pitchFamily="34" charset="-120"/>
              </a:rPr>
              <a:t>Processing Speed</a:t>
            </a:r>
            <a:endParaRPr lang="en-US" sz="1750" dirty="0"/>
          </a:p>
        </p:txBody>
      </p:sp>
      <p:sp>
        <p:nvSpPr>
          <p:cNvPr id="12" name="Text 9"/>
          <p:cNvSpPr/>
          <p:nvPr/>
        </p:nvSpPr>
        <p:spPr>
          <a:xfrm>
            <a:off x="2750939" y="5287447"/>
            <a:ext cx="3642122" cy="580549"/>
          </a:xfrm>
          <a:prstGeom prst="rect">
            <a:avLst/>
          </a:prstGeom>
          <a:noFill/>
          <a:ln/>
        </p:spPr>
        <p:txBody>
          <a:bodyPr wrap="square" lIns="0" tIns="0" rIns="0" bIns="0" rtlCol="0" anchor="t"/>
          <a:lstStyle/>
          <a:p>
            <a:pPr marL="0" indent="0" algn="ctr">
              <a:lnSpc>
                <a:spcPts val="2250"/>
              </a:lnSpc>
              <a:buNone/>
            </a:pPr>
            <a:r>
              <a:rPr lang="en-US" sz="1400" dirty="0">
                <a:solidFill>
                  <a:srgbClr val="000000"/>
                </a:solidFill>
                <a:latin typeface="Libre Baskerville" pitchFamily="34" charset="0"/>
                <a:ea typeface="Libre Baskerville" pitchFamily="34" charset="-122"/>
                <a:cs typeface="Libre Baskerville" pitchFamily="34" charset="-120"/>
              </a:rPr>
              <a:t>Improvement in processing speed for real-time diagnostics.</a:t>
            </a:r>
            <a:endParaRPr lang="en-US" sz="1400" dirty="0"/>
          </a:p>
        </p:txBody>
      </p:sp>
      <p:sp>
        <p:nvSpPr>
          <p:cNvPr id="13" name="Text 10"/>
          <p:cNvSpPr/>
          <p:nvPr/>
        </p:nvSpPr>
        <p:spPr>
          <a:xfrm>
            <a:off x="793790" y="6072068"/>
            <a:ext cx="7556421" cy="1451372"/>
          </a:xfrm>
          <a:prstGeom prst="rect">
            <a:avLst/>
          </a:prstGeom>
          <a:noFill/>
          <a:ln/>
        </p:spPr>
        <p:txBody>
          <a:bodyPr wrap="square" lIns="0" tIns="0" rIns="0" bIns="0" rtlCol="0" anchor="t"/>
          <a:lstStyle/>
          <a:p>
            <a:pPr marL="0" indent="0">
              <a:lnSpc>
                <a:spcPts val="2250"/>
              </a:lnSpc>
              <a:buNone/>
            </a:pPr>
            <a:r>
              <a:rPr lang="en-US" sz="1400" dirty="0">
                <a:solidFill>
                  <a:srgbClr val="000000"/>
                </a:solidFill>
                <a:latin typeface="Libre Baskerville" pitchFamily="34" charset="0"/>
                <a:ea typeface="Libre Baskerville" pitchFamily="34" charset="-122"/>
                <a:cs typeface="Libre Baskerville" pitchFamily="34" charset="-120"/>
              </a:rPr>
              <a:t>Healthcare applications benefit significantly from noise handling and pruning techniques. Removing noise from medical images is crucial for accurate diagnosis, allowing healthcare professionals to make better-informed decisions. Pruned models can run efficiently on medical devices with limited computational resources.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793790" y="885587"/>
            <a:ext cx="13042821" cy="1417558"/>
          </a:xfrm>
          <a:prstGeom prst="rect">
            <a:avLst/>
          </a:prstGeom>
          <a:noFill/>
          <a:ln/>
        </p:spPr>
        <p:txBody>
          <a:bodyPr wrap="square" lIns="0" tIns="0" rIns="0" bIns="0" rtlCol="0" anchor="t"/>
          <a:lstStyle/>
          <a:p>
            <a:pPr marL="0" indent="0">
              <a:lnSpc>
                <a:spcPts val="5550"/>
              </a:lnSpc>
              <a:buNone/>
            </a:pPr>
            <a:r>
              <a:rPr lang="en-US" sz="4450" b="1" dirty="0">
                <a:solidFill>
                  <a:srgbClr val="000000"/>
                </a:solidFill>
                <a:latin typeface="Libre Baskerville Bold" pitchFamily="34" charset="0"/>
                <a:ea typeface="Libre Baskerville Bold" pitchFamily="34" charset="-122"/>
                <a:cs typeface="Libre Baskerville Bold" pitchFamily="34" charset="-120"/>
              </a:rPr>
              <a:t>Applications in Finance and Autonomous Systems</a:t>
            </a:r>
            <a:endParaRPr lang="en-US" sz="4450" dirty="0"/>
          </a:p>
        </p:txBody>
      </p:sp>
      <p:sp>
        <p:nvSpPr>
          <p:cNvPr id="3" name="Text 1"/>
          <p:cNvSpPr/>
          <p:nvPr/>
        </p:nvSpPr>
        <p:spPr>
          <a:xfrm>
            <a:off x="2197418" y="2756773"/>
            <a:ext cx="2835235" cy="354330"/>
          </a:xfrm>
          <a:prstGeom prst="rect">
            <a:avLst/>
          </a:prstGeom>
          <a:noFill/>
          <a:ln/>
        </p:spPr>
        <p:txBody>
          <a:bodyPr wrap="none" lIns="0" tIns="0" rIns="0" bIns="0" rtlCol="0" anchor="t"/>
          <a:lstStyle/>
          <a:p>
            <a:pPr marL="0" indent="0" algn="r">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Fraud Detection</a:t>
            </a:r>
            <a:endParaRPr lang="en-US" sz="2200" dirty="0"/>
          </a:p>
        </p:txBody>
      </p:sp>
      <p:sp>
        <p:nvSpPr>
          <p:cNvPr id="4" name="Text 2"/>
          <p:cNvSpPr/>
          <p:nvPr/>
        </p:nvSpPr>
        <p:spPr>
          <a:xfrm>
            <a:off x="793790" y="3247192"/>
            <a:ext cx="4238863" cy="1814513"/>
          </a:xfrm>
          <a:prstGeom prst="rect">
            <a:avLst/>
          </a:prstGeom>
          <a:noFill/>
          <a:ln/>
        </p:spPr>
        <p:txBody>
          <a:bodyPr wrap="square" lIns="0" tIns="0" rIns="0" bIns="0" rtlCol="0" anchor="t"/>
          <a:lstStyle/>
          <a:p>
            <a:pPr marL="0" indent="0" algn="r">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Detecting fraud while filtering irrelevant transaction data. Pruned models can process millions of transactions in real-time with higher accuracy.</a:t>
            </a:r>
            <a:endParaRPr lang="en-US" sz="1750" dirty="0"/>
          </a:p>
        </p:txBody>
      </p:sp>
      <p:pic>
        <p:nvPicPr>
          <p:cNvPr id="5" name="Image 0" descr="preencoded.png"/>
          <p:cNvPicPr>
            <a:picLocks noChangeAspect="1"/>
          </p:cNvPicPr>
          <p:nvPr/>
        </p:nvPicPr>
        <p:blipFill>
          <a:blip r:embed="rId3"/>
          <a:stretch>
            <a:fillRect/>
          </a:stretch>
        </p:blipFill>
        <p:spPr>
          <a:xfrm>
            <a:off x="5032653" y="2767846"/>
            <a:ext cx="4564975" cy="4564975"/>
          </a:xfrm>
          <a:prstGeom prst="rect">
            <a:avLst/>
          </a:prstGeom>
        </p:spPr>
      </p:pic>
      <p:sp>
        <p:nvSpPr>
          <p:cNvPr id="6" name="Text 3"/>
          <p:cNvSpPr/>
          <p:nvPr/>
        </p:nvSpPr>
        <p:spPr>
          <a:xfrm>
            <a:off x="6324362" y="4019788"/>
            <a:ext cx="318968" cy="398621"/>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1</a:t>
            </a:r>
            <a:endParaRPr lang="en-US" sz="2500" dirty="0"/>
          </a:p>
        </p:txBody>
      </p:sp>
      <p:sp>
        <p:nvSpPr>
          <p:cNvPr id="7" name="Text 4"/>
          <p:cNvSpPr/>
          <p:nvPr/>
        </p:nvSpPr>
        <p:spPr>
          <a:xfrm>
            <a:off x="9597628" y="3119676"/>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Risk Assessment</a:t>
            </a:r>
            <a:endParaRPr lang="en-US" sz="2200" dirty="0"/>
          </a:p>
        </p:txBody>
      </p:sp>
      <p:sp>
        <p:nvSpPr>
          <p:cNvPr id="8" name="Text 5"/>
          <p:cNvSpPr/>
          <p:nvPr/>
        </p:nvSpPr>
        <p:spPr>
          <a:xfrm>
            <a:off x="9597628" y="3610094"/>
            <a:ext cx="4238982"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Cleaner data leads to more accurate risk profiles and better financial decision-making.</a:t>
            </a:r>
            <a:endParaRPr lang="en-US" sz="1750" dirty="0"/>
          </a:p>
        </p:txBody>
      </p:sp>
      <p:pic>
        <p:nvPicPr>
          <p:cNvPr id="9" name="Image 1" descr="preencoded.png"/>
          <p:cNvPicPr>
            <a:picLocks noChangeAspect="1"/>
          </p:cNvPicPr>
          <p:nvPr/>
        </p:nvPicPr>
        <p:blipFill>
          <a:blip r:embed="rId4"/>
          <a:stretch>
            <a:fillRect/>
          </a:stretch>
        </p:blipFill>
        <p:spPr>
          <a:xfrm>
            <a:off x="5032653" y="2767846"/>
            <a:ext cx="4564975" cy="4564975"/>
          </a:xfrm>
          <a:prstGeom prst="rect">
            <a:avLst/>
          </a:prstGeom>
        </p:spPr>
      </p:pic>
      <p:sp>
        <p:nvSpPr>
          <p:cNvPr id="10" name="Text 6"/>
          <p:cNvSpPr/>
          <p:nvPr/>
        </p:nvSpPr>
        <p:spPr>
          <a:xfrm>
            <a:off x="7986713" y="4019788"/>
            <a:ext cx="318968" cy="398621"/>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2</a:t>
            </a:r>
            <a:endParaRPr lang="en-US" sz="2500" dirty="0"/>
          </a:p>
        </p:txBody>
      </p:sp>
      <p:sp>
        <p:nvSpPr>
          <p:cNvPr id="11" name="Text 7"/>
          <p:cNvSpPr/>
          <p:nvPr/>
        </p:nvSpPr>
        <p:spPr>
          <a:xfrm>
            <a:off x="9597628" y="5401866"/>
            <a:ext cx="3240881"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Autonomous Vehicles</a:t>
            </a:r>
            <a:endParaRPr lang="en-US" sz="2200" dirty="0"/>
          </a:p>
        </p:txBody>
      </p:sp>
      <p:sp>
        <p:nvSpPr>
          <p:cNvPr id="12" name="Text 8"/>
          <p:cNvSpPr/>
          <p:nvPr/>
        </p:nvSpPr>
        <p:spPr>
          <a:xfrm>
            <a:off x="9597628" y="5892284"/>
            <a:ext cx="4238982"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Pruning deep learning models for real-time inference in autonomous driving systems, ensuring quick response times.</a:t>
            </a:r>
            <a:endParaRPr lang="en-US" sz="1750" dirty="0"/>
          </a:p>
        </p:txBody>
      </p:sp>
      <p:pic>
        <p:nvPicPr>
          <p:cNvPr id="13" name="Image 2" descr="preencoded.png"/>
          <p:cNvPicPr>
            <a:picLocks noChangeAspect="1"/>
          </p:cNvPicPr>
          <p:nvPr/>
        </p:nvPicPr>
        <p:blipFill>
          <a:blip r:embed="rId5"/>
          <a:stretch>
            <a:fillRect/>
          </a:stretch>
        </p:blipFill>
        <p:spPr>
          <a:xfrm>
            <a:off x="5032653" y="2767846"/>
            <a:ext cx="4564975" cy="4564975"/>
          </a:xfrm>
          <a:prstGeom prst="rect">
            <a:avLst/>
          </a:prstGeom>
        </p:spPr>
      </p:pic>
      <p:sp>
        <p:nvSpPr>
          <p:cNvPr id="14" name="Text 9"/>
          <p:cNvSpPr/>
          <p:nvPr/>
        </p:nvSpPr>
        <p:spPr>
          <a:xfrm>
            <a:off x="7986713" y="5682139"/>
            <a:ext cx="318968" cy="398621"/>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3</a:t>
            </a:r>
            <a:endParaRPr lang="en-US" sz="2500" dirty="0"/>
          </a:p>
        </p:txBody>
      </p:sp>
      <p:sp>
        <p:nvSpPr>
          <p:cNvPr id="15" name="Text 10"/>
          <p:cNvSpPr/>
          <p:nvPr/>
        </p:nvSpPr>
        <p:spPr>
          <a:xfrm>
            <a:off x="2197418" y="5583317"/>
            <a:ext cx="2835235" cy="354330"/>
          </a:xfrm>
          <a:prstGeom prst="rect">
            <a:avLst/>
          </a:prstGeom>
          <a:noFill/>
          <a:ln/>
        </p:spPr>
        <p:txBody>
          <a:bodyPr wrap="none" lIns="0" tIns="0" rIns="0" bIns="0" rtlCol="0" anchor="t"/>
          <a:lstStyle/>
          <a:p>
            <a:pPr marL="0" indent="0" algn="r">
              <a:lnSpc>
                <a:spcPts val="2750"/>
              </a:lnSpc>
              <a:buNone/>
            </a:pPr>
            <a:r>
              <a:rPr lang="en-US" sz="2200" b="1" dirty="0">
                <a:solidFill>
                  <a:srgbClr val="000000"/>
                </a:solidFill>
                <a:latin typeface="Libre Baskerville Bold" pitchFamily="34" charset="0"/>
                <a:ea typeface="Libre Baskerville Bold" pitchFamily="34" charset="-122"/>
                <a:cs typeface="Libre Baskerville Bold" pitchFamily="34" charset="-120"/>
              </a:rPr>
              <a:t>Robotics</a:t>
            </a:r>
            <a:endParaRPr lang="en-US" sz="2200" dirty="0"/>
          </a:p>
        </p:txBody>
      </p:sp>
      <p:sp>
        <p:nvSpPr>
          <p:cNvPr id="16" name="Text 11"/>
          <p:cNvSpPr/>
          <p:nvPr/>
        </p:nvSpPr>
        <p:spPr>
          <a:xfrm>
            <a:off x="793790" y="6073735"/>
            <a:ext cx="4238863" cy="1088708"/>
          </a:xfrm>
          <a:prstGeom prst="rect">
            <a:avLst/>
          </a:prstGeom>
          <a:noFill/>
          <a:ln/>
        </p:spPr>
        <p:txBody>
          <a:bodyPr wrap="square" lIns="0" tIns="0" rIns="0" bIns="0" rtlCol="0" anchor="t"/>
          <a:lstStyle/>
          <a:p>
            <a:pPr marL="0" indent="0" algn="r">
              <a:lnSpc>
                <a:spcPts val="2850"/>
              </a:lnSpc>
              <a:buNone/>
            </a:pPr>
            <a:r>
              <a:rPr lang="en-US" sz="1750" dirty="0">
                <a:solidFill>
                  <a:srgbClr val="000000"/>
                </a:solidFill>
                <a:latin typeface="Libre Baskerville" pitchFamily="34" charset="0"/>
                <a:ea typeface="Libre Baskerville" pitchFamily="34" charset="-122"/>
                <a:cs typeface="Libre Baskerville" pitchFamily="34" charset="-120"/>
              </a:rPr>
              <a:t>Efficient processing of sensor data in robotic systems through noise filtering and model optimization.</a:t>
            </a:r>
            <a:endParaRPr lang="en-US" sz="1750" dirty="0"/>
          </a:p>
        </p:txBody>
      </p:sp>
      <p:pic>
        <p:nvPicPr>
          <p:cNvPr id="17" name="Image 3" descr="preencoded.png"/>
          <p:cNvPicPr>
            <a:picLocks noChangeAspect="1"/>
          </p:cNvPicPr>
          <p:nvPr/>
        </p:nvPicPr>
        <p:blipFill>
          <a:blip r:embed="rId6"/>
          <a:stretch>
            <a:fillRect/>
          </a:stretch>
        </p:blipFill>
        <p:spPr>
          <a:xfrm>
            <a:off x="5032653" y="2767846"/>
            <a:ext cx="4564975" cy="4564975"/>
          </a:xfrm>
          <a:prstGeom prst="rect">
            <a:avLst/>
          </a:prstGeom>
        </p:spPr>
      </p:pic>
      <p:sp>
        <p:nvSpPr>
          <p:cNvPr id="18" name="Text 12"/>
          <p:cNvSpPr/>
          <p:nvPr/>
        </p:nvSpPr>
        <p:spPr>
          <a:xfrm>
            <a:off x="6324362" y="5682139"/>
            <a:ext cx="318968" cy="398621"/>
          </a:xfrm>
          <a:prstGeom prst="rect">
            <a:avLst/>
          </a:prstGeom>
          <a:noFill/>
          <a:ln/>
        </p:spPr>
        <p:txBody>
          <a:bodyPr wrap="none" lIns="0" tIns="0" rIns="0" bIns="0" rtlCol="0" anchor="t"/>
          <a:lstStyle/>
          <a:p>
            <a:pPr marL="0" indent="0">
              <a:lnSpc>
                <a:spcPts val="4000"/>
              </a:lnSpc>
              <a:buNone/>
            </a:pPr>
            <a:r>
              <a:rPr lang="en-US" sz="2500" b="1" dirty="0">
                <a:solidFill>
                  <a:srgbClr val="000000"/>
                </a:solidFill>
                <a:latin typeface="Libre Baskerville Bold" pitchFamily="34" charset="0"/>
                <a:ea typeface="Libre Baskerville Bold" pitchFamily="34" charset="-122"/>
                <a:cs typeface="Libre Baskerville Bold" pitchFamily="34" charset="-120"/>
              </a:rPr>
              <a:t>4</a:t>
            </a:r>
            <a:endParaRPr lang="en-US" sz="2500" dirty="0"/>
          </a:p>
        </p:txBody>
      </p:sp>
      <p:pic>
        <p:nvPicPr>
          <p:cNvPr id="19" name="Image 4" descr="preencoded.png"/>
          <p:cNvPicPr>
            <a:picLocks noChangeAspect="1"/>
          </p:cNvPicPr>
          <p:nvPr/>
        </p:nvPicPr>
        <p:blipFill>
          <a:blip r:embed="rId7"/>
          <a:stretch>
            <a:fillRect/>
          </a:stretch>
        </p:blipFill>
        <p:spPr>
          <a:xfrm>
            <a:off x="13612892" y="228600"/>
            <a:ext cx="788908" cy="59424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361843"/>
          </a:xfrm>
          <a:prstGeom prst="rect">
            <a:avLst/>
          </a:prstGeom>
        </p:spPr>
      </p:pic>
      <p:sp>
        <p:nvSpPr>
          <p:cNvPr id="3" name="Text 0"/>
          <p:cNvSpPr/>
          <p:nvPr/>
        </p:nvSpPr>
        <p:spPr>
          <a:xfrm>
            <a:off x="777954" y="2974062"/>
            <a:ext cx="4723805" cy="590550"/>
          </a:xfrm>
          <a:prstGeom prst="rect">
            <a:avLst/>
          </a:prstGeom>
          <a:noFill/>
          <a:ln/>
        </p:spPr>
        <p:txBody>
          <a:bodyPr wrap="none" lIns="0" tIns="0" rIns="0" bIns="0" rtlCol="0" anchor="t"/>
          <a:lstStyle/>
          <a:p>
            <a:pPr marL="0" indent="0">
              <a:lnSpc>
                <a:spcPts val="4600"/>
              </a:lnSpc>
              <a:buNone/>
            </a:pPr>
            <a:r>
              <a:rPr lang="en-US" sz="3700" b="1" dirty="0">
                <a:solidFill>
                  <a:srgbClr val="000000"/>
                </a:solidFill>
                <a:latin typeface="Libre Baskerville Bold" pitchFamily="34" charset="0"/>
                <a:ea typeface="Libre Baskerville Bold" pitchFamily="34" charset="-122"/>
                <a:cs typeface="Libre Baskerville Bold" pitchFamily="34" charset="-120"/>
              </a:rPr>
              <a:t>Conclusion</a:t>
            </a:r>
            <a:endParaRPr lang="en-US" sz="3700" dirty="0"/>
          </a:p>
        </p:txBody>
      </p:sp>
      <p:sp>
        <p:nvSpPr>
          <p:cNvPr id="4" name="Shape 1"/>
          <p:cNvSpPr/>
          <p:nvPr/>
        </p:nvSpPr>
        <p:spPr>
          <a:xfrm>
            <a:off x="777954" y="4698206"/>
            <a:ext cx="3056096" cy="188952"/>
          </a:xfrm>
          <a:prstGeom prst="roundRect">
            <a:avLst>
              <a:gd name="adj" fmla="val 42001"/>
            </a:avLst>
          </a:prstGeom>
          <a:solidFill>
            <a:srgbClr val="FFCCCC"/>
          </a:solidFill>
          <a:ln w="7620">
            <a:solidFill>
              <a:srgbClr val="E5B2B2"/>
            </a:solidFill>
            <a:prstDash val="solid"/>
          </a:ln>
        </p:spPr>
      </p:sp>
      <p:sp>
        <p:nvSpPr>
          <p:cNvPr id="5" name="Text 2"/>
          <p:cNvSpPr/>
          <p:nvPr/>
        </p:nvSpPr>
        <p:spPr>
          <a:xfrm>
            <a:off x="777954" y="5170527"/>
            <a:ext cx="2803088" cy="29527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Identify Noise Sources</a:t>
            </a:r>
            <a:endParaRPr lang="en-US" sz="1850" dirty="0"/>
          </a:p>
        </p:txBody>
      </p:sp>
      <p:sp>
        <p:nvSpPr>
          <p:cNvPr id="6" name="Text 3"/>
          <p:cNvSpPr/>
          <p:nvPr/>
        </p:nvSpPr>
        <p:spPr>
          <a:xfrm>
            <a:off x="777954" y="5579150"/>
            <a:ext cx="3056096" cy="906899"/>
          </a:xfrm>
          <a:prstGeom prst="rect">
            <a:avLst/>
          </a:prstGeom>
          <a:noFill/>
          <a:ln/>
        </p:spPr>
        <p:txBody>
          <a:bodyPr wrap="square" lIns="0" tIns="0" rIns="0" bIns="0" rtlCol="0" anchor="t"/>
          <a:lstStyle/>
          <a:p>
            <a:pPr marL="0" indent="0" algn="l">
              <a:lnSpc>
                <a:spcPts val="2350"/>
              </a:lnSpc>
              <a:buNone/>
            </a:pPr>
            <a:r>
              <a:rPr lang="en-US" sz="1450" dirty="0">
                <a:solidFill>
                  <a:srgbClr val="000000"/>
                </a:solidFill>
                <a:latin typeface="Libre Baskerville" pitchFamily="34" charset="0"/>
                <a:ea typeface="Libre Baskerville" pitchFamily="34" charset="-122"/>
                <a:cs typeface="Libre Baskerville" pitchFamily="34" charset="-120"/>
              </a:rPr>
              <a:t>Understand where noise comes from in your specific data context.</a:t>
            </a:r>
            <a:endParaRPr lang="en-US" sz="1450" dirty="0"/>
          </a:p>
        </p:txBody>
      </p:sp>
      <p:sp>
        <p:nvSpPr>
          <p:cNvPr id="7" name="Shape 4"/>
          <p:cNvSpPr/>
          <p:nvPr/>
        </p:nvSpPr>
        <p:spPr>
          <a:xfrm>
            <a:off x="4117419" y="4414838"/>
            <a:ext cx="3056096" cy="188952"/>
          </a:xfrm>
          <a:prstGeom prst="roundRect">
            <a:avLst>
              <a:gd name="adj" fmla="val 42001"/>
            </a:avLst>
          </a:prstGeom>
          <a:solidFill>
            <a:srgbClr val="FFCCCC"/>
          </a:solidFill>
          <a:ln w="7620">
            <a:solidFill>
              <a:srgbClr val="E5B2B2"/>
            </a:solidFill>
            <a:prstDash val="solid"/>
          </a:ln>
        </p:spPr>
      </p:sp>
      <p:sp>
        <p:nvSpPr>
          <p:cNvPr id="8" name="Text 5"/>
          <p:cNvSpPr/>
          <p:nvPr/>
        </p:nvSpPr>
        <p:spPr>
          <a:xfrm>
            <a:off x="4117419" y="4887158"/>
            <a:ext cx="3056096" cy="590550"/>
          </a:xfrm>
          <a:prstGeom prst="rect">
            <a:avLst/>
          </a:prstGeom>
          <a:noFill/>
          <a:ln/>
        </p:spPr>
        <p:txBody>
          <a:bodyPr wrap="square" lIns="0" tIns="0" rIns="0" bIns="0" rtlCol="0" anchor="t"/>
          <a:lstStyle/>
          <a:p>
            <a:pPr marL="0" indent="0" algn="l">
              <a:lnSpc>
                <a:spcPts val="230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Apply Appropriate Cleaning</a:t>
            </a:r>
            <a:endParaRPr lang="en-US" sz="1850" dirty="0"/>
          </a:p>
        </p:txBody>
      </p:sp>
      <p:sp>
        <p:nvSpPr>
          <p:cNvPr id="9" name="Text 6"/>
          <p:cNvSpPr/>
          <p:nvPr/>
        </p:nvSpPr>
        <p:spPr>
          <a:xfrm>
            <a:off x="4117419" y="5591056"/>
            <a:ext cx="3056096" cy="906899"/>
          </a:xfrm>
          <a:prstGeom prst="rect">
            <a:avLst/>
          </a:prstGeom>
          <a:noFill/>
          <a:ln/>
        </p:spPr>
        <p:txBody>
          <a:bodyPr wrap="square" lIns="0" tIns="0" rIns="0" bIns="0" rtlCol="0" anchor="t"/>
          <a:lstStyle/>
          <a:p>
            <a:pPr marL="0" indent="0" algn="l">
              <a:lnSpc>
                <a:spcPts val="2350"/>
              </a:lnSpc>
              <a:buNone/>
            </a:pPr>
            <a:r>
              <a:rPr lang="en-US" sz="1450" dirty="0">
                <a:solidFill>
                  <a:srgbClr val="000000"/>
                </a:solidFill>
                <a:latin typeface="Libre Baskerville" pitchFamily="34" charset="0"/>
                <a:ea typeface="Libre Baskerville" pitchFamily="34" charset="-122"/>
                <a:cs typeface="Libre Baskerville" pitchFamily="34" charset="-120"/>
              </a:rPr>
              <a:t>Select suitable techniques based on the type of noise present.</a:t>
            </a:r>
            <a:endParaRPr lang="en-US" sz="1450" dirty="0"/>
          </a:p>
        </p:txBody>
      </p:sp>
      <p:sp>
        <p:nvSpPr>
          <p:cNvPr id="10" name="Shape 7"/>
          <p:cNvSpPr/>
          <p:nvPr/>
        </p:nvSpPr>
        <p:spPr>
          <a:xfrm>
            <a:off x="7456884" y="4131350"/>
            <a:ext cx="3056096" cy="188952"/>
          </a:xfrm>
          <a:prstGeom prst="roundRect">
            <a:avLst>
              <a:gd name="adj" fmla="val 42001"/>
            </a:avLst>
          </a:prstGeom>
          <a:solidFill>
            <a:srgbClr val="FFCCCC"/>
          </a:solidFill>
          <a:ln w="7620">
            <a:solidFill>
              <a:srgbClr val="E5B2B2"/>
            </a:solidFill>
            <a:prstDash val="solid"/>
          </a:ln>
        </p:spPr>
      </p:sp>
      <p:sp>
        <p:nvSpPr>
          <p:cNvPr id="11" name="Text 8"/>
          <p:cNvSpPr/>
          <p:nvPr/>
        </p:nvSpPr>
        <p:spPr>
          <a:xfrm>
            <a:off x="7456884" y="4603671"/>
            <a:ext cx="2499717" cy="29527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Implement Pruning</a:t>
            </a:r>
            <a:endParaRPr lang="en-US" sz="1850" dirty="0"/>
          </a:p>
        </p:txBody>
      </p:sp>
      <p:sp>
        <p:nvSpPr>
          <p:cNvPr id="12" name="Text 9"/>
          <p:cNvSpPr/>
          <p:nvPr/>
        </p:nvSpPr>
        <p:spPr>
          <a:xfrm>
            <a:off x="7456884" y="5012293"/>
            <a:ext cx="3056096" cy="906899"/>
          </a:xfrm>
          <a:prstGeom prst="rect">
            <a:avLst/>
          </a:prstGeom>
          <a:noFill/>
          <a:ln/>
        </p:spPr>
        <p:txBody>
          <a:bodyPr wrap="square" lIns="0" tIns="0" rIns="0" bIns="0" rtlCol="0" anchor="t"/>
          <a:lstStyle/>
          <a:p>
            <a:pPr marL="0" indent="0" algn="l">
              <a:lnSpc>
                <a:spcPts val="2350"/>
              </a:lnSpc>
              <a:buNone/>
            </a:pPr>
            <a:r>
              <a:rPr lang="en-US" sz="1450" dirty="0">
                <a:solidFill>
                  <a:srgbClr val="000000"/>
                </a:solidFill>
                <a:latin typeface="Libre Baskerville" pitchFamily="34" charset="0"/>
                <a:ea typeface="Libre Baskerville" pitchFamily="34" charset="-122"/>
                <a:cs typeface="Libre Baskerville" pitchFamily="34" charset="-120"/>
              </a:rPr>
              <a:t>Use model-specific pruning methods to optimize performance.</a:t>
            </a:r>
            <a:endParaRPr lang="en-US" sz="1450" dirty="0"/>
          </a:p>
        </p:txBody>
      </p:sp>
      <p:sp>
        <p:nvSpPr>
          <p:cNvPr id="13" name="Shape 10"/>
          <p:cNvSpPr/>
          <p:nvPr/>
        </p:nvSpPr>
        <p:spPr>
          <a:xfrm>
            <a:off x="10796349" y="3847981"/>
            <a:ext cx="3056096" cy="188952"/>
          </a:xfrm>
          <a:prstGeom prst="roundRect">
            <a:avLst>
              <a:gd name="adj" fmla="val 42001"/>
            </a:avLst>
          </a:prstGeom>
          <a:solidFill>
            <a:srgbClr val="FFCCCC"/>
          </a:solidFill>
          <a:ln w="7620">
            <a:solidFill>
              <a:srgbClr val="E5B2B2"/>
            </a:solidFill>
            <a:prstDash val="solid"/>
          </a:ln>
        </p:spPr>
      </p:sp>
      <p:sp>
        <p:nvSpPr>
          <p:cNvPr id="14" name="Text 11"/>
          <p:cNvSpPr/>
          <p:nvPr/>
        </p:nvSpPr>
        <p:spPr>
          <a:xfrm>
            <a:off x="10796349" y="4320302"/>
            <a:ext cx="2361843" cy="29527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Libre Baskerville Bold" pitchFamily="34" charset="0"/>
                <a:ea typeface="Libre Baskerville Bold" pitchFamily="34" charset="-122"/>
                <a:cs typeface="Libre Baskerville Bold" pitchFamily="34" charset="-120"/>
              </a:rPr>
              <a:t>Validate Results</a:t>
            </a:r>
            <a:endParaRPr lang="en-US" sz="1850" dirty="0"/>
          </a:p>
        </p:txBody>
      </p:sp>
      <p:sp>
        <p:nvSpPr>
          <p:cNvPr id="15" name="Text 12"/>
          <p:cNvSpPr/>
          <p:nvPr/>
        </p:nvSpPr>
        <p:spPr>
          <a:xfrm>
            <a:off x="10796349" y="4728924"/>
            <a:ext cx="3056096" cy="906899"/>
          </a:xfrm>
          <a:prstGeom prst="rect">
            <a:avLst/>
          </a:prstGeom>
          <a:noFill/>
          <a:ln/>
        </p:spPr>
        <p:txBody>
          <a:bodyPr wrap="square" lIns="0" tIns="0" rIns="0" bIns="0" rtlCol="0" anchor="t"/>
          <a:lstStyle/>
          <a:p>
            <a:pPr marL="0" indent="0" algn="l">
              <a:lnSpc>
                <a:spcPts val="2350"/>
              </a:lnSpc>
              <a:buNone/>
            </a:pPr>
            <a:r>
              <a:rPr lang="en-US" sz="1450" dirty="0">
                <a:solidFill>
                  <a:srgbClr val="000000"/>
                </a:solidFill>
                <a:latin typeface="Libre Baskerville" pitchFamily="34" charset="0"/>
                <a:ea typeface="Libre Baskerville" pitchFamily="34" charset="-122"/>
                <a:cs typeface="Libre Baskerville" pitchFamily="34" charset="-120"/>
              </a:rPr>
              <a:t>Ensure that noise handling and pruning enhance rather than degrade performance.</a:t>
            </a:r>
            <a:endParaRPr lang="en-US" sz="1450" dirty="0"/>
          </a:p>
        </p:txBody>
      </p:sp>
      <p:sp>
        <p:nvSpPr>
          <p:cNvPr id="16" name="Text 13"/>
          <p:cNvSpPr/>
          <p:nvPr/>
        </p:nvSpPr>
        <p:spPr>
          <a:xfrm>
            <a:off x="777954" y="6710482"/>
            <a:ext cx="13074491" cy="906899"/>
          </a:xfrm>
          <a:prstGeom prst="rect">
            <a:avLst/>
          </a:prstGeom>
          <a:noFill/>
          <a:ln/>
        </p:spPr>
        <p:txBody>
          <a:bodyPr wrap="square" lIns="0" tIns="0" rIns="0" bIns="0" rtlCol="0" anchor="t"/>
          <a:lstStyle/>
          <a:p>
            <a:pPr marL="0" indent="0">
              <a:lnSpc>
                <a:spcPts val="2350"/>
              </a:lnSpc>
              <a:buNone/>
            </a:pPr>
            <a:r>
              <a:rPr lang="en-US" sz="1450" dirty="0">
                <a:solidFill>
                  <a:srgbClr val="000000"/>
                </a:solidFill>
                <a:latin typeface="Libre Baskerville" pitchFamily="34" charset="0"/>
                <a:ea typeface="Libre Baskerville" pitchFamily="34" charset="-122"/>
                <a:cs typeface="Libre Baskerville" pitchFamily="34" charset="-120"/>
              </a:rPr>
              <a:t>Handling noisy data and applying pruning techniques are crucial for developing robust and efficient machine learning models. Proper data cleaning, feature selection, and pruning strategies can significantly enhance model performance and generalization while reducing computational costs.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1121</Words>
  <Application>Microsoft Office PowerPoint</Application>
  <PresentationFormat>Custom</PresentationFormat>
  <Paragraphs>153</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Libre Baskerville Bold</vt:lpstr>
      <vt:lpstr>Arial</vt:lpstr>
      <vt:lpstr>Calibri</vt:lpstr>
      <vt:lpstr>Libre Baskerville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Silicon computers</cp:lastModifiedBy>
  <cp:revision>3</cp:revision>
  <dcterms:created xsi:type="dcterms:W3CDTF">2025-03-05T05:50:39Z</dcterms:created>
  <dcterms:modified xsi:type="dcterms:W3CDTF">2025-03-05T10:57:50Z</dcterms:modified>
</cp:coreProperties>
</file>