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4630400" cy="8229600"/>
  <p:notesSz cx="8229600" cy="14630400"/>
  <p:embeddedFontLst>
    <p:embeddedFont>
      <p:font typeface="Inter"/>
      <p:regular r:id="rId27"/>
    </p:embeddedFont>
    <p:embeddedFont>
      <p:font typeface="Inter"/>
      <p:regular r:id="rId28"/>
    </p:embeddedFont>
    <p:embeddedFont>
      <p:font typeface="Inter"/>
      <p:regular r:id="rId29"/>
    </p:embeddedFont>
    <p:embeddedFont>
      <p:font typeface="Inter"/>
      <p:regular r:id="rId30"/>
    </p:embeddedFont>
    <p:embeddedFont>
      <p:font typeface="Inter"/>
      <p:regular r:id="rId31"/>
    </p:embeddedFont>
    <p:embeddedFont>
      <p:font typeface="Inter"/>
      <p:regular r:id="rId32"/>
    </p:embeddedFont>
    <p:embeddedFont>
      <p:font typeface="Inter"/>
      <p:regular r:id="rId33"/>
    </p:embeddedFont>
    <p:embeddedFont>
      <p:font typeface="Inter"/>
      <p:regular r:id="rId34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Relationship Id="rId32" Type="http://schemas.openxmlformats.org/officeDocument/2006/relationships/font" Target="fonts/font6.fntdata"/><Relationship Id="rId33" Type="http://schemas.openxmlformats.org/officeDocument/2006/relationships/font" Target="fonts/font7.fntdata"/><Relationship Id="rId34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7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5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6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9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20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21.xml"/><Relationship Id="rId7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510076"/>
            <a:ext cx="6955869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Understanding Linear Regression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267795"/>
            <a:ext cx="695586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Linear regression is a supervised machine learning algorithm that predicts continuous outcomes by finding relationships between variables. It's widely used in forecasting, finance, and data analysis.</a:t>
            </a:r>
            <a:endParaRPr lang="en-US" sz="1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88" y="2572583"/>
            <a:ext cx="4919305" cy="308443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280190" y="933926"/>
            <a:ext cx="6955869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What is Linear Regression?</a:t>
            </a:r>
            <a:endParaRPr lang="en-US" sz="4450" dirty="0"/>
          </a:p>
        </p:txBody>
      </p:sp>
      <p:sp>
        <p:nvSpPr>
          <p:cNvPr id="5" name="Shape 1"/>
          <p:cNvSpPr/>
          <p:nvPr/>
        </p:nvSpPr>
        <p:spPr>
          <a:xfrm>
            <a:off x="6280190" y="2946797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6365260" y="2989302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3"/>
          <p:cNvSpPr/>
          <p:nvPr/>
        </p:nvSpPr>
        <p:spPr>
          <a:xfrm>
            <a:off x="7017306" y="2946797"/>
            <a:ext cx="2627471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Supervised Learning Algorithm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7017306" y="4145875"/>
            <a:ext cx="262747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Maps data points with optimized linear functions for prediction on new datasets.</a:t>
            </a:r>
            <a:endParaRPr lang="en-US" sz="1750" dirty="0"/>
          </a:p>
        </p:txBody>
      </p:sp>
      <p:sp>
        <p:nvSpPr>
          <p:cNvPr id="9" name="Shape 5"/>
          <p:cNvSpPr/>
          <p:nvPr/>
        </p:nvSpPr>
        <p:spPr>
          <a:xfrm>
            <a:off x="9871591" y="2946797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9956661" y="2989302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7"/>
          <p:cNvSpPr/>
          <p:nvPr/>
        </p:nvSpPr>
        <p:spPr>
          <a:xfrm>
            <a:off x="10608707" y="2946797"/>
            <a:ext cx="262747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Continuous Output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10608707" y="3437215"/>
            <a:ext cx="262747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Predicts continuous variables based on independent input variables.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6280190" y="6079450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65260" y="6121956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650" dirty="0"/>
          </a:p>
        </p:txBody>
      </p:sp>
      <p:sp>
        <p:nvSpPr>
          <p:cNvPr id="15" name="Text 11"/>
          <p:cNvSpPr/>
          <p:nvPr/>
        </p:nvSpPr>
        <p:spPr>
          <a:xfrm>
            <a:off x="7017306" y="60794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Linear Relationship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7017306" y="6569869"/>
            <a:ext cx="621875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Computes relationships between dependent and independent variables using linear equations.</a:t>
            </a:r>
            <a:endParaRPr lang="en-US" sz="175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04096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Real-World Example</a:t>
            </a:r>
            <a:endParaRPr lang="en-US" sz="4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0" y="3089910"/>
            <a:ext cx="566976" cy="56697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3883700"/>
            <a:ext cx="229195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House Age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793790" y="4374118"/>
            <a:ext cx="2291953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Older houses may have different pricing patterns based on condition and historical value.</a:t>
            </a:r>
            <a:endParaRPr lang="en-US" sz="17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904" y="3089910"/>
            <a:ext cx="566976" cy="56697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425904" y="3883700"/>
            <a:ext cx="229207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Location</a:t>
            </a:r>
            <a:endParaRPr lang="en-US" sz="2200" dirty="0"/>
          </a:p>
        </p:txBody>
      </p:sp>
      <p:sp>
        <p:nvSpPr>
          <p:cNvPr id="9" name="Text 4"/>
          <p:cNvSpPr/>
          <p:nvPr/>
        </p:nvSpPr>
        <p:spPr>
          <a:xfrm>
            <a:off x="3425904" y="4374118"/>
            <a:ext cx="2292072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Proximity to amenities and neighborhood quality significantly impact house prices.</a:t>
            </a:r>
            <a:endParaRPr lang="en-US" sz="17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8138" y="3089910"/>
            <a:ext cx="566976" cy="56697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058138" y="3883700"/>
            <a:ext cx="229195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Room Count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6058138" y="4374118"/>
            <a:ext cx="2291953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rooms typically increase a property's market value and appeal.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58509"/>
            <a:ext cx="865917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Why Linear Regression Matters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6342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Interpretability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215408"/>
            <a:ext cx="3777972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coefficients illustrate each variable's influence on outcomes. This enhances understanding of relationships.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132784" y="36342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Simplicity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32784" y="4215408"/>
            <a:ext cx="3777972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Transparent and easy to implement. Serves as a foundation for more advanced algorithms.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9471779" y="36342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Versatility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471779" y="4215408"/>
            <a:ext cx="3777972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Applicable across many fields including finance, healthcare, and marketing.</a:t>
            </a:r>
            <a:endParaRPr lang="en-US" sz="17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42886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Best Fit Line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2477810"/>
            <a:ext cx="3364587" cy="2410897"/>
          </a:xfrm>
          <a:prstGeom prst="roundRect">
            <a:avLst>
              <a:gd name="adj" fmla="val 3952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14624" y="271224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Definition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514624" y="3202662"/>
            <a:ext cx="28957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line that minimizes error between predicted and actual values.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9871591" y="2477810"/>
            <a:ext cx="3364587" cy="2410897"/>
          </a:xfrm>
          <a:prstGeom prst="roundRect">
            <a:avLst>
              <a:gd name="adj" fmla="val 3952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106025" y="271224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Purpose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106025" y="3202662"/>
            <a:ext cx="28957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Represents the relationship between dependent and independent variables.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6280190" y="5115520"/>
            <a:ext cx="6955869" cy="1685092"/>
          </a:xfrm>
          <a:prstGeom prst="roundRect">
            <a:avLst>
              <a:gd name="adj" fmla="val 5654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14624" y="534995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Indicator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514624" y="5840373"/>
            <a:ext cx="648700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slope shows how much the dependent variable changes for a unit change in the independent variable.</a:t>
            </a:r>
            <a:endParaRPr lang="en-US" sz="17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040130"/>
            <a:ext cx="6955869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Linear Regression Formula</a:t>
            </a:r>
            <a:endParaRPr lang="en-US" sz="4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190" y="2797850"/>
            <a:ext cx="1134070" cy="136088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754422" y="30246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Formula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7754422" y="3515082"/>
            <a:ext cx="54816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= θ₁ + θ₂X</a:t>
            </a:r>
            <a:endParaRPr lang="en-US" sz="17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190" y="4158734"/>
            <a:ext cx="1134070" cy="166985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754422" y="43855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Variables</a:t>
            </a:r>
            <a:endParaRPr lang="en-US" sz="2200" dirty="0"/>
          </a:p>
        </p:txBody>
      </p:sp>
      <p:sp>
        <p:nvSpPr>
          <p:cNvPr id="9" name="Text 4"/>
          <p:cNvSpPr/>
          <p:nvPr/>
        </p:nvSpPr>
        <p:spPr>
          <a:xfrm>
            <a:off x="7754422" y="4875967"/>
            <a:ext cx="548163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is the dependent variable (target). X is the independent variable (predictor).</a:t>
            </a:r>
            <a:endParaRPr lang="en-US" sz="17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90" y="5828586"/>
            <a:ext cx="1134070" cy="136088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754422" y="60554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Parameters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7754422" y="6545818"/>
            <a:ext cx="54816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θ₁ is the intercept. θ₂ is the coefficient or slope.</a:t>
            </a:r>
            <a:endParaRPr lang="en-US" sz="17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56241"/>
            <a:ext cx="571380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Hypothesis Function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1548646" y="408789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Linearity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578310"/>
            <a:ext cx="359009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Assumes linear relationship between variables.</a:t>
            </a:r>
            <a:endParaRPr lang="en-US" sz="17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7509" y="2518648"/>
            <a:ext cx="4354711" cy="43547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52110" y="4207073"/>
            <a:ext cx="12227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532382" y="30048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Independence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532382" y="3495318"/>
            <a:ext cx="370367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Observations should be independent from each other.</a:t>
            </a:r>
            <a:endParaRPr lang="en-US" sz="17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509" y="2518648"/>
            <a:ext cx="4354711" cy="435471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903250" y="3299817"/>
            <a:ext cx="178356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9532382" y="553378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Prediction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9532382" y="6024205"/>
            <a:ext cx="370367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ŷᵢ = θ₁ + θ₂xᵢ</a:t>
            </a:r>
            <a:endParaRPr lang="en-US" sz="17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7509" y="2518648"/>
            <a:ext cx="4354711" cy="435471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47002" y="5900499"/>
            <a:ext cx="182999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2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434227"/>
            <a:ext cx="6955869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Finding the Best Parameters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3191947"/>
            <a:ext cx="170021" cy="853321"/>
          </a:xfrm>
          <a:prstGeom prst="roundRect">
            <a:avLst>
              <a:gd name="adj" fmla="val 56033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790373" y="31919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Objective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790373" y="3682365"/>
            <a:ext cx="644568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values of θ₁ and θ₂ that give the best-fit line.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6620351" y="4272082"/>
            <a:ext cx="170021" cy="1216223"/>
          </a:xfrm>
          <a:prstGeom prst="roundRect">
            <a:avLst>
              <a:gd name="adj" fmla="val 56033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0534" y="427208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Method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130534" y="4762500"/>
            <a:ext cx="610552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error between predicted values and actual values.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6960632" y="5715119"/>
            <a:ext cx="170021" cy="853321"/>
          </a:xfrm>
          <a:prstGeom prst="roundRect">
            <a:avLst>
              <a:gd name="adj" fmla="val 56033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70815" y="571511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Formula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470815" y="6205538"/>
            <a:ext cx="57652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(1/n)∑(ŷᵢ-yᵢ)²</a:t>
            </a:r>
            <a:endParaRPr lang="en-US" sz="17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452682"/>
            <a:ext cx="6955869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Types of Linear Regression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605111" y="3210401"/>
            <a:ext cx="30480" cy="3566517"/>
          </a:xfrm>
          <a:prstGeom prst="roundRect">
            <a:avLst>
              <a:gd name="adj" fmla="val 312558"/>
            </a:avLst>
          </a:prstGeom>
          <a:solidFill>
            <a:srgbClr val="DDBBBA"/>
          </a:solidFill>
          <a:ln/>
        </p:spPr>
      </p:sp>
      <p:sp>
        <p:nvSpPr>
          <p:cNvPr id="5" name="Shape 2"/>
          <p:cNvSpPr/>
          <p:nvPr/>
        </p:nvSpPr>
        <p:spPr>
          <a:xfrm>
            <a:off x="6845022" y="3705463"/>
            <a:ext cx="793790" cy="30480"/>
          </a:xfrm>
          <a:prstGeom prst="roundRect">
            <a:avLst>
              <a:gd name="adj" fmla="val 312558"/>
            </a:avLst>
          </a:prstGeom>
          <a:solidFill>
            <a:srgbClr val="DDBBBA"/>
          </a:solidFill>
          <a:ln/>
        </p:spPr>
      </p:sp>
      <p:sp>
        <p:nvSpPr>
          <p:cNvPr id="6" name="Shape 3"/>
          <p:cNvSpPr/>
          <p:nvPr/>
        </p:nvSpPr>
        <p:spPr>
          <a:xfrm>
            <a:off x="6365200" y="3465552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47009" y="3550563"/>
            <a:ext cx="146685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650" dirty="0"/>
          </a:p>
        </p:txBody>
      </p:sp>
      <p:sp>
        <p:nvSpPr>
          <p:cNvPr id="8" name="Text 5"/>
          <p:cNvSpPr/>
          <p:nvPr/>
        </p:nvSpPr>
        <p:spPr>
          <a:xfrm>
            <a:off x="7867888" y="3437215"/>
            <a:ext cx="349650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Simple Linear Regression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867888" y="3927634"/>
            <a:ext cx="536817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independent variable and one dependent variable.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6845022" y="5602129"/>
            <a:ext cx="793790" cy="30480"/>
          </a:xfrm>
          <a:prstGeom prst="roundRect">
            <a:avLst>
              <a:gd name="adj" fmla="val 312558"/>
            </a:avLst>
          </a:prstGeom>
          <a:solidFill>
            <a:srgbClr val="DDBBBA"/>
          </a:solidFill>
          <a:ln/>
        </p:spPr>
      </p:sp>
      <p:sp>
        <p:nvSpPr>
          <p:cNvPr id="11" name="Shape 8"/>
          <p:cNvSpPr/>
          <p:nvPr/>
        </p:nvSpPr>
        <p:spPr>
          <a:xfrm>
            <a:off x="6365200" y="5362218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13195" y="5447228"/>
            <a:ext cx="214193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650" dirty="0"/>
          </a:p>
        </p:txBody>
      </p:sp>
      <p:sp>
        <p:nvSpPr>
          <p:cNvPr id="13" name="Text 10"/>
          <p:cNvSpPr/>
          <p:nvPr/>
        </p:nvSpPr>
        <p:spPr>
          <a:xfrm>
            <a:off x="7867888" y="5333881"/>
            <a:ext cx="367748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Multiple Linear Regression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867888" y="5824299"/>
            <a:ext cx="536817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independent variables and one dependent variable.</a:t>
            </a:r>
            <a:endParaRPr lang="en-US" sz="17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67872"/>
            <a:ext cx="699587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Simple Linear Regression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410" y="2376249"/>
            <a:ext cx="4021336" cy="4021336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197" y="2376249"/>
            <a:ext cx="4021336" cy="4021336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6984" y="2376249"/>
            <a:ext cx="4021336" cy="4021336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793790" y="6798707"/>
            <a:ext cx="1244226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Formula: y = β₀ + β₁X where Y is dependent variable, X is independent variable, β₀ is intercept, and β₁ is slope.</a:t>
            </a:r>
            <a:endParaRPr lang="en-US" sz="175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5909" y="476012"/>
            <a:ext cx="8236029" cy="54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425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Simple Linear Regression Assumptions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1920" y="1363147"/>
            <a:ext cx="1562933" cy="99750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16655" y="1812369"/>
            <a:ext cx="93345" cy="34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717971" y="1536263"/>
            <a:ext cx="2164080" cy="270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Normality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717971" y="1910596"/>
            <a:ext cx="3361253" cy="276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Residuals should be normally distributed.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588073" y="2372678"/>
            <a:ext cx="8604766" cy="11430"/>
          </a:xfrm>
          <a:prstGeom prst="roundRect">
            <a:avLst>
              <a:gd name="adj" fmla="val 636182"/>
            </a:avLst>
          </a:prstGeom>
          <a:solidFill>
            <a:srgbClr val="DDBBB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394" y="2403872"/>
            <a:ext cx="3125867" cy="997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695224" y="2729508"/>
            <a:ext cx="136208" cy="34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499378" y="2576989"/>
            <a:ext cx="2164080" cy="270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Homoscedasticity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499378" y="2951321"/>
            <a:ext cx="3802975" cy="276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 of errors is constant across all levels.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369481" y="3413403"/>
            <a:ext cx="7823359" cy="11430"/>
          </a:xfrm>
          <a:prstGeom prst="roundRect">
            <a:avLst>
              <a:gd name="adj" fmla="val 636182"/>
            </a:avLst>
          </a:prstGeom>
          <a:solidFill>
            <a:srgbClr val="DDBBB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868" y="3444597"/>
            <a:ext cx="4688919" cy="99750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93438" y="3770233"/>
            <a:ext cx="139660" cy="34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280904" y="3617714"/>
            <a:ext cx="2164080" cy="270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Independence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6280904" y="3992047"/>
            <a:ext cx="3655338" cy="276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Observations are independent of each other.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151007" y="4454128"/>
            <a:ext cx="7041832" cy="11430"/>
          </a:xfrm>
          <a:prstGeom prst="roundRect">
            <a:avLst>
              <a:gd name="adj" fmla="val 636182"/>
            </a:avLst>
          </a:prstGeom>
          <a:solidFill>
            <a:srgbClr val="DDBBBA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461" y="4485323"/>
            <a:ext cx="6251853" cy="99750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690104" y="4810958"/>
            <a:ext cx="146328" cy="34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7062430" y="4658439"/>
            <a:ext cx="2164080" cy="270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Linearity</a:t>
            </a:r>
            <a:endParaRPr lang="en-US" sz="1700" dirty="0"/>
          </a:p>
        </p:txBody>
      </p:sp>
      <p:sp>
        <p:nvSpPr>
          <p:cNvPr id="21" name="Text 15"/>
          <p:cNvSpPr/>
          <p:nvPr/>
        </p:nvSpPr>
        <p:spPr>
          <a:xfrm>
            <a:off x="7062430" y="5032772"/>
            <a:ext cx="2887623" cy="276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Variables have a linear relationship.</a:t>
            </a:r>
            <a:endParaRPr lang="en-US" sz="13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09" y="5677495"/>
            <a:ext cx="7292340" cy="23393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72101"/>
            <a:ext cx="1005613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Simple Linear Regression Use Cases</a:t>
            </a:r>
            <a:endParaRPr lang="en-US" sz="44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2734508"/>
            <a:ext cx="3920609" cy="24230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441037"/>
            <a:ext cx="296453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Student Performance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5931456"/>
            <a:ext cx="39206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study hour increases exam scores by 5 points on average.</a:t>
            </a:r>
            <a:endParaRPr lang="en-US" sz="17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4560" y="2734508"/>
            <a:ext cx="3920609" cy="242304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54560" y="544103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Marketing ROI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054560" y="5931456"/>
            <a:ext cx="39206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additional dollar spent on advertising increases sales by $10.</a:t>
            </a:r>
            <a:endParaRPr lang="en-US" sz="17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5331" y="2734508"/>
            <a:ext cx="3920728" cy="24231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315331" y="544115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Health Metrics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315331" y="5931575"/>
            <a:ext cx="392072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Predicting weight based on height for health assessments.</a:t>
            </a:r>
            <a:endParaRPr lang="en-US" sz="17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59825"/>
            <a:ext cx="735806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Multiple Linear Regression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622233"/>
            <a:ext cx="2073593" cy="1306949"/>
          </a:xfrm>
          <a:prstGeom prst="roundRect">
            <a:avLst>
              <a:gd name="adj" fmla="val 7289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224" y="3048953"/>
            <a:ext cx="12227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094196" y="28490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Formula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094196" y="3339465"/>
            <a:ext cx="33547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= β₀ + β₁X₁ + β₂X₂ + ... + βₙXₙ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2980730" y="3913942"/>
            <a:ext cx="10141982" cy="15240"/>
          </a:xfrm>
          <a:prstGeom prst="roundRect">
            <a:avLst>
              <a:gd name="adj" fmla="val 625116"/>
            </a:avLst>
          </a:prstGeom>
          <a:solidFill>
            <a:srgbClr val="DDBBBA"/>
          </a:solidFill>
          <a:ln/>
        </p:spPr>
      </p:sp>
      <p:sp>
        <p:nvSpPr>
          <p:cNvPr id="8" name="Shape 6"/>
          <p:cNvSpPr/>
          <p:nvPr/>
        </p:nvSpPr>
        <p:spPr>
          <a:xfrm>
            <a:off x="793790" y="4042529"/>
            <a:ext cx="4147304" cy="1306949"/>
          </a:xfrm>
          <a:prstGeom prst="roundRect">
            <a:avLst>
              <a:gd name="adj" fmla="val 7289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8224" y="4469249"/>
            <a:ext cx="178356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67908" y="426934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Variables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67908" y="4759762"/>
            <a:ext cx="532304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is dependent, X₁...Xₙ are independent variables.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5054441" y="5334238"/>
            <a:ext cx="8068270" cy="15240"/>
          </a:xfrm>
          <a:prstGeom prst="roundRect">
            <a:avLst>
              <a:gd name="adj" fmla="val 625116"/>
            </a:avLst>
          </a:prstGeom>
          <a:solidFill>
            <a:srgbClr val="DDBBBA"/>
          </a:solidFill>
          <a:ln/>
        </p:spPr>
      </p:sp>
      <p:sp>
        <p:nvSpPr>
          <p:cNvPr id="13" name="Shape 11"/>
          <p:cNvSpPr/>
          <p:nvPr/>
        </p:nvSpPr>
        <p:spPr>
          <a:xfrm>
            <a:off x="793790" y="5462826"/>
            <a:ext cx="6221135" cy="1306949"/>
          </a:xfrm>
          <a:prstGeom prst="roundRect">
            <a:avLst>
              <a:gd name="adj" fmla="val 7289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224" y="5889546"/>
            <a:ext cx="182999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241738" y="568964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Parameters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241738" y="6180058"/>
            <a:ext cx="535245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β₀ is intercept, β₁...βₙ are slopes for each variable.</a:t>
            </a:r>
            <a:endParaRPr lang="en-US" sz="175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95893" y="557570"/>
            <a:ext cx="7040166" cy="126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950"/>
              </a:lnSpc>
              <a:buNone/>
            </a:pPr>
            <a:r>
              <a:rPr lang="en-US" sz="39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Multiple Linear Regression Assumptions</a:t>
            </a:r>
            <a:endParaRPr lang="en-US" sz="3950" dirty="0"/>
          </a:p>
        </p:txBody>
      </p:sp>
      <p:sp>
        <p:nvSpPr>
          <p:cNvPr id="4" name="Shape 1"/>
          <p:cNvSpPr/>
          <p:nvPr/>
        </p:nvSpPr>
        <p:spPr>
          <a:xfrm>
            <a:off x="6195893" y="2356723"/>
            <a:ext cx="456128" cy="456128"/>
          </a:xfrm>
          <a:prstGeom prst="roundRect">
            <a:avLst>
              <a:gd name="adj" fmla="val 18668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8414" y="2432685"/>
            <a:ext cx="131088" cy="30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50"/>
              </a:lnSpc>
              <a:buNone/>
            </a:pPr>
            <a:r>
              <a:rPr lang="en-US" sz="2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350" dirty="0"/>
          </a:p>
        </p:txBody>
      </p:sp>
      <p:sp>
        <p:nvSpPr>
          <p:cNvPr id="6" name="Text 3"/>
          <p:cNvSpPr/>
          <p:nvPr/>
        </p:nvSpPr>
        <p:spPr>
          <a:xfrm>
            <a:off x="6854666" y="2356723"/>
            <a:ext cx="2534126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 Multicollinearity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6854666" y="2794992"/>
            <a:ext cx="6381393" cy="324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high correlation between independent variables.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195893" y="3549968"/>
            <a:ext cx="456128" cy="456128"/>
          </a:xfrm>
          <a:prstGeom prst="roundRect">
            <a:avLst>
              <a:gd name="adj" fmla="val 18668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28291" y="3625929"/>
            <a:ext cx="191333" cy="30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50"/>
              </a:lnSpc>
              <a:buNone/>
            </a:pPr>
            <a:r>
              <a:rPr lang="en-US" sz="2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350" dirty="0"/>
          </a:p>
        </p:txBody>
      </p:sp>
      <p:sp>
        <p:nvSpPr>
          <p:cNvPr id="10" name="Text 7"/>
          <p:cNvSpPr/>
          <p:nvPr/>
        </p:nvSpPr>
        <p:spPr>
          <a:xfrm>
            <a:off x="6854666" y="3549968"/>
            <a:ext cx="2534126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Additivity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6854666" y="3988237"/>
            <a:ext cx="6381393" cy="648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Effects of predictor variables are consistent regardless of other variables.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195893" y="5067538"/>
            <a:ext cx="456128" cy="456128"/>
          </a:xfrm>
          <a:prstGeom prst="roundRect">
            <a:avLst>
              <a:gd name="adj" fmla="val 18668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25791" y="5143500"/>
            <a:ext cx="196215" cy="30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50"/>
              </a:lnSpc>
              <a:buNone/>
            </a:pPr>
            <a:r>
              <a:rPr lang="en-US" sz="2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350" dirty="0"/>
          </a:p>
        </p:txBody>
      </p:sp>
      <p:sp>
        <p:nvSpPr>
          <p:cNvPr id="14" name="Text 11"/>
          <p:cNvSpPr/>
          <p:nvPr/>
        </p:nvSpPr>
        <p:spPr>
          <a:xfrm>
            <a:off x="6854666" y="5067538"/>
            <a:ext cx="2534126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Selection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6854666" y="5505807"/>
            <a:ext cx="6381393" cy="648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Carefully select relevant independent variables to avoid overfitting.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195893" y="6585109"/>
            <a:ext cx="456128" cy="456128"/>
          </a:xfrm>
          <a:prstGeom prst="roundRect">
            <a:avLst>
              <a:gd name="adj" fmla="val 18668"/>
            </a:avLst>
          </a:prstGeom>
          <a:solidFill>
            <a:srgbClr val="F7D5D4"/>
          </a:solidFill>
          <a:ln w="7620">
            <a:solidFill>
              <a:srgbClr val="DDBBB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21147" y="6661071"/>
            <a:ext cx="205621" cy="30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50"/>
              </a:lnSpc>
              <a:buNone/>
            </a:pPr>
            <a:r>
              <a:rPr lang="en-US" sz="2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2350" dirty="0"/>
          </a:p>
        </p:txBody>
      </p:sp>
      <p:sp>
        <p:nvSpPr>
          <p:cNvPr id="18" name="Text 15"/>
          <p:cNvSpPr/>
          <p:nvPr/>
        </p:nvSpPr>
        <p:spPr>
          <a:xfrm>
            <a:off x="6854666" y="6585109"/>
            <a:ext cx="2534126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Avoid Overfitting</a:t>
            </a:r>
            <a:endParaRPr lang="en-US" sz="1950" dirty="0"/>
          </a:p>
        </p:txBody>
      </p:sp>
      <p:sp>
        <p:nvSpPr>
          <p:cNvPr id="19" name="Text 16"/>
          <p:cNvSpPr/>
          <p:nvPr/>
        </p:nvSpPr>
        <p:spPr>
          <a:xfrm>
            <a:off x="6854666" y="7023378"/>
            <a:ext cx="6381393" cy="648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shouldn't fit training data too closely to maintain generalization.</a:t>
            </a:r>
            <a:endParaRPr lang="en-US" sz="15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6279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Multicollinearity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638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Definition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219694"/>
            <a:ext cx="3777972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Statistical phenomenon where two or more independent variables are highly correlated.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132784" y="3638550"/>
            <a:ext cx="3777972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Detection: Correlation Matrix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32784" y="4574024"/>
            <a:ext cx="3777972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Examine correlations between variables. High correlations (near 1 or -1) indicate multicollinearity.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9471779" y="3638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Detection: VIF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471779" y="4219694"/>
            <a:ext cx="3777972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 Inflation Factor above 10 suggests multicollinearity is present.</a:t>
            </a:r>
            <a:endParaRPr lang="en-US" sz="17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31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828" y="416362"/>
            <a:ext cx="6952774" cy="473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7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Multiple Linear Regression Use Cases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529828" y="1192054"/>
            <a:ext cx="8084344" cy="499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3900" dirty="0"/>
          </a:p>
        </p:txBody>
      </p:sp>
      <p:sp>
        <p:nvSpPr>
          <p:cNvPr id="5" name="Text 2"/>
          <p:cNvSpPr/>
          <p:nvPr/>
        </p:nvSpPr>
        <p:spPr>
          <a:xfrm>
            <a:off x="3625691" y="1880711"/>
            <a:ext cx="1892498" cy="236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Real Estate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29828" y="2208133"/>
            <a:ext cx="8084344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Predicting property prices based on location, size, bedrooms, and amenities.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29828" y="2980253"/>
            <a:ext cx="8084344" cy="499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3900" dirty="0"/>
          </a:p>
        </p:txBody>
      </p:sp>
      <p:sp>
        <p:nvSpPr>
          <p:cNvPr id="8" name="Text 5"/>
          <p:cNvSpPr/>
          <p:nvPr/>
        </p:nvSpPr>
        <p:spPr>
          <a:xfrm>
            <a:off x="3625691" y="3668911"/>
            <a:ext cx="1892498" cy="236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Finance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29828" y="3996333"/>
            <a:ext cx="8084344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Forecasting stock prices using interest rates, inflation, and market trends.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29828" y="4768453"/>
            <a:ext cx="8084344" cy="499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3900" dirty="0"/>
          </a:p>
        </p:txBody>
      </p:sp>
      <p:sp>
        <p:nvSpPr>
          <p:cNvPr id="11" name="Text 8"/>
          <p:cNvSpPr/>
          <p:nvPr/>
        </p:nvSpPr>
        <p:spPr>
          <a:xfrm>
            <a:off x="3625691" y="5457111"/>
            <a:ext cx="1892498" cy="236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Agriculture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29828" y="5784532"/>
            <a:ext cx="8084344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Estimating crop yields based on rainfall, temperature, and soil quality.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29828" y="6556653"/>
            <a:ext cx="8084344" cy="499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3900" dirty="0"/>
          </a:p>
        </p:txBody>
      </p:sp>
      <p:sp>
        <p:nvSpPr>
          <p:cNvPr id="14" name="Text 11"/>
          <p:cNvSpPr/>
          <p:nvPr/>
        </p:nvSpPr>
        <p:spPr>
          <a:xfrm>
            <a:off x="3625691" y="7245310"/>
            <a:ext cx="1892498" cy="236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E-commerce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529828" y="7572732"/>
            <a:ext cx="8084344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Analyzing sales impact from price, promotions, and seasonal trends.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69962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Cost Function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93790" y="4748570"/>
            <a:ext cx="13042821" cy="2616518"/>
          </a:xfrm>
          <a:prstGeom prst="roundRect">
            <a:avLst>
              <a:gd name="adj" fmla="val 364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1410" y="4756190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028224" y="4899898"/>
            <a:ext cx="60563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Purpose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545824" y="4899898"/>
            <a:ext cx="60563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Measures error between predicted and actual values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801410" y="5406509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1028224" y="5550218"/>
            <a:ext cx="60563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Common Cost Function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7545824" y="5550218"/>
            <a:ext cx="60563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 Squared Error (MSE)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801410" y="6056828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1028224" y="6200537"/>
            <a:ext cx="60563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7545824" y="6200537"/>
            <a:ext cx="60563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(1/n)∑(ŷᵢ-yᵢ)²</a:t>
            </a:r>
            <a:endParaRPr lang="en-US" sz="1750" dirty="0"/>
          </a:p>
        </p:txBody>
      </p:sp>
      <p:sp>
        <p:nvSpPr>
          <p:cNvPr id="14" name="Shape 11"/>
          <p:cNvSpPr/>
          <p:nvPr/>
        </p:nvSpPr>
        <p:spPr>
          <a:xfrm>
            <a:off x="801410" y="6707148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1028224" y="6850856"/>
            <a:ext cx="60563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1750" dirty="0"/>
          </a:p>
        </p:txBody>
      </p:sp>
      <p:sp>
        <p:nvSpPr>
          <p:cNvPr id="16" name="Text 13"/>
          <p:cNvSpPr/>
          <p:nvPr/>
        </p:nvSpPr>
        <p:spPr>
          <a:xfrm>
            <a:off x="7545824" y="6850856"/>
            <a:ext cx="60563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cost function to find optimal parameter values</a:t>
            </a:r>
            <a:endParaRPr lang="en-US" sz="1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319" y="359331"/>
            <a:ext cx="6212443" cy="408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5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Homoscedasticity in Linear Regression</a:t>
            </a:r>
            <a:endParaRPr lang="en-US" sz="25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319" y="1029057"/>
            <a:ext cx="7362706" cy="373082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03163" y="4759881"/>
            <a:ext cx="130612" cy="130612"/>
          </a:xfrm>
          <a:prstGeom prst="roundRect">
            <a:avLst>
              <a:gd name="adj" fmla="val 14002"/>
            </a:avLst>
          </a:prstGeom>
          <a:solidFill>
            <a:srgbClr val="400D0D"/>
          </a:solidFill>
          <a:ln/>
        </p:spPr>
      </p:sp>
      <p:sp>
        <p:nvSpPr>
          <p:cNvPr id="5" name="Text 2"/>
          <p:cNvSpPr/>
          <p:nvPr/>
        </p:nvSpPr>
        <p:spPr>
          <a:xfrm>
            <a:off x="3594735" y="4759881"/>
            <a:ext cx="467678" cy="130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 Value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214813" y="4759881"/>
            <a:ext cx="130612" cy="130612"/>
          </a:xfrm>
          <a:prstGeom prst="roundRect">
            <a:avLst>
              <a:gd name="adj" fmla="val 14002"/>
            </a:avLst>
          </a:prstGeom>
          <a:solidFill>
            <a:srgbClr val="AA2322"/>
          </a:solidFill>
          <a:ln/>
        </p:spPr>
      </p:sp>
      <p:sp>
        <p:nvSpPr>
          <p:cNvPr id="7" name="Text 4"/>
          <p:cNvSpPr/>
          <p:nvPr/>
        </p:nvSpPr>
        <p:spPr>
          <a:xfrm>
            <a:off x="4406384" y="4759881"/>
            <a:ext cx="521137" cy="130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Residual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19" y="5298996"/>
            <a:ext cx="4777740" cy="2895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319" y="8341519"/>
            <a:ext cx="12778740" cy="209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Homoscedasticity means residuals have constant variance across all levels of independent variables. This is a key assumption for reliable results.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256" y="596979"/>
            <a:ext cx="7715488" cy="127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Implementing Linear Regression</a:t>
            </a:r>
            <a:endParaRPr lang="en-US" sz="40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256" y="2178725"/>
            <a:ext cx="1020485" cy="122455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40850" y="2382798"/>
            <a:ext cx="2551271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Collect Data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2040850" y="2824043"/>
            <a:ext cx="6388894" cy="326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Gather relevant data with dependent and independent variables.</a:t>
            </a:r>
            <a:endParaRPr lang="en-US" sz="16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56" y="3403283"/>
            <a:ext cx="1020485" cy="1502331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040850" y="3607356"/>
            <a:ext cx="276129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Analyze Relationships</a:t>
            </a:r>
            <a:endParaRPr lang="en-US" sz="2000" dirty="0"/>
          </a:p>
        </p:txBody>
      </p:sp>
      <p:sp>
        <p:nvSpPr>
          <p:cNvPr id="9" name="Text 4"/>
          <p:cNvSpPr/>
          <p:nvPr/>
        </p:nvSpPr>
        <p:spPr>
          <a:xfrm>
            <a:off x="2040850" y="4048601"/>
            <a:ext cx="6388894" cy="652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if variables have linear relationships and meet assumptions.</a:t>
            </a:r>
            <a:endParaRPr lang="en-US" sz="16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256" y="4905613"/>
            <a:ext cx="1020485" cy="122455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040850" y="5109686"/>
            <a:ext cx="2551271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Build Model</a:t>
            </a:r>
            <a:endParaRPr lang="en-US" sz="2000" dirty="0"/>
          </a:p>
        </p:txBody>
      </p:sp>
      <p:sp>
        <p:nvSpPr>
          <p:cNvPr id="12" name="Text 6"/>
          <p:cNvSpPr/>
          <p:nvPr/>
        </p:nvSpPr>
        <p:spPr>
          <a:xfrm>
            <a:off x="2040850" y="5550932"/>
            <a:ext cx="6388894" cy="326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 algorithm to find optimal parameters by minimizing error.</a:t>
            </a:r>
            <a:endParaRPr lang="en-US" sz="16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256" y="6130171"/>
            <a:ext cx="1020485" cy="1502331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040850" y="6334244"/>
            <a:ext cx="2551271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Evaluate &amp; Deploy</a:t>
            </a:r>
            <a:endParaRPr lang="en-US" sz="2000" dirty="0"/>
          </a:p>
        </p:txBody>
      </p:sp>
      <p:sp>
        <p:nvSpPr>
          <p:cNvPr id="15" name="Text 8"/>
          <p:cNvSpPr/>
          <p:nvPr/>
        </p:nvSpPr>
        <p:spPr>
          <a:xfrm>
            <a:off x="2040850" y="6775490"/>
            <a:ext cx="6388894" cy="652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accuracy using metrics like R-squared and use for predictions.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0812" y="613529"/>
            <a:ext cx="5577721" cy="697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5450"/>
              </a:lnSpc>
              <a:buNone/>
            </a:pPr>
            <a:r>
              <a:rPr lang="en-US" sz="4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Takeaways</a:t>
            </a:r>
            <a:endParaRPr lang="en-US" sz="43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155" y="3945374"/>
            <a:ext cx="7350562" cy="73505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01622" y="6342578"/>
            <a:ext cx="120253" cy="44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155" y="3945374"/>
            <a:ext cx="7350562" cy="735056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65733" y="4850844"/>
            <a:ext cx="175498" cy="44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1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155" y="3945374"/>
            <a:ext cx="7350562" cy="735056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973139" y="4850844"/>
            <a:ext cx="180023" cy="44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1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155" y="3945374"/>
            <a:ext cx="7350562" cy="7350562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9460587" y="6342578"/>
            <a:ext cx="188595" cy="44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2150" dirty="0"/>
          </a:p>
        </p:txBody>
      </p:sp>
      <p:sp>
        <p:nvSpPr>
          <p:cNvPr id="11" name="Text 5"/>
          <p:cNvSpPr/>
          <p:nvPr/>
        </p:nvSpPr>
        <p:spPr>
          <a:xfrm>
            <a:off x="817840" y="2593419"/>
            <a:ext cx="2788801" cy="348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Simple vs Multiple</a:t>
            </a:r>
            <a:endParaRPr lang="en-US" sz="2150" dirty="0"/>
          </a:p>
        </p:txBody>
      </p:sp>
      <p:sp>
        <p:nvSpPr>
          <p:cNvPr id="12" name="Text 6"/>
          <p:cNvSpPr/>
          <p:nvPr/>
        </p:nvSpPr>
        <p:spPr>
          <a:xfrm>
            <a:off x="780812" y="3075742"/>
            <a:ext cx="2862858" cy="1784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uses one independent variable, while multiple uses several variables to predict outcomes.</a:t>
            </a:r>
            <a:endParaRPr lang="en-US" sz="1750" dirty="0"/>
          </a:p>
        </p:txBody>
      </p:sp>
      <p:sp>
        <p:nvSpPr>
          <p:cNvPr id="13" name="Text 7"/>
          <p:cNvSpPr/>
          <p:nvPr/>
        </p:nvSpPr>
        <p:spPr>
          <a:xfrm>
            <a:off x="4015264" y="1756886"/>
            <a:ext cx="2788801" cy="348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Best Fit Line</a:t>
            </a:r>
            <a:endParaRPr lang="en-US" sz="2150" dirty="0"/>
          </a:p>
        </p:txBody>
      </p:sp>
      <p:sp>
        <p:nvSpPr>
          <p:cNvPr id="14" name="Text 8"/>
          <p:cNvSpPr/>
          <p:nvPr/>
        </p:nvSpPr>
        <p:spPr>
          <a:xfrm>
            <a:off x="3978235" y="2239208"/>
            <a:ext cx="2862858" cy="1427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 is finding the line that minimizes error between predicted and actual values.</a:t>
            </a:r>
            <a:endParaRPr lang="en-US" sz="1750" dirty="0"/>
          </a:p>
        </p:txBody>
      </p:sp>
      <p:sp>
        <p:nvSpPr>
          <p:cNvPr id="15" name="Text 9"/>
          <p:cNvSpPr/>
          <p:nvPr/>
        </p:nvSpPr>
        <p:spPr>
          <a:xfrm>
            <a:off x="7212687" y="1756886"/>
            <a:ext cx="2788801" cy="348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Assumptions</a:t>
            </a:r>
            <a:endParaRPr lang="en-US" sz="2150" dirty="0"/>
          </a:p>
        </p:txBody>
      </p:sp>
      <p:sp>
        <p:nvSpPr>
          <p:cNvPr id="16" name="Text 10"/>
          <p:cNvSpPr/>
          <p:nvPr/>
        </p:nvSpPr>
        <p:spPr>
          <a:xfrm>
            <a:off x="7175659" y="2239208"/>
            <a:ext cx="2862858" cy="1427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Linearity, independence, homoscedasticity, and normality are crucial for reliable results.</a:t>
            </a:r>
            <a:endParaRPr lang="en-US" sz="1750" dirty="0"/>
          </a:p>
        </p:txBody>
      </p:sp>
      <p:sp>
        <p:nvSpPr>
          <p:cNvPr id="17" name="Text 11"/>
          <p:cNvSpPr/>
          <p:nvPr/>
        </p:nvSpPr>
        <p:spPr>
          <a:xfrm>
            <a:off x="10373082" y="2601873"/>
            <a:ext cx="2862977" cy="69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Versatile Applications</a:t>
            </a:r>
            <a:endParaRPr lang="en-US" sz="2150" dirty="0"/>
          </a:p>
        </p:txBody>
      </p:sp>
      <p:sp>
        <p:nvSpPr>
          <p:cNvPr id="18" name="Text 12"/>
          <p:cNvSpPr/>
          <p:nvPr/>
        </p:nvSpPr>
        <p:spPr>
          <a:xfrm>
            <a:off x="10373082" y="3432691"/>
            <a:ext cx="2862977" cy="1427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in finance, real estate, healthcare, marketing, and many other fields.</a:t>
            </a:r>
            <a:endParaRPr lang="en-US" sz="17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64778" y="228600"/>
            <a:ext cx="937022" cy="50280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2025-03-05T11:18:44Z</dcterms:created>
  <dcterms:modified xsi:type="dcterms:W3CDTF">2025-03-05T11:18:44Z</dcterms:modified>
</cp:coreProperties>
</file>