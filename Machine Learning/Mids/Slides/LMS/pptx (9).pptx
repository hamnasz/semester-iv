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4630400" cy="8229600"/>
  <p:notesSz cx="8229600" cy="14630400"/>
  <p:embeddedFontLst>
    <p:embeddedFont>
      <p:font typeface="Poppins"/>
      <p:regular r:id="rId27"/>
    </p:embeddedFont>
    <p:embeddedFont>
      <p:font typeface="Poppins"/>
      <p:regular r:id="rId28"/>
    </p:embeddedFont>
    <p:embeddedFont>
      <p:font typeface="Poppins"/>
      <p:regular r:id="rId29"/>
    </p:embeddedFont>
    <p:embeddedFont>
      <p:font typeface="Poppins"/>
      <p:regular r:id="rId30"/>
    </p:embeddedFont>
    <p:embeddedFont>
      <p:font typeface="Poppins"/>
      <p:regular r:id="rId31"/>
    </p:embeddedFont>
    <p:embeddedFont>
      <p:font typeface="Poppins"/>
      <p:regular r:id="rId32"/>
    </p:embeddedFont>
    <p:embeddedFont>
      <p:font typeface="Poppins"/>
      <p:regular r:id="rId33"/>
    </p:embeddedFont>
    <p:embeddedFont>
      <p:font typeface="Poppins"/>
      <p:regular r:id="rId34"/>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lide 1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lide 1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lide 2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6E6E6"/>
          </a:solidFill>
          <a:ln/>
        </p:spPr>
      </p:sp>
      <p:sp>
        <p:nvSpPr>
          <p:cNvPr id="3" name="Shape 1"/>
          <p:cNvSpPr/>
          <p:nvPr/>
        </p:nvSpPr>
        <p:spPr>
          <a:xfrm>
            <a:off x="0" y="0"/>
            <a:ext cx="14630400" cy="82296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5.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6.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7.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8.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0.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5.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6.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7.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8.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9.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0.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2328624"/>
            <a:ext cx="7146369" cy="1417558"/>
          </a:xfrm>
          <a:prstGeom prst="rect">
            <a:avLst/>
          </a:prstGeom>
          <a:noFill/>
          <a:ln/>
        </p:spPr>
        <p:txBody>
          <a:bodyPr wrap="squar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Support Vector Machine (SVM) Algorithm</a:t>
            </a:r>
            <a:endParaRPr lang="en-US" sz="4450" dirty="0"/>
          </a:p>
        </p:txBody>
      </p:sp>
      <p:sp>
        <p:nvSpPr>
          <p:cNvPr id="4" name="Text 1"/>
          <p:cNvSpPr/>
          <p:nvPr/>
        </p:nvSpPr>
        <p:spPr>
          <a:xfrm>
            <a:off x="6280190" y="4086344"/>
            <a:ext cx="7146369" cy="1814513"/>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SVM is a powerful supervised machine learning algorithm for classification and regression tasks. It finds the optimal hyperplane to separate data points into different classes. SVM maximizes the margin between classes for robust classification.</a:t>
            </a:r>
            <a:endParaRPr lang="en-US" sz="1750" dirty="0"/>
          </a:p>
        </p:txBody>
      </p:sp>
      <p:pic>
        <p:nvPicPr>
          <p:cNvPr id="5" name="Image 1" descr="preencoded.png">    </p:cNvPr>
          <p:cNvPicPr>
            <a:picLocks noChangeAspect="1"/>
          </p:cNvPicPr>
          <p:nvPr/>
        </p:nvPicPr>
        <p:blipFill>
          <a:blip r:embed="rId2"/>
          <a:stretch>
            <a:fillRect/>
          </a:stretch>
        </p:blipFill>
        <p:spPr>
          <a:xfrm>
            <a:off x="13657778" y="228600"/>
            <a:ext cx="744022" cy="63234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929640"/>
            <a:ext cx="7146369" cy="1417558"/>
          </a:xfrm>
          <a:prstGeom prst="rect">
            <a:avLst/>
          </a:prstGeom>
          <a:noFill/>
          <a:ln/>
        </p:spPr>
        <p:txBody>
          <a:bodyPr wrap="squar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What is Support Vector Machine?</a:t>
            </a:r>
            <a:endParaRPr lang="en-US" sz="4450" dirty="0"/>
          </a:p>
        </p:txBody>
      </p:sp>
      <p:sp>
        <p:nvSpPr>
          <p:cNvPr id="4" name="Shape 1"/>
          <p:cNvSpPr/>
          <p:nvPr/>
        </p:nvSpPr>
        <p:spPr>
          <a:xfrm>
            <a:off x="6280190" y="2942511"/>
            <a:ext cx="510302" cy="510302"/>
          </a:xfrm>
          <a:prstGeom prst="roundRect">
            <a:avLst>
              <a:gd name="adj" fmla="val 18669"/>
            </a:avLst>
          </a:prstGeom>
          <a:solidFill>
            <a:srgbClr val="E7D8F3"/>
          </a:solidFill>
          <a:ln w="7620">
            <a:solidFill>
              <a:srgbClr val="CDBED9"/>
            </a:solidFill>
            <a:prstDash val="solid"/>
          </a:ln>
        </p:spPr>
      </p:sp>
      <p:sp>
        <p:nvSpPr>
          <p:cNvPr id="5" name="Text 2"/>
          <p:cNvSpPr/>
          <p:nvPr/>
        </p:nvSpPr>
        <p:spPr>
          <a:xfrm>
            <a:off x="6471285" y="3027521"/>
            <a:ext cx="127992" cy="340281"/>
          </a:xfrm>
          <a:prstGeom prst="rect">
            <a:avLst/>
          </a:prstGeom>
          <a:noFill/>
          <a:ln/>
        </p:spPr>
        <p:txBody>
          <a:bodyPr wrap="none" lIns="0" tIns="0" rIns="0" bIns="0" rtlCol="0" anchor="t"/>
          <a:lstStyle/>
          <a:p>
            <a:pPr algn="ctr" indent="0" marL="0">
              <a:lnSpc>
                <a:spcPts val="2650"/>
              </a:lnSpc>
              <a:buNone/>
            </a:pPr>
            <a:r>
              <a:rPr lang="en-US" sz="2650" b="1" dirty="0">
                <a:solidFill>
                  <a:srgbClr val="000000"/>
                </a:solidFill>
                <a:latin typeface="Poppins Bold" pitchFamily="34" charset="0"/>
                <a:ea typeface="Poppins Bold" pitchFamily="34" charset="-122"/>
                <a:cs typeface="Poppins Bold" pitchFamily="34" charset="-120"/>
              </a:rPr>
              <a:t>1</a:t>
            </a:r>
            <a:endParaRPr lang="en-US" sz="2650" dirty="0"/>
          </a:p>
        </p:txBody>
      </p:sp>
      <p:sp>
        <p:nvSpPr>
          <p:cNvPr id="6" name="Text 3"/>
          <p:cNvSpPr/>
          <p:nvPr/>
        </p:nvSpPr>
        <p:spPr>
          <a:xfrm>
            <a:off x="7017306" y="2942511"/>
            <a:ext cx="2722721" cy="708660"/>
          </a:xfrm>
          <a:prstGeom prst="rect">
            <a:avLst/>
          </a:prstGeom>
          <a:noFill/>
          <a:ln/>
        </p:spPr>
        <p:txBody>
          <a:bodyPr wrap="squar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Classification Focus</a:t>
            </a:r>
            <a:endParaRPr lang="en-US" sz="2200" dirty="0"/>
          </a:p>
        </p:txBody>
      </p:sp>
      <p:sp>
        <p:nvSpPr>
          <p:cNvPr id="7" name="Text 4"/>
          <p:cNvSpPr/>
          <p:nvPr/>
        </p:nvSpPr>
        <p:spPr>
          <a:xfrm>
            <a:off x="7017306" y="3787259"/>
            <a:ext cx="2722721" cy="1814513"/>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SVM excels at classification tasks despite handling regression problems too.</a:t>
            </a:r>
            <a:endParaRPr lang="en-US" sz="1750" dirty="0"/>
          </a:p>
        </p:txBody>
      </p:sp>
      <p:sp>
        <p:nvSpPr>
          <p:cNvPr id="8" name="Shape 5"/>
          <p:cNvSpPr/>
          <p:nvPr/>
        </p:nvSpPr>
        <p:spPr>
          <a:xfrm>
            <a:off x="9966841" y="2942511"/>
            <a:ext cx="510302" cy="510302"/>
          </a:xfrm>
          <a:prstGeom prst="roundRect">
            <a:avLst>
              <a:gd name="adj" fmla="val 18669"/>
            </a:avLst>
          </a:prstGeom>
          <a:solidFill>
            <a:srgbClr val="E7D8F3"/>
          </a:solidFill>
          <a:ln w="7620">
            <a:solidFill>
              <a:srgbClr val="CDBED9"/>
            </a:solidFill>
            <a:prstDash val="solid"/>
          </a:ln>
        </p:spPr>
      </p:sp>
      <p:sp>
        <p:nvSpPr>
          <p:cNvPr id="9" name="Text 6"/>
          <p:cNvSpPr/>
          <p:nvPr/>
        </p:nvSpPr>
        <p:spPr>
          <a:xfrm>
            <a:off x="10124837" y="3027521"/>
            <a:ext cx="194310" cy="340281"/>
          </a:xfrm>
          <a:prstGeom prst="rect">
            <a:avLst/>
          </a:prstGeom>
          <a:noFill/>
          <a:ln/>
        </p:spPr>
        <p:txBody>
          <a:bodyPr wrap="none" lIns="0" tIns="0" rIns="0" bIns="0" rtlCol="0" anchor="t"/>
          <a:lstStyle/>
          <a:p>
            <a:pPr algn="ctr" indent="0" marL="0">
              <a:lnSpc>
                <a:spcPts val="2650"/>
              </a:lnSpc>
              <a:buNone/>
            </a:pPr>
            <a:r>
              <a:rPr lang="en-US" sz="2650" b="1" dirty="0">
                <a:solidFill>
                  <a:srgbClr val="000000"/>
                </a:solidFill>
                <a:latin typeface="Poppins Bold" pitchFamily="34" charset="0"/>
                <a:ea typeface="Poppins Bold" pitchFamily="34" charset="-122"/>
                <a:cs typeface="Poppins Bold" pitchFamily="34" charset="-120"/>
              </a:rPr>
              <a:t>2</a:t>
            </a:r>
            <a:endParaRPr lang="en-US" sz="2650" dirty="0"/>
          </a:p>
        </p:txBody>
      </p:sp>
      <p:sp>
        <p:nvSpPr>
          <p:cNvPr id="10" name="Text 7"/>
          <p:cNvSpPr/>
          <p:nvPr/>
        </p:nvSpPr>
        <p:spPr>
          <a:xfrm>
            <a:off x="10703957" y="2942511"/>
            <a:ext cx="2722721" cy="708660"/>
          </a:xfrm>
          <a:prstGeom prst="rect">
            <a:avLst/>
          </a:prstGeom>
          <a:noFill/>
          <a:ln/>
        </p:spPr>
        <p:txBody>
          <a:bodyPr wrap="squar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Optimal Separation</a:t>
            </a:r>
            <a:endParaRPr lang="en-US" sz="2200" dirty="0"/>
          </a:p>
        </p:txBody>
      </p:sp>
      <p:sp>
        <p:nvSpPr>
          <p:cNvPr id="11" name="Text 8"/>
          <p:cNvSpPr/>
          <p:nvPr/>
        </p:nvSpPr>
        <p:spPr>
          <a:xfrm>
            <a:off x="10703957" y="3787259"/>
            <a:ext cx="2722721" cy="1451610"/>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Finds the best hyperplane in N-dimensional space to separate data points.</a:t>
            </a:r>
            <a:endParaRPr lang="en-US" sz="1750" dirty="0"/>
          </a:p>
        </p:txBody>
      </p:sp>
      <p:sp>
        <p:nvSpPr>
          <p:cNvPr id="12" name="Shape 9"/>
          <p:cNvSpPr/>
          <p:nvPr/>
        </p:nvSpPr>
        <p:spPr>
          <a:xfrm>
            <a:off x="6280190" y="6083737"/>
            <a:ext cx="510302" cy="510302"/>
          </a:xfrm>
          <a:prstGeom prst="roundRect">
            <a:avLst>
              <a:gd name="adj" fmla="val 18669"/>
            </a:avLst>
          </a:prstGeom>
          <a:solidFill>
            <a:srgbClr val="E7D8F3"/>
          </a:solidFill>
          <a:ln w="7620">
            <a:solidFill>
              <a:srgbClr val="CDBED9"/>
            </a:solidFill>
            <a:prstDash val="solid"/>
          </a:ln>
        </p:spPr>
      </p:sp>
      <p:sp>
        <p:nvSpPr>
          <p:cNvPr id="13" name="Text 10"/>
          <p:cNvSpPr/>
          <p:nvPr/>
        </p:nvSpPr>
        <p:spPr>
          <a:xfrm>
            <a:off x="6432352" y="6168747"/>
            <a:ext cx="205859" cy="340281"/>
          </a:xfrm>
          <a:prstGeom prst="rect">
            <a:avLst/>
          </a:prstGeom>
          <a:noFill/>
          <a:ln/>
        </p:spPr>
        <p:txBody>
          <a:bodyPr wrap="none" lIns="0" tIns="0" rIns="0" bIns="0" rtlCol="0" anchor="t"/>
          <a:lstStyle/>
          <a:p>
            <a:pPr algn="ctr" indent="0" marL="0">
              <a:lnSpc>
                <a:spcPts val="2650"/>
              </a:lnSpc>
              <a:buNone/>
            </a:pPr>
            <a:r>
              <a:rPr lang="en-US" sz="2650" b="1" dirty="0">
                <a:solidFill>
                  <a:srgbClr val="000000"/>
                </a:solidFill>
                <a:latin typeface="Poppins Bold" pitchFamily="34" charset="0"/>
                <a:ea typeface="Poppins Bold" pitchFamily="34" charset="-122"/>
                <a:cs typeface="Poppins Bold" pitchFamily="34" charset="-120"/>
              </a:rPr>
              <a:t>3</a:t>
            </a:r>
            <a:endParaRPr lang="en-US" sz="2650" dirty="0"/>
          </a:p>
        </p:txBody>
      </p:sp>
      <p:sp>
        <p:nvSpPr>
          <p:cNvPr id="14" name="Text 11"/>
          <p:cNvSpPr/>
          <p:nvPr/>
        </p:nvSpPr>
        <p:spPr>
          <a:xfrm>
            <a:off x="7017306" y="6083737"/>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Maximum Margin</a:t>
            </a:r>
            <a:endParaRPr lang="en-US" sz="2200" dirty="0"/>
          </a:p>
        </p:txBody>
      </p:sp>
      <p:sp>
        <p:nvSpPr>
          <p:cNvPr id="15" name="Text 12"/>
          <p:cNvSpPr/>
          <p:nvPr/>
        </p:nvSpPr>
        <p:spPr>
          <a:xfrm>
            <a:off x="7017306" y="6574155"/>
            <a:ext cx="6409253" cy="725805"/>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Maximizes the distance between nearest points of different classes.</a:t>
            </a:r>
            <a:endParaRPr lang="en-US" sz="1750" dirty="0"/>
          </a:p>
        </p:txBody>
      </p:sp>
      <p:pic>
        <p:nvPicPr>
          <p:cNvPr id="16" name="Image 1" descr="preencoded.png">    </p:cNvPr>
          <p:cNvPicPr>
            <a:picLocks noChangeAspect="1"/>
          </p:cNvPicPr>
          <p:nvPr/>
        </p:nvPicPr>
        <p:blipFill>
          <a:blip r:embed="rId2"/>
          <a:stretch>
            <a:fillRect/>
          </a:stretch>
        </p:blipFill>
        <p:spPr>
          <a:xfrm>
            <a:off x="13657778" y="228600"/>
            <a:ext cx="744022" cy="63234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93790" y="2539960"/>
            <a:ext cx="6336030"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SVM Key Terminology</a:t>
            </a:r>
            <a:endParaRPr lang="en-US" sz="4450" dirty="0"/>
          </a:p>
        </p:txBody>
      </p:sp>
      <p:sp>
        <p:nvSpPr>
          <p:cNvPr id="3" name="Text 1"/>
          <p:cNvSpPr/>
          <p:nvPr/>
        </p:nvSpPr>
        <p:spPr>
          <a:xfrm>
            <a:off x="793790" y="3815715"/>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Hyperplane</a:t>
            </a:r>
            <a:endParaRPr lang="en-US" sz="2200" dirty="0"/>
          </a:p>
        </p:txBody>
      </p:sp>
      <p:sp>
        <p:nvSpPr>
          <p:cNvPr id="4" name="Text 2"/>
          <p:cNvSpPr/>
          <p:nvPr/>
        </p:nvSpPr>
        <p:spPr>
          <a:xfrm>
            <a:off x="793790" y="4396859"/>
            <a:ext cx="3841433" cy="1088708"/>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Decision boundary separating classes in feature space. Represented by wx + b = 0.</a:t>
            </a:r>
            <a:endParaRPr lang="en-US" sz="1750" dirty="0"/>
          </a:p>
        </p:txBody>
      </p:sp>
      <p:sp>
        <p:nvSpPr>
          <p:cNvPr id="5" name="Text 3"/>
          <p:cNvSpPr/>
          <p:nvPr/>
        </p:nvSpPr>
        <p:spPr>
          <a:xfrm>
            <a:off x="5196245" y="3815715"/>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Support Vectors</a:t>
            </a:r>
            <a:endParaRPr lang="en-US" sz="2200" dirty="0"/>
          </a:p>
        </p:txBody>
      </p:sp>
      <p:sp>
        <p:nvSpPr>
          <p:cNvPr id="6" name="Text 4"/>
          <p:cNvSpPr/>
          <p:nvPr/>
        </p:nvSpPr>
        <p:spPr>
          <a:xfrm>
            <a:off x="5196245" y="4396859"/>
            <a:ext cx="3841433" cy="1088708"/>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The closest data points to the hyperplane. Crucial for determining the margin.</a:t>
            </a:r>
            <a:endParaRPr lang="en-US" sz="1750" dirty="0"/>
          </a:p>
        </p:txBody>
      </p:sp>
      <p:sp>
        <p:nvSpPr>
          <p:cNvPr id="7" name="Text 5"/>
          <p:cNvSpPr/>
          <p:nvPr/>
        </p:nvSpPr>
        <p:spPr>
          <a:xfrm>
            <a:off x="9598700" y="3815715"/>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Margin</a:t>
            </a:r>
            <a:endParaRPr lang="en-US" sz="2200" dirty="0"/>
          </a:p>
        </p:txBody>
      </p:sp>
      <p:sp>
        <p:nvSpPr>
          <p:cNvPr id="8" name="Text 6"/>
          <p:cNvSpPr/>
          <p:nvPr/>
        </p:nvSpPr>
        <p:spPr>
          <a:xfrm>
            <a:off x="9598700" y="4396859"/>
            <a:ext cx="3841433" cy="1088708"/>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Distance between hyperplane and support vectors. SVM aims to maximize this.</a:t>
            </a:r>
            <a:endParaRPr lang="en-US" sz="1750" dirty="0"/>
          </a:p>
        </p:txBody>
      </p:sp>
      <p:pic>
        <p:nvPicPr>
          <p:cNvPr id="9" name="Image 0" descr="preencoded.png">    </p:cNvPr>
          <p:cNvPicPr>
            <a:picLocks noChangeAspect="1"/>
          </p:cNvPicPr>
          <p:nvPr/>
        </p:nvPicPr>
        <p:blipFill>
          <a:blip r:embed="rId1"/>
          <a:stretch>
            <a:fillRect/>
          </a:stretch>
        </p:blipFill>
        <p:spPr>
          <a:xfrm>
            <a:off x="13657778" y="228600"/>
            <a:ext cx="744022" cy="63234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793790" y="1428869"/>
            <a:ext cx="6706791"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More SVM Terminology</a:t>
            </a:r>
            <a:endParaRPr lang="en-US" sz="4450" dirty="0"/>
          </a:p>
        </p:txBody>
      </p:sp>
      <p:sp>
        <p:nvSpPr>
          <p:cNvPr id="4" name="Shape 1"/>
          <p:cNvSpPr/>
          <p:nvPr/>
        </p:nvSpPr>
        <p:spPr>
          <a:xfrm>
            <a:off x="793790" y="2477810"/>
            <a:ext cx="3664863" cy="2410897"/>
          </a:xfrm>
          <a:prstGeom prst="roundRect">
            <a:avLst>
              <a:gd name="adj" fmla="val 3952"/>
            </a:avLst>
          </a:prstGeom>
          <a:solidFill>
            <a:srgbClr val="E7D8F3"/>
          </a:solidFill>
          <a:ln w="7620">
            <a:solidFill>
              <a:srgbClr val="CDBED9"/>
            </a:solidFill>
            <a:prstDash val="solid"/>
          </a:ln>
        </p:spPr>
      </p:sp>
      <p:sp>
        <p:nvSpPr>
          <p:cNvPr id="5" name="Text 2"/>
          <p:cNvSpPr/>
          <p:nvPr/>
        </p:nvSpPr>
        <p:spPr>
          <a:xfrm>
            <a:off x="1028224" y="2712244"/>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Kernel</a:t>
            </a:r>
            <a:endParaRPr lang="en-US" sz="2200" dirty="0"/>
          </a:p>
        </p:txBody>
      </p:sp>
      <p:sp>
        <p:nvSpPr>
          <p:cNvPr id="6" name="Text 3"/>
          <p:cNvSpPr/>
          <p:nvPr/>
        </p:nvSpPr>
        <p:spPr>
          <a:xfrm>
            <a:off x="1028224" y="3202662"/>
            <a:ext cx="3195995" cy="1451610"/>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Function mapping data to higher dimensions. Enables handling non-linearly separable data.</a:t>
            </a:r>
            <a:endParaRPr lang="en-US" sz="1750" dirty="0"/>
          </a:p>
        </p:txBody>
      </p:sp>
      <p:sp>
        <p:nvSpPr>
          <p:cNvPr id="7" name="Shape 4"/>
          <p:cNvSpPr/>
          <p:nvPr/>
        </p:nvSpPr>
        <p:spPr>
          <a:xfrm>
            <a:off x="4685467" y="2477810"/>
            <a:ext cx="3664863" cy="2410897"/>
          </a:xfrm>
          <a:prstGeom prst="roundRect">
            <a:avLst>
              <a:gd name="adj" fmla="val 3952"/>
            </a:avLst>
          </a:prstGeom>
          <a:solidFill>
            <a:srgbClr val="E7D8F3"/>
          </a:solidFill>
          <a:ln w="7620">
            <a:solidFill>
              <a:srgbClr val="CDBED9"/>
            </a:solidFill>
            <a:prstDash val="solid"/>
          </a:ln>
        </p:spPr>
      </p:sp>
      <p:sp>
        <p:nvSpPr>
          <p:cNvPr id="8" name="Text 5"/>
          <p:cNvSpPr/>
          <p:nvPr/>
        </p:nvSpPr>
        <p:spPr>
          <a:xfrm>
            <a:off x="4919901" y="2712244"/>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Hard Margin</a:t>
            </a:r>
            <a:endParaRPr lang="en-US" sz="2200" dirty="0"/>
          </a:p>
        </p:txBody>
      </p:sp>
      <p:sp>
        <p:nvSpPr>
          <p:cNvPr id="9" name="Text 6"/>
          <p:cNvSpPr/>
          <p:nvPr/>
        </p:nvSpPr>
        <p:spPr>
          <a:xfrm>
            <a:off x="4919901" y="3202662"/>
            <a:ext cx="3195995" cy="1451610"/>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Maximum-margin hyperplane perfectly separating data without misclassifications.</a:t>
            </a:r>
            <a:endParaRPr lang="en-US" sz="1750" dirty="0"/>
          </a:p>
        </p:txBody>
      </p:sp>
      <p:sp>
        <p:nvSpPr>
          <p:cNvPr id="10" name="Shape 7"/>
          <p:cNvSpPr/>
          <p:nvPr/>
        </p:nvSpPr>
        <p:spPr>
          <a:xfrm>
            <a:off x="793790" y="5115520"/>
            <a:ext cx="7556421" cy="1685092"/>
          </a:xfrm>
          <a:prstGeom prst="roundRect">
            <a:avLst>
              <a:gd name="adj" fmla="val 5654"/>
            </a:avLst>
          </a:prstGeom>
          <a:solidFill>
            <a:srgbClr val="E7D8F3"/>
          </a:solidFill>
          <a:ln w="7620">
            <a:solidFill>
              <a:srgbClr val="CDBED9"/>
            </a:solidFill>
            <a:prstDash val="solid"/>
          </a:ln>
        </p:spPr>
      </p:sp>
      <p:sp>
        <p:nvSpPr>
          <p:cNvPr id="11" name="Text 8"/>
          <p:cNvSpPr/>
          <p:nvPr/>
        </p:nvSpPr>
        <p:spPr>
          <a:xfrm>
            <a:off x="1028224" y="5349954"/>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Soft Margin</a:t>
            </a:r>
            <a:endParaRPr lang="en-US" sz="2200" dirty="0"/>
          </a:p>
        </p:txBody>
      </p:sp>
      <p:sp>
        <p:nvSpPr>
          <p:cNvPr id="12" name="Text 9"/>
          <p:cNvSpPr/>
          <p:nvPr/>
        </p:nvSpPr>
        <p:spPr>
          <a:xfrm>
            <a:off x="1028224" y="5840373"/>
            <a:ext cx="7087553" cy="725805"/>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Allows some misclassifications by introducing slack variables. Balances margin maximization and penalties.</a:t>
            </a:r>
            <a:endParaRPr lang="en-US" sz="1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793790" y="2040969"/>
            <a:ext cx="6644997"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Final SVM Terminology</a:t>
            </a:r>
            <a:endParaRPr lang="en-US" sz="4450" dirty="0"/>
          </a:p>
        </p:txBody>
      </p:sp>
      <p:pic>
        <p:nvPicPr>
          <p:cNvPr id="4" name="Image 1" descr="preencoded.png">    </p:cNvPr>
          <p:cNvPicPr>
            <a:picLocks noChangeAspect="1"/>
          </p:cNvPicPr>
          <p:nvPr/>
        </p:nvPicPr>
        <p:blipFill>
          <a:blip r:embed="rId2"/>
          <a:stretch>
            <a:fillRect/>
          </a:stretch>
        </p:blipFill>
        <p:spPr>
          <a:xfrm>
            <a:off x="793790" y="3089910"/>
            <a:ext cx="566976" cy="566976"/>
          </a:xfrm>
          <a:prstGeom prst="rect">
            <a:avLst/>
          </a:prstGeom>
        </p:spPr>
      </p:pic>
      <p:sp>
        <p:nvSpPr>
          <p:cNvPr id="5" name="Text 1"/>
          <p:cNvSpPr/>
          <p:nvPr/>
        </p:nvSpPr>
        <p:spPr>
          <a:xfrm>
            <a:off x="793790" y="3883700"/>
            <a:ext cx="2291953"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C Parameter</a:t>
            </a:r>
            <a:endParaRPr lang="en-US" sz="2200" dirty="0"/>
          </a:p>
        </p:txBody>
      </p:sp>
      <p:sp>
        <p:nvSpPr>
          <p:cNvPr id="6" name="Text 2"/>
          <p:cNvSpPr/>
          <p:nvPr/>
        </p:nvSpPr>
        <p:spPr>
          <a:xfrm>
            <a:off x="793790" y="4374118"/>
            <a:ext cx="2291953" cy="1814513"/>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Regularization term balancing margin maximization and misclassification penalties.</a:t>
            </a:r>
            <a:endParaRPr lang="en-US" sz="1750" dirty="0"/>
          </a:p>
        </p:txBody>
      </p:sp>
      <p:pic>
        <p:nvPicPr>
          <p:cNvPr id="7" name="Image 2" descr="preencoded.png">    </p:cNvPr>
          <p:cNvPicPr>
            <a:picLocks noChangeAspect="1"/>
          </p:cNvPicPr>
          <p:nvPr/>
        </p:nvPicPr>
        <p:blipFill>
          <a:blip r:embed="rId3"/>
          <a:stretch>
            <a:fillRect/>
          </a:stretch>
        </p:blipFill>
        <p:spPr>
          <a:xfrm>
            <a:off x="3425904" y="3089910"/>
            <a:ext cx="566976" cy="566976"/>
          </a:xfrm>
          <a:prstGeom prst="rect">
            <a:avLst/>
          </a:prstGeom>
        </p:spPr>
      </p:pic>
      <p:sp>
        <p:nvSpPr>
          <p:cNvPr id="8" name="Text 3"/>
          <p:cNvSpPr/>
          <p:nvPr/>
        </p:nvSpPr>
        <p:spPr>
          <a:xfrm>
            <a:off x="3425904" y="3883700"/>
            <a:ext cx="2292072"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Hinge Loss</a:t>
            </a:r>
            <a:endParaRPr lang="en-US" sz="2200" dirty="0"/>
          </a:p>
        </p:txBody>
      </p:sp>
      <p:sp>
        <p:nvSpPr>
          <p:cNvPr id="9" name="Text 4"/>
          <p:cNvSpPr/>
          <p:nvPr/>
        </p:nvSpPr>
        <p:spPr>
          <a:xfrm>
            <a:off x="3425904" y="4374118"/>
            <a:ext cx="2292072" cy="1814513"/>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Loss function penalizing misclassified points or margin violations.</a:t>
            </a:r>
            <a:endParaRPr lang="en-US" sz="1750" dirty="0"/>
          </a:p>
        </p:txBody>
      </p:sp>
      <p:pic>
        <p:nvPicPr>
          <p:cNvPr id="10" name="Image 3" descr="preencoded.png">    </p:cNvPr>
          <p:cNvPicPr>
            <a:picLocks noChangeAspect="1"/>
          </p:cNvPicPr>
          <p:nvPr/>
        </p:nvPicPr>
        <p:blipFill>
          <a:blip r:embed="rId4"/>
          <a:stretch>
            <a:fillRect/>
          </a:stretch>
        </p:blipFill>
        <p:spPr>
          <a:xfrm>
            <a:off x="6058138" y="3089910"/>
            <a:ext cx="566976" cy="566976"/>
          </a:xfrm>
          <a:prstGeom prst="rect">
            <a:avLst/>
          </a:prstGeom>
        </p:spPr>
      </p:pic>
      <p:sp>
        <p:nvSpPr>
          <p:cNvPr id="11" name="Text 5"/>
          <p:cNvSpPr/>
          <p:nvPr/>
        </p:nvSpPr>
        <p:spPr>
          <a:xfrm>
            <a:off x="6058138" y="3883700"/>
            <a:ext cx="2291953"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Dual Problem</a:t>
            </a:r>
            <a:endParaRPr lang="en-US" sz="2200" dirty="0"/>
          </a:p>
        </p:txBody>
      </p:sp>
      <p:sp>
        <p:nvSpPr>
          <p:cNvPr id="12" name="Text 6"/>
          <p:cNvSpPr/>
          <p:nvPr/>
        </p:nvSpPr>
        <p:spPr>
          <a:xfrm>
            <a:off x="6058138" y="4374118"/>
            <a:ext cx="2291953" cy="1814513"/>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Involves solving for Lagrange multipliers associated with support vectors.</a:t>
            </a:r>
            <a:endParaRPr lang="en-US" sz="1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pic>
        <p:nvPicPr>
          <p:cNvPr id="3" name="Image 1" descr="preencoded.png">    </p:cNvPr>
          <p:cNvPicPr>
            <a:picLocks noChangeAspect="1"/>
          </p:cNvPicPr>
          <p:nvPr/>
        </p:nvPicPr>
        <p:blipFill>
          <a:blip r:embed="rId2"/>
          <a:stretch>
            <a:fillRect/>
          </a:stretch>
        </p:blipFill>
        <p:spPr>
          <a:xfrm>
            <a:off x="1207770" y="2876550"/>
            <a:ext cx="3070860" cy="2476500"/>
          </a:xfrm>
          <a:prstGeom prst="rect">
            <a:avLst/>
          </a:prstGeom>
        </p:spPr>
      </p:pic>
      <p:sp>
        <p:nvSpPr>
          <p:cNvPr id="4" name="Text 0"/>
          <p:cNvSpPr/>
          <p:nvPr/>
        </p:nvSpPr>
        <p:spPr>
          <a:xfrm>
            <a:off x="6280190" y="1607225"/>
            <a:ext cx="5670590"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How SVM Works</a:t>
            </a:r>
            <a:endParaRPr lang="en-US" sz="4450" dirty="0"/>
          </a:p>
        </p:txBody>
      </p:sp>
      <p:sp>
        <p:nvSpPr>
          <p:cNvPr id="5" name="Shape 1"/>
          <p:cNvSpPr/>
          <p:nvPr/>
        </p:nvSpPr>
        <p:spPr>
          <a:xfrm>
            <a:off x="6280190" y="2656165"/>
            <a:ext cx="170021" cy="853321"/>
          </a:xfrm>
          <a:prstGeom prst="roundRect">
            <a:avLst>
              <a:gd name="adj" fmla="val 56033"/>
            </a:avLst>
          </a:prstGeom>
          <a:solidFill>
            <a:srgbClr val="E7D8F3"/>
          </a:solidFill>
          <a:ln w="7620">
            <a:solidFill>
              <a:srgbClr val="CDBED9"/>
            </a:solidFill>
            <a:prstDash val="solid"/>
          </a:ln>
        </p:spPr>
      </p:sp>
      <p:sp>
        <p:nvSpPr>
          <p:cNvPr id="6" name="Text 2"/>
          <p:cNvSpPr/>
          <p:nvPr/>
        </p:nvSpPr>
        <p:spPr>
          <a:xfrm>
            <a:off x="6790373" y="2656165"/>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Find Hyperplanes</a:t>
            </a:r>
            <a:endParaRPr lang="en-US" sz="2200" dirty="0"/>
          </a:p>
        </p:txBody>
      </p:sp>
      <p:sp>
        <p:nvSpPr>
          <p:cNvPr id="7" name="Text 3"/>
          <p:cNvSpPr/>
          <p:nvPr/>
        </p:nvSpPr>
        <p:spPr>
          <a:xfrm>
            <a:off x="6790373" y="3146584"/>
            <a:ext cx="6636187" cy="362903"/>
          </a:xfrm>
          <a:prstGeom prst="rect">
            <a:avLst/>
          </a:prstGeom>
          <a:noFill/>
          <a:ln/>
        </p:spPr>
        <p:txBody>
          <a:bodyPr wrap="non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Multiple hyperplanes can separate data from two classes.</a:t>
            </a:r>
            <a:endParaRPr lang="en-US" sz="1750" dirty="0"/>
          </a:p>
        </p:txBody>
      </p:sp>
      <p:sp>
        <p:nvSpPr>
          <p:cNvPr id="8" name="Shape 4"/>
          <p:cNvSpPr/>
          <p:nvPr/>
        </p:nvSpPr>
        <p:spPr>
          <a:xfrm>
            <a:off x="6620351" y="3736300"/>
            <a:ext cx="170021" cy="1216223"/>
          </a:xfrm>
          <a:prstGeom prst="roundRect">
            <a:avLst>
              <a:gd name="adj" fmla="val 56033"/>
            </a:avLst>
          </a:prstGeom>
          <a:solidFill>
            <a:srgbClr val="E7D8F3"/>
          </a:solidFill>
          <a:ln w="7620">
            <a:solidFill>
              <a:srgbClr val="CDBED9"/>
            </a:solidFill>
            <a:prstDash val="solid"/>
          </a:ln>
        </p:spPr>
      </p:sp>
      <p:sp>
        <p:nvSpPr>
          <p:cNvPr id="9" name="Text 5"/>
          <p:cNvSpPr/>
          <p:nvPr/>
        </p:nvSpPr>
        <p:spPr>
          <a:xfrm>
            <a:off x="7130534" y="373630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Maximize Margin</a:t>
            </a:r>
            <a:endParaRPr lang="en-US" sz="2200" dirty="0"/>
          </a:p>
        </p:txBody>
      </p:sp>
      <p:sp>
        <p:nvSpPr>
          <p:cNvPr id="10" name="Text 6"/>
          <p:cNvSpPr/>
          <p:nvPr/>
        </p:nvSpPr>
        <p:spPr>
          <a:xfrm>
            <a:off x="7130534" y="4226719"/>
            <a:ext cx="6296025"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Choose the hyperplane that maximizes distance to nearest data points.</a:t>
            </a:r>
            <a:endParaRPr lang="en-US" sz="1750" dirty="0"/>
          </a:p>
        </p:txBody>
      </p:sp>
      <p:sp>
        <p:nvSpPr>
          <p:cNvPr id="11" name="Shape 7"/>
          <p:cNvSpPr/>
          <p:nvPr/>
        </p:nvSpPr>
        <p:spPr>
          <a:xfrm>
            <a:off x="6960632" y="5179338"/>
            <a:ext cx="170021" cy="1216223"/>
          </a:xfrm>
          <a:prstGeom prst="roundRect">
            <a:avLst>
              <a:gd name="adj" fmla="val 56033"/>
            </a:avLst>
          </a:prstGeom>
          <a:solidFill>
            <a:srgbClr val="E7D8F3"/>
          </a:solidFill>
          <a:ln w="7620">
            <a:solidFill>
              <a:srgbClr val="CDBED9"/>
            </a:solidFill>
            <a:prstDash val="solid"/>
          </a:ln>
        </p:spPr>
      </p:sp>
      <p:sp>
        <p:nvSpPr>
          <p:cNvPr id="12" name="Text 8"/>
          <p:cNvSpPr/>
          <p:nvPr/>
        </p:nvSpPr>
        <p:spPr>
          <a:xfrm>
            <a:off x="7470815" y="5179338"/>
            <a:ext cx="353627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Identify Support Vectors</a:t>
            </a:r>
            <a:endParaRPr lang="en-US" sz="2200" dirty="0"/>
          </a:p>
        </p:txBody>
      </p:sp>
      <p:sp>
        <p:nvSpPr>
          <p:cNvPr id="13" name="Text 9"/>
          <p:cNvSpPr/>
          <p:nvPr/>
        </p:nvSpPr>
        <p:spPr>
          <a:xfrm>
            <a:off x="7470815" y="5669756"/>
            <a:ext cx="5955744"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The closest data points to the hyperplane become support vectors.</a:t>
            </a:r>
            <a:endParaRPr lang="en-US" sz="1750" dirty="0"/>
          </a:p>
        </p:txBody>
      </p:sp>
      <p:pic>
        <p:nvPicPr>
          <p:cNvPr id="14" name="Image 2" descr="preencoded.png">    </p:cNvPr>
          <p:cNvPicPr>
            <a:picLocks noChangeAspect="1"/>
          </p:cNvPicPr>
          <p:nvPr/>
        </p:nvPicPr>
        <p:blipFill>
          <a:blip r:embed="rId3"/>
          <a:stretch>
            <a:fillRect/>
          </a:stretch>
        </p:blipFill>
        <p:spPr>
          <a:xfrm>
            <a:off x="13657778" y="228600"/>
            <a:ext cx="744022" cy="6323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486400" cy="8229600"/>
          </a:xfrm>
          <a:prstGeom prst="rect">
            <a:avLst/>
          </a:prstGeom>
        </p:spPr>
      </p:pic>
      <p:sp>
        <p:nvSpPr>
          <p:cNvPr id="3" name="Text 0"/>
          <p:cNvSpPr/>
          <p:nvPr/>
        </p:nvSpPr>
        <p:spPr>
          <a:xfrm>
            <a:off x="6280190" y="731163"/>
            <a:ext cx="7146369" cy="1417558"/>
          </a:xfrm>
          <a:prstGeom prst="rect">
            <a:avLst/>
          </a:prstGeom>
          <a:noFill/>
          <a:ln/>
        </p:spPr>
        <p:txBody>
          <a:bodyPr wrap="squar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Best Hyperplane Selection</a:t>
            </a:r>
            <a:endParaRPr lang="en-US" sz="4450" dirty="0"/>
          </a:p>
        </p:txBody>
      </p:sp>
      <p:pic>
        <p:nvPicPr>
          <p:cNvPr id="4" name="Image 1" descr="preencoded.png">    </p:cNvPr>
          <p:cNvPicPr>
            <a:picLocks noChangeAspect="1"/>
          </p:cNvPicPr>
          <p:nvPr/>
        </p:nvPicPr>
        <p:blipFill>
          <a:blip r:embed="rId2"/>
          <a:stretch>
            <a:fillRect/>
          </a:stretch>
        </p:blipFill>
        <p:spPr>
          <a:xfrm>
            <a:off x="6280190" y="2488883"/>
            <a:ext cx="1134070" cy="1669852"/>
          </a:xfrm>
          <a:prstGeom prst="rect">
            <a:avLst/>
          </a:prstGeom>
        </p:spPr>
      </p:pic>
      <p:sp>
        <p:nvSpPr>
          <p:cNvPr id="5" name="Text 1"/>
          <p:cNvSpPr/>
          <p:nvPr/>
        </p:nvSpPr>
        <p:spPr>
          <a:xfrm>
            <a:off x="7754422" y="2715697"/>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Multiple Options</a:t>
            </a:r>
            <a:endParaRPr lang="en-US" sz="2200" dirty="0"/>
          </a:p>
        </p:txBody>
      </p:sp>
      <p:sp>
        <p:nvSpPr>
          <p:cNvPr id="6" name="Text 2"/>
          <p:cNvSpPr/>
          <p:nvPr/>
        </p:nvSpPr>
        <p:spPr>
          <a:xfrm>
            <a:off x="7754422" y="3206115"/>
            <a:ext cx="5672138"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Many possible hyperplanes can separate the data.</a:t>
            </a:r>
            <a:endParaRPr lang="en-US" sz="1750" dirty="0"/>
          </a:p>
        </p:txBody>
      </p:sp>
      <p:pic>
        <p:nvPicPr>
          <p:cNvPr id="7" name="Image 2" descr="preencoded.png">    </p:cNvPr>
          <p:cNvPicPr>
            <a:picLocks noChangeAspect="1"/>
          </p:cNvPicPr>
          <p:nvPr/>
        </p:nvPicPr>
        <p:blipFill>
          <a:blip r:embed="rId3"/>
          <a:stretch>
            <a:fillRect/>
          </a:stretch>
        </p:blipFill>
        <p:spPr>
          <a:xfrm>
            <a:off x="6280190" y="4158734"/>
            <a:ext cx="1134070" cy="1669852"/>
          </a:xfrm>
          <a:prstGeom prst="rect">
            <a:avLst/>
          </a:prstGeom>
        </p:spPr>
      </p:pic>
      <p:sp>
        <p:nvSpPr>
          <p:cNvPr id="8" name="Text 3"/>
          <p:cNvSpPr/>
          <p:nvPr/>
        </p:nvSpPr>
        <p:spPr>
          <a:xfrm>
            <a:off x="7754422" y="4385548"/>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Hard Margin</a:t>
            </a:r>
            <a:endParaRPr lang="en-US" sz="2200" dirty="0"/>
          </a:p>
        </p:txBody>
      </p:sp>
      <p:sp>
        <p:nvSpPr>
          <p:cNvPr id="9" name="Text 4"/>
          <p:cNvSpPr/>
          <p:nvPr/>
        </p:nvSpPr>
        <p:spPr>
          <a:xfrm>
            <a:off x="7754422" y="4875967"/>
            <a:ext cx="5672138"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Choose hyperplane that maximizes distance to nearest points.</a:t>
            </a:r>
            <a:endParaRPr lang="en-US" sz="1750" dirty="0"/>
          </a:p>
        </p:txBody>
      </p:sp>
      <p:pic>
        <p:nvPicPr>
          <p:cNvPr id="10" name="Image 3" descr="preencoded.png">    </p:cNvPr>
          <p:cNvPicPr>
            <a:picLocks noChangeAspect="1"/>
          </p:cNvPicPr>
          <p:nvPr/>
        </p:nvPicPr>
        <p:blipFill>
          <a:blip r:embed="rId4"/>
          <a:stretch>
            <a:fillRect/>
          </a:stretch>
        </p:blipFill>
        <p:spPr>
          <a:xfrm>
            <a:off x="6280190" y="5828586"/>
            <a:ext cx="1134070" cy="1669852"/>
          </a:xfrm>
          <a:prstGeom prst="rect">
            <a:avLst/>
          </a:prstGeom>
        </p:spPr>
      </p:pic>
      <p:sp>
        <p:nvSpPr>
          <p:cNvPr id="11" name="Text 5"/>
          <p:cNvSpPr/>
          <p:nvPr/>
        </p:nvSpPr>
        <p:spPr>
          <a:xfrm>
            <a:off x="7754422" y="605540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Clear Separation</a:t>
            </a:r>
            <a:endParaRPr lang="en-US" sz="2200" dirty="0"/>
          </a:p>
        </p:txBody>
      </p:sp>
      <p:sp>
        <p:nvSpPr>
          <p:cNvPr id="12" name="Text 6"/>
          <p:cNvSpPr/>
          <p:nvPr/>
        </p:nvSpPr>
        <p:spPr>
          <a:xfrm>
            <a:off x="7754422" y="6545818"/>
            <a:ext cx="5672138"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Ensures optimal boundary between classes for better generalization.</a:t>
            </a:r>
            <a:endParaRPr lang="en-US" sz="1750" dirty="0"/>
          </a:p>
        </p:txBody>
      </p:sp>
      <p:pic>
        <p:nvPicPr>
          <p:cNvPr id="13" name="Image 4" descr="preencoded.png">    </p:cNvPr>
          <p:cNvPicPr>
            <a:picLocks noChangeAspect="1"/>
          </p:cNvPicPr>
          <p:nvPr/>
        </p:nvPicPr>
        <p:blipFill>
          <a:blip r:embed="rId5"/>
          <a:stretch>
            <a:fillRect/>
          </a:stretch>
        </p:blipFill>
        <p:spPr>
          <a:xfrm>
            <a:off x="13657778" y="228600"/>
            <a:ext cx="744022" cy="63234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1605677"/>
            <a:ext cx="5670590"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SVM and Outliers</a:t>
            </a:r>
            <a:endParaRPr lang="en-US" sz="4450" dirty="0"/>
          </a:p>
        </p:txBody>
      </p:sp>
      <p:sp>
        <p:nvSpPr>
          <p:cNvPr id="3" name="Shape 1"/>
          <p:cNvSpPr/>
          <p:nvPr/>
        </p:nvSpPr>
        <p:spPr>
          <a:xfrm>
            <a:off x="7094934" y="2654617"/>
            <a:ext cx="30480" cy="3969306"/>
          </a:xfrm>
          <a:prstGeom prst="roundRect">
            <a:avLst>
              <a:gd name="adj" fmla="val 312558"/>
            </a:avLst>
          </a:prstGeom>
          <a:solidFill>
            <a:srgbClr val="CDBED9"/>
          </a:solidFill>
          <a:ln/>
        </p:spPr>
      </p:sp>
      <p:sp>
        <p:nvSpPr>
          <p:cNvPr id="4" name="Shape 2"/>
          <p:cNvSpPr/>
          <p:nvPr/>
        </p:nvSpPr>
        <p:spPr>
          <a:xfrm>
            <a:off x="6205061" y="3149679"/>
            <a:ext cx="680442" cy="30480"/>
          </a:xfrm>
          <a:prstGeom prst="roundRect">
            <a:avLst>
              <a:gd name="adj" fmla="val 312558"/>
            </a:avLst>
          </a:prstGeom>
          <a:solidFill>
            <a:srgbClr val="CDBED9"/>
          </a:solidFill>
          <a:ln/>
        </p:spPr>
      </p:sp>
      <p:sp>
        <p:nvSpPr>
          <p:cNvPr id="5" name="Shape 3"/>
          <p:cNvSpPr/>
          <p:nvPr/>
        </p:nvSpPr>
        <p:spPr>
          <a:xfrm>
            <a:off x="6855023" y="2909768"/>
            <a:ext cx="510302" cy="510302"/>
          </a:xfrm>
          <a:prstGeom prst="roundRect">
            <a:avLst>
              <a:gd name="adj" fmla="val 18669"/>
            </a:avLst>
          </a:prstGeom>
          <a:solidFill>
            <a:srgbClr val="E7D8F3"/>
          </a:solidFill>
          <a:ln w="7620">
            <a:solidFill>
              <a:srgbClr val="CDBED9"/>
            </a:solidFill>
            <a:prstDash val="solid"/>
          </a:ln>
        </p:spPr>
      </p:sp>
      <p:sp>
        <p:nvSpPr>
          <p:cNvPr id="6" name="Text 4"/>
          <p:cNvSpPr/>
          <p:nvPr/>
        </p:nvSpPr>
        <p:spPr>
          <a:xfrm>
            <a:off x="6940094" y="2952274"/>
            <a:ext cx="340162" cy="425291"/>
          </a:xfrm>
          <a:prstGeom prst="rect">
            <a:avLst/>
          </a:prstGeom>
          <a:noFill/>
          <a:ln/>
        </p:spPr>
        <p:txBody>
          <a:bodyPr wrap="none" lIns="0" tIns="0" rIns="0" bIns="0" rtlCol="0" anchor="t"/>
          <a:lstStyle/>
          <a:p>
            <a:pPr algn="ctr" indent="0" marL="0">
              <a:lnSpc>
                <a:spcPts val="2650"/>
              </a:lnSpc>
              <a:buNone/>
            </a:pPr>
            <a:r>
              <a:rPr lang="en-US" sz="2650" b="1" dirty="0">
                <a:solidFill>
                  <a:srgbClr val="000000"/>
                </a:solidFill>
                <a:latin typeface="Poppins Bold" pitchFamily="34" charset="0"/>
                <a:ea typeface="Poppins Bold" pitchFamily="34" charset="-122"/>
                <a:cs typeface="Poppins Bold" pitchFamily="34" charset="-120"/>
              </a:rPr>
              <a:t>1</a:t>
            </a:r>
            <a:endParaRPr lang="en-US" sz="2650" dirty="0"/>
          </a:p>
        </p:txBody>
      </p:sp>
      <p:sp>
        <p:nvSpPr>
          <p:cNvPr id="7" name="Text 5"/>
          <p:cNvSpPr/>
          <p:nvPr/>
        </p:nvSpPr>
        <p:spPr>
          <a:xfrm>
            <a:off x="3140869" y="2881432"/>
            <a:ext cx="2835235" cy="354330"/>
          </a:xfrm>
          <a:prstGeom prst="rect">
            <a:avLst/>
          </a:prstGeom>
          <a:noFill/>
          <a:ln/>
        </p:spPr>
        <p:txBody>
          <a:bodyPr wrap="none" lIns="0" tIns="0" rIns="0" bIns="0" rtlCol="0" anchor="t"/>
          <a:lstStyle/>
          <a:p>
            <a:pPr algn="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Outlier Present</a:t>
            </a:r>
            <a:endParaRPr lang="en-US" sz="2200" dirty="0"/>
          </a:p>
        </p:txBody>
      </p:sp>
      <p:sp>
        <p:nvSpPr>
          <p:cNvPr id="8" name="Text 6"/>
          <p:cNvSpPr/>
          <p:nvPr/>
        </p:nvSpPr>
        <p:spPr>
          <a:xfrm>
            <a:off x="793790" y="3371850"/>
            <a:ext cx="5182314" cy="725805"/>
          </a:xfrm>
          <a:prstGeom prst="rect">
            <a:avLst/>
          </a:prstGeom>
          <a:noFill/>
          <a:ln/>
        </p:spPr>
        <p:txBody>
          <a:bodyPr wrap="square" lIns="0" tIns="0" rIns="0" bIns="0" rtlCol="0" anchor="t"/>
          <a:lstStyle/>
          <a:p>
            <a:pPr algn="r" indent="0" marL="0">
              <a:lnSpc>
                <a:spcPts val="2850"/>
              </a:lnSpc>
              <a:buNone/>
            </a:pPr>
            <a:r>
              <a:rPr lang="en-US" sz="1750" dirty="0">
                <a:solidFill>
                  <a:srgbClr val="000000"/>
                </a:solidFill>
                <a:latin typeface="Poppins" pitchFamily="34" charset="0"/>
                <a:ea typeface="Poppins" pitchFamily="34" charset="-122"/>
                <a:cs typeface="Poppins" pitchFamily="34" charset="-120"/>
              </a:rPr>
              <a:t>A blue data point appears in the boundary of red points.</a:t>
            </a:r>
            <a:endParaRPr lang="en-US" sz="1750" dirty="0"/>
          </a:p>
        </p:txBody>
      </p:sp>
      <p:sp>
        <p:nvSpPr>
          <p:cNvPr id="9" name="Shape 7"/>
          <p:cNvSpPr/>
          <p:nvPr/>
        </p:nvSpPr>
        <p:spPr>
          <a:xfrm>
            <a:off x="7334845" y="4283750"/>
            <a:ext cx="680442" cy="30480"/>
          </a:xfrm>
          <a:prstGeom prst="roundRect">
            <a:avLst>
              <a:gd name="adj" fmla="val 312558"/>
            </a:avLst>
          </a:prstGeom>
          <a:solidFill>
            <a:srgbClr val="CDBED9"/>
          </a:solidFill>
          <a:ln/>
        </p:spPr>
      </p:sp>
      <p:sp>
        <p:nvSpPr>
          <p:cNvPr id="10" name="Shape 8"/>
          <p:cNvSpPr/>
          <p:nvPr/>
        </p:nvSpPr>
        <p:spPr>
          <a:xfrm>
            <a:off x="6855023" y="4043839"/>
            <a:ext cx="510302" cy="510302"/>
          </a:xfrm>
          <a:prstGeom prst="roundRect">
            <a:avLst>
              <a:gd name="adj" fmla="val 18669"/>
            </a:avLst>
          </a:prstGeom>
          <a:solidFill>
            <a:srgbClr val="E7D8F3"/>
          </a:solidFill>
          <a:ln w="7620">
            <a:solidFill>
              <a:srgbClr val="CDBED9"/>
            </a:solidFill>
            <a:prstDash val="solid"/>
          </a:ln>
        </p:spPr>
      </p:sp>
      <p:sp>
        <p:nvSpPr>
          <p:cNvPr id="11" name="Text 9"/>
          <p:cNvSpPr/>
          <p:nvPr/>
        </p:nvSpPr>
        <p:spPr>
          <a:xfrm>
            <a:off x="6940094" y="4086344"/>
            <a:ext cx="340162" cy="425291"/>
          </a:xfrm>
          <a:prstGeom prst="rect">
            <a:avLst/>
          </a:prstGeom>
          <a:noFill/>
          <a:ln/>
        </p:spPr>
        <p:txBody>
          <a:bodyPr wrap="none" lIns="0" tIns="0" rIns="0" bIns="0" rtlCol="0" anchor="t"/>
          <a:lstStyle/>
          <a:p>
            <a:pPr algn="ctr" indent="0" marL="0">
              <a:lnSpc>
                <a:spcPts val="2650"/>
              </a:lnSpc>
              <a:buNone/>
            </a:pPr>
            <a:r>
              <a:rPr lang="en-US" sz="2650" b="1" dirty="0">
                <a:solidFill>
                  <a:srgbClr val="000000"/>
                </a:solidFill>
                <a:latin typeface="Poppins Bold" pitchFamily="34" charset="0"/>
                <a:ea typeface="Poppins Bold" pitchFamily="34" charset="-122"/>
                <a:cs typeface="Poppins Bold" pitchFamily="34" charset="-120"/>
              </a:rPr>
              <a:t>2</a:t>
            </a:r>
            <a:endParaRPr lang="en-US" sz="2650" dirty="0"/>
          </a:p>
        </p:txBody>
      </p:sp>
      <p:sp>
        <p:nvSpPr>
          <p:cNvPr id="12" name="Text 10"/>
          <p:cNvSpPr/>
          <p:nvPr/>
        </p:nvSpPr>
        <p:spPr>
          <a:xfrm>
            <a:off x="8244245" y="4015502"/>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SVM Processing</a:t>
            </a:r>
            <a:endParaRPr lang="en-US" sz="2200" dirty="0"/>
          </a:p>
        </p:txBody>
      </p:sp>
      <p:sp>
        <p:nvSpPr>
          <p:cNvPr id="13" name="Text 11"/>
          <p:cNvSpPr/>
          <p:nvPr/>
        </p:nvSpPr>
        <p:spPr>
          <a:xfrm>
            <a:off x="8244245" y="4505920"/>
            <a:ext cx="5182314"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SVM algorithm identifies the outlier and adjusts accordingly.</a:t>
            </a:r>
            <a:endParaRPr lang="en-US" sz="1750" dirty="0"/>
          </a:p>
        </p:txBody>
      </p:sp>
      <p:sp>
        <p:nvSpPr>
          <p:cNvPr id="14" name="Shape 12"/>
          <p:cNvSpPr/>
          <p:nvPr/>
        </p:nvSpPr>
        <p:spPr>
          <a:xfrm>
            <a:off x="6205061" y="5304353"/>
            <a:ext cx="680442" cy="30480"/>
          </a:xfrm>
          <a:prstGeom prst="roundRect">
            <a:avLst>
              <a:gd name="adj" fmla="val 312558"/>
            </a:avLst>
          </a:prstGeom>
          <a:solidFill>
            <a:srgbClr val="CDBED9"/>
          </a:solidFill>
          <a:ln/>
        </p:spPr>
      </p:sp>
      <p:sp>
        <p:nvSpPr>
          <p:cNvPr id="15" name="Shape 13"/>
          <p:cNvSpPr/>
          <p:nvPr/>
        </p:nvSpPr>
        <p:spPr>
          <a:xfrm>
            <a:off x="6855023" y="5064443"/>
            <a:ext cx="510302" cy="510302"/>
          </a:xfrm>
          <a:prstGeom prst="roundRect">
            <a:avLst>
              <a:gd name="adj" fmla="val 18669"/>
            </a:avLst>
          </a:prstGeom>
          <a:solidFill>
            <a:srgbClr val="E7D8F3"/>
          </a:solidFill>
          <a:ln w="7620">
            <a:solidFill>
              <a:srgbClr val="CDBED9"/>
            </a:solidFill>
            <a:prstDash val="solid"/>
          </a:ln>
        </p:spPr>
      </p:sp>
      <p:sp>
        <p:nvSpPr>
          <p:cNvPr id="16" name="Text 14"/>
          <p:cNvSpPr/>
          <p:nvPr/>
        </p:nvSpPr>
        <p:spPr>
          <a:xfrm>
            <a:off x="6940094" y="5106948"/>
            <a:ext cx="340162" cy="425291"/>
          </a:xfrm>
          <a:prstGeom prst="rect">
            <a:avLst/>
          </a:prstGeom>
          <a:noFill/>
          <a:ln/>
        </p:spPr>
        <p:txBody>
          <a:bodyPr wrap="none" lIns="0" tIns="0" rIns="0" bIns="0" rtlCol="0" anchor="t"/>
          <a:lstStyle/>
          <a:p>
            <a:pPr algn="ctr" indent="0" marL="0">
              <a:lnSpc>
                <a:spcPts val="2650"/>
              </a:lnSpc>
              <a:buNone/>
            </a:pPr>
            <a:r>
              <a:rPr lang="en-US" sz="2650" b="1" dirty="0">
                <a:solidFill>
                  <a:srgbClr val="000000"/>
                </a:solidFill>
                <a:latin typeface="Poppins Bold" pitchFamily="34" charset="0"/>
                <a:ea typeface="Poppins Bold" pitchFamily="34" charset="-122"/>
                <a:cs typeface="Poppins Bold" pitchFamily="34" charset="-120"/>
              </a:rPr>
              <a:t>3</a:t>
            </a:r>
            <a:endParaRPr lang="en-US" sz="2650" dirty="0"/>
          </a:p>
        </p:txBody>
      </p:sp>
      <p:sp>
        <p:nvSpPr>
          <p:cNvPr id="17" name="Text 15"/>
          <p:cNvSpPr/>
          <p:nvPr/>
        </p:nvSpPr>
        <p:spPr>
          <a:xfrm>
            <a:off x="3140869" y="5036106"/>
            <a:ext cx="2835235" cy="354330"/>
          </a:xfrm>
          <a:prstGeom prst="rect">
            <a:avLst/>
          </a:prstGeom>
          <a:noFill/>
          <a:ln/>
        </p:spPr>
        <p:txBody>
          <a:bodyPr wrap="none" lIns="0" tIns="0" rIns="0" bIns="0" rtlCol="0" anchor="t"/>
          <a:lstStyle/>
          <a:p>
            <a:pPr algn="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Optimal Solution</a:t>
            </a:r>
            <a:endParaRPr lang="en-US" sz="2200" dirty="0"/>
          </a:p>
        </p:txBody>
      </p:sp>
      <p:sp>
        <p:nvSpPr>
          <p:cNvPr id="18" name="Text 16"/>
          <p:cNvSpPr/>
          <p:nvPr/>
        </p:nvSpPr>
        <p:spPr>
          <a:xfrm>
            <a:off x="793790" y="5526524"/>
            <a:ext cx="5182314" cy="725805"/>
          </a:xfrm>
          <a:prstGeom prst="rect">
            <a:avLst/>
          </a:prstGeom>
          <a:noFill/>
          <a:ln/>
        </p:spPr>
        <p:txBody>
          <a:bodyPr wrap="square" lIns="0" tIns="0" rIns="0" bIns="0" rtlCol="0" anchor="t"/>
          <a:lstStyle/>
          <a:p>
            <a:pPr algn="r" indent="0" marL="0">
              <a:lnSpc>
                <a:spcPts val="2850"/>
              </a:lnSpc>
              <a:buNone/>
            </a:pPr>
            <a:r>
              <a:rPr lang="en-US" sz="1750" dirty="0">
                <a:solidFill>
                  <a:srgbClr val="000000"/>
                </a:solidFill>
                <a:latin typeface="Poppins" pitchFamily="34" charset="0"/>
                <a:ea typeface="Poppins" pitchFamily="34" charset="-122"/>
                <a:cs typeface="Poppins" pitchFamily="34" charset="-120"/>
              </a:rPr>
              <a:t>SVM finds the best hyperplane despite the outlier.</a:t>
            </a:r>
            <a:endParaRPr lang="en-US" sz="1750" dirty="0"/>
          </a:p>
        </p:txBody>
      </p:sp>
      <p:pic>
        <p:nvPicPr>
          <p:cNvPr id="19" name="Image 0" descr="preencoded.png">    </p:cNvPr>
          <p:cNvPicPr>
            <a:picLocks noChangeAspect="1"/>
          </p:cNvPicPr>
          <p:nvPr/>
        </p:nvPicPr>
        <p:blipFill>
          <a:blip r:embed="rId1"/>
          <a:stretch>
            <a:fillRect/>
          </a:stretch>
        </p:blipFill>
        <p:spPr>
          <a:xfrm>
            <a:off x="13657778" y="228600"/>
            <a:ext cx="744022" cy="6323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24113" y="411718"/>
            <a:ext cx="4077652" cy="467916"/>
          </a:xfrm>
          <a:prstGeom prst="rect">
            <a:avLst/>
          </a:prstGeom>
          <a:noFill/>
          <a:ln/>
        </p:spPr>
        <p:txBody>
          <a:bodyPr wrap="none" lIns="0" tIns="0" rIns="0" bIns="0" rtlCol="0" anchor="t"/>
          <a:lstStyle/>
          <a:p>
            <a:pPr indent="0" marL="0">
              <a:lnSpc>
                <a:spcPts val="3650"/>
              </a:lnSpc>
              <a:buNone/>
            </a:pPr>
            <a:r>
              <a:rPr lang="en-US" sz="2900" b="1" dirty="0">
                <a:solidFill>
                  <a:srgbClr val="000000"/>
                </a:solidFill>
                <a:latin typeface="Poppins Bold" pitchFamily="34" charset="0"/>
                <a:ea typeface="Poppins Bold" pitchFamily="34" charset="-122"/>
                <a:cs typeface="Poppins Bold" pitchFamily="34" charset="-120"/>
              </a:rPr>
              <a:t>SVM Outlier Handling</a:t>
            </a:r>
            <a:endParaRPr lang="en-US" sz="2900" dirty="0"/>
          </a:p>
        </p:txBody>
      </p:sp>
      <p:sp>
        <p:nvSpPr>
          <p:cNvPr id="3" name="Text 1"/>
          <p:cNvSpPr/>
          <p:nvPr/>
        </p:nvSpPr>
        <p:spPr>
          <a:xfrm>
            <a:off x="524113" y="1179076"/>
            <a:ext cx="12902446" cy="239554"/>
          </a:xfrm>
          <a:prstGeom prst="rect">
            <a:avLst/>
          </a:prstGeom>
          <a:noFill/>
          <a:ln/>
        </p:spPr>
        <p:txBody>
          <a:bodyPr wrap="none" lIns="0" tIns="0" rIns="0" bIns="0" rtlCol="0" anchor="t"/>
          <a:lstStyle/>
          <a:p>
            <a:pPr indent="0" marL="0">
              <a:lnSpc>
                <a:spcPts val="1850"/>
              </a:lnSpc>
              <a:buNone/>
            </a:pPr>
            <a:r>
              <a:rPr lang="en-US" sz="1150" dirty="0">
                <a:solidFill>
                  <a:srgbClr val="000000"/>
                </a:solidFill>
                <a:latin typeface="Poppins" pitchFamily="34" charset="0"/>
                <a:ea typeface="Poppins" pitchFamily="34" charset="-122"/>
                <a:cs typeface="Poppins" pitchFamily="34" charset="-120"/>
              </a:rPr>
              <a:t>SVM shows remarkable robustness to outliers in classification tasks. It can identify and effectively ignore outliers when finding the optimal hyperplane.</a:t>
            </a:r>
            <a:endParaRPr lang="en-US" sz="1150" dirty="0"/>
          </a:p>
        </p:txBody>
      </p:sp>
      <p:pic>
        <p:nvPicPr>
          <p:cNvPr id="4" name="Image 0" descr="preencoded.png">    </p:cNvPr>
          <p:cNvPicPr>
            <a:picLocks noChangeAspect="1"/>
          </p:cNvPicPr>
          <p:nvPr/>
        </p:nvPicPr>
        <p:blipFill>
          <a:blip r:embed="rId1"/>
          <a:stretch>
            <a:fillRect/>
          </a:stretch>
        </p:blipFill>
        <p:spPr>
          <a:xfrm>
            <a:off x="524113" y="1755338"/>
            <a:ext cx="2895600" cy="2484120"/>
          </a:xfrm>
          <a:prstGeom prst="rect">
            <a:avLst/>
          </a:prstGeom>
        </p:spPr>
      </p:pic>
      <p:sp>
        <p:nvSpPr>
          <p:cNvPr id="5" name="Text 2"/>
          <p:cNvSpPr/>
          <p:nvPr/>
        </p:nvSpPr>
        <p:spPr>
          <a:xfrm>
            <a:off x="5971461" y="1721644"/>
            <a:ext cx="7462599" cy="239554"/>
          </a:xfrm>
          <a:prstGeom prst="rect">
            <a:avLst/>
          </a:prstGeom>
          <a:noFill/>
          <a:ln/>
        </p:spPr>
        <p:txBody>
          <a:bodyPr wrap="none" lIns="0" tIns="0" rIns="0" bIns="0" rtlCol="0" anchor="t"/>
          <a:lstStyle/>
          <a:p>
            <a:pPr indent="0" marL="0">
              <a:lnSpc>
                <a:spcPts val="1850"/>
              </a:lnSpc>
              <a:buNone/>
            </a:pPr>
            <a:endParaRPr lang="en-US" sz="1150" dirty="0"/>
          </a:p>
        </p:txBody>
      </p:sp>
      <p:pic>
        <p:nvPicPr>
          <p:cNvPr id="6" name="Image 1" descr="preencoded.png">    </p:cNvPr>
          <p:cNvPicPr>
            <a:picLocks noChangeAspect="1"/>
          </p:cNvPicPr>
          <p:nvPr/>
        </p:nvPicPr>
        <p:blipFill>
          <a:blip r:embed="rId2"/>
          <a:stretch>
            <a:fillRect/>
          </a:stretch>
        </p:blipFill>
        <p:spPr>
          <a:xfrm>
            <a:off x="4419838" y="5438894"/>
            <a:ext cx="5110877" cy="5110877"/>
          </a:xfrm>
          <a:prstGeom prst="rect">
            <a:avLst/>
          </a:prstGeom>
        </p:spPr>
      </p:pic>
      <p:sp>
        <p:nvSpPr>
          <p:cNvPr id="7" name="Text 3"/>
          <p:cNvSpPr/>
          <p:nvPr/>
        </p:nvSpPr>
        <p:spPr>
          <a:xfrm>
            <a:off x="5189101" y="6878003"/>
            <a:ext cx="252651" cy="315873"/>
          </a:xfrm>
          <a:prstGeom prst="rect">
            <a:avLst/>
          </a:prstGeom>
          <a:noFill/>
          <a:ln/>
        </p:spPr>
        <p:txBody>
          <a:bodyPr wrap="none" lIns="0" tIns="0" rIns="0" bIns="0" rtlCol="0" anchor="t"/>
          <a:lstStyle/>
          <a:p>
            <a:pPr indent="0" marL="0">
              <a:lnSpc>
                <a:spcPts val="3150"/>
              </a:lnSpc>
              <a:buNone/>
            </a:pPr>
            <a:r>
              <a:rPr lang="en-US" sz="1950" b="1" dirty="0">
                <a:solidFill>
                  <a:srgbClr val="000000"/>
                </a:solidFill>
                <a:latin typeface="Poppins Bold" pitchFamily="34" charset="0"/>
                <a:ea typeface="Poppins Bold" pitchFamily="34" charset="-122"/>
                <a:cs typeface="Poppins Bold" pitchFamily="34" charset="-120"/>
              </a:rPr>
              <a:t>1</a:t>
            </a:r>
            <a:endParaRPr lang="en-US" sz="1950" dirty="0"/>
          </a:p>
        </p:txBody>
      </p:sp>
      <p:pic>
        <p:nvPicPr>
          <p:cNvPr id="8" name="Image 2" descr="preencoded.png">    </p:cNvPr>
          <p:cNvPicPr>
            <a:picLocks noChangeAspect="1"/>
          </p:cNvPicPr>
          <p:nvPr/>
        </p:nvPicPr>
        <p:blipFill>
          <a:blip r:embed="rId3"/>
          <a:stretch>
            <a:fillRect/>
          </a:stretch>
        </p:blipFill>
        <p:spPr>
          <a:xfrm>
            <a:off x="4419838" y="5438894"/>
            <a:ext cx="5110877" cy="5110877"/>
          </a:xfrm>
          <a:prstGeom prst="rect">
            <a:avLst/>
          </a:prstGeom>
        </p:spPr>
      </p:pic>
      <p:sp>
        <p:nvSpPr>
          <p:cNvPr id="9" name="Text 4"/>
          <p:cNvSpPr/>
          <p:nvPr/>
        </p:nvSpPr>
        <p:spPr>
          <a:xfrm>
            <a:off x="6848951" y="5919668"/>
            <a:ext cx="252651" cy="315873"/>
          </a:xfrm>
          <a:prstGeom prst="rect">
            <a:avLst/>
          </a:prstGeom>
          <a:noFill/>
          <a:ln/>
        </p:spPr>
        <p:txBody>
          <a:bodyPr wrap="none" lIns="0" tIns="0" rIns="0" bIns="0" rtlCol="0" anchor="t"/>
          <a:lstStyle/>
          <a:p>
            <a:pPr indent="0" marL="0">
              <a:lnSpc>
                <a:spcPts val="3150"/>
              </a:lnSpc>
              <a:buNone/>
            </a:pPr>
            <a:r>
              <a:rPr lang="en-US" sz="1950" b="1" dirty="0">
                <a:solidFill>
                  <a:srgbClr val="000000"/>
                </a:solidFill>
                <a:latin typeface="Poppins Bold" pitchFamily="34" charset="0"/>
                <a:ea typeface="Poppins Bold" pitchFamily="34" charset="-122"/>
                <a:cs typeface="Poppins Bold" pitchFamily="34" charset="-120"/>
              </a:rPr>
              <a:t>2</a:t>
            </a:r>
            <a:endParaRPr lang="en-US" sz="1950" dirty="0"/>
          </a:p>
        </p:txBody>
      </p:sp>
      <p:pic>
        <p:nvPicPr>
          <p:cNvPr id="10" name="Image 3" descr="preencoded.png">    </p:cNvPr>
          <p:cNvPicPr>
            <a:picLocks noChangeAspect="1"/>
          </p:cNvPicPr>
          <p:nvPr/>
        </p:nvPicPr>
        <p:blipFill>
          <a:blip r:embed="rId4"/>
          <a:stretch>
            <a:fillRect/>
          </a:stretch>
        </p:blipFill>
        <p:spPr>
          <a:xfrm>
            <a:off x="4419838" y="5438894"/>
            <a:ext cx="5110877" cy="5110877"/>
          </a:xfrm>
          <a:prstGeom prst="rect">
            <a:avLst/>
          </a:prstGeom>
        </p:spPr>
      </p:pic>
      <p:sp>
        <p:nvSpPr>
          <p:cNvPr id="11" name="Text 5"/>
          <p:cNvSpPr/>
          <p:nvPr/>
        </p:nvSpPr>
        <p:spPr>
          <a:xfrm>
            <a:off x="8508683" y="6878003"/>
            <a:ext cx="252651" cy="315873"/>
          </a:xfrm>
          <a:prstGeom prst="rect">
            <a:avLst/>
          </a:prstGeom>
          <a:noFill/>
          <a:ln/>
        </p:spPr>
        <p:txBody>
          <a:bodyPr wrap="none" lIns="0" tIns="0" rIns="0" bIns="0" rtlCol="0" anchor="t"/>
          <a:lstStyle/>
          <a:p>
            <a:pPr indent="0" marL="0">
              <a:lnSpc>
                <a:spcPts val="3150"/>
              </a:lnSpc>
              <a:buNone/>
            </a:pPr>
            <a:r>
              <a:rPr lang="en-US" sz="1950" b="1" dirty="0">
                <a:solidFill>
                  <a:srgbClr val="000000"/>
                </a:solidFill>
                <a:latin typeface="Poppins Bold" pitchFamily="34" charset="0"/>
                <a:ea typeface="Poppins Bold" pitchFamily="34" charset="-122"/>
                <a:cs typeface="Poppins Bold" pitchFamily="34" charset="-120"/>
              </a:rPr>
              <a:t>3</a:t>
            </a:r>
            <a:endParaRPr lang="en-US" sz="1950" dirty="0"/>
          </a:p>
        </p:txBody>
      </p:sp>
      <p:sp>
        <p:nvSpPr>
          <p:cNvPr id="12" name="Text 6"/>
          <p:cNvSpPr/>
          <p:nvPr/>
        </p:nvSpPr>
        <p:spPr>
          <a:xfrm>
            <a:off x="1663779" y="5342692"/>
            <a:ext cx="1871782" cy="233958"/>
          </a:xfrm>
          <a:prstGeom prst="rect">
            <a:avLst/>
          </a:prstGeom>
          <a:noFill/>
          <a:ln/>
        </p:spPr>
        <p:txBody>
          <a:bodyPr wrap="none" lIns="0" tIns="0" rIns="0" bIns="0" rtlCol="0" anchor="t"/>
          <a:lstStyle/>
          <a:p>
            <a:pPr algn="ctr" indent="0" marL="0">
              <a:lnSpc>
                <a:spcPts val="1800"/>
              </a:lnSpc>
              <a:buNone/>
            </a:pPr>
            <a:r>
              <a:rPr lang="en-US" sz="1450" b="1" dirty="0">
                <a:solidFill>
                  <a:srgbClr val="000000"/>
                </a:solidFill>
                <a:latin typeface="Poppins Bold" pitchFamily="34" charset="0"/>
                <a:ea typeface="Poppins Bold" pitchFamily="34" charset="-122"/>
                <a:cs typeface="Poppins Bold" pitchFamily="34" charset="-120"/>
              </a:rPr>
              <a:t>Outlier Detection</a:t>
            </a:r>
            <a:endParaRPr lang="en-US" sz="1450" dirty="0"/>
          </a:p>
        </p:txBody>
      </p:sp>
      <p:sp>
        <p:nvSpPr>
          <p:cNvPr id="13" name="Text 7"/>
          <p:cNvSpPr/>
          <p:nvPr/>
        </p:nvSpPr>
        <p:spPr>
          <a:xfrm>
            <a:off x="957501" y="5666423"/>
            <a:ext cx="3284339" cy="239554"/>
          </a:xfrm>
          <a:prstGeom prst="rect">
            <a:avLst/>
          </a:prstGeom>
          <a:noFill/>
          <a:ln/>
        </p:spPr>
        <p:txBody>
          <a:bodyPr wrap="none" lIns="0" tIns="0" rIns="0" bIns="0" rtlCol="0" anchor="t"/>
          <a:lstStyle/>
          <a:p>
            <a:pPr algn="ctr" indent="0" marL="0">
              <a:lnSpc>
                <a:spcPts val="1850"/>
              </a:lnSpc>
              <a:buNone/>
            </a:pPr>
            <a:r>
              <a:rPr lang="en-US" sz="1150" dirty="0">
                <a:solidFill>
                  <a:srgbClr val="000000"/>
                </a:solidFill>
                <a:latin typeface="Poppins" pitchFamily="34" charset="0"/>
                <a:ea typeface="Poppins" pitchFamily="34" charset="-122"/>
                <a:cs typeface="Poppins" pitchFamily="34" charset="-120"/>
              </a:rPr>
              <a:t>SVM identifies unusual points in the dataset.</a:t>
            </a:r>
            <a:endParaRPr lang="en-US" sz="1150" dirty="0"/>
          </a:p>
        </p:txBody>
      </p:sp>
      <p:sp>
        <p:nvSpPr>
          <p:cNvPr id="14" name="Text 8"/>
          <p:cNvSpPr/>
          <p:nvPr/>
        </p:nvSpPr>
        <p:spPr>
          <a:xfrm>
            <a:off x="5984677" y="4576167"/>
            <a:ext cx="1981319" cy="233958"/>
          </a:xfrm>
          <a:prstGeom prst="rect">
            <a:avLst/>
          </a:prstGeom>
          <a:noFill/>
          <a:ln/>
        </p:spPr>
        <p:txBody>
          <a:bodyPr wrap="none" lIns="0" tIns="0" rIns="0" bIns="0" rtlCol="0" anchor="t"/>
          <a:lstStyle/>
          <a:p>
            <a:pPr algn="ctr" indent="0" marL="0">
              <a:lnSpc>
                <a:spcPts val="1800"/>
              </a:lnSpc>
              <a:buNone/>
            </a:pPr>
            <a:r>
              <a:rPr lang="en-US" sz="1450" b="1" dirty="0">
                <a:solidFill>
                  <a:srgbClr val="000000"/>
                </a:solidFill>
                <a:latin typeface="Poppins Bold" pitchFamily="34" charset="0"/>
                <a:ea typeface="Poppins Bold" pitchFamily="34" charset="-122"/>
                <a:cs typeface="Poppins Bold" pitchFamily="34" charset="-120"/>
              </a:rPr>
              <a:t>Margin Optimization</a:t>
            </a:r>
            <a:endParaRPr lang="en-US" sz="1450" dirty="0"/>
          </a:p>
        </p:txBody>
      </p:sp>
      <p:sp>
        <p:nvSpPr>
          <p:cNvPr id="15" name="Text 9"/>
          <p:cNvSpPr/>
          <p:nvPr/>
        </p:nvSpPr>
        <p:spPr>
          <a:xfrm>
            <a:off x="5293281" y="4899898"/>
            <a:ext cx="3364111" cy="239554"/>
          </a:xfrm>
          <a:prstGeom prst="rect">
            <a:avLst/>
          </a:prstGeom>
          <a:noFill/>
          <a:ln/>
        </p:spPr>
        <p:txBody>
          <a:bodyPr wrap="none" lIns="0" tIns="0" rIns="0" bIns="0" rtlCol="0" anchor="t"/>
          <a:lstStyle/>
          <a:p>
            <a:pPr algn="ctr" indent="0" marL="0">
              <a:lnSpc>
                <a:spcPts val="1850"/>
              </a:lnSpc>
              <a:buNone/>
            </a:pPr>
            <a:r>
              <a:rPr lang="en-US" sz="1150" dirty="0">
                <a:solidFill>
                  <a:srgbClr val="000000"/>
                </a:solidFill>
                <a:latin typeface="Poppins" pitchFamily="34" charset="0"/>
                <a:ea typeface="Poppins" pitchFamily="34" charset="-122"/>
                <a:cs typeface="Poppins" pitchFamily="34" charset="-120"/>
              </a:rPr>
              <a:t>Focus on maximizing margin despite outliers.</a:t>
            </a:r>
            <a:endParaRPr lang="en-US" sz="1150" dirty="0"/>
          </a:p>
        </p:txBody>
      </p:sp>
      <p:sp>
        <p:nvSpPr>
          <p:cNvPr id="16" name="Text 10"/>
          <p:cNvSpPr/>
          <p:nvPr/>
        </p:nvSpPr>
        <p:spPr>
          <a:xfrm>
            <a:off x="10329982" y="5342692"/>
            <a:ext cx="2041922" cy="233958"/>
          </a:xfrm>
          <a:prstGeom prst="rect">
            <a:avLst/>
          </a:prstGeom>
          <a:noFill/>
          <a:ln/>
        </p:spPr>
        <p:txBody>
          <a:bodyPr wrap="none" lIns="0" tIns="0" rIns="0" bIns="0" rtlCol="0" anchor="t"/>
          <a:lstStyle/>
          <a:p>
            <a:pPr algn="ctr" indent="0" marL="0">
              <a:lnSpc>
                <a:spcPts val="1800"/>
              </a:lnSpc>
              <a:buNone/>
            </a:pPr>
            <a:r>
              <a:rPr lang="en-US" sz="1450" b="1" dirty="0">
                <a:solidFill>
                  <a:srgbClr val="000000"/>
                </a:solidFill>
                <a:latin typeface="Poppins Bold" pitchFamily="34" charset="0"/>
                <a:ea typeface="Poppins Bold" pitchFamily="34" charset="-122"/>
                <a:cs typeface="Poppins Bold" pitchFamily="34" charset="-120"/>
              </a:rPr>
              <a:t>Robust Classification</a:t>
            </a:r>
            <a:endParaRPr lang="en-US" sz="1450" dirty="0"/>
          </a:p>
        </p:txBody>
      </p:sp>
      <p:sp>
        <p:nvSpPr>
          <p:cNvPr id="17" name="Text 11"/>
          <p:cNvSpPr/>
          <p:nvPr/>
        </p:nvSpPr>
        <p:spPr>
          <a:xfrm>
            <a:off x="9510474" y="5666423"/>
            <a:ext cx="3681055" cy="239554"/>
          </a:xfrm>
          <a:prstGeom prst="rect">
            <a:avLst/>
          </a:prstGeom>
          <a:noFill/>
          <a:ln/>
        </p:spPr>
        <p:txBody>
          <a:bodyPr wrap="none" lIns="0" tIns="0" rIns="0" bIns="0" rtlCol="0" anchor="t"/>
          <a:lstStyle/>
          <a:p>
            <a:pPr algn="ctr" indent="0" marL="0">
              <a:lnSpc>
                <a:spcPts val="1850"/>
              </a:lnSpc>
              <a:buNone/>
            </a:pPr>
            <a:r>
              <a:rPr lang="en-US" sz="1150" dirty="0">
                <a:solidFill>
                  <a:srgbClr val="000000"/>
                </a:solidFill>
                <a:latin typeface="Poppins" pitchFamily="34" charset="0"/>
                <a:ea typeface="Poppins" pitchFamily="34" charset="-122"/>
                <a:cs typeface="Poppins" pitchFamily="34" charset="-120"/>
              </a:rPr>
              <a:t>Results in more reliable classification boundaries.</a:t>
            </a:r>
            <a:endParaRPr lang="en-US" sz="1150" dirty="0"/>
          </a:p>
        </p:txBody>
      </p:sp>
      <p:pic>
        <p:nvPicPr>
          <p:cNvPr id="18" name="Image 4" descr="preencoded.png">    </p:cNvPr>
          <p:cNvPicPr>
            <a:picLocks noChangeAspect="1"/>
          </p:cNvPicPr>
          <p:nvPr/>
        </p:nvPicPr>
        <p:blipFill>
          <a:blip r:embed="rId5"/>
          <a:stretch>
            <a:fillRect/>
          </a:stretch>
        </p:blipFill>
        <p:spPr>
          <a:xfrm>
            <a:off x="13657778" y="228600"/>
            <a:ext cx="744022" cy="63234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93790" y="2232422"/>
            <a:ext cx="5670590"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Soft Margin SVM</a:t>
            </a:r>
            <a:endParaRPr lang="en-US" sz="4450" dirty="0"/>
          </a:p>
        </p:txBody>
      </p:sp>
      <p:sp>
        <p:nvSpPr>
          <p:cNvPr id="3" name="Text 1"/>
          <p:cNvSpPr/>
          <p:nvPr/>
        </p:nvSpPr>
        <p:spPr>
          <a:xfrm>
            <a:off x="793790" y="3394710"/>
            <a:ext cx="3984069" cy="748427"/>
          </a:xfrm>
          <a:prstGeom prst="rect">
            <a:avLst/>
          </a:prstGeom>
          <a:noFill/>
          <a:ln/>
        </p:spPr>
        <p:txBody>
          <a:bodyPr wrap="none" lIns="0" tIns="0" rIns="0" bIns="0" rtlCol="0" anchor="t"/>
          <a:lstStyle/>
          <a:p>
            <a:pPr algn="ctr" indent="0" marL="0">
              <a:lnSpc>
                <a:spcPts val="5850"/>
              </a:lnSpc>
              <a:buNone/>
            </a:pPr>
            <a:r>
              <a:rPr lang="en-US" sz="5850" b="1" dirty="0">
                <a:solidFill>
                  <a:srgbClr val="000000"/>
                </a:solidFill>
                <a:latin typeface="Poppins Bold" pitchFamily="34" charset="0"/>
                <a:ea typeface="Poppins Bold" pitchFamily="34" charset="-122"/>
                <a:cs typeface="Poppins Bold" pitchFamily="34" charset="-120"/>
              </a:rPr>
              <a:t>1</a:t>
            </a:r>
            <a:endParaRPr lang="en-US" sz="5850" dirty="0"/>
          </a:p>
        </p:txBody>
      </p:sp>
      <p:sp>
        <p:nvSpPr>
          <p:cNvPr id="4" name="Text 2"/>
          <p:cNvSpPr/>
          <p:nvPr/>
        </p:nvSpPr>
        <p:spPr>
          <a:xfrm>
            <a:off x="793790" y="4426506"/>
            <a:ext cx="3984069" cy="708660"/>
          </a:xfrm>
          <a:prstGeom prst="rect">
            <a:avLst/>
          </a:prstGeom>
          <a:noFill/>
          <a:ln/>
        </p:spPr>
        <p:txBody>
          <a:bodyPr wrap="square" lIns="0" tIns="0" rIns="0" bIns="0" rtlCol="0" anchor="t"/>
          <a:lstStyle/>
          <a:p>
            <a:pPr algn="ct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Misclassification Tolerance</a:t>
            </a:r>
            <a:endParaRPr lang="en-US" sz="2200" dirty="0"/>
          </a:p>
        </p:txBody>
      </p:sp>
      <p:sp>
        <p:nvSpPr>
          <p:cNvPr id="5" name="Text 3"/>
          <p:cNvSpPr/>
          <p:nvPr/>
        </p:nvSpPr>
        <p:spPr>
          <a:xfrm>
            <a:off x="793790" y="5271254"/>
            <a:ext cx="3984069" cy="725805"/>
          </a:xfrm>
          <a:prstGeom prst="rect">
            <a:avLst/>
          </a:prstGeom>
          <a:noFill/>
          <a:ln/>
        </p:spPr>
        <p:txBody>
          <a:bodyPr wrap="square" lIns="0" tIns="0" rIns="0" bIns="0" rtlCol="0" anchor="t"/>
          <a:lstStyle/>
          <a:p>
            <a:pPr algn="ctr" indent="0" marL="0">
              <a:lnSpc>
                <a:spcPts val="2850"/>
              </a:lnSpc>
              <a:buNone/>
            </a:pPr>
            <a:r>
              <a:rPr lang="en-US" sz="1750" dirty="0">
                <a:solidFill>
                  <a:srgbClr val="000000"/>
                </a:solidFill>
                <a:latin typeface="Poppins" pitchFamily="34" charset="0"/>
                <a:ea typeface="Poppins" pitchFamily="34" charset="-122"/>
                <a:cs typeface="Poppins" pitchFamily="34" charset="-120"/>
              </a:rPr>
              <a:t>Allows some points to violate the margin for better generalization.</a:t>
            </a:r>
            <a:endParaRPr lang="en-US" sz="1750" dirty="0"/>
          </a:p>
        </p:txBody>
      </p:sp>
      <p:sp>
        <p:nvSpPr>
          <p:cNvPr id="6" name="Text 4"/>
          <p:cNvSpPr/>
          <p:nvPr/>
        </p:nvSpPr>
        <p:spPr>
          <a:xfrm>
            <a:off x="5118021" y="3394710"/>
            <a:ext cx="3984188" cy="748427"/>
          </a:xfrm>
          <a:prstGeom prst="rect">
            <a:avLst/>
          </a:prstGeom>
          <a:noFill/>
          <a:ln/>
        </p:spPr>
        <p:txBody>
          <a:bodyPr wrap="none" lIns="0" tIns="0" rIns="0" bIns="0" rtlCol="0" anchor="t"/>
          <a:lstStyle/>
          <a:p>
            <a:pPr algn="ctr" indent="0" marL="0">
              <a:lnSpc>
                <a:spcPts val="5850"/>
              </a:lnSpc>
              <a:buNone/>
            </a:pPr>
            <a:r>
              <a:rPr lang="en-US" sz="5850" b="1" dirty="0">
                <a:solidFill>
                  <a:srgbClr val="000000"/>
                </a:solidFill>
                <a:latin typeface="Poppins Bold" pitchFamily="34" charset="0"/>
                <a:ea typeface="Poppins Bold" pitchFamily="34" charset="-122"/>
                <a:cs typeface="Poppins Bold" pitchFamily="34" charset="-120"/>
              </a:rPr>
              <a:t>C</a:t>
            </a:r>
            <a:endParaRPr lang="en-US" sz="5850" dirty="0"/>
          </a:p>
        </p:txBody>
      </p:sp>
      <p:sp>
        <p:nvSpPr>
          <p:cNvPr id="7" name="Text 5"/>
          <p:cNvSpPr/>
          <p:nvPr/>
        </p:nvSpPr>
        <p:spPr>
          <a:xfrm>
            <a:off x="5232440" y="4426506"/>
            <a:ext cx="3755231" cy="354330"/>
          </a:xfrm>
          <a:prstGeom prst="rect">
            <a:avLst/>
          </a:prstGeom>
          <a:noFill/>
          <a:ln/>
        </p:spPr>
        <p:txBody>
          <a:bodyPr wrap="none" lIns="0" tIns="0" rIns="0" bIns="0" rtlCol="0" anchor="t"/>
          <a:lstStyle/>
          <a:p>
            <a:pPr algn="ct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Regularization Parameter</a:t>
            </a:r>
            <a:endParaRPr lang="en-US" sz="2200" dirty="0"/>
          </a:p>
        </p:txBody>
      </p:sp>
      <p:sp>
        <p:nvSpPr>
          <p:cNvPr id="8" name="Text 6"/>
          <p:cNvSpPr/>
          <p:nvPr/>
        </p:nvSpPr>
        <p:spPr>
          <a:xfrm>
            <a:off x="5118021" y="4916924"/>
            <a:ext cx="3984188" cy="725805"/>
          </a:xfrm>
          <a:prstGeom prst="rect">
            <a:avLst/>
          </a:prstGeom>
          <a:noFill/>
          <a:ln/>
        </p:spPr>
        <p:txBody>
          <a:bodyPr wrap="square" lIns="0" tIns="0" rIns="0" bIns="0" rtlCol="0" anchor="t"/>
          <a:lstStyle/>
          <a:p>
            <a:pPr algn="ctr" indent="0" marL="0">
              <a:lnSpc>
                <a:spcPts val="2850"/>
              </a:lnSpc>
              <a:buNone/>
            </a:pPr>
            <a:r>
              <a:rPr lang="en-US" sz="1750" dirty="0">
                <a:solidFill>
                  <a:srgbClr val="000000"/>
                </a:solidFill>
                <a:latin typeface="Poppins" pitchFamily="34" charset="0"/>
                <a:ea typeface="Poppins" pitchFamily="34" charset="-122"/>
                <a:cs typeface="Poppins" pitchFamily="34" charset="-120"/>
              </a:rPr>
              <a:t>Controls trade-off between margin and violation penalties.</a:t>
            </a:r>
            <a:endParaRPr lang="en-US" sz="1750" dirty="0"/>
          </a:p>
        </p:txBody>
      </p:sp>
      <p:sp>
        <p:nvSpPr>
          <p:cNvPr id="9" name="Text 7"/>
          <p:cNvSpPr/>
          <p:nvPr/>
        </p:nvSpPr>
        <p:spPr>
          <a:xfrm>
            <a:off x="9442371" y="3394710"/>
            <a:ext cx="3984188" cy="748427"/>
          </a:xfrm>
          <a:prstGeom prst="rect">
            <a:avLst/>
          </a:prstGeom>
          <a:noFill/>
          <a:ln/>
        </p:spPr>
        <p:txBody>
          <a:bodyPr wrap="none" lIns="0" tIns="0" rIns="0" bIns="0" rtlCol="0" anchor="t"/>
          <a:lstStyle/>
          <a:p>
            <a:pPr algn="ctr" indent="0" marL="0">
              <a:lnSpc>
                <a:spcPts val="5850"/>
              </a:lnSpc>
              <a:buNone/>
            </a:pPr>
            <a:r>
              <a:rPr lang="en-US" sz="5850" b="1" dirty="0">
                <a:solidFill>
                  <a:srgbClr val="000000"/>
                </a:solidFill>
                <a:latin typeface="Poppins Bold" pitchFamily="34" charset="0"/>
                <a:ea typeface="Poppins Bold" pitchFamily="34" charset="-122"/>
                <a:cs typeface="Poppins Bold" pitchFamily="34" charset="-120"/>
              </a:rPr>
              <a:t>0</a:t>
            </a:r>
            <a:endParaRPr lang="en-US" sz="5850" dirty="0"/>
          </a:p>
        </p:txBody>
      </p:sp>
      <p:sp>
        <p:nvSpPr>
          <p:cNvPr id="10" name="Text 8"/>
          <p:cNvSpPr/>
          <p:nvPr/>
        </p:nvSpPr>
        <p:spPr>
          <a:xfrm>
            <a:off x="10016847" y="4426506"/>
            <a:ext cx="2835235" cy="354330"/>
          </a:xfrm>
          <a:prstGeom prst="rect">
            <a:avLst/>
          </a:prstGeom>
          <a:noFill/>
          <a:ln/>
        </p:spPr>
        <p:txBody>
          <a:bodyPr wrap="none" lIns="0" tIns="0" rIns="0" bIns="0" rtlCol="0" anchor="t"/>
          <a:lstStyle/>
          <a:p>
            <a:pPr algn="ct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Hinge Loss</a:t>
            </a:r>
            <a:endParaRPr lang="en-US" sz="2200" dirty="0"/>
          </a:p>
        </p:txBody>
      </p:sp>
      <p:sp>
        <p:nvSpPr>
          <p:cNvPr id="11" name="Text 9"/>
          <p:cNvSpPr/>
          <p:nvPr/>
        </p:nvSpPr>
        <p:spPr>
          <a:xfrm>
            <a:off x="9442371" y="4916924"/>
            <a:ext cx="3984188" cy="725805"/>
          </a:xfrm>
          <a:prstGeom prst="rect">
            <a:avLst/>
          </a:prstGeom>
          <a:noFill/>
          <a:ln/>
        </p:spPr>
        <p:txBody>
          <a:bodyPr wrap="square" lIns="0" tIns="0" rIns="0" bIns="0" rtlCol="0" anchor="t"/>
          <a:lstStyle/>
          <a:p>
            <a:pPr algn="ctr" indent="0" marL="0">
              <a:lnSpc>
                <a:spcPts val="2850"/>
              </a:lnSpc>
              <a:buNone/>
            </a:pPr>
            <a:r>
              <a:rPr lang="en-US" sz="1750" dirty="0">
                <a:solidFill>
                  <a:srgbClr val="000000"/>
                </a:solidFill>
                <a:latin typeface="Poppins" pitchFamily="34" charset="0"/>
                <a:ea typeface="Poppins" pitchFamily="34" charset="-122"/>
                <a:cs typeface="Poppins" pitchFamily="34" charset="-120"/>
              </a:rPr>
              <a:t>No penalty for correctly classified points within margin.</a:t>
            </a:r>
            <a:endParaRPr lang="en-US" sz="1750" dirty="0"/>
          </a:p>
        </p:txBody>
      </p:sp>
      <p:pic>
        <p:nvPicPr>
          <p:cNvPr id="12" name="Image 0" descr="preencoded.png">    </p:cNvPr>
          <p:cNvPicPr>
            <a:picLocks noChangeAspect="1"/>
          </p:cNvPicPr>
          <p:nvPr/>
        </p:nvPicPr>
        <p:blipFill>
          <a:blip r:embed="rId1"/>
          <a:stretch>
            <a:fillRect/>
          </a:stretch>
        </p:blipFill>
        <p:spPr>
          <a:xfrm>
            <a:off x="13657778" y="228600"/>
            <a:ext cx="744022" cy="63234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92348" y="543997"/>
            <a:ext cx="6488430" cy="618173"/>
          </a:xfrm>
          <a:prstGeom prst="rect">
            <a:avLst/>
          </a:prstGeom>
          <a:noFill/>
          <a:ln/>
        </p:spPr>
        <p:txBody>
          <a:bodyPr wrap="none" lIns="0" tIns="0" rIns="0" bIns="0" rtlCol="0" anchor="t"/>
          <a:lstStyle/>
          <a:p>
            <a:pPr indent="0" marL="0">
              <a:lnSpc>
                <a:spcPts val="4850"/>
              </a:lnSpc>
              <a:buNone/>
            </a:pPr>
            <a:r>
              <a:rPr lang="en-US" sz="3850" b="1" dirty="0">
                <a:solidFill>
                  <a:srgbClr val="000000"/>
                </a:solidFill>
                <a:latin typeface="Poppins Bold" pitchFamily="34" charset="0"/>
                <a:ea typeface="Poppins Bold" pitchFamily="34" charset="-122"/>
                <a:cs typeface="Poppins Bold" pitchFamily="34" charset="-120"/>
              </a:rPr>
              <a:t>Non-Linear Classification</a:t>
            </a:r>
            <a:endParaRPr lang="en-US" sz="3850" dirty="0"/>
          </a:p>
        </p:txBody>
      </p:sp>
      <p:sp>
        <p:nvSpPr>
          <p:cNvPr id="3" name="Text 1"/>
          <p:cNvSpPr/>
          <p:nvPr/>
        </p:nvSpPr>
        <p:spPr>
          <a:xfrm>
            <a:off x="692348" y="1557814"/>
            <a:ext cx="12734211" cy="633174"/>
          </a:xfrm>
          <a:prstGeom prst="rect">
            <a:avLst/>
          </a:prstGeom>
          <a:noFill/>
          <a:ln/>
        </p:spPr>
        <p:txBody>
          <a:bodyPr wrap="square" lIns="0" tIns="0" rIns="0" bIns="0" rtlCol="0" anchor="t"/>
          <a:lstStyle/>
          <a:p>
            <a:pPr indent="0" marL="0">
              <a:lnSpc>
                <a:spcPts val="2450"/>
              </a:lnSpc>
              <a:buNone/>
            </a:pPr>
            <a:r>
              <a:rPr lang="en-US" sz="1550" dirty="0">
                <a:solidFill>
                  <a:srgbClr val="000000"/>
                </a:solidFill>
                <a:latin typeface="Poppins" pitchFamily="34" charset="0"/>
                <a:ea typeface="Poppins" pitchFamily="34" charset="-122"/>
                <a:cs typeface="Poppins" pitchFamily="34" charset="-120"/>
              </a:rPr>
              <a:t>When data isn't linearly separable, SVM needs a different approach. Traditional linear boundaries can't separate these data points effectively.</a:t>
            </a:r>
            <a:endParaRPr lang="en-US" sz="1550" dirty="0"/>
          </a:p>
        </p:txBody>
      </p:sp>
      <p:pic>
        <p:nvPicPr>
          <p:cNvPr id="4" name="Image 0" descr="preencoded.png">    </p:cNvPr>
          <p:cNvPicPr>
            <a:picLocks noChangeAspect="1"/>
          </p:cNvPicPr>
          <p:nvPr/>
        </p:nvPicPr>
        <p:blipFill>
          <a:blip r:embed="rId1"/>
          <a:stretch>
            <a:fillRect/>
          </a:stretch>
        </p:blipFill>
        <p:spPr>
          <a:xfrm>
            <a:off x="692348" y="2413516"/>
            <a:ext cx="4221480" cy="1623060"/>
          </a:xfrm>
          <a:prstGeom prst="rect">
            <a:avLst/>
          </a:prstGeom>
        </p:spPr>
      </p:pic>
      <p:pic>
        <p:nvPicPr>
          <p:cNvPr id="5" name="Image 1" descr="preencoded.png">    </p:cNvPr>
          <p:cNvPicPr>
            <a:picLocks noChangeAspect="1"/>
          </p:cNvPicPr>
          <p:nvPr/>
        </p:nvPicPr>
        <p:blipFill>
          <a:blip r:embed="rId2"/>
          <a:stretch>
            <a:fillRect/>
          </a:stretch>
        </p:blipFill>
        <p:spPr>
          <a:xfrm>
            <a:off x="2825234" y="4259104"/>
            <a:ext cx="2101096" cy="1139785"/>
          </a:xfrm>
          <a:prstGeom prst="rect">
            <a:avLst/>
          </a:prstGeom>
        </p:spPr>
      </p:pic>
      <p:sp>
        <p:nvSpPr>
          <p:cNvPr id="6" name="Text 2"/>
          <p:cNvSpPr/>
          <p:nvPr/>
        </p:nvSpPr>
        <p:spPr>
          <a:xfrm>
            <a:off x="3829288" y="4772382"/>
            <a:ext cx="92988" cy="395645"/>
          </a:xfrm>
          <a:prstGeom prst="rect">
            <a:avLst/>
          </a:prstGeom>
          <a:noFill/>
          <a:ln/>
        </p:spPr>
        <p:txBody>
          <a:bodyPr wrap="none" lIns="0" tIns="0" rIns="0" bIns="0" rtlCol="0" anchor="t"/>
          <a:lstStyle/>
          <a:p>
            <a:pPr algn="ctr" indent="0" marL="0">
              <a:lnSpc>
                <a:spcPts val="3100"/>
              </a:lnSpc>
              <a:buNone/>
            </a:pPr>
            <a:r>
              <a:rPr lang="en-US" sz="1900" b="1" dirty="0">
                <a:solidFill>
                  <a:srgbClr val="000000"/>
                </a:solidFill>
                <a:latin typeface="Poppins Bold" pitchFamily="34" charset="0"/>
                <a:ea typeface="Poppins Bold" pitchFamily="34" charset="-122"/>
                <a:cs typeface="Poppins Bold" pitchFamily="34" charset="-120"/>
              </a:rPr>
              <a:t>1</a:t>
            </a:r>
            <a:endParaRPr lang="en-US" sz="1900" dirty="0"/>
          </a:p>
        </p:txBody>
      </p:sp>
      <p:sp>
        <p:nvSpPr>
          <p:cNvPr id="7" name="Text 3"/>
          <p:cNvSpPr/>
          <p:nvPr/>
        </p:nvSpPr>
        <p:spPr>
          <a:xfrm>
            <a:off x="5124093" y="4456867"/>
            <a:ext cx="2877860" cy="309086"/>
          </a:xfrm>
          <a:prstGeom prst="rect">
            <a:avLst/>
          </a:prstGeom>
          <a:noFill/>
          <a:ln/>
        </p:spPr>
        <p:txBody>
          <a:bodyPr wrap="none" lIns="0" tIns="0" rIns="0" bIns="0" rtlCol="0" anchor="t"/>
          <a:lstStyle/>
          <a:p>
            <a:pPr algn="l" indent="0" marL="0">
              <a:lnSpc>
                <a:spcPts val="2400"/>
              </a:lnSpc>
              <a:buNone/>
            </a:pPr>
            <a:r>
              <a:rPr lang="en-US" sz="1900" b="1" dirty="0">
                <a:solidFill>
                  <a:srgbClr val="000000"/>
                </a:solidFill>
                <a:latin typeface="Poppins Bold" pitchFamily="34" charset="0"/>
                <a:ea typeface="Poppins Bold" pitchFamily="34" charset="-122"/>
                <a:cs typeface="Poppins Bold" pitchFamily="34" charset="-120"/>
              </a:rPr>
              <a:t>Kernel Transformation</a:t>
            </a:r>
            <a:endParaRPr lang="en-US" sz="1900" dirty="0"/>
          </a:p>
        </p:txBody>
      </p:sp>
      <p:sp>
        <p:nvSpPr>
          <p:cNvPr id="8" name="Text 4"/>
          <p:cNvSpPr/>
          <p:nvPr/>
        </p:nvSpPr>
        <p:spPr>
          <a:xfrm>
            <a:off x="5124093" y="4884539"/>
            <a:ext cx="3095863" cy="316587"/>
          </a:xfrm>
          <a:prstGeom prst="rect">
            <a:avLst/>
          </a:prstGeom>
          <a:noFill/>
          <a:ln/>
        </p:spPr>
        <p:txBody>
          <a:bodyPr wrap="none" lIns="0" tIns="0" rIns="0" bIns="0" rtlCol="0" anchor="t"/>
          <a:lstStyle/>
          <a:p>
            <a:pPr algn="l" indent="0" marL="0">
              <a:lnSpc>
                <a:spcPts val="2450"/>
              </a:lnSpc>
              <a:buNone/>
            </a:pPr>
            <a:r>
              <a:rPr lang="en-US" sz="1550" dirty="0">
                <a:solidFill>
                  <a:srgbClr val="000000"/>
                </a:solidFill>
                <a:latin typeface="Poppins" pitchFamily="34" charset="0"/>
                <a:ea typeface="Poppins" pitchFamily="34" charset="-122"/>
                <a:cs typeface="Poppins" pitchFamily="34" charset="-120"/>
              </a:rPr>
              <a:t>Map data to higher dimensions</a:t>
            </a:r>
            <a:endParaRPr lang="en-US" sz="1550" dirty="0"/>
          </a:p>
        </p:txBody>
      </p:sp>
      <p:sp>
        <p:nvSpPr>
          <p:cNvPr id="9" name="Shape 5"/>
          <p:cNvSpPr/>
          <p:nvPr/>
        </p:nvSpPr>
        <p:spPr>
          <a:xfrm>
            <a:off x="4975741" y="5414010"/>
            <a:ext cx="8401407" cy="11430"/>
          </a:xfrm>
          <a:prstGeom prst="roundRect">
            <a:avLst>
              <a:gd name="adj" fmla="val 726918"/>
            </a:avLst>
          </a:prstGeom>
          <a:solidFill>
            <a:srgbClr val="CDBED9"/>
          </a:solidFill>
          <a:ln/>
        </p:spPr>
      </p:sp>
      <p:pic>
        <p:nvPicPr>
          <p:cNvPr id="10" name="Image 2" descr="preencoded.png">    </p:cNvPr>
          <p:cNvPicPr>
            <a:picLocks noChangeAspect="1"/>
          </p:cNvPicPr>
          <p:nvPr/>
        </p:nvPicPr>
        <p:blipFill>
          <a:blip r:embed="rId3"/>
          <a:stretch>
            <a:fillRect/>
          </a:stretch>
        </p:blipFill>
        <p:spPr>
          <a:xfrm>
            <a:off x="1774746" y="5448300"/>
            <a:ext cx="4202192" cy="1139785"/>
          </a:xfrm>
          <a:prstGeom prst="rect">
            <a:avLst/>
          </a:prstGeom>
        </p:spPr>
      </p:pic>
      <p:sp>
        <p:nvSpPr>
          <p:cNvPr id="11" name="Text 6"/>
          <p:cNvSpPr/>
          <p:nvPr/>
        </p:nvSpPr>
        <p:spPr>
          <a:xfrm>
            <a:off x="3805118" y="5820370"/>
            <a:ext cx="141208" cy="395645"/>
          </a:xfrm>
          <a:prstGeom prst="rect">
            <a:avLst/>
          </a:prstGeom>
          <a:noFill/>
          <a:ln/>
        </p:spPr>
        <p:txBody>
          <a:bodyPr wrap="none" lIns="0" tIns="0" rIns="0" bIns="0" rtlCol="0" anchor="t"/>
          <a:lstStyle/>
          <a:p>
            <a:pPr algn="ctr" indent="0" marL="0">
              <a:lnSpc>
                <a:spcPts val="3100"/>
              </a:lnSpc>
              <a:buNone/>
            </a:pPr>
            <a:r>
              <a:rPr lang="en-US" sz="1900" b="1" dirty="0">
                <a:solidFill>
                  <a:srgbClr val="000000"/>
                </a:solidFill>
                <a:latin typeface="Poppins Bold" pitchFamily="34" charset="0"/>
                <a:ea typeface="Poppins Bold" pitchFamily="34" charset="-122"/>
                <a:cs typeface="Poppins Bold" pitchFamily="34" charset="-120"/>
              </a:rPr>
              <a:t>2</a:t>
            </a:r>
            <a:endParaRPr lang="en-US" sz="1900" dirty="0"/>
          </a:p>
        </p:txBody>
      </p:sp>
      <p:sp>
        <p:nvSpPr>
          <p:cNvPr id="12" name="Text 7"/>
          <p:cNvSpPr/>
          <p:nvPr/>
        </p:nvSpPr>
        <p:spPr>
          <a:xfrm>
            <a:off x="6174700" y="5646063"/>
            <a:ext cx="2472809" cy="309086"/>
          </a:xfrm>
          <a:prstGeom prst="rect">
            <a:avLst/>
          </a:prstGeom>
          <a:noFill/>
          <a:ln/>
        </p:spPr>
        <p:txBody>
          <a:bodyPr wrap="none" lIns="0" tIns="0" rIns="0" bIns="0" rtlCol="0" anchor="t"/>
          <a:lstStyle/>
          <a:p>
            <a:pPr algn="l" indent="0" marL="0">
              <a:lnSpc>
                <a:spcPts val="2400"/>
              </a:lnSpc>
              <a:buNone/>
            </a:pPr>
            <a:r>
              <a:rPr lang="en-US" sz="1900" b="1" dirty="0">
                <a:solidFill>
                  <a:srgbClr val="000000"/>
                </a:solidFill>
                <a:latin typeface="Poppins Bold" pitchFamily="34" charset="0"/>
                <a:ea typeface="Poppins Bold" pitchFamily="34" charset="-122"/>
                <a:cs typeface="Poppins Bold" pitchFamily="34" charset="-120"/>
              </a:rPr>
              <a:t>Feature Space</a:t>
            </a:r>
            <a:endParaRPr lang="en-US" sz="1900" dirty="0"/>
          </a:p>
        </p:txBody>
      </p:sp>
      <p:sp>
        <p:nvSpPr>
          <p:cNvPr id="13" name="Text 8"/>
          <p:cNvSpPr/>
          <p:nvPr/>
        </p:nvSpPr>
        <p:spPr>
          <a:xfrm>
            <a:off x="6174700" y="6073735"/>
            <a:ext cx="2676763" cy="316587"/>
          </a:xfrm>
          <a:prstGeom prst="rect">
            <a:avLst/>
          </a:prstGeom>
          <a:noFill/>
          <a:ln/>
        </p:spPr>
        <p:txBody>
          <a:bodyPr wrap="none" lIns="0" tIns="0" rIns="0" bIns="0" rtlCol="0" anchor="t"/>
          <a:lstStyle/>
          <a:p>
            <a:pPr algn="l" indent="0" marL="0">
              <a:lnSpc>
                <a:spcPts val="2450"/>
              </a:lnSpc>
              <a:buNone/>
            </a:pPr>
            <a:r>
              <a:rPr lang="en-US" sz="1550" dirty="0">
                <a:solidFill>
                  <a:srgbClr val="000000"/>
                </a:solidFill>
                <a:latin typeface="Poppins" pitchFamily="34" charset="0"/>
                <a:ea typeface="Poppins" pitchFamily="34" charset="-122"/>
                <a:cs typeface="Poppins" pitchFamily="34" charset="-120"/>
              </a:rPr>
              <a:t>Work in transformed space</a:t>
            </a:r>
            <a:endParaRPr lang="en-US" sz="1550" dirty="0"/>
          </a:p>
        </p:txBody>
      </p:sp>
      <p:sp>
        <p:nvSpPr>
          <p:cNvPr id="14" name="Shape 9"/>
          <p:cNvSpPr/>
          <p:nvPr/>
        </p:nvSpPr>
        <p:spPr>
          <a:xfrm>
            <a:off x="6026348" y="6603206"/>
            <a:ext cx="7350800" cy="11430"/>
          </a:xfrm>
          <a:prstGeom prst="roundRect">
            <a:avLst>
              <a:gd name="adj" fmla="val 726918"/>
            </a:avLst>
          </a:prstGeom>
          <a:solidFill>
            <a:srgbClr val="CDBED9"/>
          </a:solidFill>
          <a:ln/>
        </p:spPr>
      </p:sp>
      <p:pic>
        <p:nvPicPr>
          <p:cNvPr id="15" name="Image 3" descr="preencoded.png">    </p:cNvPr>
          <p:cNvPicPr>
            <a:picLocks noChangeAspect="1"/>
          </p:cNvPicPr>
          <p:nvPr/>
        </p:nvPicPr>
        <p:blipFill>
          <a:blip r:embed="rId4"/>
          <a:stretch>
            <a:fillRect/>
          </a:stretch>
        </p:blipFill>
        <p:spPr>
          <a:xfrm>
            <a:off x="724138" y="6637496"/>
            <a:ext cx="6303407" cy="1139785"/>
          </a:xfrm>
          <a:prstGeom prst="rect">
            <a:avLst/>
          </a:prstGeom>
        </p:spPr>
      </p:pic>
      <p:sp>
        <p:nvSpPr>
          <p:cNvPr id="16" name="Text 10"/>
          <p:cNvSpPr/>
          <p:nvPr/>
        </p:nvSpPr>
        <p:spPr>
          <a:xfrm>
            <a:off x="3801070" y="7009567"/>
            <a:ext cx="149543" cy="395645"/>
          </a:xfrm>
          <a:prstGeom prst="rect">
            <a:avLst/>
          </a:prstGeom>
          <a:noFill/>
          <a:ln/>
        </p:spPr>
        <p:txBody>
          <a:bodyPr wrap="none" lIns="0" tIns="0" rIns="0" bIns="0" rtlCol="0" anchor="t"/>
          <a:lstStyle/>
          <a:p>
            <a:pPr algn="ctr" indent="0" marL="0">
              <a:lnSpc>
                <a:spcPts val="3100"/>
              </a:lnSpc>
              <a:buNone/>
            </a:pPr>
            <a:r>
              <a:rPr lang="en-US" sz="1900" b="1" dirty="0">
                <a:solidFill>
                  <a:srgbClr val="000000"/>
                </a:solidFill>
                <a:latin typeface="Poppins Bold" pitchFamily="34" charset="0"/>
                <a:ea typeface="Poppins Bold" pitchFamily="34" charset="-122"/>
                <a:cs typeface="Poppins Bold" pitchFamily="34" charset="-120"/>
              </a:rPr>
              <a:t>3</a:t>
            </a:r>
            <a:endParaRPr lang="en-US" sz="1900" dirty="0"/>
          </a:p>
        </p:txBody>
      </p:sp>
      <p:sp>
        <p:nvSpPr>
          <p:cNvPr id="17" name="Text 11"/>
          <p:cNvSpPr/>
          <p:nvPr/>
        </p:nvSpPr>
        <p:spPr>
          <a:xfrm>
            <a:off x="7225308" y="6835259"/>
            <a:ext cx="2472809" cy="309086"/>
          </a:xfrm>
          <a:prstGeom prst="rect">
            <a:avLst/>
          </a:prstGeom>
          <a:noFill/>
          <a:ln/>
        </p:spPr>
        <p:txBody>
          <a:bodyPr wrap="none" lIns="0" tIns="0" rIns="0" bIns="0" rtlCol="0" anchor="t"/>
          <a:lstStyle/>
          <a:p>
            <a:pPr algn="l" indent="0" marL="0">
              <a:lnSpc>
                <a:spcPts val="2400"/>
              </a:lnSpc>
              <a:buNone/>
            </a:pPr>
            <a:r>
              <a:rPr lang="en-US" sz="1900" b="1" dirty="0">
                <a:solidFill>
                  <a:srgbClr val="000000"/>
                </a:solidFill>
                <a:latin typeface="Poppins Bold" pitchFamily="34" charset="0"/>
                <a:ea typeface="Poppins Bold" pitchFamily="34" charset="-122"/>
                <a:cs typeface="Poppins Bold" pitchFamily="34" charset="-120"/>
              </a:rPr>
              <a:t>Original Data</a:t>
            </a:r>
            <a:endParaRPr lang="en-US" sz="1900" dirty="0"/>
          </a:p>
        </p:txBody>
      </p:sp>
      <p:sp>
        <p:nvSpPr>
          <p:cNvPr id="18" name="Text 12"/>
          <p:cNvSpPr/>
          <p:nvPr/>
        </p:nvSpPr>
        <p:spPr>
          <a:xfrm>
            <a:off x="7225308" y="7262932"/>
            <a:ext cx="2937034" cy="316587"/>
          </a:xfrm>
          <a:prstGeom prst="rect">
            <a:avLst/>
          </a:prstGeom>
          <a:noFill/>
          <a:ln/>
        </p:spPr>
        <p:txBody>
          <a:bodyPr wrap="none" lIns="0" tIns="0" rIns="0" bIns="0" rtlCol="0" anchor="t"/>
          <a:lstStyle/>
          <a:p>
            <a:pPr algn="l" indent="0" marL="0">
              <a:lnSpc>
                <a:spcPts val="2450"/>
              </a:lnSpc>
              <a:buNone/>
            </a:pPr>
            <a:r>
              <a:rPr lang="en-US" sz="1550" dirty="0">
                <a:solidFill>
                  <a:srgbClr val="000000"/>
                </a:solidFill>
                <a:latin typeface="Poppins" pitchFamily="34" charset="0"/>
                <a:ea typeface="Poppins" pitchFamily="34" charset="-122"/>
                <a:cs typeface="Poppins" pitchFamily="34" charset="-120"/>
              </a:rPr>
              <a:t>Non-linearly separable points</a:t>
            </a:r>
            <a:endParaRPr lang="en-US" sz="1550" dirty="0"/>
          </a:p>
        </p:txBody>
      </p:sp>
      <p:pic>
        <p:nvPicPr>
          <p:cNvPr id="19" name="Image 4" descr="preencoded.png">    </p:cNvPr>
          <p:cNvPicPr>
            <a:picLocks noChangeAspect="1"/>
          </p:cNvPicPr>
          <p:nvPr/>
        </p:nvPicPr>
        <p:blipFill>
          <a:blip r:embed="rId5"/>
          <a:stretch>
            <a:fillRect/>
          </a:stretch>
        </p:blipFill>
        <p:spPr>
          <a:xfrm>
            <a:off x="13657778" y="228600"/>
            <a:ext cx="744022" cy="63234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718661" y="564594"/>
            <a:ext cx="5133499" cy="641747"/>
          </a:xfrm>
          <a:prstGeom prst="rect">
            <a:avLst/>
          </a:prstGeom>
          <a:noFill/>
          <a:ln/>
        </p:spPr>
        <p:txBody>
          <a:bodyPr wrap="none" lIns="0" tIns="0" rIns="0" bIns="0" rtlCol="0" anchor="t"/>
          <a:lstStyle/>
          <a:p>
            <a:pPr indent="0" marL="0">
              <a:lnSpc>
                <a:spcPts val="5050"/>
              </a:lnSpc>
              <a:buNone/>
            </a:pPr>
            <a:r>
              <a:rPr lang="en-US" sz="4000" b="1" dirty="0">
                <a:solidFill>
                  <a:srgbClr val="000000"/>
                </a:solidFill>
                <a:latin typeface="Poppins Bold" pitchFamily="34" charset="0"/>
                <a:ea typeface="Poppins Bold" pitchFamily="34" charset="-122"/>
                <a:cs typeface="Poppins Bold" pitchFamily="34" charset="-120"/>
              </a:rPr>
              <a:t>The Kernel Trick</a:t>
            </a:r>
            <a:endParaRPr lang="en-US" sz="4000" dirty="0"/>
          </a:p>
        </p:txBody>
      </p:sp>
      <p:pic>
        <p:nvPicPr>
          <p:cNvPr id="3" name="Image 0" descr="preencoded.png">    </p:cNvPr>
          <p:cNvPicPr>
            <a:picLocks noChangeAspect="1"/>
          </p:cNvPicPr>
          <p:nvPr/>
        </p:nvPicPr>
        <p:blipFill>
          <a:blip r:embed="rId1"/>
          <a:stretch>
            <a:fillRect/>
          </a:stretch>
        </p:blipFill>
        <p:spPr>
          <a:xfrm>
            <a:off x="726281" y="1749862"/>
            <a:ext cx="4121348" cy="4121348"/>
          </a:xfrm>
          <a:prstGeom prst="rect">
            <a:avLst/>
          </a:prstGeom>
        </p:spPr>
      </p:pic>
      <p:pic>
        <p:nvPicPr>
          <p:cNvPr id="4" name="Image 1" descr="preencoded.png">    </p:cNvPr>
          <p:cNvPicPr>
            <a:picLocks noChangeAspect="1"/>
          </p:cNvPicPr>
          <p:nvPr/>
        </p:nvPicPr>
        <p:blipFill>
          <a:blip r:embed="rId2"/>
          <a:stretch>
            <a:fillRect/>
          </a:stretch>
        </p:blipFill>
        <p:spPr>
          <a:xfrm>
            <a:off x="5011817" y="1749862"/>
            <a:ext cx="4121468" cy="4121468"/>
          </a:xfrm>
          <a:prstGeom prst="rect">
            <a:avLst/>
          </a:prstGeom>
        </p:spPr>
      </p:pic>
      <p:pic>
        <p:nvPicPr>
          <p:cNvPr id="5" name="Image 2" descr="preencoded.png">    </p:cNvPr>
          <p:cNvPicPr>
            <a:picLocks noChangeAspect="1"/>
          </p:cNvPicPr>
          <p:nvPr/>
        </p:nvPicPr>
        <p:blipFill>
          <a:blip r:embed="rId3"/>
          <a:stretch>
            <a:fillRect/>
          </a:stretch>
        </p:blipFill>
        <p:spPr>
          <a:xfrm>
            <a:off x="9297472" y="1749862"/>
            <a:ext cx="4121468" cy="4121468"/>
          </a:xfrm>
          <a:prstGeom prst="rect">
            <a:avLst/>
          </a:prstGeom>
        </p:spPr>
      </p:pic>
      <p:sp>
        <p:nvSpPr>
          <p:cNvPr id="6" name="Shape 1"/>
          <p:cNvSpPr/>
          <p:nvPr/>
        </p:nvSpPr>
        <p:spPr>
          <a:xfrm>
            <a:off x="718661" y="6235184"/>
            <a:ext cx="4099084" cy="1855589"/>
          </a:xfrm>
          <a:prstGeom prst="roundRect">
            <a:avLst>
              <a:gd name="adj" fmla="val 4648"/>
            </a:avLst>
          </a:prstGeom>
          <a:solidFill>
            <a:srgbClr val="E7D8F3"/>
          </a:solidFill>
          <a:ln w="7620">
            <a:solidFill>
              <a:srgbClr val="CDBED9"/>
            </a:solidFill>
            <a:prstDash val="solid"/>
          </a:ln>
        </p:spPr>
      </p:sp>
      <p:sp>
        <p:nvSpPr>
          <p:cNvPr id="7" name="Text 2"/>
          <p:cNvSpPr/>
          <p:nvPr/>
        </p:nvSpPr>
        <p:spPr>
          <a:xfrm>
            <a:off x="931545" y="6448068"/>
            <a:ext cx="2566749" cy="320873"/>
          </a:xfrm>
          <a:prstGeom prst="rect">
            <a:avLst/>
          </a:prstGeom>
          <a:noFill/>
          <a:ln/>
        </p:spPr>
        <p:txBody>
          <a:bodyPr wrap="none" lIns="0" tIns="0" rIns="0" bIns="0" rtlCol="0" anchor="t"/>
          <a:lstStyle/>
          <a:p>
            <a:pPr indent="0" marL="0">
              <a:lnSpc>
                <a:spcPts val="2500"/>
              </a:lnSpc>
              <a:buNone/>
            </a:pPr>
            <a:r>
              <a:rPr lang="en-US" sz="2000" b="1" dirty="0">
                <a:solidFill>
                  <a:srgbClr val="000000"/>
                </a:solidFill>
                <a:latin typeface="Poppins Bold" pitchFamily="34" charset="0"/>
                <a:ea typeface="Poppins Bold" pitchFamily="34" charset="-122"/>
                <a:cs typeface="Poppins Bold" pitchFamily="34" charset="-120"/>
              </a:rPr>
              <a:t>Linear Kernel</a:t>
            </a:r>
            <a:endParaRPr lang="en-US" sz="2000" dirty="0"/>
          </a:p>
        </p:txBody>
      </p:sp>
      <p:sp>
        <p:nvSpPr>
          <p:cNvPr id="8" name="Text 3"/>
          <p:cNvSpPr/>
          <p:nvPr/>
        </p:nvSpPr>
        <p:spPr>
          <a:xfrm>
            <a:off x="931545" y="6892052"/>
            <a:ext cx="3673316" cy="657225"/>
          </a:xfrm>
          <a:prstGeom prst="rect">
            <a:avLst/>
          </a:prstGeom>
          <a:noFill/>
          <a:ln/>
        </p:spPr>
        <p:txBody>
          <a:bodyPr wrap="square" lIns="0" tIns="0" rIns="0" bIns="0" rtlCol="0" anchor="t"/>
          <a:lstStyle/>
          <a:p>
            <a:pPr indent="0" marL="0">
              <a:lnSpc>
                <a:spcPts val="2550"/>
              </a:lnSpc>
              <a:buNone/>
            </a:pPr>
            <a:r>
              <a:rPr lang="en-US" sz="1600" dirty="0">
                <a:solidFill>
                  <a:srgbClr val="000000"/>
                </a:solidFill>
                <a:latin typeface="Poppins" pitchFamily="34" charset="0"/>
                <a:ea typeface="Poppins" pitchFamily="34" charset="-122"/>
                <a:cs typeface="Poppins" pitchFamily="34" charset="-120"/>
              </a:rPr>
              <a:t>Suitable for linearly separable data. Simplest kernel form.</a:t>
            </a:r>
            <a:endParaRPr lang="en-US" sz="1600" dirty="0"/>
          </a:p>
        </p:txBody>
      </p:sp>
      <p:sp>
        <p:nvSpPr>
          <p:cNvPr id="9" name="Shape 4"/>
          <p:cNvSpPr/>
          <p:nvPr/>
        </p:nvSpPr>
        <p:spPr>
          <a:xfrm>
            <a:off x="5023009" y="6235184"/>
            <a:ext cx="4099084" cy="1855589"/>
          </a:xfrm>
          <a:prstGeom prst="roundRect">
            <a:avLst>
              <a:gd name="adj" fmla="val 4648"/>
            </a:avLst>
          </a:prstGeom>
          <a:solidFill>
            <a:srgbClr val="E7D8F3"/>
          </a:solidFill>
          <a:ln w="7620">
            <a:solidFill>
              <a:srgbClr val="CDBED9"/>
            </a:solidFill>
            <a:prstDash val="solid"/>
          </a:ln>
        </p:spPr>
      </p:sp>
      <p:sp>
        <p:nvSpPr>
          <p:cNvPr id="10" name="Text 5"/>
          <p:cNvSpPr/>
          <p:nvPr/>
        </p:nvSpPr>
        <p:spPr>
          <a:xfrm>
            <a:off x="5235893" y="6448068"/>
            <a:ext cx="2566749" cy="320873"/>
          </a:xfrm>
          <a:prstGeom prst="rect">
            <a:avLst/>
          </a:prstGeom>
          <a:noFill/>
          <a:ln/>
        </p:spPr>
        <p:txBody>
          <a:bodyPr wrap="none" lIns="0" tIns="0" rIns="0" bIns="0" rtlCol="0" anchor="t"/>
          <a:lstStyle/>
          <a:p>
            <a:pPr indent="0" marL="0">
              <a:lnSpc>
                <a:spcPts val="2500"/>
              </a:lnSpc>
              <a:buNone/>
            </a:pPr>
            <a:r>
              <a:rPr lang="en-US" sz="2000" b="1" dirty="0">
                <a:solidFill>
                  <a:srgbClr val="000000"/>
                </a:solidFill>
                <a:latin typeface="Poppins Bold" pitchFamily="34" charset="0"/>
                <a:ea typeface="Poppins Bold" pitchFamily="34" charset="-122"/>
                <a:cs typeface="Poppins Bold" pitchFamily="34" charset="-120"/>
              </a:rPr>
              <a:t>Polynomial Kernel</a:t>
            </a:r>
            <a:endParaRPr lang="en-US" sz="2000" dirty="0"/>
          </a:p>
        </p:txBody>
      </p:sp>
      <p:sp>
        <p:nvSpPr>
          <p:cNvPr id="11" name="Text 6"/>
          <p:cNvSpPr/>
          <p:nvPr/>
        </p:nvSpPr>
        <p:spPr>
          <a:xfrm>
            <a:off x="5235893" y="6892052"/>
            <a:ext cx="3673316" cy="657225"/>
          </a:xfrm>
          <a:prstGeom prst="rect">
            <a:avLst/>
          </a:prstGeom>
          <a:noFill/>
          <a:ln/>
        </p:spPr>
        <p:txBody>
          <a:bodyPr wrap="square" lIns="0" tIns="0" rIns="0" bIns="0" rtlCol="0" anchor="t"/>
          <a:lstStyle/>
          <a:p>
            <a:pPr indent="0" marL="0">
              <a:lnSpc>
                <a:spcPts val="2550"/>
              </a:lnSpc>
              <a:buNone/>
            </a:pPr>
            <a:r>
              <a:rPr lang="en-US" sz="1600" dirty="0">
                <a:solidFill>
                  <a:srgbClr val="000000"/>
                </a:solidFill>
                <a:latin typeface="Poppins" pitchFamily="34" charset="0"/>
                <a:ea typeface="Poppins" pitchFamily="34" charset="-122"/>
                <a:cs typeface="Poppins" pitchFamily="34" charset="-120"/>
              </a:rPr>
              <a:t>Maps data into polynomial feature space. Good for curved boundaries.</a:t>
            </a:r>
            <a:endParaRPr lang="en-US" sz="1600" dirty="0"/>
          </a:p>
        </p:txBody>
      </p:sp>
      <p:sp>
        <p:nvSpPr>
          <p:cNvPr id="12" name="Shape 7"/>
          <p:cNvSpPr/>
          <p:nvPr/>
        </p:nvSpPr>
        <p:spPr>
          <a:xfrm>
            <a:off x="9327356" y="6235184"/>
            <a:ext cx="4099084" cy="1855589"/>
          </a:xfrm>
          <a:prstGeom prst="roundRect">
            <a:avLst>
              <a:gd name="adj" fmla="val 4648"/>
            </a:avLst>
          </a:prstGeom>
          <a:solidFill>
            <a:srgbClr val="E7D8F3"/>
          </a:solidFill>
          <a:ln w="7620">
            <a:solidFill>
              <a:srgbClr val="CDBED9"/>
            </a:solidFill>
            <a:prstDash val="solid"/>
          </a:ln>
        </p:spPr>
      </p:sp>
      <p:sp>
        <p:nvSpPr>
          <p:cNvPr id="13" name="Text 8"/>
          <p:cNvSpPr/>
          <p:nvPr/>
        </p:nvSpPr>
        <p:spPr>
          <a:xfrm>
            <a:off x="9540240" y="6448068"/>
            <a:ext cx="2566749" cy="320873"/>
          </a:xfrm>
          <a:prstGeom prst="rect">
            <a:avLst/>
          </a:prstGeom>
          <a:noFill/>
          <a:ln/>
        </p:spPr>
        <p:txBody>
          <a:bodyPr wrap="none" lIns="0" tIns="0" rIns="0" bIns="0" rtlCol="0" anchor="t"/>
          <a:lstStyle/>
          <a:p>
            <a:pPr indent="0" marL="0">
              <a:lnSpc>
                <a:spcPts val="2500"/>
              </a:lnSpc>
              <a:buNone/>
            </a:pPr>
            <a:r>
              <a:rPr lang="en-US" sz="2000" b="1" dirty="0">
                <a:solidFill>
                  <a:srgbClr val="000000"/>
                </a:solidFill>
                <a:latin typeface="Poppins Bold" pitchFamily="34" charset="0"/>
                <a:ea typeface="Poppins Bold" pitchFamily="34" charset="-122"/>
                <a:cs typeface="Poppins Bold" pitchFamily="34" charset="-120"/>
              </a:rPr>
              <a:t>RBF Kernel</a:t>
            </a:r>
            <a:endParaRPr lang="en-US" sz="2000" dirty="0"/>
          </a:p>
        </p:txBody>
      </p:sp>
      <p:sp>
        <p:nvSpPr>
          <p:cNvPr id="14" name="Text 9"/>
          <p:cNvSpPr/>
          <p:nvPr/>
        </p:nvSpPr>
        <p:spPr>
          <a:xfrm>
            <a:off x="9540240" y="6892052"/>
            <a:ext cx="3673316" cy="985837"/>
          </a:xfrm>
          <a:prstGeom prst="rect">
            <a:avLst/>
          </a:prstGeom>
          <a:noFill/>
          <a:ln/>
        </p:spPr>
        <p:txBody>
          <a:bodyPr wrap="square" lIns="0" tIns="0" rIns="0" bIns="0" rtlCol="0" anchor="t"/>
          <a:lstStyle/>
          <a:p>
            <a:pPr indent="0" marL="0">
              <a:lnSpc>
                <a:spcPts val="2550"/>
              </a:lnSpc>
              <a:buNone/>
            </a:pPr>
            <a:r>
              <a:rPr lang="en-US" sz="1600" dirty="0">
                <a:solidFill>
                  <a:srgbClr val="000000"/>
                </a:solidFill>
                <a:latin typeface="Poppins" pitchFamily="34" charset="0"/>
                <a:ea typeface="Poppins" pitchFamily="34" charset="-122"/>
                <a:cs typeface="Poppins" pitchFamily="34" charset="-120"/>
              </a:rPr>
              <a:t>Transforms data based on distances between points. Highly flexible.</a:t>
            </a:r>
            <a:endParaRPr lang="en-US" sz="1600" dirty="0"/>
          </a:p>
        </p:txBody>
      </p:sp>
      <p:pic>
        <p:nvPicPr>
          <p:cNvPr id="15" name="Image 3" descr="preencoded.png">    </p:cNvPr>
          <p:cNvPicPr>
            <a:picLocks noChangeAspect="1"/>
          </p:cNvPicPr>
          <p:nvPr/>
        </p:nvPicPr>
        <p:blipFill>
          <a:blip r:embed="rId4"/>
          <a:stretch>
            <a:fillRect/>
          </a:stretch>
        </p:blipFill>
        <p:spPr>
          <a:xfrm>
            <a:off x="13657778" y="228600"/>
            <a:ext cx="744022" cy="63234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65678" y="523042"/>
            <a:ext cx="6585466" cy="594360"/>
          </a:xfrm>
          <a:prstGeom prst="rect">
            <a:avLst/>
          </a:prstGeom>
          <a:noFill/>
          <a:ln/>
        </p:spPr>
        <p:txBody>
          <a:bodyPr wrap="none" lIns="0" tIns="0" rIns="0" bIns="0" rtlCol="0" anchor="t"/>
          <a:lstStyle/>
          <a:p>
            <a:pPr indent="0" marL="0">
              <a:lnSpc>
                <a:spcPts val="4650"/>
              </a:lnSpc>
              <a:buNone/>
            </a:pPr>
            <a:r>
              <a:rPr lang="en-US" sz="3700" b="1" dirty="0">
                <a:solidFill>
                  <a:srgbClr val="000000"/>
                </a:solidFill>
                <a:latin typeface="Poppins Bold" pitchFamily="34" charset="0"/>
                <a:ea typeface="Poppins Bold" pitchFamily="34" charset="-122"/>
                <a:cs typeface="Poppins Bold" pitchFamily="34" charset="-120"/>
              </a:rPr>
              <a:t>Dimension Transformation</a:t>
            </a:r>
            <a:endParaRPr lang="en-US" sz="3700" dirty="0"/>
          </a:p>
        </p:txBody>
      </p:sp>
      <p:pic>
        <p:nvPicPr>
          <p:cNvPr id="3" name="Image 0" descr="preencoded.png">    </p:cNvPr>
          <p:cNvPicPr>
            <a:picLocks noChangeAspect="1"/>
          </p:cNvPicPr>
          <p:nvPr/>
        </p:nvPicPr>
        <p:blipFill>
          <a:blip r:embed="rId1"/>
          <a:stretch>
            <a:fillRect/>
          </a:stretch>
        </p:blipFill>
        <p:spPr>
          <a:xfrm>
            <a:off x="665678" y="1497806"/>
            <a:ext cx="3817620" cy="2727960"/>
          </a:xfrm>
          <a:prstGeom prst="rect">
            <a:avLst/>
          </a:prstGeom>
        </p:spPr>
      </p:pic>
      <p:sp>
        <p:nvSpPr>
          <p:cNvPr id="4" name="Shape 1"/>
          <p:cNvSpPr/>
          <p:nvPr/>
        </p:nvSpPr>
        <p:spPr>
          <a:xfrm>
            <a:off x="665678" y="4439722"/>
            <a:ext cx="2126694" cy="1095851"/>
          </a:xfrm>
          <a:prstGeom prst="roundRect">
            <a:avLst>
              <a:gd name="adj" fmla="val 7290"/>
            </a:avLst>
          </a:prstGeom>
          <a:solidFill>
            <a:srgbClr val="E7D8F3"/>
          </a:solidFill>
          <a:ln w="7620">
            <a:solidFill>
              <a:srgbClr val="CDBED9"/>
            </a:solidFill>
            <a:prstDash val="solid"/>
          </a:ln>
        </p:spPr>
      </p:sp>
      <p:sp>
        <p:nvSpPr>
          <p:cNvPr id="5" name="Text 2"/>
          <p:cNvSpPr/>
          <p:nvPr/>
        </p:nvSpPr>
        <p:spPr>
          <a:xfrm>
            <a:off x="863441" y="4797385"/>
            <a:ext cx="89416" cy="380405"/>
          </a:xfrm>
          <a:prstGeom prst="rect">
            <a:avLst/>
          </a:prstGeom>
          <a:noFill/>
          <a:ln/>
        </p:spPr>
        <p:txBody>
          <a:bodyPr wrap="none" lIns="0" tIns="0" rIns="0" bIns="0" rtlCol="0" anchor="t"/>
          <a:lstStyle/>
          <a:p>
            <a:pPr algn="ctr" indent="0" marL="0">
              <a:lnSpc>
                <a:spcPts val="2950"/>
              </a:lnSpc>
              <a:buNone/>
            </a:pPr>
            <a:r>
              <a:rPr lang="en-US" sz="1850" b="1" dirty="0">
                <a:solidFill>
                  <a:srgbClr val="000000"/>
                </a:solidFill>
                <a:latin typeface="Poppins Bold" pitchFamily="34" charset="0"/>
                <a:ea typeface="Poppins Bold" pitchFamily="34" charset="-122"/>
                <a:cs typeface="Poppins Bold" pitchFamily="34" charset="-120"/>
              </a:rPr>
              <a:t>1</a:t>
            </a:r>
            <a:endParaRPr lang="en-US" sz="1850" dirty="0"/>
          </a:p>
        </p:txBody>
      </p:sp>
      <p:sp>
        <p:nvSpPr>
          <p:cNvPr id="6" name="Text 3"/>
          <p:cNvSpPr/>
          <p:nvPr/>
        </p:nvSpPr>
        <p:spPr>
          <a:xfrm>
            <a:off x="2982516" y="4629864"/>
            <a:ext cx="2377440" cy="297180"/>
          </a:xfrm>
          <a:prstGeom prst="rect">
            <a:avLst/>
          </a:prstGeom>
          <a:noFill/>
          <a:ln/>
        </p:spPr>
        <p:txBody>
          <a:bodyPr wrap="none" lIns="0" tIns="0" rIns="0" bIns="0" rtlCol="0" anchor="t"/>
          <a:lstStyle/>
          <a:p>
            <a:pPr algn="l" indent="0" marL="0">
              <a:lnSpc>
                <a:spcPts val="2300"/>
              </a:lnSpc>
              <a:buNone/>
            </a:pPr>
            <a:r>
              <a:rPr lang="en-US" sz="1850" b="1" dirty="0">
                <a:solidFill>
                  <a:srgbClr val="000000"/>
                </a:solidFill>
                <a:latin typeface="Poppins Bold" pitchFamily="34" charset="0"/>
                <a:ea typeface="Poppins Bold" pitchFamily="34" charset="-122"/>
                <a:cs typeface="Poppins Bold" pitchFamily="34" charset="-120"/>
              </a:rPr>
              <a:t>Higher Dimension</a:t>
            </a:r>
            <a:endParaRPr lang="en-US" sz="1850" dirty="0"/>
          </a:p>
        </p:txBody>
      </p:sp>
      <p:sp>
        <p:nvSpPr>
          <p:cNvPr id="7" name="Text 4"/>
          <p:cNvSpPr/>
          <p:nvPr/>
        </p:nvSpPr>
        <p:spPr>
          <a:xfrm>
            <a:off x="2982516" y="5041106"/>
            <a:ext cx="3340656" cy="304324"/>
          </a:xfrm>
          <a:prstGeom prst="rect">
            <a:avLst/>
          </a:prstGeom>
          <a:noFill/>
          <a:ln/>
        </p:spPr>
        <p:txBody>
          <a:bodyPr wrap="none" lIns="0" tIns="0" rIns="0" bIns="0" rtlCol="0" anchor="t"/>
          <a:lstStyle/>
          <a:p>
            <a:pPr algn="l" indent="0" marL="0">
              <a:lnSpc>
                <a:spcPts val="2350"/>
              </a:lnSpc>
              <a:buNone/>
            </a:pPr>
            <a:r>
              <a:rPr lang="en-US" sz="1450" dirty="0">
                <a:solidFill>
                  <a:srgbClr val="000000"/>
                </a:solidFill>
                <a:latin typeface="Poppins" pitchFamily="34" charset="0"/>
                <a:ea typeface="Poppins" pitchFamily="34" charset="-122"/>
                <a:cs typeface="Poppins" pitchFamily="34" charset="-120"/>
              </a:rPr>
              <a:t>Classes become linearly separable</a:t>
            </a:r>
            <a:endParaRPr lang="en-US" sz="1450" dirty="0"/>
          </a:p>
        </p:txBody>
      </p:sp>
      <p:sp>
        <p:nvSpPr>
          <p:cNvPr id="8" name="Shape 5"/>
          <p:cNvSpPr/>
          <p:nvPr/>
        </p:nvSpPr>
        <p:spPr>
          <a:xfrm>
            <a:off x="2887385" y="5526048"/>
            <a:ext cx="10444163" cy="11430"/>
          </a:xfrm>
          <a:prstGeom prst="roundRect">
            <a:avLst>
              <a:gd name="adj" fmla="val 698910"/>
            </a:avLst>
          </a:prstGeom>
          <a:solidFill>
            <a:srgbClr val="CDBED9"/>
          </a:solidFill>
          <a:ln/>
        </p:spPr>
      </p:sp>
      <p:sp>
        <p:nvSpPr>
          <p:cNvPr id="9" name="Shape 6"/>
          <p:cNvSpPr/>
          <p:nvPr/>
        </p:nvSpPr>
        <p:spPr>
          <a:xfrm>
            <a:off x="665678" y="5630585"/>
            <a:ext cx="4253508" cy="1095851"/>
          </a:xfrm>
          <a:prstGeom prst="roundRect">
            <a:avLst>
              <a:gd name="adj" fmla="val 7290"/>
            </a:avLst>
          </a:prstGeom>
          <a:solidFill>
            <a:srgbClr val="E7D8F3"/>
          </a:solidFill>
          <a:ln w="7620">
            <a:solidFill>
              <a:srgbClr val="CDBED9"/>
            </a:solidFill>
            <a:prstDash val="solid"/>
          </a:ln>
        </p:spPr>
      </p:sp>
      <p:sp>
        <p:nvSpPr>
          <p:cNvPr id="10" name="Text 7"/>
          <p:cNvSpPr/>
          <p:nvPr/>
        </p:nvSpPr>
        <p:spPr>
          <a:xfrm>
            <a:off x="863441" y="5988248"/>
            <a:ext cx="135731" cy="380405"/>
          </a:xfrm>
          <a:prstGeom prst="rect">
            <a:avLst/>
          </a:prstGeom>
          <a:noFill/>
          <a:ln/>
        </p:spPr>
        <p:txBody>
          <a:bodyPr wrap="none" lIns="0" tIns="0" rIns="0" bIns="0" rtlCol="0" anchor="t"/>
          <a:lstStyle/>
          <a:p>
            <a:pPr algn="ctr" indent="0" marL="0">
              <a:lnSpc>
                <a:spcPts val="2950"/>
              </a:lnSpc>
              <a:buNone/>
            </a:pPr>
            <a:r>
              <a:rPr lang="en-US" sz="1850" b="1" dirty="0">
                <a:solidFill>
                  <a:srgbClr val="000000"/>
                </a:solidFill>
                <a:latin typeface="Poppins Bold" pitchFamily="34" charset="0"/>
                <a:ea typeface="Poppins Bold" pitchFamily="34" charset="-122"/>
                <a:cs typeface="Poppins Bold" pitchFamily="34" charset="-120"/>
              </a:rPr>
              <a:t>2</a:t>
            </a:r>
            <a:endParaRPr lang="en-US" sz="1850" dirty="0"/>
          </a:p>
        </p:txBody>
      </p:sp>
      <p:sp>
        <p:nvSpPr>
          <p:cNvPr id="11" name="Text 8"/>
          <p:cNvSpPr/>
          <p:nvPr/>
        </p:nvSpPr>
        <p:spPr>
          <a:xfrm>
            <a:off x="5109329" y="5820728"/>
            <a:ext cx="1994416" cy="297180"/>
          </a:xfrm>
          <a:prstGeom prst="rect">
            <a:avLst/>
          </a:prstGeom>
          <a:noFill/>
          <a:ln/>
        </p:spPr>
        <p:txBody>
          <a:bodyPr wrap="none" lIns="0" tIns="0" rIns="0" bIns="0" rtlCol="0" anchor="t"/>
          <a:lstStyle/>
          <a:p>
            <a:pPr algn="l" indent="0" marL="0">
              <a:lnSpc>
                <a:spcPts val="2300"/>
              </a:lnSpc>
              <a:buNone/>
            </a:pPr>
            <a:r>
              <a:rPr lang="en-US" sz="1850" b="1" dirty="0">
                <a:solidFill>
                  <a:srgbClr val="000000"/>
                </a:solidFill>
                <a:latin typeface="Poppins Bold" pitchFamily="34" charset="0"/>
                <a:ea typeface="Poppins Bold" pitchFamily="34" charset="-122"/>
                <a:cs typeface="Poppins Bold" pitchFamily="34" charset="-120"/>
              </a:rPr>
              <a:t>Transformation</a:t>
            </a:r>
            <a:endParaRPr lang="en-US" sz="1850" dirty="0"/>
          </a:p>
        </p:txBody>
      </p:sp>
      <p:sp>
        <p:nvSpPr>
          <p:cNvPr id="12" name="Text 9"/>
          <p:cNvSpPr/>
          <p:nvPr/>
        </p:nvSpPr>
        <p:spPr>
          <a:xfrm>
            <a:off x="5109329" y="6231969"/>
            <a:ext cx="1994416" cy="304324"/>
          </a:xfrm>
          <a:prstGeom prst="rect">
            <a:avLst/>
          </a:prstGeom>
          <a:noFill/>
          <a:ln/>
        </p:spPr>
        <p:txBody>
          <a:bodyPr wrap="none" lIns="0" tIns="0" rIns="0" bIns="0" rtlCol="0" anchor="t"/>
          <a:lstStyle/>
          <a:p>
            <a:pPr algn="l" indent="0" marL="0">
              <a:lnSpc>
                <a:spcPts val="2350"/>
              </a:lnSpc>
              <a:buNone/>
            </a:pPr>
            <a:r>
              <a:rPr lang="en-US" sz="1450" dirty="0">
                <a:solidFill>
                  <a:srgbClr val="000000"/>
                </a:solidFill>
                <a:latin typeface="Poppins" pitchFamily="34" charset="0"/>
                <a:ea typeface="Poppins" pitchFamily="34" charset="-122"/>
                <a:cs typeface="Poppins" pitchFamily="34" charset="-120"/>
              </a:rPr>
              <a:t>Apply kernel function</a:t>
            </a:r>
            <a:endParaRPr lang="en-US" sz="1450" dirty="0"/>
          </a:p>
        </p:txBody>
      </p:sp>
      <p:sp>
        <p:nvSpPr>
          <p:cNvPr id="13" name="Shape 10"/>
          <p:cNvSpPr/>
          <p:nvPr/>
        </p:nvSpPr>
        <p:spPr>
          <a:xfrm>
            <a:off x="5014198" y="6716911"/>
            <a:ext cx="8317349" cy="11430"/>
          </a:xfrm>
          <a:prstGeom prst="roundRect">
            <a:avLst>
              <a:gd name="adj" fmla="val 698910"/>
            </a:avLst>
          </a:prstGeom>
          <a:solidFill>
            <a:srgbClr val="CDBED9"/>
          </a:solidFill>
          <a:ln/>
        </p:spPr>
      </p:sp>
      <p:sp>
        <p:nvSpPr>
          <p:cNvPr id="14" name="Shape 11"/>
          <p:cNvSpPr/>
          <p:nvPr/>
        </p:nvSpPr>
        <p:spPr>
          <a:xfrm>
            <a:off x="665678" y="6821448"/>
            <a:ext cx="6380440" cy="1095851"/>
          </a:xfrm>
          <a:prstGeom prst="roundRect">
            <a:avLst>
              <a:gd name="adj" fmla="val 7290"/>
            </a:avLst>
          </a:prstGeom>
          <a:solidFill>
            <a:srgbClr val="E7D8F3"/>
          </a:solidFill>
          <a:ln w="7620">
            <a:solidFill>
              <a:srgbClr val="CDBED9"/>
            </a:solidFill>
            <a:prstDash val="solid"/>
          </a:ln>
        </p:spPr>
      </p:sp>
      <p:sp>
        <p:nvSpPr>
          <p:cNvPr id="15" name="Text 12"/>
          <p:cNvSpPr/>
          <p:nvPr/>
        </p:nvSpPr>
        <p:spPr>
          <a:xfrm>
            <a:off x="863441" y="7179112"/>
            <a:ext cx="143828" cy="380405"/>
          </a:xfrm>
          <a:prstGeom prst="rect">
            <a:avLst/>
          </a:prstGeom>
          <a:noFill/>
          <a:ln/>
        </p:spPr>
        <p:txBody>
          <a:bodyPr wrap="none" lIns="0" tIns="0" rIns="0" bIns="0" rtlCol="0" anchor="t"/>
          <a:lstStyle/>
          <a:p>
            <a:pPr algn="ctr" indent="0" marL="0">
              <a:lnSpc>
                <a:spcPts val="2950"/>
              </a:lnSpc>
              <a:buNone/>
            </a:pPr>
            <a:r>
              <a:rPr lang="en-US" sz="1850" b="1" dirty="0">
                <a:solidFill>
                  <a:srgbClr val="000000"/>
                </a:solidFill>
                <a:latin typeface="Poppins Bold" pitchFamily="34" charset="0"/>
                <a:ea typeface="Poppins Bold" pitchFamily="34" charset="-122"/>
                <a:cs typeface="Poppins Bold" pitchFamily="34" charset="-120"/>
              </a:rPr>
              <a:t>3</a:t>
            </a:r>
            <a:endParaRPr lang="en-US" sz="1850" dirty="0"/>
          </a:p>
        </p:txBody>
      </p:sp>
      <p:sp>
        <p:nvSpPr>
          <p:cNvPr id="16" name="Text 13"/>
          <p:cNvSpPr/>
          <p:nvPr/>
        </p:nvSpPr>
        <p:spPr>
          <a:xfrm>
            <a:off x="7236262" y="7011591"/>
            <a:ext cx="2185988" cy="297180"/>
          </a:xfrm>
          <a:prstGeom prst="rect">
            <a:avLst/>
          </a:prstGeom>
          <a:noFill/>
          <a:ln/>
        </p:spPr>
        <p:txBody>
          <a:bodyPr wrap="none" lIns="0" tIns="0" rIns="0" bIns="0" rtlCol="0" anchor="t"/>
          <a:lstStyle/>
          <a:p>
            <a:pPr algn="l" indent="0" marL="0">
              <a:lnSpc>
                <a:spcPts val="2300"/>
              </a:lnSpc>
              <a:buNone/>
            </a:pPr>
            <a:r>
              <a:rPr lang="en-US" sz="1850" b="1" dirty="0">
                <a:solidFill>
                  <a:srgbClr val="000000"/>
                </a:solidFill>
                <a:latin typeface="Poppins Bold" pitchFamily="34" charset="0"/>
                <a:ea typeface="Poppins Bold" pitchFamily="34" charset="-122"/>
                <a:cs typeface="Poppins Bold" pitchFamily="34" charset="-120"/>
              </a:rPr>
              <a:t>Original Data</a:t>
            </a:r>
            <a:endParaRPr lang="en-US" sz="1850" dirty="0"/>
          </a:p>
        </p:txBody>
      </p:sp>
      <p:sp>
        <p:nvSpPr>
          <p:cNvPr id="17" name="Text 14"/>
          <p:cNvSpPr/>
          <p:nvPr/>
        </p:nvSpPr>
        <p:spPr>
          <a:xfrm>
            <a:off x="7236262" y="7422832"/>
            <a:ext cx="2185988" cy="304324"/>
          </a:xfrm>
          <a:prstGeom prst="rect">
            <a:avLst/>
          </a:prstGeom>
          <a:noFill/>
          <a:ln/>
        </p:spPr>
        <p:txBody>
          <a:bodyPr wrap="none" lIns="0" tIns="0" rIns="0" bIns="0" rtlCol="0" anchor="t"/>
          <a:lstStyle/>
          <a:p>
            <a:pPr algn="l" indent="0" marL="0">
              <a:lnSpc>
                <a:spcPts val="2350"/>
              </a:lnSpc>
              <a:buNone/>
            </a:pPr>
            <a:r>
              <a:rPr lang="en-US" sz="1450" dirty="0">
                <a:solidFill>
                  <a:srgbClr val="000000"/>
                </a:solidFill>
                <a:latin typeface="Poppins" pitchFamily="34" charset="0"/>
                <a:ea typeface="Poppins" pitchFamily="34" charset="-122"/>
                <a:cs typeface="Poppins" pitchFamily="34" charset="-120"/>
              </a:rPr>
              <a:t>Non-linearly separable</a:t>
            </a:r>
            <a:endParaRPr lang="en-US" sz="1450" dirty="0"/>
          </a:p>
        </p:txBody>
      </p:sp>
      <p:pic>
        <p:nvPicPr>
          <p:cNvPr id="18" name="Image 1" descr="preencoded.png">    </p:cNvPr>
          <p:cNvPicPr>
            <a:picLocks noChangeAspect="1"/>
          </p:cNvPicPr>
          <p:nvPr/>
        </p:nvPicPr>
        <p:blipFill>
          <a:blip r:embed="rId2"/>
          <a:stretch>
            <a:fillRect/>
          </a:stretch>
        </p:blipFill>
        <p:spPr>
          <a:xfrm>
            <a:off x="13657778" y="228600"/>
            <a:ext cx="744022" cy="63234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793790" y="1322903"/>
            <a:ext cx="9014936"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SVM Mathematical Foundation</a:t>
            </a:r>
            <a:endParaRPr lang="en-US" sz="4450" dirty="0"/>
          </a:p>
        </p:txBody>
      </p:sp>
      <p:sp>
        <p:nvSpPr>
          <p:cNvPr id="3" name="Text 1"/>
          <p:cNvSpPr/>
          <p:nvPr/>
        </p:nvSpPr>
        <p:spPr>
          <a:xfrm>
            <a:off x="1491496" y="2988231"/>
            <a:ext cx="3067764" cy="354330"/>
          </a:xfrm>
          <a:prstGeom prst="rect">
            <a:avLst/>
          </a:prstGeom>
          <a:noFill/>
          <a:ln/>
        </p:spPr>
        <p:txBody>
          <a:bodyPr wrap="none" lIns="0" tIns="0" rIns="0" bIns="0" rtlCol="0" anchor="t"/>
          <a:lstStyle/>
          <a:p>
            <a:pPr algn="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Hyperplane Equation</a:t>
            </a:r>
            <a:endParaRPr lang="en-US" sz="2200" dirty="0"/>
          </a:p>
        </p:txBody>
      </p:sp>
      <p:sp>
        <p:nvSpPr>
          <p:cNvPr id="4" name="Text 2"/>
          <p:cNvSpPr/>
          <p:nvPr/>
        </p:nvSpPr>
        <p:spPr>
          <a:xfrm>
            <a:off x="793790" y="3478649"/>
            <a:ext cx="3765471" cy="362903"/>
          </a:xfrm>
          <a:prstGeom prst="rect">
            <a:avLst/>
          </a:prstGeom>
          <a:noFill/>
          <a:ln/>
        </p:spPr>
        <p:txBody>
          <a:bodyPr wrap="none" lIns="0" tIns="0" rIns="0" bIns="0" rtlCol="0" anchor="t"/>
          <a:lstStyle/>
          <a:p>
            <a:pPr algn="r" indent="0" marL="0">
              <a:lnSpc>
                <a:spcPts val="2850"/>
              </a:lnSpc>
              <a:buNone/>
            </a:pPr>
            <a:r>
              <a:rPr lang="en-US" sz="1750" dirty="0">
                <a:solidFill>
                  <a:srgbClr val="000000"/>
                </a:solidFill>
                <a:latin typeface="Poppins" pitchFamily="34" charset="0"/>
                <a:ea typeface="Poppins" pitchFamily="34" charset="-122"/>
                <a:cs typeface="Poppins" pitchFamily="34" charset="-120"/>
              </a:rPr>
              <a:t>wᵀx + b = 0</a:t>
            </a:r>
            <a:endParaRPr lang="en-US" sz="1750" dirty="0"/>
          </a:p>
        </p:txBody>
      </p:sp>
      <p:pic>
        <p:nvPicPr>
          <p:cNvPr id="5" name="Image 0" descr="preencoded.png">    </p:cNvPr>
          <p:cNvPicPr>
            <a:picLocks noChangeAspect="1"/>
          </p:cNvPicPr>
          <p:nvPr/>
        </p:nvPicPr>
        <p:blipFill>
          <a:blip r:embed="rId1"/>
          <a:stretch>
            <a:fillRect/>
          </a:stretch>
        </p:blipFill>
        <p:spPr>
          <a:xfrm>
            <a:off x="4899422" y="2485311"/>
            <a:ext cx="4421386" cy="4421386"/>
          </a:xfrm>
          <a:prstGeom prst="rect">
            <a:avLst/>
          </a:prstGeom>
        </p:spPr>
      </p:pic>
      <p:sp>
        <p:nvSpPr>
          <p:cNvPr id="6" name="Text 3"/>
          <p:cNvSpPr/>
          <p:nvPr/>
        </p:nvSpPr>
        <p:spPr>
          <a:xfrm>
            <a:off x="6166961" y="3203019"/>
            <a:ext cx="106561" cy="453509"/>
          </a:xfrm>
          <a:prstGeom prst="rect">
            <a:avLst/>
          </a:prstGeom>
          <a:noFill/>
          <a:ln/>
        </p:spPr>
        <p:txBody>
          <a:bodyPr wrap="none" lIns="0" tIns="0" rIns="0" bIns="0" rtlCol="0" anchor="t"/>
          <a:lstStyle/>
          <a:p>
            <a:pPr indent="0" marL="0">
              <a:lnSpc>
                <a:spcPts val="3550"/>
              </a:lnSpc>
              <a:buNone/>
            </a:pPr>
            <a:r>
              <a:rPr lang="en-US" sz="2200" b="1" dirty="0">
                <a:solidFill>
                  <a:srgbClr val="000000"/>
                </a:solidFill>
                <a:latin typeface="Poppins Bold" pitchFamily="34" charset="0"/>
                <a:ea typeface="Poppins Bold" pitchFamily="34" charset="-122"/>
                <a:cs typeface="Poppins Bold" pitchFamily="34" charset="-120"/>
              </a:rPr>
              <a:t>1</a:t>
            </a:r>
            <a:endParaRPr lang="en-US" sz="2200" dirty="0"/>
          </a:p>
        </p:txBody>
      </p:sp>
      <p:sp>
        <p:nvSpPr>
          <p:cNvPr id="7" name="Text 4"/>
          <p:cNvSpPr/>
          <p:nvPr/>
        </p:nvSpPr>
        <p:spPr>
          <a:xfrm>
            <a:off x="9660969" y="2988231"/>
            <a:ext cx="3052763"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Distance Calculation</a:t>
            </a:r>
            <a:endParaRPr lang="en-US" sz="2200" dirty="0"/>
          </a:p>
        </p:txBody>
      </p:sp>
      <p:sp>
        <p:nvSpPr>
          <p:cNvPr id="8" name="Text 5"/>
          <p:cNvSpPr/>
          <p:nvPr/>
        </p:nvSpPr>
        <p:spPr>
          <a:xfrm>
            <a:off x="9660969" y="3478649"/>
            <a:ext cx="3765590" cy="362903"/>
          </a:xfrm>
          <a:prstGeom prst="rect">
            <a:avLst/>
          </a:prstGeom>
          <a:noFill/>
          <a:ln/>
        </p:spPr>
        <p:txBody>
          <a:bodyPr wrap="non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d = (wᵀx + b)/||w||</a:t>
            </a:r>
            <a:endParaRPr lang="en-US" sz="1750" dirty="0"/>
          </a:p>
        </p:txBody>
      </p:sp>
      <p:pic>
        <p:nvPicPr>
          <p:cNvPr id="9" name="Image 1" descr="preencoded.png">    </p:cNvPr>
          <p:cNvPicPr>
            <a:picLocks noChangeAspect="1"/>
          </p:cNvPicPr>
          <p:nvPr/>
        </p:nvPicPr>
        <p:blipFill>
          <a:blip r:embed="rId2"/>
          <a:stretch>
            <a:fillRect/>
          </a:stretch>
        </p:blipFill>
        <p:spPr>
          <a:xfrm>
            <a:off x="4899422" y="2485311"/>
            <a:ext cx="4421386" cy="4421386"/>
          </a:xfrm>
          <a:prstGeom prst="rect">
            <a:avLst/>
          </a:prstGeom>
        </p:spPr>
      </p:pic>
      <p:sp>
        <p:nvSpPr>
          <p:cNvPr id="10" name="Text 6"/>
          <p:cNvSpPr/>
          <p:nvPr/>
        </p:nvSpPr>
        <p:spPr>
          <a:xfrm>
            <a:off x="8295203" y="3579376"/>
            <a:ext cx="161806" cy="453509"/>
          </a:xfrm>
          <a:prstGeom prst="rect">
            <a:avLst/>
          </a:prstGeom>
          <a:noFill/>
          <a:ln/>
        </p:spPr>
        <p:txBody>
          <a:bodyPr wrap="none" lIns="0" tIns="0" rIns="0" bIns="0" rtlCol="0" anchor="t"/>
          <a:lstStyle/>
          <a:p>
            <a:pPr indent="0" marL="0">
              <a:lnSpc>
                <a:spcPts val="3550"/>
              </a:lnSpc>
              <a:buNone/>
            </a:pPr>
            <a:r>
              <a:rPr lang="en-US" sz="2200" b="1" dirty="0">
                <a:solidFill>
                  <a:srgbClr val="000000"/>
                </a:solidFill>
                <a:latin typeface="Poppins Bold" pitchFamily="34" charset="0"/>
                <a:ea typeface="Poppins Bold" pitchFamily="34" charset="-122"/>
                <a:cs typeface="Poppins Bold" pitchFamily="34" charset="-120"/>
              </a:rPr>
              <a:t>2</a:t>
            </a:r>
            <a:endParaRPr lang="en-US" sz="2200" dirty="0"/>
          </a:p>
        </p:txBody>
      </p:sp>
      <p:sp>
        <p:nvSpPr>
          <p:cNvPr id="11" name="Text 7"/>
          <p:cNvSpPr/>
          <p:nvPr/>
        </p:nvSpPr>
        <p:spPr>
          <a:xfrm>
            <a:off x="9660969" y="5187553"/>
            <a:ext cx="3189923"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Optimization Problem</a:t>
            </a:r>
            <a:endParaRPr lang="en-US" sz="2200" dirty="0"/>
          </a:p>
        </p:txBody>
      </p:sp>
      <p:sp>
        <p:nvSpPr>
          <p:cNvPr id="12" name="Text 8"/>
          <p:cNvSpPr/>
          <p:nvPr/>
        </p:nvSpPr>
        <p:spPr>
          <a:xfrm>
            <a:off x="9660969" y="5677972"/>
            <a:ext cx="3765590" cy="725805"/>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Minimize ||w||² subject to constraints</a:t>
            </a:r>
            <a:endParaRPr lang="en-US" sz="1750" dirty="0"/>
          </a:p>
        </p:txBody>
      </p:sp>
      <p:pic>
        <p:nvPicPr>
          <p:cNvPr id="13" name="Image 2" descr="preencoded.png">    </p:cNvPr>
          <p:cNvPicPr>
            <a:picLocks noChangeAspect="1"/>
          </p:cNvPicPr>
          <p:nvPr/>
        </p:nvPicPr>
        <p:blipFill>
          <a:blip r:embed="rId3"/>
          <a:stretch>
            <a:fillRect/>
          </a:stretch>
        </p:blipFill>
        <p:spPr>
          <a:xfrm>
            <a:off x="4899422" y="2485311"/>
            <a:ext cx="4421386" cy="4421386"/>
          </a:xfrm>
          <a:prstGeom prst="rect">
            <a:avLst/>
          </a:prstGeom>
        </p:spPr>
      </p:pic>
      <p:sp>
        <p:nvSpPr>
          <p:cNvPr id="14" name="Text 9"/>
          <p:cNvSpPr/>
          <p:nvPr/>
        </p:nvSpPr>
        <p:spPr>
          <a:xfrm>
            <a:off x="7914084" y="5735241"/>
            <a:ext cx="171450" cy="453509"/>
          </a:xfrm>
          <a:prstGeom prst="rect">
            <a:avLst/>
          </a:prstGeom>
          <a:noFill/>
          <a:ln/>
        </p:spPr>
        <p:txBody>
          <a:bodyPr wrap="none" lIns="0" tIns="0" rIns="0" bIns="0" rtlCol="0" anchor="t"/>
          <a:lstStyle/>
          <a:p>
            <a:pPr indent="0" marL="0">
              <a:lnSpc>
                <a:spcPts val="3550"/>
              </a:lnSpc>
              <a:buNone/>
            </a:pPr>
            <a:r>
              <a:rPr lang="en-US" sz="2200" b="1" dirty="0">
                <a:solidFill>
                  <a:srgbClr val="000000"/>
                </a:solidFill>
                <a:latin typeface="Poppins Bold" pitchFamily="34" charset="0"/>
                <a:ea typeface="Poppins Bold" pitchFamily="34" charset="-122"/>
                <a:cs typeface="Poppins Bold" pitchFamily="34" charset="-120"/>
              </a:rPr>
              <a:t>3</a:t>
            </a:r>
            <a:endParaRPr lang="en-US" sz="2200" dirty="0"/>
          </a:p>
        </p:txBody>
      </p:sp>
      <p:sp>
        <p:nvSpPr>
          <p:cNvPr id="15" name="Text 10"/>
          <p:cNvSpPr/>
          <p:nvPr/>
        </p:nvSpPr>
        <p:spPr>
          <a:xfrm>
            <a:off x="1724025" y="5369004"/>
            <a:ext cx="2835235" cy="354330"/>
          </a:xfrm>
          <a:prstGeom prst="rect">
            <a:avLst/>
          </a:prstGeom>
          <a:noFill/>
          <a:ln/>
        </p:spPr>
        <p:txBody>
          <a:bodyPr wrap="none" lIns="0" tIns="0" rIns="0" bIns="0" rtlCol="0" anchor="t"/>
          <a:lstStyle/>
          <a:p>
            <a:pPr algn="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Classification Rule</a:t>
            </a:r>
            <a:endParaRPr lang="en-US" sz="2200" dirty="0"/>
          </a:p>
        </p:txBody>
      </p:sp>
      <p:sp>
        <p:nvSpPr>
          <p:cNvPr id="16" name="Text 11"/>
          <p:cNvSpPr/>
          <p:nvPr/>
        </p:nvSpPr>
        <p:spPr>
          <a:xfrm>
            <a:off x="793790" y="5859423"/>
            <a:ext cx="3765471" cy="362903"/>
          </a:xfrm>
          <a:prstGeom prst="rect">
            <a:avLst/>
          </a:prstGeom>
          <a:noFill/>
          <a:ln/>
        </p:spPr>
        <p:txBody>
          <a:bodyPr wrap="none" lIns="0" tIns="0" rIns="0" bIns="0" rtlCol="0" anchor="t"/>
          <a:lstStyle/>
          <a:p>
            <a:pPr algn="r" indent="0" marL="0">
              <a:lnSpc>
                <a:spcPts val="2850"/>
              </a:lnSpc>
              <a:buNone/>
            </a:pPr>
            <a:r>
              <a:rPr lang="en-US" sz="1750" dirty="0">
                <a:solidFill>
                  <a:srgbClr val="000000"/>
                </a:solidFill>
                <a:latin typeface="Poppins" pitchFamily="34" charset="0"/>
                <a:ea typeface="Poppins" pitchFamily="34" charset="-122"/>
                <a:cs typeface="Poppins" pitchFamily="34" charset="-120"/>
              </a:rPr>
              <a:t>y = 1 if wᵀx + b ≥ 0, else 0</a:t>
            </a:r>
            <a:endParaRPr lang="en-US" sz="1750" dirty="0"/>
          </a:p>
        </p:txBody>
      </p:sp>
      <p:pic>
        <p:nvPicPr>
          <p:cNvPr id="17" name="Image 3" descr="preencoded.png">    </p:cNvPr>
          <p:cNvPicPr>
            <a:picLocks noChangeAspect="1"/>
          </p:cNvPicPr>
          <p:nvPr/>
        </p:nvPicPr>
        <p:blipFill>
          <a:blip r:embed="rId4"/>
          <a:stretch>
            <a:fillRect/>
          </a:stretch>
        </p:blipFill>
        <p:spPr>
          <a:xfrm>
            <a:off x="4899422" y="2485311"/>
            <a:ext cx="4421386" cy="4421386"/>
          </a:xfrm>
          <a:prstGeom prst="rect">
            <a:avLst/>
          </a:prstGeom>
        </p:spPr>
      </p:pic>
      <p:sp>
        <p:nvSpPr>
          <p:cNvPr id="18" name="Text 12"/>
          <p:cNvSpPr/>
          <p:nvPr/>
        </p:nvSpPr>
        <p:spPr>
          <a:xfrm>
            <a:off x="5747980" y="5358884"/>
            <a:ext cx="191929" cy="453509"/>
          </a:xfrm>
          <a:prstGeom prst="rect">
            <a:avLst/>
          </a:prstGeom>
          <a:noFill/>
          <a:ln/>
        </p:spPr>
        <p:txBody>
          <a:bodyPr wrap="none" lIns="0" tIns="0" rIns="0" bIns="0" rtlCol="0" anchor="t"/>
          <a:lstStyle/>
          <a:p>
            <a:pPr indent="0" marL="0">
              <a:lnSpc>
                <a:spcPts val="3550"/>
              </a:lnSpc>
              <a:buNone/>
            </a:pPr>
            <a:r>
              <a:rPr lang="en-US" sz="2200" b="1" dirty="0">
                <a:solidFill>
                  <a:srgbClr val="000000"/>
                </a:solidFill>
                <a:latin typeface="Poppins Bold" pitchFamily="34" charset="0"/>
                <a:ea typeface="Poppins Bold" pitchFamily="34" charset="-122"/>
                <a:cs typeface="Poppins Bold" pitchFamily="34" charset="-120"/>
              </a:rPr>
              <a:t>4</a:t>
            </a:r>
            <a:endParaRPr lang="en-US" sz="2200" dirty="0"/>
          </a:p>
        </p:txBody>
      </p:sp>
      <p:pic>
        <p:nvPicPr>
          <p:cNvPr id="19" name="Image 4" descr="preencoded.png">    </p:cNvPr>
          <p:cNvPicPr>
            <a:picLocks noChangeAspect="1"/>
          </p:cNvPicPr>
          <p:nvPr/>
        </p:nvPicPr>
        <p:blipFill>
          <a:blip r:embed="rId5"/>
          <a:stretch>
            <a:fillRect/>
          </a:stretch>
        </p:blipFill>
        <p:spPr>
          <a:xfrm>
            <a:off x="13657778" y="228600"/>
            <a:ext cx="744022" cy="63234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793790" y="1371124"/>
            <a:ext cx="7248882"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Hard vs. Soft Margin SVM</a:t>
            </a:r>
            <a:endParaRPr lang="en-US" sz="4450" dirty="0"/>
          </a:p>
        </p:txBody>
      </p:sp>
      <p:pic>
        <p:nvPicPr>
          <p:cNvPr id="3" name="Image 0" descr="preencoded.png">    </p:cNvPr>
          <p:cNvPicPr>
            <a:picLocks noChangeAspect="1"/>
          </p:cNvPicPr>
          <p:nvPr/>
        </p:nvPicPr>
        <p:blipFill>
          <a:blip r:embed="rId1"/>
          <a:stretch>
            <a:fillRect/>
          </a:stretch>
        </p:blipFill>
        <p:spPr>
          <a:xfrm>
            <a:off x="793790" y="2533531"/>
            <a:ext cx="3984069" cy="2462332"/>
          </a:xfrm>
          <a:prstGeom prst="rect">
            <a:avLst/>
          </a:prstGeom>
        </p:spPr>
      </p:pic>
      <p:sp>
        <p:nvSpPr>
          <p:cNvPr id="4" name="Text 1"/>
          <p:cNvSpPr/>
          <p:nvPr/>
        </p:nvSpPr>
        <p:spPr>
          <a:xfrm>
            <a:off x="793790" y="527935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Hard Margin SVM</a:t>
            </a:r>
            <a:endParaRPr lang="en-US" sz="2200" dirty="0"/>
          </a:p>
        </p:txBody>
      </p:sp>
      <p:sp>
        <p:nvSpPr>
          <p:cNvPr id="5" name="Text 2"/>
          <p:cNvSpPr/>
          <p:nvPr/>
        </p:nvSpPr>
        <p:spPr>
          <a:xfrm>
            <a:off x="793790" y="5769769"/>
            <a:ext cx="3984069" cy="1088708"/>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Perfect separation of classes. No misclassifications allowed. Works only with linearly separable data.</a:t>
            </a:r>
            <a:endParaRPr lang="en-US" sz="1750" dirty="0"/>
          </a:p>
        </p:txBody>
      </p:sp>
      <p:pic>
        <p:nvPicPr>
          <p:cNvPr id="6" name="Image 1" descr="preencoded.png">    </p:cNvPr>
          <p:cNvPicPr>
            <a:picLocks noChangeAspect="1"/>
          </p:cNvPicPr>
          <p:nvPr/>
        </p:nvPicPr>
        <p:blipFill>
          <a:blip r:embed="rId2"/>
          <a:stretch>
            <a:fillRect/>
          </a:stretch>
        </p:blipFill>
        <p:spPr>
          <a:xfrm>
            <a:off x="5118021" y="2533531"/>
            <a:ext cx="3984188" cy="2462332"/>
          </a:xfrm>
          <a:prstGeom prst="rect">
            <a:avLst/>
          </a:prstGeom>
        </p:spPr>
      </p:pic>
      <p:sp>
        <p:nvSpPr>
          <p:cNvPr id="7" name="Text 3"/>
          <p:cNvSpPr/>
          <p:nvPr/>
        </p:nvSpPr>
        <p:spPr>
          <a:xfrm>
            <a:off x="5118021" y="5279350"/>
            <a:ext cx="2835235"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Soft Margin SVM</a:t>
            </a:r>
            <a:endParaRPr lang="en-US" sz="2200" dirty="0"/>
          </a:p>
        </p:txBody>
      </p:sp>
      <p:sp>
        <p:nvSpPr>
          <p:cNvPr id="8" name="Text 4"/>
          <p:cNvSpPr/>
          <p:nvPr/>
        </p:nvSpPr>
        <p:spPr>
          <a:xfrm>
            <a:off x="5118021" y="5769769"/>
            <a:ext cx="3984188" cy="1088708"/>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Allows some misclassifications. Uses slack variables ζᵢ. Controlled by parameter C.</a:t>
            </a:r>
            <a:endParaRPr lang="en-US" sz="1750" dirty="0"/>
          </a:p>
        </p:txBody>
      </p:sp>
      <p:pic>
        <p:nvPicPr>
          <p:cNvPr id="9" name="Image 2" descr="preencoded.png">    </p:cNvPr>
          <p:cNvPicPr>
            <a:picLocks noChangeAspect="1"/>
          </p:cNvPicPr>
          <p:nvPr/>
        </p:nvPicPr>
        <p:blipFill>
          <a:blip r:embed="rId3"/>
          <a:stretch>
            <a:fillRect/>
          </a:stretch>
        </p:blipFill>
        <p:spPr>
          <a:xfrm>
            <a:off x="9442371" y="2533531"/>
            <a:ext cx="3984188" cy="2462332"/>
          </a:xfrm>
          <a:prstGeom prst="rect">
            <a:avLst/>
          </a:prstGeom>
        </p:spPr>
      </p:pic>
      <p:sp>
        <p:nvSpPr>
          <p:cNvPr id="10" name="Text 5"/>
          <p:cNvSpPr/>
          <p:nvPr/>
        </p:nvSpPr>
        <p:spPr>
          <a:xfrm>
            <a:off x="9442371" y="5279350"/>
            <a:ext cx="3063002" cy="354330"/>
          </a:xfrm>
          <a:prstGeom prst="rect">
            <a:avLst/>
          </a:prstGeom>
          <a:noFill/>
          <a:ln/>
        </p:spPr>
        <p:txBody>
          <a:bodyPr wrap="none" lIns="0" tIns="0" rIns="0" bIns="0" rtlCol="0" anchor="t"/>
          <a:lstStyle/>
          <a:p>
            <a:pPr algn="l"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Practical Application</a:t>
            </a:r>
            <a:endParaRPr lang="en-US" sz="2200" dirty="0"/>
          </a:p>
        </p:txBody>
      </p:sp>
      <p:sp>
        <p:nvSpPr>
          <p:cNvPr id="11" name="Text 6"/>
          <p:cNvSpPr/>
          <p:nvPr/>
        </p:nvSpPr>
        <p:spPr>
          <a:xfrm>
            <a:off x="9442371" y="5769769"/>
            <a:ext cx="3984188" cy="1088708"/>
          </a:xfrm>
          <a:prstGeom prst="rect">
            <a:avLst/>
          </a:prstGeom>
          <a:noFill/>
          <a:ln/>
        </p:spPr>
        <p:txBody>
          <a:bodyPr wrap="square" lIns="0" tIns="0" rIns="0" bIns="0" rtlCol="0" anchor="t"/>
          <a:lstStyle/>
          <a:p>
            <a:pPr algn="l" indent="0" marL="0">
              <a:lnSpc>
                <a:spcPts val="2850"/>
              </a:lnSpc>
              <a:buNone/>
            </a:pPr>
            <a:r>
              <a:rPr lang="en-US" sz="1750" dirty="0">
                <a:solidFill>
                  <a:srgbClr val="000000"/>
                </a:solidFill>
                <a:latin typeface="Poppins" pitchFamily="34" charset="0"/>
                <a:ea typeface="Poppins" pitchFamily="34" charset="-122"/>
                <a:cs typeface="Poppins" pitchFamily="34" charset="-120"/>
              </a:rPr>
              <a:t>Soft margin is more practical for real-world noisy data. Prevents overfitting to outliers.</a:t>
            </a:r>
            <a:endParaRPr lang="en-US" sz="1750" dirty="0"/>
          </a:p>
        </p:txBody>
      </p:sp>
      <p:pic>
        <p:nvPicPr>
          <p:cNvPr id="12" name="Image 3" descr="preencoded.png">    </p:cNvPr>
          <p:cNvPicPr>
            <a:picLocks noChangeAspect="1"/>
          </p:cNvPicPr>
          <p:nvPr/>
        </p:nvPicPr>
        <p:blipFill>
          <a:blip r:embed="rId4"/>
          <a:stretch>
            <a:fillRect/>
          </a:stretch>
        </p:blipFill>
        <p:spPr>
          <a:xfrm>
            <a:off x="13657778" y="228600"/>
            <a:ext cx="744022" cy="63234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793790" y="704136"/>
            <a:ext cx="5670590" cy="708779"/>
          </a:xfrm>
          <a:prstGeom prst="rect">
            <a:avLst/>
          </a:prstGeom>
          <a:noFill/>
          <a:ln/>
        </p:spPr>
        <p:txBody>
          <a:bodyPr wrap="non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SVM Types</a:t>
            </a:r>
            <a:endParaRPr lang="en-US" sz="4450" dirty="0"/>
          </a:p>
        </p:txBody>
      </p:sp>
      <p:pic>
        <p:nvPicPr>
          <p:cNvPr id="3" name="Image 0" descr="preencoded.png">    </p:cNvPr>
          <p:cNvPicPr>
            <a:picLocks noChangeAspect="1"/>
          </p:cNvPicPr>
          <p:nvPr/>
        </p:nvPicPr>
        <p:blipFill>
          <a:blip r:embed="rId1"/>
          <a:stretch>
            <a:fillRect/>
          </a:stretch>
        </p:blipFill>
        <p:spPr>
          <a:xfrm>
            <a:off x="793790" y="2008227"/>
            <a:ext cx="6039683" cy="3388043"/>
          </a:xfrm>
          <a:prstGeom prst="rect">
            <a:avLst/>
          </a:prstGeom>
        </p:spPr>
      </p:pic>
      <p:sp>
        <p:nvSpPr>
          <p:cNvPr id="4" name="Text 1"/>
          <p:cNvSpPr/>
          <p:nvPr/>
        </p:nvSpPr>
        <p:spPr>
          <a:xfrm>
            <a:off x="793790" y="5651421"/>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Linear SVM</a:t>
            </a:r>
            <a:endParaRPr lang="en-US" sz="2200" dirty="0"/>
          </a:p>
        </p:txBody>
      </p:sp>
      <p:sp>
        <p:nvSpPr>
          <p:cNvPr id="5" name="Text 2"/>
          <p:cNvSpPr/>
          <p:nvPr/>
        </p:nvSpPr>
        <p:spPr>
          <a:xfrm>
            <a:off x="793790" y="6232565"/>
            <a:ext cx="6039683" cy="1088708"/>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Uses linear decision boundary. Suitable for linearly separable data. Simple hyperplane separates classes.</a:t>
            </a:r>
            <a:endParaRPr lang="en-US" sz="1750" dirty="0"/>
          </a:p>
        </p:txBody>
      </p:sp>
      <p:pic>
        <p:nvPicPr>
          <p:cNvPr id="6" name="Image 1" descr="preencoded.png">    </p:cNvPr>
          <p:cNvPicPr>
            <a:picLocks noChangeAspect="1"/>
          </p:cNvPicPr>
          <p:nvPr/>
        </p:nvPicPr>
        <p:blipFill>
          <a:blip r:embed="rId2"/>
          <a:stretch>
            <a:fillRect/>
          </a:stretch>
        </p:blipFill>
        <p:spPr>
          <a:xfrm>
            <a:off x="7394496" y="2008227"/>
            <a:ext cx="6039683" cy="3388043"/>
          </a:xfrm>
          <a:prstGeom prst="rect">
            <a:avLst/>
          </a:prstGeom>
        </p:spPr>
      </p:pic>
      <p:sp>
        <p:nvSpPr>
          <p:cNvPr id="7" name="Text 3"/>
          <p:cNvSpPr/>
          <p:nvPr/>
        </p:nvSpPr>
        <p:spPr>
          <a:xfrm>
            <a:off x="7394496" y="5651421"/>
            <a:ext cx="2835235" cy="354330"/>
          </a:xfrm>
          <a:prstGeom prst="rect">
            <a:avLst/>
          </a:prstGeom>
          <a:noFill/>
          <a:ln/>
        </p:spPr>
        <p:txBody>
          <a:bodyPr wrap="none" lIns="0" tIns="0" rIns="0" bIns="0" rtlCol="0" anchor="t"/>
          <a:lstStyle/>
          <a:p>
            <a:pPr indent="0" marL="0">
              <a:lnSpc>
                <a:spcPts val="2750"/>
              </a:lnSpc>
              <a:buNone/>
            </a:pPr>
            <a:r>
              <a:rPr lang="en-US" sz="2200" b="1" dirty="0">
                <a:solidFill>
                  <a:srgbClr val="000000"/>
                </a:solidFill>
                <a:latin typeface="Poppins Bold" pitchFamily="34" charset="0"/>
                <a:ea typeface="Poppins Bold" pitchFamily="34" charset="-122"/>
                <a:cs typeface="Poppins Bold" pitchFamily="34" charset="-120"/>
              </a:rPr>
              <a:t>Non-Linear SVM</a:t>
            </a:r>
            <a:endParaRPr lang="en-US" sz="2200" dirty="0"/>
          </a:p>
        </p:txBody>
      </p:sp>
      <p:sp>
        <p:nvSpPr>
          <p:cNvPr id="8" name="Text 4"/>
          <p:cNvSpPr/>
          <p:nvPr/>
        </p:nvSpPr>
        <p:spPr>
          <a:xfrm>
            <a:off x="7394496" y="6232565"/>
            <a:ext cx="6039683" cy="725805"/>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Uses kernel functions. Transforms data to higher dimensions. Finds non-linear decision boundaries.</a:t>
            </a:r>
            <a:endParaRPr lang="en-US" sz="1750" dirty="0"/>
          </a:p>
        </p:txBody>
      </p:sp>
      <p:pic>
        <p:nvPicPr>
          <p:cNvPr id="9" name="Image 2" descr="preencoded.png">    </p:cNvPr>
          <p:cNvPicPr>
            <a:picLocks noChangeAspect="1"/>
          </p:cNvPicPr>
          <p:nvPr/>
        </p:nvPicPr>
        <p:blipFill>
          <a:blip r:embed="rId3"/>
          <a:stretch>
            <a:fillRect/>
          </a:stretch>
        </p:blipFill>
        <p:spPr>
          <a:xfrm>
            <a:off x="13657778" y="228600"/>
            <a:ext cx="744022" cy="6323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375773"/>
          </a:xfrm>
          <a:prstGeom prst="rect">
            <a:avLst/>
          </a:prstGeom>
        </p:spPr>
      </p:pic>
      <p:sp>
        <p:nvSpPr>
          <p:cNvPr id="3" name="Text 0"/>
          <p:cNvSpPr/>
          <p:nvPr/>
        </p:nvSpPr>
        <p:spPr>
          <a:xfrm>
            <a:off x="665202" y="2898457"/>
            <a:ext cx="5819061" cy="593884"/>
          </a:xfrm>
          <a:prstGeom prst="rect">
            <a:avLst/>
          </a:prstGeom>
          <a:noFill/>
          <a:ln/>
        </p:spPr>
        <p:txBody>
          <a:bodyPr wrap="none" lIns="0" tIns="0" rIns="0" bIns="0" rtlCol="0" anchor="t"/>
          <a:lstStyle/>
          <a:p>
            <a:pPr indent="0" marL="0">
              <a:lnSpc>
                <a:spcPts val="4650"/>
              </a:lnSpc>
              <a:buNone/>
            </a:pPr>
            <a:r>
              <a:rPr lang="en-US" sz="3700" b="1" dirty="0">
                <a:solidFill>
                  <a:srgbClr val="000000"/>
                </a:solidFill>
                <a:latin typeface="Poppins Bold" pitchFamily="34" charset="0"/>
                <a:ea typeface="Poppins Bold" pitchFamily="34" charset="-122"/>
                <a:cs typeface="Poppins Bold" pitchFamily="34" charset="-120"/>
              </a:rPr>
              <a:t>Python Implementation</a:t>
            </a:r>
            <a:endParaRPr lang="en-US" sz="3700" dirty="0"/>
          </a:p>
        </p:txBody>
      </p:sp>
      <p:sp>
        <p:nvSpPr>
          <p:cNvPr id="4" name="Shape 1"/>
          <p:cNvSpPr/>
          <p:nvPr/>
        </p:nvSpPr>
        <p:spPr>
          <a:xfrm>
            <a:off x="665202" y="3777377"/>
            <a:ext cx="13299996" cy="3932634"/>
          </a:xfrm>
          <a:prstGeom prst="roundRect">
            <a:avLst>
              <a:gd name="adj" fmla="val 2030"/>
            </a:avLst>
          </a:prstGeom>
          <a:solidFill>
            <a:srgbClr val="E7D8F3"/>
          </a:solidFill>
          <a:ln/>
        </p:spPr>
      </p:sp>
      <p:sp>
        <p:nvSpPr>
          <p:cNvPr id="5" name="Shape 2"/>
          <p:cNvSpPr/>
          <p:nvPr/>
        </p:nvSpPr>
        <p:spPr>
          <a:xfrm>
            <a:off x="655796" y="3777377"/>
            <a:ext cx="13318808" cy="3932634"/>
          </a:xfrm>
          <a:prstGeom prst="roundRect">
            <a:avLst>
              <a:gd name="adj" fmla="val 725"/>
            </a:avLst>
          </a:prstGeom>
          <a:solidFill>
            <a:srgbClr val="E7D8F3"/>
          </a:solidFill>
          <a:ln/>
        </p:spPr>
      </p:sp>
      <p:sp>
        <p:nvSpPr>
          <p:cNvPr id="6" name="Text 3"/>
          <p:cNvSpPr/>
          <p:nvPr/>
        </p:nvSpPr>
        <p:spPr>
          <a:xfrm>
            <a:off x="845820" y="3919895"/>
            <a:ext cx="12938760" cy="3647599"/>
          </a:xfrm>
          <a:prstGeom prst="rect">
            <a:avLst/>
          </a:prstGeom>
          <a:noFill/>
          <a:ln/>
        </p:spPr>
        <p:txBody>
          <a:bodyPr wrap="square" lIns="0" tIns="0" rIns="0" bIns="0" rtlCol="0" anchor="t"/>
          <a:lstStyle/>
          <a:p>
            <a:pPr indent="0" marL="0">
              <a:lnSpc>
                <a:spcPts val="2350"/>
              </a:lnSpc>
              <a:buNone/>
            </a:pPr>
            <a:r>
              <a:rPr lang="en-US" sz="1450" dirty="0">
                <a:solidFill>
                  <a:srgbClr val="000000"/>
                </a:solidFill>
                <a:highlight>
                  <a:srgbClr val="E7D8F3"/>
                </a:highlight>
                <a:latin typeface="Consolas" pitchFamily="34" charset="0"/>
                <a:ea typeface="Consolas" pitchFamily="34" charset="-122"/>
                <a:cs typeface="Consolas" pitchFamily="34" charset="-120"/>
              </a:rPr>
              <a:t>from sklearn.datasets import load_breast_cancer
import matplotlib.pyplot as plt
from sklearn.inspection import DecisionBoundaryDisplay
from sklearn.svm import SVC
cancer = load_breast_cancer()
X = cancer.data[:, :2]
y = cancer.target
svm = SVC(kernel="rbf", gamma=0.5, C=1.0)
svm.fit(X, y)
</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44000" y="0"/>
            <a:ext cx="5486400" cy="8229600"/>
          </a:xfrm>
          <a:prstGeom prst="rect">
            <a:avLst/>
          </a:prstGeom>
        </p:spPr>
      </p:pic>
      <p:sp>
        <p:nvSpPr>
          <p:cNvPr id="3" name="Text 0"/>
          <p:cNvSpPr/>
          <p:nvPr/>
        </p:nvSpPr>
        <p:spPr>
          <a:xfrm>
            <a:off x="793790" y="1421011"/>
            <a:ext cx="7556421" cy="1417558"/>
          </a:xfrm>
          <a:prstGeom prst="rect">
            <a:avLst/>
          </a:prstGeom>
          <a:noFill/>
          <a:ln/>
        </p:spPr>
        <p:txBody>
          <a:bodyPr wrap="square" lIns="0" tIns="0" rIns="0" bIns="0" rtlCol="0" anchor="t"/>
          <a:lstStyle/>
          <a:p>
            <a:pPr indent="0" marL="0">
              <a:lnSpc>
                <a:spcPts val="5550"/>
              </a:lnSpc>
              <a:buNone/>
            </a:pPr>
            <a:r>
              <a:rPr lang="en-US" sz="4450" b="1" dirty="0">
                <a:solidFill>
                  <a:srgbClr val="000000"/>
                </a:solidFill>
                <a:latin typeface="Poppins Bold" pitchFamily="34" charset="0"/>
                <a:ea typeface="Poppins Bold" pitchFamily="34" charset="-122"/>
                <a:cs typeface="Poppins Bold" pitchFamily="34" charset="-120"/>
              </a:rPr>
              <a:t>Breast Cancer Classification Results</a:t>
            </a:r>
            <a:endParaRPr lang="en-US" sz="4450" dirty="0"/>
          </a:p>
        </p:txBody>
      </p:sp>
      <p:sp>
        <p:nvSpPr>
          <p:cNvPr id="4" name="Shape 1"/>
          <p:cNvSpPr/>
          <p:nvPr/>
        </p:nvSpPr>
        <p:spPr>
          <a:xfrm>
            <a:off x="793790" y="3178731"/>
            <a:ext cx="7556421" cy="3629739"/>
          </a:xfrm>
          <a:prstGeom prst="roundRect">
            <a:avLst>
              <a:gd name="adj" fmla="val 2625"/>
            </a:avLst>
          </a:prstGeom>
          <a:noFill/>
          <a:ln w="7620">
            <a:solidFill>
              <a:srgbClr val="000000">
                <a:alpha val="8000"/>
              </a:srgbClr>
            </a:solidFill>
            <a:prstDash val="solid"/>
          </a:ln>
        </p:spPr>
      </p:sp>
      <p:sp>
        <p:nvSpPr>
          <p:cNvPr id="5" name="Shape 2"/>
          <p:cNvSpPr/>
          <p:nvPr/>
        </p:nvSpPr>
        <p:spPr>
          <a:xfrm>
            <a:off x="801410" y="3186351"/>
            <a:ext cx="7541181" cy="650319"/>
          </a:xfrm>
          <a:prstGeom prst="rect">
            <a:avLst/>
          </a:prstGeom>
          <a:solidFill>
            <a:srgbClr val="FFFFFF">
              <a:alpha val="4000"/>
            </a:srgbClr>
          </a:solidFill>
          <a:ln/>
        </p:spPr>
      </p:sp>
      <p:sp>
        <p:nvSpPr>
          <p:cNvPr id="6" name="Text 3"/>
          <p:cNvSpPr/>
          <p:nvPr/>
        </p:nvSpPr>
        <p:spPr>
          <a:xfrm>
            <a:off x="1028224" y="3330059"/>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Dataset</a:t>
            </a:r>
            <a:endParaRPr lang="en-US" sz="1750" dirty="0"/>
          </a:p>
        </p:txBody>
      </p:sp>
      <p:sp>
        <p:nvSpPr>
          <p:cNvPr id="7" name="Text 4"/>
          <p:cNvSpPr/>
          <p:nvPr/>
        </p:nvSpPr>
        <p:spPr>
          <a:xfrm>
            <a:off x="4802624" y="3330059"/>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Breast Cancer Wisconsin</a:t>
            </a:r>
            <a:endParaRPr lang="en-US" sz="1750" dirty="0"/>
          </a:p>
        </p:txBody>
      </p:sp>
      <p:sp>
        <p:nvSpPr>
          <p:cNvPr id="8" name="Shape 5"/>
          <p:cNvSpPr/>
          <p:nvPr/>
        </p:nvSpPr>
        <p:spPr>
          <a:xfrm>
            <a:off x="801410" y="3836670"/>
            <a:ext cx="7541181" cy="650319"/>
          </a:xfrm>
          <a:prstGeom prst="rect">
            <a:avLst/>
          </a:prstGeom>
          <a:solidFill>
            <a:srgbClr val="000000">
              <a:alpha val="4000"/>
            </a:srgbClr>
          </a:solidFill>
          <a:ln/>
        </p:spPr>
      </p:sp>
      <p:sp>
        <p:nvSpPr>
          <p:cNvPr id="9" name="Text 6"/>
          <p:cNvSpPr/>
          <p:nvPr/>
        </p:nvSpPr>
        <p:spPr>
          <a:xfrm>
            <a:off x="1028224" y="3980378"/>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Features Used</a:t>
            </a:r>
            <a:endParaRPr lang="en-US" sz="1750" dirty="0"/>
          </a:p>
        </p:txBody>
      </p:sp>
      <p:sp>
        <p:nvSpPr>
          <p:cNvPr id="10" name="Text 7"/>
          <p:cNvSpPr/>
          <p:nvPr/>
        </p:nvSpPr>
        <p:spPr>
          <a:xfrm>
            <a:off x="4802624" y="3980378"/>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First two features only</a:t>
            </a:r>
            <a:endParaRPr lang="en-US" sz="1750" dirty="0"/>
          </a:p>
        </p:txBody>
      </p:sp>
      <p:sp>
        <p:nvSpPr>
          <p:cNvPr id="11" name="Shape 8"/>
          <p:cNvSpPr/>
          <p:nvPr/>
        </p:nvSpPr>
        <p:spPr>
          <a:xfrm>
            <a:off x="801410" y="4486989"/>
            <a:ext cx="7541181" cy="650319"/>
          </a:xfrm>
          <a:prstGeom prst="rect">
            <a:avLst/>
          </a:prstGeom>
          <a:solidFill>
            <a:srgbClr val="FFFFFF">
              <a:alpha val="4000"/>
            </a:srgbClr>
          </a:solidFill>
          <a:ln/>
        </p:spPr>
      </p:sp>
      <p:sp>
        <p:nvSpPr>
          <p:cNvPr id="12" name="Text 9"/>
          <p:cNvSpPr/>
          <p:nvPr/>
        </p:nvSpPr>
        <p:spPr>
          <a:xfrm>
            <a:off x="1028224" y="4630698"/>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Model</a:t>
            </a:r>
            <a:endParaRPr lang="en-US" sz="1750" dirty="0"/>
          </a:p>
        </p:txBody>
      </p:sp>
      <p:sp>
        <p:nvSpPr>
          <p:cNvPr id="13" name="Text 10"/>
          <p:cNvSpPr/>
          <p:nvPr/>
        </p:nvSpPr>
        <p:spPr>
          <a:xfrm>
            <a:off x="4802624" y="4630698"/>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SVM with RBF kernel</a:t>
            </a:r>
            <a:endParaRPr lang="en-US" sz="1750" dirty="0"/>
          </a:p>
        </p:txBody>
      </p:sp>
      <p:sp>
        <p:nvSpPr>
          <p:cNvPr id="14" name="Shape 11"/>
          <p:cNvSpPr/>
          <p:nvPr/>
        </p:nvSpPr>
        <p:spPr>
          <a:xfrm>
            <a:off x="801410" y="5137309"/>
            <a:ext cx="7541181" cy="650319"/>
          </a:xfrm>
          <a:prstGeom prst="rect">
            <a:avLst/>
          </a:prstGeom>
          <a:solidFill>
            <a:srgbClr val="000000">
              <a:alpha val="4000"/>
            </a:srgbClr>
          </a:solidFill>
          <a:ln/>
        </p:spPr>
      </p:sp>
      <p:sp>
        <p:nvSpPr>
          <p:cNvPr id="15" name="Text 12"/>
          <p:cNvSpPr/>
          <p:nvPr/>
        </p:nvSpPr>
        <p:spPr>
          <a:xfrm>
            <a:off x="1028224" y="5281017"/>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Parameters</a:t>
            </a:r>
            <a:endParaRPr lang="en-US" sz="1750" dirty="0"/>
          </a:p>
        </p:txBody>
      </p:sp>
      <p:sp>
        <p:nvSpPr>
          <p:cNvPr id="16" name="Text 13"/>
          <p:cNvSpPr/>
          <p:nvPr/>
        </p:nvSpPr>
        <p:spPr>
          <a:xfrm>
            <a:off x="4802624" y="5281017"/>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gamma=0.5, C=1.0</a:t>
            </a:r>
            <a:endParaRPr lang="en-US" sz="1750" dirty="0"/>
          </a:p>
        </p:txBody>
      </p:sp>
      <p:sp>
        <p:nvSpPr>
          <p:cNvPr id="17" name="Shape 14"/>
          <p:cNvSpPr/>
          <p:nvPr/>
        </p:nvSpPr>
        <p:spPr>
          <a:xfrm>
            <a:off x="801410" y="5787628"/>
            <a:ext cx="7541181" cy="1013222"/>
          </a:xfrm>
          <a:prstGeom prst="rect">
            <a:avLst/>
          </a:prstGeom>
          <a:solidFill>
            <a:srgbClr val="FFFFFF">
              <a:alpha val="4000"/>
            </a:srgbClr>
          </a:solidFill>
          <a:ln/>
        </p:spPr>
      </p:sp>
      <p:sp>
        <p:nvSpPr>
          <p:cNvPr id="18" name="Text 15"/>
          <p:cNvSpPr/>
          <p:nvPr/>
        </p:nvSpPr>
        <p:spPr>
          <a:xfrm>
            <a:off x="1028224" y="5931337"/>
            <a:ext cx="3313152" cy="362903"/>
          </a:xfrm>
          <a:prstGeom prst="rect">
            <a:avLst/>
          </a:prstGeom>
          <a:noFill/>
          <a:ln/>
        </p:spPr>
        <p:txBody>
          <a:bodyPr wrap="non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Visualization</a:t>
            </a:r>
            <a:endParaRPr lang="en-US" sz="1750" dirty="0"/>
          </a:p>
        </p:txBody>
      </p:sp>
      <p:sp>
        <p:nvSpPr>
          <p:cNvPr id="19" name="Text 16"/>
          <p:cNvSpPr/>
          <p:nvPr/>
        </p:nvSpPr>
        <p:spPr>
          <a:xfrm>
            <a:off x="4802624" y="5931337"/>
            <a:ext cx="3313152" cy="725805"/>
          </a:xfrm>
          <a:prstGeom prst="rect">
            <a:avLst/>
          </a:prstGeom>
          <a:noFill/>
          <a:ln/>
        </p:spPr>
        <p:txBody>
          <a:bodyPr wrap="square" lIns="0" tIns="0" rIns="0" bIns="0" rtlCol="0" anchor="t"/>
          <a:lstStyle/>
          <a:p>
            <a:pPr indent="0" marL="0">
              <a:lnSpc>
                <a:spcPts val="2850"/>
              </a:lnSpc>
              <a:buNone/>
            </a:pPr>
            <a:r>
              <a:rPr lang="en-US" sz="1750" dirty="0">
                <a:solidFill>
                  <a:srgbClr val="000000"/>
                </a:solidFill>
                <a:latin typeface="Poppins" pitchFamily="34" charset="0"/>
                <a:ea typeface="Poppins" pitchFamily="34" charset="-122"/>
                <a:cs typeface="Poppins" pitchFamily="34" charset="-120"/>
              </a:rPr>
              <a:t>Decision boundary with scatter plot</a:t>
            </a:r>
            <a:endParaRPr lang="en-US" sz="1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20554" y="487561"/>
            <a:ext cx="4439126" cy="553998"/>
          </a:xfrm>
          <a:prstGeom prst="rect">
            <a:avLst/>
          </a:prstGeom>
          <a:noFill/>
          <a:ln/>
        </p:spPr>
        <p:txBody>
          <a:bodyPr wrap="none" lIns="0" tIns="0" rIns="0" bIns="0" rtlCol="0" anchor="t"/>
          <a:lstStyle/>
          <a:p>
            <a:pPr indent="0" marL="0">
              <a:lnSpc>
                <a:spcPts val="4350"/>
              </a:lnSpc>
              <a:buNone/>
            </a:pPr>
            <a:r>
              <a:rPr lang="en-US" sz="3450" b="1" dirty="0">
                <a:solidFill>
                  <a:srgbClr val="000000"/>
                </a:solidFill>
                <a:latin typeface="Poppins Bold" pitchFamily="34" charset="0"/>
                <a:ea typeface="Poppins Bold" pitchFamily="34" charset="-122"/>
                <a:cs typeface="Poppins Bold" pitchFamily="34" charset="-120"/>
              </a:rPr>
              <a:t>Advantages of SVM</a:t>
            </a:r>
            <a:endParaRPr lang="en-US" sz="3450" dirty="0"/>
          </a:p>
        </p:txBody>
      </p:sp>
      <p:pic>
        <p:nvPicPr>
          <p:cNvPr id="3" name="Image 0" descr="preencoded.png">    </p:cNvPr>
          <p:cNvPicPr>
            <a:picLocks noChangeAspect="1"/>
          </p:cNvPicPr>
          <p:nvPr/>
        </p:nvPicPr>
        <p:blipFill>
          <a:blip r:embed="rId1"/>
          <a:stretch>
            <a:fillRect/>
          </a:stretch>
        </p:blipFill>
        <p:spPr>
          <a:xfrm>
            <a:off x="620554" y="1396127"/>
            <a:ext cx="10010775" cy="5605939"/>
          </a:xfrm>
          <a:prstGeom prst="rect">
            <a:avLst/>
          </a:prstGeom>
        </p:spPr>
      </p:pic>
      <p:sp>
        <p:nvSpPr>
          <p:cNvPr id="4" name="Text 1"/>
          <p:cNvSpPr/>
          <p:nvPr/>
        </p:nvSpPr>
        <p:spPr>
          <a:xfrm>
            <a:off x="620554" y="7201495"/>
            <a:ext cx="12806005" cy="567214"/>
          </a:xfrm>
          <a:prstGeom prst="rect">
            <a:avLst/>
          </a:prstGeom>
          <a:noFill/>
          <a:ln/>
        </p:spPr>
        <p:txBody>
          <a:bodyPr wrap="square" lIns="0" tIns="0" rIns="0" bIns="0" rtlCol="0" anchor="t"/>
          <a:lstStyle/>
          <a:p>
            <a:pPr indent="0" marL="0">
              <a:lnSpc>
                <a:spcPts val="2200"/>
              </a:lnSpc>
              <a:buNone/>
            </a:pPr>
            <a:r>
              <a:rPr lang="en-US" sz="1350" dirty="0">
                <a:solidFill>
                  <a:srgbClr val="000000"/>
                </a:solidFill>
                <a:latin typeface="Poppins" pitchFamily="34" charset="0"/>
                <a:ea typeface="Poppins" pitchFamily="34" charset="-122"/>
                <a:cs typeface="Poppins" pitchFamily="34" charset="-120"/>
              </a:rPr>
              <a:t>SVM excels in high-dimensional spaces like image classification. It handles nonlinear relationships with kernels and resists outliers with soft margins. Works for both binary and multiclass problems.</a:t>
            </a:r>
            <a:endParaRPr lang="en-US" sz="1350" dirty="0"/>
          </a:p>
        </p:txBody>
      </p:sp>
      <p:pic>
        <p:nvPicPr>
          <p:cNvPr id="5" name="Image 1" descr="preencoded.png">    </p:cNvPr>
          <p:cNvPicPr>
            <a:picLocks noChangeAspect="1"/>
          </p:cNvPicPr>
          <p:nvPr/>
        </p:nvPicPr>
        <p:blipFill>
          <a:blip r:embed="rId2"/>
          <a:stretch>
            <a:fillRect/>
          </a:stretch>
        </p:blipFill>
        <p:spPr>
          <a:xfrm>
            <a:off x="13657778" y="228600"/>
            <a:ext cx="744022" cy="63234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4630400" cy="2214086"/>
          </a:xfrm>
          <a:prstGeom prst="rect">
            <a:avLst/>
          </a:prstGeom>
        </p:spPr>
      </p:pic>
      <p:sp>
        <p:nvSpPr>
          <p:cNvPr id="3" name="Text 0"/>
          <p:cNvSpPr/>
          <p:nvPr/>
        </p:nvSpPr>
        <p:spPr>
          <a:xfrm>
            <a:off x="619958" y="2844403"/>
            <a:ext cx="5109448" cy="553403"/>
          </a:xfrm>
          <a:prstGeom prst="rect">
            <a:avLst/>
          </a:prstGeom>
          <a:noFill/>
          <a:ln/>
        </p:spPr>
        <p:txBody>
          <a:bodyPr wrap="none" lIns="0" tIns="0" rIns="0" bIns="0" rtlCol="0" anchor="t"/>
          <a:lstStyle/>
          <a:p>
            <a:pPr indent="0" marL="0">
              <a:lnSpc>
                <a:spcPts val="4350"/>
              </a:lnSpc>
              <a:buNone/>
            </a:pPr>
            <a:r>
              <a:rPr lang="en-US" sz="3450" b="1" dirty="0">
                <a:solidFill>
                  <a:srgbClr val="000000"/>
                </a:solidFill>
                <a:latin typeface="Poppins Bold" pitchFamily="34" charset="0"/>
                <a:ea typeface="Poppins Bold" pitchFamily="34" charset="-122"/>
                <a:cs typeface="Poppins Bold" pitchFamily="34" charset="-120"/>
              </a:rPr>
              <a:t>Disadvantages of SVM</a:t>
            </a:r>
            <a:endParaRPr lang="en-US" sz="3450" dirty="0"/>
          </a:p>
        </p:txBody>
      </p:sp>
      <p:sp>
        <p:nvSpPr>
          <p:cNvPr id="4" name="Text 1"/>
          <p:cNvSpPr/>
          <p:nvPr/>
        </p:nvSpPr>
        <p:spPr>
          <a:xfrm>
            <a:off x="619958" y="3751898"/>
            <a:ext cx="6562368" cy="584478"/>
          </a:xfrm>
          <a:prstGeom prst="rect">
            <a:avLst/>
          </a:prstGeom>
          <a:noFill/>
          <a:ln/>
        </p:spPr>
        <p:txBody>
          <a:bodyPr wrap="none" lIns="0" tIns="0" rIns="0" bIns="0" rtlCol="0" anchor="t"/>
          <a:lstStyle/>
          <a:p>
            <a:pPr algn="ctr" indent="0" marL="0">
              <a:lnSpc>
                <a:spcPts val="4600"/>
              </a:lnSpc>
              <a:buNone/>
            </a:pPr>
            <a:r>
              <a:rPr lang="en-US" sz="4600" b="1" dirty="0">
                <a:solidFill>
                  <a:srgbClr val="000000"/>
                </a:solidFill>
                <a:latin typeface="Poppins Bold" pitchFamily="34" charset="0"/>
                <a:ea typeface="Poppins Bold" pitchFamily="34" charset="-122"/>
                <a:cs typeface="Poppins Bold" pitchFamily="34" charset="-120"/>
              </a:rPr>
              <a:t>1</a:t>
            </a:r>
            <a:endParaRPr lang="en-US" sz="4600" dirty="0"/>
          </a:p>
        </p:txBody>
      </p:sp>
      <p:sp>
        <p:nvSpPr>
          <p:cNvPr id="5" name="Text 2"/>
          <p:cNvSpPr/>
          <p:nvPr/>
        </p:nvSpPr>
        <p:spPr>
          <a:xfrm>
            <a:off x="2794040" y="4557593"/>
            <a:ext cx="2214086" cy="276820"/>
          </a:xfrm>
          <a:prstGeom prst="rect">
            <a:avLst/>
          </a:prstGeom>
          <a:noFill/>
          <a:ln/>
        </p:spPr>
        <p:txBody>
          <a:bodyPr wrap="none" lIns="0" tIns="0" rIns="0" bIns="0" rtlCol="0" anchor="t"/>
          <a:lstStyle/>
          <a:p>
            <a:pPr algn="ctr" indent="0" marL="0">
              <a:lnSpc>
                <a:spcPts val="2150"/>
              </a:lnSpc>
              <a:buNone/>
            </a:pPr>
            <a:r>
              <a:rPr lang="en-US" sz="1700" b="1" dirty="0">
                <a:solidFill>
                  <a:srgbClr val="000000"/>
                </a:solidFill>
                <a:latin typeface="Poppins Bold" pitchFamily="34" charset="0"/>
                <a:ea typeface="Poppins Bold" pitchFamily="34" charset="-122"/>
                <a:cs typeface="Poppins Bold" pitchFamily="34" charset="-120"/>
              </a:rPr>
              <a:t>Slow Training</a:t>
            </a:r>
            <a:endParaRPr lang="en-US" sz="1700" dirty="0"/>
          </a:p>
        </p:txBody>
      </p:sp>
      <p:sp>
        <p:nvSpPr>
          <p:cNvPr id="6" name="Text 3"/>
          <p:cNvSpPr/>
          <p:nvPr/>
        </p:nvSpPr>
        <p:spPr>
          <a:xfrm>
            <a:off x="619958" y="4940618"/>
            <a:ext cx="6562368" cy="566738"/>
          </a:xfrm>
          <a:prstGeom prst="rect">
            <a:avLst/>
          </a:prstGeom>
          <a:noFill/>
          <a:ln/>
        </p:spPr>
        <p:txBody>
          <a:bodyPr wrap="square" lIns="0" tIns="0" rIns="0" bIns="0" rtlCol="0" anchor="t"/>
          <a:lstStyle/>
          <a:p>
            <a:pPr algn="ctr" indent="0" marL="0">
              <a:lnSpc>
                <a:spcPts val="2200"/>
              </a:lnSpc>
              <a:buNone/>
            </a:pPr>
            <a:r>
              <a:rPr lang="en-US" sz="1350" dirty="0">
                <a:solidFill>
                  <a:srgbClr val="000000"/>
                </a:solidFill>
                <a:latin typeface="Poppins" pitchFamily="34" charset="0"/>
                <a:ea typeface="Poppins" pitchFamily="34" charset="-122"/>
                <a:cs typeface="Poppins" pitchFamily="34" charset="-120"/>
              </a:rPr>
              <a:t>SVM can be slow for large datasets. Impacts performance in data mining tasks.</a:t>
            </a:r>
            <a:endParaRPr lang="en-US" sz="1350" dirty="0"/>
          </a:p>
        </p:txBody>
      </p:sp>
      <p:sp>
        <p:nvSpPr>
          <p:cNvPr id="7" name="Text 4"/>
          <p:cNvSpPr/>
          <p:nvPr/>
        </p:nvSpPr>
        <p:spPr>
          <a:xfrm>
            <a:off x="7447955" y="3751898"/>
            <a:ext cx="6562487" cy="584478"/>
          </a:xfrm>
          <a:prstGeom prst="rect">
            <a:avLst/>
          </a:prstGeom>
          <a:noFill/>
          <a:ln/>
        </p:spPr>
        <p:txBody>
          <a:bodyPr wrap="none" lIns="0" tIns="0" rIns="0" bIns="0" rtlCol="0" anchor="t"/>
          <a:lstStyle/>
          <a:p>
            <a:pPr algn="ctr" indent="0" marL="0">
              <a:lnSpc>
                <a:spcPts val="4600"/>
              </a:lnSpc>
              <a:buNone/>
            </a:pPr>
            <a:r>
              <a:rPr lang="en-US" sz="4600" b="1" dirty="0">
                <a:solidFill>
                  <a:srgbClr val="000000"/>
                </a:solidFill>
                <a:latin typeface="Poppins Bold" pitchFamily="34" charset="0"/>
                <a:ea typeface="Poppins Bold" pitchFamily="34" charset="-122"/>
                <a:cs typeface="Poppins Bold" pitchFamily="34" charset="-120"/>
              </a:rPr>
              <a:t>2</a:t>
            </a:r>
            <a:endParaRPr lang="en-US" sz="4600" dirty="0"/>
          </a:p>
        </p:txBody>
      </p:sp>
      <p:sp>
        <p:nvSpPr>
          <p:cNvPr id="8" name="Text 5"/>
          <p:cNvSpPr/>
          <p:nvPr/>
        </p:nvSpPr>
        <p:spPr>
          <a:xfrm>
            <a:off x="9622155" y="4557593"/>
            <a:ext cx="2214086" cy="276820"/>
          </a:xfrm>
          <a:prstGeom prst="rect">
            <a:avLst/>
          </a:prstGeom>
          <a:noFill/>
          <a:ln/>
        </p:spPr>
        <p:txBody>
          <a:bodyPr wrap="none" lIns="0" tIns="0" rIns="0" bIns="0" rtlCol="0" anchor="t"/>
          <a:lstStyle/>
          <a:p>
            <a:pPr algn="ctr" indent="0" marL="0">
              <a:lnSpc>
                <a:spcPts val="2150"/>
              </a:lnSpc>
              <a:buNone/>
            </a:pPr>
            <a:r>
              <a:rPr lang="en-US" sz="1700" b="1" dirty="0">
                <a:solidFill>
                  <a:srgbClr val="000000"/>
                </a:solidFill>
                <a:latin typeface="Poppins Bold" pitchFamily="34" charset="0"/>
                <a:ea typeface="Poppins Bold" pitchFamily="34" charset="-122"/>
                <a:cs typeface="Poppins Bold" pitchFamily="34" charset="-120"/>
              </a:rPr>
              <a:t>Parameter Tuning</a:t>
            </a:r>
            <a:endParaRPr lang="en-US" sz="1700" dirty="0"/>
          </a:p>
        </p:txBody>
      </p:sp>
      <p:sp>
        <p:nvSpPr>
          <p:cNvPr id="9" name="Text 6"/>
          <p:cNvSpPr/>
          <p:nvPr/>
        </p:nvSpPr>
        <p:spPr>
          <a:xfrm>
            <a:off x="7447955" y="4940618"/>
            <a:ext cx="6562487" cy="283369"/>
          </a:xfrm>
          <a:prstGeom prst="rect">
            <a:avLst/>
          </a:prstGeom>
          <a:noFill/>
          <a:ln/>
        </p:spPr>
        <p:txBody>
          <a:bodyPr wrap="none" lIns="0" tIns="0" rIns="0" bIns="0" rtlCol="0" anchor="t"/>
          <a:lstStyle/>
          <a:p>
            <a:pPr algn="ctr" indent="0" marL="0">
              <a:lnSpc>
                <a:spcPts val="2200"/>
              </a:lnSpc>
              <a:buNone/>
            </a:pPr>
            <a:r>
              <a:rPr lang="en-US" sz="1350" dirty="0">
                <a:solidFill>
                  <a:srgbClr val="000000"/>
                </a:solidFill>
                <a:latin typeface="Poppins" pitchFamily="34" charset="0"/>
                <a:ea typeface="Poppins" pitchFamily="34" charset="-122"/>
                <a:cs typeface="Poppins" pitchFamily="34" charset="-120"/>
              </a:rPr>
              <a:t>Selecting the right kernel and C parameter requires careful tuning.</a:t>
            </a:r>
            <a:endParaRPr lang="en-US" sz="1350" dirty="0"/>
          </a:p>
        </p:txBody>
      </p:sp>
      <p:sp>
        <p:nvSpPr>
          <p:cNvPr id="10" name="Text 7"/>
          <p:cNvSpPr/>
          <p:nvPr/>
        </p:nvSpPr>
        <p:spPr>
          <a:xfrm>
            <a:off x="619958" y="6127194"/>
            <a:ext cx="6562368" cy="584478"/>
          </a:xfrm>
          <a:prstGeom prst="rect">
            <a:avLst/>
          </a:prstGeom>
          <a:noFill/>
          <a:ln/>
        </p:spPr>
        <p:txBody>
          <a:bodyPr wrap="none" lIns="0" tIns="0" rIns="0" bIns="0" rtlCol="0" anchor="t"/>
          <a:lstStyle/>
          <a:p>
            <a:pPr algn="ctr" indent="0" marL="0">
              <a:lnSpc>
                <a:spcPts val="4600"/>
              </a:lnSpc>
              <a:buNone/>
            </a:pPr>
            <a:r>
              <a:rPr lang="en-US" sz="4600" b="1" dirty="0">
                <a:solidFill>
                  <a:srgbClr val="000000"/>
                </a:solidFill>
                <a:latin typeface="Poppins Bold" pitchFamily="34" charset="0"/>
                <a:ea typeface="Poppins Bold" pitchFamily="34" charset="-122"/>
                <a:cs typeface="Poppins Bold" pitchFamily="34" charset="-120"/>
              </a:rPr>
              <a:t>3</a:t>
            </a:r>
            <a:endParaRPr lang="en-US" sz="4600" dirty="0"/>
          </a:p>
        </p:txBody>
      </p:sp>
      <p:sp>
        <p:nvSpPr>
          <p:cNvPr id="11" name="Text 8"/>
          <p:cNvSpPr/>
          <p:nvPr/>
        </p:nvSpPr>
        <p:spPr>
          <a:xfrm>
            <a:off x="2794040" y="6932890"/>
            <a:ext cx="2214086" cy="276820"/>
          </a:xfrm>
          <a:prstGeom prst="rect">
            <a:avLst/>
          </a:prstGeom>
          <a:noFill/>
          <a:ln/>
        </p:spPr>
        <p:txBody>
          <a:bodyPr wrap="none" lIns="0" tIns="0" rIns="0" bIns="0" rtlCol="0" anchor="t"/>
          <a:lstStyle/>
          <a:p>
            <a:pPr algn="ctr" indent="0" marL="0">
              <a:lnSpc>
                <a:spcPts val="2150"/>
              </a:lnSpc>
              <a:buNone/>
            </a:pPr>
            <a:r>
              <a:rPr lang="en-US" sz="1700" b="1" dirty="0">
                <a:solidFill>
                  <a:srgbClr val="000000"/>
                </a:solidFill>
                <a:latin typeface="Poppins Bold" pitchFamily="34" charset="0"/>
                <a:ea typeface="Poppins Bold" pitchFamily="34" charset="-122"/>
                <a:cs typeface="Poppins Bold" pitchFamily="34" charset="-120"/>
              </a:rPr>
              <a:t>Interpretability</a:t>
            </a:r>
            <a:endParaRPr lang="en-US" sz="1700" dirty="0"/>
          </a:p>
        </p:txBody>
      </p:sp>
      <p:sp>
        <p:nvSpPr>
          <p:cNvPr id="12" name="Text 9"/>
          <p:cNvSpPr/>
          <p:nvPr/>
        </p:nvSpPr>
        <p:spPr>
          <a:xfrm>
            <a:off x="619958" y="7315914"/>
            <a:ext cx="6562368" cy="283369"/>
          </a:xfrm>
          <a:prstGeom prst="rect">
            <a:avLst/>
          </a:prstGeom>
          <a:noFill/>
          <a:ln/>
        </p:spPr>
        <p:txBody>
          <a:bodyPr wrap="none" lIns="0" tIns="0" rIns="0" bIns="0" rtlCol="0" anchor="t"/>
          <a:lstStyle/>
          <a:p>
            <a:pPr algn="ctr" indent="0" marL="0">
              <a:lnSpc>
                <a:spcPts val="2200"/>
              </a:lnSpc>
              <a:buNone/>
            </a:pPr>
            <a:r>
              <a:rPr lang="en-US" sz="1350" dirty="0">
                <a:solidFill>
                  <a:srgbClr val="000000"/>
                </a:solidFill>
                <a:latin typeface="Poppins" pitchFamily="34" charset="0"/>
                <a:ea typeface="Poppins" pitchFamily="34" charset="-122"/>
                <a:cs typeface="Poppins" pitchFamily="34" charset="-120"/>
              </a:rPr>
              <a:t>Complex hyperplanes in higher dimensions make SVM less interpretable.</a:t>
            </a:r>
            <a:endParaRPr lang="en-US" sz="1350" dirty="0"/>
          </a:p>
        </p:txBody>
      </p:sp>
      <p:sp>
        <p:nvSpPr>
          <p:cNvPr id="13" name="Text 10"/>
          <p:cNvSpPr/>
          <p:nvPr/>
        </p:nvSpPr>
        <p:spPr>
          <a:xfrm>
            <a:off x="7447955" y="6127194"/>
            <a:ext cx="6562487" cy="584478"/>
          </a:xfrm>
          <a:prstGeom prst="rect">
            <a:avLst/>
          </a:prstGeom>
          <a:noFill/>
          <a:ln/>
        </p:spPr>
        <p:txBody>
          <a:bodyPr wrap="none" lIns="0" tIns="0" rIns="0" bIns="0" rtlCol="0" anchor="t"/>
          <a:lstStyle/>
          <a:p>
            <a:pPr algn="ctr" indent="0" marL="0">
              <a:lnSpc>
                <a:spcPts val="4600"/>
              </a:lnSpc>
              <a:buNone/>
            </a:pPr>
            <a:r>
              <a:rPr lang="en-US" sz="4600" b="1" dirty="0">
                <a:solidFill>
                  <a:srgbClr val="000000"/>
                </a:solidFill>
                <a:latin typeface="Poppins Bold" pitchFamily="34" charset="0"/>
                <a:ea typeface="Poppins Bold" pitchFamily="34" charset="-122"/>
                <a:cs typeface="Poppins Bold" pitchFamily="34" charset="-120"/>
              </a:rPr>
              <a:t>4</a:t>
            </a:r>
            <a:endParaRPr lang="en-US" sz="4600" dirty="0"/>
          </a:p>
        </p:txBody>
      </p:sp>
      <p:sp>
        <p:nvSpPr>
          <p:cNvPr id="14" name="Text 11"/>
          <p:cNvSpPr/>
          <p:nvPr/>
        </p:nvSpPr>
        <p:spPr>
          <a:xfrm>
            <a:off x="9622155" y="6932890"/>
            <a:ext cx="2214086" cy="276820"/>
          </a:xfrm>
          <a:prstGeom prst="rect">
            <a:avLst/>
          </a:prstGeom>
          <a:noFill/>
          <a:ln/>
        </p:spPr>
        <p:txBody>
          <a:bodyPr wrap="none" lIns="0" tIns="0" rIns="0" bIns="0" rtlCol="0" anchor="t"/>
          <a:lstStyle/>
          <a:p>
            <a:pPr algn="ctr" indent="0" marL="0">
              <a:lnSpc>
                <a:spcPts val="2150"/>
              </a:lnSpc>
              <a:buNone/>
            </a:pPr>
            <a:r>
              <a:rPr lang="en-US" sz="1700" b="1" dirty="0">
                <a:solidFill>
                  <a:srgbClr val="000000"/>
                </a:solidFill>
                <a:latin typeface="Poppins Bold" pitchFamily="34" charset="0"/>
                <a:ea typeface="Poppins Bold" pitchFamily="34" charset="-122"/>
                <a:cs typeface="Poppins Bold" pitchFamily="34" charset="-120"/>
              </a:rPr>
              <a:t>Scaling Sensitivity</a:t>
            </a:r>
            <a:endParaRPr lang="en-US" sz="1700" dirty="0"/>
          </a:p>
        </p:txBody>
      </p:sp>
      <p:sp>
        <p:nvSpPr>
          <p:cNvPr id="15" name="Text 12"/>
          <p:cNvSpPr/>
          <p:nvPr/>
        </p:nvSpPr>
        <p:spPr>
          <a:xfrm>
            <a:off x="7447955" y="7315914"/>
            <a:ext cx="6562487" cy="283369"/>
          </a:xfrm>
          <a:prstGeom prst="rect">
            <a:avLst/>
          </a:prstGeom>
          <a:noFill/>
          <a:ln/>
        </p:spPr>
        <p:txBody>
          <a:bodyPr wrap="none" lIns="0" tIns="0" rIns="0" bIns="0" rtlCol="0" anchor="t"/>
          <a:lstStyle/>
          <a:p>
            <a:pPr algn="ctr" indent="0" marL="0">
              <a:lnSpc>
                <a:spcPts val="2200"/>
              </a:lnSpc>
              <a:buNone/>
            </a:pPr>
            <a:r>
              <a:rPr lang="en-US" sz="1350" dirty="0">
                <a:solidFill>
                  <a:srgbClr val="000000"/>
                </a:solidFill>
                <a:latin typeface="Poppins" pitchFamily="34" charset="0"/>
                <a:ea typeface="Poppins" pitchFamily="34" charset="-122"/>
                <a:cs typeface="Poppins" pitchFamily="34" charset="-120"/>
              </a:rPr>
              <a:t>Proper feature scaling is essential for good performance.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2025-03-05T11:55:43Z</dcterms:created>
  <dcterms:modified xsi:type="dcterms:W3CDTF">2025-03-05T11:55:43Z</dcterms:modified>
</cp:coreProperties>
</file>