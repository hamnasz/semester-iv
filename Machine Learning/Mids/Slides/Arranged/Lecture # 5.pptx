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76"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4630400" cy="8229600"/>
  <p:notesSz cx="8229600" cy="14630400"/>
  <p:embeddedFontLst>
    <p:embeddedFont>
      <p:font typeface="Calibri" panose="020F0502020204030204" pitchFamily="34" charset="0"/>
      <p:regular r:id="rId24"/>
      <p:bold r:id="rId25"/>
      <p:italic r:id="rId26"/>
      <p:boldItalic r:id="rId27"/>
    </p:embeddedFont>
    <p:embeddedFont>
      <p:font typeface="Inter"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1" d="100"/>
          <a:sy n="61" d="100"/>
        </p:scale>
        <p:origin x="6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6079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6.xml"/><Relationship Id="rId6" Type="http://schemas.openxmlformats.org/officeDocument/2006/relationships/image" Target="../media/image3.png"/><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17.xml"/><Relationship Id="rId6" Type="http://schemas.openxmlformats.org/officeDocument/2006/relationships/image" Target="../media/image3.png"/><Relationship Id="rId5" Type="http://schemas.openxmlformats.org/officeDocument/2006/relationships/image" Target="../media/image34.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18.xml"/><Relationship Id="rId5" Type="http://schemas.openxmlformats.org/officeDocument/2006/relationships/image" Target="../media/image3.png"/><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19.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0.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0.xml"/><Relationship Id="rId1" Type="http://schemas.openxmlformats.org/officeDocument/2006/relationships/slideLayout" Target="../slideLayouts/slideLayout21.xml"/><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25669" y="53816"/>
            <a:ext cx="5486400" cy="8229600"/>
          </a:xfrm>
          <a:prstGeom prst="rect">
            <a:avLst/>
          </a:prstGeom>
        </p:spPr>
      </p:pic>
      <p:pic>
        <p:nvPicPr>
          <p:cNvPr id="3" name="Image 1" descr="preencoded.png"/>
          <p:cNvPicPr>
            <a:picLocks noChangeAspect="1"/>
          </p:cNvPicPr>
          <p:nvPr/>
        </p:nvPicPr>
        <p:blipFill>
          <a:blip r:embed="rId4"/>
          <a:stretch>
            <a:fillRect/>
          </a:stretch>
        </p:blipFill>
        <p:spPr>
          <a:xfrm>
            <a:off x="126124" y="1702675"/>
            <a:ext cx="5360275" cy="4540469"/>
          </a:xfrm>
          <a:prstGeom prst="rect">
            <a:avLst/>
          </a:prstGeom>
        </p:spPr>
      </p:pic>
      <p:sp>
        <p:nvSpPr>
          <p:cNvPr id="4" name="Text 0"/>
          <p:cNvSpPr/>
          <p:nvPr/>
        </p:nvSpPr>
        <p:spPr>
          <a:xfrm>
            <a:off x="6280190" y="794861"/>
            <a:ext cx="7556421" cy="2126337"/>
          </a:xfrm>
          <a:prstGeom prst="rect">
            <a:avLst/>
          </a:prstGeom>
          <a:noFill/>
          <a:ln/>
        </p:spPr>
        <p:txBody>
          <a:bodyPr wrap="square" lIns="0" tIns="0" rIns="0" bIns="0" rtlCol="0" anchor="t"/>
          <a:lstStyle/>
          <a:p>
            <a:pPr marL="0" indent="0">
              <a:lnSpc>
                <a:spcPts val="5550"/>
              </a:lnSpc>
              <a:buNone/>
            </a:pPr>
            <a:r>
              <a:rPr lang="en-US" sz="4450" b="1" dirty="0">
                <a:solidFill>
                  <a:srgbClr val="000000"/>
                </a:solidFill>
                <a:latin typeface="Inter Bold" pitchFamily="34" charset="0"/>
                <a:ea typeface="Inter Bold" pitchFamily="34" charset="-122"/>
                <a:cs typeface="Inter Bold" pitchFamily="34" charset="-120"/>
              </a:rPr>
              <a:t>Understanding Bias and Variance in Machine Learning</a:t>
            </a:r>
            <a:endParaRPr lang="en-US" sz="4450" dirty="0"/>
          </a:p>
        </p:txBody>
      </p:sp>
      <p:sp>
        <p:nvSpPr>
          <p:cNvPr id="5" name="Text 1"/>
          <p:cNvSpPr/>
          <p:nvPr/>
        </p:nvSpPr>
        <p:spPr>
          <a:xfrm>
            <a:off x="6280190" y="3261360"/>
            <a:ext cx="7556421" cy="1814513"/>
          </a:xfrm>
          <a:prstGeom prst="rect">
            <a:avLst/>
          </a:prstGeom>
          <a:noFill/>
          <a:ln/>
        </p:spPr>
        <p:txBody>
          <a:bodyPr wrap="square" lIns="0" tIns="0" rIns="0" bIns="0" rtlCol="0" anchor="t"/>
          <a:lstStyle/>
          <a:p>
            <a:pPr marL="0" indent="0">
              <a:lnSpc>
                <a:spcPts val="2850"/>
              </a:lnSpc>
              <a:buNone/>
            </a:pPr>
            <a:r>
              <a:rPr lang="en-US" sz="1750" dirty="0">
                <a:solidFill>
                  <a:srgbClr val="000000"/>
                </a:solidFill>
                <a:latin typeface="Inter" pitchFamily="34" charset="0"/>
                <a:ea typeface="Inter" pitchFamily="34" charset="-122"/>
                <a:cs typeface="Inter" pitchFamily="34" charset="-120"/>
              </a:rPr>
              <a:t>In machine learning, prediction accuracy depends on understanding and managing two critical errors: bias and variance. Finding the optimal balance between these errors—known as the bias-variance tradeoff—is essential for creating models that perform well on both training and new data.</a:t>
            </a:r>
            <a:endParaRPr lang="en-US" sz="1750" dirty="0"/>
          </a:p>
        </p:txBody>
      </p:sp>
      <p:pic>
        <p:nvPicPr>
          <p:cNvPr id="10" name="Image 2" descr="preencoded.png"/>
          <p:cNvPicPr>
            <a:picLocks noChangeAspect="1"/>
          </p:cNvPicPr>
          <p:nvPr/>
        </p:nvPicPr>
        <p:blipFill>
          <a:blip r:embed="rId5"/>
          <a:stretch>
            <a:fillRect/>
          </a:stretch>
        </p:blipFill>
        <p:spPr>
          <a:xfrm>
            <a:off x="13464778" y="228600"/>
            <a:ext cx="937022" cy="50280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409867" y="1434662"/>
            <a:ext cx="4954548" cy="4736824"/>
          </a:xfrm>
          <a:prstGeom prst="rect">
            <a:avLst/>
          </a:prstGeom>
        </p:spPr>
      </p:pic>
      <p:sp>
        <p:nvSpPr>
          <p:cNvPr id="4" name="Text 0"/>
          <p:cNvSpPr/>
          <p:nvPr/>
        </p:nvSpPr>
        <p:spPr>
          <a:xfrm>
            <a:off x="783669" y="616744"/>
            <a:ext cx="7576661" cy="1329452"/>
          </a:xfrm>
          <a:prstGeom prst="rect">
            <a:avLst/>
          </a:prstGeom>
          <a:noFill/>
          <a:ln/>
        </p:spPr>
        <p:txBody>
          <a:bodyPr wrap="square" lIns="0" tIns="0" rIns="0" bIns="0" rtlCol="0" anchor="t"/>
          <a:lstStyle/>
          <a:p>
            <a:pPr marL="0" indent="0">
              <a:lnSpc>
                <a:spcPts val="5200"/>
              </a:lnSpc>
              <a:buNone/>
            </a:pPr>
            <a:r>
              <a:rPr lang="en-US" sz="4150" b="1" dirty="0">
                <a:solidFill>
                  <a:srgbClr val="000000"/>
                </a:solidFill>
                <a:latin typeface="Inter Bold" pitchFamily="34" charset="0"/>
                <a:ea typeface="Inter Bold" pitchFamily="34" charset="-122"/>
                <a:cs typeface="Inter Bold" pitchFamily="34" charset="-120"/>
              </a:rPr>
              <a:t>The Importance of Prediction Errors</a:t>
            </a:r>
            <a:endParaRPr lang="en-US" sz="4150" dirty="0"/>
          </a:p>
        </p:txBody>
      </p:sp>
      <p:sp>
        <p:nvSpPr>
          <p:cNvPr id="5" name="Shape 1"/>
          <p:cNvSpPr/>
          <p:nvPr/>
        </p:nvSpPr>
        <p:spPr>
          <a:xfrm>
            <a:off x="783669" y="2504599"/>
            <a:ext cx="478631" cy="478631"/>
          </a:xfrm>
          <a:prstGeom prst="roundRect">
            <a:avLst>
              <a:gd name="adj" fmla="val 18667"/>
            </a:avLst>
          </a:prstGeom>
          <a:solidFill>
            <a:srgbClr val="F7D5D4"/>
          </a:solidFill>
          <a:ln w="7620">
            <a:solidFill>
              <a:srgbClr val="DDBBBA"/>
            </a:solidFill>
            <a:prstDash val="solid"/>
          </a:ln>
        </p:spPr>
      </p:sp>
      <p:sp>
        <p:nvSpPr>
          <p:cNvPr id="6" name="Text 2"/>
          <p:cNvSpPr/>
          <p:nvPr/>
        </p:nvSpPr>
        <p:spPr>
          <a:xfrm>
            <a:off x="863441" y="2544485"/>
            <a:ext cx="319088" cy="398859"/>
          </a:xfrm>
          <a:prstGeom prst="rect">
            <a:avLst/>
          </a:prstGeom>
          <a:noFill/>
          <a:ln/>
        </p:spPr>
        <p:txBody>
          <a:bodyPr wrap="none" lIns="0" tIns="0" rIns="0" bIns="0" rtlCol="0" anchor="t"/>
          <a:lstStyle/>
          <a:p>
            <a:pPr marL="0" indent="0" algn="ctr">
              <a:lnSpc>
                <a:spcPts val="2500"/>
              </a:lnSpc>
              <a:buNone/>
            </a:pPr>
            <a:r>
              <a:rPr lang="en-US" sz="2500" b="1" dirty="0">
                <a:solidFill>
                  <a:srgbClr val="000000"/>
                </a:solidFill>
                <a:latin typeface="Inter Bold" pitchFamily="34" charset="0"/>
                <a:ea typeface="Inter Bold" pitchFamily="34" charset="-122"/>
                <a:cs typeface="Inter Bold" pitchFamily="34" charset="-120"/>
              </a:rPr>
              <a:t>1</a:t>
            </a:r>
            <a:endParaRPr lang="en-US" sz="2500" dirty="0"/>
          </a:p>
        </p:txBody>
      </p:sp>
      <p:sp>
        <p:nvSpPr>
          <p:cNvPr id="7" name="Text 3"/>
          <p:cNvSpPr/>
          <p:nvPr/>
        </p:nvSpPr>
        <p:spPr>
          <a:xfrm>
            <a:off x="1474946" y="2504599"/>
            <a:ext cx="2990731" cy="664607"/>
          </a:xfrm>
          <a:prstGeom prst="rect">
            <a:avLst/>
          </a:prstGeom>
          <a:noFill/>
          <a:ln/>
        </p:spPr>
        <p:txBody>
          <a:bodyPr wrap="square" lIns="0" tIns="0" rIns="0" bIns="0" rtlCol="0" anchor="t"/>
          <a:lstStyle/>
          <a:p>
            <a:pPr marL="0" indent="0">
              <a:lnSpc>
                <a:spcPts val="2600"/>
              </a:lnSpc>
              <a:buNone/>
            </a:pPr>
            <a:r>
              <a:rPr lang="en-US" sz="2050" b="1" dirty="0">
                <a:solidFill>
                  <a:srgbClr val="000000"/>
                </a:solidFill>
                <a:latin typeface="Inter Bold" pitchFamily="34" charset="0"/>
                <a:ea typeface="Inter Bold" pitchFamily="34" charset="-122"/>
                <a:cs typeface="Inter Bold" pitchFamily="34" charset="-120"/>
              </a:rPr>
              <a:t>Foundation of Model Accuracy</a:t>
            </a:r>
            <a:endParaRPr lang="en-US" sz="2050" dirty="0"/>
          </a:p>
        </p:txBody>
      </p:sp>
      <p:sp>
        <p:nvSpPr>
          <p:cNvPr id="8" name="Text 4"/>
          <p:cNvSpPr/>
          <p:nvPr/>
        </p:nvSpPr>
        <p:spPr>
          <a:xfrm>
            <a:off x="1474946" y="3296841"/>
            <a:ext cx="2990731" cy="2382798"/>
          </a:xfrm>
          <a:prstGeom prst="rect">
            <a:avLst/>
          </a:prstGeom>
          <a:noFill/>
          <a:ln/>
        </p:spPr>
        <p:txBody>
          <a:bodyPr wrap="square" lIns="0" tIns="0" rIns="0" bIns="0" rtlCol="0" anchor="t"/>
          <a:lstStyle/>
          <a:p>
            <a:pPr marL="0" indent="0">
              <a:lnSpc>
                <a:spcPts val="2650"/>
              </a:lnSpc>
              <a:buNone/>
            </a:pPr>
            <a:r>
              <a:rPr lang="en-US" sz="1650" dirty="0">
                <a:solidFill>
                  <a:srgbClr val="000000"/>
                </a:solidFill>
                <a:latin typeface="Inter" pitchFamily="34" charset="0"/>
                <a:ea typeface="Inter" pitchFamily="34" charset="-122"/>
                <a:cs typeface="Inter" pitchFamily="34" charset="-120"/>
              </a:rPr>
              <a:t>Understanding prediction errors is fundamental to creating accurate machine learning algorithms. These errors determine how well your model will perform on both seen and unseen data.</a:t>
            </a:r>
            <a:endParaRPr lang="en-US" sz="1650" dirty="0"/>
          </a:p>
        </p:txBody>
      </p:sp>
      <p:sp>
        <p:nvSpPr>
          <p:cNvPr id="9" name="Shape 5"/>
          <p:cNvSpPr/>
          <p:nvPr/>
        </p:nvSpPr>
        <p:spPr>
          <a:xfrm>
            <a:off x="4678323" y="2504599"/>
            <a:ext cx="478631" cy="478631"/>
          </a:xfrm>
          <a:prstGeom prst="roundRect">
            <a:avLst>
              <a:gd name="adj" fmla="val 18667"/>
            </a:avLst>
          </a:prstGeom>
          <a:solidFill>
            <a:srgbClr val="F7D5D4"/>
          </a:solidFill>
          <a:ln w="7620">
            <a:solidFill>
              <a:srgbClr val="DDBBBA"/>
            </a:solidFill>
            <a:prstDash val="solid"/>
          </a:ln>
        </p:spPr>
      </p:sp>
      <p:sp>
        <p:nvSpPr>
          <p:cNvPr id="10" name="Text 6"/>
          <p:cNvSpPr/>
          <p:nvPr/>
        </p:nvSpPr>
        <p:spPr>
          <a:xfrm>
            <a:off x="4758095" y="2544485"/>
            <a:ext cx="319088" cy="398859"/>
          </a:xfrm>
          <a:prstGeom prst="rect">
            <a:avLst/>
          </a:prstGeom>
          <a:noFill/>
          <a:ln/>
        </p:spPr>
        <p:txBody>
          <a:bodyPr wrap="none" lIns="0" tIns="0" rIns="0" bIns="0" rtlCol="0" anchor="t"/>
          <a:lstStyle/>
          <a:p>
            <a:pPr marL="0" indent="0" algn="ctr">
              <a:lnSpc>
                <a:spcPts val="2500"/>
              </a:lnSpc>
              <a:buNone/>
            </a:pPr>
            <a:r>
              <a:rPr lang="en-US" sz="2500" b="1" dirty="0">
                <a:solidFill>
                  <a:srgbClr val="000000"/>
                </a:solidFill>
                <a:latin typeface="Inter Bold" pitchFamily="34" charset="0"/>
                <a:ea typeface="Inter Bold" pitchFamily="34" charset="-122"/>
                <a:cs typeface="Inter Bold" pitchFamily="34" charset="-120"/>
              </a:rPr>
              <a:t>2</a:t>
            </a:r>
            <a:endParaRPr lang="en-US" sz="2500" dirty="0"/>
          </a:p>
        </p:txBody>
      </p:sp>
      <p:sp>
        <p:nvSpPr>
          <p:cNvPr id="11" name="Text 7"/>
          <p:cNvSpPr/>
          <p:nvPr/>
        </p:nvSpPr>
        <p:spPr>
          <a:xfrm>
            <a:off x="5369600" y="2504599"/>
            <a:ext cx="2990731" cy="664607"/>
          </a:xfrm>
          <a:prstGeom prst="rect">
            <a:avLst/>
          </a:prstGeom>
          <a:noFill/>
          <a:ln/>
        </p:spPr>
        <p:txBody>
          <a:bodyPr wrap="square" lIns="0" tIns="0" rIns="0" bIns="0" rtlCol="0" anchor="t"/>
          <a:lstStyle/>
          <a:p>
            <a:pPr marL="0" indent="0">
              <a:lnSpc>
                <a:spcPts val="2600"/>
              </a:lnSpc>
              <a:buNone/>
            </a:pPr>
            <a:r>
              <a:rPr lang="en-US" sz="2050" b="1" dirty="0">
                <a:solidFill>
                  <a:srgbClr val="000000"/>
                </a:solidFill>
                <a:latin typeface="Inter Bold" pitchFamily="34" charset="0"/>
                <a:ea typeface="Inter Bold" pitchFamily="34" charset="-122"/>
                <a:cs typeface="Inter Bold" pitchFamily="34" charset="-120"/>
              </a:rPr>
              <a:t>Regularization Connection</a:t>
            </a:r>
            <a:endParaRPr lang="en-US" sz="2050" dirty="0"/>
          </a:p>
        </p:txBody>
      </p:sp>
      <p:sp>
        <p:nvSpPr>
          <p:cNvPr id="12" name="Text 8"/>
          <p:cNvSpPr/>
          <p:nvPr/>
        </p:nvSpPr>
        <p:spPr>
          <a:xfrm>
            <a:off x="5369600" y="3296841"/>
            <a:ext cx="2990731" cy="2042398"/>
          </a:xfrm>
          <a:prstGeom prst="rect">
            <a:avLst/>
          </a:prstGeom>
          <a:noFill/>
          <a:ln/>
        </p:spPr>
        <p:txBody>
          <a:bodyPr wrap="square" lIns="0" tIns="0" rIns="0" bIns="0" rtlCol="0" anchor="t"/>
          <a:lstStyle/>
          <a:p>
            <a:pPr marL="0" indent="0">
              <a:lnSpc>
                <a:spcPts val="2650"/>
              </a:lnSpc>
              <a:buNone/>
            </a:pPr>
            <a:r>
              <a:rPr lang="en-US" sz="1650" dirty="0">
                <a:solidFill>
                  <a:srgbClr val="000000"/>
                </a:solidFill>
                <a:latin typeface="Inter" pitchFamily="34" charset="0"/>
                <a:ea typeface="Inter" pitchFamily="34" charset="-122"/>
                <a:cs typeface="Inter" pitchFamily="34" charset="-120"/>
              </a:rPr>
              <a:t>The bias-variance tradeoff directly influences the selection of regularization constants, which help control model complexity and prevent overfitting.</a:t>
            </a:r>
            <a:endParaRPr lang="en-US" sz="1650" dirty="0"/>
          </a:p>
        </p:txBody>
      </p:sp>
      <p:sp>
        <p:nvSpPr>
          <p:cNvPr id="13" name="Shape 9"/>
          <p:cNvSpPr/>
          <p:nvPr/>
        </p:nvSpPr>
        <p:spPr>
          <a:xfrm>
            <a:off x="783669" y="6131600"/>
            <a:ext cx="478631" cy="478631"/>
          </a:xfrm>
          <a:prstGeom prst="roundRect">
            <a:avLst>
              <a:gd name="adj" fmla="val 18667"/>
            </a:avLst>
          </a:prstGeom>
          <a:solidFill>
            <a:srgbClr val="F7D5D4"/>
          </a:solidFill>
          <a:ln w="7620">
            <a:solidFill>
              <a:srgbClr val="DDBBBA"/>
            </a:solidFill>
            <a:prstDash val="solid"/>
          </a:ln>
        </p:spPr>
      </p:sp>
      <p:sp>
        <p:nvSpPr>
          <p:cNvPr id="14" name="Text 10"/>
          <p:cNvSpPr/>
          <p:nvPr/>
        </p:nvSpPr>
        <p:spPr>
          <a:xfrm>
            <a:off x="863441" y="6171486"/>
            <a:ext cx="319088" cy="398859"/>
          </a:xfrm>
          <a:prstGeom prst="rect">
            <a:avLst/>
          </a:prstGeom>
          <a:noFill/>
          <a:ln/>
        </p:spPr>
        <p:txBody>
          <a:bodyPr wrap="none" lIns="0" tIns="0" rIns="0" bIns="0" rtlCol="0" anchor="t"/>
          <a:lstStyle/>
          <a:p>
            <a:pPr marL="0" indent="0" algn="ctr">
              <a:lnSpc>
                <a:spcPts val="2500"/>
              </a:lnSpc>
              <a:buNone/>
            </a:pPr>
            <a:r>
              <a:rPr lang="en-US" sz="2500" b="1" dirty="0">
                <a:solidFill>
                  <a:srgbClr val="000000"/>
                </a:solidFill>
                <a:latin typeface="Inter Bold" pitchFamily="34" charset="0"/>
                <a:ea typeface="Inter Bold" pitchFamily="34" charset="-122"/>
                <a:cs typeface="Inter Bold" pitchFamily="34" charset="-120"/>
              </a:rPr>
              <a:t>3</a:t>
            </a:r>
            <a:endParaRPr lang="en-US" sz="2500" dirty="0"/>
          </a:p>
        </p:txBody>
      </p:sp>
      <p:sp>
        <p:nvSpPr>
          <p:cNvPr id="15" name="Text 11"/>
          <p:cNvSpPr/>
          <p:nvPr/>
        </p:nvSpPr>
        <p:spPr>
          <a:xfrm>
            <a:off x="1474946" y="6131600"/>
            <a:ext cx="3628787" cy="332303"/>
          </a:xfrm>
          <a:prstGeom prst="rect">
            <a:avLst/>
          </a:prstGeom>
          <a:noFill/>
          <a:ln/>
        </p:spPr>
        <p:txBody>
          <a:bodyPr wrap="none" lIns="0" tIns="0" rIns="0" bIns="0" rtlCol="0" anchor="t"/>
          <a:lstStyle/>
          <a:p>
            <a:pPr marL="0" indent="0">
              <a:lnSpc>
                <a:spcPts val="2600"/>
              </a:lnSpc>
              <a:buNone/>
            </a:pPr>
            <a:r>
              <a:rPr lang="en-US" sz="2050" b="1" dirty="0">
                <a:solidFill>
                  <a:srgbClr val="000000"/>
                </a:solidFill>
                <a:latin typeface="Inter Bold" pitchFamily="34" charset="0"/>
                <a:ea typeface="Inter Bold" pitchFamily="34" charset="-122"/>
                <a:cs typeface="Inter Bold" pitchFamily="34" charset="-120"/>
              </a:rPr>
              <a:t>Preventing Modeling Pitfalls</a:t>
            </a:r>
            <a:endParaRPr lang="en-US" sz="2050" dirty="0"/>
          </a:p>
        </p:txBody>
      </p:sp>
      <p:sp>
        <p:nvSpPr>
          <p:cNvPr id="16" name="Text 12"/>
          <p:cNvSpPr/>
          <p:nvPr/>
        </p:nvSpPr>
        <p:spPr>
          <a:xfrm>
            <a:off x="1474946" y="6591538"/>
            <a:ext cx="6885384" cy="1021199"/>
          </a:xfrm>
          <a:prstGeom prst="rect">
            <a:avLst/>
          </a:prstGeom>
          <a:noFill/>
          <a:ln/>
        </p:spPr>
        <p:txBody>
          <a:bodyPr wrap="square" lIns="0" tIns="0" rIns="0" bIns="0" rtlCol="0" anchor="t"/>
          <a:lstStyle/>
          <a:p>
            <a:pPr marL="0" indent="0">
              <a:lnSpc>
                <a:spcPts val="2650"/>
              </a:lnSpc>
              <a:buNone/>
            </a:pPr>
            <a:r>
              <a:rPr lang="en-US" sz="1650" dirty="0">
                <a:solidFill>
                  <a:srgbClr val="000000"/>
                </a:solidFill>
                <a:latin typeface="Inter" pitchFamily="34" charset="0"/>
                <a:ea typeface="Inter" pitchFamily="34" charset="-122"/>
                <a:cs typeface="Inter" pitchFamily="34" charset="-120"/>
              </a:rPr>
              <a:t>A proper understanding of bias and variance helps avoid the twin problems of underfitting (too simple) and overfitting (too complex) when training algorithms.</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509713"/>
            <a:ext cx="5103614" cy="637937"/>
          </a:xfrm>
          <a:prstGeom prst="rect">
            <a:avLst/>
          </a:prstGeom>
          <a:noFill/>
          <a:ln/>
        </p:spPr>
        <p:txBody>
          <a:bodyPr wrap="none" lIns="0" tIns="0" rIns="0" bIns="0" rtlCol="0" anchor="t"/>
          <a:lstStyle/>
          <a:p>
            <a:pPr marL="0" indent="0">
              <a:lnSpc>
                <a:spcPts val="5000"/>
              </a:lnSpc>
              <a:buNone/>
            </a:pPr>
            <a:r>
              <a:rPr lang="en-US" sz="4000" b="1" dirty="0">
                <a:solidFill>
                  <a:srgbClr val="000000"/>
                </a:solidFill>
                <a:latin typeface="Inter Bold" pitchFamily="34" charset="0"/>
                <a:ea typeface="Inter Bold" pitchFamily="34" charset="-122"/>
                <a:cs typeface="Inter Bold" pitchFamily="34" charset="-120"/>
              </a:rPr>
              <a:t>What is Bias?</a:t>
            </a:r>
            <a:endParaRPr lang="en-US" sz="4000" dirty="0"/>
          </a:p>
        </p:txBody>
      </p:sp>
      <p:sp>
        <p:nvSpPr>
          <p:cNvPr id="3" name="Text 1"/>
          <p:cNvSpPr/>
          <p:nvPr/>
        </p:nvSpPr>
        <p:spPr>
          <a:xfrm>
            <a:off x="793790" y="2637473"/>
            <a:ext cx="6272451" cy="980123"/>
          </a:xfrm>
          <a:prstGeom prst="rect">
            <a:avLst/>
          </a:prstGeom>
          <a:noFill/>
          <a:ln/>
        </p:spPr>
        <p:txBody>
          <a:bodyPr wrap="square" lIns="0" tIns="0" rIns="0" bIns="0" rtlCol="0" anchor="t"/>
          <a:lstStyle/>
          <a:p>
            <a:pPr marL="0" indent="0">
              <a:lnSpc>
                <a:spcPts val="2550"/>
              </a:lnSpc>
              <a:buNone/>
            </a:pPr>
            <a:r>
              <a:rPr lang="en-US" sz="1600" dirty="0">
                <a:solidFill>
                  <a:srgbClr val="000000"/>
                </a:solidFill>
                <a:latin typeface="Inter" pitchFamily="34" charset="0"/>
                <a:ea typeface="Inter" pitchFamily="34" charset="-122"/>
                <a:cs typeface="Inter" pitchFamily="34" charset="-120"/>
              </a:rPr>
              <a:t>Bias represents the difference between the predicted values of a machine learning model and the correct values. High bias results in large errors in both training and testing data.</a:t>
            </a:r>
            <a:endParaRPr lang="en-US" sz="1600" dirty="0"/>
          </a:p>
        </p:txBody>
      </p:sp>
      <p:sp>
        <p:nvSpPr>
          <p:cNvPr id="4" name="Text 2"/>
          <p:cNvSpPr/>
          <p:nvPr/>
        </p:nvSpPr>
        <p:spPr>
          <a:xfrm>
            <a:off x="793790" y="3801308"/>
            <a:ext cx="6272451" cy="1633538"/>
          </a:xfrm>
          <a:prstGeom prst="rect">
            <a:avLst/>
          </a:prstGeom>
          <a:noFill/>
          <a:ln/>
        </p:spPr>
        <p:txBody>
          <a:bodyPr wrap="square" lIns="0" tIns="0" rIns="0" bIns="0" rtlCol="0" anchor="t"/>
          <a:lstStyle/>
          <a:p>
            <a:pPr marL="0" indent="0">
              <a:lnSpc>
                <a:spcPts val="2550"/>
              </a:lnSpc>
              <a:buNone/>
            </a:pPr>
            <a:r>
              <a:rPr lang="en-US" sz="1600" dirty="0">
                <a:solidFill>
                  <a:srgbClr val="000000"/>
                </a:solidFill>
                <a:latin typeface="Inter" pitchFamily="34" charset="0"/>
                <a:ea typeface="Inter" pitchFamily="34" charset="-122"/>
                <a:cs typeface="Inter" pitchFamily="34" charset="-120"/>
              </a:rPr>
              <a:t>When a model has high bias, it produces predictions in a simplified, often linear format that fails to capture the true complexity of the underlying data patterns. This leads to underfitting—where the model is too simplistic to represent the actual relationships in the data.</a:t>
            </a:r>
            <a:endParaRPr lang="en-US" sz="1600" dirty="0"/>
          </a:p>
        </p:txBody>
      </p:sp>
      <p:pic>
        <p:nvPicPr>
          <p:cNvPr id="5" name="Image 0" descr="preencoded.png"/>
          <p:cNvPicPr>
            <a:picLocks noChangeAspect="1"/>
          </p:cNvPicPr>
          <p:nvPr/>
        </p:nvPicPr>
        <p:blipFill>
          <a:blip r:embed="rId3"/>
          <a:stretch>
            <a:fillRect/>
          </a:stretch>
        </p:blipFill>
        <p:spPr>
          <a:xfrm>
            <a:off x="7571780" y="2683312"/>
            <a:ext cx="3795158" cy="2316480"/>
          </a:xfrm>
          <a:prstGeom prst="rect">
            <a:avLst/>
          </a:prstGeom>
        </p:spPr>
      </p:pic>
      <p:sp>
        <p:nvSpPr>
          <p:cNvPr id="6" name="Text 3"/>
          <p:cNvSpPr/>
          <p:nvPr/>
        </p:nvSpPr>
        <p:spPr>
          <a:xfrm>
            <a:off x="7571780" y="5229344"/>
            <a:ext cx="6272451" cy="1306830"/>
          </a:xfrm>
          <a:prstGeom prst="rect">
            <a:avLst/>
          </a:prstGeom>
          <a:noFill/>
          <a:ln/>
        </p:spPr>
        <p:txBody>
          <a:bodyPr wrap="square" lIns="0" tIns="0" rIns="0" bIns="0" rtlCol="0" anchor="t"/>
          <a:lstStyle/>
          <a:p>
            <a:pPr marL="0" indent="0">
              <a:lnSpc>
                <a:spcPts val="2550"/>
              </a:lnSpc>
              <a:buNone/>
            </a:pPr>
            <a:r>
              <a:rPr lang="en-US" sz="1600" dirty="0">
                <a:solidFill>
                  <a:srgbClr val="000000"/>
                </a:solidFill>
                <a:latin typeface="Inter" pitchFamily="34" charset="0"/>
                <a:ea typeface="Inter" pitchFamily="34" charset="-122"/>
                <a:cs typeface="Inter" pitchFamily="34" charset="-120"/>
              </a:rPr>
              <a:t>A high-bias model typically uses a simple hypothesis, such as a linear equation. While easy to interpret, such models often miss important patterns in the data, resulting in poor performance across all datasets.</a:t>
            </a:r>
            <a:endParaRPr lang="en-US" sz="1600" dirty="0"/>
          </a:p>
        </p:txBody>
      </p:sp>
      <p:pic>
        <p:nvPicPr>
          <p:cNvPr id="7" name="Image 1" descr="preencoded.png"/>
          <p:cNvPicPr>
            <a:picLocks noChangeAspect="1"/>
          </p:cNvPicPr>
          <p:nvPr/>
        </p:nvPicPr>
        <p:blipFill>
          <a:blip r:embed="rId4"/>
          <a:stretch>
            <a:fillRect/>
          </a:stretch>
        </p:blipFill>
        <p:spPr>
          <a:xfrm>
            <a:off x="13464778" y="228600"/>
            <a:ext cx="937022" cy="50280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203371"/>
            <a:ext cx="9921002" cy="708779"/>
          </a:xfrm>
          <a:prstGeom prst="rect">
            <a:avLst/>
          </a:prstGeom>
          <a:noFill/>
          <a:ln/>
        </p:spPr>
        <p:txBody>
          <a:bodyPr wrap="none" lIns="0" tIns="0" rIns="0" bIns="0" rtlCol="0" anchor="t"/>
          <a:lstStyle/>
          <a:p>
            <a:pPr marL="0" indent="0">
              <a:lnSpc>
                <a:spcPts val="5550"/>
              </a:lnSpc>
              <a:buNone/>
            </a:pPr>
            <a:r>
              <a:rPr lang="en-US" sz="4450" b="1" dirty="0">
                <a:solidFill>
                  <a:srgbClr val="000000"/>
                </a:solidFill>
                <a:latin typeface="Inter Bold" pitchFamily="34" charset="0"/>
                <a:ea typeface="Inter Bold" pitchFamily="34" charset="-122"/>
                <a:cs typeface="Inter Bold" pitchFamily="34" charset="-120"/>
              </a:rPr>
              <a:t>High Bias: The Underfitting Problem</a:t>
            </a:r>
            <a:endParaRPr lang="en-US" sz="4450" dirty="0"/>
          </a:p>
        </p:txBody>
      </p:sp>
      <p:sp>
        <p:nvSpPr>
          <p:cNvPr id="3" name="Shape 1"/>
          <p:cNvSpPr/>
          <p:nvPr/>
        </p:nvSpPr>
        <p:spPr>
          <a:xfrm>
            <a:off x="793790" y="3252311"/>
            <a:ext cx="4196358" cy="2773799"/>
          </a:xfrm>
          <a:prstGeom prst="roundRect">
            <a:avLst>
              <a:gd name="adj" fmla="val 3435"/>
            </a:avLst>
          </a:prstGeom>
          <a:solidFill>
            <a:srgbClr val="F7D5D4"/>
          </a:solidFill>
          <a:ln w="7620">
            <a:solidFill>
              <a:srgbClr val="DDBBBA"/>
            </a:solidFill>
            <a:prstDash val="solid"/>
          </a:ln>
        </p:spPr>
      </p:sp>
      <p:sp>
        <p:nvSpPr>
          <p:cNvPr id="4" name="Text 2"/>
          <p:cNvSpPr/>
          <p:nvPr/>
        </p:nvSpPr>
        <p:spPr>
          <a:xfrm>
            <a:off x="1028224" y="3486745"/>
            <a:ext cx="3571399" cy="354330"/>
          </a:xfrm>
          <a:prstGeom prst="rect">
            <a:avLst/>
          </a:prstGeom>
          <a:noFill/>
          <a:ln/>
        </p:spPr>
        <p:txBody>
          <a:bodyPr wrap="none" lIns="0" tIns="0" rIns="0" bIns="0" rtlCol="0" anchor="t"/>
          <a:lstStyle/>
          <a:p>
            <a:pPr marL="0" indent="0">
              <a:lnSpc>
                <a:spcPts val="2750"/>
              </a:lnSpc>
              <a:buNone/>
            </a:pPr>
            <a:r>
              <a:rPr lang="en-US" sz="2200" b="1" dirty="0">
                <a:solidFill>
                  <a:srgbClr val="000000"/>
                </a:solidFill>
                <a:latin typeface="Inter Bold" pitchFamily="34" charset="0"/>
                <a:ea typeface="Inter Bold" pitchFamily="34" charset="-122"/>
                <a:cs typeface="Inter Bold" pitchFamily="34" charset="-120"/>
              </a:rPr>
              <a:t>Simplified Representation</a:t>
            </a:r>
            <a:endParaRPr lang="en-US" sz="2200" dirty="0"/>
          </a:p>
        </p:txBody>
      </p:sp>
      <p:sp>
        <p:nvSpPr>
          <p:cNvPr id="5" name="Text 3"/>
          <p:cNvSpPr/>
          <p:nvPr/>
        </p:nvSpPr>
        <p:spPr>
          <a:xfrm>
            <a:off x="1028224" y="3977164"/>
            <a:ext cx="3727490" cy="1814513"/>
          </a:xfrm>
          <a:prstGeom prst="rect">
            <a:avLst/>
          </a:prstGeom>
          <a:noFill/>
          <a:ln/>
        </p:spPr>
        <p:txBody>
          <a:bodyPr wrap="square" lIns="0" tIns="0" rIns="0" bIns="0" rtlCol="0" anchor="t"/>
          <a:lstStyle/>
          <a:p>
            <a:pPr marL="0" indent="0">
              <a:lnSpc>
                <a:spcPts val="2850"/>
              </a:lnSpc>
              <a:buNone/>
            </a:pPr>
            <a:r>
              <a:rPr lang="en-US" sz="1750" dirty="0">
                <a:solidFill>
                  <a:srgbClr val="000000"/>
                </a:solidFill>
                <a:latin typeface="Inter" pitchFamily="34" charset="0"/>
                <a:ea typeface="Inter" pitchFamily="34" charset="-122"/>
                <a:cs typeface="Inter" pitchFamily="34" charset="-120"/>
              </a:rPr>
              <a:t>High-bias models create oversimplified representations of data, often appearing as straight lines that miss the true patterns in the dataset.</a:t>
            </a:r>
            <a:endParaRPr lang="en-US" sz="1750" dirty="0"/>
          </a:p>
        </p:txBody>
      </p:sp>
      <p:sp>
        <p:nvSpPr>
          <p:cNvPr id="6" name="Shape 4"/>
          <p:cNvSpPr/>
          <p:nvPr/>
        </p:nvSpPr>
        <p:spPr>
          <a:xfrm>
            <a:off x="5216962" y="3252311"/>
            <a:ext cx="4196358" cy="2773799"/>
          </a:xfrm>
          <a:prstGeom prst="roundRect">
            <a:avLst>
              <a:gd name="adj" fmla="val 3435"/>
            </a:avLst>
          </a:prstGeom>
          <a:solidFill>
            <a:srgbClr val="F7D5D4"/>
          </a:solidFill>
          <a:ln w="7620">
            <a:solidFill>
              <a:srgbClr val="DDBBBA"/>
            </a:solidFill>
            <a:prstDash val="solid"/>
          </a:ln>
        </p:spPr>
      </p:sp>
      <p:sp>
        <p:nvSpPr>
          <p:cNvPr id="7" name="Text 5"/>
          <p:cNvSpPr/>
          <p:nvPr/>
        </p:nvSpPr>
        <p:spPr>
          <a:xfrm>
            <a:off x="5451396" y="3486745"/>
            <a:ext cx="2835235" cy="354330"/>
          </a:xfrm>
          <a:prstGeom prst="rect">
            <a:avLst/>
          </a:prstGeom>
          <a:noFill/>
          <a:ln/>
        </p:spPr>
        <p:txBody>
          <a:bodyPr wrap="none" lIns="0" tIns="0" rIns="0" bIns="0" rtlCol="0" anchor="t"/>
          <a:lstStyle/>
          <a:p>
            <a:pPr marL="0" indent="0">
              <a:lnSpc>
                <a:spcPts val="2750"/>
              </a:lnSpc>
              <a:buNone/>
            </a:pPr>
            <a:r>
              <a:rPr lang="en-US" sz="2200" b="1" dirty="0">
                <a:solidFill>
                  <a:srgbClr val="000000"/>
                </a:solidFill>
                <a:latin typeface="Inter Bold" pitchFamily="34" charset="0"/>
                <a:ea typeface="Inter Bold" pitchFamily="34" charset="-122"/>
                <a:cs typeface="Inter Bold" pitchFamily="34" charset="-120"/>
              </a:rPr>
              <a:t>Linear Hypotheses</a:t>
            </a:r>
            <a:endParaRPr lang="en-US" sz="2200" dirty="0"/>
          </a:p>
        </p:txBody>
      </p:sp>
      <p:sp>
        <p:nvSpPr>
          <p:cNvPr id="8" name="Text 6"/>
          <p:cNvSpPr/>
          <p:nvPr/>
        </p:nvSpPr>
        <p:spPr>
          <a:xfrm>
            <a:off x="5451396" y="3977164"/>
            <a:ext cx="3727490" cy="1451610"/>
          </a:xfrm>
          <a:prstGeom prst="rect">
            <a:avLst/>
          </a:prstGeom>
          <a:noFill/>
          <a:ln/>
        </p:spPr>
        <p:txBody>
          <a:bodyPr wrap="square" lIns="0" tIns="0" rIns="0" bIns="0" rtlCol="0" anchor="t"/>
          <a:lstStyle/>
          <a:p>
            <a:pPr marL="0" indent="0">
              <a:lnSpc>
                <a:spcPts val="2850"/>
              </a:lnSpc>
              <a:buNone/>
            </a:pPr>
            <a:r>
              <a:rPr lang="en-US" sz="1750" dirty="0">
                <a:solidFill>
                  <a:srgbClr val="000000"/>
                </a:solidFill>
                <a:latin typeface="Inter" pitchFamily="34" charset="0"/>
                <a:ea typeface="Inter" pitchFamily="34" charset="-122"/>
                <a:cs typeface="Inter" pitchFamily="34" charset="-120"/>
              </a:rPr>
              <a:t>These models typically use linear or very simple hypotheses that cannot capture complex relationships in the data.</a:t>
            </a:r>
            <a:endParaRPr lang="en-US" sz="1750" dirty="0"/>
          </a:p>
        </p:txBody>
      </p:sp>
      <p:sp>
        <p:nvSpPr>
          <p:cNvPr id="9" name="Shape 7"/>
          <p:cNvSpPr/>
          <p:nvPr/>
        </p:nvSpPr>
        <p:spPr>
          <a:xfrm>
            <a:off x="9640133" y="3252311"/>
            <a:ext cx="4196358" cy="2773799"/>
          </a:xfrm>
          <a:prstGeom prst="roundRect">
            <a:avLst>
              <a:gd name="adj" fmla="val 3435"/>
            </a:avLst>
          </a:prstGeom>
          <a:solidFill>
            <a:srgbClr val="F7D5D4"/>
          </a:solidFill>
          <a:ln w="7620">
            <a:solidFill>
              <a:srgbClr val="DDBBBA"/>
            </a:solidFill>
            <a:prstDash val="solid"/>
          </a:ln>
        </p:spPr>
      </p:sp>
      <p:sp>
        <p:nvSpPr>
          <p:cNvPr id="10" name="Text 8"/>
          <p:cNvSpPr/>
          <p:nvPr/>
        </p:nvSpPr>
        <p:spPr>
          <a:xfrm>
            <a:off x="9874568" y="3486745"/>
            <a:ext cx="2835235" cy="354330"/>
          </a:xfrm>
          <a:prstGeom prst="rect">
            <a:avLst/>
          </a:prstGeom>
          <a:noFill/>
          <a:ln/>
        </p:spPr>
        <p:txBody>
          <a:bodyPr wrap="none" lIns="0" tIns="0" rIns="0" bIns="0" rtlCol="0" anchor="t"/>
          <a:lstStyle/>
          <a:p>
            <a:pPr marL="0" indent="0">
              <a:lnSpc>
                <a:spcPts val="2750"/>
              </a:lnSpc>
              <a:buNone/>
            </a:pPr>
            <a:r>
              <a:rPr lang="en-US" sz="2200" b="1" dirty="0">
                <a:solidFill>
                  <a:srgbClr val="000000"/>
                </a:solidFill>
                <a:latin typeface="Inter Bold" pitchFamily="34" charset="0"/>
                <a:ea typeface="Inter Bold" pitchFamily="34" charset="-122"/>
                <a:cs typeface="Inter Bold" pitchFamily="34" charset="-120"/>
              </a:rPr>
              <a:t>Consistent Errors</a:t>
            </a:r>
            <a:endParaRPr lang="en-US" sz="2200" dirty="0"/>
          </a:p>
        </p:txBody>
      </p:sp>
      <p:sp>
        <p:nvSpPr>
          <p:cNvPr id="11" name="Text 9"/>
          <p:cNvSpPr/>
          <p:nvPr/>
        </p:nvSpPr>
        <p:spPr>
          <a:xfrm>
            <a:off x="9874568" y="3977164"/>
            <a:ext cx="3727490" cy="1451610"/>
          </a:xfrm>
          <a:prstGeom prst="rect">
            <a:avLst/>
          </a:prstGeom>
          <a:noFill/>
          <a:ln/>
        </p:spPr>
        <p:txBody>
          <a:bodyPr wrap="square" lIns="0" tIns="0" rIns="0" bIns="0" rtlCol="0" anchor="t"/>
          <a:lstStyle/>
          <a:p>
            <a:pPr marL="0" indent="0">
              <a:lnSpc>
                <a:spcPts val="2850"/>
              </a:lnSpc>
              <a:buNone/>
            </a:pPr>
            <a:r>
              <a:rPr lang="en-US" sz="1750" dirty="0">
                <a:solidFill>
                  <a:srgbClr val="000000"/>
                </a:solidFill>
                <a:latin typeface="Inter" pitchFamily="34" charset="0"/>
                <a:ea typeface="Inter" pitchFamily="34" charset="-122"/>
                <a:cs typeface="Inter" pitchFamily="34" charset="-120"/>
              </a:rPr>
              <a:t>High-bias models perform poorly on both training and testing data, showing consistently high error rates across all datasets.</a:t>
            </a:r>
            <a:endParaRPr lang="en-US" sz="1750" dirty="0"/>
          </a:p>
        </p:txBody>
      </p:sp>
      <p:pic>
        <p:nvPicPr>
          <p:cNvPr id="12" name="Image 0" descr="preencoded.png"/>
          <p:cNvPicPr>
            <a:picLocks noChangeAspect="1"/>
          </p:cNvPicPr>
          <p:nvPr/>
        </p:nvPicPr>
        <p:blipFill>
          <a:blip r:embed="rId3"/>
          <a:stretch>
            <a:fillRect/>
          </a:stretch>
        </p:blipFill>
        <p:spPr>
          <a:xfrm>
            <a:off x="13464778" y="228600"/>
            <a:ext cx="937022" cy="50280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567577"/>
            <a:ext cx="4820007" cy="602456"/>
          </a:xfrm>
          <a:prstGeom prst="rect">
            <a:avLst/>
          </a:prstGeom>
          <a:noFill/>
          <a:ln/>
        </p:spPr>
        <p:txBody>
          <a:bodyPr wrap="none" lIns="0" tIns="0" rIns="0" bIns="0" rtlCol="0" anchor="t"/>
          <a:lstStyle/>
          <a:p>
            <a:pPr marL="0" indent="0">
              <a:lnSpc>
                <a:spcPts val="4700"/>
              </a:lnSpc>
              <a:buNone/>
            </a:pPr>
            <a:r>
              <a:rPr lang="en-US" sz="3750" b="1" dirty="0">
                <a:solidFill>
                  <a:srgbClr val="000000"/>
                </a:solidFill>
                <a:latin typeface="Inter Bold" pitchFamily="34" charset="0"/>
                <a:ea typeface="Inter Bold" pitchFamily="34" charset="-122"/>
                <a:cs typeface="Inter Bold" pitchFamily="34" charset="-120"/>
              </a:rPr>
              <a:t>What is Variance?</a:t>
            </a:r>
            <a:endParaRPr lang="en-US" sz="3750" dirty="0"/>
          </a:p>
        </p:txBody>
      </p:sp>
      <p:sp>
        <p:nvSpPr>
          <p:cNvPr id="3" name="Text 1"/>
          <p:cNvSpPr/>
          <p:nvPr/>
        </p:nvSpPr>
        <p:spPr>
          <a:xfrm>
            <a:off x="793790" y="2632710"/>
            <a:ext cx="6286262" cy="1233487"/>
          </a:xfrm>
          <a:prstGeom prst="rect">
            <a:avLst/>
          </a:prstGeom>
          <a:noFill/>
          <a:ln/>
        </p:spPr>
        <p:txBody>
          <a:bodyPr wrap="square" lIns="0" tIns="0" rIns="0" bIns="0" rtlCol="0" anchor="t"/>
          <a:lstStyle/>
          <a:p>
            <a:pPr marL="0" indent="0">
              <a:lnSpc>
                <a:spcPts val="2400"/>
              </a:lnSpc>
              <a:buNone/>
            </a:pPr>
            <a:r>
              <a:rPr lang="en-US" sz="1500" dirty="0">
                <a:solidFill>
                  <a:srgbClr val="000000"/>
                </a:solidFill>
                <a:latin typeface="Inter" pitchFamily="34" charset="0"/>
                <a:ea typeface="Inter" pitchFamily="34" charset="-122"/>
                <a:cs typeface="Inter" pitchFamily="34" charset="-120"/>
              </a:rPr>
              <a:t>Variance refers to the variability of model predictions for a given data point, indicating how widely spread the predictions are. A model with high variance creates an overly complex fit to the training data.</a:t>
            </a:r>
            <a:endParaRPr lang="en-US" sz="1500" dirty="0"/>
          </a:p>
        </p:txBody>
      </p:sp>
      <p:sp>
        <p:nvSpPr>
          <p:cNvPr id="4" name="Text 2"/>
          <p:cNvSpPr/>
          <p:nvPr/>
        </p:nvSpPr>
        <p:spPr>
          <a:xfrm>
            <a:off x="793790" y="4039672"/>
            <a:ext cx="6286262" cy="1541859"/>
          </a:xfrm>
          <a:prstGeom prst="rect">
            <a:avLst/>
          </a:prstGeom>
          <a:noFill/>
          <a:ln/>
        </p:spPr>
        <p:txBody>
          <a:bodyPr wrap="square" lIns="0" tIns="0" rIns="0" bIns="0" rtlCol="0" anchor="t"/>
          <a:lstStyle/>
          <a:p>
            <a:pPr marL="0" indent="0">
              <a:lnSpc>
                <a:spcPts val="2400"/>
              </a:lnSpc>
              <a:buNone/>
            </a:pPr>
            <a:r>
              <a:rPr lang="en-US" sz="1500" dirty="0">
                <a:solidFill>
                  <a:srgbClr val="000000"/>
                </a:solidFill>
                <a:latin typeface="Inter" pitchFamily="34" charset="0"/>
                <a:ea typeface="Inter" pitchFamily="34" charset="-122"/>
                <a:cs typeface="Inter" pitchFamily="34" charset="-120"/>
              </a:rPr>
              <a:t>While high-variance models perform exceptionally well on training data, they struggle to generalize to new, unseen data. This phenomenon is known as overfitting—where the model essentially memorizes the training data rather than learning the underlying patterns.</a:t>
            </a:r>
            <a:endParaRPr lang="en-US" sz="1500" dirty="0"/>
          </a:p>
        </p:txBody>
      </p:sp>
      <p:pic>
        <p:nvPicPr>
          <p:cNvPr id="5" name="Image 0" descr="preencoded.png"/>
          <p:cNvPicPr>
            <a:picLocks noChangeAspect="1"/>
          </p:cNvPicPr>
          <p:nvPr/>
        </p:nvPicPr>
        <p:blipFill>
          <a:blip r:embed="rId3"/>
          <a:stretch>
            <a:fillRect/>
          </a:stretch>
        </p:blipFill>
        <p:spPr>
          <a:xfrm>
            <a:off x="7557968" y="2676049"/>
            <a:ext cx="4061218" cy="2362200"/>
          </a:xfrm>
          <a:prstGeom prst="rect">
            <a:avLst/>
          </a:prstGeom>
        </p:spPr>
      </p:pic>
      <p:sp>
        <p:nvSpPr>
          <p:cNvPr id="6" name="Text 3"/>
          <p:cNvSpPr/>
          <p:nvPr/>
        </p:nvSpPr>
        <p:spPr>
          <a:xfrm>
            <a:off x="7557968" y="5255062"/>
            <a:ext cx="6286262" cy="1233487"/>
          </a:xfrm>
          <a:prstGeom prst="rect">
            <a:avLst/>
          </a:prstGeom>
          <a:noFill/>
          <a:ln/>
        </p:spPr>
        <p:txBody>
          <a:bodyPr wrap="square" lIns="0" tIns="0" rIns="0" bIns="0" rtlCol="0" anchor="t"/>
          <a:lstStyle/>
          <a:p>
            <a:pPr marL="0" indent="0">
              <a:lnSpc>
                <a:spcPts val="2400"/>
              </a:lnSpc>
              <a:buNone/>
            </a:pPr>
            <a:r>
              <a:rPr lang="en-US" sz="1500" dirty="0">
                <a:solidFill>
                  <a:srgbClr val="000000"/>
                </a:solidFill>
                <a:latin typeface="Inter" pitchFamily="34" charset="0"/>
                <a:ea typeface="Inter" pitchFamily="34" charset="-122"/>
                <a:cs typeface="Inter" pitchFamily="34" charset="-120"/>
              </a:rPr>
              <a:t>High-variance models typically use complex hypotheses with high-degree equations. These models capture noise in the training data as if it were a meaningful pattern, leading to poor performance on new data.</a:t>
            </a:r>
            <a:endParaRPr lang="en-US" sz="1500" dirty="0"/>
          </a:p>
        </p:txBody>
      </p:sp>
      <p:pic>
        <p:nvPicPr>
          <p:cNvPr id="7" name="Image 1" descr="preencoded.png"/>
          <p:cNvPicPr>
            <a:picLocks noChangeAspect="1"/>
          </p:cNvPicPr>
          <p:nvPr/>
        </p:nvPicPr>
        <p:blipFill>
          <a:blip r:embed="rId4"/>
          <a:stretch>
            <a:fillRect/>
          </a:stretch>
        </p:blipFill>
        <p:spPr>
          <a:xfrm>
            <a:off x="13464778" y="228600"/>
            <a:ext cx="937022" cy="50280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2222421"/>
            <a:ext cx="10846237" cy="708779"/>
          </a:xfrm>
          <a:prstGeom prst="rect">
            <a:avLst/>
          </a:prstGeom>
          <a:noFill/>
          <a:ln/>
        </p:spPr>
        <p:txBody>
          <a:bodyPr wrap="none" lIns="0" tIns="0" rIns="0" bIns="0" rtlCol="0" anchor="t"/>
          <a:lstStyle/>
          <a:p>
            <a:pPr marL="0" indent="0">
              <a:lnSpc>
                <a:spcPts val="5550"/>
              </a:lnSpc>
              <a:buNone/>
            </a:pPr>
            <a:r>
              <a:rPr lang="en-US" sz="4450" b="1" dirty="0">
                <a:solidFill>
                  <a:srgbClr val="000000"/>
                </a:solidFill>
                <a:latin typeface="Inter Bold" pitchFamily="34" charset="0"/>
                <a:ea typeface="Inter Bold" pitchFamily="34" charset="-122"/>
                <a:cs typeface="Inter Bold" pitchFamily="34" charset="-120"/>
              </a:rPr>
              <a:t>High Variance: The Overfitting Problem</a:t>
            </a:r>
            <a:endParaRPr lang="en-US" sz="4450" dirty="0"/>
          </a:p>
        </p:txBody>
      </p:sp>
      <p:pic>
        <p:nvPicPr>
          <p:cNvPr id="3" name="Image 0" descr="preencoded.png"/>
          <p:cNvPicPr>
            <a:picLocks noChangeAspect="1"/>
          </p:cNvPicPr>
          <p:nvPr/>
        </p:nvPicPr>
        <p:blipFill>
          <a:blip r:embed="rId3"/>
          <a:stretch>
            <a:fillRect/>
          </a:stretch>
        </p:blipFill>
        <p:spPr>
          <a:xfrm>
            <a:off x="793790" y="3271361"/>
            <a:ext cx="566976" cy="566976"/>
          </a:xfrm>
          <a:prstGeom prst="rect">
            <a:avLst/>
          </a:prstGeom>
        </p:spPr>
      </p:pic>
      <p:sp>
        <p:nvSpPr>
          <p:cNvPr id="4" name="Text 1"/>
          <p:cNvSpPr/>
          <p:nvPr/>
        </p:nvSpPr>
        <p:spPr>
          <a:xfrm>
            <a:off x="793790" y="406515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Excessive Detail</a:t>
            </a:r>
            <a:endParaRPr lang="en-US" sz="2200" dirty="0"/>
          </a:p>
        </p:txBody>
      </p:sp>
      <p:sp>
        <p:nvSpPr>
          <p:cNvPr id="5" name="Text 2"/>
          <p:cNvSpPr/>
          <p:nvPr/>
        </p:nvSpPr>
        <p:spPr>
          <a:xfrm>
            <a:off x="793790" y="4555569"/>
            <a:ext cx="4120753" cy="1451610"/>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High-variance models pay too much attention to minor fluctuations and noise in the training data, treating them as significant patterns.</a:t>
            </a:r>
            <a:endParaRPr lang="en-US" sz="1750" dirty="0"/>
          </a:p>
        </p:txBody>
      </p:sp>
      <p:pic>
        <p:nvPicPr>
          <p:cNvPr id="6" name="Image 1" descr="preencoded.png"/>
          <p:cNvPicPr>
            <a:picLocks noChangeAspect="1"/>
          </p:cNvPicPr>
          <p:nvPr/>
        </p:nvPicPr>
        <p:blipFill>
          <a:blip r:embed="rId4"/>
          <a:stretch>
            <a:fillRect/>
          </a:stretch>
        </p:blipFill>
        <p:spPr>
          <a:xfrm>
            <a:off x="5254704" y="3271361"/>
            <a:ext cx="566976" cy="566976"/>
          </a:xfrm>
          <a:prstGeom prst="rect">
            <a:avLst/>
          </a:prstGeom>
        </p:spPr>
      </p:pic>
      <p:sp>
        <p:nvSpPr>
          <p:cNvPr id="7" name="Text 3"/>
          <p:cNvSpPr/>
          <p:nvPr/>
        </p:nvSpPr>
        <p:spPr>
          <a:xfrm>
            <a:off x="5254704" y="4065151"/>
            <a:ext cx="2965609"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Complex Hypotheses</a:t>
            </a:r>
            <a:endParaRPr lang="en-US" sz="2200" dirty="0"/>
          </a:p>
        </p:txBody>
      </p:sp>
      <p:sp>
        <p:nvSpPr>
          <p:cNvPr id="8" name="Text 4"/>
          <p:cNvSpPr/>
          <p:nvPr/>
        </p:nvSpPr>
        <p:spPr>
          <a:xfrm>
            <a:off x="5254704" y="4555569"/>
            <a:ext cx="4120872" cy="1451610"/>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These models use complex, high-order equations that create intricate curves to fit every data point in the training set.</a:t>
            </a:r>
            <a:endParaRPr lang="en-US" sz="1750" dirty="0"/>
          </a:p>
        </p:txBody>
      </p:sp>
      <p:pic>
        <p:nvPicPr>
          <p:cNvPr id="9" name="Image 2" descr="preencoded.png"/>
          <p:cNvPicPr>
            <a:picLocks noChangeAspect="1"/>
          </p:cNvPicPr>
          <p:nvPr/>
        </p:nvPicPr>
        <p:blipFill>
          <a:blip r:embed="rId5"/>
          <a:stretch>
            <a:fillRect/>
          </a:stretch>
        </p:blipFill>
        <p:spPr>
          <a:xfrm>
            <a:off x="9715738" y="3271361"/>
            <a:ext cx="566976" cy="566976"/>
          </a:xfrm>
          <a:prstGeom prst="rect">
            <a:avLst/>
          </a:prstGeom>
        </p:spPr>
      </p:pic>
      <p:sp>
        <p:nvSpPr>
          <p:cNvPr id="10" name="Text 5"/>
          <p:cNvSpPr/>
          <p:nvPr/>
        </p:nvSpPr>
        <p:spPr>
          <a:xfrm>
            <a:off x="9715738" y="406515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Performance Gap</a:t>
            </a:r>
            <a:endParaRPr lang="en-US" sz="2200" dirty="0"/>
          </a:p>
        </p:txBody>
      </p:sp>
      <p:sp>
        <p:nvSpPr>
          <p:cNvPr id="11" name="Text 6"/>
          <p:cNvSpPr/>
          <p:nvPr/>
        </p:nvSpPr>
        <p:spPr>
          <a:xfrm>
            <a:off x="9715738" y="4555569"/>
            <a:ext cx="4120753" cy="1451610"/>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High-variance models show excellent performance on training data but significantly worse performance on testing or validation data.</a:t>
            </a:r>
            <a:endParaRPr lang="en-US" sz="1750" dirty="0"/>
          </a:p>
        </p:txBody>
      </p:sp>
      <p:pic>
        <p:nvPicPr>
          <p:cNvPr id="12" name="Image 3" descr="preencoded.png"/>
          <p:cNvPicPr>
            <a:picLocks noChangeAspect="1"/>
          </p:cNvPicPr>
          <p:nvPr/>
        </p:nvPicPr>
        <p:blipFill>
          <a:blip r:embed="rId6"/>
          <a:stretch>
            <a:fillRect/>
          </a:stretch>
        </p:blipFill>
        <p:spPr>
          <a:xfrm>
            <a:off x="13464778" y="228600"/>
            <a:ext cx="937022" cy="50280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15766"/>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427488" y="2270046"/>
            <a:ext cx="4919305" cy="4272644"/>
          </a:xfrm>
          <a:prstGeom prst="rect">
            <a:avLst/>
          </a:prstGeom>
        </p:spPr>
      </p:pic>
      <p:sp>
        <p:nvSpPr>
          <p:cNvPr id="4" name="Text 0"/>
          <p:cNvSpPr/>
          <p:nvPr/>
        </p:nvSpPr>
        <p:spPr>
          <a:xfrm>
            <a:off x="793790" y="732949"/>
            <a:ext cx="7556421" cy="1417558"/>
          </a:xfrm>
          <a:prstGeom prst="rect">
            <a:avLst/>
          </a:prstGeom>
          <a:noFill/>
          <a:ln/>
        </p:spPr>
        <p:txBody>
          <a:bodyPr wrap="square" lIns="0" tIns="0" rIns="0" bIns="0" rtlCol="0" anchor="t"/>
          <a:lstStyle/>
          <a:p>
            <a:pPr marL="0" indent="0">
              <a:lnSpc>
                <a:spcPts val="5550"/>
              </a:lnSpc>
              <a:buNone/>
            </a:pPr>
            <a:r>
              <a:rPr lang="en-US" sz="4450" b="1" dirty="0">
                <a:solidFill>
                  <a:srgbClr val="000000"/>
                </a:solidFill>
                <a:latin typeface="Inter Bold" pitchFamily="34" charset="0"/>
                <a:ea typeface="Inter Bold" pitchFamily="34" charset="-122"/>
                <a:cs typeface="Inter Bold" pitchFamily="34" charset="-120"/>
              </a:rPr>
              <a:t>Comparing Bias and Variance</a:t>
            </a:r>
            <a:endParaRPr lang="en-US" sz="4450" dirty="0"/>
          </a:p>
        </p:txBody>
      </p:sp>
      <p:sp>
        <p:nvSpPr>
          <p:cNvPr id="5" name="Shape 1"/>
          <p:cNvSpPr/>
          <p:nvPr/>
        </p:nvSpPr>
        <p:spPr>
          <a:xfrm>
            <a:off x="793790" y="2490668"/>
            <a:ext cx="7556421" cy="5005864"/>
          </a:xfrm>
          <a:prstGeom prst="roundRect">
            <a:avLst>
              <a:gd name="adj" fmla="val 1903"/>
            </a:avLst>
          </a:prstGeom>
          <a:noFill/>
          <a:ln w="7620">
            <a:solidFill>
              <a:srgbClr val="000000">
                <a:alpha val="8000"/>
              </a:srgbClr>
            </a:solidFill>
            <a:prstDash val="solid"/>
          </a:ln>
        </p:spPr>
      </p:sp>
      <p:sp>
        <p:nvSpPr>
          <p:cNvPr id="6" name="Shape 2"/>
          <p:cNvSpPr/>
          <p:nvPr/>
        </p:nvSpPr>
        <p:spPr>
          <a:xfrm>
            <a:off x="801410" y="2498288"/>
            <a:ext cx="7540347" cy="650319"/>
          </a:xfrm>
          <a:prstGeom prst="rect">
            <a:avLst/>
          </a:prstGeom>
          <a:solidFill>
            <a:srgbClr val="FFFFFF">
              <a:alpha val="4000"/>
            </a:srgbClr>
          </a:solidFill>
          <a:ln/>
        </p:spPr>
      </p:sp>
      <p:sp>
        <p:nvSpPr>
          <p:cNvPr id="7" name="Text 3"/>
          <p:cNvSpPr/>
          <p:nvPr/>
        </p:nvSpPr>
        <p:spPr>
          <a:xfrm>
            <a:off x="1029057" y="2641997"/>
            <a:ext cx="2055733" cy="362903"/>
          </a:xfrm>
          <a:prstGeom prst="rect">
            <a:avLst/>
          </a:prstGeom>
          <a:noFill/>
          <a:ln/>
        </p:spPr>
        <p:txBody>
          <a:bodyPr wrap="none" lIns="0" tIns="0" rIns="0" bIns="0" rtlCol="0" anchor="t"/>
          <a:lstStyle/>
          <a:p>
            <a:pPr marL="0" indent="0">
              <a:lnSpc>
                <a:spcPts val="2850"/>
              </a:lnSpc>
              <a:buNone/>
            </a:pPr>
            <a:r>
              <a:rPr lang="en-US" sz="1750" dirty="0">
                <a:solidFill>
                  <a:srgbClr val="000000"/>
                </a:solidFill>
                <a:latin typeface="Inter" pitchFamily="34" charset="0"/>
                <a:ea typeface="Inter" pitchFamily="34" charset="-122"/>
                <a:cs typeface="Inter" pitchFamily="34" charset="-120"/>
              </a:rPr>
              <a:t>Characteristic</a:t>
            </a:r>
            <a:endParaRPr lang="en-US" sz="1750" dirty="0"/>
          </a:p>
        </p:txBody>
      </p:sp>
      <p:sp>
        <p:nvSpPr>
          <p:cNvPr id="8" name="Text 4"/>
          <p:cNvSpPr/>
          <p:nvPr/>
        </p:nvSpPr>
        <p:spPr>
          <a:xfrm>
            <a:off x="3546038" y="2641997"/>
            <a:ext cx="2051923" cy="362903"/>
          </a:xfrm>
          <a:prstGeom prst="rect">
            <a:avLst/>
          </a:prstGeom>
          <a:noFill/>
          <a:ln/>
        </p:spPr>
        <p:txBody>
          <a:bodyPr wrap="none" lIns="0" tIns="0" rIns="0" bIns="0" rtlCol="0" anchor="t"/>
          <a:lstStyle/>
          <a:p>
            <a:pPr marL="0" indent="0">
              <a:lnSpc>
                <a:spcPts val="2850"/>
              </a:lnSpc>
              <a:buNone/>
            </a:pPr>
            <a:r>
              <a:rPr lang="en-US" sz="1750" dirty="0">
                <a:solidFill>
                  <a:srgbClr val="000000"/>
                </a:solidFill>
                <a:latin typeface="Inter" pitchFamily="34" charset="0"/>
                <a:ea typeface="Inter" pitchFamily="34" charset="-122"/>
                <a:cs typeface="Inter" pitchFamily="34" charset="-120"/>
              </a:rPr>
              <a:t>High Bias</a:t>
            </a:r>
            <a:endParaRPr lang="en-US" sz="1750" dirty="0"/>
          </a:p>
        </p:txBody>
      </p:sp>
      <p:sp>
        <p:nvSpPr>
          <p:cNvPr id="9" name="Text 5"/>
          <p:cNvSpPr/>
          <p:nvPr/>
        </p:nvSpPr>
        <p:spPr>
          <a:xfrm>
            <a:off x="6059210" y="2641997"/>
            <a:ext cx="2055733" cy="362903"/>
          </a:xfrm>
          <a:prstGeom prst="rect">
            <a:avLst/>
          </a:prstGeom>
          <a:noFill/>
          <a:ln/>
        </p:spPr>
        <p:txBody>
          <a:bodyPr wrap="none" lIns="0" tIns="0" rIns="0" bIns="0" rtlCol="0" anchor="t"/>
          <a:lstStyle/>
          <a:p>
            <a:pPr marL="0" indent="0">
              <a:lnSpc>
                <a:spcPts val="2850"/>
              </a:lnSpc>
              <a:buNone/>
            </a:pPr>
            <a:r>
              <a:rPr lang="en-US" sz="1750" dirty="0">
                <a:solidFill>
                  <a:srgbClr val="000000"/>
                </a:solidFill>
                <a:latin typeface="Inter" pitchFamily="34" charset="0"/>
                <a:ea typeface="Inter" pitchFamily="34" charset="-122"/>
                <a:cs typeface="Inter" pitchFamily="34" charset="-120"/>
              </a:rPr>
              <a:t>High Variance</a:t>
            </a:r>
            <a:endParaRPr lang="en-US" sz="1750" dirty="0"/>
          </a:p>
        </p:txBody>
      </p:sp>
      <p:sp>
        <p:nvSpPr>
          <p:cNvPr id="10" name="Shape 6"/>
          <p:cNvSpPr/>
          <p:nvPr/>
        </p:nvSpPr>
        <p:spPr>
          <a:xfrm>
            <a:off x="801410" y="3148608"/>
            <a:ext cx="7540347" cy="650319"/>
          </a:xfrm>
          <a:prstGeom prst="rect">
            <a:avLst/>
          </a:prstGeom>
          <a:solidFill>
            <a:srgbClr val="000000">
              <a:alpha val="4000"/>
            </a:srgbClr>
          </a:solidFill>
          <a:ln/>
        </p:spPr>
      </p:sp>
      <p:sp>
        <p:nvSpPr>
          <p:cNvPr id="11" name="Text 7"/>
          <p:cNvSpPr/>
          <p:nvPr/>
        </p:nvSpPr>
        <p:spPr>
          <a:xfrm>
            <a:off x="1029057" y="3292316"/>
            <a:ext cx="2055733" cy="362903"/>
          </a:xfrm>
          <a:prstGeom prst="rect">
            <a:avLst/>
          </a:prstGeom>
          <a:noFill/>
          <a:ln/>
        </p:spPr>
        <p:txBody>
          <a:bodyPr wrap="none" lIns="0" tIns="0" rIns="0" bIns="0" rtlCol="0" anchor="t"/>
          <a:lstStyle/>
          <a:p>
            <a:pPr marL="0" indent="0">
              <a:lnSpc>
                <a:spcPts val="2850"/>
              </a:lnSpc>
              <a:buNone/>
            </a:pPr>
            <a:r>
              <a:rPr lang="en-US" sz="1750" dirty="0">
                <a:solidFill>
                  <a:srgbClr val="000000"/>
                </a:solidFill>
                <a:latin typeface="Inter" pitchFamily="34" charset="0"/>
                <a:ea typeface="Inter" pitchFamily="34" charset="-122"/>
                <a:cs typeface="Inter" pitchFamily="34" charset="-120"/>
              </a:rPr>
              <a:t>Model Complexity</a:t>
            </a:r>
            <a:endParaRPr lang="en-US" sz="1750" dirty="0"/>
          </a:p>
        </p:txBody>
      </p:sp>
      <p:sp>
        <p:nvSpPr>
          <p:cNvPr id="12" name="Text 8"/>
          <p:cNvSpPr/>
          <p:nvPr/>
        </p:nvSpPr>
        <p:spPr>
          <a:xfrm>
            <a:off x="3546038" y="3292316"/>
            <a:ext cx="2051923" cy="362903"/>
          </a:xfrm>
          <a:prstGeom prst="rect">
            <a:avLst/>
          </a:prstGeom>
          <a:noFill/>
          <a:ln/>
        </p:spPr>
        <p:txBody>
          <a:bodyPr wrap="none" lIns="0" tIns="0" rIns="0" bIns="0" rtlCol="0" anchor="t"/>
          <a:lstStyle/>
          <a:p>
            <a:pPr marL="0" indent="0">
              <a:lnSpc>
                <a:spcPts val="2850"/>
              </a:lnSpc>
              <a:buNone/>
            </a:pPr>
            <a:r>
              <a:rPr lang="en-US" sz="1750" dirty="0">
                <a:solidFill>
                  <a:srgbClr val="000000"/>
                </a:solidFill>
                <a:latin typeface="Inter" pitchFamily="34" charset="0"/>
                <a:ea typeface="Inter" pitchFamily="34" charset="-122"/>
                <a:cs typeface="Inter" pitchFamily="34" charset="-120"/>
              </a:rPr>
              <a:t>Too simple</a:t>
            </a:r>
            <a:endParaRPr lang="en-US" sz="1750" dirty="0"/>
          </a:p>
        </p:txBody>
      </p:sp>
      <p:sp>
        <p:nvSpPr>
          <p:cNvPr id="13" name="Text 9"/>
          <p:cNvSpPr/>
          <p:nvPr/>
        </p:nvSpPr>
        <p:spPr>
          <a:xfrm>
            <a:off x="6059210" y="3292316"/>
            <a:ext cx="2055733" cy="362903"/>
          </a:xfrm>
          <a:prstGeom prst="rect">
            <a:avLst/>
          </a:prstGeom>
          <a:noFill/>
          <a:ln/>
        </p:spPr>
        <p:txBody>
          <a:bodyPr wrap="none" lIns="0" tIns="0" rIns="0" bIns="0" rtlCol="0" anchor="t"/>
          <a:lstStyle/>
          <a:p>
            <a:pPr marL="0" indent="0">
              <a:lnSpc>
                <a:spcPts val="2850"/>
              </a:lnSpc>
              <a:buNone/>
            </a:pPr>
            <a:r>
              <a:rPr lang="en-US" sz="1750" dirty="0">
                <a:solidFill>
                  <a:srgbClr val="000000"/>
                </a:solidFill>
                <a:latin typeface="Inter" pitchFamily="34" charset="0"/>
                <a:ea typeface="Inter" pitchFamily="34" charset="-122"/>
                <a:cs typeface="Inter" pitchFamily="34" charset="-120"/>
              </a:rPr>
              <a:t>Too complex</a:t>
            </a:r>
            <a:endParaRPr lang="en-US" sz="1750" dirty="0"/>
          </a:p>
        </p:txBody>
      </p:sp>
      <p:sp>
        <p:nvSpPr>
          <p:cNvPr id="14" name="Shape 10"/>
          <p:cNvSpPr/>
          <p:nvPr/>
        </p:nvSpPr>
        <p:spPr>
          <a:xfrm>
            <a:off x="801410" y="3798927"/>
            <a:ext cx="7540347" cy="1013222"/>
          </a:xfrm>
          <a:prstGeom prst="rect">
            <a:avLst/>
          </a:prstGeom>
          <a:solidFill>
            <a:srgbClr val="FFFFFF">
              <a:alpha val="4000"/>
            </a:srgbClr>
          </a:solidFill>
          <a:ln/>
        </p:spPr>
      </p:sp>
      <p:sp>
        <p:nvSpPr>
          <p:cNvPr id="15" name="Text 11"/>
          <p:cNvSpPr/>
          <p:nvPr/>
        </p:nvSpPr>
        <p:spPr>
          <a:xfrm>
            <a:off x="1029057" y="3942636"/>
            <a:ext cx="2055733" cy="362903"/>
          </a:xfrm>
          <a:prstGeom prst="rect">
            <a:avLst/>
          </a:prstGeom>
          <a:noFill/>
          <a:ln/>
        </p:spPr>
        <p:txBody>
          <a:bodyPr wrap="none" lIns="0" tIns="0" rIns="0" bIns="0" rtlCol="0" anchor="t"/>
          <a:lstStyle/>
          <a:p>
            <a:pPr marL="0" indent="0">
              <a:lnSpc>
                <a:spcPts val="2850"/>
              </a:lnSpc>
              <a:buNone/>
            </a:pPr>
            <a:r>
              <a:rPr lang="en-US" sz="1750" dirty="0">
                <a:solidFill>
                  <a:srgbClr val="000000"/>
                </a:solidFill>
                <a:latin typeface="Inter" pitchFamily="34" charset="0"/>
                <a:ea typeface="Inter" pitchFamily="34" charset="-122"/>
                <a:cs typeface="Inter" pitchFamily="34" charset="-120"/>
              </a:rPr>
              <a:t>Hypothesis Type</a:t>
            </a:r>
            <a:endParaRPr lang="en-US" sz="1750" dirty="0"/>
          </a:p>
        </p:txBody>
      </p:sp>
      <p:sp>
        <p:nvSpPr>
          <p:cNvPr id="16" name="Text 12"/>
          <p:cNvSpPr/>
          <p:nvPr/>
        </p:nvSpPr>
        <p:spPr>
          <a:xfrm>
            <a:off x="3546038" y="3942636"/>
            <a:ext cx="2051923" cy="362903"/>
          </a:xfrm>
          <a:prstGeom prst="rect">
            <a:avLst/>
          </a:prstGeom>
          <a:noFill/>
          <a:ln/>
        </p:spPr>
        <p:txBody>
          <a:bodyPr wrap="none" lIns="0" tIns="0" rIns="0" bIns="0" rtlCol="0" anchor="t"/>
          <a:lstStyle/>
          <a:p>
            <a:pPr marL="0" indent="0">
              <a:lnSpc>
                <a:spcPts val="2850"/>
              </a:lnSpc>
              <a:buNone/>
            </a:pPr>
            <a:r>
              <a:rPr lang="en-US" sz="1750" dirty="0">
                <a:solidFill>
                  <a:srgbClr val="000000"/>
                </a:solidFill>
                <a:latin typeface="Inter" pitchFamily="34" charset="0"/>
                <a:ea typeface="Inter" pitchFamily="34" charset="-122"/>
                <a:cs typeface="Inter" pitchFamily="34" charset="-120"/>
              </a:rPr>
              <a:t>Linear, low-order</a:t>
            </a:r>
            <a:endParaRPr lang="en-US" sz="1750" dirty="0"/>
          </a:p>
        </p:txBody>
      </p:sp>
      <p:sp>
        <p:nvSpPr>
          <p:cNvPr id="17" name="Text 13"/>
          <p:cNvSpPr/>
          <p:nvPr/>
        </p:nvSpPr>
        <p:spPr>
          <a:xfrm>
            <a:off x="6059210" y="3942636"/>
            <a:ext cx="2055733" cy="725805"/>
          </a:xfrm>
          <a:prstGeom prst="rect">
            <a:avLst/>
          </a:prstGeom>
          <a:noFill/>
          <a:ln/>
        </p:spPr>
        <p:txBody>
          <a:bodyPr wrap="square" lIns="0" tIns="0" rIns="0" bIns="0" rtlCol="0" anchor="t"/>
          <a:lstStyle/>
          <a:p>
            <a:pPr marL="0" indent="0">
              <a:lnSpc>
                <a:spcPts val="2850"/>
              </a:lnSpc>
              <a:buNone/>
            </a:pPr>
            <a:r>
              <a:rPr lang="en-US" sz="1750" dirty="0">
                <a:solidFill>
                  <a:srgbClr val="000000"/>
                </a:solidFill>
                <a:latin typeface="Inter" pitchFamily="34" charset="0"/>
                <a:ea typeface="Inter" pitchFamily="34" charset="-122"/>
                <a:cs typeface="Inter" pitchFamily="34" charset="-120"/>
              </a:rPr>
              <a:t>High-order, intricate</a:t>
            </a:r>
            <a:endParaRPr lang="en-US" sz="1750" dirty="0"/>
          </a:p>
        </p:txBody>
      </p:sp>
      <p:sp>
        <p:nvSpPr>
          <p:cNvPr id="18" name="Shape 14"/>
          <p:cNvSpPr/>
          <p:nvPr/>
        </p:nvSpPr>
        <p:spPr>
          <a:xfrm>
            <a:off x="801410" y="4812149"/>
            <a:ext cx="7540347" cy="1013222"/>
          </a:xfrm>
          <a:prstGeom prst="rect">
            <a:avLst/>
          </a:prstGeom>
          <a:solidFill>
            <a:srgbClr val="000000">
              <a:alpha val="4000"/>
            </a:srgbClr>
          </a:solidFill>
          <a:ln/>
        </p:spPr>
      </p:sp>
      <p:sp>
        <p:nvSpPr>
          <p:cNvPr id="19" name="Text 15"/>
          <p:cNvSpPr/>
          <p:nvPr/>
        </p:nvSpPr>
        <p:spPr>
          <a:xfrm>
            <a:off x="1029057" y="4955858"/>
            <a:ext cx="2055733" cy="725805"/>
          </a:xfrm>
          <a:prstGeom prst="rect">
            <a:avLst/>
          </a:prstGeom>
          <a:noFill/>
          <a:ln/>
        </p:spPr>
        <p:txBody>
          <a:bodyPr wrap="square" lIns="0" tIns="0" rIns="0" bIns="0" rtlCol="0" anchor="t"/>
          <a:lstStyle/>
          <a:p>
            <a:pPr marL="0" indent="0">
              <a:lnSpc>
                <a:spcPts val="2850"/>
              </a:lnSpc>
              <a:buNone/>
            </a:pPr>
            <a:r>
              <a:rPr lang="en-US" sz="1750" dirty="0">
                <a:solidFill>
                  <a:srgbClr val="000000"/>
                </a:solidFill>
                <a:latin typeface="Inter" pitchFamily="34" charset="0"/>
                <a:ea typeface="Inter" pitchFamily="34" charset="-122"/>
                <a:cs typeface="Inter" pitchFamily="34" charset="-120"/>
              </a:rPr>
              <a:t>Training Performance</a:t>
            </a:r>
            <a:endParaRPr lang="en-US" sz="1750" dirty="0"/>
          </a:p>
        </p:txBody>
      </p:sp>
      <p:sp>
        <p:nvSpPr>
          <p:cNvPr id="20" name="Text 16"/>
          <p:cNvSpPr/>
          <p:nvPr/>
        </p:nvSpPr>
        <p:spPr>
          <a:xfrm>
            <a:off x="3546038" y="4955858"/>
            <a:ext cx="2051923" cy="362903"/>
          </a:xfrm>
          <a:prstGeom prst="rect">
            <a:avLst/>
          </a:prstGeom>
          <a:noFill/>
          <a:ln/>
        </p:spPr>
        <p:txBody>
          <a:bodyPr wrap="none" lIns="0" tIns="0" rIns="0" bIns="0" rtlCol="0" anchor="t"/>
          <a:lstStyle/>
          <a:p>
            <a:pPr marL="0" indent="0">
              <a:lnSpc>
                <a:spcPts val="2850"/>
              </a:lnSpc>
              <a:buNone/>
            </a:pPr>
            <a:r>
              <a:rPr lang="en-US" sz="1750" dirty="0">
                <a:solidFill>
                  <a:srgbClr val="000000"/>
                </a:solidFill>
                <a:latin typeface="Inter" pitchFamily="34" charset="0"/>
                <a:ea typeface="Inter" pitchFamily="34" charset="-122"/>
                <a:cs typeface="Inter" pitchFamily="34" charset="-120"/>
              </a:rPr>
              <a:t>Poor</a:t>
            </a:r>
            <a:endParaRPr lang="en-US" sz="1750" dirty="0"/>
          </a:p>
        </p:txBody>
      </p:sp>
      <p:sp>
        <p:nvSpPr>
          <p:cNvPr id="21" name="Text 17"/>
          <p:cNvSpPr/>
          <p:nvPr/>
        </p:nvSpPr>
        <p:spPr>
          <a:xfrm>
            <a:off x="6059210" y="4955858"/>
            <a:ext cx="2055733" cy="362903"/>
          </a:xfrm>
          <a:prstGeom prst="rect">
            <a:avLst/>
          </a:prstGeom>
          <a:noFill/>
          <a:ln/>
        </p:spPr>
        <p:txBody>
          <a:bodyPr wrap="none" lIns="0" tIns="0" rIns="0" bIns="0" rtlCol="0" anchor="t"/>
          <a:lstStyle/>
          <a:p>
            <a:pPr marL="0" indent="0">
              <a:lnSpc>
                <a:spcPts val="2850"/>
              </a:lnSpc>
              <a:buNone/>
            </a:pPr>
            <a:r>
              <a:rPr lang="en-US" sz="1750" dirty="0">
                <a:solidFill>
                  <a:srgbClr val="000000"/>
                </a:solidFill>
                <a:latin typeface="Inter" pitchFamily="34" charset="0"/>
                <a:ea typeface="Inter" pitchFamily="34" charset="-122"/>
                <a:cs typeface="Inter" pitchFamily="34" charset="-120"/>
              </a:rPr>
              <a:t>Excellent</a:t>
            </a:r>
            <a:endParaRPr lang="en-US" sz="1750" dirty="0"/>
          </a:p>
        </p:txBody>
      </p:sp>
      <p:sp>
        <p:nvSpPr>
          <p:cNvPr id="22" name="Shape 18"/>
          <p:cNvSpPr/>
          <p:nvPr/>
        </p:nvSpPr>
        <p:spPr>
          <a:xfrm>
            <a:off x="801410" y="5825371"/>
            <a:ext cx="7540347" cy="1013222"/>
          </a:xfrm>
          <a:prstGeom prst="rect">
            <a:avLst/>
          </a:prstGeom>
          <a:solidFill>
            <a:srgbClr val="FFFFFF">
              <a:alpha val="4000"/>
            </a:srgbClr>
          </a:solidFill>
          <a:ln/>
        </p:spPr>
      </p:sp>
      <p:sp>
        <p:nvSpPr>
          <p:cNvPr id="23" name="Text 19"/>
          <p:cNvSpPr/>
          <p:nvPr/>
        </p:nvSpPr>
        <p:spPr>
          <a:xfrm>
            <a:off x="1029057" y="5969079"/>
            <a:ext cx="2055733" cy="725805"/>
          </a:xfrm>
          <a:prstGeom prst="rect">
            <a:avLst/>
          </a:prstGeom>
          <a:noFill/>
          <a:ln/>
        </p:spPr>
        <p:txBody>
          <a:bodyPr wrap="square" lIns="0" tIns="0" rIns="0" bIns="0" rtlCol="0" anchor="t"/>
          <a:lstStyle/>
          <a:p>
            <a:pPr marL="0" indent="0">
              <a:lnSpc>
                <a:spcPts val="2850"/>
              </a:lnSpc>
              <a:buNone/>
            </a:pPr>
            <a:r>
              <a:rPr lang="en-US" sz="1750" dirty="0">
                <a:solidFill>
                  <a:srgbClr val="000000"/>
                </a:solidFill>
                <a:latin typeface="Inter" pitchFamily="34" charset="0"/>
                <a:ea typeface="Inter" pitchFamily="34" charset="-122"/>
                <a:cs typeface="Inter" pitchFamily="34" charset="-120"/>
              </a:rPr>
              <a:t>Testing Performance</a:t>
            </a:r>
            <a:endParaRPr lang="en-US" sz="1750" dirty="0"/>
          </a:p>
        </p:txBody>
      </p:sp>
      <p:sp>
        <p:nvSpPr>
          <p:cNvPr id="24" name="Text 20"/>
          <p:cNvSpPr/>
          <p:nvPr/>
        </p:nvSpPr>
        <p:spPr>
          <a:xfrm>
            <a:off x="3546038" y="5969079"/>
            <a:ext cx="2051923" cy="362903"/>
          </a:xfrm>
          <a:prstGeom prst="rect">
            <a:avLst/>
          </a:prstGeom>
          <a:noFill/>
          <a:ln/>
        </p:spPr>
        <p:txBody>
          <a:bodyPr wrap="none" lIns="0" tIns="0" rIns="0" bIns="0" rtlCol="0" anchor="t"/>
          <a:lstStyle/>
          <a:p>
            <a:pPr marL="0" indent="0">
              <a:lnSpc>
                <a:spcPts val="2850"/>
              </a:lnSpc>
              <a:buNone/>
            </a:pPr>
            <a:r>
              <a:rPr lang="en-US" sz="1750" dirty="0">
                <a:solidFill>
                  <a:srgbClr val="000000"/>
                </a:solidFill>
                <a:latin typeface="Inter" pitchFamily="34" charset="0"/>
                <a:ea typeface="Inter" pitchFamily="34" charset="-122"/>
                <a:cs typeface="Inter" pitchFamily="34" charset="-120"/>
              </a:rPr>
              <a:t>Poor</a:t>
            </a:r>
            <a:endParaRPr lang="en-US" sz="1750" dirty="0"/>
          </a:p>
        </p:txBody>
      </p:sp>
      <p:sp>
        <p:nvSpPr>
          <p:cNvPr id="25" name="Text 21"/>
          <p:cNvSpPr/>
          <p:nvPr/>
        </p:nvSpPr>
        <p:spPr>
          <a:xfrm>
            <a:off x="6059210" y="5969079"/>
            <a:ext cx="2055733" cy="362903"/>
          </a:xfrm>
          <a:prstGeom prst="rect">
            <a:avLst/>
          </a:prstGeom>
          <a:noFill/>
          <a:ln/>
        </p:spPr>
        <p:txBody>
          <a:bodyPr wrap="none" lIns="0" tIns="0" rIns="0" bIns="0" rtlCol="0" anchor="t"/>
          <a:lstStyle/>
          <a:p>
            <a:pPr marL="0" indent="0">
              <a:lnSpc>
                <a:spcPts val="2850"/>
              </a:lnSpc>
              <a:buNone/>
            </a:pPr>
            <a:r>
              <a:rPr lang="en-US" sz="1750" dirty="0">
                <a:solidFill>
                  <a:srgbClr val="000000"/>
                </a:solidFill>
                <a:latin typeface="Inter" pitchFamily="34" charset="0"/>
                <a:ea typeface="Inter" pitchFamily="34" charset="-122"/>
                <a:cs typeface="Inter" pitchFamily="34" charset="-120"/>
              </a:rPr>
              <a:t>Poor</a:t>
            </a:r>
            <a:endParaRPr lang="en-US" sz="1750" dirty="0"/>
          </a:p>
        </p:txBody>
      </p:sp>
      <p:sp>
        <p:nvSpPr>
          <p:cNvPr id="26" name="Shape 22"/>
          <p:cNvSpPr/>
          <p:nvPr/>
        </p:nvSpPr>
        <p:spPr>
          <a:xfrm>
            <a:off x="801410" y="6838593"/>
            <a:ext cx="7540347" cy="650319"/>
          </a:xfrm>
          <a:prstGeom prst="rect">
            <a:avLst/>
          </a:prstGeom>
          <a:solidFill>
            <a:srgbClr val="000000">
              <a:alpha val="4000"/>
            </a:srgbClr>
          </a:solidFill>
          <a:ln/>
        </p:spPr>
      </p:sp>
      <p:sp>
        <p:nvSpPr>
          <p:cNvPr id="27" name="Text 23"/>
          <p:cNvSpPr/>
          <p:nvPr/>
        </p:nvSpPr>
        <p:spPr>
          <a:xfrm>
            <a:off x="1029057" y="6982301"/>
            <a:ext cx="2055733" cy="362903"/>
          </a:xfrm>
          <a:prstGeom prst="rect">
            <a:avLst/>
          </a:prstGeom>
          <a:noFill/>
          <a:ln/>
        </p:spPr>
        <p:txBody>
          <a:bodyPr wrap="none" lIns="0" tIns="0" rIns="0" bIns="0" rtlCol="0" anchor="t"/>
          <a:lstStyle/>
          <a:p>
            <a:pPr marL="0" indent="0">
              <a:lnSpc>
                <a:spcPts val="2850"/>
              </a:lnSpc>
              <a:buNone/>
            </a:pPr>
            <a:r>
              <a:rPr lang="en-US" sz="1750" dirty="0">
                <a:solidFill>
                  <a:srgbClr val="000000"/>
                </a:solidFill>
                <a:latin typeface="Inter" pitchFamily="34" charset="0"/>
                <a:ea typeface="Inter" pitchFamily="34" charset="-122"/>
                <a:cs typeface="Inter" pitchFamily="34" charset="-120"/>
              </a:rPr>
              <a:t>Problem Type</a:t>
            </a:r>
            <a:endParaRPr lang="en-US" sz="1750" dirty="0"/>
          </a:p>
        </p:txBody>
      </p:sp>
      <p:sp>
        <p:nvSpPr>
          <p:cNvPr id="28" name="Text 24"/>
          <p:cNvSpPr/>
          <p:nvPr/>
        </p:nvSpPr>
        <p:spPr>
          <a:xfrm>
            <a:off x="3546038" y="6982301"/>
            <a:ext cx="2051923" cy="362903"/>
          </a:xfrm>
          <a:prstGeom prst="rect">
            <a:avLst/>
          </a:prstGeom>
          <a:noFill/>
          <a:ln/>
        </p:spPr>
        <p:txBody>
          <a:bodyPr wrap="none" lIns="0" tIns="0" rIns="0" bIns="0" rtlCol="0" anchor="t"/>
          <a:lstStyle/>
          <a:p>
            <a:pPr marL="0" indent="0">
              <a:lnSpc>
                <a:spcPts val="2850"/>
              </a:lnSpc>
              <a:buNone/>
            </a:pPr>
            <a:r>
              <a:rPr lang="en-US" sz="1750" dirty="0">
                <a:solidFill>
                  <a:srgbClr val="000000"/>
                </a:solidFill>
                <a:latin typeface="Inter" pitchFamily="34" charset="0"/>
                <a:ea typeface="Inter" pitchFamily="34" charset="-122"/>
                <a:cs typeface="Inter" pitchFamily="34" charset="-120"/>
              </a:rPr>
              <a:t>Underfitting</a:t>
            </a:r>
            <a:endParaRPr lang="en-US" sz="1750" dirty="0"/>
          </a:p>
        </p:txBody>
      </p:sp>
      <p:sp>
        <p:nvSpPr>
          <p:cNvPr id="29" name="Text 25"/>
          <p:cNvSpPr/>
          <p:nvPr/>
        </p:nvSpPr>
        <p:spPr>
          <a:xfrm>
            <a:off x="6059210" y="6982301"/>
            <a:ext cx="2055733" cy="362903"/>
          </a:xfrm>
          <a:prstGeom prst="rect">
            <a:avLst/>
          </a:prstGeom>
          <a:noFill/>
          <a:ln/>
        </p:spPr>
        <p:txBody>
          <a:bodyPr wrap="none" lIns="0" tIns="0" rIns="0" bIns="0" rtlCol="0" anchor="t"/>
          <a:lstStyle/>
          <a:p>
            <a:pPr marL="0" indent="0">
              <a:lnSpc>
                <a:spcPts val="2850"/>
              </a:lnSpc>
              <a:buNone/>
            </a:pPr>
            <a:r>
              <a:rPr lang="en-US" sz="1750" dirty="0">
                <a:solidFill>
                  <a:srgbClr val="000000"/>
                </a:solidFill>
                <a:latin typeface="Inter" pitchFamily="34" charset="0"/>
                <a:ea typeface="Inter" pitchFamily="34" charset="-122"/>
                <a:cs typeface="Inter" pitchFamily="34" charset="-120"/>
              </a:rPr>
              <a:t>Overfitting</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632731" y="2941320"/>
            <a:ext cx="3843239" cy="3189208"/>
          </a:xfrm>
          <a:prstGeom prst="rect">
            <a:avLst/>
          </a:prstGeom>
        </p:spPr>
      </p:pic>
      <p:sp>
        <p:nvSpPr>
          <p:cNvPr id="4" name="Text 0"/>
          <p:cNvSpPr/>
          <p:nvPr/>
        </p:nvSpPr>
        <p:spPr>
          <a:xfrm>
            <a:off x="793790" y="720090"/>
            <a:ext cx="7202805" cy="673418"/>
          </a:xfrm>
          <a:prstGeom prst="rect">
            <a:avLst/>
          </a:prstGeom>
          <a:noFill/>
          <a:ln/>
        </p:spPr>
        <p:txBody>
          <a:bodyPr wrap="none" lIns="0" tIns="0" rIns="0" bIns="0" rtlCol="0" anchor="t"/>
          <a:lstStyle/>
          <a:p>
            <a:pPr marL="0" indent="0">
              <a:lnSpc>
                <a:spcPts val="5300"/>
              </a:lnSpc>
              <a:buNone/>
            </a:pPr>
            <a:r>
              <a:rPr lang="en-US" sz="4200" b="1" dirty="0">
                <a:solidFill>
                  <a:srgbClr val="000000"/>
                </a:solidFill>
                <a:latin typeface="Inter Bold" pitchFamily="34" charset="0"/>
                <a:ea typeface="Inter Bold" pitchFamily="34" charset="-122"/>
                <a:cs typeface="Inter Bold" pitchFamily="34" charset="-120"/>
              </a:rPr>
              <a:t>The Bias-Variance Tradeoff</a:t>
            </a:r>
            <a:endParaRPr lang="en-US" sz="4200" dirty="0"/>
          </a:p>
        </p:txBody>
      </p:sp>
      <p:pic>
        <p:nvPicPr>
          <p:cNvPr id="5" name="Image 2" descr="preencoded.png"/>
          <p:cNvPicPr>
            <a:picLocks noChangeAspect="1"/>
          </p:cNvPicPr>
          <p:nvPr/>
        </p:nvPicPr>
        <p:blipFill>
          <a:blip r:embed="rId5"/>
          <a:stretch>
            <a:fillRect/>
          </a:stretch>
        </p:blipFill>
        <p:spPr>
          <a:xfrm>
            <a:off x="793790" y="1716643"/>
            <a:ext cx="1077397" cy="1930956"/>
          </a:xfrm>
          <a:prstGeom prst="rect">
            <a:avLst/>
          </a:prstGeom>
        </p:spPr>
      </p:pic>
      <p:sp>
        <p:nvSpPr>
          <p:cNvPr id="6" name="Text 1"/>
          <p:cNvSpPr/>
          <p:nvPr/>
        </p:nvSpPr>
        <p:spPr>
          <a:xfrm>
            <a:off x="2194322" y="1932027"/>
            <a:ext cx="2693551" cy="336590"/>
          </a:xfrm>
          <a:prstGeom prst="rect">
            <a:avLst/>
          </a:prstGeom>
          <a:noFill/>
          <a:ln/>
        </p:spPr>
        <p:txBody>
          <a:bodyPr wrap="none" lIns="0" tIns="0" rIns="0" bIns="0" rtlCol="0" anchor="t"/>
          <a:lstStyle/>
          <a:p>
            <a:pPr marL="0" indent="0" algn="l">
              <a:lnSpc>
                <a:spcPts val="2650"/>
              </a:lnSpc>
              <a:buNone/>
            </a:pPr>
            <a:r>
              <a:rPr lang="en-US" sz="2100" b="1" dirty="0">
                <a:solidFill>
                  <a:srgbClr val="000000"/>
                </a:solidFill>
                <a:latin typeface="Inter Bold" pitchFamily="34" charset="0"/>
                <a:ea typeface="Inter Bold" pitchFamily="34" charset="-122"/>
                <a:cs typeface="Inter Bold" pitchFamily="34" charset="-120"/>
              </a:rPr>
              <a:t>Too Simple</a:t>
            </a:r>
            <a:endParaRPr lang="en-US" sz="2100" dirty="0"/>
          </a:p>
        </p:txBody>
      </p:sp>
      <p:sp>
        <p:nvSpPr>
          <p:cNvPr id="7" name="Text 2"/>
          <p:cNvSpPr/>
          <p:nvPr/>
        </p:nvSpPr>
        <p:spPr>
          <a:xfrm>
            <a:off x="2194322" y="2397800"/>
            <a:ext cx="6155888" cy="1034415"/>
          </a:xfrm>
          <a:prstGeom prst="rect">
            <a:avLst/>
          </a:prstGeom>
          <a:noFill/>
          <a:ln/>
        </p:spPr>
        <p:txBody>
          <a:bodyPr wrap="square" lIns="0" tIns="0" rIns="0" bIns="0" rtlCol="0" anchor="t"/>
          <a:lstStyle/>
          <a:p>
            <a:pPr marL="0" indent="0" algn="l">
              <a:lnSpc>
                <a:spcPts val="2700"/>
              </a:lnSpc>
              <a:buNone/>
            </a:pPr>
            <a:r>
              <a:rPr lang="en-US" sz="1650" dirty="0">
                <a:solidFill>
                  <a:srgbClr val="000000"/>
                </a:solidFill>
                <a:latin typeface="Inter" pitchFamily="34" charset="0"/>
                <a:ea typeface="Inter" pitchFamily="34" charset="-122"/>
                <a:cs typeface="Inter" pitchFamily="34" charset="-120"/>
              </a:rPr>
              <a:t>Algorithms with linear equations may have high bias and low variance, leading to underfitting and consistent errors across all datasets.</a:t>
            </a:r>
            <a:endParaRPr lang="en-US" sz="1650" dirty="0"/>
          </a:p>
        </p:txBody>
      </p:sp>
      <p:pic>
        <p:nvPicPr>
          <p:cNvPr id="8" name="Image 3" descr="preencoded.png"/>
          <p:cNvPicPr>
            <a:picLocks noChangeAspect="1"/>
          </p:cNvPicPr>
          <p:nvPr/>
        </p:nvPicPr>
        <p:blipFill>
          <a:blip r:embed="rId6"/>
          <a:stretch>
            <a:fillRect/>
          </a:stretch>
        </p:blipFill>
        <p:spPr>
          <a:xfrm>
            <a:off x="793790" y="3647599"/>
            <a:ext cx="1077397" cy="1930956"/>
          </a:xfrm>
          <a:prstGeom prst="rect">
            <a:avLst/>
          </a:prstGeom>
        </p:spPr>
      </p:pic>
      <p:sp>
        <p:nvSpPr>
          <p:cNvPr id="9" name="Text 3"/>
          <p:cNvSpPr/>
          <p:nvPr/>
        </p:nvSpPr>
        <p:spPr>
          <a:xfrm>
            <a:off x="2194322" y="3862983"/>
            <a:ext cx="2786658" cy="336590"/>
          </a:xfrm>
          <a:prstGeom prst="rect">
            <a:avLst/>
          </a:prstGeom>
          <a:noFill/>
          <a:ln/>
        </p:spPr>
        <p:txBody>
          <a:bodyPr wrap="none" lIns="0" tIns="0" rIns="0" bIns="0" rtlCol="0" anchor="t"/>
          <a:lstStyle/>
          <a:p>
            <a:pPr marL="0" indent="0" algn="l">
              <a:lnSpc>
                <a:spcPts val="2650"/>
              </a:lnSpc>
              <a:buNone/>
            </a:pPr>
            <a:r>
              <a:rPr lang="en-US" sz="2100" b="1" dirty="0">
                <a:solidFill>
                  <a:srgbClr val="000000"/>
                </a:solidFill>
                <a:latin typeface="Inter Bold" pitchFamily="34" charset="0"/>
                <a:ea typeface="Inter Bold" pitchFamily="34" charset="-122"/>
                <a:cs typeface="Inter Bold" pitchFamily="34" charset="-120"/>
              </a:rPr>
              <a:t>Balanced Complexity</a:t>
            </a:r>
            <a:endParaRPr lang="en-US" sz="2100" dirty="0"/>
          </a:p>
        </p:txBody>
      </p:sp>
      <p:sp>
        <p:nvSpPr>
          <p:cNvPr id="10" name="Text 4"/>
          <p:cNvSpPr/>
          <p:nvPr/>
        </p:nvSpPr>
        <p:spPr>
          <a:xfrm>
            <a:off x="2194322" y="4328755"/>
            <a:ext cx="6155888" cy="1034415"/>
          </a:xfrm>
          <a:prstGeom prst="rect">
            <a:avLst/>
          </a:prstGeom>
          <a:noFill/>
          <a:ln/>
        </p:spPr>
        <p:txBody>
          <a:bodyPr wrap="square" lIns="0" tIns="0" rIns="0" bIns="0" rtlCol="0" anchor="t"/>
          <a:lstStyle/>
          <a:p>
            <a:pPr marL="0" indent="0" algn="l">
              <a:lnSpc>
                <a:spcPts val="2700"/>
              </a:lnSpc>
              <a:buNone/>
            </a:pPr>
            <a:r>
              <a:rPr lang="en-US" sz="1650" dirty="0">
                <a:solidFill>
                  <a:srgbClr val="000000"/>
                </a:solidFill>
                <a:latin typeface="Inter" pitchFamily="34" charset="0"/>
                <a:ea typeface="Inter" pitchFamily="34" charset="-122"/>
                <a:cs typeface="Inter" pitchFamily="34" charset="-120"/>
              </a:rPr>
              <a:t>The ideal model finds the sweet spot between simplicity and complexity, balancing bias and variance to perform well on both training and new data.</a:t>
            </a:r>
            <a:endParaRPr lang="en-US" sz="1650" dirty="0"/>
          </a:p>
        </p:txBody>
      </p:sp>
      <p:pic>
        <p:nvPicPr>
          <p:cNvPr id="11" name="Image 4" descr="preencoded.png"/>
          <p:cNvPicPr>
            <a:picLocks noChangeAspect="1"/>
          </p:cNvPicPr>
          <p:nvPr/>
        </p:nvPicPr>
        <p:blipFill>
          <a:blip r:embed="rId7"/>
          <a:stretch>
            <a:fillRect/>
          </a:stretch>
        </p:blipFill>
        <p:spPr>
          <a:xfrm>
            <a:off x="793790" y="5578554"/>
            <a:ext cx="1077397" cy="1930956"/>
          </a:xfrm>
          <a:prstGeom prst="rect">
            <a:avLst/>
          </a:prstGeom>
        </p:spPr>
      </p:pic>
      <p:sp>
        <p:nvSpPr>
          <p:cNvPr id="12" name="Text 5"/>
          <p:cNvSpPr/>
          <p:nvPr/>
        </p:nvSpPr>
        <p:spPr>
          <a:xfrm>
            <a:off x="2194322" y="5793938"/>
            <a:ext cx="2693551" cy="336590"/>
          </a:xfrm>
          <a:prstGeom prst="rect">
            <a:avLst/>
          </a:prstGeom>
          <a:noFill/>
          <a:ln/>
        </p:spPr>
        <p:txBody>
          <a:bodyPr wrap="none" lIns="0" tIns="0" rIns="0" bIns="0" rtlCol="0" anchor="t"/>
          <a:lstStyle/>
          <a:p>
            <a:pPr marL="0" indent="0" algn="l">
              <a:lnSpc>
                <a:spcPts val="2650"/>
              </a:lnSpc>
              <a:buNone/>
            </a:pPr>
            <a:r>
              <a:rPr lang="en-US" sz="2100" b="1" dirty="0">
                <a:solidFill>
                  <a:srgbClr val="000000"/>
                </a:solidFill>
                <a:latin typeface="Inter Bold" pitchFamily="34" charset="0"/>
                <a:ea typeface="Inter Bold" pitchFamily="34" charset="-122"/>
                <a:cs typeface="Inter Bold" pitchFamily="34" charset="-120"/>
              </a:rPr>
              <a:t>Too Complex</a:t>
            </a:r>
            <a:endParaRPr lang="en-US" sz="2100" dirty="0"/>
          </a:p>
        </p:txBody>
      </p:sp>
      <p:sp>
        <p:nvSpPr>
          <p:cNvPr id="13" name="Text 6"/>
          <p:cNvSpPr/>
          <p:nvPr/>
        </p:nvSpPr>
        <p:spPr>
          <a:xfrm>
            <a:off x="2194322" y="6259711"/>
            <a:ext cx="6155888" cy="1034415"/>
          </a:xfrm>
          <a:prstGeom prst="rect">
            <a:avLst/>
          </a:prstGeom>
          <a:noFill/>
          <a:ln/>
        </p:spPr>
        <p:txBody>
          <a:bodyPr wrap="square" lIns="0" tIns="0" rIns="0" bIns="0" rtlCol="0" anchor="t"/>
          <a:lstStyle/>
          <a:p>
            <a:pPr marL="0" indent="0" algn="l">
              <a:lnSpc>
                <a:spcPts val="2700"/>
              </a:lnSpc>
              <a:buNone/>
            </a:pPr>
            <a:r>
              <a:rPr lang="en-US" sz="1650" dirty="0">
                <a:solidFill>
                  <a:srgbClr val="000000"/>
                </a:solidFill>
                <a:latin typeface="Inter" pitchFamily="34" charset="0"/>
                <a:ea typeface="Inter" pitchFamily="34" charset="-122"/>
                <a:cs typeface="Inter" pitchFamily="34" charset="-120"/>
              </a:rPr>
              <a:t>Algorithms with high-degree equations may have high variance and low bias, leading to overfitting and poor performance on new data.</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65176" y="1227871"/>
            <a:ext cx="11340920" cy="5630129"/>
          </a:xfrm>
          <a:prstGeom prst="rect">
            <a:avLst/>
          </a:prstGeom>
        </p:spPr>
      </p:pic>
    </p:spTree>
    <p:extLst>
      <p:ext uri="{BB962C8B-B14F-4D97-AF65-F5344CB8AC3E}">
        <p14:creationId xmlns:p14="http://schemas.microsoft.com/office/powerpoint/2010/main" val="7439045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425773"/>
            <a:ext cx="12391549" cy="708779"/>
          </a:xfrm>
          <a:prstGeom prst="rect">
            <a:avLst/>
          </a:prstGeom>
          <a:noFill/>
          <a:ln/>
        </p:spPr>
        <p:txBody>
          <a:bodyPr wrap="none" lIns="0" tIns="0" rIns="0" bIns="0" rtlCol="0" anchor="t"/>
          <a:lstStyle/>
          <a:p>
            <a:pPr marL="0" indent="0">
              <a:lnSpc>
                <a:spcPts val="5550"/>
              </a:lnSpc>
              <a:buNone/>
            </a:pPr>
            <a:r>
              <a:rPr lang="en-US" sz="4450" b="1" dirty="0">
                <a:solidFill>
                  <a:srgbClr val="000000"/>
                </a:solidFill>
                <a:latin typeface="Inter Bold" pitchFamily="34" charset="0"/>
                <a:ea typeface="Inter Bold" pitchFamily="34" charset="-122"/>
                <a:cs typeface="Inter Bold" pitchFamily="34" charset="-120"/>
              </a:rPr>
              <a:t>Mathematical Representation of the Tradeoff</a:t>
            </a:r>
            <a:endParaRPr lang="en-US" sz="4450" dirty="0"/>
          </a:p>
        </p:txBody>
      </p:sp>
      <p:sp>
        <p:nvSpPr>
          <p:cNvPr id="3" name="Shape 1"/>
          <p:cNvSpPr/>
          <p:nvPr/>
        </p:nvSpPr>
        <p:spPr>
          <a:xfrm>
            <a:off x="793790" y="2474714"/>
            <a:ext cx="170021" cy="1216223"/>
          </a:xfrm>
          <a:prstGeom prst="roundRect">
            <a:avLst>
              <a:gd name="adj" fmla="val 56033"/>
            </a:avLst>
          </a:prstGeom>
          <a:solidFill>
            <a:srgbClr val="F7D5D4"/>
          </a:solidFill>
          <a:ln w="7620">
            <a:solidFill>
              <a:srgbClr val="DDBBBA"/>
            </a:solidFill>
            <a:prstDash val="solid"/>
          </a:ln>
        </p:spPr>
      </p:sp>
      <p:sp>
        <p:nvSpPr>
          <p:cNvPr id="4" name="Text 2"/>
          <p:cNvSpPr/>
          <p:nvPr/>
        </p:nvSpPr>
        <p:spPr>
          <a:xfrm>
            <a:off x="1303973" y="247471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Total Error Formula</a:t>
            </a:r>
            <a:endParaRPr lang="en-US" sz="2200" dirty="0"/>
          </a:p>
        </p:txBody>
      </p:sp>
      <p:sp>
        <p:nvSpPr>
          <p:cNvPr id="5" name="Text 3"/>
          <p:cNvSpPr/>
          <p:nvPr/>
        </p:nvSpPr>
        <p:spPr>
          <a:xfrm>
            <a:off x="1303973" y="2965133"/>
            <a:ext cx="12532638" cy="725805"/>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The total error of a model can be decomposed into bias, variance, and irreducible error components, as shown in the equation: Total Error = Bias² + Variance + Irreducible Error.</a:t>
            </a:r>
            <a:endParaRPr lang="en-US" sz="1750" dirty="0"/>
          </a:p>
        </p:txBody>
      </p:sp>
      <p:sp>
        <p:nvSpPr>
          <p:cNvPr id="6" name="Shape 4"/>
          <p:cNvSpPr/>
          <p:nvPr/>
        </p:nvSpPr>
        <p:spPr>
          <a:xfrm>
            <a:off x="1133951" y="3917752"/>
            <a:ext cx="170021" cy="1216223"/>
          </a:xfrm>
          <a:prstGeom prst="roundRect">
            <a:avLst>
              <a:gd name="adj" fmla="val 56033"/>
            </a:avLst>
          </a:prstGeom>
          <a:solidFill>
            <a:srgbClr val="F7D5D4"/>
          </a:solidFill>
          <a:ln w="7620">
            <a:solidFill>
              <a:srgbClr val="DDBBBA"/>
            </a:solidFill>
            <a:prstDash val="solid"/>
          </a:ln>
        </p:spPr>
      </p:sp>
      <p:sp>
        <p:nvSpPr>
          <p:cNvPr id="7" name="Text 5"/>
          <p:cNvSpPr/>
          <p:nvPr/>
        </p:nvSpPr>
        <p:spPr>
          <a:xfrm>
            <a:off x="1644134" y="391775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Bias Component</a:t>
            </a:r>
            <a:endParaRPr lang="en-US" sz="2200" dirty="0"/>
          </a:p>
        </p:txBody>
      </p:sp>
      <p:sp>
        <p:nvSpPr>
          <p:cNvPr id="8" name="Text 6"/>
          <p:cNvSpPr/>
          <p:nvPr/>
        </p:nvSpPr>
        <p:spPr>
          <a:xfrm>
            <a:off x="1644134" y="4408170"/>
            <a:ext cx="12192476" cy="725805"/>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Bias represents how far off the model's predictions are from the true values on average. Reducing bias typically requires more complex models.</a:t>
            </a:r>
            <a:endParaRPr lang="en-US" sz="1750" dirty="0"/>
          </a:p>
        </p:txBody>
      </p:sp>
      <p:sp>
        <p:nvSpPr>
          <p:cNvPr id="9" name="Shape 7"/>
          <p:cNvSpPr/>
          <p:nvPr/>
        </p:nvSpPr>
        <p:spPr>
          <a:xfrm>
            <a:off x="1474232" y="5360789"/>
            <a:ext cx="170021" cy="1216223"/>
          </a:xfrm>
          <a:prstGeom prst="roundRect">
            <a:avLst>
              <a:gd name="adj" fmla="val 56033"/>
            </a:avLst>
          </a:prstGeom>
          <a:solidFill>
            <a:srgbClr val="F7D5D4"/>
          </a:solidFill>
          <a:ln w="7620">
            <a:solidFill>
              <a:srgbClr val="DDBBBA"/>
            </a:solidFill>
            <a:prstDash val="solid"/>
          </a:ln>
        </p:spPr>
      </p:sp>
      <p:sp>
        <p:nvSpPr>
          <p:cNvPr id="10" name="Text 8"/>
          <p:cNvSpPr/>
          <p:nvPr/>
        </p:nvSpPr>
        <p:spPr>
          <a:xfrm>
            <a:off x="1984415" y="5360789"/>
            <a:ext cx="2916198"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Variance Component</a:t>
            </a:r>
            <a:endParaRPr lang="en-US" sz="2200" dirty="0"/>
          </a:p>
        </p:txBody>
      </p:sp>
      <p:sp>
        <p:nvSpPr>
          <p:cNvPr id="11" name="Text 9"/>
          <p:cNvSpPr/>
          <p:nvPr/>
        </p:nvSpPr>
        <p:spPr>
          <a:xfrm>
            <a:off x="1984415" y="5851208"/>
            <a:ext cx="11852196" cy="725805"/>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Variance represents how much the model's predictions fluctuate for different training sets. Reducing variance typically requires simpler models or more training data.</a:t>
            </a:r>
            <a:endParaRPr lang="en-US" sz="1750" dirty="0"/>
          </a:p>
        </p:txBody>
      </p:sp>
      <p:pic>
        <p:nvPicPr>
          <p:cNvPr id="12" name="Image 0" descr="preencoded.png"/>
          <p:cNvPicPr>
            <a:picLocks noChangeAspect="1"/>
          </p:cNvPicPr>
          <p:nvPr/>
        </p:nvPicPr>
        <p:blipFill>
          <a:blip r:embed="rId3"/>
          <a:stretch>
            <a:fillRect/>
          </a:stretch>
        </p:blipFill>
        <p:spPr>
          <a:xfrm>
            <a:off x="13464778" y="228600"/>
            <a:ext cx="937022" cy="50280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25542" y="412909"/>
            <a:ext cx="8334256" cy="469225"/>
          </a:xfrm>
          <a:prstGeom prst="rect">
            <a:avLst/>
          </a:prstGeom>
          <a:noFill/>
          <a:ln/>
        </p:spPr>
        <p:txBody>
          <a:bodyPr wrap="none" lIns="0" tIns="0" rIns="0" bIns="0" rtlCol="0" anchor="t"/>
          <a:lstStyle/>
          <a:p>
            <a:pPr marL="0" indent="0">
              <a:lnSpc>
                <a:spcPts val="3650"/>
              </a:lnSpc>
              <a:buNone/>
            </a:pPr>
            <a:r>
              <a:rPr lang="en-US" sz="2950" b="1" dirty="0">
                <a:solidFill>
                  <a:srgbClr val="000000"/>
                </a:solidFill>
                <a:latin typeface="Inter Bold" pitchFamily="34" charset="0"/>
                <a:ea typeface="Inter Bold" pitchFamily="34" charset="-122"/>
                <a:cs typeface="Inter Bold" pitchFamily="34" charset="-120"/>
              </a:rPr>
              <a:t>Visualizing the Error-Complexity Relationship</a:t>
            </a:r>
            <a:endParaRPr lang="en-US" sz="2950" dirty="0"/>
          </a:p>
        </p:txBody>
      </p:sp>
      <p:sp>
        <p:nvSpPr>
          <p:cNvPr id="3" name="Text 1"/>
          <p:cNvSpPr/>
          <p:nvPr/>
        </p:nvSpPr>
        <p:spPr>
          <a:xfrm>
            <a:off x="3639860" y="1630204"/>
            <a:ext cx="1877020" cy="234672"/>
          </a:xfrm>
          <a:prstGeom prst="rect">
            <a:avLst/>
          </a:prstGeom>
          <a:noFill/>
          <a:ln/>
        </p:spPr>
        <p:txBody>
          <a:bodyPr wrap="none" lIns="0" tIns="0" rIns="0" bIns="0" rtlCol="0" anchor="t"/>
          <a:lstStyle/>
          <a:p>
            <a:pPr marL="0" indent="0" algn="r">
              <a:lnSpc>
                <a:spcPts val="1800"/>
              </a:lnSpc>
              <a:buNone/>
            </a:pPr>
            <a:r>
              <a:rPr lang="en-US" sz="1450" b="1" dirty="0">
                <a:solidFill>
                  <a:srgbClr val="000000"/>
                </a:solidFill>
                <a:latin typeface="Inter Bold" pitchFamily="34" charset="0"/>
                <a:ea typeface="Inter Bold" pitchFamily="34" charset="-122"/>
                <a:cs typeface="Inter Bold" pitchFamily="34" charset="-120"/>
              </a:rPr>
              <a:t>Low Complexity</a:t>
            </a:r>
            <a:endParaRPr lang="en-US" sz="1450" dirty="0"/>
          </a:p>
        </p:txBody>
      </p:sp>
      <p:sp>
        <p:nvSpPr>
          <p:cNvPr id="4" name="Text 2"/>
          <p:cNvSpPr/>
          <p:nvPr/>
        </p:nvSpPr>
        <p:spPr>
          <a:xfrm>
            <a:off x="525542" y="1954887"/>
            <a:ext cx="4991338" cy="240149"/>
          </a:xfrm>
          <a:prstGeom prst="rect">
            <a:avLst/>
          </a:prstGeom>
          <a:noFill/>
          <a:ln/>
        </p:spPr>
        <p:txBody>
          <a:bodyPr wrap="none" lIns="0" tIns="0" rIns="0" bIns="0" rtlCol="0" anchor="t"/>
          <a:lstStyle/>
          <a:p>
            <a:pPr marL="0" indent="0" algn="r">
              <a:lnSpc>
                <a:spcPts val="1850"/>
              </a:lnSpc>
              <a:buNone/>
            </a:pPr>
            <a:r>
              <a:rPr lang="en-US" sz="1150" dirty="0">
                <a:solidFill>
                  <a:srgbClr val="000000"/>
                </a:solidFill>
                <a:latin typeface="Inter" pitchFamily="34" charset="0"/>
                <a:ea typeface="Inter" pitchFamily="34" charset="-122"/>
                <a:cs typeface="Inter" pitchFamily="34" charset="-120"/>
              </a:rPr>
              <a:t>Simple models have high bias but low variance.</a:t>
            </a:r>
            <a:endParaRPr lang="en-US" sz="1150" dirty="0"/>
          </a:p>
        </p:txBody>
      </p:sp>
      <p:pic>
        <p:nvPicPr>
          <p:cNvPr id="5" name="Image 0" descr="preencoded.png"/>
          <p:cNvPicPr>
            <a:picLocks noChangeAspect="1"/>
          </p:cNvPicPr>
          <p:nvPr/>
        </p:nvPicPr>
        <p:blipFill>
          <a:blip r:embed="rId3"/>
          <a:stretch>
            <a:fillRect/>
          </a:stretch>
        </p:blipFill>
        <p:spPr>
          <a:xfrm>
            <a:off x="5742027" y="1182410"/>
            <a:ext cx="3146346" cy="3146346"/>
          </a:xfrm>
          <a:prstGeom prst="rect">
            <a:avLst/>
          </a:prstGeom>
        </p:spPr>
      </p:pic>
      <p:sp>
        <p:nvSpPr>
          <p:cNvPr id="6" name="Text 3"/>
          <p:cNvSpPr/>
          <p:nvPr/>
        </p:nvSpPr>
        <p:spPr>
          <a:xfrm>
            <a:off x="6569571" y="1714083"/>
            <a:ext cx="224671" cy="280749"/>
          </a:xfrm>
          <a:prstGeom prst="rect">
            <a:avLst/>
          </a:prstGeom>
          <a:noFill/>
          <a:ln/>
        </p:spPr>
        <p:txBody>
          <a:bodyPr wrap="none" lIns="0" tIns="0" rIns="0" bIns="0" rtlCol="0" anchor="t"/>
          <a:lstStyle/>
          <a:p>
            <a:pPr marL="0" indent="0">
              <a:lnSpc>
                <a:spcPts val="2800"/>
              </a:lnSpc>
              <a:buNone/>
            </a:pPr>
            <a:r>
              <a:rPr lang="en-US" sz="1750" b="1" dirty="0">
                <a:solidFill>
                  <a:srgbClr val="000000"/>
                </a:solidFill>
                <a:latin typeface="Inter Bold" pitchFamily="34" charset="0"/>
                <a:ea typeface="Inter Bold" pitchFamily="34" charset="-122"/>
                <a:cs typeface="Inter Bold" pitchFamily="34" charset="-120"/>
              </a:rPr>
              <a:t>1</a:t>
            </a:r>
            <a:endParaRPr lang="en-US" sz="1750" dirty="0"/>
          </a:p>
        </p:txBody>
      </p:sp>
      <p:sp>
        <p:nvSpPr>
          <p:cNvPr id="7" name="Text 4"/>
          <p:cNvSpPr/>
          <p:nvPr/>
        </p:nvSpPr>
        <p:spPr>
          <a:xfrm>
            <a:off x="9113520" y="1630204"/>
            <a:ext cx="1877020" cy="234672"/>
          </a:xfrm>
          <a:prstGeom prst="rect">
            <a:avLst/>
          </a:prstGeom>
          <a:noFill/>
          <a:ln/>
        </p:spPr>
        <p:txBody>
          <a:bodyPr wrap="none" lIns="0" tIns="0" rIns="0" bIns="0" rtlCol="0" anchor="t"/>
          <a:lstStyle/>
          <a:p>
            <a:pPr marL="0" indent="0" algn="l">
              <a:lnSpc>
                <a:spcPts val="1800"/>
              </a:lnSpc>
              <a:buNone/>
            </a:pPr>
            <a:r>
              <a:rPr lang="en-US" sz="1450" b="1" dirty="0">
                <a:solidFill>
                  <a:srgbClr val="000000"/>
                </a:solidFill>
                <a:latin typeface="Inter Bold" pitchFamily="34" charset="0"/>
                <a:ea typeface="Inter Bold" pitchFamily="34" charset="-122"/>
                <a:cs typeface="Inter Bold" pitchFamily="34" charset="-120"/>
              </a:rPr>
              <a:t>Optimal Complexity</a:t>
            </a:r>
            <a:endParaRPr lang="en-US" sz="1450" dirty="0"/>
          </a:p>
        </p:txBody>
      </p:sp>
      <p:sp>
        <p:nvSpPr>
          <p:cNvPr id="8" name="Text 5"/>
          <p:cNvSpPr/>
          <p:nvPr/>
        </p:nvSpPr>
        <p:spPr>
          <a:xfrm>
            <a:off x="9113520" y="1954887"/>
            <a:ext cx="4991338" cy="240149"/>
          </a:xfrm>
          <a:prstGeom prst="rect">
            <a:avLst/>
          </a:prstGeom>
          <a:noFill/>
          <a:ln/>
        </p:spPr>
        <p:txBody>
          <a:bodyPr wrap="none" lIns="0" tIns="0" rIns="0" bIns="0" rtlCol="0" anchor="t"/>
          <a:lstStyle/>
          <a:p>
            <a:pPr marL="0" indent="0" algn="l">
              <a:lnSpc>
                <a:spcPts val="1850"/>
              </a:lnSpc>
              <a:buNone/>
            </a:pPr>
            <a:r>
              <a:rPr lang="en-US" sz="1150" dirty="0">
                <a:solidFill>
                  <a:srgbClr val="000000"/>
                </a:solidFill>
                <a:latin typeface="Inter" pitchFamily="34" charset="0"/>
                <a:ea typeface="Inter" pitchFamily="34" charset="-122"/>
                <a:cs typeface="Inter" pitchFamily="34" charset="-120"/>
              </a:rPr>
              <a:t>The sweet spot minimizes total error.</a:t>
            </a:r>
            <a:endParaRPr lang="en-US" sz="1150" dirty="0"/>
          </a:p>
        </p:txBody>
      </p:sp>
      <p:pic>
        <p:nvPicPr>
          <p:cNvPr id="9" name="Image 1" descr="preencoded.png"/>
          <p:cNvPicPr>
            <a:picLocks noChangeAspect="1"/>
          </p:cNvPicPr>
          <p:nvPr/>
        </p:nvPicPr>
        <p:blipFill>
          <a:blip r:embed="rId4"/>
          <a:stretch>
            <a:fillRect/>
          </a:stretch>
        </p:blipFill>
        <p:spPr>
          <a:xfrm>
            <a:off x="5742027" y="1182410"/>
            <a:ext cx="3146346" cy="3146346"/>
          </a:xfrm>
          <a:prstGeom prst="rect">
            <a:avLst/>
          </a:prstGeom>
        </p:spPr>
      </p:pic>
      <p:sp>
        <p:nvSpPr>
          <p:cNvPr id="10" name="Text 6"/>
          <p:cNvSpPr/>
          <p:nvPr/>
        </p:nvSpPr>
        <p:spPr>
          <a:xfrm>
            <a:off x="8103810" y="1981855"/>
            <a:ext cx="224671" cy="280749"/>
          </a:xfrm>
          <a:prstGeom prst="rect">
            <a:avLst/>
          </a:prstGeom>
          <a:noFill/>
          <a:ln/>
        </p:spPr>
        <p:txBody>
          <a:bodyPr wrap="none" lIns="0" tIns="0" rIns="0" bIns="0" rtlCol="0" anchor="t"/>
          <a:lstStyle/>
          <a:p>
            <a:pPr marL="0" indent="0">
              <a:lnSpc>
                <a:spcPts val="2800"/>
              </a:lnSpc>
              <a:buNone/>
            </a:pPr>
            <a:r>
              <a:rPr lang="en-US" sz="1750" b="1" dirty="0">
                <a:solidFill>
                  <a:srgbClr val="000000"/>
                </a:solidFill>
                <a:latin typeface="Inter Bold" pitchFamily="34" charset="0"/>
                <a:ea typeface="Inter Bold" pitchFamily="34" charset="-122"/>
                <a:cs typeface="Inter Bold" pitchFamily="34" charset="-120"/>
              </a:rPr>
              <a:t>2</a:t>
            </a:r>
            <a:endParaRPr lang="en-US" sz="1750" dirty="0"/>
          </a:p>
        </p:txBody>
      </p:sp>
      <p:sp>
        <p:nvSpPr>
          <p:cNvPr id="11" name="Text 7"/>
          <p:cNvSpPr/>
          <p:nvPr/>
        </p:nvSpPr>
        <p:spPr>
          <a:xfrm>
            <a:off x="9113520" y="3316010"/>
            <a:ext cx="1877020" cy="234672"/>
          </a:xfrm>
          <a:prstGeom prst="rect">
            <a:avLst/>
          </a:prstGeom>
          <a:noFill/>
          <a:ln/>
        </p:spPr>
        <p:txBody>
          <a:bodyPr wrap="none" lIns="0" tIns="0" rIns="0" bIns="0" rtlCol="0" anchor="t"/>
          <a:lstStyle/>
          <a:p>
            <a:pPr marL="0" indent="0" algn="l">
              <a:lnSpc>
                <a:spcPts val="1800"/>
              </a:lnSpc>
              <a:buNone/>
            </a:pPr>
            <a:r>
              <a:rPr lang="en-US" sz="1450" b="1" dirty="0">
                <a:solidFill>
                  <a:srgbClr val="000000"/>
                </a:solidFill>
                <a:latin typeface="Inter Bold" pitchFamily="34" charset="0"/>
                <a:ea typeface="Inter Bold" pitchFamily="34" charset="-122"/>
                <a:cs typeface="Inter Bold" pitchFamily="34" charset="-120"/>
              </a:rPr>
              <a:t>High Complexity</a:t>
            </a:r>
            <a:endParaRPr lang="en-US" sz="1450" dirty="0"/>
          </a:p>
        </p:txBody>
      </p:sp>
      <p:sp>
        <p:nvSpPr>
          <p:cNvPr id="12" name="Text 8"/>
          <p:cNvSpPr/>
          <p:nvPr/>
        </p:nvSpPr>
        <p:spPr>
          <a:xfrm>
            <a:off x="9113520" y="3640693"/>
            <a:ext cx="4991338" cy="240149"/>
          </a:xfrm>
          <a:prstGeom prst="rect">
            <a:avLst/>
          </a:prstGeom>
          <a:noFill/>
          <a:ln/>
        </p:spPr>
        <p:txBody>
          <a:bodyPr wrap="none" lIns="0" tIns="0" rIns="0" bIns="0" rtlCol="0" anchor="t"/>
          <a:lstStyle/>
          <a:p>
            <a:pPr marL="0" indent="0" algn="l">
              <a:lnSpc>
                <a:spcPts val="1850"/>
              </a:lnSpc>
              <a:buNone/>
            </a:pPr>
            <a:r>
              <a:rPr lang="en-US" sz="1150" dirty="0">
                <a:solidFill>
                  <a:srgbClr val="000000"/>
                </a:solidFill>
                <a:latin typeface="Inter" pitchFamily="34" charset="0"/>
                <a:ea typeface="Inter" pitchFamily="34" charset="-122"/>
                <a:cs typeface="Inter" pitchFamily="34" charset="-120"/>
              </a:rPr>
              <a:t>Complex models have low bias but high variance.</a:t>
            </a:r>
            <a:endParaRPr lang="en-US" sz="1150" dirty="0"/>
          </a:p>
        </p:txBody>
      </p:sp>
      <p:pic>
        <p:nvPicPr>
          <p:cNvPr id="13" name="Image 2" descr="preencoded.png"/>
          <p:cNvPicPr>
            <a:picLocks noChangeAspect="1"/>
          </p:cNvPicPr>
          <p:nvPr/>
        </p:nvPicPr>
        <p:blipFill>
          <a:blip r:embed="rId5"/>
          <a:stretch>
            <a:fillRect/>
          </a:stretch>
        </p:blipFill>
        <p:spPr>
          <a:xfrm>
            <a:off x="5742027" y="1182410"/>
            <a:ext cx="3146346" cy="3146346"/>
          </a:xfrm>
          <a:prstGeom prst="rect">
            <a:avLst/>
          </a:prstGeom>
        </p:spPr>
      </p:pic>
      <p:sp>
        <p:nvSpPr>
          <p:cNvPr id="14" name="Text 9"/>
          <p:cNvSpPr/>
          <p:nvPr/>
        </p:nvSpPr>
        <p:spPr>
          <a:xfrm>
            <a:off x="7836039" y="3516094"/>
            <a:ext cx="224671" cy="280749"/>
          </a:xfrm>
          <a:prstGeom prst="rect">
            <a:avLst/>
          </a:prstGeom>
          <a:noFill/>
          <a:ln/>
        </p:spPr>
        <p:txBody>
          <a:bodyPr wrap="none" lIns="0" tIns="0" rIns="0" bIns="0" rtlCol="0" anchor="t"/>
          <a:lstStyle/>
          <a:p>
            <a:pPr marL="0" indent="0">
              <a:lnSpc>
                <a:spcPts val="2800"/>
              </a:lnSpc>
              <a:buNone/>
            </a:pPr>
            <a:r>
              <a:rPr lang="en-US" sz="1750" b="1" dirty="0">
                <a:solidFill>
                  <a:srgbClr val="000000"/>
                </a:solidFill>
                <a:latin typeface="Inter Bold" pitchFamily="34" charset="0"/>
                <a:ea typeface="Inter Bold" pitchFamily="34" charset="-122"/>
                <a:cs typeface="Inter Bold" pitchFamily="34" charset="-120"/>
              </a:rPr>
              <a:t>3</a:t>
            </a:r>
            <a:endParaRPr lang="en-US" sz="1750" dirty="0"/>
          </a:p>
        </p:txBody>
      </p:sp>
      <p:sp>
        <p:nvSpPr>
          <p:cNvPr id="15" name="Text 10"/>
          <p:cNvSpPr/>
          <p:nvPr/>
        </p:nvSpPr>
        <p:spPr>
          <a:xfrm>
            <a:off x="3639860" y="3316010"/>
            <a:ext cx="1877020" cy="234672"/>
          </a:xfrm>
          <a:prstGeom prst="rect">
            <a:avLst/>
          </a:prstGeom>
          <a:noFill/>
          <a:ln/>
        </p:spPr>
        <p:txBody>
          <a:bodyPr wrap="none" lIns="0" tIns="0" rIns="0" bIns="0" rtlCol="0" anchor="t"/>
          <a:lstStyle/>
          <a:p>
            <a:pPr marL="0" indent="0" algn="r">
              <a:lnSpc>
                <a:spcPts val="1800"/>
              </a:lnSpc>
              <a:buNone/>
            </a:pPr>
            <a:r>
              <a:rPr lang="en-US" sz="1450" b="1" dirty="0">
                <a:solidFill>
                  <a:srgbClr val="000000"/>
                </a:solidFill>
                <a:latin typeface="Inter Bold" pitchFamily="34" charset="0"/>
                <a:ea typeface="Inter Bold" pitchFamily="34" charset="-122"/>
                <a:cs typeface="Inter Bold" pitchFamily="34" charset="-120"/>
              </a:rPr>
              <a:t>Error Assessment</a:t>
            </a:r>
            <a:endParaRPr lang="en-US" sz="1450" dirty="0"/>
          </a:p>
        </p:txBody>
      </p:sp>
      <p:sp>
        <p:nvSpPr>
          <p:cNvPr id="16" name="Text 11"/>
          <p:cNvSpPr/>
          <p:nvPr/>
        </p:nvSpPr>
        <p:spPr>
          <a:xfrm>
            <a:off x="525542" y="3640693"/>
            <a:ext cx="4991338" cy="240149"/>
          </a:xfrm>
          <a:prstGeom prst="rect">
            <a:avLst/>
          </a:prstGeom>
          <a:noFill/>
          <a:ln/>
        </p:spPr>
        <p:txBody>
          <a:bodyPr wrap="none" lIns="0" tIns="0" rIns="0" bIns="0" rtlCol="0" anchor="t"/>
          <a:lstStyle/>
          <a:p>
            <a:pPr marL="0" indent="0" algn="r">
              <a:lnSpc>
                <a:spcPts val="1850"/>
              </a:lnSpc>
              <a:buNone/>
            </a:pPr>
            <a:r>
              <a:rPr lang="en-US" sz="1150" dirty="0">
                <a:solidFill>
                  <a:srgbClr val="000000"/>
                </a:solidFill>
                <a:latin typeface="Inter" pitchFamily="34" charset="0"/>
                <a:ea typeface="Inter" pitchFamily="34" charset="-122"/>
                <a:cs typeface="Inter" pitchFamily="34" charset="-120"/>
              </a:rPr>
              <a:t>Evaluate total error to find optimal model.</a:t>
            </a:r>
            <a:endParaRPr lang="en-US" sz="1150" dirty="0"/>
          </a:p>
        </p:txBody>
      </p:sp>
      <p:pic>
        <p:nvPicPr>
          <p:cNvPr id="17" name="Image 3" descr="preencoded.png"/>
          <p:cNvPicPr>
            <a:picLocks noChangeAspect="1"/>
          </p:cNvPicPr>
          <p:nvPr/>
        </p:nvPicPr>
        <p:blipFill>
          <a:blip r:embed="rId6"/>
          <a:stretch>
            <a:fillRect/>
          </a:stretch>
        </p:blipFill>
        <p:spPr>
          <a:xfrm>
            <a:off x="5742027" y="1182410"/>
            <a:ext cx="3146346" cy="3146346"/>
          </a:xfrm>
          <a:prstGeom prst="rect">
            <a:avLst/>
          </a:prstGeom>
        </p:spPr>
      </p:pic>
      <p:sp>
        <p:nvSpPr>
          <p:cNvPr id="18" name="Text 12"/>
          <p:cNvSpPr/>
          <p:nvPr/>
        </p:nvSpPr>
        <p:spPr>
          <a:xfrm>
            <a:off x="6301800" y="3248323"/>
            <a:ext cx="224671" cy="280749"/>
          </a:xfrm>
          <a:prstGeom prst="rect">
            <a:avLst/>
          </a:prstGeom>
          <a:noFill/>
          <a:ln/>
        </p:spPr>
        <p:txBody>
          <a:bodyPr wrap="none" lIns="0" tIns="0" rIns="0" bIns="0" rtlCol="0" anchor="t"/>
          <a:lstStyle/>
          <a:p>
            <a:pPr marL="0" indent="0">
              <a:lnSpc>
                <a:spcPts val="2800"/>
              </a:lnSpc>
              <a:buNone/>
            </a:pPr>
            <a:r>
              <a:rPr lang="en-US" sz="1750" b="1" dirty="0">
                <a:solidFill>
                  <a:srgbClr val="000000"/>
                </a:solidFill>
                <a:latin typeface="Inter Bold" pitchFamily="34" charset="0"/>
                <a:ea typeface="Inter Bold" pitchFamily="34" charset="-122"/>
                <a:cs typeface="Inter Bold" pitchFamily="34" charset="-120"/>
              </a:rPr>
              <a:t>4</a:t>
            </a:r>
            <a:endParaRPr lang="en-US" sz="1750" dirty="0"/>
          </a:p>
        </p:txBody>
      </p:sp>
      <p:pic>
        <p:nvPicPr>
          <p:cNvPr id="19" name="Image 4" descr="preencoded.png"/>
          <p:cNvPicPr>
            <a:picLocks noChangeAspect="1"/>
          </p:cNvPicPr>
          <p:nvPr/>
        </p:nvPicPr>
        <p:blipFill>
          <a:blip r:embed="rId7"/>
          <a:stretch>
            <a:fillRect/>
          </a:stretch>
        </p:blipFill>
        <p:spPr>
          <a:xfrm>
            <a:off x="315310" y="3970853"/>
            <a:ext cx="5948092" cy="4152900"/>
          </a:xfrm>
          <a:prstGeom prst="rect">
            <a:avLst/>
          </a:prstGeom>
        </p:spPr>
      </p:pic>
      <p:pic>
        <p:nvPicPr>
          <p:cNvPr id="20" name="Image 5" descr="preencoded.png"/>
          <p:cNvPicPr>
            <a:picLocks noChangeAspect="1"/>
          </p:cNvPicPr>
          <p:nvPr/>
        </p:nvPicPr>
        <p:blipFill>
          <a:blip r:embed="rId8"/>
          <a:stretch>
            <a:fillRect/>
          </a:stretch>
        </p:blipFill>
        <p:spPr>
          <a:xfrm>
            <a:off x="13464778" y="228600"/>
            <a:ext cx="937022" cy="50280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834628"/>
            <a:ext cx="9448205" cy="708779"/>
          </a:xfrm>
          <a:prstGeom prst="rect">
            <a:avLst/>
          </a:prstGeom>
          <a:noFill/>
          <a:ln/>
        </p:spPr>
        <p:txBody>
          <a:bodyPr wrap="none" lIns="0" tIns="0" rIns="0" bIns="0" rtlCol="0" anchor="t"/>
          <a:lstStyle/>
          <a:p>
            <a:pPr marL="0" indent="0">
              <a:lnSpc>
                <a:spcPts val="5550"/>
              </a:lnSpc>
              <a:buNone/>
            </a:pPr>
            <a:r>
              <a:rPr lang="en-US" sz="4450" b="1" dirty="0">
                <a:solidFill>
                  <a:srgbClr val="000000"/>
                </a:solidFill>
                <a:latin typeface="Inter Bold" pitchFamily="34" charset="0"/>
                <a:ea typeface="Inter Bold" pitchFamily="34" charset="-122"/>
                <a:cs typeface="Inter Bold" pitchFamily="34" charset="-120"/>
              </a:rPr>
              <a:t>Finding the Optimal Tradeoff Point</a:t>
            </a:r>
            <a:endParaRPr lang="en-US" sz="4450" dirty="0"/>
          </a:p>
        </p:txBody>
      </p:sp>
      <p:pic>
        <p:nvPicPr>
          <p:cNvPr id="3" name="Image 0" descr="preencoded.png"/>
          <p:cNvPicPr>
            <a:picLocks noChangeAspect="1"/>
          </p:cNvPicPr>
          <p:nvPr/>
        </p:nvPicPr>
        <p:blipFill>
          <a:blip r:embed="rId3"/>
          <a:stretch>
            <a:fillRect/>
          </a:stretch>
        </p:blipFill>
        <p:spPr>
          <a:xfrm>
            <a:off x="3247430" y="1997035"/>
            <a:ext cx="1614011" cy="1306949"/>
          </a:xfrm>
          <a:prstGeom prst="rect">
            <a:avLst/>
          </a:prstGeom>
        </p:spPr>
      </p:pic>
      <p:sp>
        <p:nvSpPr>
          <p:cNvPr id="4" name="Text 1"/>
          <p:cNvSpPr/>
          <p:nvPr/>
        </p:nvSpPr>
        <p:spPr>
          <a:xfrm>
            <a:off x="3894892" y="2613065"/>
            <a:ext cx="318968" cy="398621"/>
          </a:xfrm>
          <a:prstGeom prst="rect">
            <a:avLst/>
          </a:prstGeom>
          <a:noFill/>
          <a:ln/>
        </p:spPr>
        <p:txBody>
          <a:bodyPr wrap="none" lIns="0" tIns="0" rIns="0" bIns="0" rtlCol="0" anchor="t"/>
          <a:lstStyle/>
          <a:p>
            <a:pPr marL="0" indent="0" algn="ctr">
              <a:lnSpc>
                <a:spcPts val="4000"/>
              </a:lnSpc>
              <a:buNone/>
            </a:pPr>
            <a:r>
              <a:rPr lang="en-US" sz="2500" b="1" dirty="0">
                <a:solidFill>
                  <a:srgbClr val="000000"/>
                </a:solidFill>
                <a:latin typeface="Inter Bold" pitchFamily="34" charset="0"/>
                <a:ea typeface="Inter Bold" pitchFamily="34" charset="-122"/>
                <a:cs typeface="Inter Bold" pitchFamily="34" charset="-120"/>
              </a:rPr>
              <a:t>1</a:t>
            </a:r>
            <a:endParaRPr lang="en-US" sz="2500" dirty="0"/>
          </a:p>
        </p:txBody>
      </p:sp>
      <p:sp>
        <p:nvSpPr>
          <p:cNvPr id="5" name="Text 2"/>
          <p:cNvSpPr/>
          <p:nvPr/>
        </p:nvSpPr>
        <p:spPr>
          <a:xfrm>
            <a:off x="5088255" y="2223849"/>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Optimal Model</a:t>
            </a:r>
            <a:endParaRPr lang="en-US" sz="2200" dirty="0"/>
          </a:p>
        </p:txBody>
      </p:sp>
      <p:sp>
        <p:nvSpPr>
          <p:cNvPr id="6" name="Text 3"/>
          <p:cNvSpPr/>
          <p:nvPr/>
        </p:nvSpPr>
        <p:spPr>
          <a:xfrm>
            <a:off x="5088255" y="2714268"/>
            <a:ext cx="2943225" cy="36290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Balanced bias and variance</a:t>
            </a:r>
            <a:endParaRPr lang="en-US" sz="1750" dirty="0"/>
          </a:p>
        </p:txBody>
      </p:sp>
      <p:sp>
        <p:nvSpPr>
          <p:cNvPr id="7" name="Shape 4"/>
          <p:cNvSpPr/>
          <p:nvPr/>
        </p:nvSpPr>
        <p:spPr>
          <a:xfrm>
            <a:off x="4918115" y="3317081"/>
            <a:ext cx="8861822" cy="15240"/>
          </a:xfrm>
          <a:prstGeom prst="roundRect">
            <a:avLst>
              <a:gd name="adj" fmla="val 625116"/>
            </a:avLst>
          </a:prstGeom>
          <a:solidFill>
            <a:srgbClr val="DDBBBA"/>
          </a:solidFill>
          <a:ln/>
        </p:spPr>
      </p:sp>
      <p:pic>
        <p:nvPicPr>
          <p:cNvPr id="8" name="Image 1" descr="preencoded.png"/>
          <p:cNvPicPr>
            <a:picLocks noChangeAspect="1"/>
          </p:cNvPicPr>
          <p:nvPr/>
        </p:nvPicPr>
        <p:blipFill>
          <a:blip r:embed="rId4"/>
          <a:stretch>
            <a:fillRect/>
          </a:stretch>
        </p:blipFill>
        <p:spPr>
          <a:xfrm>
            <a:off x="2440424" y="3360658"/>
            <a:ext cx="3228022" cy="1306949"/>
          </a:xfrm>
          <a:prstGeom prst="rect">
            <a:avLst/>
          </a:prstGeom>
        </p:spPr>
      </p:pic>
      <p:sp>
        <p:nvSpPr>
          <p:cNvPr id="9" name="Text 5"/>
          <p:cNvSpPr/>
          <p:nvPr/>
        </p:nvSpPr>
        <p:spPr>
          <a:xfrm>
            <a:off x="3894892" y="3814762"/>
            <a:ext cx="318968" cy="398621"/>
          </a:xfrm>
          <a:prstGeom prst="rect">
            <a:avLst/>
          </a:prstGeom>
          <a:noFill/>
          <a:ln/>
        </p:spPr>
        <p:txBody>
          <a:bodyPr wrap="none" lIns="0" tIns="0" rIns="0" bIns="0" rtlCol="0" anchor="t"/>
          <a:lstStyle/>
          <a:p>
            <a:pPr marL="0" indent="0" algn="ctr">
              <a:lnSpc>
                <a:spcPts val="4000"/>
              </a:lnSpc>
              <a:buNone/>
            </a:pPr>
            <a:r>
              <a:rPr lang="en-US" sz="2500" b="1" dirty="0">
                <a:solidFill>
                  <a:srgbClr val="000000"/>
                </a:solidFill>
                <a:latin typeface="Inter Bold" pitchFamily="34" charset="0"/>
                <a:ea typeface="Inter Bold" pitchFamily="34" charset="-122"/>
                <a:cs typeface="Inter Bold" pitchFamily="34" charset="-120"/>
              </a:rPr>
              <a:t>2</a:t>
            </a:r>
            <a:endParaRPr lang="en-US" sz="2500" dirty="0"/>
          </a:p>
        </p:txBody>
      </p:sp>
      <p:sp>
        <p:nvSpPr>
          <p:cNvPr id="10" name="Text 6"/>
          <p:cNvSpPr/>
          <p:nvPr/>
        </p:nvSpPr>
        <p:spPr>
          <a:xfrm>
            <a:off x="5895261" y="358747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Cross-Validation</a:t>
            </a:r>
            <a:endParaRPr lang="en-US" sz="2200" dirty="0"/>
          </a:p>
        </p:txBody>
      </p:sp>
      <p:sp>
        <p:nvSpPr>
          <p:cNvPr id="11" name="Text 7"/>
          <p:cNvSpPr/>
          <p:nvPr/>
        </p:nvSpPr>
        <p:spPr>
          <a:xfrm>
            <a:off x="5895261" y="4077891"/>
            <a:ext cx="4628912" cy="36290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Testing performance on multiple data splits</a:t>
            </a:r>
            <a:endParaRPr lang="en-US" sz="1750" dirty="0"/>
          </a:p>
        </p:txBody>
      </p:sp>
      <p:sp>
        <p:nvSpPr>
          <p:cNvPr id="12" name="Shape 8"/>
          <p:cNvSpPr/>
          <p:nvPr/>
        </p:nvSpPr>
        <p:spPr>
          <a:xfrm>
            <a:off x="5725120" y="4680704"/>
            <a:ext cx="8054816" cy="15240"/>
          </a:xfrm>
          <a:prstGeom prst="roundRect">
            <a:avLst>
              <a:gd name="adj" fmla="val 625116"/>
            </a:avLst>
          </a:prstGeom>
          <a:solidFill>
            <a:srgbClr val="DDBBBA"/>
          </a:solidFill>
          <a:ln/>
        </p:spPr>
      </p:sp>
      <p:pic>
        <p:nvPicPr>
          <p:cNvPr id="13" name="Image 2" descr="preencoded.png"/>
          <p:cNvPicPr>
            <a:picLocks noChangeAspect="1"/>
          </p:cNvPicPr>
          <p:nvPr/>
        </p:nvPicPr>
        <p:blipFill>
          <a:blip r:embed="rId5"/>
          <a:stretch>
            <a:fillRect/>
          </a:stretch>
        </p:blipFill>
        <p:spPr>
          <a:xfrm>
            <a:off x="1633418" y="4724281"/>
            <a:ext cx="4842034" cy="1306949"/>
          </a:xfrm>
          <a:prstGeom prst="rect">
            <a:avLst/>
          </a:prstGeom>
        </p:spPr>
      </p:pic>
      <p:sp>
        <p:nvSpPr>
          <p:cNvPr id="14" name="Text 9"/>
          <p:cNvSpPr/>
          <p:nvPr/>
        </p:nvSpPr>
        <p:spPr>
          <a:xfrm>
            <a:off x="3894892" y="5178385"/>
            <a:ext cx="318968" cy="398621"/>
          </a:xfrm>
          <a:prstGeom prst="rect">
            <a:avLst/>
          </a:prstGeom>
          <a:noFill/>
          <a:ln/>
        </p:spPr>
        <p:txBody>
          <a:bodyPr wrap="none" lIns="0" tIns="0" rIns="0" bIns="0" rtlCol="0" anchor="t"/>
          <a:lstStyle/>
          <a:p>
            <a:pPr marL="0" indent="0" algn="ctr">
              <a:lnSpc>
                <a:spcPts val="4000"/>
              </a:lnSpc>
              <a:buNone/>
            </a:pPr>
            <a:r>
              <a:rPr lang="en-US" sz="2500" b="1" dirty="0">
                <a:solidFill>
                  <a:srgbClr val="000000"/>
                </a:solidFill>
                <a:latin typeface="Inter Bold" pitchFamily="34" charset="0"/>
                <a:ea typeface="Inter Bold" pitchFamily="34" charset="-122"/>
                <a:cs typeface="Inter Bold" pitchFamily="34" charset="-120"/>
              </a:rPr>
              <a:t>3</a:t>
            </a:r>
            <a:endParaRPr lang="en-US" sz="2500" dirty="0"/>
          </a:p>
        </p:txBody>
      </p:sp>
      <p:sp>
        <p:nvSpPr>
          <p:cNvPr id="15" name="Text 10"/>
          <p:cNvSpPr/>
          <p:nvPr/>
        </p:nvSpPr>
        <p:spPr>
          <a:xfrm>
            <a:off x="6702266" y="4951095"/>
            <a:ext cx="368105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Regularization Techniques</a:t>
            </a:r>
            <a:endParaRPr lang="en-US" sz="2200" dirty="0"/>
          </a:p>
        </p:txBody>
      </p:sp>
      <p:sp>
        <p:nvSpPr>
          <p:cNvPr id="16" name="Text 11"/>
          <p:cNvSpPr/>
          <p:nvPr/>
        </p:nvSpPr>
        <p:spPr>
          <a:xfrm>
            <a:off x="6702266" y="5441513"/>
            <a:ext cx="3978235" cy="36290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Methods to control model complexity</a:t>
            </a:r>
            <a:endParaRPr lang="en-US" sz="1750" dirty="0"/>
          </a:p>
        </p:txBody>
      </p:sp>
      <p:sp>
        <p:nvSpPr>
          <p:cNvPr id="17" name="Shape 12"/>
          <p:cNvSpPr/>
          <p:nvPr/>
        </p:nvSpPr>
        <p:spPr>
          <a:xfrm>
            <a:off x="6532126" y="6044327"/>
            <a:ext cx="7247811" cy="15240"/>
          </a:xfrm>
          <a:prstGeom prst="roundRect">
            <a:avLst>
              <a:gd name="adj" fmla="val 625116"/>
            </a:avLst>
          </a:prstGeom>
          <a:solidFill>
            <a:srgbClr val="DDBBBA"/>
          </a:solidFill>
          <a:ln/>
        </p:spPr>
      </p:sp>
      <p:pic>
        <p:nvPicPr>
          <p:cNvPr id="18" name="Image 3" descr="preencoded.png"/>
          <p:cNvPicPr>
            <a:picLocks noChangeAspect="1"/>
          </p:cNvPicPr>
          <p:nvPr/>
        </p:nvPicPr>
        <p:blipFill>
          <a:blip r:embed="rId6"/>
          <a:stretch>
            <a:fillRect/>
          </a:stretch>
        </p:blipFill>
        <p:spPr>
          <a:xfrm>
            <a:off x="826294" y="6087904"/>
            <a:ext cx="6456164" cy="1306949"/>
          </a:xfrm>
          <a:prstGeom prst="rect">
            <a:avLst/>
          </a:prstGeom>
        </p:spPr>
      </p:pic>
      <p:sp>
        <p:nvSpPr>
          <p:cNvPr id="19" name="Text 13"/>
          <p:cNvSpPr/>
          <p:nvPr/>
        </p:nvSpPr>
        <p:spPr>
          <a:xfrm>
            <a:off x="3894773" y="6542008"/>
            <a:ext cx="318968" cy="398621"/>
          </a:xfrm>
          <a:prstGeom prst="rect">
            <a:avLst/>
          </a:prstGeom>
          <a:noFill/>
          <a:ln/>
        </p:spPr>
        <p:txBody>
          <a:bodyPr wrap="none" lIns="0" tIns="0" rIns="0" bIns="0" rtlCol="0" anchor="t"/>
          <a:lstStyle/>
          <a:p>
            <a:pPr marL="0" indent="0" algn="ctr">
              <a:lnSpc>
                <a:spcPts val="4000"/>
              </a:lnSpc>
              <a:buNone/>
            </a:pPr>
            <a:r>
              <a:rPr lang="en-US" sz="2500" b="1" dirty="0">
                <a:solidFill>
                  <a:srgbClr val="000000"/>
                </a:solidFill>
                <a:latin typeface="Inter Bold" pitchFamily="34" charset="0"/>
                <a:ea typeface="Inter Bold" pitchFamily="34" charset="-122"/>
                <a:cs typeface="Inter Bold" pitchFamily="34" charset="-120"/>
              </a:rPr>
              <a:t>4</a:t>
            </a:r>
            <a:endParaRPr lang="en-US" sz="2500" dirty="0"/>
          </a:p>
        </p:txBody>
      </p:sp>
      <p:sp>
        <p:nvSpPr>
          <p:cNvPr id="20" name="Text 14"/>
          <p:cNvSpPr/>
          <p:nvPr/>
        </p:nvSpPr>
        <p:spPr>
          <a:xfrm>
            <a:off x="7509272" y="6314718"/>
            <a:ext cx="3324582"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Model Selection Criteria</a:t>
            </a:r>
            <a:endParaRPr lang="en-US" sz="2200" dirty="0"/>
          </a:p>
        </p:txBody>
      </p:sp>
      <p:sp>
        <p:nvSpPr>
          <p:cNvPr id="21" name="Text 15"/>
          <p:cNvSpPr/>
          <p:nvPr/>
        </p:nvSpPr>
        <p:spPr>
          <a:xfrm>
            <a:off x="7509272" y="6805136"/>
            <a:ext cx="3324582" cy="36290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AIC, BIC, adjusted R-squared</a:t>
            </a:r>
            <a:endParaRPr lang="en-US" sz="1750" dirty="0"/>
          </a:p>
        </p:txBody>
      </p:sp>
      <p:pic>
        <p:nvPicPr>
          <p:cNvPr id="22" name="Image 4" descr="preencoded.png"/>
          <p:cNvPicPr>
            <a:picLocks noChangeAspect="1"/>
          </p:cNvPicPr>
          <p:nvPr/>
        </p:nvPicPr>
        <p:blipFill>
          <a:blip r:embed="rId7"/>
          <a:stretch>
            <a:fillRect/>
          </a:stretch>
        </p:blipFill>
        <p:spPr>
          <a:xfrm>
            <a:off x="13464778" y="228600"/>
            <a:ext cx="937022" cy="50280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2021919"/>
            <a:ext cx="11716941" cy="708779"/>
          </a:xfrm>
          <a:prstGeom prst="rect">
            <a:avLst/>
          </a:prstGeom>
          <a:noFill/>
          <a:ln/>
        </p:spPr>
        <p:txBody>
          <a:bodyPr wrap="none" lIns="0" tIns="0" rIns="0" bIns="0" rtlCol="0" anchor="t"/>
          <a:lstStyle/>
          <a:p>
            <a:pPr marL="0" indent="0">
              <a:lnSpc>
                <a:spcPts val="5550"/>
              </a:lnSpc>
              <a:buNone/>
            </a:pPr>
            <a:r>
              <a:rPr lang="en-US" sz="4450" b="1" dirty="0">
                <a:solidFill>
                  <a:srgbClr val="000000"/>
                </a:solidFill>
                <a:latin typeface="Inter Bold" pitchFamily="34" charset="0"/>
                <a:ea typeface="Inter Bold" pitchFamily="34" charset="-122"/>
                <a:cs typeface="Inter Bold" pitchFamily="34" charset="-120"/>
              </a:rPr>
              <a:t>Regularization: A Key Tool for the Tradeoff</a:t>
            </a:r>
            <a:endParaRPr lang="en-US" sz="4450" dirty="0"/>
          </a:p>
        </p:txBody>
      </p:sp>
      <p:sp>
        <p:nvSpPr>
          <p:cNvPr id="3" name="Shape 1"/>
          <p:cNvSpPr/>
          <p:nvPr/>
        </p:nvSpPr>
        <p:spPr>
          <a:xfrm>
            <a:off x="793790" y="3070860"/>
            <a:ext cx="4196358" cy="3136702"/>
          </a:xfrm>
          <a:prstGeom prst="roundRect">
            <a:avLst>
              <a:gd name="adj" fmla="val 3037"/>
            </a:avLst>
          </a:prstGeom>
          <a:solidFill>
            <a:srgbClr val="F7D5D4"/>
          </a:solidFill>
          <a:ln w="7620">
            <a:solidFill>
              <a:srgbClr val="DDBBBA"/>
            </a:solidFill>
            <a:prstDash val="solid"/>
          </a:ln>
        </p:spPr>
      </p:sp>
      <p:sp>
        <p:nvSpPr>
          <p:cNvPr id="4" name="Text 2"/>
          <p:cNvSpPr/>
          <p:nvPr/>
        </p:nvSpPr>
        <p:spPr>
          <a:xfrm>
            <a:off x="1028224" y="3305294"/>
            <a:ext cx="3266242" cy="354330"/>
          </a:xfrm>
          <a:prstGeom prst="rect">
            <a:avLst/>
          </a:prstGeom>
          <a:noFill/>
          <a:ln/>
        </p:spPr>
        <p:txBody>
          <a:bodyPr wrap="none" lIns="0" tIns="0" rIns="0" bIns="0" rtlCol="0" anchor="t"/>
          <a:lstStyle/>
          <a:p>
            <a:pPr marL="0" indent="0">
              <a:lnSpc>
                <a:spcPts val="2750"/>
              </a:lnSpc>
              <a:buNone/>
            </a:pPr>
            <a:r>
              <a:rPr lang="en-US" sz="2200" b="1" dirty="0">
                <a:solidFill>
                  <a:srgbClr val="000000"/>
                </a:solidFill>
                <a:latin typeface="Inter Bold" pitchFamily="34" charset="0"/>
                <a:ea typeface="Inter Bold" pitchFamily="34" charset="-122"/>
                <a:cs typeface="Inter Bold" pitchFamily="34" charset="-120"/>
              </a:rPr>
              <a:t>What is Regularization?</a:t>
            </a:r>
            <a:endParaRPr lang="en-US" sz="2200" dirty="0"/>
          </a:p>
        </p:txBody>
      </p:sp>
      <p:sp>
        <p:nvSpPr>
          <p:cNvPr id="5" name="Text 3"/>
          <p:cNvSpPr/>
          <p:nvPr/>
        </p:nvSpPr>
        <p:spPr>
          <a:xfrm>
            <a:off x="1028224" y="3795713"/>
            <a:ext cx="3727490" cy="2177415"/>
          </a:xfrm>
          <a:prstGeom prst="rect">
            <a:avLst/>
          </a:prstGeom>
          <a:noFill/>
          <a:ln/>
        </p:spPr>
        <p:txBody>
          <a:bodyPr wrap="square" lIns="0" tIns="0" rIns="0" bIns="0" rtlCol="0" anchor="t"/>
          <a:lstStyle/>
          <a:p>
            <a:pPr marL="0" indent="0">
              <a:lnSpc>
                <a:spcPts val="2850"/>
              </a:lnSpc>
              <a:buNone/>
            </a:pPr>
            <a:r>
              <a:rPr lang="en-US" sz="1750" dirty="0">
                <a:solidFill>
                  <a:srgbClr val="000000"/>
                </a:solidFill>
                <a:latin typeface="Inter" pitchFamily="34" charset="0"/>
                <a:ea typeface="Inter" pitchFamily="34" charset="-122"/>
                <a:cs typeface="Inter" pitchFamily="34" charset="-120"/>
              </a:rPr>
              <a:t>Regularization adds a penalty term to the loss function that increases with model complexity, helping to prevent overfitting by discouraging unnecessarily complex models.</a:t>
            </a:r>
            <a:endParaRPr lang="en-US" sz="1750" dirty="0"/>
          </a:p>
        </p:txBody>
      </p:sp>
      <p:sp>
        <p:nvSpPr>
          <p:cNvPr id="6" name="Shape 4"/>
          <p:cNvSpPr/>
          <p:nvPr/>
        </p:nvSpPr>
        <p:spPr>
          <a:xfrm>
            <a:off x="5216962" y="3070860"/>
            <a:ext cx="4196358" cy="3136702"/>
          </a:xfrm>
          <a:prstGeom prst="roundRect">
            <a:avLst>
              <a:gd name="adj" fmla="val 3037"/>
            </a:avLst>
          </a:prstGeom>
          <a:solidFill>
            <a:srgbClr val="F7D5D4"/>
          </a:solidFill>
          <a:ln w="7620">
            <a:solidFill>
              <a:srgbClr val="DDBBBA"/>
            </a:solidFill>
            <a:prstDash val="solid"/>
          </a:ln>
        </p:spPr>
      </p:sp>
      <p:sp>
        <p:nvSpPr>
          <p:cNvPr id="7" name="Text 5"/>
          <p:cNvSpPr/>
          <p:nvPr/>
        </p:nvSpPr>
        <p:spPr>
          <a:xfrm>
            <a:off x="5451396" y="3305294"/>
            <a:ext cx="3434120" cy="354330"/>
          </a:xfrm>
          <a:prstGeom prst="rect">
            <a:avLst/>
          </a:prstGeom>
          <a:noFill/>
          <a:ln/>
        </p:spPr>
        <p:txBody>
          <a:bodyPr wrap="none" lIns="0" tIns="0" rIns="0" bIns="0" rtlCol="0" anchor="t"/>
          <a:lstStyle/>
          <a:p>
            <a:pPr marL="0" indent="0">
              <a:lnSpc>
                <a:spcPts val="2750"/>
              </a:lnSpc>
              <a:buNone/>
            </a:pPr>
            <a:r>
              <a:rPr lang="en-US" sz="2200" b="1" dirty="0">
                <a:solidFill>
                  <a:srgbClr val="000000"/>
                </a:solidFill>
                <a:latin typeface="Inter Bold" pitchFamily="34" charset="0"/>
                <a:ea typeface="Inter Bold" pitchFamily="34" charset="-122"/>
                <a:cs typeface="Inter Bold" pitchFamily="34" charset="-120"/>
              </a:rPr>
              <a:t>L1 Regularization (Lasso)</a:t>
            </a:r>
            <a:endParaRPr lang="en-US" sz="2200" dirty="0"/>
          </a:p>
        </p:txBody>
      </p:sp>
      <p:sp>
        <p:nvSpPr>
          <p:cNvPr id="8" name="Text 6"/>
          <p:cNvSpPr/>
          <p:nvPr/>
        </p:nvSpPr>
        <p:spPr>
          <a:xfrm>
            <a:off x="5451396" y="3795713"/>
            <a:ext cx="3727490" cy="2177415"/>
          </a:xfrm>
          <a:prstGeom prst="rect">
            <a:avLst/>
          </a:prstGeom>
          <a:noFill/>
          <a:ln/>
        </p:spPr>
        <p:txBody>
          <a:bodyPr wrap="square" lIns="0" tIns="0" rIns="0" bIns="0" rtlCol="0" anchor="t"/>
          <a:lstStyle/>
          <a:p>
            <a:pPr marL="0" indent="0">
              <a:lnSpc>
                <a:spcPts val="2850"/>
              </a:lnSpc>
              <a:buNone/>
            </a:pPr>
            <a:r>
              <a:rPr lang="en-US" sz="1750" dirty="0">
                <a:solidFill>
                  <a:srgbClr val="000000"/>
                </a:solidFill>
                <a:latin typeface="Inter" pitchFamily="34" charset="0"/>
                <a:ea typeface="Inter" pitchFamily="34" charset="-122"/>
                <a:cs typeface="Inter" pitchFamily="34" charset="-120"/>
              </a:rPr>
              <a:t>Adds the absolute value of coefficients as a penalty term, which can lead to sparse models by forcing some coefficients to zero, effectively performing feature selection.</a:t>
            </a:r>
            <a:endParaRPr lang="en-US" sz="1750" dirty="0"/>
          </a:p>
        </p:txBody>
      </p:sp>
      <p:sp>
        <p:nvSpPr>
          <p:cNvPr id="9" name="Shape 7"/>
          <p:cNvSpPr/>
          <p:nvPr/>
        </p:nvSpPr>
        <p:spPr>
          <a:xfrm>
            <a:off x="9640133" y="3070860"/>
            <a:ext cx="4196358" cy="3136702"/>
          </a:xfrm>
          <a:prstGeom prst="roundRect">
            <a:avLst>
              <a:gd name="adj" fmla="val 3037"/>
            </a:avLst>
          </a:prstGeom>
          <a:solidFill>
            <a:srgbClr val="F7D5D4"/>
          </a:solidFill>
          <a:ln w="7620">
            <a:solidFill>
              <a:srgbClr val="DDBBBA"/>
            </a:solidFill>
            <a:prstDash val="solid"/>
          </a:ln>
        </p:spPr>
      </p:sp>
      <p:sp>
        <p:nvSpPr>
          <p:cNvPr id="10" name="Text 8"/>
          <p:cNvSpPr/>
          <p:nvPr/>
        </p:nvSpPr>
        <p:spPr>
          <a:xfrm>
            <a:off x="9874568" y="3305294"/>
            <a:ext cx="3476625" cy="354330"/>
          </a:xfrm>
          <a:prstGeom prst="rect">
            <a:avLst/>
          </a:prstGeom>
          <a:noFill/>
          <a:ln/>
        </p:spPr>
        <p:txBody>
          <a:bodyPr wrap="none" lIns="0" tIns="0" rIns="0" bIns="0" rtlCol="0" anchor="t"/>
          <a:lstStyle/>
          <a:p>
            <a:pPr marL="0" indent="0">
              <a:lnSpc>
                <a:spcPts val="2750"/>
              </a:lnSpc>
              <a:buNone/>
            </a:pPr>
            <a:r>
              <a:rPr lang="en-US" sz="2200" b="1" dirty="0">
                <a:solidFill>
                  <a:srgbClr val="000000"/>
                </a:solidFill>
                <a:latin typeface="Inter Bold" pitchFamily="34" charset="0"/>
                <a:ea typeface="Inter Bold" pitchFamily="34" charset="-122"/>
                <a:cs typeface="Inter Bold" pitchFamily="34" charset="-120"/>
              </a:rPr>
              <a:t>L2 Regularization (Ridge)</a:t>
            </a:r>
            <a:endParaRPr lang="en-US" sz="2200" dirty="0"/>
          </a:p>
        </p:txBody>
      </p:sp>
      <p:sp>
        <p:nvSpPr>
          <p:cNvPr id="11" name="Text 9"/>
          <p:cNvSpPr/>
          <p:nvPr/>
        </p:nvSpPr>
        <p:spPr>
          <a:xfrm>
            <a:off x="9874568" y="3795713"/>
            <a:ext cx="3727490" cy="2177415"/>
          </a:xfrm>
          <a:prstGeom prst="rect">
            <a:avLst/>
          </a:prstGeom>
          <a:noFill/>
          <a:ln/>
        </p:spPr>
        <p:txBody>
          <a:bodyPr wrap="square" lIns="0" tIns="0" rIns="0" bIns="0" rtlCol="0" anchor="t"/>
          <a:lstStyle/>
          <a:p>
            <a:pPr marL="0" indent="0">
              <a:lnSpc>
                <a:spcPts val="2850"/>
              </a:lnSpc>
              <a:buNone/>
            </a:pPr>
            <a:r>
              <a:rPr lang="en-US" sz="1750" dirty="0">
                <a:solidFill>
                  <a:srgbClr val="000000"/>
                </a:solidFill>
                <a:latin typeface="Inter" pitchFamily="34" charset="0"/>
                <a:ea typeface="Inter" pitchFamily="34" charset="-122"/>
                <a:cs typeface="Inter" pitchFamily="34" charset="-120"/>
              </a:rPr>
              <a:t>Adds the squared value of coefficients as a penalty term, which shrinks all coefficients toward zero but rarely sets them exactly to zero, maintaining all features but with reduced impact.</a:t>
            </a:r>
            <a:endParaRPr lang="en-US" sz="1750" dirty="0"/>
          </a:p>
        </p:txBody>
      </p:sp>
      <p:pic>
        <p:nvPicPr>
          <p:cNvPr id="12" name="Image 0" descr="preencoded.png"/>
          <p:cNvPicPr>
            <a:picLocks noChangeAspect="1"/>
          </p:cNvPicPr>
          <p:nvPr/>
        </p:nvPicPr>
        <p:blipFill>
          <a:blip r:embed="rId3"/>
          <a:stretch>
            <a:fillRect/>
          </a:stretch>
        </p:blipFill>
        <p:spPr>
          <a:xfrm>
            <a:off x="13464778" y="228600"/>
            <a:ext cx="937022" cy="50280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356646" y="2849523"/>
            <a:ext cx="5061109" cy="3708022"/>
          </a:xfrm>
          <a:prstGeom prst="rect">
            <a:avLst/>
          </a:prstGeom>
        </p:spPr>
      </p:pic>
      <p:sp>
        <p:nvSpPr>
          <p:cNvPr id="4" name="Text 0"/>
          <p:cNvSpPr/>
          <p:nvPr/>
        </p:nvSpPr>
        <p:spPr>
          <a:xfrm>
            <a:off x="793790" y="962025"/>
            <a:ext cx="7328416" cy="531614"/>
          </a:xfrm>
          <a:prstGeom prst="rect">
            <a:avLst/>
          </a:prstGeom>
          <a:noFill/>
          <a:ln/>
        </p:spPr>
        <p:txBody>
          <a:bodyPr wrap="none" lIns="0" tIns="0" rIns="0" bIns="0" rtlCol="0" anchor="t"/>
          <a:lstStyle/>
          <a:p>
            <a:pPr marL="0" indent="0">
              <a:lnSpc>
                <a:spcPts val="4150"/>
              </a:lnSpc>
              <a:buNone/>
            </a:pPr>
            <a:r>
              <a:rPr lang="en-US" sz="3300" b="1" dirty="0">
                <a:solidFill>
                  <a:srgbClr val="000000"/>
                </a:solidFill>
                <a:latin typeface="Inter Bold" pitchFamily="34" charset="0"/>
                <a:ea typeface="Inter Bold" pitchFamily="34" charset="-122"/>
                <a:cs typeface="Inter Bold" pitchFamily="34" charset="-120"/>
              </a:rPr>
              <a:t>Practical Strategies to Manage Bias</a:t>
            </a:r>
            <a:endParaRPr lang="en-US" sz="3300" dirty="0"/>
          </a:p>
        </p:txBody>
      </p:sp>
      <p:sp>
        <p:nvSpPr>
          <p:cNvPr id="5" name="Shape 1"/>
          <p:cNvSpPr/>
          <p:nvPr/>
        </p:nvSpPr>
        <p:spPr>
          <a:xfrm>
            <a:off x="985123" y="1748790"/>
            <a:ext cx="22860" cy="5518785"/>
          </a:xfrm>
          <a:prstGeom prst="roundRect">
            <a:avLst>
              <a:gd name="adj" fmla="val 312558"/>
            </a:avLst>
          </a:prstGeom>
          <a:solidFill>
            <a:srgbClr val="DDBBBA"/>
          </a:solidFill>
          <a:ln/>
        </p:spPr>
      </p:sp>
      <p:sp>
        <p:nvSpPr>
          <p:cNvPr id="6" name="Shape 2"/>
          <p:cNvSpPr/>
          <p:nvPr/>
        </p:nvSpPr>
        <p:spPr>
          <a:xfrm>
            <a:off x="1153597" y="2120027"/>
            <a:ext cx="510302" cy="22860"/>
          </a:xfrm>
          <a:prstGeom prst="roundRect">
            <a:avLst>
              <a:gd name="adj" fmla="val 312558"/>
            </a:avLst>
          </a:prstGeom>
          <a:solidFill>
            <a:srgbClr val="DDBBBA"/>
          </a:solidFill>
          <a:ln/>
        </p:spPr>
      </p:sp>
      <p:sp>
        <p:nvSpPr>
          <p:cNvPr id="7" name="Shape 3"/>
          <p:cNvSpPr/>
          <p:nvPr/>
        </p:nvSpPr>
        <p:spPr>
          <a:xfrm>
            <a:off x="793790" y="1940123"/>
            <a:ext cx="382667" cy="382667"/>
          </a:xfrm>
          <a:prstGeom prst="roundRect">
            <a:avLst>
              <a:gd name="adj" fmla="val 18672"/>
            </a:avLst>
          </a:prstGeom>
          <a:solidFill>
            <a:srgbClr val="F7D5D4"/>
          </a:solidFill>
          <a:ln w="7620">
            <a:solidFill>
              <a:srgbClr val="DDBBBA"/>
            </a:solidFill>
            <a:prstDash val="solid"/>
          </a:ln>
        </p:spPr>
      </p:sp>
      <p:sp>
        <p:nvSpPr>
          <p:cNvPr id="8" name="Text 4"/>
          <p:cNvSpPr/>
          <p:nvPr/>
        </p:nvSpPr>
        <p:spPr>
          <a:xfrm>
            <a:off x="857548" y="1971973"/>
            <a:ext cx="255151" cy="318968"/>
          </a:xfrm>
          <a:prstGeom prst="rect">
            <a:avLst/>
          </a:prstGeom>
          <a:noFill/>
          <a:ln/>
        </p:spPr>
        <p:txBody>
          <a:bodyPr wrap="none" lIns="0" tIns="0" rIns="0" bIns="0" rtlCol="0" anchor="t"/>
          <a:lstStyle/>
          <a:p>
            <a:pPr marL="0" indent="0" algn="ctr">
              <a:lnSpc>
                <a:spcPts val="2000"/>
              </a:lnSpc>
              <a:buNone/>
            </a:pPr>
            <a:r>
              <a:rPr lang="en-US" sz="2000" b="1" dirty="0">
                <a:solidFill>
                  <a:srgbClr val="000000"/>
                </a:solidFill>
                <a:latin typeface="Inter Bold" pitchFamily="34" charset="0"/>
                <a:ea typeface="Inter Bold" pitchFamily="34" charset="-122"/>
                <a:cs typeface="Inter Bold" pitchFamily="34" charset="-120"/>
              </a:rPr>
              <a:t>1</a:t>
            </a:r>
            <a:endParaRPr lang="en-US" sz="2000" dirty="0"/>
          </a:p>
        </p:txBody>
      </p:sp>
      <p:sp>
        <p:nvSpPr>
          <p:cNvPr id="9" name="Text 5"/>
          <p:cNvSpPr/>
          <p:nvPr/>
        </p:nvSpPr>
        <p:spPr>
          <a:xfrm>
            <a:off x="1835706" y="1918811"/>
            <a:ext cx="2829997" cy="265747"/>
          </a:xfrm>
          <a:prstGeom prst="rect">
            <a:avLst/>
          </a:prstGeom>
          <a:noFill/>
          <a:ln/>
        </p:spPr>
        <p:txBody>
          <a:bodyPr wrap="none" lIns="0" tIns="0" rIns="0" bIns="0" rtlCol="0" anchor="t"/>
          <a:lstStyle/>
          <a:p>
            <a:pPr marL="0" indent="0" algn="l">
              <a:lnSpc>
                <a:spcPts val="2050"/>
              </a:lnSpc>
              <a:buNone/>
            </a:pPr>
            <a:r>
              <a:rPr lang="en-US" sz="1650" b="1" dirty="0">
                <a:solidFill>
                  <a:srgbClr val="000000"/>
                </a:solidFill>
                <a:latin typeface="Inter Bold" pitchFamily="34" charset="0"/>
                <a:ea typeface="Inter Bold" pitchFamily="34" charset="-122"/>
                <a:cs typeface="Inter Bold" pitchFamily="34" charset="-120"/>
              </a:rPr>
              <a:t>Increase Model Complexity</a:t>
            </a:r>
            <a:endParaRPr lang="en-US" sz="1650" dirty="0"/>
          </a:p>
        </p:txBody>
      </p:sp>
      <p:sp>
        <p:nvSpPr>
          <p:cNvPr id="10" name="Text 6"/>
          <p:cNvSpPr/>
          <p:nvPr/>
        </p:nvSpPr>
        <p:spPr>
          <a:xfrm>
            <a:off x="1835706" y="2286595"/>
            <a:ext cx="6514505" cy="544354"/>
          </a:xfrm>
          <a:prstGeom prst="rect">
            <a:avLst/>
          </a:prstGeom>
          <a:noFill/>
          <a:ln/>
        </p:spPr>
        <p:txBody>
          <a:bodyPr wrap="square" lIns="0" tIns="0" rIns="0" bIns="0" rtlCol="0" anchor="t"/>
          <a:lstStyle/>
          <a:p>
            <a:pPr marL="0" indent="0" algn="l">
              <a:lnSpc>
                <a:spcPts val="2100"/>
              </a:lnSpc>
              <a:buNone/>
            </a:pPr>
            <a:r>
              <a:rPr lang="en-US" sz="1300" dirty="0">
                <a:solidFill>
                  <a:srgbClr val="000000"/>
                </a:solidFill>
                <a:latin typeface="Inter" pitchFamily="34" charset="0"/>
                <a:ea typeface="Inter" pitchFamily="34" charset="-122"/>
                <a:cs typeface="Inter" pitchFamily="34" charset="-120"/>
              </a:rPr>
              <a:t>Add more features, use polynomial features, or implement more complex algorithms like decision trees or neural networks instead of linear models.</a:t>
            </a:r>
            <a:endParaRPr lang="en-US" sz="1300" dirty="0"/>
          </a:p>
        </p:txBody>
      </p:sp>
      <p:sp>
        <p:nvSpPr>
          <p:cNvPr id="11" name="Shape 7"/>
          <p:cNvSpPr/>
          <p:nvPr/>
        </p:nvSpPr>
        <p:spPr>
          <a:xfrm>
            <a:off x="1153597" y="3542228"/>
            <a:ext cx="510302" cy="22860"/>
          </a:xfrm>
          <a:prstGeom prst="roundRect">
            <a:avLst>
              <a:gd name="adj" fmla="val 312558"/>
            </a:avLst>
          </a:prstGeom>
          <a:solidFill>
            <a:srgbClr val="DDBBBA"/>
          </a:solidFill>
          <a:ln/>
        </p:spPr>
      </p:sp>
      <p:sp>
        <p:nvSpPr>
          <p:cNvPr id="12" name="Shape 8"/>
          <p:cNvSpPr/>
          <p:nvPr/>
        </p:nvSpPr>
        <p:spPr>
          <a:xfrm>
            <a:off x="793790" y="3362325"/>
            <a:ext cx="382667" cy="382667"/>
          </a:xfrm>
          <a:prstGeom prst="roundRect">
            <a:avLst>
              <a:gd name="adj" fmla="val 18672"/>
            </a:avLst>
          </a:prstGeom>
          <a:solidFill>
            <a:srgbClr val="F7D5D4"/>
          </a:solidFill>
          <a:ln w="7620">
            <a:solidFill>
              <a:srgbClr val="DDBBBA"/>
            </a:solidFill>
            <a:prstDash val="solid"/>
          </a:ln>
        </p:spPr>
      </p:sp>
      <p:sp>
        <p:nvSpPr>
          <p:cNvPr id="13" name="Text 9"/>
          <p:cNvSpPr/>
          <p:nvPr/>
        </p:nvSpPr>
        <p:spPr>
          <a:xfrm>
            <a:off x="857548" y="3394174"/>
            <a:ext cx="255151" cy="318968"/>
          </a:xfrm>
          <a:prstGeom prst="rect">
            <a:avLst/>
          </a:prstGeom>
          <a:noFill/>
          <a:ln/>
        </p:spPr>
        <p:txBody>
          <a:bodyPr wrap="none" lIns="0" tIns="0" rIns="0" bIns="0" rtlCol="0" anchor="t"/>
          <a:lstStyle/>
          <a:p>
            <a:pPr marL="0" indent="0" algn="ctr">
              <a:lnSpc>
                <a:spcPts val="2000"/>
              </a:lnSpc>
              <a:buNone/>
            </a:pPr>
            <a:r>
              <a:rPr lang="en-US" sz="2000" b="1" dirty="0">
                <a:solidFill>
                  <a:srgbClr val="000000"/>
                </a:solidFill>
                <a:latin typeface="Inter Bold" pitchFamily="34" charset="0"/>
                <a:ea typeface="Inter Bold" pitchFamily="34" charset="-122"/>
                <a:cs typeface="Inter Bold" pitchFamily="34" charset="-120"/>
              </a:rPr>
              <a:t>2</a:t>
            </a:r>
            <a:endParaRPr lang="en-US" sz="2000" dirty="0"/>
          </a:p>
        </p:txBody>
      </p:sp>
      <p:sp>
        <p:nvSpPr>
          <p:cNvPr id="14" name="Text 10"/>
          <p:cNvSpPr/>
          <p:nvPr/>
        </p:nvSpPr>
        <p:spPr>
          <a:xfrm>
            <a:off x="1835706" y="3341013"/>
            <a:ext cx="2126456" cy="265747"/>
          </a:xfrm>
          <a:prstGeom prst="rect">
            <a:avLst/>
          </a:prstGeom>
          <a:noFill/>
          <a:ln/>
        </p:spPr>
        <p:txBody>
          <a:bodyPr wrap="none" lIns="0" tIns="0" rIns="0" bIns="0" rtlCol="0" anchor="t"/>
          <a:lstStyle/>
          <a:p>
            <a:pPr marL="0" indent="0" algn="l">
              <a:lnSpc>
                <a:spcPts val="2050"/>
              </a:lnSpc>
              <a:buNone/>
            </a:pPr>
            <a:r>
              <a:rPr lang="en-US" sz="1650" b="1" dirty="0">
                <a:solidFill>
                  <a:srgbClr val="000000"/>
                </a:solidFill>
                <a:latin typeface="Inter Bold" pitchFamily="34" charset="0"/>
                <a:ea typeface="Inter Bold" pitchFamily="34" charset="-122"/>
                <a:cs typeface="Inter Bold" pitchFamily="34" charset="-120"/>
              </a:rPr>
              <a:t>Feature Engineering</a:t>
            </a:r>
            <a:endParaRPr lang="en-US" sz="1650" dirty="0"/>
          </a:p>
        </p:txBody>
      </p:sp>
      <p:sp>
        <p:nvSpPr>
          <p:cNvPr id="15" name="Text 11"/>
          <p:cNvSpPr/>
          <p:nvPr/>
        </p:nvSpPr>
        <p:spPr>
          <a:xfrm>
            <a:off x="1835706" y="3708797"/>
            <a:ext cx="6514505" cy="544354"/>
          </a:xfrm>
          <a:prstGeom prst="rect">
            <a:avLst/>
          </a:prstGeom>
          <a:noFill/>
          <a:ln/>
        </p:spPr>
        <p:txBody>
          <a:bodyPr wrap="square" lIns="0" tIns="0" rIns="0" bIns="0" rtlCol="0" anchor="t"/>
          <a:lstStyle/>
          <a:p>
            <a:pPr marL="0" indent="0" algn="l">
              <a:lnSpc>
                <a:spcPts val="2100"/>
              </a:lnSpc>
              <a:buNone/>
            </a:pPr>
            <a:r>
              <a:rPr lang="en-US" sz="1300" dirty="0">
                <a:solidFill>
                  <a:srgbClr val="000000"/>
                </a:solidFill>
                <a:latin typeface="Inter" pitchFamily="34" charset="0"/>
                <a:ea typeface="Inter" pitchFamily="34" charset="-122"/>
                <a:cs typeface="Inter" pitchFamily="34" charset="-120"/>
              </a:rPr>
              <a:t>Create new features that better capture the underlying patterns in the data, such as interaction terms or domain-specific transformations.</a:t>
            </a:r>
            <a:endParaRPr lang="en-US" sz="1300" dirty="0"/>
          </a:p>
        </p:txBody>
      </p:sp>
      <p:sp>
        <p:nvSpPr>
          <p:cNvPr id="16" name="Shape 12"/>
          <p:cNvSpPr/>
          <p:nvPr/>
        </p:nvSpPr>
        <p:spPr>
          <a:xfrm>
            <a:off x="1153597" y="4964430"/>
            <a:ext cx="510302" cy="22860"/>
          </a:xfrm>
          <a:prstGeom prst="roundRect">
            <a:avLst>
              <a:gd name="adj" fmla="val 312558"/>
            </a:avLst>
          </a:prstGeom>
          <a:solidFill>
            <a:srgbClr val="DDBBBA"/>
          </a:solidFill>
          <a:ln/>
        </p:spPr>
      </p:sp>
      <p:sp>
        <p:nvSpPr>
          <p:cNvPr id="17" name="Shape 13"/>
          <p:cNvSpPr/>
          <p:nvPr/>
        </p:nvSpPr>
        <p:spPr>
          <a:xfrm>
            <a:off x="793790" y="4784527"/>
            <a:ext cx="382667" cy="382667"/>
          </a:xfrm>
          <a:prstGeom prst="roundRect">
            <a:avLst>
              <a:gd name="adj" fmla="val 18672"/>
            </a:avLst>
          </a:prstGeom>
          <a:solidFill>
            <a:srgbClr val="F7D5D4"/>
          </a:solidFill>
          <a:ln w="7620">
            <a:solidFill>
              <a:srgbClr val="DDBBBA"/>
            </a:solidFill>
            <a:prstDash val="solid"/>
          </a:ln>
        </p:spPr>
      </p:sp>
      <p:sp>
        <p:nvSpPr>
          <p:cNvPr id="18" name="Text 14"/>
          <p:cNvSpPr/>
          <p:nvPr/>
        </p:nvSpPr>
        <p:spPr>
          <a:xfrm>
            <a:off x="857548" y="4816376"/>
            <a:ext cx="255151" cy="318968"/>
          </a:xfrm>
          <a:prstGeom prst="rect">
            <a:avLst/>
          </a:prstGeom>
          <a:noFill/>
          <a:ln/>
        </p:spPr>
        <p:txBody>
          <a:bodyPr wrap="none" lIns="0" tIns="0" rIns="0" bIns="0" rtlCol="0" anchor="t"/>
          <a:lstStyle/>
          <a:p>
            <a:pPr marL="0" indent="0" algn="ctr">
              <a:lnSpc>
                <a:spcPts val="2000"/>
              </a:lnSpc>
              <a:buNone/>
            </a:pPr>
            <a:r>
              <a:rPr lang="en-US" sz="2000" b="1" dirty="0">
                <a:solidFill>
                  <a:srgbClr val="000000"/>
                </a:solidFill>
                <a:latin typeface="Inter Bold" pitchFamily="34" charset="0"/>
                <a:ea typeface="Inter Bold" pitchFamily="34" charset="-122"/>
                <a:cs typeface="Inter Bold" pitchFamily="34" charset="-120"/>
              </a:rPr>
              <a:t>3</a:t>
            </a:r>
            <a:endParaRPr lang="en-US" sz="2000" dirty="0"/>
          </a:p>
        </p:txBody>
      </p:sp>
      <p:sp>
        <p:nvSpPr>
          <p:cNvPr id="19" name="Text 15"/>
          <p:cNvSpPr/>
          <p:nvPr/>
        </p:nvSpPr>
        <p:spPr>
          <a:xfrm>
            <a:off x="1835706" y="4763214"/>
            <a:ext cx="2331363" cy="265747"/>
          </a:xfrm>
          <a:prstGeom prst="rect">
            <a:avLst/>
          </a:prstGeom>
          <a:noFill/>
          <a:ln/>
        </p:spPr>
        <p:txBody>
          <a:bodyPr wrap="none" lIns="0" tIns="0" rIns="0" bIns="0" rtlCol="0" anchor="t"/>
          <a:lstStyle/>
          <a:p>
            <a:pPr marL="0" indent="0" algn="l">
              <a:lnSpc>
                <a:spcPts val="2050"/>
              </a:lnSpc>
              <a:buNone/>
            </a:pPr>
            <a:r>
              <a:rPr lang="en-US" sz="1650" b="1" dirty="0">
                <a:solidFill>
                  <a:srgbClr val="000000"/>
                </a:solidFill>
                <a:latin typeface="Inter Bold" pitchFamily="34" charset="0"/>
                <a:ea typeface="Inter Bold" pitchFamily="34" charset="-122"/>
                <a:cs typeface="Inter Bold" pitchFamily="34" charset="-120"/>
              </a:rPr>
              <a:t>Reduce Regularization</a:t>
            </a:r>
            <a:endParaRPr lang="en-US" sz="1650" dirty="0"/>
          </a:p>
        </p:txBody>
      </p:sp>
      <p:sp>
        <p:nvSpPr>
          <p:cNvPr id="20" name="Text 16"/>
          <p:cNvSpPr/>
          <p:nvPr/>
        </p:nvSpPr>
        <p:spPr>
          <a:xfrm>
            <a:off x="1835706" y="5130998"/>
            <a:ext cx="6514505" cy="544354"/>
          </a:xfrm>
          <a:prstGeom prst="rect">
            <a:avLst/>
          </a:prstGeom>
          <a:noFill/>
          <a:ln/>
        </p:spPr>
        <p:txBody>
          <a:bodyPr wrap="square" lIns="0" tIns="0" rIns="0" bIns="0" rtlCol="0" anchor="t"/>
          <a:lstStyle/>
          <a:p>
            <a:pPr marL="0" indent="0" algn="l">
              <a:lnSpc>
                <a:spcPts val="2100"/>
              </a:lnSpc>
              <a:buNone/>
            </a:pPr>
            <a:r>
              <a:rPr lang="en-US" sz="1300" dirty="0">
                <a:solidFill>
                  <a:srgbClr val="000000"/>
                </a:solidFill>
                <a:latin typeface="Inter" pitchFamily="34" charset="0"/>
                <a:ea typeface="Inter" pitchFamily="34" charset="-122"/>
                <a:cs typeface="Inter" pitchFamily="34" charset="-120"/>
              </a:rPr>
              <a:t>If using regularization techniques, decrease the regularization parameter to allow the model more flexibility to fit the training data.</a:t>
            </a:r>
            <a:endParaRPr lang="en-US" sz="1300" dirty="0"/>
          </a:p>
        </p:txBody>
      </p:sp>
      <p:sp>
        <p:nvSpPr>
          <p:cNvPr id="21" name="Shape 17"/>
          <p:cNvSpPr/>
          <p:nvPr/>
        </p:nvSpPr>
        <p:spPr>
          <a:xfrm>
            <a:off x="1153597" y="6386632"/>
            <a:ext cx="510302" cy="22860"/>
          </a:xfrm>
          <a:prstGeom prst="roundRect">
            <a:avLst>
              <a:gd name="adj" fmla="val 312558"/>
            </a:avLst>
          </a:prstGeom>
          <a:solidFill>
            <a:srgbClr val="DDBBBA"/>
          </a:solidFill>
          <a:ln/>
        </p:spPr>
      </p:sp>
      <p:sp>
        <p:nvSpPr>
          <p:cNvPr id="22" name="Shape 18"/>
          <p:cNvSpPr/>
          <p:nvPr/>
        </p:nvSpPr>
        <p:spPr>
          <a:xfrm>
            <a:off x="793790" y="6206728"/>
            <a:ext cx="382667" cy="382667"/>
          </a:xfrm>
          <a:prstGeom prst="roundRect">
            <a:avLst>
              <a:gd name="adj" fmla="val 18672"/>
            </a:avLst>
          </a:prstGeom>
          <a:solidFill>
            <a:srgbClr val="F7D5D4"/>
          </a:solidFill>
          <a:ln w="7620">
            <a:solidFill>
              <a:srgbClr val="DDBBBA"/>
            </a:solidFill>
            <a:prstDash val="solid"/>
          </a:ln>
        </p:spPr>
      </p:sp>
      <p:sp>
        <p:nvSpPr>
          <p:cNvPr id="23" name="Text 19"/>
          <p:cNvSpPr/>
          <p:nvPr/>
        </p:nvSpPr>
        <p:spPr>
          <a:xfrm>
            <a:off x="857548" y="6238577"/>
            <a:ext cx="255151" cy="318968"/>
          </a:xfrm>
          <a:prstGeom prst="rect">
            <a:avLst/>
          </a:prstGeom>
          <a:noFill/>
          <a:ln/>
        </p:spPr>
        <p:txBody>
          <a:bodyPr wrap="none" lIns="0" tIns="0" rIns="0" bIns="0" rtlCol="0" anchor="t"/>
          <a:lstStyle/>
          <a:p>
            <a:pPr marL="0" indent="0" algn="ctr">
              <a:lnSpc>
                <a:spcPts val="2000"/>
              </a:lnSpc>
              <a:buNone/>
            </a:pPr>
            <a:r>
              <a:rPr lang="en-US" sz="2000" b="1" dirty="0">
                <a:solidFill>
                  <a:srgbClr val="000000"/>
                </a:solidFill>
                <a:latin typeface="Inter Bold" pitchFamily="34" charset="0"/>
                <a:ea typeface="Inter Bold" pitchFamily="34" charset="-122"/>
                <a:cs typeface="Inter Bold" pitchFamily="34" charset="-120"/>
              </a:rPr>
              <a:t>4</a:t>
            </a:r>
            <a:endParaRPr lang="en-US" sz="2000" dirty="0"/>
          </a:p>
        </p:txBody>
      </p:sp>
      <p:sp>
        <p:nvSpPr>
          <p:cNvPr id="24" name="Text 20"/>
          <p:cNvSpPr/>
          <p:nvPr/>
        </p:nvSpPr>
        <p:spPr>
          <a:xfrm>
            <a:off x="1835706" y="6185416"/>
            <a:ext cx="2126456" cy="265747"/>
          </a:xfrm>
          <a:prstGeom prst="rect">
            <a:avLst/>
          </a:prstGeom>
          <a:noFill/>
          <a:ln/>
        </p:spPr>
        <p:txBody>
          <a:bodyPr wrap="none" lIns="0" tIns="0" rIns="0" bIns="0" rtlCol="0" anchor="t"/>
          <a:lstStyle/>
          <a:p>
            <a:pPr marL="0" indent="0" algn="l">
              <a:lnSpc>
                <a:spcPts val="2050"/>
              </a:lnSpc>
              <a:buNone/>
            </a:pPr>
            <a:r>
              <a:rPr lang="en-US" sz="1650" b="1" dirty="0">
                <a:solidFill>
                  <a:srgbClr val="000000"/>
                </a:solidFill>
                <a:latin typeface="Inter Bold" pitchFamily="34" charset="0"/>
                <a:ea typeface="Inter Bold" pitchFamily="34" charset="-122"/>
                <a:cs typeface="Inter Bold" pitchFamily="34" charset="-120"/>
              </a:rPr>
              <a:t>Ensemble Methods</a:t>
            </a:r>
            <a:endParaRPr lang="en-US" sz="1650" dirty="0"/>
          </a:p>
        </p:txBody>
      </p:sp>
      <p:sp>
        <p:nvSpPr>
          <p:cNvPr id="25" name="Text 21"/>
          <p:cNvSpPr/>
          <p:nvPr/>
        </p:nvSpPr>
        <p:spPr>
          <a:xfrm>
            <a:off x="1835706" y="6553200"/>
            <a:ext cx="6514505" cy="544354"/>
          </a:xfrm>
          <a:prstGeom prst="rect">
            <a:avLst/>
          </a:prstGeom>
          <a:noFill/>
          <a:ln/>
        </p:spPr>
        <p:txBody>
          <a:bodyPr wrap="square" lIns="0" tIns="0" rIns="0" bIns="0" rtlCol="0" anchor="t"/>
          <a:lstStyle/>
          <a:p>
            <a:pPr marL="0" indent="0" algn="l">
              <a:lnSpc>
                <a:spcPts val="2100"/>
              </a:lnSpc>
              <a:buNone/>
            </a:pPr>
            <a:r>
              <a:rPr lang="en-US" sz="1300" dirty="0">
                <a:solidFill>
                  <a:srgbClr val="000000"/>
                </a:solidFill>
                <a:latin typeface="Inter" pitchFamily="34" charset="0"/>
                <a:ea typeface="Inter" pitchFamily="34" charset="-122"/>
                <a:cs typeface="Inter" pitchFamily="34" charset="-120"/>
              </a:rPr>
              <a:t>Combine multiple simple models to create a more powerful composite model that can capture complex patterns while maintaining interpretability.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749617"/>
            <a:ext cx="11056620" cy="708779"/>
          </a:xfrm>
          <a:prstGeom prst="rect">
            <a:avLst/>
          </a:prstGeom>
          <a:noFill/>
          <a:ln/>
        </p:spPr>
        <p:txBody>
          <a:bodyPr wrap="none" lIns="0" tIns="0" rIns="0" bIns="0" rtlCol="0" anchor="t"/>
          <a:lstStyle/>
          <a:p>
            <a:pPr marL="0" indent="0">
              <a:lnSpc>
                <a:spcPts val="5550"/>
              </a:lnSpc>
              <a:buNone/>
            </a:pPr>
            <a:r>
              <a:rPr lang="en-US" sz="4450" b="1" dirty="0">
                <a:solidFill>
                  <a:srgbClr val="000000"/>
                </a:solidFill>
                <a:latin typeface="Inter Bold" pitchFamily="34" charset="0"/>
                <a:ea typeface="Inter Bold" pitchFamily="34" charset="-122"/>
                <a:cs typeface="Inter Bold" pitchFamily="34" charset="-120"/>
              </a:rPr>
              <a:t>Practical Strategies to Manage Variance</a:t>
            </a:r>
            <a:endParaRPr lang="en-US" sz="4450" dirty="0"/>
          </a:p>
        </p:txBody>
      </p:sp>
      <p:sp>
        <p:nvSpPr>
          <p:cNvPr id="3" name="Shape 1"/>
          <p:cNvSpPr/>
          <p:nvPr/>
        </p:nvSpPr>
        <p:spPr>
          <a:xfrm>
            <a:off x="793790" y="1912025"/>
            <a:ext cx="1630323" cy="1306949"/>
          </a:xfrm>
          <a:prstGeom prst="roundRect">
            <a:avLst>
              <a:gd name="adj" fmla="val 7289"/>
            </a:avLst>
          </a:prstGeom>
          <a:solidFill>
            <a:srgbClr val="F7D5D4"/>
          </a:solidFill>
          <a:ln w="7620">
            <a:solidFill>
              <a:srgbClr val="DDBBBA"/>
            </a:solidFill>
            <a:prstDash val="solid"/>
          </a:ln>
        </p:spPr>
      </p:sp>
      <p:sp>
        <p:nvSpPr>
          <p:cNvPr id="4" name="Text 2"/>
          <p:cNvSpPr/>
          <p:nvPr/>
        </p:nvSpPr>
        <p:spPr>
          <a:xfrm>
            <a:off x="1449467" y="2366129"/>
            <a:ext cx="318968" cy="398621"/>
          </a:xfrm>
          <a:prstGeom prst="rect">
            <a:avLst/>
          </a:prstGeom>
          <a:noFill/>
          <a:ln/>
        </p:spPr>
        <p:txBody>
          <a:bodyPr wrap="none" lIns="0" tIns="0" rIns="0" bIns="0" rtlCol="0" anchor="t"/>
          <a:lstStyle/>
          <a:p>
            <a:pPr marL="0" indent="0" algn="ctr">
              <a:lnSpc>
                <a:spcPts val="4000"/>
              </a:lnSpc>
              <a:buNone/>
            </a:pPr>
            <a:r>
              <a:rPr lang="en-US" sz="2500" b="1" dirty="0">
                <a:solidFill>
                  <a:srgbClr val="000000"/>
                </a:solidFill>
                <a:latin typeface="Inter Bold" pitchFamily="34" charset="0"/>
                <a:ea typeface="Inter Bold" pitchFamily="34" charset="-122"/>
                <a:cs typeface="Inter Bold" pitchFamily="34" charset="-120"/>
              </a:rPr>
              <a:t>1</a:t>
            </a:r>
            <a:endParaRPr lang="en-US" sz="2500" dirty="0"/>
          </a:p>
        </p:txBody>
      </p:sp>
      <p:sp>
        <p:nvSpPr>
          <p:cNvPr id="5" name="Text 3"/>
          <p:cNvSpPr/>
          <p:nvPr/>
        </p:nvSpPr>
        <p:spPr>
          <a:xfrm>
            <a:off x="2650927" y="2138839"/>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Collect More Data</a:t>
            </a:r>
            <a:endParaRPr lang="en-US" sz="2200" dirty="0"/>
          </a:p>
        </p:txBody>
      </p:sp>
      <p:sp>
        <p:nvSpPr>
          <p:cNvPr id="6" name="Text 4"/>
          <p:cNvSpPr/>
          <p:nvPr/>
        </p:nvSpPr>
        <p:spPr>
          <a:xfrm>
            <a:off x="2650927" y="2629257"/>
            <a:ext cx="5780127" cy="36290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Larger training datasets help models generalize better</a:t>
            </a:r>
            <a:endParaRPr lang="en-US" sz="1750" dirty="0"/>
          </a:p>
        </p:txBody>
      </p:sp>
      <p:sp>
        <p:nvSpPr>
          <p:cNvPr id="7" name="Shape 5"/>
          <p:cNvSpPr/>
          <p:nvPr/>
        </p:nvSpPr>
        <p:spPr>
          <a:xfrm>
            <a:off x="2537460" y="3203734"/>
            <a:ext cx="11185803" cy="15240"/>
          </a:xfrm>
          <a:prstGeom prst="roundRect">
            <a:avLst>
              <a:gd name="adj" fmla="val 625116"/>
            </a:avLst>
          </a:prstGeom>
          <a:solidFill>
            <a:srgbClr val="DDBBBA"/>
          </a:solidFill>
          <a:ln/>
        </p:spPr>
      </p:sp>
      <p:sp>
        <p:nvSpPr>
          <p:cNvPr id="8" name="Shape 6"/>
          <p:cNvSpPr/>
          <p:nvPr/>
        </p:nvSpPr>
        <p:spPr>
          <a:xfrm>
            <a:off x="793790" y="3332321"/>
            <a:ext cx="3260646" cy="1306949"/>
          </a:xfrm>
          <a:prstGeom prst="roundRect">
            <a:avLst>
              <a:gd name="adj" fmla="val 7289"/>
            </a:avLst>
          </a:prstGeom>
          <a:solidFill>
            <a:srgbClr val="F7D5D4"/>
          </a:solidFill>
          <a:ln w="7620">
            <a:solidFill>
              <a:srgbClr val="DDBBBA"/>
            </a:solidFill>
            <a:prstDash val="solid"/>
          </a:ln>
        </p:spPr>
      </p:sp>
      <p:sp>
        <p:nvSpPr>
          <p:cNvPr id="9" name="Text 7"/>
          <p:cNvSpPr/>
          <p:nvPr/>
        </p:nvSpPr>
        <p:spPr>
          <a:xfrm>
            <a:off x="2264569" y="3786426"/>
            <a:ext cx="318968" cy="398621"/>
          </a:xfrm>
          <a:prstGeom prst="rect">
            <a:avLst/>
          </a:prstGeom>
          <a:noFill/>
          <a:ln/>
        </p:spPr>
        <p:txBody>
          <a:bodyPr wrap="none" lIns="0" tIns="0" rIns="0" bIns="0" rtlCol="0" anchor="t"/>
          <a:lstStyle/>
          <a:p>
            <a:pPr marL="0" indent="0" algn="ctr">
              <a:lnSpc>
                <a:spcPts val="4000"/>
              </a:lnSpc>
              <a:buNone/>
            </a:pPr>
            <a:r>
              <a:rPr lang="en-US" sz="2500" b="1" dirty="0">
                <a:solidFill>
                  <a:srgbClr val="000000"/>
                </a:solidFill>
                <a:latin typeface="Inter Bold" pitchFamily="34" charset="0"/>
                <a:ea typeface="Inter Bold" pitchFamily="34" charset="-122"/>
                <a:cs typeface="Inter Bold" pitchFamily="34" charset="-120"/>
              </a:rPr>
              <a:t>2</a:t>
            </a:r>
            <a:endParaRPr lang="en-US" sz="2500" dirty="0"/>
          </a:p>
        </p:txBody>
      </p:sp>
      <p:sp>
        <p:nvSpPr>
          <p:cNvPr id="10" name="Text 8"/>
          <p:cNvSpPr/>
          <p:nvPr/>
        </p:nvSpPr>
        <p:spPr>
          <a:xfrm>
            <a:off x="4281249" y="3559135"/>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Feature Selection</a:t>
            </a:r>
            <a:endParaRPr lang="en-US" sz="2200" dirty="0"/>
          </a:p>
        </p:txBody>
      </p:sp>
      <p:sp>
        <p:nvSpPr>
          <p:cNvPr id="11" name="Text 9"/>
          <p:cNvSpPr/>
          <p:nvPr/>
        </p:nvSpPr>
        <p:spPr>
          <a:xfrm>
            <a:off x="4281249" y="4049554"/>
            <a:ext cx="4313396" cy="36290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Remove irrelevant or redundant features</a:t>
            </a:r>
            <a:endParaRPr lang="en-US" sz="1750" dirty="0"/>
          </a:p>
        </p:txBody>
      </p:sp>
      <p:sp>
        <p:nvSpPr>
          <p:cNvPr id="12" name="Shape 10"/>
          <p:cNvSpPr/>
          <p:nvPr/>
        </p:nvSpPr>
        <p:spPr>
          <a:xfrm>
            <a:off x="4167783" y="4624030"/>
            <a:ext cx="9555480" cy="15240"/>
          </a:xfrm>
          <a:prstGeom prst="roundRect">
            <a:avLst>
              <a:gd name="adj" fmla="val 625116"/>
            </a:avLst>
          </a:prstGeom>
          <a:solidFill>
            <a:srgbClr val="DDBBBA"/>
          </a:solidFill>
          <a:ln/>
        </p:spPr>
      </p:sp>
      <p:sp>
        <p:nvSpPr>
          <p:cNvPr id="13" name="Shape 11"/>
          <p:cNvSpPr/>
          <p:nvPr/>
        </p:nvSpPr>
        <p:spPr>
          <a:xfrm>
            <a:off x="793790" y="4752618"/>
            <a:ext cx="4890968" cy="1306949"/>
          </a:xfrm>
          <a:prstGeom prst="roundRect">
            <a:avLst>
              <a:gd name="adj" fmla="val 7289"/>
            </a:avLst>
          </a:prstGeom>
          <a:solidFill>
            <a:srgbClr val="F7D5D4"/>
          </a:solidFill>
          <a:ln w="7620">
            <a:solidFill>
              <a:srgbClr val="DDBBBA"/>
            </a:solidFill>
            <a:prstDash val="solid"/>
          </a:ln>
        </p:spPr>
      </p:sp>
      <p:sp>
        <p:nvSpPr>
          <p:cNvPr id="14" name="Text 12"/>
          <p:cNvSpPr/>
          <p:nvPr/>
        </p:nvSpPr>
        <p:spPr>
          <a:xfrm>
            <a:off x="3079790" y="5206722"/>
            <a:ext cx="318968" cy="398621"/>
          </a:xfrm>
          <a:prstGeom prst="rect">
            <a:avLst/>
          </a:prstGeom>
          <a:noFill/>
          <a:ln/>
        </p:spPr>
        <p:txBody>
          <a:bodyPr wrap="none" lIns="0" tIns="0" rIns="0" bIns="0" rtlCol="0" anchor="t"/>
          <a:lstStyle/>
          <a:p>
            <a:pPr marL="0" indent="0" algn="ctr">
              <a:lnSpc>
                <a:spcPts val="4000"/>
              </a:lnSpc>
              <a:buNone/>
            </a:pPr>
            <a:r>
              <a:rPr lang="en-US" sz="2500" b="1" dirty="0">
                <a:solidFill>
                  <a:srgbClr val="000000"/>
                </a:solidFill>
                <a:latin typeface="Inter Bold" pitchFamily="34" charset="0"/>
                <a:ea typeface="Inter Bold" pitchFamily="34" charset="-122"/>
                <a:cs typeface="Inter Bold" pitchFamily="34" charset="-120"/>
              </a:rPr>
              <a:t>3</a:t>
            </a:r>
            <a:endParaRPr lang="en-US" sz="2500" dirty="0"/>
          </a:p>
        </p:txBody>
      </p:sp>
      <p:sp>
        <p:nvSpPr>
          <p:cNvPr id="15" name="Text 13"/>
          <p:cNvSpPr/>
          <p:nvPr/>
        </p:nvSpPr>
        <p:spPr>
          <a:xfrm>
            <a:off x="5911572" y="4979432"/>
            <a:ext cx="3261122"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Increase Regularization</a:t>
            </a:r>
            <a:endParaRPr lang="en-US" sz="2200" dirty="0"/>
          </a:p>
        </p:txBody>
      </p:sp>
      <p:sp>
        <p:nvSpPr>
          <p:cNvPr id="16" name="Text 14"/>
          <p:cNvSpPr/>
          <p:nvPr/>
        </p:nvSpPr>
        <p:spPr>
          <a:xfrm>
            <a:off x="5911572" y="5469850"/>
            <a:ext cx="4754285" cy="36290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Add stronger penalties for model complexity</a:t>
            </a:r>
            <a:endParaRPr lang="en-US" sz="1750" dirty="0"/>
          </a:p>
        </p:txBody>
      </p:sp>
      <p:sp>
        <p:nvSpPr>
          <p:cNvPr id="17" name="Shape 15"/>
          <p:cNvSpPr/>
          <p:nvPr/>
        </p:nvSpPr>
        <p:spPr>
          <a:xfrm>
            <a:off x="5798106" y="6044327"/>
            <a:ext cx="7925157" cy="15240"/>
          </a:xfrm>
          <a:prstGeom prst="roundRect">
            <a:avLst>
              <a:gd name="adj" fmla="val 625116"/>
            </a:avLst>
          </a:prstGeom>
          <a:solidFill>
            <a:srgbClr val="DDBBBA"/>
          </a:solidFill>
          <a:ln/>
        </p:spPr>
      </p:sp>
      <p:sp>
        <p:nvSpPr>
          <p:cNvPr id="18" name="Shape 16"/>
          <p:cNvSpPr/>
          <p:nvPr/>
        </p:nvSpPr>
        <p:spPr>
          <a:xfrm>
            <a:off x="793790" y="6172914"/>
            <a:ext cx="6521410" cy="1306949"/>
          </a:xfrm>
          <a:prstGeom prst="roundRect">
            <a:avLst>
              <a:gd name="adj" fmla="val 7289"/>
            </a:avLst>
          </a:prstGeom>
          <a:solidFill>
            <a:srgbClr val="F7D5D4"/>
          </a:solidFill>
          <a:ln w="7620">
            <a:solidFill>
              <a:srgbClr val="DDBBBA"/>
            </a:solidFill>
            <a:prstDash val="solid"/>
          </a:ln>
        </p:spPr>
      </p:sp>
      <p:sp>
        <p:nvSpPr>
          <p:cNvPr id="19" name="Text 17"/>
          <p:cNvSpPr/>
          <p:nvPr/>
        </p:nvSpPr>
        <p:spPr>
          <a:xfrm>
            <a:off x="3895011" y="6627019"/>
            <a:ext cx="318968" cy="398621"/>
          </a:xfrm>
          <a:prstGeom prst="rect">
            <a:avLst/>
          </a:prstGeom>
          <a:noFill/>
          <a:ln/>
        </p:spPr>
        <p:txBody>
          <a:bodyPr wrap="none" lIns="0" tIns="0" rIns="0" bIns="0" rtlCol="0" anchor="t"/>
          <a:lstStyle/>
          <a:p>
            <a:pPr marL="0" indent="0" algn="ctr">
              <a:lnSpc>
                <a:spcPts val="4000"/>
              </a:lnSpc>
              <a:buNone/>
            </a:pPr>
            <a:r>
              <a:rPr lang="en-US" sz="2500" b="1" dirty="0">
                <a:solidFill>
                  <a:srgbClr val="000000"/>
                </a:solidFill>
                <a:latin typeface="Inter Bold" pitchFamily="34" charset="0"/>
                <a:ea typeface="Inter Bold" pitchFamily="34" charset="-122"/>
                <a:cs typeface="Inter Bold" pitchFamily="34" charset="-120"/>
              </a:rPr>
              <a:t>4</a:t>
            </a:r>
            <a:endParaRPr lang="en-US" sz="2500" dirty="0"/>
          </a:p>
        </p:txBody>
      </p:sp>
      <p:sp>
        <p:nvSpPr>
          <p:cNvPr id="20" name="Text 18"/>
          <p:cNvSpPr/>
          <p:nvPr/>
        </p:nvSpPr>
        <p:spPr>
          <a:xfrm>
            <a:off x="7542014" y="639972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Early Stopping</a:t>
            </a:r>
            <a:endParaRPr lang="en-US" sz="2200" dirty="0"/>
          </a:p>
        </p:txBody>
      </p:sp>
      <p:sp>
        <p:nvSpPr>
          <p:cNvPr id="21" name="Text 19"/>
          <p:cNvSpPr/>
          <p:nvPr/>
        </p:nvSpPr>
        <p:spPr>
          <a:xfrm>
            <a:off x="7542014" y="6890147"/>
            <a:ext cx="4009192" cy="36290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Halt training before overfitting occurs</a:t>
            </a:r>
            <a:endParaRPr lang="en-US" sz="1750" dirty="0"/>
          </a:p>
        </p:txBody>
      </p:sp>
      <p:pic>
        <p:nvPicPr>
          <p:cNvPr id="22" name="Image 0" descr="preencoded.png"/>
          <p:cNvPicPr>
            <a:picLocks noChangeAspect="1"/>
          </p:cNvPicPr>
          <p:nvPr/>
        </p:nvPicPr>
        <p:blipFill>
          <a:blip r:embed="rId3"/>
          <a:stretch>
            <a:fillRect/>
          </a:stretch>
        </p:blipFill>
        <p:spPr>
          <a:xfrm>
            <a:off x="13464778" y="228600"/>
            <a:ext cx="937022" cy="50280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0218" y="799267"/>
            <a:ext cx="10508099" cy="705564"/>
          </a:xfrm>
          <a:prstGeom prst="rect">
            <a:avLst/>
          </a:prstGeom>
          <a:noFill/>
          <a:ln/>
        </p:spPr>
        <p:txBody>
          <a:bodyPr wrap="none" lIns="0" tIns="0" rIns="0" bIns="0" rtlCol="0" anchor="t"/>
          <a:lstStyle/>
          <a:p>
            <a:pPr marL="0" indent="0">
              <a:lnSpc>
                <a:spcPts val="5550"/>
              </a:lnSpc>
              <a:buNone/>
            </a:pPr>
            <a:r>
              <a:rPr lang="en-US" sz="4400" b="1" dirty="0">
                <a:solidFill>
                  <a:srgbClr val="000000"/>
                </a:solidFill>
                <a:latin typeface="Inter Bold" pitchFamily="34" charset="0"/>
                <a:ea typeface="Inter Bold" pitchFamily="34" charset="-122"/>
                <a:cs typeface="Inter Bold" pitchFamily="34" charset="-120"/>
              </a:rPr>
              <a:t>Cross-Validation: Testing the Tradeoff</a:t>
            </a:r>
            <a:endParaRPr lang="en-US" sz="4400" dirty="0"/>
          </a:p>
        </p:txBody>
      </p:sp>
      <p:pic>
        <p:nvPicPr>
          <p:cNvPr id="3" name="Image 0" descr="preencoded.png"/>
          <p:cNvPicPr>
            <a:picLocks noChangeAspect="1"/>
          </p:cNvPicPr>
          <p:nvPr/>
        </p:nvPicPr>
        <p:blipFill>
          <a:blip r:embed="rId3"/>
          <a:stretch>
            <a:fillRect/>
          </a:stretch>
        </p:blipFill>
        <p:spPr>
          <a:xfrm>
            <a:off x="790218" y="1956316"/>
            <a:ext cx="4105156" cy="2537103"/>
          </a:xfrm>
          <a:prstGeom prst="rect">
            <a:avLst/>
          </a:prstGeom>
        </p:spPr>
      </p:pic>
      <p:sp>
        <p:nvSpPr>
          <p:cNvPr id="4" name="Text 1"/>
          <p:cNvSpPr/>
          <p:nvPr/>
        </p:nvSpPr>
        <p:spPr>
          <a:xfrm>
            <a:off x="790218" y="4775597"/>
            <a:ext cx="3269694" cy="352663"/>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K-Fold Cross-Validation</a:t>
            </a:r>
            <a:endParaRPr lang="en-US" sz="2200" dirty="0"/>
          </a:p>
        </p:txBody>
      </p:sp>
      <p:sp>
        <p:nvSpPr>
          <p:cNvPr id="5" name="Text 2"/>
          <p:cNvSpPr/>
          <p:nvPr/>
        </p:nvSpPr>
        <p:spPr>
          <a:xfrm>
            <a:off x="790218" y="5263634"/>
            <a:ext cx="4124206" cy="2166699"/>
          </a:xfrm>
          <a:prstGeom prst="rect">
            <a:avLst/>
          </a:prstGeom>
          <a:noFill/>
          <a:ln/>
        </p:spPr>
        <p:txBody>
          <a:bodyPr wrap="square" lIns="0" tIns="0" rIns="0" bIns="0" rtlCol="0" anchor="t"/>
          <a:lstStyle/>
          <a:p>
            <a:pPr marL="0" indent="0" algn="l">
              <a:lnSpc>
                <a:spcPts val="2800"/>
              </a:lnSpc>
              <a:buNone/>
            </a:pPr>
            <a:r>
              <a:rPr lang="en-US" sz="1750" dirty="0">
                <a:solidFill>
                  <a:srgbClr val="000000"/>
                </a:solidFill>
                <a:latin typeface="Inter" pitchFamily="34" charset="0"/>
                <a:ea typeface="Inter" pitchFamily="34" charset="-122"/>
                <a:cs typeface="Inter" pitchFamily="34" charset="-120"/>
              </a:rPr>
              <a:t>Divide data into k subsets, train on k-1 folds and validate on the remaining fold, rotating through all combinations. This provides a robust estimate of model performance across different data splits.</a:t>
            </a:r>
            <a:endParaRPr lang="en-US" sz="1750" dirty="0"/>
          </a:p>
        </p:txBody>
      </p:sp>
      <p:pic>
        <p:nvPicPr>
          <p:cNvPr id="6" name="Image 1" descr="preencoded.png"/>
          <p:cNvPicPr>
            <a:picLocks noChangeAspect="1"/>
          </p:cNvPicPr>
          <p:nvPr/>
        </p:nvPicPr>
        <p:blipFill>
          <a:blip r:embed="rId4"/>
          <a:stretch>
            <a:fillRect/>
          </a:stretch>
        </p:blipFill>
        <p:spPr>
          <a:xfrm>
            <a:off x="5253037" y="1956316"/>
            <a:ext cx="4105156" cy="2537103"/>
          </a:xfrm>
          <a:prstGeom prst="rect">
            <a:avLst/>
          </a:prstGeom>
        </p:spPr>
      </p:pic>
      <p:sp>
        <p:nvSpPr>
          <p:cNvPr id="7" name="Text 3"/>
          <p:cNvSpPr/>
          <p:nvPr/>
        </p:nvSpPr>
        <p:spPr>
          <a:xfrm>
            <a:off x="5253037" y="4775597"/>
            <a:ext cx="2822258" cy="352663"/>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Learning Curves</a:t>
            </a:r>
            <a:endParaRPr lang="en-US" sz="2200" dirty="0"/>
          </a:p>
        </p:txBody>
      </p:sp>
      <p:sp>
        <p:nvSpPr>
          <p:cNvPr id="8" name="Text 4"/>
          <p:cNvSpPr/>
          <p:nvPr/>
        </p:nvSpPr>
        <p:spPr>
          <a:xfrm>
            <a:off x="5253037" y="5263634"/>
            <a:ext cx="4124206" cy="2166699"/>
          </a:xfrm>
          <a:prstGeom prst="rect">
            <a:avLst/>
          </a:prstGeom>
          <a:noFill/>
          <a:ln/>
        </p:spPr>
        <p:txBody>
          <a:bodyPr wrap="square" lIns="0" tIns="0" rIns="0" bIns="0" rtlCol="0" anchor="t"/>
          <a:lstStyle/>
          <a:p>
            <a:pPr marL="0" indent="0" algn="l">
              <a:lnSpc>
                <a:spcPts val="2800"/>
              </a:lnSpc>
              <a:buNone/>
            </a:pPr>
            <a:r>
              <a:rPr lang="en-US" sz="1750" dirty="0">
                <a:solidFill>
                  <a:srgbClr val="000000"/>
                </a:solidFill>
                <a:latin typeface="Inter" pitchFamily="34" charset="0"/>
                <a:ea typeface="Inter" pitchFamily="34" charset="-122"/>
                <a:cs typeface="Inter" pitchFamily="34" charset="-120"/>
              </a:rPr>
              <a:t>Plot training and validation error against training set size to diagnose bias and variance issues. High training error indicates high bias, while a large gap between training and validation error suggests high variance.</a:t>
            </a:r>
            <a:endParaRPr lang="en-US" sz="1750" dirty="0"/>
          </a:p>
        </p:txBody>
      </p:sp>
      <p:pic>
        <p:nvPicPr>
          <p:cNvPr id="9" name="Image 2" descr="preencoded.png"/>
          <p:cNvPicPr>
            <a:picLocks noChangeAspect="1"/>
          </p:cNvPicPr>
          <p:nvPr/>
        </p:nvPicPr>
        <p:blipFill>
          <a:blip r:embed="rId5"/>
          <a:stretch>
            <a:fillRect/>
          </a:stretch>
        </p:blipFill>
        <p:spPr>
          <a:xfrm>
            <a:off x="9715857" y="1956316"/>
            <a:ext cx="4105156" cy="2537103"/>
          </a:xfrm>
          <a:prstGeom prst="rect">
            <a:avLst/>
          </a:prstGeom>
        </p:spPr>
      </p:pic>
      <p:sp>
        <p:nvSpPr>
          <p:cNvPr id="10" name="Text 5"/>
          <p:cNvSpPr/>
          <p:nvPr/>
        </p:nvSpPr>
        <p:spPr>
          <a:xfrm>
            <a:off x="9715857" y="4775597"/>
            <a:ext cx="2822258" cy="352663"/>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Validation Curves</a:t>
            </a:r>
            <a:endParaRPr lang="en-US" sz="2200" dirty="0"/>
          </a:p>
        </p:txBody>
      </p:sp>
      <p:sp>
        <p:nvSpPr>
          <p:cNvPr id="11" name="Text 6"/>
          <p:cNvSpPr/>
          <p:nvPr/>
        </p:nvSpPr>
        <p:spPr>
          <a:xfrm>
            <a:off x="9715857" y="5263634"/>
            <a:ext cx="4124206" cy="1805583"/>
          </a:xfrm>
          <a:prstGeom prst="rect">
            <a:avLst/>
          </a:prstGeom>
          <a:noFill/>
          <a:ln/>
        </p:spPr>
        <p:txBody>
          <a:bodyPr wrap="square" lIns="0" tIns="0" rIns="0" bIns="0" rtlCol="0" anchor="t"/>
          <a:lstStyle/>
          <a:p>
            <a:pPr marL="0" indent="0" algn="l">
              <a:lnSpc>
                <a:spcPts val="2800"/>
              </a:lnSpc>
              <a:buNone/>
            </a:pPr>
            <a:r>
              <a:rPr lang="en-US" sz="1750" dirty="0">
                <a:solidFill>
                  <a:srgbClr val="000000"/>
                </a:solidFill>
                <a:latin typeface="Inter" pitchFamily="34" charset="0"/>
                <a:ea typeface="Inter" pitchFamily="34" charset="-122"/>
                <a:cs typeface="Inter" pitchFamily="34" charset="-120"/>
              </a:rPr>
              <a:t>Plot training and validation error against a model hyperparameter (like regularization strength) to find the optimal setting that balances bias and variance.</a:t>
            </a:r>
            <a:endParaRPr lang="en-US" sz="1750" dirty="0"/>
          </a:p>
        </p:txBody>
      </p:sp>
      <p:pic>
        <p:nvPicPr>
          <p:cNvPr id="12" name="Image 3" descr="preencoded.png"/>
          <p:cNvPicPr>
            <a:picLocks noChangeAspect="1"/>
          </p:cNvPicPr>
          <p:nvPr/>
        </p:nvPicPr>
        <p:blipFill>
          <a:blip r:embed="rId6"/>
          <a:stretch>
            <a:fillRect/>
          </a:stretch>
        </p:blipFill>
        <p:spPr>
          <a:xfrm>
            <a:off x="13464778" y="228600"/>
            <a:ext cx="937022" cy="50280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733782"/>
            <a:ext cx="12484775" cy="673418"/>
          </a:xfrm>
          <a:prstGeom prst="rect">
            <a:avLst/>
          </a:prstGeom>
          <a:noFill/>
          <a:ln/>
        </p:spPr>
        <p:txBody>
          <a:bodyPr wrap="none" lIns="0" tIns="0" rIns="0" bIns="0" rtlCol="0" anchor="t"/>
          <a:lstStyle/>
          <a:p>
            <a:pPr marL="0" indent="0">
              <a:lnSpc>
                <a:spcPts val="5300"/>
              </a:lnSpc>
              <a:buNone/>
            </a:pPr>
            <a:r>
              <a:rPr lang="en-US" sz="4200" b="1" dirty="0">
                <a:solidFill>
                  <a:srgbClr val="000000"/>
                </a:solidFill>
                <a:latin typeface="Inter Bold" pitchFamily="34" charset="0"/>
                <a:ea typeface="Inter Bold" pitchFamily="34" charset="-122"/>
                <a:cs typeface="Inter Bold" pitchFamily="34" charset="-120"/>
              </a:rPr>
              <a:t>Real-World Examples of Bias-Variance Tradeoff</a:t>
            </a:r>
            <a:endParaRPr lang="en-US" sz="4200" dirty="0"/>
          </a:p>
        </p:txBody>
      </p:sp>
      <p:pic>
        <p:nvPicPr>
          <p:cNvPr id="3" name="Image 0" descr="preencoded.png"/>
          <p:cNvPicPr>
            <a:picLocks noChangeAspect="1"/>
          </p:cNvPicPr>
          <p:nvPr/>
        </p:nvPicPr>
        <p:blipFill>
          <a:blip r:embed="rId3"/>
          <a:stretch>
            <a:fillRect/>
          </a:stretch>
        </p:blipFill>
        <p:spPr>
          <a:xfrm>
            <a:off x="801410" y="1977152"/>
            <a:ext cx="4227671" cy="3170753"/>
          </a:xfrm>
          <a:prstGeom prst="rect">
            <a:avLst/>
          </a:prstGeom>
        </p:spPr>
      </p:pic>
      <p:pic>
        <p:nvPicPr>
          <p:cNvPr id="4" name="Image 1" descr="preencoded.png"/>
          <p:cNvPicPr>
            <a:picLocks noChangeAspect="1"/>
          </p:cNvPicPr>
          <p:nvPr/>
        </p:nvPicPr>
        <p:blipFill>
          <a:blip r:embed="rId4"/>
          <a:stretch>
            <a:fillRect/>
          </a:stretch>
        </p:blipFill>
        <p:spPr>
          <a:xfrm>
            <a:off x="5201364" y="1977152"/>
            <a:ext cx="4227671" cy="3170753"/>
          </a:xfrm>
          <a:prstGeom prst="rect">
            <a:avLst/>
          </a:prstGeom>
        </p:spPr>
      </p:pic>
      <p:pic>
        <p:nvPicPr>
          <p:cNvPr id="5" name="Image 2" descr="preencoded.png"/>
          <p:cNvPicPr>
            <a:picLocks noChangeAspect="1"/>
          </p:cNvPicPr>
          <p:nvPr/>
        </p:nvPicPr>
        <p:blipFill>
          <a:blip r:embed="rId5"/>
          <a:stretch>
            <a:fillRect/>
          </a:stretch>
        </p:blipFill>
        <p:spPr>
          <a:xfrm>
            <a:off x="9601319" y="1977152"/>
            <a:ext cx="4227671" cy="3170753"/>
          </a:xfrm>
          <a:prstGeom prst="rect">
            <a:avLst/>
          </a:prstGeom>
        </p:spPr>
      </p:pic>
      <p:sp>
        <p:nvSpPr>
          <p:cNvPr id="6" name="Text 1"/>
          <p:cNvSpPr/>
          <p:nvPr/>
        </p:nvSpPr>
        <p:spPr>
          <a:xfrm>
            <a:off x="793790" y="5529382"/>
            <a:ext cx="13042821" cy="1034415"/>
          </a:xfrm>
          <a:prstGeom prst="rect">
            <a:avLst/>
          </a:prstGeom>
          <a:noFill/>
          <a:ln/>
        </p:spPr>
        <p:txBody>
          <a:bodyPr wrap="square" lIns="0" tIns="0" rIns="0" bIns="0" rtlCol="0" anchor="t"/>
          <a:lstStyle/>
          <a:p>
            <a:pPr marL="0" indent="0">
              <a:lnSpc>
                <a:spcPts val="2700"/>
              </a:lnSpc>
              <a:buNone/>
            </a:pPr>
            <a:r>
              <a:rPr lang="en-US" sz="1650" dirty="0">
                <a:solidFill>
                  <a:srgbClr val="000000"/>
                </a:solidFill>
                <a:latin typeface="Inter" pitchFamily="34" charset="0"/>
                <a:ea typeface="Inter" pitchFamily="34" charset="-122"/>
                <a:cs typeface="Inter" pitchFamily="34" charset="-120"/>
              </a:rPr>
              <a:t>Different algorithms naturally balance bias and variance differently. Linear models tend toward high bias, while decision trees often suffer from high variance. Ensemble methods like random forests and regularized neural networks can achieve better tradeoffs by combining multiple models or controlling complexity.</a:t>
            </a:r>
            <a:endParaRPr lang="en-US" sz="1650" dirty="0"/>
          </a:p>
        </p:txBody>
      </p:sp>
      <p:sp>
        <p:nvSpPr>
          <p:cNvPr id="7" name="Text 2"/>
          <p:cNvSpPr/>
          <p:nvPr/>
        </p:nvSpPr>
        <p:spPr>
          <a:xfrm>
            <a:off x="793790" y="6806208"/>
            <a:ext cx="13042821" cy="689610"/>
          </a:xfrm>
          <a:prstGeom prst="rect">
            <a:avLst/>
          </a:prstGeom>
          <a:noFill/>
          <a:ln/>
        </p:spPr>
        <p:txBody>
          <a:bodyPr wrap="square" lIns="0" tIns="0" rIns="0" bIns="0" rtlCol="0" anchor="t"/>
          <a:lstStyle/>
          <a:p>
            <a:pPr marL="0" indent="0">
              <a:lnSpc>
                <a:spcPts val="2700"/>
              </a:lnSpc>
              <a:buNone/>
            </a:pPr>
            <a:r>
              <a:rPr lang="en-US" sz="1650" dirty="0">
                <a:solidFill>
                  <a:srgbClr val="000000"/>
                </a:solidFill>
                <a:latin typeface="Inter" pitchFamily="34" charset="0"/>
                <a:ea typeface="Inter" pitchFamily="34" charset="-122"/>
                <a:cs typeface="Inter" pitchFamily="34" charset="-120"/>
              </a:rPr>
              <a:t>The right choice depends on your specific problem, data characteristics, and performance requirements. Sometimes a slightly biased model is preferable for its stability and interpretability.</a:t>
            </a:r>
            <a:endParaRPr lang="en-US" sz="1650" dirty="0"/>
          </a:p>
        </p:txBody>
      </p:sp>
      <p:pic>
        <p:nvPicPr>
          <p:cNvPr id="8" name="Image 3" descr="preencoded.png"/>
          <p:cNvPicPr>
            <a:picLocks noChangeAspect="1"/>
          </p:cNvPicPr>
          <p:nvPr/>
        </p:nvPicPr>
        <p:blipFill>
          <a:blip r:embed="rId6"/>
          <a:stretch>
            <a:fillRect/>
          </a:stretch>
        </p:blipFill>
        <p:spPr>
          <a:xfrm>
            <a:off x="13464778" y="228600"/>
            <a:ext cx="937022" cy="50280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179427" y="1572339"/>
            <a:ext cx="5127427" cy="5084802"/>
          </a:xfrm>
          <a:prstGeom prst="rect">
            <a:avLst/>
          </a:prstGeom>
        </p:spPr>
      </p:pic>
      <p:sp>
        <p:nvSpPr>
          <p:cNvPr id="4" name="Text 0"/>
          <p:cNvSpPr/>
          <p:nvPr/>
        </p:nvSpPr>
        <p:spPr>
          <a:xfrm>
            <a:off x="6259473" y="607457"/>
            <a:ext cx="7030522" cy="448628"/>
          </a:xfrm>
          <a:prstGeom prst="rect">
            <a:avLst/>
          </a:prstGeom>
          <a:noFill/>
          <a:ln/>
        </p:spPr>
        <p:txBody>
          <a:bodyPr wrap="none" lIns="0" tIns="0" rIns="0" bIns="0" rtlCol="0" anchor="t"/>
          <a:lstStyle/>
          <a:p>
            <a:pPr marL="0" indent="0">
              <a:lnSpc>
                <a:spcPts val="3500"/>
              </a:lnSpc>
              <a:buNone/>
            </a:pPr>
            <a:r>
              <a:rPr lang="en-US" sz="2800" b="1" dirty="0">
                <a:solidFill>
                  <a:srgbClr val="000000"/>
                </a:solidFill>
                <a:latin typeface="Inter Bold" pitchFamily="34" charset="0"/>
                <a:ea typeface="Inter Bold" pitchFamily="34" charset="-122"/>
                <a:cs typeface="Inter Bold" pitchFamily="34" charset="-120"/>
              </a:rPr>
              <a:t>Measuring Bias and Variance in Practice</a:t>
            </a:r>
            <a:endParaRPr lang="en-US" sz="2800" dirty="0"/>
          </a:p>
        </p:txBody>
      </p:sp>
      <p:sp>
        <p:nvSpPr>
          <p:cNvPr id="5" name="Text 1"/>
          <p:cNvSpPr/>
          <p:nvPr/>
        </p:nvSpPr>
        <p:spPr>
          <a:xfrm>
            <a:off x="6259473" y="1343025"/>
            <a:ext cx="7597854" cy="473750"/>
          </a:xfrm>
          <a:prstGeom prst="rect">
            <a:avLst/>
          </a:prstGeom>
          <a:noFill/>
          <a:ln/>
        </p:spPr>
        <p:txBody>
          <a:bodyPr wrap="none" lIns="0" tIns="0" rIns="0" bIns="0" rtlCol="0" anchor="t"/>
          <a:lstStyle/>
          <a:p>
            <a:pPr marL="0" indent="0" algn="ctr">
              <a:lnSpc>
                <a:spcPts val="3700"/>
              </a:lnSpc>
              <a:buNone/>
            </a:pPr>
            <a:r>
              <a:rPr lang="en-US" sz="3700" b="1" dirty="0">
                <a:solidFill>
                  <a:srgbClr val="000000"/>
                </a:solidFill>
                <a:latin typeface="Inter Bold" pitchFamily="34" charset="0"/>
                <a:ea typeface="Inter Bold" pitchFamily="34" charset="-122"/>
                <a:cs typeface="Inter Bold" pitchFamily="34" charset="-120"/>
              </a:rPr>
              <a:t>MSE</a:t>
            </a:r>
            <a:endParaRPr lang="en-US" sz="3700" dirty="0"/>
          </a:p>
        </p:txBody>
      </p:sp>
      <p:sp>
        <p:nvSpPr>
          <p:cNvPr id="6" name="Text 2"/>
          <p:cNvSpPr/>
          <p:nvPr/>
        </p:nvSpPr>
        <p:spPr>
          <a:xfrm>
            <a:off x="9161026" y="1996083"/>
            <a:ext cx="1794748" cy="224195"/>
          </a:xfrm>
          <a:prstGeom prst="rect">
            <a:avLst/>
          </a:prstGeom>
          <a:noFill/>
          <a:ln/>
        </p:spPr>
        <p:txBody>
          <a:bodyPr wrap="none" lIns="0" tIns="0" rIns="0" bIns="0" rtlCol="0" anchor="t"/>
          <a:lstStyle/>
          <a:p>
            <a:pPr marL="0" indent="0" algn="ctr">
              <a:lnSpc>
                <a:spcPts val="1750"/>
              </a:lnSpc>
              <a:buNone/>
            </a:pPr>
            <a:r>
              <a:rPr lang="en-US" sz="1400" b="1" dirty="0">
                <a:solidFill>
                  <a:srgbClr val="000000"/>
                </a:solidFill>
                <a:latin typeface="Inter Bold" pitchFamily="34" charset="0"/>
                <a:ea typeface="Inter Bold" pitchFamily="34" charset="-122"/>
                <a:cs typeface="Inter Bold" pitchFamily="34" charset="-120"/>
              </a:rPr>
              <a:t>Mean Squared Error</a:t>
            </a:r>
            <a:endParaRPr lang="en-US" sz="1400" dirty="0"/>
          </a:p>
        </p:txBody>
      </p:sp>
      <p:sp>
        <p:nvSpPr>
          <p:cNvPr id="7" name="Text 3"/>
          <p:cNvSpPr/>
          <p:nvPr/>
        </p:nvSpPr>
        <p:spPr>
          <a:xfrm>
            <a:off x="6259473" y="2306360"/>
            <a:ext cx="7597854" cy="229672"/>
          </a:xfrm>
          <a:prstGeom prst="rect">
            <a:avLst/>
          </a:prstGeom>
          <a:noFill/>
          <a:ln/>
        </p:spPr>
        <p:txBody>
          <a:bodyPr wrap="none" lIns="0" tIns="0" rIns="0" bIns="0" rtlCol="0" anchor="t"/>
          <a:lstStyle/>
          <a:p>
            <a:pPr marL="0" indent="0" algn="ctr">
              <a:lnSpc>
                <a:spcPts val="1800"/>
              </a:lnSpc>
              <a:buNone/>
            </a:pPr>
            <a:r>
              <a:rPr lang="en-US" sz="1100" dirty="0">
                <a:solidFill>
                  <a:srgbClr val="000000"/>
                </a:solidFill>
                <a:latin typeface="Inter" pitchFamily="34" charset="0"/>
                <a:ea typeface="Inter" pitchFamily="34" charset="-122"/>
                <a:cs typeface="Inter" pitchFamily="34" charset="-120"/>
              </a:rPr>
              <a:t>The primary metric for quantifying total prediction error, combining both bias and variance components.</a:t>
            </a:r>
            <a:endParaRPr lang="en-US" sz="1100" dirty="0"/>
          </a:p>
        </p:txBody>
      </p:sp>
      <p:sp>
        <p:nvSpPr>
          <p:cNvPr id="8" name="Text 4"/>
          <p:cNvSpPr/>
          <p:nvPr/>
        </p:nvSpPr>
        <p:spPr>
          <a:xfrm>
            <a:off x="6259473" y="3038356"/>
            <a:ext cx="7597854" cy="473750"/>
          </a:xfrm>
          <a:prstGeom prst="rect">
            <a:avLst/>
          </a:prstGeom>
          <a:noFill/>
          <a:ln/>
        </p:spPr>
        <p:txBody>
          <a:bodyPr wrap="none" lIns="0" tIns="0" rIns="0" bIns="0" rtlCol="0" anchor="t"/>
          <a:lstStyle/>
          <a:p>
            <a:pPr marL="0" indent="0" algn="ctr">
              <a:lnSpc>
                <a:spcPts val="3700"/>
              </a:lnSpc>
              <a:buNone/>
            </a:pPr>
            <a:r>
              <a:rPr lang="en-US" sz="3700" b="1" dirty="0">
                <a:solidFill>
                  <a:srgbClr val="000000"/>
                </a:solidFill>
                <a:latin typeface="Inter Bold" pitchFamily="34" charset="0"/>
                <a:ea typeface="Inter Bold" pitchFamily="34" charset="-122"/>
                <a:cs typeface="Inter Bold" pitchFamily="34" charset="-120"/>
              </a:rPr>
              <a:t>R²</a:t>
            </a:r>
            <a:endParaRPr lang="en-US" sz="3700" dirty="0"/>
          </a:p>
        </p:txBody>
      </p:sp>
      <p:sp>
        <p:nvSpPr>
          <p:cNvPr id="9" name="Text 5"/>
          <p:cNvSpPr/>
          <p:nvPr/>
        </p:nvSpPr>
        <p:spPr>
          <a:xfrm>
            <a:off x="8815268" y="3691414"/>
            <a:ext cx="2486144" cy="224195"/>
          </a:xfrm>
          <a:prstGeom prst="rect">
            <a:avLst/>
          </a:prstGeom>
          <a:noFill/>
          <a:ln/>
        </p:spPr>
        <p:txBody>
          <a:bodyPr wrap="none" lIns="0" tIns="0" rIns="0" bIns="0" rtlCol="0" anchor="t"/>
          <a:lstStyle/>
          <a:p>
            <a:pPr marL="0" indent="0" algn="ctr">
              <a:lnSpc>
                <a:spcPts val="1750"/>
              </a:lnSpc>
              <a:buNone/>
            </a:pPr>
            <a:r>
              <a:rPr lang="en-US" sz="1400" b="1" dirty="0">
                <a:solidFill>
                  <a:srgbClr val="000000"/>
                </a:solidFill>
                <a:latin typeface="Inter Bold" pitchFamily="34" charset="0"/>
                <a:ea typeface="Inter Bold" pitchFamily="34" charset="-122"/>
                <a:cs typeface="Inter Bold" pitchFamily="34" charset="-120"/>
              </a:rPr>
              <a:t>Coefficient of Determination</a:t>
            </a:r>
            <a:endParaRPr lang="en-US" sz="1400" dirty="0"/>
          </a:p>
        </p:txBody>
      </p:sp>
      <p:sp>
        <p:nvSpPr>
          <p:cNvPr id="10" name="Text 6"/>
          <p:cNvSpPr/>
          <p:nvPr/>
        </p:nvSpPr>
        <p:spPr>
          <a:xfrm>
            <a:off x="6259473" y="4001691"/>
            <a:ext cx="7597854" cy="229672"/>
          </a:xfrm>
          <a:prstGeom prst="rect">
            <a:avLst/>
          </a:prstGeom>
          <a:noFill/>
          <a:ln/>
        </p:spPr>
        <p:txBody>
          <a:bodyPr wrap="none" lIns="0" tIns="0" rIns="0" bIns="0" rtlCol="0" anchor="t"/>
          <a:lstStyle/>
          <a:p>
            <a:pPr marL="0" indent="0" algn="ctr">
              <a:lnSpc>
                <a:spcPts val="1800"/>
              </a:lnSpc>
              <a:buNone/>
            </a:pPr>
            <a:r>
              <a:rPr lang="en-US" sz="1100" dirty="0">
                <a:solidFill>
                  <a:srgbClr val="000000"/>
                </a:solidFill>
                <a:latin typeface="Inter" pitchFamily="34" charset="0"/>
                <a:ea typeface="Inter" pitchFamily="34" charset="-122"/>
                <a:cs typeface="Inter" pitchFamily="34" charset="-120"/>
              </a:rPr>
              <a:t>Measures the proportion of variance explained by the model, helping identify underfitting.</a:t>
            </a:r>
            <a:endParaRPr lang="en-US" sz="1100" dirty="0"/>
          </a:p>
        </p:txBody>
      </p:sp>
      <p:sp>
        <p:nvSpPr>
          <p:cNvPr id="11" name="Text 7"/>
          <p:cNvSpPr/>
          <p:nvPr/>
        </p:nvSpPr>
        <p:spPr>
          <a:xfrm>
            <a:off x="6259473" y="4733687"/>
            <a:ext cx="7597854" cy="473750"/>
          </a:xfrm>
          <a:prstGeom prst="rect">
            <a:avLst/>
          </a:prstGeom>
          <a:noFill/>
          <a:ln/>
        </p:spPr>
        <p:txBody>
          <a:bodyPr wrap="none" lIns="0" tIns="0" rIns="0" bIns="0" rtlCol="0" anchor="t"/>
          <a:lstStyle/>
          <a:p>
            <a:pPr marL="0" indent="0" algn="ctr">
              <a:lnSpc>
                <a:spcPts val="3700"/>
              </a:lnSpc>
              <a:buNone/>
            </a:pPr>
            <a:r>
              <a:rPr lang="en-US" sz="3700" b="1" dirty="0">
                <a:solidFill>
                  <a:srgbClr val="000000"/>
                </a:solidFill>
                <a:latin typeface="Inter Bold" pitchFamily="34" charset="0"/>
                <a:ea typeface="Inter Bold" pitchFamily="34" charset="-122"/>
                <a:cs typeface="Inter Bold" pitchFamily="34" charset="-120"/>
              </a:rPr>
              <a:t>AIC</a:t>
            </a:r>
            <a:endParaRPr lang="en-US" sz="3700" dirty="0"/>
          </a:p>
        </p:txBody>
      </p:sp>
      <p:sp>
        <p:nvSpPr>
          <p:cNvPr id="12" name="Text 8"/>
          <p:cNvSpPr/>
          <p:nvPr/>
        </p:nvSpPr>
        <p:spPr>
          <a:xfrm>
            <a:off x="8822769" y="5386745"/>
            <a:ext cx="2471142" cy="224195"/>
          </a:xfrm>
          <a:prstGeom prst="rect">
            <a:avLst/>
          </a:prstGeom>
          <a:noFill/>
          <a:ln/>
        </p:spPr>
        <p:txBody>
          <a:bodyPr wrap="none" lIns="0" tIns="0" rIns="0" bIns="0" rtlCol="0" anchor="t"/>
          <a:lstStyle/>
          <a:p>
            <a:pPr marL="0" indent="0" algn="ctr">
              <a:lnSpc>
                <a:spcPts val="1750"/>
              </a:lnSpc>
              <a:buNone/>
            </a:pPr>
            <a:r>
              <a:rPr lang="en-US" sz="1400" b="1" dirty="0">
                <a:solidFill>
                  <a:srgbClr val="000000"/>
                </a:solidFill>
                <a:latin typeface="Inter Bold" pitchFamily="34" charset="0"/>
                <a:ea typeface="Inter Bold" pitchFamily="34" charset="-122"/>
                <a:cs typeface="Inter Bold" pitchFamily="34" charset="-120"/>
              </a:rPr>
              <a:t>Akaike Information Criterion</a:t>
            </a:r>
            <a:endParaRPr lang="en-US" sz="1400" dirty="0"/>
          </a:p>
        </p:txBody>
      </p:sp>
      <p:sp>
        <p:nvSpPr>
          <p:cNvPr id="13" name="Text 9"/>
          <p:cNvSpPr/>
          <p:nvPr/>
        </p:nvSpPr>
        <p:spPr>
          <a:xfrm>
            <a:off x="6259473" y="5697022"/>
            <a:ext cx="7597854" cy="229672"/>
          </a:xfrm>
          <a:prstGeom prst="rect">
            <a:avLst/>
          </a:prstGeom>
          <a:noFill/>
          <a:ln/>
        </p:spPr>
        <p:txBody>
          <a:bodyPr wrap="none" lIns="0" tIns="0" rIns="0" bIns="0" rtlCol="0" anchor="t"/>
          <a:lstStyle/>
          <a:p>
            <a:pPr marL="0" indent="0" algn="ctr">
              <a:lnSpc>
                <a:spcPts val="1800"/>
              </a:lnSpc>
              <a:buNone/>
            </a:pPr>
            <a:r>
              <a:rPr lang="en-US" sz="1100" dirty="0">
                <a:solidFill>
                  <a:srgbClr val="000000"/>
                </a:solidFill>
                <a:latin typeface="Inter" pitchFamily="34" charset="0"/>
                <a:ea typeface="Inter" pitchFamily="34" charset="-122"/>
                <a:cs typeface="Inter" pitchFamily="34" charset="-120"/>
              </a:rPr>
              <a:t>Balances model fit against complexity to prevent overfitting and find optimal tradeoff point.</a:t>
            </a:r>
            <a:endParaRPr lang="en-US" sz="1100" dirty="0"/>
          </a:p>
        </p:txBody>
      </p:sp>
      <p:sp>
        <p:nvSpPr>
          <p:cNvPr id="14" name="Text 10"/>
          <p:cNvSpPr/>
          <p:nvPr/>
        </p:nvSpPr>
        <p:spPr>
          <a:xfrm>
            <a:off x="6259473" y="6429018"/>
            <a:ext cx="7597854" cy="473750"/>
          </a:xfrm>
          <a:prstGeom prst="rect">
            <a:avLst/>
          </a:prstGeom>
          <a:noFill/>
          <a:ln/>
        </p:spPr>
        <p:txBody>
          <a:bodyPr wrap="none" lIns="0" tIns="0" rIns="0" bIns="0" rtlCol="0" anchor="t"/>
          <a:lstStyle/>
          <a:p>
            <a:pPr marL="0" indent="0" algn="ctr">
              <a:lnSpc>
                <a:spcPts val="3700"/>
              </a:lnSpc>
              <a:buNone/>
            </a:pPr>
            <a:r>
              <a:rPr lang="en-US" sz="3700" b="1" dirty="0">
                <a:solidFill>
                  <a:srgbClr val="000000"/>
                </a:solidFill>
                <a:latin typeface="Inter Bold" pitchFamily="34" charset="0"/>
                <a:ea typeface="Inter Bold" pitchFamily="34" charset="-122"/>
                <a:cs typeface="Inter Bold" pitchFamily="34" charset="-120"/>
              </a:rPr>
              <a:t>RMSE</a:t>
            </a:r>
            <a:endParaRPr lang="en-US" sz="3700" dirty="0"/>
          </a:p>
        </p:txBody>
      </p:sp>
      <p:sp>
        <p:nvSpPr>
          <p:cNvPr id="15" name="Text 11"/>
          <p:cNvSpPr/>
          <p:nvPr/>
        </p:nvSpPr>
        <p:spPr>
          <a:xfrm>
            <a:off x="8962906" y="7082076"/>
            <a:ext cx="2190988" cy="224195"/>
          </a:xfrm>
          <a:prstGeom prst="rect">
            <a:avLst/>
          </a:prstGeom>
          <a:noFill/>
          <a:ln/>
        </p:spPr>
        <p:txBody>
          <a:bodyPr wrap="none" lIns="0" tIns="0" rIns="0" bIns="0" rtlCol="0" anchor="t"/>
          <a:lstStyle/>
          <a:p>
            <a:pPr marL="0" indent="0" algn="ctr">
              <a:lnSpc>
                <a:spcPts val="1750"/>
              </a:lnSpc>
              <a:buNone/>
            </a:pPr>
            <a:r>
              <a:rPr lang="en-US" sz="1400" b="1" dirty="0">
                <a:solidFill>
                  <a:srgbClr val="000000"/>
                </a:solidFill>
                <a:latin typeface="Inter Bold" pitchFamily="34" charset="0"/>
                <a:ea typeface="Inter Bold" pitchFamily="34" charset="-122"/>
                <a:cs typeface="Inter Bold" pitchFamily="34" charset="-120"/>
              </a:rPr>
              <a:t>Root Mean Squared Error</a:t>
            </a:r>
            <a:endParaRPr lang="en-US" sz="1400" dirty="0"/>
          </a:p>
        </p:txBody>
      </p:sp>
      <p:sp>
        <p:nvSpPr>
          <p:cNvPr id="16" name="Text 12"/>
          <p:cNvSpPr/>
          <p:nvPr/>
        </p:nvSpPr>
        <p:spPr>
          <a:xfrm>
            <a:off x="6259473" y="7392353"/>
            <a:ext cx="7597854" cy="229672"/>
          </a:xfrm>
          <a:prstGeom prst="rect">
            <a:avLst/>
          </a:prstGeom>
          <a:noFill/>
          <a:ln/>
        </p:spPr>
        <p:txBody>
          <a:bodyPr wrap="none" lIns="0" tIns="0" rIns="0" bIns="0" rtlCol="0" anchor="t"/>
          <a:lstStyle/>
          <a:p>
            <a:pPr marL="0" indent="0" algn="ctr">
              <a:lnSpc>
                <a:spcPts val="1800"/>
              </a:lnSpc>
              <a:buNone/>
            </a:pPr>
            <a:r>
              <a:rPr lang="en-US" sz="1100" dirty="0">
                <a:solidFill>
                  <a:srgbClr val="000000"/>
                </a:solidFill>
                <a:latin typeface="Inter" pitchFamily="34" charset="0"/>
                <a:ea typeface="Inter" pitchFamily="34" charset="-122"/>
                <a:cs typeface="Inter" pitchFamily="34" charset="-120"/>
              </a:rPr>
              <a:t>Provides error measurement in the same units as the target variable for interpretability.</a:t>
            </a:r>
            <a:endParaRPr lang="en-US" sz="1100" dirty="0"/>
          </a:p>
        </p:txBody>
      </p:sp>
      <p:pic>
        <p:nvPicPr>
          <p:cNvPr id="17" name="Image 2" descr="preencoded.png"/>
          <p:cNvPicPr>
            <a:picLocks noChangeAspect="1"/>
          </p:cNvPicPr>
          <p:nvPr/>
        </p:nvPicPr>
        <p:blipFill>
          <a:blip r:embed="rId5"/>
          <a:stretch>
            <a:fillRect/>
          </a:stretch>
        </p:blipFill>
        <p:spPr>
          <a:xfrm>
            <a:off x="13464778" y="228600"/>
            <a:ext cx="937022" cy="50280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725924"/>
            <a:ext cx="9540835" cy="460772"/>
          </a:xfrm>
          <a:prstGeom prst="rect">
            <a:avLst/>
          </a:prstGeom>
          <a:noFill/>
          <a:ln/>
        </p:spPr>
        <p:txBody>
          <a:bodyPr wrap="none" lIns="0" tIns="0" rIns="0" bIns="0" rtlCol="0" anchor="t"/>
          <a:lstStyle/>
          <a:p>
            <a:pPr marL="0" indent="0">
              <a:lnSpc>
                <a:spcPts val="3600"/>
              </a:lnSpc>
              <a:buNone/>
            </a:pPr>
            <a:r>
              <a:rPr lang="en-US" sz="2900" b="1" dirty="0">
                <a:solidFill>
                  <a:srgbClr val="000000"/>
                </a:solidFill>
                <a:latin typeface="Inter Bold" pitchFamily="34" charset="0"/>
                <a:ea typeface="Inter Bold" pitchFamily="34" charset="-122"/>
                <a:cs typeface="Inter Bold" pitchFamily="34" charset="-120"/>
              </a:rPr>
              <a:t>The Impact of Sample Size on Bias-Variance Tradeoff</a:t>
            </a:r>
            <a:endParaRPr lang="en-US" sz="2900" dirty="0"/>
          </a:p>
        </p:txBody>
      </p:sp>
      <p:pic>
        <p:nvPicPr>
          <p:cNvPr id="3" name="Image 0" descr="preencoded.png"/>
          <p:cNvPicPr>
            <a:picLocks noChangeAspect="1"/>
          </p:cNvPicPr>
          <p:nvPr/>
        </p:nvPicPr>
        <p:blipFill>
          <a:blip r:embed="rId3"/>
          <a:stretch>
            <a:fillRect/>
          </a:stretch>
        </p:blipFill>
        <p:spPr>
          <a:xfrm>
            <a:off x="793790" y="1481495"/>
            <a:ext cx="8477726" cy="4305181"/>
          </a:xfrm>
          <a:prstGeom prst="rect">
            <a:avLst/>
          </a:prstGeom>
        </p:spPr>
      </p:pic>
      <p:sp>
        <p:nvSpPr>
          <p:cNvPr id="4" name="Shape 1"/>
          <p:cNvSpPr/>
          <p:nvPr/>
        </p:nvSpPr>
        <p:spPr>
          <a:xfrm>
            <a:off x="1423392" y="5786676"/>
            <a:ext cx="147399" cy="147399"/>
          </a:xfrm>
          <a:prstGeom prst="roundRect">
            <a:avLst>
              <a:gd name="adj" fmla="val 12407"/>
            </a:avLst>
          </a:prstGeom>
          <a:solidFill>
            <a:srgbClr val="400D0D"/>
          </a:solidFill>
          <a:ln/>
        </p:spPr>
      </p:sp>
      <p:sp>
        <p:nvSpPr>
          <p:cNvPr id="5" name="Text 2"/>
          <p:cNvSpPr/>
          <p:nvPr/>
        </p:nvSpPr>
        <p:spPr>
          <a:xfrm>
            <a:off x="1631752" y="5786676"/>
            <a:ext cx="1167170" cy="147399"/>
          </a:xfrm>
          <a:prstGeom prst="rect">
            <a:avLst/>
          </a:prstGeom>
          <a:noFill/>
          <a:ln/>
        </p:spPr>
        <p:txBody>
          <a:bodyPr wrap="none" lIns="0" tIns="0" rIns="0" bIns="0" rtlCol="0" anchor="t"/>
          <a:lstStyle/>
          <a:p>
            <a:pPr marL="0" indent="0" algn="l">
              <a:lnSpc>
                <a:spcPts val="1150"/>
              </a:lnSpc>
              <a:buNone/>
            </a:pPr>
            <a:r>
              <a:rPr lang="en-US" sz="1150" dirty="0">
                <a:solidFill>
                  <a:srgbClr val="000000"/>
                </a:solidFill>
                <a:latin typeface="Inter" pitchFamily="34" charset="0"/>
                <a:ea typeface="Inter" pitchFamily="34" charset="-122"/>
                <a:cs typeface="Inter" pitchFamily="34" charset="-120"/>
              </a:rPr>
              <a:t>Training Set Size</a:t>
            </a:r>
            <a:endParaRPr lang="en-US" sz="1150" dirty="0"/>
          </a:p>
        </p:txBody>
      </p:sp>
      <p:sp>
        <p:nvSpPr>
          <p:cNvPr id="6" name="Shape 3"/>
          <p:cNvSpPr/>
          <p:nvPr/>
        </p:nvSpPr>
        <p:spPr>
          <a:xfrm>
            <a:off x="3703439" y="5786676"/>
            <a:ext cx="147399" cy="147399"/>
          </a:xfrm>
          <a:prstGeom prst="roundRect">
            <a:avLst>
              <a:gd name="adj" fmla="val 12407"/>
            </a:avLst>
          </a:prstGeom>
          <a:solidFill>
            <a:srgbClr val="751817"/>
          </a:solidFill>
          <a:ln/>
        </p:spPr>
      </p:sp>
      <p:sp>
        <p:nvSpPr>
          <p:cNvPr id="7" name="Text 4"/>
          <p:cNvSpPr/>
          <p:nvPr/>
        </p:nvSpPr>
        <p:spPr>
          <a:xfrm>
            <a:off x="3911798" y="5786676"/>
            <a:ext cx="292537" cy="147399"/>
          </a:xfrm>
          <a:prstGeom prst="rect">
            <a:avLst/>
          </a:prstGeom>
          <a:noFill/>
          <a:ln/>
        </p:spPr>
        <p:txBody>
          <a:bodyPr wrap="none" lIns="0" tIns="0" rIns="0" bIns="0" rtlCol="0" anchor="t"/>
          <a:lstStyle/>
          <a:p>
            <a:pPr marL="0" indent="0" algn="l">
              <a:lnSpc>
                <a:spcPts val="1150"/>
              </a:lnSpc>
              <a:buNone/>
            </a:pPr>
            <a:r>
              <a:rPr lang="en-US" sz="1150" dirty="0">
                <a:solidFill>
                  <a:srgbClr val="000000"/>
                </a:solidFill>
                <a:latin typeface="Inter" pitchFamily="34" charset="0"/>
                <a:ea typeface="Inter" pitchFamily="34" charset="-122"/>
                <a:cs typeface="Inter" pitchFamily="34" charset="-120"/>
              </a:rPr>
              <a:t>Bias</a:t>
            </a:r>
            <a:endParaRPr lang="en-US" sz="1150" dirty="0"/>
          </a:p>
        </p:txBody>
      </p:sp>
      <p:sp>
        <p:nvSpPr>
          <p:cNvPr id="8" name="Shape 5"/>
          <p:cNvSpPr/>
          <p:nvPr/>
        </p:nvSpPr>
        <p:spPr>
          <a:xfrm>
            <a:off x="5702618" y="5786676"/>
            <a:ext cx="147399" cy="147399"/>
          </a:xfrm>
          <a:prstGeom prst="roundRect">
            <a:avLst>
              <a:gd name="adj" fmla="val 12407"/>
            </a:avLst>
          </a:prstGeom>
          <a:solidFill>
            <a:srgbClr val="AA2322"/>
          </a:solidFill>
          <a:ln/>
        </p:spPr>
      </p:sp>
      <p:sp>
        <p:nvSpPr>
          <p:cNvPr id="9" name="Text 6"/>
          <p:cNvSpPr/>
          <p:nvPr/>
        </p:nvSpPr>
        <p:spPr>
          <a:xfrm>
            <a:off x="5910977" y="5786676"/>
            <a:ext cx="609124" cy="147399"/>
          </a:xfrm>
          <a:prstGeom prst="rect">
            <a:avLst/>
          </a:prstGeom>
          <a:noFill/>
          <a:ln/>
        </p:spPr>
        <p:txBody>
          <a:bodyPr wrap="none" lIns="0" tIns="0" rIns="0" bIns="0" rtlCol="0" anchor="t"/>
          <a:lstStyle/>
          <a:p>
            <a:pPr marL="0" indent="0" algn="l">
              <a:lnSpc>
                <a:spcPts val="1150"/>
              </a:lnSpc>
              <a:buNone/>
            </a:pPr>
            <a:r>
              <a:rPr lang="en-US" sz="1150" dirty="0">
                <a:solidFill>
                  <a:srgbClr val="000000"/>
                </a:solidFill>
                <a:latin typeface="Inter" pitchFamily="34" charset="0"/>
                <a:ea typeface="Inter" pitchFamily="34" charset="-122"/>
                <a:cs typeface="Inter" pitchFamily="34" charset="-120"/>
              </a:rPr>
              <a:t>Variance</a:t>
            </a:r>
            <a:endParaRPr lang="en-US" sz="1150" dirty="0"/>
          </a:p>
        </p:txBody>
      </p:sp>
      <p:sp>
        <p:nvSpPr>
          <p:cNvPr id="10" name="Shape 7"/>
          <p:cNvSpPr/>
          <p:nvPr/>
        </p:nvSpPr>
        <p:spPr>
          <a:xfrm>
            <a:off x="7266384" y="5786676"/>
            <a:ext cx="147399" cy="147399"/>
          </a:xfrm>
          <a:prstGeom prst="roundRect">
            <a:avLst>
              <a:gd name="adj" fmla="val 12407"/>
            </a:avLst>
          </a:prstGeom>
          <a:solidFill>
            <a:srgbClr val="D73635"/>
          </a:solidFill>
          <a:ln/>
        </p:spPr>
      </p:sp>
      <p:sp>
        <p:nvSpPr>
          <p:cNvPr id="11" name="Text 8"/>
          <p:cNvSpPr/>
          <p:nvPr/>
        </p:nvSpPr>
        <p:spPr>
          <a:xfrm>
            <a:off x="7474744" y="5786676"/>
            <a:ext cx="723662" cy="147399"/>
          </a:xfrm>
          <a:prstGeom prst="rect">
            <a:avLst/>
          </a:prstGeom>
          <a:noFill/>
          <a:ln/>
        </p:spPr>
        <p:txBody>
          <a:bodyPr wrap="none" lIns="0" tIns="0" rIns="0" bIns="0" rtlCol="0" anchor="t"/>
          <a:lstStyle/>
          <a:p>
            <a:pPr marL="0" indent="0" algn="l">
              <a:lnSpc>
                <a:spcPts val="1150"/>
              </a:lnSpc>
              <a:buNone/>
            </a:pPr>
            <a:r>
              <a:rPr lang="en-US" sz="1150" dirty="0">
                <a:solidFill>
                  <a:srgbClr val="000000"/>
                </a:solidFill>
                <a:latin typeface="Inter" pitchFamily="34" charset="0"/>
                <a:ea typeface="Inter" pitchFamily="34" charset="-122"/>
                <a:cs typeface="Inter" pitchFamily="34" charset="-120"/>
              </a:rPr>
              <a:t>Total Error</a:t>
            </a:r>
            <a:endParaRPr lang="en-US" sz="1150" dirty="0"/>
          </a:p>
        </p:txBody>
      </p:sp>
      <p:sp>
        <p:nvSpPr>
          <p:cNvPr id="12" name="Text 9"/>
          <p:cNvSpPr/>
          <p:nvPr/>
        </p:nvSpPr>
        <p:spPr>
          <a:xfrm>
            <a:off x="793790" y="6394847"/>
            <a:ext cx="13042821" cy="471488"/>
          </a:xfrm>
          <a:prstGeom prst="rect">
            <a:avLst/>
          </a:prstGeom>
          <a:noFill/>
          <a:ln/>
        </p:spPr>
        <p:txBody>
          <a:bodyPr wrap="square" lIns="0" tIns="0" rIns="0" bIns="0" rtlCol="0" anchor="t"/>
          <a:lstStyle/>
          <a:p>
            <a:pPr marL="0" indent="0">
              <a:lnSpc>
                <a:spcPts val="1850"/>
              </a:lnSpc>
              <a:buNone/>
            </a:pPr>
            <a:r>
              <a:rPr lang="en-US" sz="1150" dirty="0">
                <a:solidFill>
                  <a:srgbClr val="000000"/>
                </a:solidFill>
                <a:latin typeface="Inter" pitchFamily="34" charset="0"/>
                <a:ea typeface="Inter" pitchFamily="34" charset="-122"/>
                <a:cs typeface="Inter" pitchFamily="34" charset="-120"/>
              </a:rPr>
              <a:t>As training set size increases, variance typically decreases while bias remains relatively constant. This is because larger datasets provide more information about the true underlying patterns, reducing the model's sensitivity to individual data points.</a:t>
            </a:r>
            <a:endParaRPr lang="en-US" sz="1150" dirty="0"/>
          </a:p>
        </p:txBody>
      </p:sp>
      <p:sp>
        <p:nvSpPr>
          <p:cNvPr id="13" name="Text 10"/>
          <p:cNvSpPr/>
          <p:nvPr/>
        </p:nvSpPr>
        <p:spPr>
          <a:xfrm>
            <a:off x="793790" y="7032188"/>
            <a:ext cx="13042821" cy="471488"/>
          </a:xfrm>
          <a:prstGeom prst="rect">
            <a:avLst/>
          </a:prstGeom>
          <a:noFill/>
          <a:ln/>
        </p:spPr>
        <p:txBody>
          <a:bodyPr wrap="square" lIns="0" tIns="0" rIns="0" bIns="0" rtlCol="0" anchor="t"/>
          <a:lstStyle/>
          <a:p>
            <a:pPr marL="0" indent="0">
              <a:lnSpc>
                <a:spcPts val="1850"/>
              </a:lnSpc>
              <a:buNone/>
            </a:pPr>
            <a:r>
              <a:rPr lang="en-US" sz="1150" dirty="0">
                <a:solidFill>
                  <a:srgbClr val="000000"/>
                </a:solidFill>
                <a:latin typeface="Inter" pitchFamily="34" charset="0"/>
                <a:ea typeface="Inter" pitchFamily="34" charset="-122"/>
                <a:cs typeface="Inter" pitchFamily="34" charset="-120"/>
              </a:rPr>
              <a:t>With sufficient data, even complex models can achieve low variance without overfitting, allowing you to use more sophisticated algorithms that can better capture the true relationships in the data.</a:t>
            </a:r>
            <a:endParaRPr lang="en-US" sz="1150" dirty="0"/>
          </a:p>
        </p:txBody>
      </p:sp>
      <p:pic>
        <p:nvPicPr>
          <p:cNvPr id="14" name="Image 1" descr="preencoded.png"/>
          <p:cNvPicPr>
            <a:picLocks noChangeAspect="1"/>
          </p:cNvPicPr>
          <p:nvPr/>
        </p:nvPicPr>
        <p:blipFill>
          <a:blip r:embed="rId4"/>
          <a:stretch>
            <a:fillRect/>
          </a:stretch>
        </p:blipFill>
        <p:spPr>
          <a:xfrm>
            <a:off x="13464778" y="228600"/>
            <a:ext cx="937022" cy="50280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93790" y="1067038"/>
            <a:ext cx="13042821" cy="1417558"/>
          </a:xfrm>
          <a:prstGeom prst="rect">
            <a:avLst/>
          </a:prstGeom>
          <a:noFill/>
          <a:ln/>
        </p:spPr>
        <p:txBody>
          <a:bodyPr wrap="square" lIns="0" tIns="0" rIns="0" bIns="0" rtlCol="0" anchor="t"/>
          <a:lstStyle/>
          <a:p>
            <a:pPr marL="0" indent="0">
              <a:lnSpc>
                <a:spcPts val="5550"/>
              </a:lnSpc>
              <a:buNone/>
            </a:pPr>
            <a:r>
              <a:rPr lang="en-US" sz="4450" b="1" dirty="0">
                <a:solidFill>
                  <a:srgbClr val="000000"/>
                </a:solidFill>
                <a:latin typeface="Inter Bold" pitchFamily="34" charset="0"/>
                <a:ea typeface="Inter Bold" pitchFamily="34" charset="-122"/>
                <a:cs typeface="Inter Bold" pitchFamily="34" charset="-120"/>
              </a:rPr>
              <a:t>Bias-Variance Tradeoff Across Different Algorithms</a:t>
            </a:r>
            <a:endParaRPr lang="en-US" sz="4450" dirty="0"/>
          </a:p>
        </p:txBody>
      </p:sp>
      <p:sp>
        <p:nvSpPr>
          <p:cNvPr id="3" name="Text 1"/>
          <p:cNvSpPr/>
          <p:nvPr/>
        </p:nvSpPr>
        <p:spPr>
          <a:xfrm>
            <a:off x="2313861" y="2938224"/>
            <a:ext cx="2835235" cy="354330"/>
          </a:xfrm>
          <a:prstGeom prst="rect">
            <a:avLst/>
          </a:prstGeom>
          <a:noFill/>
          <a:ln/>
        </p:spPr>
        <p:txBody>
          <a:bodyPr wrap="none" lIns="0" tIns="0" rIns="0" bIns="0" rtlCol="0" anchor="t"/>
          <a:lstStyle/>
          <a:p>
            <a:pPr marL="0" indent="0" algn="r">
              <a:lnSpc>
                <a:spcPts val="2750"/>
              </a:lnSpc>
              <a:buNone/>
            </a:pPr>
            <a:r>
              <a:rPr lang="en-US" sz="2200" b="1" dirty="0">
                <a:solidFill>
                  <a:srgbClr val="000000"/>
                </a:solidFill>
                <a:latin typeface="Inter Bold" pitchFamily="34" charset="0"/>
                <a:ea typeface="Inter Bold" pitchFamily="34" charset="-122"/>
                <a:cs typeface="Inter Bold" pitchFamily="34" charset="-120"/>
              </a:rPr>
              <a:t>Linear Models</a:t>
            </a:r>
            <a:endParaRPr lang="en-US" sz="2200" dirty="0"/>
          </a:p>
        </p:txBody>
      </p:sp>
      <p:sp>
        <p:nvSpPr>
          <p:cNvPr id="4" name="Text 2"/>
          <p:cNvSpPr/>
          <p:nvPr/>
        </p:nvSpPr>
        <p:spPr>
          <a:xfrm>
            <a:off x="793790" y="3428643"/>
            <a:ext cx="4355306" cy="1451610"/>
          </a:xfrm>
          <a:prstGeom prst="rect">
            <a:avLst/>
          </a:prstGeom>
          <a:noFill/>
          <a:ln/>
        </p:spPr>
        <p:txBody>
          <a:bodyPr wrap="square" lIns="0" tIns="0" rIns="0" bIns="0" rtlCol="0" anchor="t"/>
          <a:lstStyle/>
          <a:p>
            <a:pPr marL="0" indent="0" algn="r">
              <a:lnSpc>
                <a:spcPts val="2850"/>
              </a:lnSpc>
              <a:buNone/>
            </a:pPr>
            <a:r>
              <a:rPr lang="en-US" sz="1750" dirty="0">
                <a:solidFill>
                  <a:srgbClr val="000000"/>
                </a:solidFill>
                <a:latin typeface="Inter" pitchFamily="34" charset="0"/>
                <a:ea typeface="Inter" pitchFamily="34" charset="-122"/>
                <a:cs typeface="Inter" pitchFamily="34" charset="-120"/>
              </a:rPr>
              <a:t>High bias, low variance. Simple and interpretable but may underfit complex data. Examples include linear regression and logistic regression.</a:t>
            </a:r>
            <a:endParaRPr lang="en-US" sz="1750" dirty="0"/>
          </a:p>
        </p:txBody>
      </p:sp>
      <p:pic>
        <p:nvPicPr>
          <p:cNvPr id="5" name="Image 0" descr="preencoded.png"/>
          <p:cNvPicPr>
            <a:picLocks noChangeAspect="1"/>
          </p:cNvPicPr>
          <p:nvPr/>
        </p:nvPicPr>
        <p:blipFill>
          <a:blip r:embed="rId3"/>
          <a:stretch>
            <a:fillRect/>
          </a:stretch>
        </p:blipFill>
        <p:spPr>
          <a:xfrm>
            <a:off x="5489258" y="3224332"/>
            <a:ext cx="3651885" cy="3651885"/>
          </a:xfrm>
          <a:prstGeom prst="rect">
            <a:avLst/>
          </a:prstGeom>
        </p:spPr>
      </p:pic>
      <p:sp>
        <p:nvSpPr>
          <p:cNvPr id="6" name="Shape 3"/>
          <p:cNvSpPr/>
          <p:nvPr/>
        </p:nvSpPr>
        <p:spPr>
          <a:xfrm>
            <a:off x="5788938" y="3524012"/>
            <a:ext cx="566976" cy="566976"/>
          </a:xfrm>
          <a:prstGeom prst="roundRect">
            <a:avLst>
              <a:gd name="adj" fmla="val 1611154"/>
            </a:avLst>
          </a:prstGeom>
          <a:solidFill>
            <a:srgbClr val="F7D5D4"/>
          </a:solidFill>
          <a:ln w="7620">
            <a:solidFill>
              <a:srgbClr val="DDBBBA"/>
            </a:solidFill>
            <a:prstDash val="solid"/>
          </a:ln>
        </p:spPr>
      </p:sp>
      <p:sp>
        <p:nvSpPr>
          <p:cNvPr id="7" name="Text 4"/>
          <p:cNvSpPr/>
          <p:nvPr/>
        </p:nvSpPr>
        <p:spPr>
          <a:xfrm>
            <a:off x="5944791" y="3647956"/>
            <a:ext cx="255151" cy="318968"/>
          </a:xfrm>
          <a:prstGeom prst="rect">
            <a:avLst/>
          </a:prstGeom>
          <a:noFill/>
          <a:ln/>
        </p:spPr>
        <p:txBody>
          <a:bodyPr wrap="none" lIns="0" tIns="0" rIns="0" bIns="0" rtlCol="0" anchor="t"/>
          <a:lstStyle/>
          <a:p>
            <a:pPr marL="0" indent="0">
              <a:lnSpc>
                <a:spcPts val="3200"/>
              </a:lnSpc>
              <a:buNone/>
            </a:pPr>
            <a:r>
              <a:rPr lang="en-US" sz="2000" b="1" dirty="0">
                <a:solidFill>
                  <a:srgbClr val="000000"/>
                </a:solidFill>
                <a:latin typeface="Inter Bold" pitchFamily="34" charset="0"/>
                <a:ea typeface="Inter Bold" pitchFamily="34" charset="-122"/>
                <a:cs typeface="Inter Bold" pitchFamily="34" charset="-120"/>
              </a:rPr>
              <a:t>1</a:t>
            </a:r>
            <a:endParaRPr lang="en-US" sz="2000" dirty="0"/>
          </a:p>
        </p:txBody>
      </p:sp>
      <p:sp>
        <p:nvSpPr>
          <p:cNvPr id="8" name="Text 5"/>
          <p:cNvSpPr/>
          <p:nvPr/>
        </p:nvSpPr>
        <p:spPr>
          <a:xfrm>
            <a:off x="9481304" y="293822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Decision Trees</a:t>
            </a:r>
            <a:endParaRPr lang="en-US" sz="2200" dirty="0"/>
          </a:p>
        </p:txBody>
      </p:sp>
      <p:sp>
        <p:nvSpPr>
          <p:cNvPr id="9" name="Text 6"/>
          <p:cNvSpPr/>
          <p:nvPr/>
        </p:nvSpPr>
        <p:spPr>
          <a:xfrm>
            <a:off x="9481304" y="3428643"/>
            <a:ext cx="4355306" cy="1451610"/>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Low bias, high variance. Can capture complex non-linear relationships but prone to overfitting, especially with deep trees.</a:t>
            </a:r>
            <a:endParaRPr lang="en-US" sz="1750" dirty="0"/>
          </a:p>
        </p:txBody>
      </p:sp>
      <p:pic>
        <p:nvPicPr>
          <p:cNvPr id="10" name="Image 1" descr="preencoded.png"/>
          <p:cNvPicPr>
            <a:picLocks noChangeAspect="1"/>
          </p:cNvPicPr>
          <p:nvPr/>
        </p:nvPicPr>
        <p:blipFill>
          <a:blip r:embed="rId4"/>
          <a:stretch>
            <a:fillRect/>
          </a:stretch>
        </p:blipFill>
        <p:spPr>
          <a:xfrm>
            <a:off x="5489258" y="3224332"/>
            <a:ext cx="3651885" cy="3651885"/>
          </a:xfrm>
          <a:prstGeom prst="rect">
            <a:avLst/>
          </a:prstGeom>
        </p:spPr>
      </p:pic>
      <p:sp>
        <p:nvSpPr>
          <p:cNvPr id="11" name="Shape 7"/>
          <p:cNvSpPr/>
          <p:nvPr/>
        </p:nvSpPr>
        <p:spPr>
          <a:xfrm>
            <a:off x="8274368" y="3524012"/>
            <a:ext cx="566976" cy="566976"/>
          </a:xfrm>
          <a:prstGeom prst="roundRect">
            <a:avLst>
              <a:gd name="adj" fmla="val 1611154"/>
            </a:avLst>
          </a:prstGeom>
          <a:solidFill>
            <a:srgbClr val="F7D5D4"/>
          </a:solidFill>
          <a:ln w="7620">
            <a:solidFill>
              <a:srgbClr val="DDBBBA"/>
            </a:solidFill>
            <a:prstDash val="solid"/>
          </a:ln>
        </p:spPr>
      </p:sp>
      <p:sp>
        <p:nvSpPr>
          <p:cNvPr id="12" name="Text 8"/>
          <p:cNvSpPr/>
          <p:nvPr/>
        </p:nvSpPr>
        <p:spPr>
          <a:xfrm>
            <a:off x="8430220" y="3647956"/>
            <a:ext cx="255151" cy="318968"/>
          </a:xfrm>
          <a:prstGeom prst="rect">
            <a:avLst/>
          </a:prstGeom>
          <a:noFill/>
          <a:ln/>
        </p:spPr>
        <p:txBody>
          <a:bodyPr wrap="none" lIns="0" tIns="0" rIns="0" bIns="0" rtlCol="0" anchor="t"/>
          <a:lstStyle/>
          <a:p>
            <a:pPr marL="0" indent="0">
              <a:lnSpc>
                <a:spcPts val="3200"/>
              </a:lnSpc>
              <a:buNone/>
            </a:pPr>
            <a:r>
              <a:rPr lang="en-US" sz="2000" b="1" dirty="0">
                <a:solidFill>
                  <a:srgbClr val="000000"/>
                </a:solidFill>
                <a:latin typeface="Inter Bold" pitchFamily="34" charset="0"/>
                <a:ea typeface="Inter Bold" pitchFamily="34" charset="-122"/>
                <a:cs typeface="Inter Bold" pitchFamily="34" charset="-120"/>
              </a:rPr>
              <a:t>2</a:t>
            </a:r>
            <a:endParaRPr lang="en-US" sz="2000" dirty="0"/>
          </a:p>
        </p:txBody>
      </p:sp>
      <p:sp>
        <p:nvSpPr>
          <p:cNvPr id="13" name="Text 9"/>
          <p:cNvSpPr/>
          <p:nvPr/>
        </p:nvSpPr>
        <p:spPr>
          <a:xfrm>
            <a:off x="9481304" y="522041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Ensemble Methods</a:t>
            </a:r>
            <a:endParaRPr lang="en-US" sz="2200" dirty="0"/>
          </a:p>
        </p:txBody>
      </p:sp>
      <p:sp>
        <p:nvSpPr>
          <p:cNvPr id="14" name="Text 10"/>
          <p:cNvSpPr/>
          <p:nvPr/>
        </p:nvSpPr>
        <p:spPr>
          <a:xfrm>
            <a:off x="9481304" y="5710833"/>
            <a:ext cx="4355306" cy="1451610"/>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Balanced bias and variance. Random forests and gradient boosting combine multiple models to reduce variance while maintaining low bias.</a:t>
            </a:r>
            <a:endParaRPr lang="en-US" sz="1750" dirty="0"/>
          </a:p>
        </p:txBody>
      </p:sp>
      <p:pic>
        <p:nvPicPr>
          <p:cNvPr id="15" name="Image 2" descr="preencoded.png"/>
          <p:cNvPicPr>
            <a:picLocks noChangeAspect="1"/>
          </p:cNvPicPr>
          <p:nvPr/>
        </p:nvPicPr>
        <p:blipFill>
          <a:blip r:embed="rId5"/>
          <a:stretch>
            <a:fillRect/>
          </a:stretch>
        </p:blipFill>
        <p:spPr>
          <a:xfrm>
            <a:off x="5489258" y="3224332"/>
            <a:ext cx="3651885" cy="3651885"/>
          </a:xfrm>
          <a:prstGeom prst="rect">
            <a:avLst/>
          </a:prstGeom>
        </p:spPr>
      </p:pic>
      <p:sp>
        <p:nvSpPr>
          <p:cNvPr id="16" name="Shape 11"/>
          <p:cNvSpPr/>
          <p:nvPr/>
        </p:nvSpPr>
        <p:spPr>
          <a:xfrm>
            <a:off x="8274368" y="6009442"/>
            <a:ext cx="566976" cy="566976"/>
          </a:xfrm>
          <a:prstGeom prst="roundRect">
            <a:avLst>
              <a:gd name="adj" fmla="val 1611154"/>
            </a:avLst>
          </a:prstGeom>
          <a:solidFill>
            <a:srgbClr val="F7D5D4"/>
          </a:solidFill>
          <a:ln w="7620">
            <a:solidFill>
              <a:srgbClr val="DDBBBA"/>
            </a:solidFill>
            <a:prstDash val="solid"/>
          </a:ln>
        </p:spPr>
      </p:sp>
      <p:sp>
        <p:nvSpPr>
          <p:cNvPr id="17" name="Text 12"/>
          <p:cNvSpPr/>
          <p:nvPr/>
        </p:nvSpPr>
        <p:spPr>
          <a:xfrm>
            <a:off x="8430220" y="6133386"/>
            <a:ext cx="255151" cy="318968"/>
          </a:xfrm>
          <a:prstGeom prst="rect">
            <a:avLst/>
          </a:prstGeom>
          <a:noFill/>
          <a:ln/>
        </p:spPr>
        <p:txBody>
          <a:bodyPr wrap="none" lIns="0" tIns="0" rIns="0" bIns="0" rtlCol="0" anchor="t"/>
          <a:lstStyle/>
          <a:p>
            <a:pPr marL="0" indent="0">
              <a:lnSpc>
                <a:spcPts val="3200"/>
              </a:lnSpc>
              <a:buNone/>
            </a:pPr>
            <a:r>
              <a:rPr lang="en-US" sz="2000" b="1" dirty="0">
                <a:solidFill>
                  <a:srgbClr val="000000"/>
                </a:solidFill>
                <a:latin typeface="Inter Bold" pitchFamily="34" charset="0"/>
                <a:ea typeface="Inter Bold" pitchFamily="34" charset="-122"/>
                <a:cs typeface="Inter Bold" pitchFamily="34" charset="-120"/>
              </a:rPr>
              <a:t>3</a:t>
            </a:r>
            <a:endParaRPr lang="en-US" sz="2000" dirty="0"/>
          </a:p>
        </p:txBody>
      </p:sp>
      <p:sp>
        <p:nvSpPr>
          <p:cNvPr id="18" name="Text 13"/>
          <p:cNvSpPr/>
          <p:nvPr/>
        </p:nvSpPr>
        <p:spPr>
          <a:xfrm>
            <a:off x="2313861" y="5220414"/>
            <a:ext cx="2835235" cy="354330"/>
          </a:xfrm>
          <a:prstGeom prst="rect">
            <a:avLst/>
          </a:prstGeom>
          <a:noFill/>
          <a:ln/>
        </p:spPr>
        <p:txBody>
          <a:bodyPr wrap="none" lIns="0" tIns="0" rIns="0" bIns="0" rtlCol="0" anchor="t"/>
          <a:lstStyle/>
          <a:p>
            <a:pPr marL="0" indent="0" algn="r">
              <a:lnSpc>
                <a:spcPts val="2750"/>
              </a:lnSpc>
              <a:buNone/>
            </a:pPr>
            <a:r>
              <a:rPr lang="en-US" sz="2200" b="1" dirty="0">
                <a:solidFill>
                  <a:srgbClr val="000000"/>
                </a:solidFill>
                <a:latin typeface="Inter Bold" pitchFamily="34" charset="0"/>
                <a:ea typeface="Inter Bold" pitchFamily="34" charset="-122"/>
                <a:cs typeface="Inter Bold" pitchFamily="34" charset="-120"/>
              </a:rPr>
              <a:t>Neural Networks</a:t>
            </a:r>
            <a:endParaRPr lang="en-US" sz="2200" dirty="0"/>
          </a:p>
        </p:txBody>
      </p:sp>
      <p:sp>
        <p:nvSpPr>
          <p:cNvPr id="19" name="Text 14"/>
          <p:cNvSpPr/>
          <p:nvPr/>
        </p:nvSpPr>
        <p:spPr>
          <a:xfrm>
            <a:off x="793790" y="5710833"/>
            <a:ext cx="4355306" cy="1451610"/>
          </a:xfrm>
          <a:prstGeom prst="rect">
            <a:avLst/>
          </a:prstGeom>
          <a:noFill/>
          <a:ln/>
        </p:spPr>
        <p:txBody>
          <a:bodyPr wrap="square" lIns="0" tIns="0" rIns="0" bIns="0" rtlCol="0" anchor="t"/>
          <a:lstStyle/>
          <a:p>
            <a:pPr marL="0" indent="0" algn="r">
              <a:lnSpc>
                <a:spcPts val="2850"/>
              </a:lnSpc>
              <a:buNone/>
            </a:pPr>
            <a:r>
              <a:rPr lang="en-US" sz="1750" dirty="0">
                <a:solidFill>
                  <a:srgbClr val="000000"/>
                </a:solidFill>
                <a:latin typeface="Inter" pitchFamily="34" charset="0"/>
                <a:ea typeface="Inter" pitchFamily="34" charset="-122"/>
                <a:cs typeface="Inter" pitchFamily="34" charset="-120"/>
              </a:rPr>
              <a:t>Flexible bias-variance tradeoff. Can be adjusted through architecture complexity, regularization, and training duration to find optimal balance.</a:t>
            </a:r>
            <a:endParaRPr lang="en-US" sz="1750" dirty="0"/>
          </a:p>
        </p:txBody>
      </p:sp>
      <p:pic>
        <p:nvPicPr>
          <p:cNvPr id="20" name="Image 3" descr="preencoded.png"/>
          <p:cNvPicPr>
            <a:picLocks noChangeAspect="1"/>
          </p:cNvPicPr>
          <p:nvPr/>
        </p:nvPicPr>
        <p:blipFill>
          <a:blip r:embed="rId6"/>
          <a:stretch>
            <a:fillRect/>
          </a:stretch>
        </p:blipFill>
        <p:spPr>
          <a:xfrm>
            <a:off x="5489258" y="3224332"/>
            <a:ext cx="3651885" cy="3651885"/>
          </a:xfrm>
          <a:prstGeom prst="rect">
            <a:avLst/>
          </a:prstGeom>
        </p:spPr>
      </p:pic>
      <p:sp>
        <p:nvSpPr>
          <p:cNvPr id="21" name="Shape 15"/>
          <p:cNvSpPr/>
          <p:nvPr/>
        </p:nvSpPr>
        <p:spPr>
          <a:xfrm>
            <a:off x="5788938" y="6009442"/>
            <a:ext cx="566976" cy="566976"/>
          </a:xfrm>
          <a:prstGeom prst="roundRect">
            <a:avLst>
              <a:gd name="adj" fmla="val 1611154"/>
            </a:avLst>
          </a:prstGeom>
          <a:solidFill>
            <a:srgbClr val="F7D5D4"/>
          </a:solidFill>
          <a:ln w="7620">
            <a:solidFill>
              <a:srgbClr val="DDBBBA"/>
            </a:solidFill>
            <a:prstDash val="solid"/>
          </a:ln>
        </p:spPr>
      </p:sp>
      <p:sp>
        <p:nvSpPr>
          <p:cNvPr id="22" name="Text 16"/>
          <p:cNvSpPr/>
          <p:nvPr/>
        </p:nvSpPr>
        <p:spPr>
          <a:xfrm>
            <a:off x="5944791" y="6133386"/>
            <a:ext cx="255151" cy="318968"/>
          </a:xfrm>
          <a:prstGeom prst="rect">
            <a:avLst/>
          </a:prstGeom>
          <a:noFill/>
          <a:ln/>
        </p:spPr>
        <p:txBody>
          <a:bodyPr wrap="none" lIns="0" tIns="0" rIns="0" bIns="0" rtlCol="0" anchor="t"/>
          <a:lstStyle/>
          <a:p>
            <a:pPr marL="0" indent="0">
              <a:lnSpc>
                <a:spcPts val="3200"/>
              </a:lnSpc>
              <a:buNone/>
            </a:pPr>
            <a:r>
              <a:rPr lang="en-US" sz="2000" b="1" dirty="0">
                <a:solidFill>
                  <a:srgbClr val="000000"/>
                </a:solidFill>
                <a:latin typeface="Inter Bold" pitchFamily="34" charset="0"/>
                <a:ea typeface="Inter Bold" pitchFamily="34" charset="-122"/>
                <a:cs typeface="Inter Bold" pitchFamily="34" charset="-120"/>
              </a:rPr>
              <a:t>4</a:t>
            </a:r>
            <a:endParaRPr lang="en-US" sz="2000" dirty="0"/>
          </a:p>
        </p:txBody>
      </p:sp>
      <p:pic>
        <p:nvPicPr>
          <p:cNvPr id="23" name="Image 4" descr="preencoded.png"/>
          <p:cNvPicPr>
            <a:picLocks noChangeAspect="1"/>
          </p:cNvPicPr>
          <p:nvPr/>
        </p:nvPicPr>
        <p:blipFill>
          <a:blip r:embed="rId7"/>
          <a:stretch>
            <a:fillRect/>
          </a:stretch>
        </p:blipFill>
        <p:spPr>
          <a:xfrm>
            <a:off x="13464778" y="228600"/>
            <a:ext cx="937022" cy="50280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356646" y="2389823"/>
            <a:ext cx="5060990" cy="3900618"/>
          </a:xfrm>
          <a:prstGeom prst="rect">
            <a:avLst/>
          </a:prstGeom>
        </p:spPr>
      </p:pic>
      <p:sp>
        <p:nvSpPr>
          <p:cNvPr id="4" name="Text 0"/>
          <p:cNvSpPr/>
          <p:nvPr/>
        </p:nvSpPr>
        <p:spPr>
          <a:xfrm>
            <a:off x="793790" y="857488"/>
            <a:ext cx="7556421" cy="1063228"/>
          </a:xfrm>
          <a:prstGeom prst="rect">
            <a:avLst/>
          </a:prstGeom>
          <a:noFill/>
          <a:ln/>
        </p:spPr>
        <p:txBody>
          <a:bodyPr wrap="square" lIns="0" tIns="0" rIns="0" bIns="0" rtlCol="0" anchor="t"/>
          <a:lstStyle/>
          <a:p>
            <a:pPr marL="0" indent="0">
              <a:lnSpc>
                <a:spcPts val="4150"/>
              </a:lnSpc>
              <a:buNone/>
            </a:pPr>
            <a:r>
              <a:rPr lang="en-US" sz="3300" b="1" dirty="0">
                <a:solidFill>
                  <a:srgbClr val="000000"/>
                </a:solidFill>
                <a:latin typeface="Inter Bold" pitchFamily="34" charset="0"/>
                <a:ea typeface="Inter Bold" pitchFamily="34" charset="-122"/>
                <a:cs typeface="Inter Bold" pitchFamily="34" charset="-120"/>
              </a:rPr>
              <a:t>Key Takeaways: Mastering the Bias-Variance Tradeoff</a:t>
            </a:r>
            <a:endParaRPr lang="en-US" sz="3300" dirty="0"/>
          </a:p>
        </p:txBody>
      </p:sp>
      <p:sp>
        <p:nvSpPr>
          <p:cNvPr id="5" name="Shape 1"/>
          <p:cNvSpPr/>
          <p:nvPr/>
        </p:nvSpPr>
        <p:spPr>
          <a:xfrm>
            <a:off x="793790" y="2367201"/>
            <a:ext cx="382667" cy="382667"/>
          </a:xfrm>
          <a:prstGeom prst="roundRect">
            <a:avLst>
              <a:gd name="adj" fmla="val 18672"/>
            </a:avLst>
          </a:prstGeom>
          <a:solidFill>
            <a:srgbClr val="F7D5D4"/>
          </a:solidFill>
          <a:ln w="7620">
            <a:solidFill>
              <a:srgbClr val="DDBBBA"/>
            </a:solidFill>
            <a:prstDash val="solid"/>
          </a:ln>
        </p:spPr>
      </p:sp>
      <p:sp>
        <p:nvSpPr>
          <p:cNvPr id="6" name="Text 2"/>
          <p:cNvSpPr/>
          <p:nvPr/>
        </p:nvSpPr>
        <p:spPr>
          <a:xfrm>
            <a:off x="857548" y="2399050"/>
            <a:ext cx="255151" cy="318968"/>
          </a:xfrm>
          <a:prstGeom prst="rect">
            <a:avLst/>
          </a:prstGeom>
          <a:noFill/>
          <a:ln/>
        </p:spPr>
        <p:txBody>
          <a:bodyPr wrap="none" lIns="0" tIns="0" rIns="0" bIns="0" rtlCol="0" anchor="t"/>
          <a:lstStyle/>
          <a:p>
            <a:pPr marL="0" indent="0" algn="ctr">
              <a:lnSpc>
                <a:spcPts val="2000"/>
              </a:lnSpc>
              <a:buNone/>
            </a:pPr>
            <a:r>
              <a:rPr lang="en-US" sz="2000" b="1" dirty="0">
                <a:solidFill>
                  <a:srgbClr val="000000"/>
                </a:solidFill>
                <a:latin typeface="Inter Bold" pitchFamily="34" charset="0"/>
                <a:ea typeface="Inter Bold" pitchFamily="34" charset="-122"/>
                <a:cs typeface="Inter Bold" pitchFamily="34" charset="-120"/>
              </a:rPr>
              <a:t>1</a:t>
            </a:r>
            <a:endParaRPr lang="en-US" sz="2000" dirty="0"/>
          </a:p>
        </p:txBody>
      </p:sp>
      <p:sp>
        <p:nvSpPr>
          <p:cNvPr id="7" name="Text 3"/>
          <p:cNvSpPr/>
          <p:nvPr/>
        </p:nvSpPr>
        <p:spPr>
          <a:xfrm>
            <a:off x="1346478" y="2367201"/>
            <a:ext cx="3951208" cy="265747"/>
          </a:xfrm>
          <a:prstGeom prst="rect">
            <a:avLst/>
          </a:prstGeom>
          <a:noFill/>
          <a:ln/>
        </p:spPr>
        <p:txBody>
          <a:bodyPr wrap="none" lIns="0" tIns="0" rIns="0" bIns="0" rtlCol="0" anchor="t"/>
          <a:lstStyle/>
          <a:p>
            <a:pPr marL="0" indent="0">
              <a:lnSpc>
                <a:spcPts val="2050"/>
              </a:lnSpc>
              <a:buNone/>
            </a:pPr>
            <a:r>
              <a:rPr lang="en-US" sz="1650" b="1" dirty="0">
                <a:solidFill>
                  <a:srgbClr val="000000"/>
                </a:solidFill>
                <a:latin typeface="Inter Bold" pitchFamily="34" charset="0"/>
                <a:ea typeface="Inter Bold" pitchFamily="34" charset="-122"/>
                <a:cs typeface="Inter Bold" pitchFamily="34" charset="-120"/>
              </a:rPr>
              <a:t>Understand the Fundamental Tradeoff</a:t>
            </a:r>
            <a:endParaRPr lang="en-US" sz="1650" dirty="0"/>
          </a:p>
        </p:txBody>
      </p:sp>
      <p:sp>
        <p:nvSpPr>
          <p:cNvPr id="8" name="Text 4"/>
          <p:cNvSpPr/>
          <p:nvPr/>
        </p:nvSpPr>
        <p:spPr>
          <a:xfrm>
            <a:off x="1346478" y="2734985"/>
            <a:ext cx="7003733" cy="816531"/>
          </a:xfrm>
          <a:prstGeom prst="rect">
            <a:avLst/>
          </a:prstGeom>
          <a:noFill/>
          <a:ln/>
        </p:spPr>
        <p:txBody>
          <a:bodyPr wrap="square" lIns="0" tIns="0" rIns="0" bIns="0" rtlCol="0" anchor="t"/>
          <a:lstStyle/>
          <a:p>
            <a:pPr marL="0" indent="0">
              <a:lnSpc>
                <a:spcPts val="2100"/>
              </a:lnSpc>
              <a:buNone/>
            </a:pPr>
            <a:r>
              <a:rPr lang="en-US" sz="1300" dirty="0">
                <a:solidFill>
                  <a:srgbClr val="000000"/>
                </a:solidFill>
                <a:latin typeface="Inter" pitchFamily="34" charset="0"/>
                <a:ea typeface="Inter" pitchFamily="34" charset="-122"/>
                <a:cs typeface="Inter" pitchFamily="34" charset="-120"/>
              </a:rPr>
              <a:t>Recognize that bias and variance represent opposing forces in model development. Reducing one typically increases the other, making the tradeoff unavoidable but manageable.</a:t>
            </a:r>
            <a:endParaRPr lang="en-US" sz="1300" dirty="0"/>
          </a:p>
        </p:txBody>
      </p:sp>
      <p:sp>
        <p:nvSpPr>
          <p:cNvPr id="9" name="Shape 5"/>
          <p:cNvSpPr/>
          <p:nvPr/>
        </p:nvSpPr>
        <p:spPr>
          <a:xfrm>
            <a:off x="793790" y="3912870"/>
            <a:ext cx="382667" cy="382667"/>
          </a:xfrm>
          <a:prstGeom prst="roundRect">
            <a:avLst>
              <a:gd name="adj" fmla="val 18672"/>
            </a:avLst>
          </a:prstGeom>
          <a:solidFill>
            <a:srgbClr val="F7D5D4"/>
          </a:solidFill>
          <a:ln w="7620">
            <a:solidFill>
              <a:srgbClr val="DDBBBA"/>
            </a:solidFill>
            <a:prstDash val="solid"/>
          </a:ln>
        </p:spPr>
      </p:sp>
      <p:sp>
        <p:nvSpPr>
          <p:cNvPr id="10" name="Text 6"/>
          <p:cNvSpPr/>
          <p:nvPr/>
        </p:nvSpPr>
        <p:spPr>
          <a:xfrm>
            <a:off x="857548" y="3944719"/>
            <a:ext cx="255151" cy="318968"/>
          </a:xfrm>
          <a:prstGeom prst="rect">
            <a:avLst/>
          </a:prstGeom>
          <a:noFill/>
          <a:ln/>
        </p:spPr>
        <p:txBody>
          <a:bodyPr wrap="none" lIns="0" tIns="0" rIns="0" bIns="0" rtlCol="0" anchor="t"/>
          <a:lstStyle/>
          <a:p>
            <a:pPr marL="0" indent="0" algn="ctr">
              <a:lnSpc>
                <a:spcPts val="2000"/>
              </a:lnSpc>
              <a:buNone/>
            </a:pPr>
            <a:r>
              <a:rPr lang="en-US" sz="2000" b="1" dirty="0">
                <a:solidFill>
                  <a:srgbClr val="000000"/>
                </a:solidFill>
                <a:latin typeface="Inter Bold" pitchFamily="34" charset="0"/>
                <a:ea typeface="Inter Bold" pitchFamily="34" charset="-122"/>
                <a:cs typeface="Inter Bold" pitchFamily="34" charset="-120"/>
              </a:rPr>
              <a:t>2</a:t>
            </a:r>
            <a:endParaRPr lang="en-US" sz="2000" dirty="0"/>
          </a:p>
        </p:txBody>
      </p:sp>
      <p:sp>
        <p:nvSpPr>
          <p:cNvPr id="11" name="Text 7"/>
          <p:cNvSpPr/>
          <p:nvPr/>
        </p:nvSpPr>
        <p:spPr>
          <a:xfrm>
            <a:off x="1346478" y="3912870"/>
            <a:ext cx="3286244" cy="265747"/>
          </a:xfrm>
          <a:prstGeom prst="rect">
            <a:avLst/>
          </a:prstGeom>
          <a:noFill/>
          <a:ln/>
        </p:spPr>
        <p:txBody>
          <a:bodyPr wrap="none" lIns="0" tIns="0" rIns="0" bIns="0" rtlCol="0" anchor="t"/>
          <a:lstStyle/>
          <a:p>
            <a:pPr marL="0" indent="0">
              <a:lnSpc>
                <a:spcPts val="2050"/>
              </a:lnSpc>
              <a:buNone/>
            </a:pPr>
            <a:r>
              <a:rPr lang="en-US" sz="1650" b="1" dirty="0">
                <a:solidFill>
                  <a:srgbClr val="000000"/>
                </a:solidFill>
                <a:latin typeface="Inter Bold" pitchFamily="34" charset="0"/>
                <a:ea typeface="Inter Bold" pitchFamily="34" charset="-122"/>
                <a:cs typeface="Inter Bold" pitchFamily="34" charset="-120"/>
              </a:rPr>
              <a:t>Diagnose Your Model's Position</a:t>
            </a:r>
            <a:endParaRPr lang="en-US" sz="1650" dirty="0"/>
          </a:p>
        </p:txBody>
      </p:sp>
      <p:sp>
        <p:nvSpPr>
          <p:cNvPr id="12" name="Text 8"/>
          <p:cNvSpPr/>
          <p:nvPr/>
        </p:nvSpPr>
        <p:spPr>
          <a:xfrm>
            <a:off x="1346478" y="4280654"/>
            <a:ext cx="7003733" cy="544354"/>
          </a:xfrm>
          <a:prstGeom prst="rect">
            <a:avLst/>
          </a:prstGeom>
          <a:noFill/>
          <a:ln/>
        </p:spPr>
        <p:txBody>
          <a:bodyPr wrap="square" lIns="0" tIns="0" rIns="0" bIns="0" rtlCol="0" anchor="t"/>
          <a:lstStyle/>
          <a:p>
            <a:pPr marL="0" indent="0">
              <a:lnSpc>
                <a:spcPts val="2100"/>
              </a:lnSpc>
              <a:buNone/>
            </a:pPr>
            <a:r>
              <a:rPr lang="en-US" sz="1300" dirty="0">
                <a:solidFill>
                  <a:srgbClr val="000000"/>
                </a:solidFill>
                <a:latin typeface="Inter" pitchFamily="34" charset="0"/>
                <a:ea typeface="Inter" pitchFamily="34" charset="-122"/>
                <a:cs typeface="Inter" pitchFamily="34" charset="-120"/>
              </a:rPr>
              <a:t>Use cross-validation, learning curves, and error decomposition to determine whether your model suffers more from bias or variance, then apply the appropriate remedies.</a:t>
            </a:r>
            <a:endParaRPr lang="en-US" sz="1300" dirty="0"/>
          </a:p>
        </p:txBody>
      </p:sp>
      <p:sp>
        <p:nvSpPr>
          <p:cNvPr id="13" name="Shape 9"/>
          <p:cNvSpPr/>
          <p:nvPr/>
        </p:nvSpPr>
        <p:spPr>
          <a:xfrm>
            <a:off x="793790" y="5186363"/>
            <a:ext cx="382667" cy="382667"/>
          </a:xfrm>
          <a:prstGeom prst="roundRect">
            <a:avLst>
              <a:gd name="adj" fmla="val 18672"/>
            </a:avLst>
          </a:prstGeom>
          <a:solidFill>
            <a:srgbClr val="F7D5D4"/>
          </a:solidFill>
          <a:ln w="7620">
            <a:solidFill>
              <a:srgbClr val="DDBBBA"/>
            </a:solidFill>
            <a:prstDash val="solid"/>
          </a:ln>
        </p:spPr>
      </p:sp>
      <p:sp>
        <p:nvSpPr>
          <p:cNvPr id="14" name="Text 10"/>
          <p:cNvSpPr/>
          <p:nvPr/>
        </p:nvSpPr>
        <p:spPr>
          <a:xfrm>
            <a:off x="857548" y="5218212"/>
            <a:ext cx="255151" cy="318968"/>
          </a:xfrm>
          <a:prstGeom prst="rect">
            <a:avLst/>
          </a:prstGeom>
          <a:noFill/>
          <a:ln/>
        </p:spPr>
        <p:txBody>
          <a:bodyPr wrap="none" lIns="0" tIns="0" rIns="0" bIns="0" rtlCol="0" anchor="t"/>
          <a:lstStyle/>
          <a:p>
            <a:pPr marL="0" indent="0" algn="ctr">
              <a:lnSpc>
                <a:spcPts val="2000"/>
              </a:lnSpc>
              <a:buNone/>
            </a:pPr>
            <a:r>
              <a:rPr lang="en-US" sz="2000" b="1" dirty="0">
                <a:solidFill>
                  <a:srgbClr val="000000"/>
                </a:solidFill>
                <a:latin typeface="Inter Bold" pitchFamily="34" charset="0"/>
                <a:ea typeface="Inter Bold" pitchFamily="34" charset="-122"/>
                <a:cs typeface="Inter Bold" pitchFamily="34" charset="-120"/>
              </a:rPr>
              <a:t>3</a:t>
            </a:r>
            <a:endParaRPr lang="en-US" sz="2000" dirty="0"/>
          </a:p>
        </p:txBody>
      </p:sp>
      <p:sp>
        <p:nvSpPr>
          <p:cNvPr id="15" name="Text 11"/>
          <p:cNvSpPr/>
          <p:nvPr/>
        </p:nvSpPr>
        <p:spPr>
          <a:xfrm>
            <a:off x="1346478" y="5186363"/>
            <a:ext cx="3528536" cy="265747"/>
          </a:xfrm>
          <a:prstGeom prst="rect">
            <a:avLst/>
          </a:prstGeom>
          <a:noFill/>
          <a:ln/>
        </p:spPr>
        <p:txBody>
          <a:bodyPr wrap="none" lIns="0" tIns="0" rIns="0" bIns="0" rtlCol="0" anchor="t"/>
          <a:lstStyle/>
          <a:p>
            <a:pPr marL="0" indent="0">
              <a:lnSpc>
                <a:spcPts val="2050"/>
              </a:lnSpc>
              <a:buNone/>
            </a:pPr>
            <a:r>
              <a:rPr lang="en-US" sz="1650" b="1" dirty="0">
                <a:solidFill>
                  <a:srgbClr val="000000"/>
                </a:solidFill>
                <a:latin typeface="Inter Bold" pitchFamily="34" charset="0"/>
                <a:ea typeface="Inter Bold" pitchFamily="34" charset="-122"/>
                <a:cs typeface="Inter Bold" pitchFamily="34" charset="-120"/>
              </a:rPr>
              <a:t>Apply Regularization Strategically</a:t>
            </a:r>
            <a:endParaRPr lang="en-US" sz="1650" dirty="0"/>
          </a:p>
        </p:txBody>
      </p:sp>
      <p:sp>
        <p:nvSpPr>
          <p:cNvPr id="16" name="Text 12"/>
          <p:cNvSpPr/>
          <p:nvPr/>
        </p:nvSpPr>
        <p:spPr>
          <a:xfrm>
            <a:off x="1346478" y="5554147"/>
            <a:ext cx="7003733" cy="544354"/>
          </a:xfrm>
          <a:prstGeom prst="rect">
            <a:avLst/>
          </a:prstGeom>
          <a:noFill/>
          <a:ln/>
        </p:spPr>
        <p:txBody>
          <a:bodyPr wrap="square" lIns="0" tIns="0" rIns="0" bIns="0" rtlCol="0" anchor="t"/>
          <a:lstStyle/>
          <a:p>
            <a:pPr marL="0" indent="0">
              <a:lnSpc>
                <a:spcPts val="2100"/>
              </a:lnSpc>
              <a:buNone/>
            </a:pPr>
            <a:r>
              <a:rPr lang="en-US" sz="1300" dirty="0">
                <a:solidFill>
                  <a:srgbClr val="000000"/>
                </a:solidFill>
                <a:latin typeface="Inter" pitchFamily="34" charset="0"/>
                <a:ea typeface="Inter" pitchFamily="34" charset="-122"/>
                <a:cs typeface="Inter" pitchFamily="34" charset="-120"/>
              </a:rPr>
              <a:t>Leverage regularization techniques to control model complexity, finding the optimal regularization parameter through systematic experimentation and validation.</a:t>
            </a:r>
            <a:endParaRPr lang="en-US" sz="1300" dirty="0"/>
          </a:p>
        </p:txBody>
      </p:sp>
      <p:sp>
        <p:nvSpPr>
          <p:cNvPr id="17" name="Shape 13"/>
          <p:cNvSpPr/>
          <p:nvPr/>
        </p:nvSpPr>
        <p:spPr>
          <a:xfrm>
            <a:off x="793790" y="6459855"/>
            <a:ext cx="382667" cy="382667"/>
          </a:xfrm>
          <a:prstGeom prst="roundRect">
            <a:avLst>
              <a:gd name="adj" fmla="val 18672"/>
            </a:avLst>
          </a:prstGeom>
          <a:solidFill>
            <a:srgbClr val="F7D5D4"/>
          </a:solidFill>
          <a:ln w="7620">
            <a:solidFill>
              <a:srgbClr val="DDBBBA"/>
            </a:solidFill>
            <a:prstDash val="solid"/>
          </a:ln>
        </p:spPr>
      </p:sp>
      <p:sp>
        <p:nvSpPr>
          <p:cNvPr id="18" name="Text 14"/>
          <p:cNvSpPr/>
          <p:nvPr/>
        </p:nvSpPr>
        <p:spPr>
          <a:xfrm>
            <a:off x="857548" y="6491704"/>
            <a:ext cx="255151" cy="318968"/>
          </a:xfrm>
          <a:prstGeom prst="rect">
            <a:avLst/>
          </a:prstGeom>
          <a:noFill/>
          <a:ln/>
        </p:spPr>
        <p:txBody>
          <a:bodyPr wrap="none" lIns="0" tIns="0" rIns="0" bIns="0" rtlCol="0" anchor="t"/>
          <a:lstStyle/>
          <a:p>
            <a:pPr marL="0" indent="0" algn="ctr">
              <a:lnSpc>
                <a:spcPts val="2000"/>
              </a:lnSpc>
              <a:buNone/>
            </a:pPr>
            <a:r>
              <a:rPr lang="en-US" sz="2000" b="1" dirty="0">
                <a:solidFill>
                  <a:srgbClr val="000000"/>
                </a:solidFill>
                <a:latin typeface="Inter Bold" pitchFamily="34" charset="0"/>
                <a:ea typeface="Inter Bold" pitchFamily="34" charset="-122"/>
                <a:cs typeface="Inter Bold" pitchFamily="34" charset="-120"/>
              </a:rPr>
              <a:t>4</a:t>
            </a:r>
            <a:endParaRPr lang="en-US" sz="2000" dirty="0"/>
          </a:p>
        </p:txBody>
      </p:sp>
      <p:sp>
        <p:nvSpPr>
          <p:cNvPr id="19" name="Text 15"/>
          <p:cNvSpPr/>
          <p:nvPr/>
        </p:nvSpPr>
        <p:spPr>
          <a:xfrm>
            <a:off x="1346478" y="6459855"/>
            <a:ext cx="4325779" cy="265747"/>
          </a:xfrm>
          <a:prstGeom prst="rect">
            <a:avLst/>
          </a:prstGeom>
          <a:noFill/>
          <a:ln/>
        </p:spPr>
        <p:txBody>
          <a:bodyPr wrap="none" lIns="0" tIns="0" rIns="0" bIns="0" rtlCol="0" anchor="t"/>
          <a:lstStyle/>
          <a:p>
            <a:pPr marL="0" indent="0">
              <a:lnSpc>
                <a:spcPts val="2050"/>
              </a:lnSpc>
              <a:buNone/>
            </a:pPr>
            <a:r>
              <a:rPr lang="en-US" sz="1650" b="1" dirty="0">
                <a:solidFill>
                  <a:srgbClr val="000000"/>
                </a:solidFill>
                <a:latin typeface="Inter Bold" pitchFamily="34" charset="0"/>
                <a:ea typeface="Inter Bold" pitchFamily="34" charset="-122"/>
                <a:cs typeface="Inter Bold" pitchFamily="34" charset="-120"/>
              </a:rPr>
              <a:t>Balance Performance with Interpretability</a:t>
            </a:r>
            <a:endParaRPr lang="en-US" sz="1650" dirty="0"/>
          </a:p>
        </p:txBody>
      </p:sp>
      <p:sp>
        <p:nvSpPr>
          <p:cNvPr id="20" name="Text 16"/>
          <p:cNvSpPr/>
          <p:nvPr/>
        </p:nvSpPr>
        <p:spPr>
          <a:xfrm>
            <a:off x="1346478" y="6827639"/>
            <a:ext cx="7003733" cy="544354"/>
          </a:xfrm>
          <a:prstGeom prst="rect">
            <a:avLst/>
          </a:prstGeom>
          <a:noFill/>
          <a:ln/>
        </p:spPr>
        <p:txBody>
          <a:bodyPr wrap="square" lIns="0" tIns="0" rIns="0" bIns="0" rtlCol="0" anchor="t"/>
          <a:lstStyle/>
          <a:p>
            <a:pPr marL="0" indent="0">
              <a:lnSpc>
                <a:spcPts val="2100"/>
              </a:lnSpc>
              <a:buNone/>
            </a:pPr>
            <a:r>
              <a:rPr lang="en-US" sz="1300" dirty="0">
                <a:solidFill>
                  <a:srgbClr val="000000"/>
                </a:solidFill>
                <a:latin typeface="Inter" pitchFamily="34" charset="0"/>
                <a:ea typeface="Inter" pitchFamily="34" charset="-122"/>
                <a:cs typeface="Inter" pitchFamily="34" charset="-120"/>
              </a:rPr>
              <a:t>Consider your specific application needs when selecting a model. Sometimes a slightly biased but more interpretable model is preferable to a perfectly fitted black box.</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1676</Words>
  <Application>Microsoft Office PowerPoint</Application>
  <PresentationFormat>Custom</PresentationFormat>
  <Paragraphs>202</Paragraphs>
  <Slides>21</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Inter Bold</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Silicon computers</cp:lastModifiedBy>
  <cp:revision>4</cp:revision>
  <dcterms:created xsi:type="dcterms:W3CDTF">2025-03-05T06:01:56Z</dcterms:created>
  <dcterms:modified xsi:type="dcterms:W3CDTF">2025-03-18T06:04:46Z</dcterms:modified>
</cp:coreProperties>
</file>