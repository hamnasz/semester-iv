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4630400" cy="8229600"/>
  <p:notesSz cx="8229600" cy="14630400"/>
  <p:embeddedFontLst>
    <p:embeddedFont>
      <p:font typeface="Inter"/>
      <p:regular r:id="rId27"/>
    </p:embeddedFont>
    <p:embeddedFont>
      <p:font typeface="Inter"/>
      <p:regular r:id="rId28"/>
    </p:embeddedFont>
    <p:embeddedFont>
      <p:font typeface="Inter"/>
      <p:regular r:id="rId29"/>
    </p:embeddedFont>
    <p:embeddedFont>
      <p:font typeface="Inter"/>
      <p:regular r:id="rId30"/>
    </p:embeddedFont>
    <p:embeddedFont>
      <p:font typeface="Inter"/>
      <p:regular r:id="rId31"/>
    </p:embeddedFont>
    <p:embeddedFont>
      <p:font typeface="Inter"/>
      <p:regular r:id="rId32"/>
    </p:embeddedFont>
    <p:embeddedFont>
      <p:font typeface="Inter"/>
      <p:regular r:id="rId33"/>
    </p:embeddedFont>
    <p:embeddedFont>
      <p:font typeface="Inter"/>
      <p:regular r:id="rId3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0.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5.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7.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8.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9.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0.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21.xml"/><Relationship Id="rId7"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665208"/>
            <a:ext cx="6955869" cy="2126337"/>
          </a:xfrm>
          <a:prstGeom prst="rect">
            <a:avLst/>
          </a:prstGeom>
          <a:noFill/>
          <a:ln/>
        </p:spPr>
        <p:txBody>
          <a:bodyPr wrap="square" lIns="0" tIns="0" rIns="0" bIns="0" rtlCol="0" anchor="t"/>
          <a:lstStyle/>
          <a:p>
            <a:pPr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Linear Model Classification: Logistic Regression</a:t>
            </a:r>
            <a:endParaRPr lang="en-US" sz="4450" dirty="0"/>
          </a:p>
        </p:txBody>
      </p:sp>
      <p:sp>
        <p:nvSpPr>
          <p:cNvPr id="4" name="Text 1"/>
          <p:cNvSpPr/>
          <p:nvPr/>
        </p:nvSpPr>
        <p:spPr>
          <a:xfrm>
            <a:off x="6280190" y="4131707"/>
            <a:ext cx="6955869" cy="1814513"/>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Welcome to this comprehensive presentation on Logistic Regression, a fundamental supervised machine learning algorithm used for classification tasks. We'll explore what makes logistic regression powerful for predicting categorical outcomes through probability estimation.</a:t>
            </a:r>
            <a:endParaRPr lang="en-US" sz="1750" dirty="0"/>
          </a:p>
        </p:txBody>
      </p:sp>
      <p:sp>
        <p:nvSpPr>
          <p:cNvPr id="5" name="Text 2"/>
          <p:cNvSpPr/>
          <p:nvPr/>
        </p:nvSpPr>
        <p:spPr>
          <a:xfrm>
            <a:off x="6280190" y="6201370"/>
            <a:ext cx="6955869" cy="362903"/>
          </a:xfrm>
          <a:prstGeom prst="rect">
            <a:avLst/>
          </a:prstGeom>
          <a:noFill/>
          <a:ln/>
        </p:spPr>
        <p:txBody>
          <a:bodyPr wrap="none" lIns="0" tIns="0" rIns="0" bIns="0" rtlCol="0" anchor="t"/>
          <a:lstStyle/>
          <a:p>
            <a:pPr indent="0" marL="0">
              <a:lnSpc>
                <a:spcPts val="2850"/>
              </a:lnSpc>
              <a:buNone/>
            </a:pPr>
            <a:endParaRPr lang="en-US" sz="1750" dirty="0"/>
          </a:p>
        </p:txBody>
      </p:sp>
      <p:pic>
        <p:nvPicPr>
          <p:cNvPr id="6" name="Image 1" descr="preencoded.png">    </p:cNvPr>
          <p:cNvPicPr>
            <a:picLocks noChangeAspect="1"/>
          </p:cNvPicPr>
          <p:nvPr/>
        </p:nvPicPr>
        <p:blipFill>
          <a:blip r:embed="rId2"/>
          <a:stretch>
            <a:fillRect/>
          </a:stretch>
        </p:blipFill>
        <p:spPr>
          <a:xfrm>
            <a:off x="13464778" y="228600"/>
            <a:ext cx="937022" cy="50280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995607"/>
            <a:ext cx="7967662" cy="708779"/>
          </a:xfrm>
          <a:prstGeom prst="rect">
            <a:avLst/>
          </a:prstGeom>
          <a:noFill/>
          <a:ln/>
        </p:spPr>
        <p:txBody>
          <a:bodyPr wrap="none" lIns="0" tIns="0" rIns="0" bIns="0" rtlCol="0" anchor="t"/>
          <a:lstStyle/>
          <a:p>
            <a:pPr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What is Logistic Regression?</a:t>
            </a:r>
            <a:endParaRPr lang="en-US" sz="4450" dirty="0"/>
          </a:p>
        </p:txBody>
      </p:sp>
      <p:sp>
        <p:nvSpPr>
          <p:cNvPr id="3" name="Text 1"/>
          <p:cNvSpPr/>
          <p:nvPr/>
        </p:nvSpPr>
        <p:spPr>
          <a:xfrm>
            <a:off x="793790" y="3271361"/>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Definition</a:t>
            </a:r>
            <a:endParaRPr lang="en-US" sz="2200" dirty="0"/>
          </a:p>
        </p:txBody>
      </p:sp>
      <p:sp>
        <p:nvSpPr>
          <p:cNvPr id="4" name="Text 2"/>
          <p:cNvSpPr/>
          <p:nvPr/>
        </p:nvSpPr>
        <p:spPr>
          <a:xfrm>
            <a:off x="793790" y="3852505"/>
            <a:ext cx="3777972" cy="2177415"/>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Logistic regression is a </a:t>
            </a:r>
            <a:pPr indent="0" marL="0">
              <a:lnSpc>
                <a:spcPts val="2850"/>
              </a:lnSpc>
              <a:buNone/>
            </a:pPr>
            <a:r>
              <a:rPr lang="en-US" sz="1750" b="1" dirty="0">
                <a:solidFill>
                  <a:srgbClr val="000000"/>
                </a:solidFill>
                <a:latin typeface="Inter" pitchFamily="34" charset="0"/>
                <a:ea typeface="Inter" pitchFamily="34" charset="-122"/>
                <a:cs typeface="Inter" pitchFamily="34" charset="-120"/>
              </a:rPr>
              <a:t>supervised machine learning algorithm</a:t>
            </a:r>
            <a:pPr indent="0" marL="0">
              <a:lnSpc>
                <a:spcPts val="2850"/>
              </a:lnSpc>
              <a:buNone/>
            </a:pPr>
            <a:r>
              <a:rPr lang="en-US" sz="1750" dirty="0">
                <a:solidFill>
                  <a:srgbClr val="000000"/>
                </a:solidFill>
                <a:latin typeface="Inter" pitchFamily="34" charset="0"/>
                <a:ea typeface="Inter" pitchFamily="34" charset="-122"/>
                <a:cs typeface="Inter" pitchFamily="34" charset="-120"/>
              </a:rPr>
              <a:t> used for </a:t>
            </a:r>
            <a:pPr indent="0" marL="0">
              <a:lnSpc>
                <a:spcPts val="2850"/>
              </a:lnSpc>
              <a:buNone/>
            </a:pPr>
            <a:r>
              <a:rPr lang="en-US" sz="1750" b="1" dirty="0">
                <a:solidFill>
                  <a:srgbClr val="000000"/>
                </a:solidFill>
                <a:latin typeface="Inter" pitchFamily="34" charset="0"/>
                <a:ea typeface="Inter" pitchFamily="34" charset="-122"/>
                <a:cs typeface="Inter" pitchFamily="34" charset="-120"/>
              </a:rPr>
              <a:t>classification tasks</a:t>
            </a:r>
            <a:pPr indent="0" marL="0">
              <a:lnSpc>
                <a:spcPts val="2850"/>
              </a:lnSpc>
              <a:buNone/>
            </a:pPr>
            <a:r>
              <a:rPr lang="en-US" sz="1750" dirty="0">
                <a:solidFill>
                  <a:srgbClr val="000000"/>
                </a:solidFill>
                <a:latin typeface="Inter" pitchFamily="34" charset="0"/>
                <a:ea typeface="Inter" pitchFamily="34" charset="-122"/>
                <a:cs typeface="Inter" pitchFamily="34" charset="-120"/>
              </a:rPr>
              <a:t> where the goal is to predict the probability that an instance belongs to a given class.</a:t>
            </a:r>
            <a:endParaRPr lang="en-US" sz="1750" dirty="0"/>
          </a:p>
        </p:txBody>
      </p:sp>
      <p:sp>
        <p:nvSpPr>
          <p:cNvPr id="5" name="Text 3"/>
          <p:cNvSpPr/>
          <p:nvPr/>
        </p:nvSpPr>
        <p:spPr>
          <a:xfrm>
            <a:off x="5132784" y="3271361"/>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Core Function</a:t>
            </a:r>
            <a:endParaRPr lang="en-US" sz="2200" dirty="0"/>
          </a:p>
        </p:txBody>
      </p:sp>
      <p:sp>
        <p:nvSpPr>
          <p:cNvPr id="6" name="Text 4"/>
          <p:cNvSpPr/>
          <p:nvPr/>
        </p:nvSpPr>
        <p:spPr>
          <a:xfrm>
            <a:off x="5132784" y="3852505"/>
            <a:ext cx="3777972" cy="1814513"/>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It analyzes the relationship between data factors, using a sigmoid function that takes input variables and produces probability values between 0 and 1.</a:t>
            </a:r>
            <a:endParaRPr lang="en-US" sz="1750" dirty="0"/>
          </a:p>
        </p:txBody>
      </p:sp>
      <p:sp>
        <p:nvSpPr>
          <p:cNvPr id="7" name="Text 5"/>
          <p:cNvSpPr/>
          <p:nvPr/>
        </p:nvSpPr>
        <p:spPr>
          <a:xfrm>
            <a:off x="9471779" y="3271361"/>
            <a:ext cx="2926318" cy="354330"/>
          </a:xfrm>
          <a:prstGeom prst="rect">
            <a:avLst/>
          </a:prstGeom>
          <a:noFill/>
          <a:ln/>
        </p:spPr>
        <p:txBody>
          <a:bodyPr wrap="none" lIns="0" tIns="0" rIns="0" bIns="0" rtlCol="0" anchor="t"/>
          <a:lstStyle/>
          <a:p>
            <a:pP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Classification Output</a:t>
            </a:r>
            <a:endParaRPr lang="en-US" sz="2200" dirty="0"/>
          </a:p>
        </p:txBody>
      </p:sp>
      <p:sp>
        <p:nvSpPr>
          <p:cNvPr id="8" name="Text 6"/>
          <p:cNvSpPr/>
          <p:nvPr/>
        </p:nvSpPr>
        <p:spPr>
          <a:xfrm>
            <a:off x="9471779" y="3852505"/>
            <a:ext cx="3777972" cy="1451610"/>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If the function value for an input is greater than 0.5 (threshold value), it belongs to Class 1; otherwise, it belongs to Class 0.</a:t>
            </a:r>
            <a:endParaRPr lang="en-US" sz="1750" dirty="0"/>
          </a:p>
        </p:txBody>
      </p:sp>
      <p:pic>
        <p:nvPicPr>
          <p:cNvPr id="9" name="Image 0" descr="preencoded.png">    </p:cNvPr>
          <p:cNvPicPr>
            <a:picLocks noChangeAspect="1"/>
          </p:cNvPicPr>
          <p:nvPr/>
        </p:nvPicPr>
        <p:blipFill>
          <a:blip r:embed="rId1"/>
          <a:stretch>
            <a:fillRect/>
          </a:stretch>
        </p:blipFill>
        <p:spPr>
          <a:xfrm>
            <a:off x="13464778" y="228600"/>
            <a:ext cx="937022" cy="50280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947386"/>
            <a:ext cx="9200912" cy="708779"/>
          </a:xfrm>
          <a:prstGeom prst="rect">
            <a:avLst/>
          </a:prstGeom>
          <a:noFill/>
          <a:ln/>
        </p:spPr>
        <p:txBody>
          <a:bodyPr wrap="none" lIns="0" tIns="0" rIns="0" bIns="0" rtlCol="0" anchor="t"/>
          <a:lstStyle/>
          <a:p>
            <a:pPr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Key Points of Logistic Regression</a:t>
            </a:r>
            <a:endParaRPr lang="en-US" sz="4450" dirty="0"/>
          </a:p>
        </p:txBody>
      </p:sp>
      <p:sp>
        <p:nvSpPr>
          <p:cNvPr id="3" name="Shape 1"/>
          <p:cNvSpPr/>
          <p:nvPr/>
        </p:nvSpPr>
        <p:spPr>
          <a:xfrm>
            <a:off x="793790" y="3251478"/>
            <a:ext cx="510302" cy="510302"/>
          </a:xfrm>
          <a:prstGeom prst="roundRect">
            <a:avLst>
              <a:gd name="adj" fmla="val 18669"/>
            </a:avLst>
          </a:prstGeom>
          <a:solidFill>
            <a:srgbClr val="F7D5D4"/>
          </a:solidFill>
          <a:ln w="7620">
            <a:solidFill>
              <a:srgbClr val="DDBBBA"/>
            </a:solidFill>
            <a:prstDash val="solid"/>
          </a:ln>
        </p:spPr>
      </p:sp>
      <p:sp>
        <p:nvSpPr>
          <p:cNvPr id="4" name="Text 2"/>
          <p:cNvSpPr/>
          <p:nvPr/>
        </p:nvSpPr>
        <p:spPr>
          <a:xfrm>
            <a:off x="878860" y="3293983"/>
            <a:ext cx="340162" cy="425291"/>
          </a:xfrm>
          <a:prstGeom prst="rect">
            <a:avLst/>
          </a:prstGeom>
          <a:noFill/>
          <a:ln/>
        </p:spPr>
        <p:txBody>
          <a:bodyPr wrap="none" lIns="0" tIns="0" rIns="0" bIns="0" rtlCol="0" anchor="t"/>
          <a:lstStyle/>
          <a:p>
            <a:pPr algn="ctr" indent="0" marL="0">
              <a:lnSpc>
                <a:spcPts val="2650"/>
              </a:lnSpc>
              <a:buNone/>
            </a:pPr>
            <a:r>
              <a:rPr lang="en-US" sz="2650" b="1" dirty="0">
                <a:solidFill>
                  <a:srgbClr val="000000"/>
                </a:solidFill>
                <a:latin typeface="Inter Bold" pitchFamily="34" charset="0"/>
                <a:ea typeface="Inter Bold" pitchFamily="34" charset="-122"/>
                <a:cs typeface="Inter Bold" pitchFamily="34" charset="-120"/>
              </a:rPr>
              <a:t>1</a:t>
            </a:r>
            <a:endParaRPr lang="en-US" sz="2650" dirty="0"/>
          </a:p>
        </p:txBody>
      </p:sp>
      <p:sp>
        <p:nvSpPr>
          <p:cNvPr id="5" name="Text 3"/>
          <p:cNvSpPr/>
          <p:nvPr/>
        </p:nvSpPr>
        <p:spPr>
          <a:xfrm>
            <a:off x="1530906" y="3251478"/>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Categorical Output</a:t>
            </a:r>
            <a:endParaRPr lang="en-US" sz="2200" dirty="0"/>
          </a:p>
        </p:txBody>
      </p:sp>
      <p:sp>
        <p:nvSpPr>
          <p:cNvPr id="6" name="Text 4"/>
          <p:cNvSpPr/>
          <p:nvPr/>
        </p:nvSpPr>
        <p:spPr>
          <a:xfrm>
            <a:off x="1530906" y="3741896"/>
            <a:ext cx="3259098" cy="2540318"/>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Logistic regression predicts the output of a categorical dependent variable. The outcome must be a categorical or discrete value, such as Yes/No, 0/1, or True/False.</a:t>
            </a:r>
            <a:endParaRPr lang="en-US" sz="1750" dirty="0"/>
          </a:p>
        </p:txBody>
      </p:sp>
      <p:sp>
        <p:nvSpPr>
          <p:cNvPr id="7" name="Shape 5"/>
          <p:cNvSpPr/>
          <p:nvPr/>
        </p:nvSpPr>
        <p:spPr>
          <a:xfrm>
            <a:off x="5016818" y="3251478"/>
            <a:ext cx="510302" cy="510302"/>
          </a:xfrm>
          <a:prstGeom prst="roundRect">
            <a:avLst>
              <a:gd name="adj" fmla="val 18669"/>
            </a:avLst>
          </a:prstGeom>
          <a:solidFill>
            <a:srgbClr val="F7D5D4"/>
          </a:solidFill>
          <a:ln w="7620">
            <a:solidFill>
              <a:srgbClr val="DDBBBA"/>
            </a:solidFill>
            <a:prstDash val="solid"/>
          </a:ln>
        </p:spPr>
      </p:sp>
      <p:sp>
        <p:nvSpPr>
          <p:cNvPr id="8" name="Text 6"/>
          <p:cNvSpPr/>
          <p:nvPr/>
        </p:nvSpPr>
        <p:spPr>
          <a:xfrm>
            <a:off x="5101888" y="3293983"/>
            <a:ext cx="340162" cy="425291"/>
          </a:xfrm>
          <a:prstGeom prst="rect">
            <a:avLst/>
          </a:prstGeom>
          <a:noFill/>
          <a:ln/>
        </p:spPr>
        <p:txBody>
          <a:bodyPr wrap="none" lIns="0" tIns="0" rIns="0" bIns="0" rtlCol="0" anchor="t"/>
          <a:lstStyle/>
          <a:p>
            <a:pPr algn="ctr" indent="0" marL="0">
              <a:lnSpc>
                <a:spcPts val="2650"/>
              </a:lnSpc>
              <a:buNone/>
            </a:pPr>
            <a:r>
              <a:rPr lang="en-US" sz="2650" b="1" dirty="0">
                <a:solidFill>
                  <a:srgbClr val="000000"/>
                </a:solidFill>
                <a:latin typeface="Inter Bold" pitchFamily="34" charset="0"/>
                <a:ea typeface="Inter Bold" pitchFamily="34" charset="-122"/>
                <a:cs typeface="Inter Bold" pitchFamily="34" charset="-120"/>
              </a:rPr>
              <a:t>2</a:t>
            </a:r>
            <a:endParaRPr lang="en-US" sz="2650" dirty="0"/>
          </a:p>
        </p:txBody>
      </p:sp>
      <p:sp>
        <p:nvSpPr>
          <p:cNvPr id="9" name="Text 7"/>
          <p:cNvSpPr/>
          <p:nvPr/>
        </p:nvSpPr>
        <p:spPr>
          <a:xfrm>
            <a:off x="5753933" y="3251478"/>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Probabilistic Values</a:t>
            </a:r>
            <a:endParaRPr lang="en-US" sz="2200" dirty="0"/>
          </a:p>
        </p:txBody>
      </p:sp>
      <p:sp>
        <p:nvSpPr>
          <p:cNvPr id="10" name="Text 8"/>
          <p:cNvSpPr/>
          <p:nvPr/>
        </p:nvSpPr>
        <p:spPr>
          <a:xfrm>
            <a:off x="5753933" y="3741896"/>
            <a:ext cx="3259098" cy="2540318"/>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Instead of giving exact values like 0 and 1, logistic regression provides probabilistic values that lie between 0 and 1, indicating the likelihood of belonging to a class.</a:t>
            </a:r>
            <a:endParaRPr lang="en-US" sz="1750" dirty="0"/>
          </a:p>
        </p:txBody>
      </p:sp>
      <p:sp>
        <p:nvSpPr>
          <p:cNvPr id="11" name="Shape 9"/>
          <p:cNvSpPr/>
          <p:nvPr/>
        </p:nvSpPr>
        <p:spPr>
          <a:xfrm>
            <a:off x="9239845" y="3251478"/>
            <a:ext cx="510302" cy="510302"/>
          </a:xfrm>
          <a:prstGeom prst="roundRect">
            <a:avLst>
              <a:gd name="adj" fmla="val 18669"/>
            </a:avLst>
          </a:prstGeom>
          <a:solidFill>
            <a:srgbClr val="F7D5D4"/>
          </a:solidFill>
          <a:ln w="7620">
            <a:solidFill>
              <a:srgbClr val="DDBBBA"/>
            </a:solidFill>
            <a:prstDash val="solid"/>
          </a:ln>
        </p:spPr>
      </p:sp>
      <p:sp>
        <p:nvSpPr>
          <p:cNvPr id="12" name="Text 10"/>
          <p:cNvSpPr/>
          <p:nvPr/>
        </p:nvSpPr>
        <p:spPr>
          <a:xfrm>
            <a:off x="9324915" y="3293983"/>
            <a:ext cx="340162" cy="425291"/>
          </a:xfrm>
          <a:prstGeom prst="rect">
            <a:avLst/>
          </a:prstGeom>
          <a:noFill/>
          <a:ln/>
        </p:spPr>
        <p:txBody>
          <a:bodyPr wrap="none" lIns="0" tIns="0" rIns="0" bIns="0" rtlCol="0" anchor="t"/>
          <a:lstStyle/>
          <a:p>
            <a:pPr algn="ctr" indent="0" marL="0">
              <a:lnSpc>
                <a:spcPts val="2650"/>
              </a:lnSpc>
              <a:buNone/>
            </a:pPr>
            <a:r>
              <a:rPr lang="en-US" sz="2650" b="1" dirty="0">
                <a:solidFill>
                  <a:srgbClr val="000000"/>
                </a:solidFill>
                <a:latin typeface="Inter Bold" pitchFamily="34" charset="0"/>
                <a:ea typeface="Inter Bold" pitchFamily="34" charset="-122"/>
                <a:cs typeface="Inter Bold" pitchFamily="34" charset="-120"/>
              </a:rPr>
              <a:t>3</a:t>
            </a:r>
            <a:endParaRPr lang="en-US" sz="2650" dirty="0"/>
          </a:p>
        </p:txBody>
      </p:sp>
      <p:sp>
        <p:nvSpPr>
          <p:cNvPr id="13" name="Text 11"/>
          <p:cNvSpPr/>
          <p:nvPr/>
        </p:nvSpPr>
        <p:spPr>
          <a:xfrm>
            <a:off x="9976961" y="3251478"/>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S-Shaped Function</a:t>
            </a:r>
            <a:endParaRPr lang="en-US" sz="2200" dirty="0"/>
          </a:p>
        </p:txBody>
      </p:sp>
      <p:sp>
        <p:nvSpPr>
          <p:cNvPr id="14" name="Text 12"/>
          <p:cNvSpPr/>
          <p:nvPr/>
        </p:nvSpPr>
        <p:spPr>
          <a:xfrm>
            <a:off x="9976961" y="3741896"/>
            <a:ext cx="3259098" cy="1814513"/>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Rather than fitting a regression line, logistic regression fits an "S" shaped logistic function that predicts two maximum values (0 or 1).</a:t>
            </a:r>
            <a:endParaRPr lang="en-US" sz="1750" dirty="0"/>
          </a:p>
        </p:txBody>
      </p:sp>
      <p:pic>
        <p:nvPicPr>
          <p:cNvPr id="15" name="Image 0" descr="preencoded.png">    </p:cNvPr>
          <p:cNvPicPr>
            <a:picLocks noChangeAspect="1"/>
          </p:cNvPicPr>
          <p:nvPr/>
        </p:nvPicPr>
        <p:blipFill>
          <a:blip r:embed="rId1"/>
          <a:stretch>
            <a:fillRect/>
          </a:stretch>
        </p:blipFill>
        <p:spPr>
          <a:xfrm>
            <a:off x="13464778" y="228600"/>
            <a:ext cx="937022" cy="50280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01489" y="884634"/>
            <a:ext cx="7034570" cy="1276826"/>
          </a:xfrm>
          <a:prstGeom prst="rect">
            <a:avLst/>
          </a:prstGeom>
          <a:noFill/>
          <a:ln/>
        </p:spPr>
        <p:txBody>
          <a:bodyPr wrap="square" lIns="0" tIns="0" rIns="0" bIns="0" rtlCol="0" anchor="t"/>
          <a:lstStyle/>
          <a:p>
            <a:pPr indent="0" marL="0">
              <a:lnSpc>
                <a:spcPts val="5000"/>
              </a:lnSpc>
              <a:buNone/>
            </a:pPr>
            <a:r>
              <a:rPr lang="en-US" sz="4000" b="1" dirty="0">
                <a:solidFill>
                  <a:srgbClr val="000000"/>
                </a:solidFill>
                <a:latin typeface="Inter Bold" pitchFamily="34" charset="0"/>
                <a:ea typeface="Inter Bold" pitchFamily="34" charset="-122"/>
                <a:cs typeface="Inter Bold" pitchFamily="34" charset="-120"/>
              </a:rPr>
              <a:t>Binary Classification with Logistic Regression</a:t>
            </a:r>
            <a:endParaRPr lang="en-US" sz="4000" dirty="0"/>
          </a:p>
        </p:txBody>
      </p:sp>
      <p:sp>
        <p:nvSpPr>
          <p:cNvPr id="4" name="Shape 1"/>
          <p:cNvSpPr/>
          <p:nvPr/>
        </p:nvSpPr>
        <p:spPr>
          <a:xfrm>
            <a:off x="6201489" y="2467928"/>
            <a:ext cx="3415189" cy="2826544"/>
          </a:xfrm>
          <a:prstGeom prst="roundRect">
            <a:avLst>
              <a:gd name="adj" fmla="val 3036"/>
            </a:avLst>
          </a:prstGeom>
          <a:solidFill>
            <a:srgbClr val="F7D5D4"/>
          </a:solidFill>
          <a:ln w="7620">
            <a:solidFill>
              <a:srgbClr val="DDBBBA"/>
            </a:solidFill>
            <a:prstDash val="solid"/>
          </a:ln>
        </p:spPr>
      </p:sp>
      <p:sp>
        <p:nvSpPr>
          <p:cNvPr id="5" name="Text 2"/>
          <p:cNvSpPr/>
          <p:nvPr/>
        </p:nvSpPr>
        <p:spPr>
          <a:xfrm>
            <a:off x="6413421" y="2679859"/>
            <a:ext cx="2553891" cy="319207"/>
          </a:xfrm>
          <a:prstGeom prst="rect">
            <a:avLst/>
          </a:prstGeom>
          <a:noFill/>
          <a:ln/>
        </p:spPr>
        <p:txBody>
          <a:bodyPr wrap="none" lIns="0" tIns="0" rIns="0" bIns="0" rtlCol="0" anchor="t"/>
          <a:lstStyle/>
          <a:p>
            <a:pPr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Decision Process</a:t>
            </a:r>
            <a:endParaRPr lang="en-US" sz="2000" dirty="0"/>
          </a:p>
        </p:txBody>
      </p:sp>
      <p:sp>
        <p:nvSpPr>
          <p:cNvPr id="6" name="Text 3"/>
          <p:cNvSpPr/>
          <p:nvPr/>
        </p:nvSpPr>
        <p:spPr>
          <a:xfrm>
            <a:off x="6413421" y="3121581"/>
            <a:ext cx="2991326" cy="1960959"/>
          </a:xfrm>
          <a:prstGeom prst="rect">
            <a:avLst/>
          </a:prstGeom>
          <a:noFill/>
          <a:ln/>
        </p:spPr>
        <p:txBody>
          <a:bodyPr wrap="square" lIns="0" tIns="0" rIns="0" bIns="0" rtlCol="0" anchor="t"/>
          <a:lstStyle/>
          <a:p>
            <a:pPr indent="0" marL="0">
              <a:lnSpc>
                <a:spcPts val="2550"/>
              </a:lnSpc>
              <a:buNone/>
            </a:pPr>
            <a:r>
              <a:rPr lang="en-US" sz="1600" dirty="0">
                <a:solidFill>
                  <a:srgbClr val="000000"/>
                </a:solidFill>
                <a:latin typeface="Inter" pitchFamily="34" charset="0"/>
                <a:ea typeface="Inter" pitchFamily="34" charset="-122"/>
                <a:cs typeface="Inter" pitchFamily="34" charset="-120"/>
              </a:rPr>
              <a:t>In binary classification, logistic regression converts a continuous input into a probability value between 0 and 1 using the sigmoid function.</a:t>
            </a:r>
            <a:endParaRPr lang="en-US" sz="1600" dirty="0"/>
          </a:p>
        </p:txBody>
      </p:sp>
      <p:sp>
        <p:nvSpPr>
          <p:cNvPr id="7" name="Shape 4"/>
          <p:cNvSpPr/>
          <p:nvPr/>
        </p:nvSpPr>
        <p:spPr>
          <a:xfrm>
            <a:off x="9820989" y="2467928"/>
            <a:ext cx="3415189" cy="2826544"/>
          </a:xfrm>
          <a:prstGeom prst="roundRect">
            <a:avLst>
              <a:gd name="adj" fmla="val 3036"/>
            </a:avLst>
          </a:prstGeom>
          <a:solidFill>
            <a:srgbClr val="F7D5D4"/>
          </a:solidFill>
          <a:ln w="7620">
            <a:solidFill>
              <a:srgbClr val="DDBBBA"/>
            </a:solidFill>
            <a:prstDash val="solid"/>
          </a:ln>
        </p:spPr>
      </p:sp>
      <p:sp>
        <p:nvSpPr>
          <p:cNvPr id="8" name="Text 5"/>
          <p:cNvSpPr/>
          <p:nvPr/>
        </p:nvSpPr>
        <p:spPr>
          <a:xfrm>
            <a:off x="10032921" y="2679859"/>
            <a:ext cx="2757964" cy="319207"/>
          </a:xfrm>
          <a:prstGeom prst="rect">
            <a:avLst/>
          </a:prstGeom>
          <a:noFill/>
          <a:ln/>
        </p:spPr>
        <p:txBody>
          <a:bodyPr wrap="none" lIns="0" tIns="0" rIns="0" bIns="0" rtlCol="0" anchor="t"/>
          <a:lstStyle/>
          <a:p>
            <a:pPr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Threshold Application</a:t>
            </a:r>
            <a:endParaRPr lang="en-US" sz="2000" dirty="0"/>
          </a:p>
        </p:txBody>
      </p:sp>
      <p:sp>
        <p:nvSpPr>
          <p:cNvPr id="9" name="Text 6"/>
          <p:cNvSpPr/>
          <p:nvPr/>
        </p:nvSpPr>
        <p:spPr>
          <a:xfrm>
            <a:off x="10032921" y="3121581"/>
            <a:ext cx="2991326" cy="1960959"/>
          </a:xfrm>
          <a:prstGeom prst="rect">
            <a:avLst/>
          </a:prstGeom>
          <a:noFill/>
          <a:ln/>
        </p:spPr>
        <p:txBody>
          <a:bodyPr wrap="square" lIns="0" tIns="0" rIns="0" bIns="0" rtlCol="0" anchor="t"/>
          <a:lstStyle/>
          <a:p>
            <a:pPr indent="0" marL="0">
              <a:lnSpc>
                <a:spcPts val="2550"/>
              </a:lnSpc>
              <a:buNone/>
            </a:pPr>
            <a:r>
              <a:rPr lang="en-US" sz="1600" dirty="0">
                <a:solidFill>
                  <a:srgbClr val="000000"/>
                </a:solidFill>
                <a:latin typeface="Inter" pitchFamily="34" charset="0"/>
                <a:ea typeface="Inter" pitchFamily="34" charset="-122"/>
                <a:cs typeface="Inter" pitchFamily="34" charset="-120"/>
              </a:rPr>
              <a:t>A threshold value (typically 0.5) determines class assignment: values above the threshold are classified as Class 1, while values below are classified as Class 0.</a:t>
            </a:r>
            <a:endParaRPr lang="en-US" sz="1600" dirty="0"/>
          </a:p>
        </p:txBody>
      </p:sp>
      <p:sp>
        <p:nvSpPr>
          <p:cNvPr id="10" name="Shape 7"/>
          <p:cNvSpPr/>
          <p:nvPr/>
        </p:nvSpPr>
        <p:spPr>
          <a:xfrm>
            <a:off x="6201489" y="5498783"/>
            <a:ext cx="7034570" cy="1846064"/>
          </a:xfrm>
          <a:prstGeom prst="roundRect">
            <a:avLst>
              <a:gd name="adj" fmla="val 4648"/>
            </a:avLst>
          </a:prstGeom>
          <a:solidFill>
            <a:srgbClr val="F7D5D4"/>
          </a:solidFill>
          <a:ln w="7620">
            <a:solidFill>
              <a:srgbClr val="DDBBBA"/>
            </a:solidFill>
            <a:prstDash val="solid"/>
          </a:ln>
        </p:spPr>
      </p:sp>
      <p:sp>
        <p:nvSpPr>
          <p:cNvPr id="11" name="Text 8"/>
          <p:cNvSpPr/>
          <p:nvPr/>
        </p:nvSpPr>
        <p:spPr>
          <a:xfrm>
            <a:off x="6413421" y="5710714"/>
            <a:ext cx="3853339" cy="319207"/>
          </a:xfrm>
          <a:prstGeom prst="rect">
            <a:avLst/>
          </a:prstGeom>
          <a:noFill/>
          <a:ln/>
        </p:spPr>
        <p:txBody>
          <a:bodyPr wrap="none" lIns="0" tIns="0" rIns="0" bIns="0" rtlCol="0" anchor="t"/>
          <a:lstStyle/>
          <a:p>
            <a:pPr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Extension of Linear Regression</a:t>
            </a:r>
            <a:endParaRPr lang="en-US" sz="2000" dirty="0"/>
          </a:p>
        </p:txBody>
      </p:sp>
      <p:sp>
        <p:nvSpPr>
          <p:cNvPr id="12" name="Text 9"/>
          <p:cNvSpPr/>
          <p:nvPr/>
        </p:nvSpPr>
        <p:spPr>
          <a:xfrm>
            <a:off x="6413421" y="6152436"/>
            <a:ext cx="6610707" cy="980480"/>
          </a:xfrm>
          <a:prstGeom prst="rect">
            <a:avLst/>
          </a:prstGeom>
          <a:noFill/>
          <a:ln/>
        </p:spPr>
        <p:txBody>
          <a:bodyPr wrap="square" lIns="0" tIns="0" rIns="0" bIns="0" rtlCol="0" anchor="t"/>
          <a:lstStyle/>
          <a:p>
            <a:pPr indent="0" marL="0">
              <a:lnSpc>
                <a:spcPts val="2550"/>
              </a:lnSpc>
              <a:buNone/>
            </a:pPr>
            <a:r>
              <a:rPr lang="en-US" sz="1600" dirty="0">
                <a:solidFill>
                  <a:srgbClr val="000000"/>
                </a:solidFill>
                <a:latin typeface="Inter" pitchFamily="34" charset="0"/>
                <a:ea typeface="Inter" pitchFamily="34" charset="-122"/>
                <a:cs typeface="Inter" pitchFamily="34" charset="-120"/>
              </a:rPr>
              <a:t>Logistic regression is an extension of linear regression but specially adapted for classification problems rather than continuous value prediction.</a:t>
            </a:r>
            <a:endParaRPr lang="en-US" sz="1600" dirty="0"/>
          </a:p>
        </p:txBody>
      </p:sp>
      <p:pic>
        <p:nvPicPr>
          <p:cNvPr id="13" name="Image 1" descr="preencoded.png">    </p:cNvPr>
          <p:cNvPicPr>
            <a:picLocks noChangeAspect="1"/>
          </p:cNvPicPr>
          <p:nvPr/>
        </p:nvPicPr>
        <p:blipFill>
          <a:blip r:embed="rId2"/>
          <a:stretch>
            <a:fillRect/>
          </a:stretch>
        </p:blipFill>
        <p:spPr>
          <a:xfrm>
            <a:off x="13464778" y="228600"/>
            <a:ext cx="937022" cy="50280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960715"/>
            <a:ext cx="7556421" cy="1417558"/>
          </a:xfrm>
          <a:prstGeom prst="rect">
            <a:avLst/>
          </a:prstGeom>
          <a:noFill/>
          <a:ln/>
        </p:spPr>
        <p:txBody>
          <a:bodyPr wrap="square" lIns="0" tIns="0" rIns="0" bIns="0" rtlCol="0" anchor="t"/>
          <a:lstStyle/>
          <a:p>
            <a:pPr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Types of Logistic Regression</a:t>
            </a:r>
            <a:endParaRPr lang="en-US" sz="4450" dirty="0"/>
          </a:p>
        </p:txBody>
      </p:sp>
      <p:pic>
        <p:nvPicPr>
          <p:cNvPr id="4" name="Image 1" descr="preencoded.png">    </p:cNvPr>
          <p:cNvPicPr>
            <a:picLocks noChangeAspect="1"/>
          </p:cNvPicPr>
          <p:nvPr/>
        </p:nvPicPr>
        <p:blipFill>
          <a:blip r:embed="rId2"/>
          <a:stretch>
            <a:fillRect/>
          </a:stretch>
        </p:blipFill>
        <p:spPr>
          <a:xfrm>
            <a:off x="793790" y="2718435"/>
            <a:ext cx="566976" cy="566976"/>
          </a:xfrm>
          <a:prstGeom prst="rect">
            <a:avLst/>
          </a:prstGeom>
        </p:spPr>
      </p:pic>
      <p:sp>
        <p:nvSpPr>
          <p:cNvPr id="5" name="Text 1"/>
          <p:cNvSpPr/>
          <p:nvPr/>
        </p:nvSpPr>
        <p:spPr>
          <a:xfrm>
            <a:off x="793790" y="3512225"/>
            <a:ext cx="2291953"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Binomial</a:t>
            </a:r>
            <a:endParaRPr lang="en-US" sz="2200" dirty="0"/>
          </a:p>
        </p:txBody>
      </p:sp>
      <p:sp>
        <p:nvSpPr>
          <p:cNvPr id="6" name="Text 2"/>
          <p:cNvSpPr/>
          <p:nvPr/>
        </p:nvSpPr>
        <p:spPr>
          <a:xfrm>
            <a:off x="793790" y="4002643"/>
            <a:ext cx="2291953" cy="290322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Has only two possible outcomes for the dependent variable, such as 0 or 1, Pass or Fail. Uses sigmoid function to produce probability values.</a:t>
            </a:r>
            <a:endParaRPr lang="en-US" sz="1750" dirty="0"/>
          </a:p>
        </p:txBody>
      </p:sp>
      <p:pic>
        <p:nvPicPr>
          <p:cNvPr id="7" name="Image 2" descr="preencoded.png">    </p:cNvPr>
          <p:cNvPicPr>
            <a:picLocks noChangeAspect="1"/>
          </p:cNvPicPr>
          <p:nvPr/>
        </p:nvPicPr>
        <p:blipFill>
          <a:blip r:embed="rId3"/>
          <a:stretch>
            <a:fillRect/>
          </a:stretch>
        </p:blipFill>
        <p:spPr>
          <a:xfrm>
            <a:off x="3425904" y="2718435"/>
            <a:ext cx="566976" cy="566976"/>
          </a:xfrm>
          <a:prstGeom prst="rect">
            <a:avLst/>
          </a:prstGeom>
        </p:spPr>
      </p:pic>
      <p:sp>
        <p:nvSpPr>
          <p:cNvPr id="8" name="Text 3"/>
          <p:cNvSpPr/>
          <p:nvPr/>
        </p:nvSpPr>
        <p:spPr>
          <a:xfrm>
            <a:off x="3425904" y="3512225"/>
            <a:ext cx="2292072"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Multinomial</a:t>
            </a:r>
            <a:endParaRPr lang="en-US" sz="2200" dirty="0"/>
          </a:p>
        </p:txBody>
      </p:sp>
      <p:sp>
        <p:nvSpPr>
          <p:cNvPr id="9" name="Text 4"/>
          <p:cNvSpPr/>
          <p:nvPr/>
        </p:nvSpPr>
        <p:spPr>
          <a:xfrm>
            <a:off x="3425904" y="4002643"/>
            <a:ext cx="2292072" cy="3266123"/>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Can have 3 or more possible unordered types of the dependent variable, such as "cat", "dogs", or "sheep". Uses softmax function instead of sigmoid.</a:t>
            </a:r>
            <a:endParaRPr lang="en-US" sz="1750" dirty="0"/>
          </a:p>
        </p:txBody>
      </p:sp>
      <p:pic>
        <p:nvPicPr>
          <p:cNvPr id="10" name="Image 3" descr="preencoded.png">    </p:cNvPr>
          <p:cNvPicPr>
            <a:picLocks noChangeAspect="1"/>
          </p:cNvPicPr>
          <p:nvPr/>
        </p:nvPicPr>
        <p:blipFill>
          <a:blip r:embed="rId4"/>
          <a:stretch>
            <a:fillRect/>
          </a:stretch>
        </p:blipFill>
        <p:spPr>
          <a:xfrm>
            <a:off x="6058138" y="2718435"/>
            <a:ext cx="566976" cy="566976"/>
          </a:xfrm>
          <a:prstGeom prst="rect">
            <a:avLst/>
          </a:prstGeom>
        </p:spPr>
      </p:pic>
      <p:sp>
        <p:nvSpPr>
          <p:cNvPr id="11" name="Text 5"/>
          <p:cNvSpPr/>
          <p:nvPr/>
        </p:nvSpPr>
        <p:spPr>
          <a:xfrm>
            <a:off x="6058138" y="3512225"/>
            <a:ext cx="2291953"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Ordinal</a:t>
            </a:r>
            <a:endParaRPr lang="en-US" sz="2200" dirty="0"/>
          </a:p>
        </p:txBody>
      </p:sp>
      <p:sp>
        <p:nvSpPr>
          <p:cNvPr id="12" name="Text 6"/>
          <p:cNvSpPr/>
          <p:nvPr/>
        </p:nvSpPr>
        <p:spPr>
          <a:xfrm>
            <a:off x="6058138" y="4002643"/>
            <a:ext cx="2291953" cy="290322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Handles 3 or more possible ordered types of dependent variables, such as "low", "Medium", or "High", preserving the natural ordering of categories.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846415"/>
            <a:ext cx="7950160" cy="708779"/>
          </a:xfrm>
          <a:prstGeom prst="rect">
            <a:avLst/>
          </a:prstGeom>
          <a:noFill/>
          <a:ln/>
        </p:spPr>
        <p:txBody>
          <a:bodyPr wrap="none" lIns="0" tIns="0" rIns="0" bIns="0" rtlCol="0" anchor="t"/>
          <a:lstStyle/>
          <a:p>
            <a:pPr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Binomial Logistic Regression</a:t>
            </a:r>
            <a:endParaRPr lang="en-US" sz="4450" dirty="0"/>
          </a:p>
        </p:txBody>
      </p:sp>
      <p:pic>
        <p:nvPicPr>
          <p:cNvPr id="3" name="Image 0" descr="preencoded.png">    </p:cNvPr>
          <p:cNvPicPr>
            <a:picLocks noChangeAspect="1"/>
          </p:cNvPicPr>
          <p:nvPr/>
        </p:nvPicPr>
        <p:blipFill>
          <a:blip r:embed="rId1"/>
          <a:stretch>
            <a:fillRect/>
          </a:stretch>
        </p:blipFill>
        <p:spPr>
          <a:xfrm>
            <a:off x="793790" y="2008823"/>
            <a:ext cx="3920609" cy="2423041"/>
          </a:xfrm>
          <a:prstGeom prst="rect">
            <a:avLst/>
          </a:prstGeom>
        </p:spPr>
      </p:pic>
      <p:sp>
        <p:nvSpPr>
          <p:cNvPr id="4" name="Text 1"/>
          <p:cNvSpPr/>
          <p:nvPr/>
        </p:nvSpPr>
        <p:spPr>
          <a:xfrm>
            <a:off x="793790" y="4715351"/>
            <a:ext cx="2864644"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Binary Classification</a:t>
            </a:r>
            <a:endParaRPr lang="en-US" sz="2200" dirty="0"/>
          </a:p>
        </p:txBody>
      </p:sp>
      <p:sp>
        <p:nvSpPr>
          <p:cNvPr id="5" name="Text 2"/>
          <p:cNvSpPr/>
          <p:nvPr/>
        </p:nvSpPr>
        <p:spPr>
          <a:xfrm>
            <a:off x="793790" y="5205770"/>
            <a:ext cx="3920609" cy="217741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Binomial logistic regression is used when the dependent variable has exactly two possible outcomes. These outcomes are mutually exclusive, such as Yes/No, Pass/Fail, or Alive/Dead.</a:t>
            </a:r>
            <a:endParaRPr lang="en-US" sz="1750" dirty="0"/>
          </a:p>
        </p:txBody>
      </p:sp>
      <p:pic>
        <p:nvPicPr>
          <p:cNvPr id="6" name="Image 1" descr="preencoded.png">    </p:cNvPr>
          <p:cNvPicPr>
            <a:picLocks noChangeAspect="1"/>
          </p:cNvPicPr>
          <p:nvPr/>
        </p:nvPicPr>
        <p:blipFill>
          <a:blip r:embed="rId2"/>
          <a:stretch>
            <a:fillRect/>
          </a:stretch>
        </p:blipFill>
        <p:spPr>
          <a:xfrm>
            <a:off x="5054560" y="2008823"/>
            <a:ext cx="3920609" cy="2423041"/>
          </a:xfrm>
          <a:prstGeom prst="rect">
            <a:avLst/>
          </a:prstGeom>
        </p:spPr>
      </p:pic>
      <p:sp>
        <p:nvSpPr>
          <p:cNvPr id="7" name="Text 3"/>
          <p:cNvSpPr/>
          <p:nvPr/>
        </p:nvSpPr>
        <p:spPr>
          <a:xfrm>
            <a:off x="5054560" y="4715351"/>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Sigmoid Function</a:t>
            </a:r>
            <a:endParaRPr lang="en-US" sz="2200" dirty="0"/>
          </a:p>
        </p:txBody>
      </p:sp>
      <p:sp>
        <p:nvSpPr>
          <p:cNvPr id="8" name="Text 4"/>
          <p:cNvSpPr/>
          <p:nvPr/>
        </p:nvSpPr>
        <p:spPr>
          <a:xfrm>
            <a:off x="5054560" y="5205770"/>
            <a:ext cx="3920609" cy="1814513"/>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It employs the sigmoid function to transform linear combinations of inputs into probabilities between 0 and 1. The threshold (typically 0.5) determines the final classification.</a:t>
            </a:r>
            <a:endParaRPr lang="en-US" sz="1750" dirty="0"/>
          </a:p>
        </p:txBody>
      </p:sp>
      <p:pic>
        <p:nvPicPr>
          <p:cNvPr id="9" name="Image 2" descr="preencoded.png">    </p:cNvPr>
          <p:cNvPicPr>
            <a:picLocks noChangeAspect="1"/>
          </p:cNvPicPr>
          <p:nvPr/>
        </p:nvPicPr>
        <p:blipFill>
          <a:blip r:embed="rId3"/>
          <a:stretch>
            <a:fillRect/>
          </a:stretch>
        </p:blipFill>
        <p:spPr>
          <a:xfrm>
            <a:off x="9315331" y="2008823"/>
            <a:ext cx="3920728" cy="2423160"/>
          </a:xfrm>
          <a:prstGeom prst="rect">
            <a:avLst/>
          </a:prstGeom>
        </p:spPr>
      </p:pic>
      <p:sp>
        <p:nvSpPr>
          <p:cNvPr id="10" name="Text 5"/>
          <p:cNvSpPr/>
          <p:nvPr/>
        </p:nvSpPr>
        <p:spPr>
          <a:xfrm>
            <a:off x="9315331" y="4715470"/>
            <a:ext cx="30638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Common Applications</a:t>
            </a:r>
            <a:endParaRPr lang="en-US" sz="2200" dirty="0"/>
          </a:p>
        </p:txBody>
      </p:sp>
      <p:sp>
        <p:nvSpPr>
          <p:cNvPr id="11" name="Text 6"/>
          <p:cNvSpPr/>
          <p:nvPr/>
        </p:nvSpPr>
        <p:spPr>
          <a:xfrm>
            <a:off x="9315331" y="5205889"/>
            <a:ext cx="3920728"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Frequently used in medical diagnosis, spam detection, credit approval, and other scenarios where the outcome is binary in nature.</a:t>
            </a:r>
            <a:endParaRPr lang="en-US" sz="1750" dirty="0"/>
          </a:p>
        </p:txBody>
      </p:sp>
      <p:pic>
        <p:nvPicPr>
          <p:cNvPr id="12" name="Image 3" descr="preencoded.png">    </p:cNvPr>
          <p:cNvPicPr>
            <a:picLocks noChangeAspect="1"/>
          </p:cNvPicPr>
          <p:nvPr/>
        </p:nvPicPr>
        <p:blipFill>
          <a:blip r:embed="rId4"/>
          <a:stretch>
            <a:fillRect/>
          </a:stretch>
        </p:blipFill>
        <p:spPr>
          <a:xfrm>
            <a:off x="13464778" y="228600"/>
            <a:ext cx="937022" cy="5028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075878" y="672584"/>
            <a:ext cx="6553557" cy="526375"/>
          </a:xfrm>
          <a:prstGeom prst="rect">
            <a:avLst/>
          </a:prstGeom>
          <a:noFill/>
          <a:ln/>
        </p:spPr>
        <p:txBody>
          <a:bodyPr wrap="none" lIns="0" tIns="0" rIns="0" bIns="0" rtlCol="0" anchor="t"/>
          <a:lstStyle/>
          <a:p>
            <a:pPr indent="0" marL="0">
              <a:lnSpc>
                <a:spcPts val="4100"/>
              </a:lnSpc>
              <a:buNone/>
            </a:pPr>
            <a:r>
              <a:rPr lang="en-US" sz="3300" b="1" dirty="0">
                <a:solidFill>
                  <a:srgbClr val="000000"/>
                </a:solidFill>
                <a:latin typeface="Inter Bold" pitchFamily="34" charset="0"/>
                <a:ea typeface="Inter Bold" pitchFamily="34" charset="-122"/>
                <a:cs typeface="Inter Bold" pitchFamily="34" charset="-120"/>
              </a:rPr>
              <a:t>Multinomial Logistic Regression</a:t>
            </a:r>
            <a:endParaRPr lang="en-US" sz="3300" dirty="0"/>
          </a:p>
        </p:txBody>
      </p:sp>
      <p:sp>
        <p:nvSpPr>
          <p:cNvPr id="4" name="Shape 1"/>
          <p:cNvSpPr/>
          <p:nvPr/>
        </p:nvSpPr>
        <p:spPr>
          <a:xfrm>
            <a:off x="6317099" y="1451610"/>
            <a:ext cx="22860" cy="6105287"/>
          </a:xfrm>
          <a:prstGeom prst="roundRect">
            <a:avLst>
              <a:gd name="adj" fmla="val 309498"/>
            </a:avLst>
          </a:prstGeom>
          <a:solidFill>
            <a:srgbClr val="DDBBBA"/>
          </a:solidFill>
          <a:ln/>
        </p:spPr>
      </p:sp>
      <p:sp>
        <p:nvSpPr>
          <p:cNvPr id="5" name="Shape 2"/>
          <p:cNvSpPr/>
          <p:nvPr/>
        </p:nvSpPr>
        <p:spPr>
          <a:xfrm>
            <a:off x="6495157" y="1819037"/>
            <a:ext cx="589478" cy="22860"/>
          </a:xfrm>
          <a:prstGeom prst="roundRect">
            <a:avLst>
              <a:gd name="adj" fmla="val 309498"/>
            </a:avLst>
          </a:prstGeom>
          <a:solidFill>
            <a:srgbClr val="DDBBBA"/>
          </a:solidFill>
          <a:ln/>
        </p:spPr>
      </p:sp>
      <p:sp>
        <p:nvSpPr>
          <p:cNvPr id="6" name="Shape 3"/>
          <p:cNvSpPr/>
          <p:nvPr/>
        </p:nvSpPr>
        <p:spPr>
          <a:xfrm>
            <a:off x="6139041" y="1641038"/>
            <a:ext cx="378976" cy="378976"/>
          </a:xfrm>
          <a:prstGeom prst="roundRect">
            <a:avLst>
              <a:gd name="adj" fmla="val 18669"/>
            </a:avLst>
          </a:prstGeom>
          <a:solidFill>
            <a:srgbClr val="F7D5D4"/>
          </a:solidFill>
          <a:ln w="7620">
            <a:solidFill>
              <a:srgbClr val="DDBBBA"/>
            </a:solidFill>
            <a:prstDash val="solid"/>
          </a:ln>
        </p:spPr>
      </p:sp>
      <p:sp>
        <p:nvSpPr>
          <p:cNvPr id="7" name="Text 4"/>
          <p:cNvSpPr/>
          <p:nvPr/>
        </p:nvSpPr>
        <p:spPr>
          <a:xfrm>
            <a:off x="6274058" y="1704142"/>
            <a:ext cx="108942" cy="252651"/>
          </a:xfrm>
          <a:prstGeom prst="rect">
            <a:avLst/>
          </a:prstGeom>
          <a:noFill/>
          <a:ln/>
        </p:spPr>
        <p:txBody>
          <a:bodyPr wrap="none" lIns="0" tIns="0" rIns="0" bIns="0" rtlCol="0" anchor="t"/>
          <a:lstStyle/>
          <a:p>
            <a:pPr algn="ctr" indent="0" marL="0">
              <a:lnSpc>
                <a:spcPts val="1950"/>
              </a:lnSpc>
              <a:buNone/>
            </a:pPr>
            <a:r>
              <a:rPr lang="en-US" sz="1950" b="1" dirty="0">
                <a:solidFill>
                  <a:srgbClr val="000000"/>
                </a:solidFill>
                <a:latin typeface="Inter Bold" pitchFamily="34" charset="0"/>
                <a:ea typeface="Inter Bold" pitchFamily="34" charset="-122"/>
                <a:cs typeface="Inter Bold" pitchFamily="34" charset="-120"/>
              </a:rPr>
              <a:t>1</a:t>
            </a:r>
            <a:endParaRPr lang="en-US" sz="1950" dirty="0"/>
          </a:p>
        </p:txBody>
      </p:sp>
      <p:sp>
        <p:nvSpPr>
          <p:cNvPr id="8" name="Text 5"/>
          <p:cNvSpPr/>
          <p:nvPr/>
        </p:nvSpPr>
        <p:spPr>
          <a:xfrm>
            <a:off x="7254954" y="1619964"/>
            <a:ext cx="2105620" cy="263247"/>
          </a:xfrm>
          <a:prstGeom prst="rect">
            <a:avLst/>
          </a:prstGeom>
          <a:noFill/>
          <a:ln/>
        </p:spPr>
        <p:txBody>
          <a:bodyPr wrap="none" lIns="0" tIns="0" rIns="0" bIns="0" rtlCol="0" anchor="t"/>
          <a:lstStyle/>
          <a:p>
            <a:pPr algn="l" indent="0" marL="0">
              <a:lnSpc>
                <a:spcPts val="2050"/>
              </a:lnSpc>
              <a:buNone/>
            </a:pPr>
            <a:r>
              <a:rPr lang="en-US" sz="1650" b="1" dirty="0">
                <a:solidFill>
                  <a:srgbClr val="000000"/>
                </a:solidFill>
                <a:latin typeface="Inter Bold" pitchFamily="34" charset="0"/>
                <a:ea typeface="Inter Bold" pitchFamily="34" charset="-122"/>
                <a:cs typeface="Inter Bold" pitchFamily="34" charset="-120"/>
              </a:rPr>
              <a:t>Multiple Classes</a:t>
            </a:r>
            <a:endParaRPr lang="en-US" sz="1650" dirty="0"/>
          </a:p>
        </p:txBody>
      </p:sp>
      <p:sp>
        <p:nvSpPr>
          <p:cNvPr id="9" name="Text 6"/>
          <p:cNvSpPr/>
          <p:nvPr/>
        </p:nvSpPr>
        <p:spPr>
          <a:xfrm>
            <a:off x="7254954" y="1984177"/>
            <a:ext cx="5981105" cy="808673"/>
          </a:xfrm>
          <a:prstGeom prst="rect">
            <a:avLst/>
          </a:prstGeom>
          <a:noFill/>
          <a:ln/>
        </p:spPr>
        <p:txBody>
          <a:bodyPr wrap="square" lIns="0" tIns="0" rIns="0" bIns="0" rtlCol="0" anchor="t"/>
          <a:lstStyle/>
          <a:p>
            <a:pPr algn="l" indent="0" marL="0">
              <a:lnSpc>
                <a:spcPts val="2100"/>
              </a:lnSpc>
              <a:buNone/>
            </a:pPr>
            <a:r>
              <a:rPr lang="en-US" sz="1300" dirty="0">
                <a:solidFill>
                  <a:srgbClr val="000000"/>
                </a:solidFill>
                <a:latin typeface="Inter" pitchFamily="34" charset="0"/>
                <a:ea typeface="Inter" pitchFamily="34" charset="-122"/>
                <a:cs typeface="Inter" pitchFamily="34" charset="-120"/>
              </a:rPr>
              <a:t>Multinomial logistic regression extends binary classification to handle three or more unordered categorical outcomes, such as predicting fruit types (apple, orange, banana) or disease classifications.</a:t>
            </a:r>
            <a:endParaRPr lang="en-US" sz="1300" dirty="0"/>
          </a:p>
        </p:txBody>
      </p:sp>
      <p:sp>
        <p:nvSpPr>
          <p:cNvPr id="10" name="Shape 7"/>
          <p:cNvSpPr/>
          <p:nvPr/>
        </p:nvSpPr>
        <p:spPr>
          <a:xfrm>
            <a:off x="6495157" y="3496985"/>
            <a:ext cx="589478" cy="22860"/>
          </a:xfrm>
          <a:prstGeom prst="roundRect">
            <a:avLst>
              <a:gd name="adj" fmla="val 309498"/>
            </a:avLst>
          </a:prstGeom>
          <a:solidFill>
            <a:srgbClr val="DDBBBA"/>
          </a:solidFill>
          <a:ln/>
        </p:spPr>
      </p:sp>
      <p:sp>
        <p:nvSpPr>
          <p:cNvPr id="11" name="Shape 8"/>
          <p:cNvSpPr/>
          <p:nvPr/>
        </p:nvSpPr>
        <p:spPr>
          <a:xfrm>
            <a:off x="6139041" y="3318986"/>
            <a:ext cx="378976" cy="378976"/>
          </a:xfrm>
          <a:prstGeom prst="roundRect">
            <a:avLst>
              <a:gd name="adj" fmla="val 18669"/>
            </a:avLst>
          </a:prstGeom>
          <a:solidFill>
            <a:srgbClr val="F7D5D4"/>
          </a:solidFill>
          <a:ln w="7620">
            <a:solidFill>
              <a:srgbClr val="DDBBBA"/>
            </a:solidFill>
            <a:prstDash val="solid"/>
          </a:ln>
        </p:spPr>
      </p:sp>
      <p:sp>
        <p:nvSpPr>
          <p:cNvPr id="12" name="Text 9"/>
          <p:cNvSpPr/>
          <p:nvPr/>
        </p:nvSpPr>
        <p:spPr>
          <a:xfrm>
            <a:off x="6248936" y="3382089"/>
            <a:ext cx="159068" cy="252651"/>
          </a:xfrm>
          <a:prstGeom prst="rect">
            <a:avLst/>
          </a:prstGeom>
          <a:noFill/>
          <a:ln/>
        </p:spPr>
        <p:txBody>
          <a:bodyPr wrap="none" lIns="0" tIns="0" rIns="0" bIns="0" rtlCol="0" anchor="t"/>
          <a:lstStyle/>
          <a:p>
            <a:pPr algn="ctr" indent="0" marL="0">
              <a:lnSpc>
                <a:spcPts val="1950"/>
              </a:lnSpc>
              <a:buNone/>
            </a:pPr>
            <a:r>
              <a:rPr lang="en-US" sz="1950" b="1" dirty="0">
                <a:solidFill>
                  <a:srgbClr val="000000"/>
                </a:solidFill>
                <a:latin typeface="Inter Bold" pitchFamily="34" charset="0"/>
                <a:ea typeface="Inter Bold" pitchFamily="34" charset="-122"/>
                <a:cs typeface="Inter Bold" pitchFamily="34" charset="-120"/>
              </a:rPr>
              <a:t>2</a:t>
            </a:r>
            <a:endParaRPr lang="en-US" sz="1950" dirty="0"/>
          </a:p>
        </p:txBody>
      </p:sp>
      <p:sp>
        <p:nvSpPr>
          <p:cNvPr id="13" name="Text 10"/>
          <p:cNvSpPr/>
          <p:nvPr/>
        </p:nvSpPr>
        <p:spPr>
          <a:xfrm>
            <a:off x="7254954" y="3297912"/>
            <a:ext cx="2105620" cy="263247"/>
          </a:xfrm>
          <a:prstGeom prst="rect">
            <a:avLst/>
          </a:prstGeom>
          <a:noFill/>
          <a:ln/>
        </p:spPr>
        <p:txBody>
          <a:bodyPr wrap="none" lIns="0" tIns="0" rIns="0" bIns="0" rtlCol="0" anchor="t"/>
          <a:lstStyle/>
          <a:p>
            <a:pPr algn="l" indent="0" marL="0">
              <a:lnSpc>
                <a:spcPts val="2050"/>
              </a:lnSpc>
              <a:buNone/>
            </a:pPr>
            <a:r>
              <a:rPr lang="en-US" sz="1650" b="1" dirty="0">
                <a:solidFill>
                  <a:srgbClr val="000000"/>
                </a:solidFill>
                <a:latin typeface="Inter Bold" pitchFamily="34" charset="0"/>
                <a:ea typeface="Inter Bold" pitchFamily="34" charset="-122"/>
                <a:cs typeface="Inter Bold" pitchFamily="34" charset="-120"/>
              </a:rPr>
              <a:t>Softmax Function</a:t>
            </a:r>
            <a:endParaRPr lang="en-US" sz="1650" dirty="0"/>
          </a:p>
        </p:txBody>
      </p:sp>
      <p:sp>
        <p:nvSpPr>
          <p:cNvPr id="14" name="Text 11"/>
          <p:cNvSpPr/>
          <p:nvPr/>
        </p:nvSpPr>
        <p:spPr>
          <a:xfrm>
            <a:off x="7254954" y="3662124"/>
            <a:ext cx="5981105" cy="808673"/>
          </a:xfrm>
          <a:prstGeom prst="rect">
            <a:avLst/>
          </a:prstGeom>
          <a:noFill/>
          <a:ln/>
        </p:spPr>
        <p:txBody>
          <a:bodyPr wrap="square" lIns="0" tIns="0" rIns="0" bIns="0" rtlCol="0" anchor="t"/>
          <a:lstStyle/>
          <a:p>
            <a:pPr algn="l" indent="0" marL="0">
              <a:lnSpc>
                <a:spcPts val="2100"/>
              </a:lnSpc>
              <a:buNone/>
            </a:pPr>
            <a:r>
              <a:rPr lang="en-US" sz="1300" dirty="0">
                <a:solidFill>
                  <a:srgbClr val="000000"/>
                </a:solidFill>
                <a:latin typeface="Inter" pitchFamily="34" charset="0"/>
                <a:ea typeface="Inter" pitchFamily="34" charset="-122"/>
                <a:cs typeface="Inter" pitchFamily="34" charset="-120"/>
              </a:rPr>
              <a:t>Instead of the sigmoid function, it uses the softmax function to convert input values into class probabilities that sum to 1 across all possible classes.</a:t>
            </a:r>
            <a:endParaRPr lang="en-US" sz="1300" dirty="0"/>
          </a:p>
        </p:txBody>
      </p:sp>
      <p:sp>
        <p:nvSpPr>
          <p:cNvPr id="15" name="Shape 12"/>
          <p:cNvSpPr/>
          <p:nvPr/>
        </p:nvSpPr>
        <p:spPr>
          <a:xfrm>
            <a:off x="6495157" y="5174932"/>
            <a:ext cx="589478" cy="22860"/>
          </a:xfrm>
          <a:prstGeom prst="roundRect">
            <a:avLst>
              <a:gd name="adj" fmla="val 309498"/>
            </a:avLst>
          </a:prstGeom>
          <a:solidFill>
            <a:srgbClr val="DDBBBA"/>
          </a:solidFill>
          <a:ln/>
        </p:spPr>
      </p:sp>
      <p:sp>
        <p:nvSpPr>
          <p:cNvPr id="16" name="Shape 13"/>
          <p:cNvSpPr/>
          <p:nvPr/>
        </p:nvSpPr>
        <p:spPr>
          <a:xfrm>
            <a:off x="6139041" y="4996934"/>
            <a:ext cx="378976" cy="378976"/>
          </a:xfrm>
          <a:prstGeom prst="roundRect">
            <a:avLst>
              <a:gd name="adj" fmla="val 18669"/>
            </a:avLst>
          </a:prstGeom>
          <a:solidFill>
            <a:srgbClr val="F7D5D4"/>
          </a:solidFill>
          <a:ln w="7620">
            <a:solidFill>
              <a:srgbClr val="DDBBBA"/>
            </a:solidFill>
            <a:prstDash val="solid"/>
          </a:ln>
        </p:spPr>
      </p:sp>
      <p:sp>
        <p:nvSpPr>
          <p:cNvPr id="17" name="Text 14"/>
          <p:cNvSpPr/>
          <p:nvPr/>
        </p:nvSpPr>
        <p:spPr>
          <a:xfrm>
            <a:off x="6246912" y="5060037"/>
            <a:ext cx="163116" cy="252651"/>
          </a:xfrm>
          <a:prstGeom prst="rect">
            <a:avLst/>
          </a:prstGeom>
          <a:noFill/>
          <a:ln/>
        </p:spPr>
        <p:txBody>
          <a:bodyPr wrap="none" lIns="0" tIns="0" rIns="0" bIns="0" rtlCol="0" anchor="t"/>
          <a:lstStyle/>
          <a:p>
            <a:pPr algn="ctr" indent="0" marL="0">
              <a:lnSpc>
                <a:spcPts val="1950"/>
              </a:lnSpc>
              <a:buNone/>
            </a:pPr>
            <a:r>
              <a:rPr lang="en-US" sz="1950" b="1" dirty="0">
                <a:solidFill>
                  <a:srgbClr val="000000"/>
                </a:solidFill>
                <a:latin typeface="Inter Bold" pitchFamily="34" charset="0"/>
                <a:ea typeface="Inter Bold" pitchFamily="34" charset="-122"/>
                <a:cs typeface="Inter Bold" pitchFamily="34" charset="-120"/>
              </a:rPr>
              <a:t>3</a:t>
            </a:r>
            <a:endParaRPr lang="en-US" sz="1950" dirty="0"/>
          </a:p>
        </p:txBody>
      </p:sp>
      <p:sp>
        <p:nvSpPr>
          <p:cNvPr id="18" name="Text 15"/>
          <p:cNvSpPr/>
          <p:nvPr/>
        </p:nvSpPr>
        <p:spPr>
          <a:xfrm>
            <a:off x="7254954" y="4975860"/>
            <a:ext cx="3024545" cy="263247"/>
          </a:xfrm>
          <a:prstGeom prst="rect">
            <a:avLst/>
          </a:prstGeom>
          <a:noFill/>
          <a:ln/>
        </p:spPr>
        <p:txBody>
          <a:bodyPr wrap="none" lIns="0" tIns="0" rIns="0" bIns="0" rtlCol="0" anchor="t"/>
          <a:lstStyle/>
          <a:p>
            <a:pPr algn="l" indent="0" marL="0">
              <a:lnSpc>
                <a:spcPts val="2050"/>
              </a:lnSpc>
              <a:buNone/>
            </a:pPr>
            <a:r>
              <a:rPr lang="en-US" sz="1650" b="1" dirty="0">
                <a:solidFill>
                  <a:srgbClr val="000000"/>
                </a:solidFill>
                <a:latin typeface="Inter Bold" pitchFamily="34" charset="0"/>
                <a:ea typeface="Inter Bold" pitchFamily="34" charset="-122"/>
                <a:cs typeface="Inter Bold" pitchFamily="34" charset="-120"/>
              </a:rPr>
              <a:t>Mathematical Representation</a:t>
            </a:r>
            <a:endParaRPr lang="en-US" sz="1650" dirty="0"/>
          </a:p>
        </p:txBody>
      </p:sp>
      <p:sp>
        <p:nvSpPr>
          <p:cNvPr id="19" name="Text 16"/>
          <p:cNvSpPr/>
          <p:nvPr/>
        </p:nvSpPr>
        <p:spPr>
          <a:xfrm>
            <a:off x="7254954" y="5340072"/>
            <a:ext cx="5981105" cy="269558"/>
          </a:xfrm>
          <a:prstGeom prst="rect">
            <a:avLst/>
          </a:prstGeom>
          <a:noFill/>
          <a:ln/>
        </p:spPr>
        <p:txBody>
          <a:bodyPr wrap="none" lIns="0" tIns="0" rIns="0" bIns="0" rtlCol="0" anchor="t"/>
          <a:lstStyle/>
          <a:p>
            <a:pPr algn="l" indent="0" marL="0">
              <a:lnSpc>
                <a:spcPts val="2100"/>
              </a:lnSpc>
              <a:buNone/>
            </a:pPr>
            <a:r>
              <a:rPr lang="en-US" sz="1300" dirty="0">
                <a:solidFill>
                  <a:srgbClr val="000000"/>
                </a:solidFill>
                <a:latin typeface="Inter" pitchFamily="34" charset="0"/>
                <a:ea typeface="Inter" pitchFamily="34" charset="-122"/>
                <a:cs typeface="Inter" pitchFamily="34" charset="-120"/>
              </a:rPr>
              <a:t>For class c, the probability is calculated as:</a:t>
            </a:r>
            <a:endParaRPr lang="en-US" sz="1300" dirty="0"/>
          </a:p>
        </p:txBody>
      </p:sp>
      <p:sp>
        <p:nvSpPr>
          <p:cNvPr id="20" name="Text 17"/>
          <p:cNvSpPr/>
          <p:nvPr/>
        </p:nvSpPr>
        <p:spPr>
          <a:xfrm>
            <a:off x="7254954" y="5710595"/>
            <a:ext cx="5981105" cy="269558"/>
          </a:xfrm>
          <a:prstGeom prst="rect">
            <a:avLst/>
          </a:prstGeom>
          <a:noFill/>
          <a:ln/>
        </p:spPr>
        <p:txBody>
          <a:bodyPr wrap="none" lIns="0" tIns="0" rIns="0" bIns="0" rtlCol="0" anchor="t"/>
          <a:lstStyle/>
          <a:p>
            <a:pPr algn="l" indent="0" marL="0">
              <a:lnSpc>
                <a:spcPts val="2100"/>
              </a:lnSpc>
              <a:buNone/>
            </a:pPr>
            <a:r>
              <a:rPr lang="en-US" sz="1300" dirty="0">
                <a:solidFill>
                  <a:srgbClr val="000000"/>
                </a:solidFill>
                <a:latin typeface="Inter" pitchFamily="34" charset="0"/>
                <a:ea typeface="Inter" pitchFamily="34" charset="-122"/>
                <a:cs typeface="Inter" pitchFamily="34" charset="-120"/>
              </a:rPr>
              <a:t>P(Y=c|X=x) = (e^(w_c·x+b_c))/(∑(k=1 to K)e^(w_k·x+b_k))</a:t>
            </a:r>
            <a:endParaRPr lang="en-US" sz="1300" dirty="0"/>
          </a:p>
        </p:txBody>
      </p:sp>
      <p:sp>
        <p:nvSpPr>
          <p:cNvPr id="21" name="Shape 18"/>
          <p:cNvSpPr/>
          <p:nvPr/>
        </p:nvSpPr>
        <p:spPr>
          <a:xfrm>
            <a:off x="6495157" y="6684288"/>
            <a:ext cx="589478" cy="22860"/>
          </a:xfrm>
          <a:prstGeom prst="roundRect">
            <a:avLst>
              <a:gd name="adj" fmla="val 309498"/>
            </a:avLst>
          </a:prstGeom>
          <a:solidFill>
            <a:srgbClr val="DDBBBA"/>
          </a:solidFill>
          <a:ln/>
        </p:spPr>
      </p:sp>
      <p:sp>
        <p:nvSpPr>
          <p:cNvPr id="22" name="Shape 19"/>
          <p:cNvSpPr/>
          <p:nvPr/>
        </p:nvSpPr>
        <p:spPr>
          <a:xfrm>
            <a:off x="6139041" y="6506289"/>
            <a:ext cx="378976" cy="378976"/>
          </a:xfrm>
          <a:prstGeom prst="roundRect">
            <a:avLst>
              <a:gd name="adj" fmla="val 18669"/>
            </a:avLst>
          </a:prstGeom>
          <a:solidFill>
            <a:srgbClr val="F7D5D4"/>
          </a:solidFill>
          <a:ln w="7620">
            <a:solidFill>
              <a:srgbClr val="DDBBBA"/>
            </a:solidFill>
            <a:prstDash val="solid"/>
          </a:ln>
        </p:spPr>
      </p:sp>
      <p:sp>
        <p:nvSpPr>
          <p:cNvPr id="23" name="Text 20"/>
          <p:cNvSpPr/>
          <p:nvPr/>
        </p:nvSpPr>
        <p:spPr>
          <a:xfrm>
            <a:off x="6242983" y="6569393"/>
            <a:ext cx="170974" cy="252651"/>
          </a:xfrm>
          <a:prstGeom prst="rect">
            <a:avLst/>
          </a:prstGeom>
          <a:noFill/>
          <a:ln/>
        </p:spPr>
        <p:txBody>
          <a:bodyPr wrap="none" lIns="0" tIns="0" rIns="0" bIns="0" rtlCol="0" anchor="t"/>
          <a:lstStyle/>
          <a:p>
            <a:pPr algn="ctr" indent="0" marL="0">
              <a:lnSpc>
                <a:spcPts val="1950"/>
              </a:lnSpc>
              <a:buNone/>
            </a:pPr>
            <a:r>
              <a:rPr lang="en-US" sz="1950" b="1" dirty="0">
                <a:solidFill>
                  <a:srgbClr val="000000"/>
                </a:solidFill>
                <a:latin typeface="Inter Bold" pitchFamily="34" charset="0"/>
                <a:ea typeface="Inter Bold" pitchFamily="34" charset="-122"/>
                <a:cs typeface="Inter Bold" pitchFamily="34" charset="-120"/>
              </a:rPr>
              <a:t>4</a:t>
            </a:r>
            <a:endParaRPr lang="en-US" sz="1950" dirty="0"/>
          </a:p>
        </p:txBody>
      </p:sp>
      <p:sp>
        <p:nvSpPr>
          <p:cNvPr id="24" name="Text 21"/>
          <p:cNvSpPr/>
          <p:nvPr/>
        </p:nvSpPr>
        <p:spPr>
          <a:xfrm>
            <a:off x="7254954" y="6485215"/>
            <a:ext cx="2108002" cy="263247"/>
          </a:xfrm>
          <a:prstGeom prst="rect">
            <a:avLst/>
          </a:prstGeom>
          <a:noFill/>
          <a:ln/>
        </p:spPr>
        <p:txBody>
          <a:bodyPr wrap="none" lIns="0" tIns="0" rIns="0" bIns="0" rtlCol="0" anchor="t"/>
          <a:lstStyle/>
          <a:p>
            <a:pPr algn="l" indent="0" marL="0">
              <a:lnSpc>
                <a:spcPts val="2050"/>
              </a:lnSpc>
              <a:buNone/>
            </a:pPr>
            <a:r>
              <a:rPr lang="en-US" sz="1650" b="1" dirty="0">
                <a:solidFill>
                  <a:srgbClr val="000000"/>
                </a:solidFill>
                <a:latin typeface="Inter Bold" pitchFamily="34" charset="0"/>
                <a:ea typeface="Inter Bold" pitchFamily="34" charset="-122"/>
                <a:cs typeface="Inter Bold" pitchFamily="34" charset="-120"/>
              </a:rPr>
              <a:t>Application Example</a:t>
            </a:r>
            <a:endParaRPr lang="en-US" sz="1650" dirty="0"/>
          </a:p>
        </p:txBody>
      </p:sp>
      <p:sp>
        <p:nvSpPr>
          <p:cNvPr id="25" name="Text 22"/>
          <p:cNvSpPr/>
          <p:nvPr/>
        </p:nvSpPr>
        <p:spPr>
          <a:xfrm>
            <a:off x="7254954" y="6849428"/>
            <a:ext cx="5981105" cy="539115"/>
          </a:xfrm>
          <a:prstGeom prst="rect">
            <a:avLst/>
          </a:prstGeom>
          <a:noFill/>
          <a:ln/>
        </p:spPr>
        <p:txBody>
          <a:bodyPr wrap="square" lIns="0" tIns="0" rIns="0" bIns="0" rtlCol="0" anchor="t"/>
          <a:lstStyle/>
          <a:p>
            <a:pPr algn="l" indent="0" marL="0">
              <a:lnSpc>
                <a:spcPts val="2100"/>
              </a:lnSpc>
              <a:buNone/>
            </a:pPr>
            <a:r>
              <a:rPr lang="en-US" sz="1300" dirty="0">
                <a:solidFill>
                  <a:srgbClr val="000000"/>
                </a:solidFill>
                <a:latin typeface="Inter" pitchFamily="34" charset="0"/>
                <a:ea typeface="Inter" pitchFamily="34" charset="-122"/>
                <a:cs typeface="Inter" pitchFamily="34" charset="-120"/>
              </a:rPr>
              <a:t>Used in handwritten digit recognition where the model must classify digits (0-9) based on pixel data, as demonstrated in the digits dataset example.</a:t>
            </a:r>
            <a:endParaRPr lang="en-US" sz="1300" dirty="0"/>
          </a:p>
        </p:txBody>
      </p:sp>
      <p:pic>
        <p:nvPicPr>
          <p:cNvPr id="26" name="Image 1" descr="preencoded.png">    </p:cNvPr>
          <p:cNvPicPr>
            <a:picLocks noChangeAspect="1"/>
          </p:cNvPicPr>
          <p:nvPr/>
        </p:nvPicPr>
        <p:blipFill>
          <a:blip r:embed="rId2"/>
          <a:stretch>
            <a:fillRect/>
          </a:stretch>
        </p:blipFill>
        <p:spPr>
          <a:xfrm>
            <a:off x="13464778" y="228600"/>
            <a:ext cx="937022" cy="5028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48070" y="587812"/>
            <a:ext cx="7132201" cy="667941"/>
          </a:xfrm>
          <a:prstGeom prst="rect">
            <a:avLst/>
          </a:prstGeom>
          <a:noFill/>
          <a:ln/>
        </p:spPr>
        <p:txBody>
          <a:bodyPr wrap="none" lIns="0" tIns="0" rIns="0" bIns="0" rtlCol="0" anchor="t"/>
          <a:lstStyle/>
          <a:p>
            <a:pPr indent="0" marL="0">
              <a:lnSpc>
                <a:spcPts val="5250"/>
              </a:lnSpc>
              <a:buNone/>
            </a:pPr>
            <a:r>
              <a:rPr lang="en-US" sz="4200" b="1" dirty="0">
                <a:solidFill>
                  <a:srgbClr val="000000"/>
                </a:solidFill>
                <a:latin typeface="Inter Bold" pitchFamily="34" charset="0"/>
                <a:ea typeface="Inter Bold" pitchFamily="34" charset="-122"/>
                <a:cs typeface="Inter Bold" pitchFamily="34" charset="-120"/>
              </a:rPr>
              <a:t>Ordinal Logistic Regression</a:t>
            </a:r>
            <a:endParaRPr lang="en-US" sz="4200" dirty="0"/>
          </a:p>
        </p:txBody>
      </p:sp>
      <p:sp>
        <p:nvSpPr>
          <p:cNvPr id="3" name="Shape 1"/>
          <p:cNvSpPr/>
          <p:nvPr/>
        </p:nvSpPr>
        <p:spPr>
          <a:xfrm>
            <a:off x="748070" y="1683187"/>
            <a:ext cx="2081212" cy="1915478"/>
          </a:xfrm>
          <a:prstGeom prst="roundRect">
            <a:avLst>
              <a:gd name="adj" fmla="val 4687"/>
            </a:avLst>
          </a:prstGeom>
          <a:solidFill>
            <a:srgbClr val="F7D5D4"/>
          </a:solidFill>
          <a:ln w="7620">
            <a:solidFill>
              <a:srgbClr val="DDBBBA"/>
            </a:solidFill>
            <a:prstDash val="solid"/>
          </a:ln>
        </p:spPr>
      </p:sp>
      <p:sp>
        <p:nvSpPr>
          <p:cNvPr id="4" name="Text 2"/>
          <p:cNvSpPr/>
          <p:nvPr/>
        </p:nvSpPr>
        <p:spPr>
          <a:xfrm>
            <a:off x="969407" y="2427208"/>
            <a:ext cx="115253" cy="427434"/>
          </a:xfrm>
          <a:prstGeom prst="rect">
            <a:avLst/>
          </a:prstGeom>
          <a:noFill/>
          <a:ln/>
        </p:spPr>
        <p:txBody>
          <a:bodyPr wrap="none" lIns="0" tIns="0" rIns="0" bIns="0" rtlCol="0" anchor="t"/>
          <a:lstStyle/>
          <a:p>
            <a:pPr algn="ctr" indent="0" marL="0">
              <a:lnSpc>
                <a:spcPts val="3350"/>
              </a:lnSpc>
              <a:buNone/>
            </a:pPr>
            <a:r>
              <a:rPr lang="en-US" sz="2100" b="1" dirty="0">
                <a:solidFill>
                  <a:srgbClr val="000000"/>
                </a:solidFill>
                <a:latin typeface="Inter Bold" pitchFamily="34" charset="0"/>
                <a:ea typeface="Inter Bold" pitchFamily="34" charset="-122"/>
                <a:cs typeface="Inter Bold" pitchFamily="34" charset="-120"/>
              </a:rPr>
              <a:t>1</a:t>
            </a:r>
            <a:endParaRPr lang="en-US" sz="2100" dirty="0"/>
          </a:p>
        </p:txBody>
      </p:sp>
      <p:sp>
        <p:nvSpPr>
          <p:cNvPr id="5" name="Text 3"/>
          <p:cNvSpPr/>
          <p:nvPr/>
        </p:nvSpPr>
        <p:spPr>
          <a:xfrm>
            <a:off x="3042999" y="1896904"/>
            <a:ext cx="2672001" cy="333970"/>
          </a:xfrm>
          <a:prstGeom prst="rect">
            <a:avLst/>
          </a:prstGeom>
          <a:noFill/>
          <a:ln/>
        </p:spPr>
        <p:txBody>
          <a:bodyPr wrap="none" lIns="0" tIns="0" rIns="0" bIns="0" rtlCol="0" anchor="t"/>
          <a:lstStyle/>
          <a:p>
            <a:pPr algn="l" indent="0" marL="0">
              <a:lnSpc>
                <a:spcPts val="2600"/>
              </a:lnSpc>
              <a:buNone/>
            </a:pPr>
            <a:r>
              <a:rPr lang="en-US" sz="2100" b="1" dirty="0">
                <a:solidFill>
                  <a:srgbClr val="000000"/>
                </a:solidFill>
                <a:latin typeface="Inter Bold" pitchFamily="34" charset="0"/>
                <a:ea typeface="Inter Bold" pitchFamily="34" charset="-122"/>
                <a:cs typeface="Inter Bold" pitchFamily="34" charset="-120"/>
              </a:rPr>
              <a:t>Ordered Categories</a:t>
            </a:r>
            <a:endParaRPr lang="en-US" sz="2100" dirty="0"/>
          </a:p>
        </p:txBody>
      </p:sp>
      <p:sp>
        <p:nvSpPr>
          <p:cNvPr id="6" name="Text 4"/>
          <p:cNvSpPr/>
          <p:nvPr/>
        </p:nvSpPr>
        <p:spPr>
          <a:xfrm>
            <a:off x="3042999" y="2359104"/>
            <a:ext cx="9979343" cy="1025843"/>
          </a:xfrm>
          <a:prstGeom prst="rect">
            <a:avLst/>
          </a:prstGeom>
          <a:noFill/>
          <a:ln/>
        </p:spPr>
        <p:txBody>
          <a:bodyPr wrap="squar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Ordinal logistic regression handles dependent variables with three or more categories that have a natural order or ranking, such as education levels (elementary, high school, bachelor's, master's) or satisfaction ratings (low, medium, high).</a:t>
            </a:r>
            <a:endParaRPr lang="en-US" sz="1650" dirty="0"/>
          </a:p>
        </p:txBody>
      </p:sp>
      <p:sp>
        <p:nvSpPr>
          <p:cNvPr id="7" name="Shape 5"/>
          <p:cNvSpPr/>
          <p:nvPr/>
        </p:nvSpPr>
        <p:spPr>
          <a:xfrm>
            <a:off x="2936081" y="3583424"/>
            <a:ext cx="10193179" cy="15240"/>
          </a:xfrm>
          <a:prstGeom prst="roundRect">
            <a:avLst>
              <a:gd name="adj" fmla="val 589115"/>
            </a:avLst>
          </a:prstGeom>
          <a:solidFill>
            <a:srgbClr val="DDBBBA"/>
          </a:solidFill>
          <a:ln/>
        </p:spPr>
      </p:sp>
      <p:sp>
        <p:nvSpPr>
          <p:cNvPr id="8" name="Shape 6"/>
          <p:cNvSpPr/>
          <p:nvPr/>
        </p:nvSpPr>
        <p:spPr>
          <a:xfrm>
            <a:off x="748070" y="3705463"/>
            <a:ext cx="4162544" cy="1915478"/>
          </a:xfrm>
          <a:prstGeom prst="roundRect">
            <a:avLst>
              <a:gd name="adj" fmla="val 4687"/>
            </a:avLst>
          </a:prstGeom>
          <a:solidFill>
            <a:srgbClr val="F7D5D4"/>
          </a:solidFill>
          <a:ln w="7620">
            <a:solidFill>
              <a:srgbClr val="DDBBBA"/>
            </a:solidFill>
            <a:prstDash val="solid"/>
          </a:ln>
        </p:spPr>
      </p:sp>
      <p:sp>
        <p:nvSpPr>
          <p:cNvPr id="9" name="Text 7"/>
          <p:cNvSpPr/>
          <p:nvPr/>
        </p:nvSpPr>
        <p:spPr>
          <a:xfrm>
            <a:off x="969407" y="4449485"/>
            <a:ext cx="168116" cy="427434"/>
          </a:xfrm>
          <a:prstGeom prst="rect">
            <a:avLst/>
          </a:prstGeom>
          <a:noFill/>
          <a:ln/>
        </p:spPr>
        <p:txBody>
          <a:bodyPr wrap="none" lIns="0" tIns="0" rIns="0" bIns="0" rtlCol="0" anchor="t"/>
          <a:lstStyle/>
          <a:p>
            <a:pPr algn="ctr" indent="0" marL="0">
              <a:lnSpc>
                <a:spcPts val="3350"/>
              </a:lnSpc>
              <a:buNone/>
            </a:pPr>
            <a:r>
              <a:rPr lang="en-US" sz="2100" b="1" dirty="0">
                <a:solidFill>
                  <a:srgbClr val="000000"/>
                </a:solidFill>
                <a:latin typeface="Inter Bold" pitchFamily="34" charset="0"/>
                <a:ea typeface="Inter Bold" pitchFamily="34" charset="-122"/>
                <a:cs typeface="Inter Bold" pitchFamily="34" charset="-120"/>
              </a:rPr>
              <a:t>2</a:t>
            </a:r>
            <a:endParaRPr lang="en-US" sz="2100" dirty="0"/>
          </a:p>
        </p:txBody>
      </p:sp>
      <p:sp>
        <p:nvSpPr>
          <p:cNvPr id="10" name="Text 8"/>
          <p:cNvSpPr/>
          <p:nvPr/>
        </p:nvSpPr>
        <p:spPr>
          <a:xfrm>
            <a:off x="5124331" y="3919180"/>
            <a:ext cx="2672001" cy="333970"/>
          </a:xfrm>
          <a:prstGeom prst="rect">
            <a:avLst/>
          </a:prstGeom>
          <a:noFill/>
          <a:ln/>
        </p:spPr>
        <p:txBody>
          <a:bodyPr wrap="none" lIns="0" tIns="0" rIns="0" bIns="0" rtlCol="0" anchor="t"/>
          <a:lstStyle/>
          <a:p>
            <a:pPr algn="l" indent="0" marL="0">
              <a:lnSpc>
                <a:spcPts val="2600"/>
              </a:lnSpc>
              <a:buNone/>
            </a:pPr>
            <a:r>
              <a:rPr lang="en-US" sz="2100" b="1" dirty="0">
                <a:solidFill>
                  <a:srgbClr val="000000"/>
                </a:solidFill>
                <a:latin typeface="Inter Bold" pitchFamily="34" charset="0"/>
                <a:ea typeface="Inter Bold" pitchFamily="34" charset="-122"/>
                <a:cs typeface="Inter Bold" pitchFamily="34" charset="-120"/>
              </a:rPr>
              <a:t>Preserves Order</a:t>
            </a:r>
            <a:endParaRPr lang="en-US" sz="2100" dirty="0"/>
          </a:p>
        </p:txBody>
      </p:sp>
      <p:sp>
        <p:nvSpPr>
          <p:cNvPr id="11" name="Text 9"/>
          <p:cNvSpPr/>
          <p:nvPr/>
        </p:nvSpPr>
        <p:spPr>
          <a:xfrm>
            <a:off x="5124331" y="4381381"/>
            <a:ext cx="7898011" cy="1025843"/>
          </a:xfrm>
          <a:prstGeom prst="rect">
            <a:avLst/>
          </a:prstGeom>
          <a:noFill/>
          <a:ln/>
        </p:spPr>
        <p:txBody>
          <a:bodyPr wrap="squar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Unlike multinomial regression, it accounts for the ordered relationship between categories, ensuring predictions respect the inherent hierarchy of the dependent variable.</a:t>
            </a:r>
            <a:endParaRPr lang="en-US" sz="1650" dirty="0"/>
          </a:p>
        </p:txBody>
      </p:sp>
      <p:sp>
        <p:nvSpPr>
          <p:cNvPr id="12" name="Shape 10"/>
          <p:cNvSpPr/>
          <p:nvPr/>
        </p:nvSpPr>
        <p:spPr>
          <a:xfrm>
            <a:off x="5017413" y="5605701"/>
            <a:ext cx="8111847" cy="15240"/>
          </a:xfrm>
          <a:prstGeom prst="roundRect">
            <a:avLst>
              <a:gd name="adj" fmla="val 589115"/>
            </a:avLst>
          </a:prstGeom>
          <a:solidFill>
            <a:srgbClr val="DDBBBA"/>
          </a:solidFill>
          <a:ln/>
        </p:spPr>
      </p:sp>
      <p:sp>
        <p:nvSpPr>
          <p:cNvPr id="13" name="Shape 11"/>
          <p:cNvSpPr/>
          <p:nvPr/>
        </p:nvSpPr>
        <p:spPr>
          <a:xfrm>
            <a:off x="748070" y="5727740"/>
            <a:ext cx="6243995" cy="1915478"/>
          </a:xfrm>
          <a:prstGeom prst="roundRect">
            <a:avLst>
              <a:gd name="adj" fmla="val 4687"/>
            </a:avLst>
          </a:prstGeom>
          <a:solidFill>
            <a:srgbClr val="F7D5D4"/>
          </a:solidFill>
          <a:ln w="7620">
            <a:solidFill>
              <a:srgbClr val="DDBBBA"/>
            </a:solidFill>
            <a:prstDash val="solid"/>
          </a:ln>
        </p:spPr>
      </p:sp>
      <p:sp>
        <p:nvSpPr>
          <p:cNvPr id="14" name="Text 12"/>
          <p:cNvSpPr/>
          <p:nvPr/>
        </p:nvSpPr>
        <p:spPr>
          <a:xfrm>
            <a:off x="969407" y="6471761"/>
            <a:ext cx="172403" cy="427434"/>
          </a:xfrm>
          <a:prstGeom prst="rect">
            <a:avLst/>
          </a:prstGeom>
          <a:noFill/>
          <a:ln/>
        </p:spPr>
        <p:txBody>
          <a:bodyPr wrap="none" lIns="0" tIns="0" rIns="0" bIns="0" rtlCol="0" anchor="t"/>
          <a:lstStyle/>
          <a:p>
            <a:pPr algn="ctr" indent="0" marL="0">
              <a:lnSpc>
                <a:spcPts val="3350"/>
              </a:lnSpc>
              <a:buNone/>
            </a:pPr>
            <a:r>
              <a:rPr lang="en-US" sz="2100" b="1" dirty="0">
                <a:solidFill>
                  <a:srgbClr val="000000"/>
                </a:solidFill>
                <a:latin typeface="Inter Bold" pitchFamily="34" charset="0"/>
                <a:ea typeface="Inter Bold" pitchFamily="34" charset="-122"/>
                <a:cs typeface="Inter Bold" pitchFamily="34" charset="-120"/>
              </a:rPr>
              <a:t>3</a:t>
            </a:r>
            <a:endParaRPr lang="en-US" sz="2100" dirty="0"/>
          </a:p>
        </p:txBody>
      </p:sp>
      <p:sp>
        <p:nvSpPr>
          <p:cNvPr id="15" name="Text 13"/>
          <p:cNvSpPr/>
          <p:nvPr/>
        </p:nvSpPr>
        <p:spPr>
          <a:xfrm>
            <a:off x="7205782" y="5941457"/>
            <a:ext cx="2832140" cy="333970"/>
          </a:xfrm>
          <a:prstGeom prst="rect">
            <a:avLst/>
          </a:prstGeom>
          <a:noFill/>
          <a:ln/>
        </p:spPr>
        <p:txBody>
          <a:bodyPr wrap="none" lIns="0" tIns="0" rIns="0" bIns="0" rtlCol="0" anchor="t"/>
          <a:lstStyle/>
          <a:p>
            <a:pPr algn="l" indent="0" marL="0">
              <a:lnSpc>
                <a:spcPts val="2600"/>
              </a:lnSpc>
              <a:buNone/>
            </a:pPr>
            <a:r>
              <a:rPr lang="en-US" sz="2100" b="1" dirty="0">
                <a:solidFill>
                  <a:srgbClr val="000000"/>
                </a:solidFill>
                <a:latin typeface="Inter Bold" pitchFamily="34" charset="0"/>
                <a:ea typeface="Inter Bold" pitchFamily="34" charset="-122"/>
                <a:cs typeface="Inter Bold" pitchFamily="34" charset="-120"/>
              </a:rPr>
              <a:t>Cumulative Approach</a:t>
            </a:r>
            <a:endParaRPr lang="en-US" sz="2100" dirty="0"/>
          </a:p>
        </p:txBody>
      </p:sp>
      <p:sp>
        <p:nvSpPr>
          <p:cNvPr id="16" name="Text 14"/>
          <p:cNvSpPr/>
          <p:nvPr/>
        </p:nvSpPr>
        <p:spPr>
          <a:xfrm>
            <a:off x="7205782" y="6403658"/>
            <a:ext cx="5816560" cy="1025843"/>
          </a:xfrm>
          <a:prstGeom prst="rect">
            <a:avLst/>
          </a:prstGeom>
          <a:noFill/>
          <a:ln/>
        </p:spPr>
        <p:txBody>
          <a:bodyPr wrap="squar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Often implemented using cumulative logits, where the probability of being in a category or higher is modeled, preserving the ordinal nature of the data.</a:t>
            </a:r>
            <a:endParaRPr lang="en-US" sz="1650" dirty="0"/>
          </a:p>
        </p:txBody>
      </p:sp>
      <p:pic>
        <p:nvPicPr>
          <p:cNvPr id="17" name="Image 0" descr="preencoded.png">    </p:cNvPr>
          <p:cNvPicPr>
            <a:picLocks noChangeAspect="1"/>
          </p:cNvPicPr>
          <p:nvPr/>
        </p:nvPicPr>
        <p:blipFill>
          <a:blip r:embed="rId1"/>
          <a:stretch>
            <a:fillRect/>
          </a:stretch>
        </p:blipFill>
        <p:spPr>
          <a:xfrm>
            <a:off x="13464778" y="228600"/>
            <a:ext cx="937022" cy="5028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51126" y="825817"/>
            <a:ext cx="7084933" cy="1187053"/>
          </a:xfrm>
          <a:prstGeom prst="rect">
            <a:avLst/>
          </a:prstGeom>
          <a:noFill/>
          <a:ln/>
        </p:spPr>
        <p:txBody>
          <a:bodyPr wrap="square" lIns="0" tIns="0" rIns="0" bIns="0" rtlCol="0" anchor="t"/>
          <a:lstStyle/>
          <a:p>
            <a:pPr indent="0" marL="0">
              <a:lnSpc>
                <a:spcPts val="4650"/>
              </a:lnSpc>
              <a:buNone/>
            </a:pPr>
            <a:r>
              <a:rPr lang="en-US" sz="3700" b="1" dirty="0">
                <a:solidFill>
                  <a:srgbClr val="000000"/>
                </a:solidFill>
                <a:latin typeface="Inter Bold" pitchFamily="34" charset="0"/>
                <a:ea typeface="Inter Bold" pitchFamily="34" charset="-122"/>
                <a:cs typeface="Inter Bold" pitchFamily="34" charset="-120"/>
              </a:rPr>
              <a:t>Assumptions of Logistic Regression (Part 1)</a:t>
            </a:r>
            <a:endParaRPr lang="en-US" sz="3700" dirty="0"/>
          </a:p>
        </p:txBody>
      </p:sp>
      <p:pic>
        <p:nvPicPr>
          <p:cNvPr id="4" name="Image 1" descr="preencoded.png">    </p:cNvPr>
          <p:cNvPicPr>
            <a:picLocks noChangeAspect="1"/>
          </p:cNvPicPr>
          <p:nvPr/>
        </p:nvPicPr>
        <p:blipFill>
          <a:blip r:embed="rId2"/>
          <a:stretch>
            <a:fillRect/>
          </a:stretch>
        </p:blipFill>
        <p:spPr>
          <a:xfrm>
            <a:off x="6151126" y="2297668"/>
            <a:ext cx="949643" cy="1701998"/>
          </a:xfrm>
          <a:prstGeom prst="rect">
            <a:avLst/>
          </a:prstGeom>
        </p:spPr>
      </p:pic>
      <p:sp>
        <p:nvSpPr>
          <p:cNvPr id="5" name="Text 1"/>
          <p:cNvSpPr/>
          <p:nvPr/>
        </p:nvSpPr>
        <p:spPr>
          <a:xfrm>
            <a:off x="7385566" y="2487573"/>
            <a:ext cx="3087886" cy="296704"/>
          </a:xfrm>
          <a:prstGeom prst="rect">
            <a:avLst/>
          </a:prstGeom>
          <a:noFill/>
          <a:ln/>
        </p:spPr>
        <p:txBody>
          <a:bodyPr wrap="none" lIns="0" tIns="0" rIns="0" bIns="0" rtlCol="0" anchor="t"/>
          <a:lstStyle/>
          <a:p>
            <a:pPr algn="l" indent="0" marL="0">
              <a:lnSpc>
                <a:spcPts val="2300"/>
              </a:lnSpc>
              <a:buNone/>
            </a:pPr>
            <a:r>
              <a:rPr lang="en-US" sz="1850" b="1" dirty="0">
                <a:solidFill>
                  <a:srgbClr val="000000"/>
                </a:solidFill>
                <a:latin typeface="Inter Bold" pitchFamily="34" charset="0"/>
                <a:ea typeface="Inter Bold" pitchFamily="34" charset="-122"/>
                <a:cs typeface="Inter Bold" pitchFamily="34" charset="-120"/>
              </a:rPr>
              <a:t>Independent Observations</a:t>
            </a:r>
            <a:endParaRPr lang="en-US" sz="1850" dirty="0"/>
          </a:p>
        </p:txBody>
      </p:sp>
      <p:sp>
        <p:nvSpPr>
          <p:cNvPr id="6" name="Text 2"/>
          <p:cNvSpPr/>
          <p:nvPr/>
        </p:nvSpPr>
        <p:spPr>
          <a:xfrm>
            <a:off x="7385566" y="2898219"/>
            <a:ext cx="5850493" cy="911543"/>
          </a:xfrm>
          <a:prstGeom prst="rect">
            <a:avLst/>
          </a:prstGeom>
          <a:noFill/>
          <a:ln/>
        </p:spPr>
        <p:txBody>
          <a:bodyPr wrap="square" lIns="0" tIns="0" rIns="0" bIns="0" rtlCol="0" anchor="t"/>
          <a:lstStyle/>
          <a:p>
            <a:pPr algn="l" indent="0" marL="0">
              <a:lnSpc>
                <a:spcPts val="2350"/>
              </a:lnSpc>
              <a:buNone/>
            </a:pPr>
            <a:r>
              <a:rPr lang="en-US" sz="1450" dirty="0">
                <a:solidFill>
                  <a:srgbClr val="000000"/>
                </a:solidFill>
                <a:latin typeface="Inter" pitchFamily="34" charset="0"/>
                <a:ea typeface="Inter" pitchFamily="34" charset="-122"/>
                <a:cs typeface="Inter" pitchFamily="34" charset="-120"/>
              </a:rPr>
              <a:t>Each observation must be independent of others. There should be no correlation between any input variables, meaning one observation should not influence another.</a:t>
            </a:r>
            <a:endParaRPr lang="en-US" sz="1450" dirty="0"/>
          </a:p>
        </p:txBody>
      </p:sp>
      <p:pic>
        <p:nvPicPr>
          <p:cNvPr id="7" name="Image 2" descr="preencoded.png">    </p:cNvPr>
          <p:cNvPicPr>
            <a:picLocks noChangeAspect="1"/>
          </p:cNvPicPr>
          <p:nvPr/>
        </p:nvPicPr>
        <p:blipFill>
          <a:blip r:embed="rId3"/>
          <a:stretch>
            <a:fillRect/>
          </a:stretch>
        </p:blipFill>
        <p:spPr>
          <a:xfrm>
            <a:off x="6151126" y="3999667"/>
            <a:ext cx="949643" cy="1701998"/>
          </a:xfrm>
          <a:prstGeom prst="rect">
            <a:avLst/>
          </a:prstGeom>
        </p:spPr>
      </p:pic>
      <p:sp>
        <p:nvSpPr>
          <p:cNvPr id="8" name="Text 3"/>
          <p:cNvSpPr/>
          <p:nvPr/>
        </p:nvSpPr>
        <p:spPr>
          <a:xfrm>
            <a:off x="7385566" y="4189571"/>
            <a:ext cx="3228142" cy="296704"/>
          </a:xfrm>
          <a:prstGeom prst="rect">
            <a:avLst/>
          </a:prstGeom>
          <a:noFill/>
          <a:ln/>
        </p:spPr>
        <p:txBody>
          <a:bodyPr wrap="none" lIns="0" tIns="0" rIns="0" bIns="0" rtlCol="0" anchor="t"/>
          <a:lstStyle/>
          <a:p>
            <a:pPr algn="l" indent="0" marL="0">
              <a:lnSpc>
                <a:spcPts val="2300"/>
              </a:lnSpc>
              <a:buNone/>
            </a:pPr>
            <a:r>
              <a:rPr lang="en-US" sz="1850" b="1" dirty="0">
                <a:solidFill>
                  <a:srgbClr val="000000"/>
                </a:solidFill>
                <a:latin typeface="Inter Bold" pitchFamily="34" charset="0"/>
                <a:ea typeface="Inter Bold" pitchFamily="34" charset="-122"/>
                <a:cs typeface="Inter Bold" pitchFamily="34" charset="-120"/>
              </a:rPr>
              <a:t>Binary Dependent Variables</a:t>
            </a:r>
            <a:endParaRPr lang="en-US" sz="1850" dirty="0"/>
          </a:p>
        </p:txBody>
      </p:sp>
      <p:sp>
        <p:nvSpPr>
          <p:cNvPr id="9" name="Text 4"/>
          <p:cNvSpPr/>
          <p:nvPr/>
        </p:nvSpPr>
        <p:spPr>
          <a:xfrm>
            <a:off x="7385566" y="4600218"/>
            <a:ext cx="5850493" cy="911543"/>
          </a:xfrm>
          <a:prstGeom prst="rect">
            <a:avLst/>
          </a:prstGeom>
          <a:noFill/>
          <a:ln/>
        </p:spPr>
        <p:txBody>
          <a:bodyPr wrap="square" lIns="0" tIns="0" rIns="0" bIns="0" rtlCol="0" anchor="t"/>
          <a:lstStyle/>
          <a:p>
            <a:pPr algn="l" indent="0" marL="0">
              <a:lnSpc>
                <a:spcPts val="2350"/>
              </a:lnSpc>
              <a:buNone/>
            </a:pPr>
            <a:r>
              <a:rPr lang="en-US" sz="1450" dirty="0">
                <a:solidFill>
                  <a:srgbClr val="000000"/>
                </a:solidFill>
                <a:latin typeface="Inter" pitchFamily="34" charset="0"/>
                <a:ea typeface="Inter" pitchFamily="34" charset="-122"/>
                <a:cs typeface="Inter" pitchFamily="34" charset="-120"/>
              </a:rPr>
              <a:t>For binary logistic regression, the dependent variable must be binary or dichotomous, meaning it can take only two values. For more than two categories, softmax functions are used.</a:t>
            </a:r>
            <a:endParaRPr lang="en-US" sz="1450" dirty="0"/>
          </a:p>
        </p:txBody>
      </p:sp>
      <p:pic>
        <p:nvPicPr>
          <p:cNvPr id="10" name="Image 3" descr="preencoded.png">    </p:cNvPr>
          <p:cNvPicPr>
            <a:picLocks noChangeAspect="1"/>
          </p:cNvPicPr>
          <p:nvPr/>
        </p:nvPicPr>
        <p:blipFill>
          <a:blip r:embed="rId4"/>
          <a:stretch>
            <a:fillRect/>
          </a:stretch>
        </p:blipFill>
        <p:spPr>
          <a:xfrm>
            <a:off x="6151126" y="5701665"/>
            <a:ext cx="949643" cy="1701998"/>
          </a:xfrm>
          <a:prstGeom prst="rect">
            <a:avLst/>
          </a:prstGeom>
        </p:spPr>
      </p:pic>
      <p:sp>
        <p:nvSpPr>
          <p:cNvPr id="11" name="Text 5"/>
          <p:cNvSpPr/>
          <p:nvPr/>
        </p:nvSpPr>
        <p:spPr>
          <a:xfrm>
            <a:off x="7385566" y="5891570"/>
            <a:ext cx="2516148" cy="296704"/>
          </a:xfrm>
          <a:prstGeom prst="rect">
            <a:avLst/>
          </a:prstGeom>
          <a:noFill/>
          <a:ln/>
        </p:spPr>
        <p:txBody>
          <a:bodyPr wrap="none" lIns="0" tIns="0" rIns="0" bIns="0" rtlCol="0" anchor="t"/>
          <a:lstStyle/>
          <a:p>
            <a:pPr algn="l" indent="0" marL="0">
              <a:lnSpc>
                <a:spcPts val="2300"/>
              </a:lnSpc>
              <a:buNone/>
            </a:pPr>
            <a:r>
              <a:rPr lang="en-US" sz="1850" b="1" dirty="0">
                <a:solidFill>
                  <a:srgbClr val="000000"/>
                </a:solidFill>
                <a:latin typeface="Inter Bold" pitchFamily="34" charset="0"/>
                <a:ea typeface="Inter Bold" pitchFamily="34" charset="-122"/>
                <a:cs typeface="Inter Bold" pitchFamily="34" charset="-120"/>
              </a:rPr>
              <a:t>Linearity Relationship</a:t>
            </a:r>
            <a:endParaRPr lang="en-US" sz="1850" dirty="0"/>
          </a:p>
        </p:txBody>
      </p:sp>
      <p:sp>
        <p:nvSpPr>
          <p:cNvPr id="12" name="Text 6"/>
          <p:cNvSpPr/>
          <p:nvPr/>
        </p:nvSpPr>
        <p:spPr>
          <a:xfrm>
            <a:off x="7385566" y="6302216"/>
            <a:ext cx="5850493" cy="911543"/>
          </a:xfrm>
          <a:prstGeom prst="rect">
            <a:avLst/>
          </a:prstGeom>
          <a:noFill/>
          <a:ln/>
        </p:spPr>
        <p:txBody>
          <a:bodyPr wrap="square" lIns="0" tIns="0" rIns="0" bIns="0" rtlCol="0" anchor="t"/>
          <a:lstStyle/>
          <a:p>
            <a:pPr algn="l" indent="0" marL="0">
              <a:lnSpc>
                <a:spcPts val="2350"/>
              </a:lnSpc>
              <a:buNone/>
            </a:pPr>
            <a:r>
              <a:rPr lang="en-US" sz="1450" dirty="0">
                <a:solidFill>
                  <a:srgbClr val="000000"/>
                </a:solidFill>
                <a:latin typeface="Inter" pitchFamily="34" charset="0"/>
                <a:ea typeface="Inter" pitchFamily="34" charset="-122"/>
                <a:cs typeface="Inter" pitchFamily="34" charset="-120"/>
              </a:rPr>
              <a:t>The relationship between the independent variables and the log odds of the dependent variable should be linear. This means a linear combination of predictors relates to the log odds.</a:t>
            </a:r>
            <a:endParaRPr lang="en-US" sz="1450" dirty="0"/>
          </a:p>
        </p:txBody>
      </p:sp>
      <p:pic>
        <p:nvPicPr>
          <p:cNvPr id="13" name="Image 4" descr="preencoded.png">    </p:cNvPr>
          <p:cNvPicPr>
            <a:picLocks noChangeAspect="1"/>
          </p:cNvPicPr>
          <p:nvPr/>
        </p:nvPicPr>
        <p:blipFill>
          <a:blip r:embed="rId5"/>
          <a:stretch>
            <a:fillRect/>
          </a:stretch>
        </p:blipFill>
        <p:spPr>
          <a:xfrm>
            <a:off x="13464778" y="228600"/>
            <a:ext cx="937022" cy="50280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356241"/>
            <a:ext cx="12135803" cy="708779"/>
          </a:xfrm>
          <a:prstGeom prst="rect">
            <a:avLst/>
          </a:prstGeom>
          <a:noFill/>
          <a:ln/>
        </p:spPr>
        <p:txBody>
          <a:bodyPr wrap="none" lIns="0" tIns="0" rIns="0" bIns="0" rtlCol="0" anchor="t"/>
          <a:lstStyle/>
          <a:p>
            <a:pPr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Assumptions of Logistic Regression (Part 2)</a:t>
            </a:r>
            <a:endParaRPr lang="en-US" sz="4450" dirty="0"/>
          </a:p>
        </p:txBody>
      </p:sp>
      <p:sp>
        <p:nvSpPr>
          <p:cNvPr id="3" name="Text 1"/>
          <p:cNvSpPr/>
          <p:nvPr/>
        </p:nvSpPr>
        <p:spPr>
          <a:xfrm>
            <a:off x="1662113" y="2641997"/>
            <a:ext cx="2835235" cy="354330"/>
          </a:xfrm>
          <a:prstGeom prst="rect">
            <a:avLst/>
          </a:prstGeom>
          <a:noFill/>
          <a:ln/>
        </p:spPr>
        <p:txBody>
          <a:bodyPr wrap="none" lIns="0" tIns="0" rIns="0" bIns="0" rtlCol="0" anchor="t"/>
          <a:lstStyle/>
          <a:p>
            <a:pPr algn="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No Outliers</a:t>
            </a:r>
            <a:endParaRPr lang="en-US" sz="2200" dirty="0"/>
          </a:p>
        </p:txBody>
      </p:sp>
      <p:sp>
        <p:nvSpPr>
          <p:cNvPr id="4" name="Text 2"/>
          <p:cNvSpPr/>
          <p:nvPr/>
        </p:nvSpPr>
        <p:spPr>
          <a:xfrm>
            <a:off x="793790" y="3132415"/>
            <a:ext cx="3703558" cy="1451610"/>
          </a:xfrm>
          <a:prstGeom prst="rect">
            <a:avLst/>
          </a:prstGeom>
          <a:noFill/>
          <a:ln/>
        </p:spPr>
        <p:txBody>
          <a:bodyPr wrap="square" lIns="0" tIns="0" rIns="0" bIns="0" rtlCol="0" anchor="t"/>
          <a:lstStyle/>
          <a:p>
            <a:pPr algn="r" indent="0" marL="0">
              <a:lnSpc>
                <a:spcPts val="2850"/>
              </a:lnSpc>
              <a:buNone/>
            </a:pPr>
            <a:r>
              <a:rPr lang="en-US" sz="1750" dirty="0">
                <a:solidFill>
                  <a:srgbClr val="000000"/>
                </a:solidFill>
                <a:latin typeface="Inter" pitchFamily="34" charset="0"/>
                <a:ea typeface="Inter" pitchFamily="34" charset="-122"/>
                <a:cs typeface="Inter" pitchFamily="34" charset="-120"/>
              </a:rPr>
              <a:t>The dataset should not contain significant outliers that could disproportionately influence the model.</a:t>
            </a:r>
            <a:endParaRPr lang="en-US" sz="1750" dirty="0"/>
          </a:p>
        </p:txBody>
      </p:sp>
      <p:pic>
        <p:nvPicPr>
          <p:cNvPr id="5" name="Image 0" descr="preencoded.png">    </p:cNvPr>
          <p:cNvPicPr>
            <a:picLocks noChangeAspect="1"/>
          </p:cNvPicPr>
          <p:nvPr/>
        </p:nvPicPr>
        <p:blipFill>
          <a:blip r:embed="rId1"/>
          <a:stretch>
            <a:fillRect/>
          </a:stretch>
        </p:blipFill>
        <p:spPr>
          <a:xfrm>
            <a:off x="4837509" y="2518648"/>
            <a:ext cx="4354711" cy="4354711"/>
          </a:xfrm>
          <a:prstGeom prst="rect">
            <a:avLst/>
          </a:prstGeom>
        </p:spPr>
      </p:pic>
      <p:sp>
        <p:nvSpPr>
          <p:cNvPr id="6" name="Text 3"/>
          <p:cNvSpPr/>
          <p:nvPr/>
        </p:nvSpPr>
        <p:spPr>
          <a:xfrm>
            <a:off x="6077188" y="3222188"/>
            <a:ext cx="122277" cy="453509"/>
          </a:xfrm>
          <a:prstGeom prst="rect">
            <a:avLst/>
          </a:prstGeom>
          <a:noFill/>
          <a:ln/>
        </p:spPr>
        <p:txBody>
          <a:bodyPr wrap="none" lIns="0" tIns="0" rIns="0" bIns="0" rtlCol="0" anchor="t"/>
          <a:lstStyle/>
          <a:p>
            <a:pPr indent="0" marL="0">
              <a:lnSpc>
                <a:spcPts val="3550"/>
              </a:lnSpc>
              <a:buNone/>
            </a:pPr>
            <a:r>
              <a:rPr lang="en-US" sz="2200" b="1" dirty="0">
                <a:solidFill>
                  <a:srgbClr val="000000"/>
                </a:solidFill>
                <a:latin typeface="Inter Bold" pitchFamily="34" charset="0"/>
                <a:ea typeface="Inter Bold" pitchFamily="34" charset="-122"/>
                <a:cs typeface="Inter Bold" pitchFamily="34" charset="-120"/>
              </a:rPr>
              <a:t>1</a:t>
            </a:r>
            <a:endParaRPr lang="en-US" sz="2200" dirty="0"/>
          </a:p>
        </p:txBody>
      </p:sp>
      <p:sp>
        <p:nvSpPr>
          <p:cNvPr id="7" name="Text 4"/>
          <p:cNvSpPr/>
          <p:nvPr/>
        </p:nvSpPr>
        <p:spPr>
          <a:xfrm>
            <a:off x="9532382" y="282344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Large Sample Size</a:t>
            </a:r>
            <a:endParaRPr lang="en-US" sz="2200" dirty="0"/>
          </a:p>
        </p:txBody>
      </p:sp>
      <p:sp>
        <p:nvSpPr>
          <p:cNvPr id="8" name="Text 5"/>
          <p:cNvSpPr/>
          <p:nvPr/>
        </p:nvSpPr>
        <p:spPr>
          <a:xfrm>
            <a:off x="9532382" y="3313867"/>
            <a:ext cx="3703677" cy="108870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The sample size should be sufficiently large to ensure robust estimation.</a:t>
            </a:r>
            <a:endParaRPr lang="en-US" sz="1750" dirty="0"/>
          </a:p>
        </p:txBody>
      </p:sp>
      <p:pic>
        <p:nvPicPr>
          <p:cNvPr id="9" name="Image 1" descr="preencoded.png">    </p:cNvPr>
          <p:cNvPicPr>
            <a:picLocks noChangeAspect="1"/>
          </p:cNvPicPr>
          <p:nvPr/>
        </p:nvPicPr>
        <p:blipFill>
          <a:blip r:embed="rId2"/>
          <a:stretch>
            <a:fillRect/>
          </a:stretch>
        </p:blipFill>
        <p:spPr>
          <a:xfrm>
            <a:off x="4837509" y="2518648"/>
            <a:ext cx="4354711" cy="4354711"/>
          </a:xfrm>
          <a:prstGeom prst="rect">
            <a:avLst/>
          </a:prstGeom>
        </p:spPr>
      </p:pic>
      <p:sp>
        <p:nvSpPr>
          <p:cNvPr id="10" name="Text 6"/>
          <p:cNvSpPr/>
          <p:nvPr/>
        </p:nvSpPr>
        <p:spPr>
          <a:xfrm>
            <a:off x="8172569" y="3592711"/>
            <a:ext cx="178356" cy="453509"/>
          </a:xfrm>
          <a:prstGeom prst="rect">
            <a:avLst/>
          </a:prstGeom>
          <a:noFill/>
          <a:ln/>
        </p:spPr>
        <p:txBody>
          <a:bodyPr wrap="none" lIns="0" tIns="0" rIns="0" bIns="0" rtlCol="0" anchor="t"/>
          <a:lstStyle/>
          <a:p>
            <a:pPr indent="0" marL="0">
              <a:lnSpc>
                <a:spcPts val="3550"/>
              </a:lnSpc>
              <a:buNone/>
            </a:pPr>
            <a:r>
              <a:rPr lang="en-US" sz="2200" b="1" dirty="0">
                <a:solidFill>
                  <a:srgbClr val="000000"/>
                </a:solidFill>
                <a:latin typeface="Inter Bold" pitchFamily="34" charset="0"/>
                <a:ea typeface="Inter Bold" pitchFamily="34" charset="-122"/>
                <a:cs typeface="Inter Bold" pitchFamily="34" charset="-120"/>
              </a:rPr>
              <a:t>2</a:t>
            </a:r>
            <a:endParaRPr lang="en-US" sz="2200" dirty="0"/>
          </a:p>
        </p:txBody>
      </p:sp>
      <p:sp>
        <p:nvSpPr>
          <p:cNvPr id="11" name="Text 7"/>
          <p:cNvSpPr/>
          <p:nvPr/>
        </p:nvSpPr>
        <p:spPr>
          <a:xfrm>
            <a:off x="9532382" y="535233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No Multicollinearity</a:t>
            </a:r>
            <a:endParaRPr lang="en-US" sz="2200" dirty="0"/>
          </a:p>
        </p:txBody>
      </p:sp>
      <p:sp>
        <p:nvSpPr>
          <p:cNvPr id="12" name="Text 8"/>
          <p:cNvSpPr/>
          <p:nvPr/>
        </p:nvSpPr>
        <p:spPr>
          <a:xfrm>
            <a:off x="9532382" y="5842754"/>
            <a:ext cx="3703677"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Predictor variables should not be highly correlated with each other.</a:t>
            </a:r>
            <a:endParaRPr lang="en-US" sz="1750" dirty="0"/>
          </a:p>
        </p:txBody>
      </p:sp>
      <p:pic>
        <p:nvPicPr>
          <p:cNvPr id="13" name="Image 2" descr="preencoded.png">    </p:cNvPr>
          <p:cNvPicPr>
            <a:picLocks noChangeAspect="1"/>
          </p:cNvPicPr>
          <p:nvPr/>
        </p:nvPicPr>
        <p:blipFill>
          <a:blip r:embed="rId3"/>
          <a:stretch>
            <a:fillRect/>
          </a:stretch>
        </p:blipFill>
        <p:spPr>
          <a:xfrm>
            <a:off x="4837509" y="2518648"/>
            <a:ext cx="4354711" cy="4354711"/>
          </a:xfrm>
          <a:prstGeom prst="rect">
            <a:avLst/>
          </a:prstGeom>
        </p:spPr>
      </p:pic>
      <p:sp>
        <p:nvSpPr>
          <p:cNvPr id="14" name="Text 9"/>
          <p:cNvSpPr/>
          <p:nvPr/>
        </p:nvSpPr>
        <p:spPr>
          <a:xfrm>
            <a:off x="7799665" y="5716072"/>
            <a:ext cx="182999" cy="453509"/>
          </a:xfrm>
          <a:prstGeom prst="rect">
            <a:avLst/>
          </a:prstGeom>
          <a:noFill/>
          <a:ln/>
        </p:spPr>
        <p:txBody>
          <a:bodyPr wrap="none" lIns="0" tIns="0" rIns="0" bIns="0" rtlCol="0" anchor="t"/>
          <a:lstStyle/>
          <a:p>
            <a:pPr indent="0" marL="0">
              <a:lnSpc>
                <a:spcPts val="3550"/>
              </a:lnSpc>
              <a:buNone/>
            </a:pPr>
            <a:r>
              <a:rPr lang="en-US" sz="2200" b="1" dirty="0">
                <a:solidFill>
                  <a:srgbClr val="000000"/>
                </a:solidFill>
                <a:latin typeface="Inter Bold" pitchFamily="34" charset="0"/>
                <a:ea typeface="Inter Bold" pitchFamily="34" charset="-122"/>
                <a:cs typeface="Inter Bold" pitchFamily="34" charset="-120"/>
              </a:rPr>
              <a:t>3</a:t>
            </a:r>
            <a:endParaRPr lang="en-US" sz="2200" dirty="0"/>
          </a:p>
        </p:txBody>
      </p:sp>
      <p:sp>
        <p:nvSpPr>
          <p:cNvPr id="15" name="Text 10"/>
          <p:cNvSpPr/>
          <p:nvPr/>
        </p:nvSpPr>
        <p:spPr>
          <a:xfrm>
            <a:off x="1587103" y="5170884"/>
            <a:ext cx="2910245" cy="354330"/>
          </a:xfrm>
          <a:prstGeom prst="rect">
            <a:avLst/>
          </a:prstGeom>
          <a:noFill/>
          <a:ln/>
        </p:spPr>
        <p:txBody>
          <a:bodyPr wrap="none" lIns="0" tIns="0" rIns="0" bIns="0" rtlCol="0" anchor="t"/>
          <a:lstStyle/>
          <a:p>
            <a:pPr algn="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Complete Separation</a:t>
            </a:r>
            <a:endParaRPr lang="en-US" sz="2200" dirty="0"/>
          </a:p>
        </p:txBody>
      </p:sp>
      <p:sp>
        <p:nvSpPr>
          <p:cNvPr id="16" name="Text 11"/>
          <p:cNvSpPr/>
          <p:nvPr/>
        </p:nvSpPr>
        <p:spPr>
          <a:xfrm>
            <a:off x="793790" y="5661303"/>
            <a:ext cx="3703558" cy="1088708"/>
          </a:xfrm>
          <a:prstGeom prst="rect">
            <a:avLst/>
          </a:prstGeom>
          <a:noFill/>
          <a:ln/>
        </p:spPr>
        <p:txBody>
          <a:bodyPr wrap="square" lIns="0" tIns="0" rIns="0" bIns="0" rtlCol="0" anchor="t"/>
          <a:lstStyle/>
          <a:p>
            <a:pPr algn="r" indent="0" marL="0">
              <a:lnSpc>
                <a:spcPts val="2850"/>
              </a:lnSpc>
              <a:buNone/>
            </a:pPr>
            <a:r>
              <a:rPr lang="en-US" sz="1750" dirty="0">
                <a:solidFill>
                  <a:srgbClr val="000000"/>
                </a:solidFill>
                <a:latin typeface="Inter" pitchFamily="34" charset="0"/>
                <a:ea typeface="Inter" pitchFamily="34" charset="-122"/>
                <a:cs typeface="Inter" pitchFamily="34" charset="-120"/>
              </a:rPr>
              <a:t>Avoid situations where the outcome can be perfectly predicted by a variable.</a:t>
            </a:r>
            <a:endParaRPr lang="en-US" sz="1750" dirty="0"/>
          </a:p>
        </p:txBody>
      </p:sp>
      <p:pic>
        <p:nvPicPr>
          <p:cNvPr id="17" name="Image 3" descr="preencoded.png">    </p:cNvPr>
          <p:cNvPicPr>
            <a:picLocks noChangeAspect="1"/>
          </p:cNvPicPr>
          <p:nvPr/>
        </p:nvPicPr>
        <p:blipFill>
          <a:blip r:embed="rId4"/>
          <a:stretch>
            <a:fillRect/>
          </a:stretch>
        </p:blipFill>
        <p:spPr>
          <a:xfrm>
            <a:off x="4837509" y="2518648"/>
            <a:ext cx="4354711" cy="4354711"/>
          </a:xfrm>
          <a:prstGeom prst="rect">
            <a:avLst/>
          </a:prstGeom>
        </p:spPr>
      </p:pic>
      <p:sp>
        <p:nvSpPr>
          <p:cNvPr id="18" name="Text 12"/>
          <p:cNvSpPr/>
          <p:nvPr/>
        </p:nvSpPr>
        <p:spPr>
          <a:xfrm>
            <a:off x="5672018" y="5345549"/>
            <a:ext cx="191691" cy="453509"/>
          </a:xfrm>
          <a:prstGeom prst="rect">
            <a:avLst/>
          </a:prstGeom>
          <a:noFill/>
          <a:ln/>
        </p:spPr>
        <p:txBody>
          <a:bodyPr wrap="none" lIns="0" tIns="0" rIns="0" bIns="0" rtlCol="0" anchor="t"/>
          <a:lstStyle/>
          <a:p>
            <a:pPr indent="0" marL="0">
              <a:lnSpc>
                <a:spcPts val="3550"/>
              </a:lnSpc>
              <a:buNone/>
            </a:pPr>
            <a:r>
              <a:rPr lang="en-US" sz="2200" b="1" dirty="0">
                <a:solidFill>
                  <a:srgbClr val="000000"/>
                </a:solidFill>
                <a:latin typeface="Inter Bold" pitchFamily="34" charset="0"/>
                <a:ea typeface="Inter Bold" pitchFamily="34" charset="-122"/>
                <a:cs typeface="Inter Bold" pitchFamily="34" charset="-120"/>
              </a:rPr>
              <a:t>4</a:t>
            </a:r>
            <a:endParaRPr lang="en-US" sz="2200" dirty="0"/>
          </a:p>
        </p:txBody>
      </p:sp>
      <p:pic>
        <p:nvPicPr>
          <p:cNvPr id="19" name="Image 4" descr="preencoded.png">    </p:cNvPr>
          <p:cNvPicPr>
            <a:picLocks noChangeAspect="1"/>
          </p:cNvPicPr>
          <p:nvPr/>
        </p:nvPicPr>
        <p:blipFill>
          <a:blip r:embed="rId5"/>
          <a:stretch>
            <a:fillRect/>
          </a:stretch>
        </p:blipFill>
        <p:spPr>
          <a:xfrm>
            <a:off x="13464778" y="228600"/>
            <a:ext cx="937022" cy="50280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14018" y="561023"/>
            <a:ext cx="9089350" cy="637580"/>
          </a:xfrm>
          <a:prstGeom prst="rect">
            <a:avLst/>
          </a:prstGeom>
          <a:noFill/>
          <a:ln/>
        </p:spPr>
        <p:txBody>
          <a:bodyPr wrap="none" lIns="0" tIns="0" rIns="0" bIns="0" rtlCol="0" anchor="t"/>
          <a:lstStyle/>
          <a:p>
            <a:pPr indent="0" marL="0">
              <a:lnSpc>
                <a:spcPts val="5000"/>
              </a:lnSpc>
              <a:buNone/>
            </a:pPr>
            <a:r>
              <a:rPr lang="en-US" sz="4000" b="1" dirty="0">
                <a:solidFill>
                  <a:srgbClr val="000000"/>
                </a:solidFill>
                <a:latin typeface="Inter Bold" pitchFamily="34" charset="0"/>
                <a:ea typeface="Inter Bold" pitchFamily="34" charset="-122"/>
                <a:cs typeface="Inter Bold" pitchFamily="34" charset="-120"/>
              </a:rPr>
              <a:t>Understanding the Sigmoid Function</a:t>
            </a:r>
            <a:endParaRPr lang="en-US" sz="4000" dirty="0"/>
          </a:p>
        </p:txBody>
      </p:sp>
      <p:pic>
        <p:nvPicPr>
          <p:cNvPr id="3" name="Image 0" descr="preencoded.png">    </p:cNvPr>
          <p:cNvPicPr>
            <a:picLocks noChangeAspect="1"/>
          </p:cNvPicPr>
          <p:nvPr/>
        </p:nvPicPr>
        <p:blipFill>
          <a:blip r:embed="rId1"/>
          <a:stretch>
            <a:fillRect/>
          </a:stretch>
        </p:blipFill>
        <p:spPr>
          <a:xfrm>
            <a:off x="3069669" y="1606629"/>
            <a:ext cx="1549598" cy="1175504"/>
          </a:xfrm>
          <a:prstGeom prst="rect">
            <a:avLst/>
          </a:prstGeom>
        </p:spPr>
      </p:pic>
      <p:sp>
        <p:nvSpPr>
          <p:cNvPr id="4" name="Text 1"/>
          <p:cNvSpPr/>
          <p:nvPr/>
        </p:nvSpPr>
        <p:spPr>
          <a:xfrm>
            <a:off x="3789402" y="2136100"/>
            <a:ext cx="110014" cy="408027"/>
          </a:xfrm>
          <a:prstGeom prst="rect">
            <a:avLst/>
          </a:prstGeom>
          <a:noFill/>
          <a:ln/>
        </p:spPr>
        <p:txBody>
          <a:bodyPr wrap="none" lIns="0" tIns="0" rIns="0" bIns="0" rtlCol="0" anchor="t"/>
          <a:lstStyle/>
          <a:p>
            <a:pPr algn="ctr" indent="0" marL="0">
              <a:lnSpc>
                <a:spcPts val="3200"/>
              </a:lnSpc>
              <a:buNone/>
            </a:pPr>
            <a:r>
              <a:rPr lang="en-US" sz="2000" b="1" dirty="0">
                <a:solidFill>
                  <a:srgbClr val="000000"/>
                </a:solidFill>
                <a:latin typeface="Inter Bold" pitchFamily="34" charset="0"/>
                <a:ea typeface="Inter Bold" pitchFamily="34" charset="-122"/>
                <a:cs typeface="Inter Bold" pitchFamily="34" charset="-120"/>
              </a:rPr>
              <a:t>1</a:t>
            </a:r>
            <a:endParaRPr lang="en-US" sz="2000" dirty="0"/>
          </a:p>
        </p:txBody>
      </p:sp>
      <p:sp>
        <p:nvSpPr>
          <p:cNvPr id="5" name="Text 2"/>
          <p:cNvSpPr/>
          <p:nvPr/>
        </p:nvSpPr>
        <p:spPr>
          <a:xfrm>
            <a:off x="4823222" y="1810583"/>
            <a:ext cx="2550438" cy="318730"/>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Probability Mapping</a:t>
            </a:r>
            <a:endParaRPr lang="en-US" sz="2000" dirty="0"/>
          </a:p>
        </p:txBody>
      </p:sp>
      <p:sp>
        <p:nvSpPr>
          <p:cNvPr id="6" name="Text 3"/>
          <p:cNvSpPr/>
          <p:nvPr/>
        </p:nvSpPr>
        <p:spPr>
          <a:xfrm>
            <a:off x="4823222" y="2251710"/>
            <a:ext cx="5055394" cy="326469"/>
          </a:xfrm>
          <a:prstGeom prst="rect">
            <a:avLst/>
          </a:prstGeom>
          <a:noFill/>
          <a:ln/>
        </p:spPr>
        <p:txBody>
          <a:bodyPr wrap="non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Maps any real value to a probability between 0 and 1</a:t>
            </a:r>
            <a:endParaRPr lang="en-US" sz="1600" dirty="0"/>
          </a:p>
        </p:txBody>
      </p:sp>
      <p:sp>
        <p:nvSpPr>
          <p:cNvPr id="7" name="Shape 4"/>
          <p:cNvSpPr/>
          <p:nvPr/>
        </p:nvSpPr>
        <p:spPr>
          <a:xfrm>
            <a:off x="4670227" y="2798088"/>
            <a:ext cx="8514874" cy="11430"/>
          </a:xfrm>
          <a:prstGeom prst="roundRect">
            <a:avLst>
              <a:gd name="adj" fmla="val 749738"/>
            </a:avLst>
          </a:prstGeom>
          <a:solidFill>
            <a:srgbClr val="DDBBBA"/>
          </a:solidFill>
          <a:ln/>
        </p:spPr>
      </p:sp>
      <p:pic>
        <p:nvPicPr>
          <p:cNvPr id="8" name="Image 1" descr="preencoded.png">    </p:cNvPr>
          <p:cNvPicPr>
            <a:picLocks noChangeAspect="1"/>
          </p:cNvPicPr>
          <p:nvPr/>
        </p:nvPicPr>
        <p:blipFill>
          <a:blip r:embed="rId2"/>
          <a:stretch>
            <a:fillRect/>
          </a:stretch>
        </p:blipFill>
        <p:spPr>
          <a:xfrm>
            <a:off x="2294811" y="2833092"/>
            <a:ext cx="3099197" cy="1175504"/>
          </a:xfrm>
          <a:prstGeom prst="rect">
            <a:avLst/>
          </a:prstGeom>
        </p:spPr>
      </p:pic>
      <p:sp>
        <p:nvSpPr>
          <p:cNvPr id="9" name="Text 5"/>
          <p:cNvSpPr/>
          <p:nvPr/>
        </p:nvSpPr>
        <p:spPr>
          <a:xfrm>
            <a:off x="3764042" y="3216831"/>
            <a:ext cx="160615" cy="408027"/>
          </a:xfrm>
          <a:prstGeom prst="rect">
            <a:avLst/>
          </a:prstGeom>
          <a:noFill/>
          <a:ln/>
        </p:spPr>
        <p:txBody>
          <a:bodyPr wrap="none" lIns="0" tIns="0" rIns="0" bIns="0" rtlCol="0" anchor="t"/>
          <a:lstStyle/>
          <a:p>
            <a:pPr algn="ctr" indent="0" marL="0">
              <a:lnSpc>
                <a:spcPts val="3200"/>
              </a:lnSpc>
              <a:buNone/>
            </a:pPr>
            <a:r>
              <a:rPr lang="en-US" sz="2000" b="1" dirty="0">
                <a:solidFill>
                  <a:srgbClr val="000000"/>
                </a:solidFill>
                <a:latin typeface="Inter Bold" pitchFamily="34" charset="0"/>
                <a:ea typeface="Inter Bold" pitchFamily="34" charset="-122"/>
                <a:cs typeface="Inter Bold" pitchFamily="34" charset="-120"/>
              </a:rPr>
              <a:t>2</a:t>
            </a:r>
            <a:endParaRPr lang="en-US" sz="2000" dirty="0"/>
          </a:p>
        </p:txBody>
      </p:sp>
      <p:sp>
        <p:nvSpPr>
          <p:cNvPr id="10" name="Text 6"/>
          <p:cNvSpPr/>
          <p:nvPr/>
        </p:nvSpPr>
        <p:spPr>
          <a:xfrm>
            <a:off x="5597962" y="3037046"/>
            <a:ext cx="2550438" cy="318730"/>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S-Shaped Curve</a:t>
            </a:r>
            <a:endParaRPr lang="en-US" sz="2000" dirty="0"/>
          </a:p>
        </p:txBody>
      </p:sp>
      <p:sp>
        <p:nvSpPr>
          <p:cNvPr id="11" name="Text 7"/>
          <p:cNvSpPr/>
          <p:nvPr/>
        </p:nvSpPr>
        <p:spPr>
          <a:xfrm>
            <a:off x="5597962" y="3478173"/>
            <a:ext cx="3767971" cy="326469"/>
          </a:xfrm>
          <a:prstGeom prst="rect">
            <a:avLst/>
          </a:prstGeom>
          <a:noFill/>
          <a:ln/>
        </p:spPr>
        <p:txBody>
          <a:bodyPr wrap="non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Forms a characteristic "S" curve shape</a:t>
            </a:r>
            <a:endParaRPr lang="en-US" sz="1600" dirty="0"/>
          </a:p>
        </p:txBody>
      </p:sp>
      <p:sp>
        <p:nvSpPr>
          <p:cNvPr id="12" name="Shape 8"/>
          <p:cNvSpPr/>
          <p:nvPr/>
        </p:nvSpPr>
        <p:spPr>
          <a:xfrm>
            <a:off x="5444966" y="4024551"/>
            <a:ext cx="7740134" cy="11430"/>
          </a:xfrm>
          <a:prstGeom prst="roundRect">
            <a:avLst>
              <a:gd name="adj" fmla="val 749738"/>
            </a:avLst>
          </a:prstGeom>
          <a:solidFill>
            <a:srgbClr val="DDBBBA"/>
          </a:solidFill>
          <a:ln/>
        </p:spPr>
      </p:sp>
      <p:pic>
        <p:nvPicPr>
          <p:cNvPr id="13" name="Image 2" descr="preencoded.png">    </p:cNvPr>
          <p:cNvPicPr>
            <a:picLocks noChangeAspect="1"/>
          </p:cNvPicPr>
          <p:nvPr/>
        </p:nvPicPr>
        <p:blipFill>
          <a:blip r:embed="rId3"/>
          <a:stretch>
            <a:fillRect/>
          </a:stretch>
        </p:blipFill>
        <p:spPr>
          <a:xfrm>
            <a:off x="1520071" y="4059555"/>
            <a:ext cx="4648795" cy="1175504"/>
          </a:xfrm>
          <a:prstGeom prst="rect">
            <a:avLst/>
          </a:prstGeom>
        </p:spPr>
      </p:pic>
      <p:sp>
        <p:nvSpPr>
          <p:cNvPr id="14" name="Text 9"/>
          <p:cNvSpPr/>
          <p:nvPr/>
        </p:nvSpPr>
        <p:spPr>
          <a:xfrm>
            <a:off x="3762018" y="4443293"/>
            <a:ext cx="164663" cy="408027"/>
          </a:xfrm>
          <a:prstGeom prst="rect">
            <a:avLst/>
          </a:prstGeom>
          <a:noFill/>
          <a:ln/>
        </p:spPr>
        <p:txBody>
          <a:bodyPr wrap="none" lIns="0" tIns="0" rIns="0" bIns="0" rtlCol="0" anchor="t"/>
          <a:lstStyle/>
          <a:p>
            <a:pPr algn="ctr" indent="0" marL="0">
              <a:lnSpc>
                <a:spcPts val="3200"/>
              </a:lnSpc>
              <a:buNone/>
            </a:pPr>
            <a:r>
              <a:rPr lang="en-US" sz="2000" b="1" dirty="0">
                <a:solidFill>
                  <a:srgbClr val="000000"/>
                </a:solidFill>
                <a:latin typeface="Inter Bold" pitchFamily="34" charset="0"/>
                <a:ea typeface="Inter Bold" pitchFamily="34" charset="-122"/>
                <a:cs typeface="Inter Bold" pitchFamily="34" charset="-120"/>
              </a:rPr>
              <a:t>3</a:t>
            </a:r>
            <a:endParaRPr lang="en-US" sz="2000" dirty="0"/>
          </a:p>
        </p:txBody>
      </p:sp>
      <p:sp>
        <p:nvSpPr>
          <p:cNvPr id="15" name="Text 10"/>
          <p:cNvSpPr/>
          <p:nvPr/>
        </p:nvSpPr>
        <p:spPr>
          <a:xfrm>
            <a:off x="6372820" y="4263509"/>
            <a:ext cx="2755344" cy="318730"/>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Threshold Application</a:t>
            </a:r>
            <a:endParaRPr lang="en-US" sz="2000" dirty="0"/>
          </a:p>
        </p:txBody>
      </p:sp>
      <p:sp>
        <p:nvSpPr>
          <p:cNvPr id="16" name="Text 11"/>
          <p:cNvSpPr/>
          <p:nvPr/>
        </p:nvSpPr>
        <p:spPr>
          <a:xfrm>
            <a:off x="6372820" y="4704636"/>
            <a:ext cx="4730591" cy="326469"/>
          </a:xfrm>
          <a:prstGeom prst="rect">
            <a:avLst/>
          </a:prstGeom>
          <a:noFill/>
          <a:ln/>
        </p:spPr>
        <p:txBody>
          <a:bodyPr wrap="non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Values above threshold tend to 1, below tend to 0</a:t>
            </a:r>
            <a:endParaRPr lang="en-US" sz="1600" dirty="0"/>
          </a:p>
        </p:txBody>
      </p:sp>
      <p:sp>
        <p:nvSpPr>
          <p:cNvPr id="17" name="Shape 12"/>
          <p:cNvSpPr/>
          <p:nvPr/>
        </p:nvSpPr>
        <p:spPr>
          <a:xfrm>
            <a:off x="6219825" y="5251013"/>
            <a:ext cx="6965275" cy="11430"/>
          </a:xfrm>
          <a:prstGeom prst="roundRect">
            <a:avLst>
              <a:gd name="adj" fmla="val 749738"/>
            </a:avLst>
          </a:prstGeom>
          <a:solidFill>
            <a:srgbClr val="DDBBBA"/>
          </a:solidFill>
          <a:ln/>
        </p:spPr>
      </p:sp>
      <p:pic>
        <p:nvPicPr>
          <p:cNvPr id="18" name="Image 3" descr="preencoded.png">    </p:cNvPr>
          <p:cNvPicPr>
            <a:picLocks noChangeAspect="1"/>
          </p:cNvPicPr>
          <p:nvPr/>
        </p:nvPicPr>
        <p:blipFill>
          <a:blip r:embed="rId4"/>
          <a:stretch>
            <a:fillRect/>
          </a:stretch>
        </p:blipFill>
        <p:spPr>
          <a:xfrm>
            <a:off x="745212" y="5286018"/>
            <a:ext cx="6198394" cy="1175504"/>
          </a:xfrm>
          <a:prstGeom prst="rect">
            <a:avLst/>
          </a:prstGeom>
        </p:spPr>
      </p:pic>
      <p:sp>
        <p:nvSpPr>
          <p:cNvPr id="19" name="Text 13"/>
          <p:cNvSpPr/>
          <p:nvPr/>
        </p:nvSpPr>
        <p:spPr>
          <a:xfrm>
            <a:off x="3758089" y="5669756"/>
            <a:ext cx="172522" cy="408027"/>
          </a:xfrm>
          <a:prstGeom prst="rect">
            <a:avLst/>
          </a:prstGeom>
          <a:noFill/>
          <a:ln/>
        </p:spPr>
        <p:txBody>
          <a:bodyPr wrap="none" lIns="0" tIns="0" rIns="0" bIns="0" rtlCol="0" anchor="t"/>
          <a:lstStyle/>
          <a:p>
            <a:pPr algn="ctr" indent="0" marL="0">
              <a:lnSpc>
                <a:spcPts val="3200"/>
              </a:lnSpc>
              <a:buNone/>
            </a:pPr>
            <a:r>
              <a:rPr lang="en-US" sz="2000" b="1" dirty="0">
                <a:solidFill>
                  <a:srgbClr val="000000"/>
                </a:solidFill>
                <a:latin typeface="Inter Bold" pitchFamily="34" charset="0"/>
                <a:ea typeface="Inter Bold" pitchFamily="34" charset="-122"/>
                <a:cs typeface="Inter Bold" pitchFamily="34" charset="-120"/>
              </a:rPr>
              <a:t>4</a:t>
            </a:r>
            <a:endParaRPr lang="en-US" sz="2000" dirty="0"/>
          </a:p>
        </p:txBody>
      </p:sp>
      <p:sp>
        <p:nvSpPr>
          <p:cNvPr id="20" name="Text 14"/>
          <p:cNvSpPr/>
          <p:nvPr/>
        </p:nvSpPr>
        <p:spPr>
          <a:xfrm>
            <a:off x="7147560" y="5489972"/>
            <a:ext cx="2550438" cy="318730"/>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Mathematical Core</a:t>
            </a:r>
            <a:endParaRPr lang="en-US" sz="2000" dirty="0"/>
          </a:p>
        </p:txBody>
      </p:sp>
      <p:sp>
        <p:nvSpPr>
          <p:cNvPr id="21" name="Text 15"/>
          <p:cNvSpPr/>
          <p:nvPr/>
        </p:nvSpPr>
        <p:spPr>
          <a:xfrm>
            <a:off x="7147560" y="5931098"/>
            <a:ext cx="3386495" cy="326469"/>
          </a:xfrm>
          <a:prstGeom prst="rect">
            <a:avLst/>
          </a:prstGeom>
          <a:noFill/>
          <a:ln/>
        </p:spPr>
        <p:txBody>
          <a:bodyPr wrap="non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Core function of logistic regression</a:t>
            </a:r>
            <a:endParaRPr lang="en-US" sz="1600" dirty="0"/>
          </a:p>
        </p:txBody>
      </p:sp>
      <p:sp>
        <p:nvSpPr>
          <p:cNvPr id="22" name="Text 16"/>
          <p:cNvSpPr/>
          <p:nvPr/>
        </p:nvSpPr>
        <p:spPr>
          <a:xfrm>
            <a:off x="714018" y="6690955"/>
            <a:ext cx="12522041" cy="979408"/>
          </a:xfrm>
          <a:prstGeom prst="rect">
            <a:avLst/>
          </a:prstGeom>
          <a:noFill/>
          <a:ln/>
        </p:spPr>
        <p:txBody>
          <a:bodyPr wrap="square" lIns="0" tIns="0" rIns="0" bIns="0" rtlCol="0" anchor="t"/>
          <a:lstStyle/>
          <a:p>
            <a:pPr indent="0" marL="0">
              <a:lnSpc>
                <a:spcPts val="2550"/>
              </a:lnSpc>
              <a:buNone/>
            </a:pPr>
            <a:r>
              <a:rPr lang="en-US" sz="1600" dirty="0">
                <a:solidFill>
                  <a:srgbClr val="000000"/>
                </a:solidFill>
                <a:latin typeface="Inter" pitchFamily="34" charset="0"/>
                <a:ea typeface="Inter" pitchFamily="34" charset="-122"/>
                <a:cs typeface="Inter" pitchFamily="34" charset="-120"/>
              </a:rPr>
              <a:t>The sigmoid function is a mathematical function that maps any real-valued number to a value between 0 and 1. This is perfect for converting the output of a linear function into a probability value, which is essential for classification tasks. The function creates an S-shaped curve that smoothly transitions between the extremes.</a:t>
            </a:r>
            <a:endParaRPr lang="en-US" sz="1600" dirty="0"/>
          </a:p>
        </p:txBody>
      </p:sp>
      <p:pic>
        <p:nvPicPr>
          <p:cNvPr id="23" name="Image 4" descr="preencoded.png">    </p:cNvPr>
          <p:cNvPicPr>
            <a:picLocks noChangeAspect="1"/>
          </p:cNvPicPr>
          <p:nvPr/>
        </p:nvPicPr>
        <p:blipFill>
          <a:blip r:embed="rId5"/>
          <a:stretch>
            <a:fillRect/>
          </a:stretch>
        </p:blipFill>
        <p:spPr>
          <a:xfrm>
            <a:off x="13464778" y="228600"/>
            <a:ext cx="937022" cy="50280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10744200" y="3589020"/>
            <a:ext cx="2286000" cy="1051560"/>
          </a:xfrm>
          <a:prstGeom prst="rect">
            <a:avLst/>
          </a:prstGeom>
        </p:spPr>
      </p:pic>
      <p:sp>
        <p:nvSpPr>
          <p:cNvPr id="4" name="Text 0"/>
          <p:cNvSpPr/>
          <p:nvPr/>
        </p:nvSpPr>
        <p:spPr>
          <a:xfrm>
            <a:off x="635318" y="500301"/>
            <a:ext cx="6836807" cy="567095"/>
          </a:xfrm>
          <a:prstGeom prst="rect">
            <a:avLst/>
          </a:prstGeom>
          <a:noFill/>
          <a:ln/>
        </p:spPr>
        <p:txBody>
          <a:bodyPr wrap="none" lIns="0" tIns="0" rIns="0" bIns="0" rtlCol="0" anchor="t"/>
          <a:lstStyle/>
          <a:p>
            <a:pPr indent="0" marL="0">
              <a:lnSpc>
                <a:spcPts val="4450"/>
              </a:lnSpc>
              <a:buNone/>
            </a:pPr>
            <a:r>
              <a:rPr lang="en-US" sz="3550" b="1" dirty="0">
                <a:solidFill>
                  <a:srgbClr val="000000"/>
                </a:solidFill>
                <a:latin typeface="Inter Bold" pitchFamily="34" charset="0"/>
                <a:ea typeface="Inter Bold" pitchFamily="34" charset="-122"/>
                <a:cs typeface="Inter Bold" pitchFamily="34" charset="-120"/>
              </a:rPr>
              <a:t>Sigmoid Function Visualization</a:t>
            </a:r>
            <a:endParaRPr lang="en-US" sz="3550" dirty="0"/>
          </a:p>
        </p:txBody>
      </p:sp>
      <p:sp>
        <p:nvSpPr>
          <p:cNvPr id="5" name="Text 1"/>
          <p:cNvSpPr/>
          <p:nvPr/>
        </p:nvSpPr>
        <p:spPr>
          <a:xfrm>
            <a:off x="635318" y="1430298"/>
            <a:ext cx="3800594" cy="599003"/>
          </a:xfrm>
          <a:prstGeom prst="rect">
            <a:avLst/>
          </a:prstGeom>
          <a:noFill/>
          <a:ln/>
        </p:spPr>
        <p:txBody>
          <a:bodyPr wrap="none" lIns="0" tIns="0" rIns="0" bIns="0" rtlCol="0" anchor="t"/>
          <a:lstStyle/>
          <a:p>
            <a:pPr algn="ctr" indent="0" marL="0">
              <a:lnSpc>
                <a:spcPts val="4700"/>
              </a:lnSpc>
              <a:buNone/>
            </a:pPr>
            <a:r>
              <a:rPr lang="en-US" sz="4700" b="1" dirty="0">
                <a:solidFill>
                  <a:srgbClr val="000000"/>
                </a:solidFill>
                <a:latin typeface="Inter Bold" pitchFamily="34" charset="0"/>
                <a:ea typeface="Inter Bold" pitchFamily="34" charset="-122"/>
                <a:cs typeface="Inter Bold" pitchFamily="34" charset="-120"/>
              </a:rPr>
              <a:t>0</a:t>
            </a:r>
            <a:endParaRPr lang="en-US" sz="4700" dirty="0"/>
          </a:p>
        </p:txBody>
      </p:sp>
      <p:sp>
        <p:nvSpPr>
          <p:cNvPr id="6" name="Text 2"/>
          <p:cNvSpPr/>
          <p:nvPr/>
        </p:nvSpPr>
        <p:spPr>
          <a:xfrm>
            <a:off x="1401128" y="2256115"/>
            <a:ext cx="2268974" cy="283607"/>
          </a:xfrm>
          <a:prstGeom prst="rect">
            <a:avLst/>
          </a:prstGeom>
          <a:noFill/>
          <a:ln/>
        </p:spPr>
        <p:txBody>
          <a:bodyPr wrap="none" lIns="0" tIns="0" rIns="0" bIns="0" rtlCol="0" anchor="t"/>
          <a:lstStyle/>
          <a:p>
            <a:pPr algn="ctr" indent="0" marL="0">
              <a:lnSpc>
                <a:spcPts val="2200"/>
              </a:lnSpc>
              <a:buNone/>
            </a:pPr>
            <a:r>
              <a:rPr lang="en-US" sz="1750" b="1" dirty="0">
                <a:solidFill>
                  <a:srgbClr val="000000"/>
                </a:solidFill>
                <a:latin typeface="Inter Bold" pitchFamily="34" charset="0"/>
                <a:ea typeface="Inter Bold" pitchFamily="34" charset="-122"/>
                <a:cs typeface="Inter Bold" pitchFamily="34" charset="-120"/>
              </a:rPr>
              <a:t>Lower Limit</a:t>
            </a:r>
            <a:endParaRPr lang="en-US" sz="1750" dirty="0"/>
          </a:p>
        </p:txBody>
      </p:sp>
      <p:sp>
        <p:nvSpPr>
          <p:cNvPr id="7" name="Text 3"/>
          <p:cNvSpPr/>
          <p:nvPr/>
        </p:nvSpPr>
        <p:spPr>
          <a:xfrm>
            <a:off x="635318" y="2648545"/>
            <a:ext cx="3800594" cy="581025"/>
          </a:xfrm>
          <a:prstGeom prst="rect">
            <a:avLst/>
          </a:prstGeom>
          <a:noFill/>
          <a:ln/>
        </p:spPr>
        <p:txBody>
          <a:bodyPr wrap="square" lIns="0" tIns="0" rIns="0" bIns="0" rtlCol="0" anchor="t"/>
          <a:lstStyle/>
          <a:p>
            <a:pPr algn="ctr" indent="0" marL="0">
              <a:lnSpc>
                <a:spcPts val="2250"/>
              </a:lnSpc>
              <a:buNone/>
            </a:pPr>
            <a:r>
              <a:rPr lang="en-US" sz="1400" dirty="0">
                <a:solidFill>
                  <a:srgbClr val="000000"/>
                </a:solidFill>
                <a:latin typeface="Inter" pitchFamily="34" charset="0"/>
                <a:ea typeface="Inter" pitchFamily="34" charset="-122"/>
                <a:cs typeface="Inter" pitchFamily="34" charset="-120"/>
              </a:rPr>
              <a:t>As input approaches negative infinity, output approaches zero</a:t>
            </a:r>
            <a:endParaRPr lang="en-US" sz="1400" dirty="0"/>
          </a:p>
        </p:txBody>
      </p:sp>
      <p:sp>
        <p:nvSpPr>
          <p:cNvPr id="8" name="Text 4"/>
          <p:cNvSpPr/>
          <p:nvPr/>
        </p:nvSpPr>
        <p:spPr>
          <a:xfrm>
            <a:off x="4708088" y="1430298"/>
            <a:ext cx="3800594" cy="599003"/>
          </a:xfrm>
          <a:prstGeom prst="rect">
            <a:avLst/>
          </a:prstGeom>
          <a:noFill/>
          <a:ln/>
        </p:spPr>
        <p:txBody>
          <a:bodyPr wrap="none" lIns="0" tIns="0" rIns="0" bIns="0" rtlCol="0" anchor="t"/>
          <a:lstStyle/>
          <a:p>
            <a:pPr algn="ctr" indent="0" marL="0">
              <a:lnSpc>
                <a:spcPts val="4700"/>
              </a:lnSpc>
              <a:buNone/>
            </a:pPr>
            <a:r>
              <a:rPr lang="en-US" sz="4700" b="1" dirty="0">
                <a:solidFill>
                  <a:srgbClr val="000000"/>
                </a:solidFill>
                <a:latin typeface="Inter Bold" pitchFamily="34" charset="0"/>
                <a:ea typeface="Inter Bold" pitchFamily="34" charset="-122"/>
                <a:cs typeface="Inter Bold" pitchFamily="34" charset="-120"/>
              </a:rPr>
              <a:t>0.5</a:t>
            </a:r>
            <a:endParaRPr lang="en-US" sz="4700" dirty="0"/>
          </a:p>
        </p:txBody>
      </p:sp>
      <p:sp>
        <p:nvSpPr>
          <p:cNvPr id="9" name="Text 5"/>
          <p:cNvSpPr/>
          <p:nvPr/>
        </p:nvSpPr>
        <p:spPr>
          <a:xfrm>
            <a:off x="5473898" y="2256115"/>
            <a:ext cx="2268974" cy="283607"/>
          </a:xfrm>
          <a:prstGeom prst="rect">
            <a:avLst/>
          </a:prstGeom>
          <a:noFill/>
          <a:ln/>
        </p:spPr>
        <p:txBody>
          <a:bodyPr wrap="none" lIns="0" tIns="0" rIns="0" bIns="0" rtlCol="0" anchor="t"/>
          <a:lstStyle/>
          <a:p>
            <a:pPr algn="ctr" indent="0" marL="0">
              <a:lnSpc>
                <a:spcPts val="2200"/>
              </a:lnSpc>
              <a:buNone/>
            </a:pPr>
            <a:r>
              <a:rPr lang="en-US" sz="1750" b="1" dirty="0">
                <a:solidFill>
                  <a:srgbClr val="000000"/>
                </a:solidFill>
                <a:latin typeface="Inter Bold" pitchFamily="34" charset="0"/>
                <a:ea typeface="Inter Bold" pitchFamily="34" charset="-122"/>
                <a:cs typeface="Inter Bold" pitchFamily="34" charset="-120"/>
              </a:rPr>
              <a:t>Midpoint</a:t>
            </a:r>
            <a:endParaRPr lang="en-US" sz="1750" dirty="0"/>
          </a:p>
        </p:txBody>
      </p:sp>
      <p:sp>
        <p:nvSpPr>
          <p:cNvPr id="10" name="Text 6"/>
          <p:cNvSpPr/>
          <p:nvPr/>
        </p:nvSpPr>
        <p:spPr>
          <a:xfrm>
            <a:off x="4708088" y="2648545"/>
            <a:ext cx="3800594" cy="290513"/>
          </a:xfrm>
          <a:prstGeom prst="rect">
            <a:avLst/>
          </a:prstGeom>
          <a:noFill/>
          <a:ln/>
        </p:spPr>
        <p:txBody>
          <a:bodyPr wrap="none" lIns="0" tIns="0" rIns="0" bIns="0" rtlCol="0" anchor="t"/>
          <a:lstStyle/>
          <a:p>
            <a:pPr algn="ctr" indent="0" marL="0">
              <a:lnSpc>
                <a:spcPts val="2250"/>
              </a:lnSpc>
              <a:buNone/>
            </a:pPr>
            <a:r>
              <a:rPr lang="en-US" sz="1400" dirty="0">
                <a:solidFill>
                  <a:srgbClr val="000000"/>
                </a:solidFill>
                <a:latin typeface="Inter" pitchFamily="34" charset="0"/>
                <a:ea typeface="Inter" pitchFamily="34" charset="-122"/>
                <a:cs typeface="Inter" pitchFamily="34" charset="-120"/>
              </a:rPr>
              <a:t>When input is zero, output is exactly 0.5</a:t>
            </a:r>
            <a:endParaRPr lang="en-US" sz="1400" dirty="0"/>
          </a:p>
        </p:txBody>
      </p:sp>
      <p:sp>
        <p:nvSpPr>
          <p:cNvPr id="11" name="Text 7"/>
          <p:cNvSpPr/>
          <p:nvPr/>
        </p:nvSpPr>
        <p:spPr>
          <a:xfrm>
            <a:off x="2671643" y="3864769"/>
            <a:ext cx="3800594" cy="599003"/>
          </a:xfrm>
          <a:prstGeom prst="rect">
            <a:avLst/>
          </a:prstGeom>
          <a:noFill/>
          <a:ln/>
        </p:spPr>
        <p:txBody>
          <a:bodyPr wrap="none" lIns="0" tIns="0" rIns="0" bIns="0" rtlCol="0" anchor="t"/>
          <a:lstStyle/>
          <a:p>
            <a:pPr algn="ctr" indent="0" marL="0">
              <a:lnSpc>
                <a:spcPts val="4700"/>
              </a:lnSpc>
              <a:buNone/>
            </a:pPr>
            <a:r>
              <a:rPr lang="en-US" sz="4700" b="1" dirty="0">
                <a:solidFill>
                  <a:srgbClr val="000000"/>
                </a:solidFill>
                <a:latin typeface="Inter Bold" pitchFamily="34" charset="0"/>
                <a:ea typeface="Inter Bold" pitchFamily="34" charset="-122"/>
                <a:cs typeface="Inter Bold" pitchFamily="34" charset="-120"/>
              </a:rPr>
              <a:t>1</a:t>
            </a:r>
            <a:endParaRPr lang="en-US" sz="4700" dirty="0"/>
          </a:p>
        </p:txBody>
      </p:sp>
      <p:sp>
        <p:nvSpPr>
          <p:cNvPr id="12" name="Text 8"/>
          <p:cNvSpPr/>
          <p:nvPr/>
        </p:nvSpPr>
        <p:spPr>
          <a:xfrm>
            <a:off x="3437453" y="4690586"/>
            <a:ext cx="2268974" cy="283607"/>
          </a:xfrm>
          <a:prstGeom prst="rect">
            <a:avLst/>
          </a:prstGeom>
          <a:noFill/>
          <a:ln/>
        </p:spPr>
        <p:txBody>
          <a:bodyPr wrap="none" lIns="0" tIns="0" rIns="0" bIns="0" rtlCol="0" anchor="t"/>
          <a:lstStyle/>
          <a:p>
            <a:pPr algn="ctr" indent="0" marL="0">
              <a:lnSpc>
                <a:spcPts val="2200"/>
              </a:lnSpc>
              <a:buNone/>
            </a:pPr>
            <a:r>
              <a:rPr lang="en-US" sz="1750" b="1" dirty="0">
                <a:solidFill>
                  <a:srgbClr val="000000"/>
                </a:solidFill>
                <a:latin typeface="Inter Bold" pitchFamily="34" charset="0"/>
                <a:ea typeface="Inter Bold" pitchFamily="34" charset="-122"/>
                <a:cs typeface="Inter Bold" pitchFamily="34" charset="-120"/>
              </a:rPr>
              <a:t>Upper Limit</a:t>
            </a:r>
            <a:endParaRPr lang="en-US" sz="1750" dirty="0"/>
          </a:p>
        </p:txBody>
      </p:sp>
      <p:sp>
        <p:nvSpPr>
          <p:cNvPr id="13" name="Text 9"/>
          <p:cNvSpPr/>
          <p:nvPr/>
        </p:nvSpPr>
        <p:spPr>
          <a:xfrm>
            <a:off x="2671643" y="5083016"/>
            <a:ext cx="3800594" cy="581025"/>
          </a:xfrm>
          <a:prstGeom prst="rect">
            <a:avLst/>
          </a:prstGeom>
          <a:noFill/>
          <a:ln/>
        </p:spPr>
        <p:txBody>
          <a:bodyPr wrap="square" lIns="0" tIns="0" rIns="0" bIns="0" rtlCol="0" anchor="t"/>
          <a:lstStyle/>
          <a:p>
            <a:pPr algn="ctr" indent="0" marL="0">
              <a:lnSpc>
                <a:spcPts val="2250"/>
              </a:lnSpc>
              <a:buNone/>
            </a:pPr>
            <a:r>
              <a:rPr lang="en-US" sz="1400" dirty="0">
                <a:solidFill>
                  <a:srgbClr val="000000"/>
                </a:solidFill>
                <a:latin typeface="Inter" pitchFamily="34" charset="0"/>
                <a:ea typeface="Inter" pitchFamily="34" charset="-122"/>
                <a:cs typeface="Inter" pitchFamily="34" charset="-120"/>
              </a:rPr>
              <a:t>As input approaches positive infinity, output approaches one</a:t>
            </a:r>
            <a:endParaRPr lang="en-US" sz="1400" dirty="0"/>
          </a:p>
        </p:txBody>
      </p:sp>
      <p:sp>
        <p:nvSpPr>
          <p:cNvPr id="14" name="Text 10"/>
          <p:cNvSpPr/>
          <p:nvPr/>
        </p:nvSpPr>
        <p:spPr>
          <a:xfrm>
            <a:off x="635318" y="5868233"/>
            <a:ext cx="7873365" cy="290513"/>
          </a:xfrm>
          <a:prstGeom prst="rect">
            <a:avLst/>
          </a:prstGeom>
          <a:noFill/>
          <a:ln/>
        </p:spPr>
        <p:txBody>
          <a:bodyPr wrap="none" lIns="0" tIns="0" rIns="0" bIns="0" rtlCol="0" anchor="t"/>
          <a:lstStyle/>
          <a:p>
            <a:pPr indent="0" marL="0">
              <a:lnSpc>
                <a:spcPts val="2250"/>
              </a:lnSpc>
              <a:buNone/>
            </a:pPr>
            <a:r>
              <a:rPr lang="en-US" sz="1400" dirty="0">
                <a:solidFill>
                  <a:srgbClr val="000000"/>
                </a:solidFill>
                <a:latin typeface="Inter" pitchFamily="34" charset="0"/>
                <a:ea typeface="Inter" pitchFamily="34" charset="-122"/>
                <a:cs typeface="Inter" pitchFamily="34" charset="-120"/>
              </a:rPr>
              <a:t>The mathematical formula for the sigmoid function is:</a:t>
            </a:r>
            <a:endParaRPr lang="en-US" sz="1400" dirty="0"/>
          </a:p>
        </p:txBody>
      </p:sp>
      <p:sp>
        <p:nvSpPr>
          <p:cNvPr id="15" name="Text 11"/>
          <p:cNvSpPr/>
          <p:nvPr/>
        </p:nvSpPr>
        <p:spPr>
          <a:xfrm>
            <a:off x="635318" y="6362938"/>
            <a:ext cx="7873365" cy="290513"/>
          </a:xfrm>
          <a:prstGeom prst="rect">
            <a:avLst/>
          </a:prstGeom>
          <a:noFill/>
          <a:ln/>
        </p:spPr>
        <p:txBody>
          <a:bodyPr wrap="none" lIns="0" tIns="0" rIns="0" bIns="0" rtlCol="0" anchor="t"/>
          <a:lstStyle/>
          <a:p>
            <a:pPr indent="0" marL="0">
              <a:lnSpc>
                <a:spcPts val="2250"/>
              </a:lnSpc>
              <a:buNone/>
            </a:pPr>
            <a:r>
              <a:rPr lang="en-US" sz="1400" dirty="0">
                <a:solidFill>
                  <a:srgbClr val="000000"/>
                </a:solidFill>
                <a:latin typeface="Inter" pitchFamily="34" charset="0"/>
                <a:ea typeface="Inter" pitchFamily="34" charset="-122"/>
                <a:cs typeface="Inter" pitchFamily="34" charset="-120"/>
              </a:rPr>
              <a:t>σ(z) = 1/(1+e^(-z))</a:t>
            </a:r>
            <a:endParaRPr lang="en-US" sz="1400" dirty="0"/>
          </a:p>
        </p:txBody>
      </p:sp>
      <p:sp>
        <p:nvSpPr>
          <p:cNvPr id="16" name="Text 12"/>
          <p:cNvSpPr/>
          <p:nvPr/>
        </p:nvSpPr>
        <p:spPr>
          <a:xfrm>
            <a:off x="635318" y="6857643"/>
            <a:ext cx="7873365" cy="871538"/>
          </a:xfrm>
          <a:prstGeom prst="rect">
            <a:avLst/>
          </a:prstGeom>
          <a:noFill/>
          <a:ln/>
        </p:spPr>
        <p:txBody>
          <a:bodyPr wrap="square" lIns="0" tIns="0" rIns="0" bIns="0" rtlCol="0" anchor="t"/>
          <a:lstStyle/>
          <a:p>
            <a:pPr indent="0" marL="0">
              <a:lnSpc>
                <a:spcPts val="2250"/>
              </a:lnSpc>
              <a:buNone/>
            </a:pPr>
            <a:r>
              <a:rPr lang="en-US" sz="1400" dirty="0">
                <a:solidFill>
                  <a:srgbClr val="000000"/>
                </a:solidFill>
                <a:latin typeface="Inter" pitchFamily="34" charset="0"/>
                <a:ea typeface="Inter" pitchFamily="34" charset="-122"/>
                <a:cs typeface="Inter" pitchFamily="34" charset="-120"/>
              </a:rPr>
              <a:t>This function takes any real-valued number and transforms it into a value between 0 and 1. At the point where z=0, the function outputs exactly 0.5, which is often used as the classification threshold in binary logistic regression.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455539"/>
            <a:ext cx="8740616" cy="708779"/>
          </a:xfrm>
          <a:prstGeom prst="rect">
            <a:avLst/>
          </a:prstGeom>
          <a:noFill/>
          <a:ln/>
        </p:spPr>
        <p:txBody>
          <a:bodyPr wrap="none" lIns="0" tIns="0" rIns="0" bIns="0" rtlCol="0" anchor="t"/>
          <a:lstStyle/>
          <a:p>
            <a:pPr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How Logistic Regression Works</a:t>
            </a:r>
            <a:endParaRPr lang="en-US" sz="4450" dirty="0"/>
          </a:p>
        </p:txBody>
      </p:sp>
      <p:sp>
        <p:nvSpPr>
          <p:cNvPr id="3" name="Shape 1"/>
          <p:cNvSpPr/>
          <p:nvPr/>
        </p:nvSpPr>
        <p:spPr>
          <a:xfrm>
            <a:off x="793790" y="3525203"/>
            <a:ext cx="2855357" cy="226814"/>
          </a:xfrm>
          <a:prstGeom prst="roundRect">
            <a:avLst>
              <a:gd name="adj" fmla="val 42003"/>
            </a:avLst>
          </a:prstGeom>
          <a:solidFill>
            <a:srgbClr val="F7D5D4"/>
          </a:solidFill>
          <a:ln w="7620">
            <a:solidFill>
              <a:srgbClr val="DDBBBA"/>
            </a:solidFill>
            <a:prstDash val="solid"/>
          </a:ln>
        </p:spPr>
      </p:sp>
      <p:sp>
        <p:nvSpPr>
          <p:cNvPr id="4" name="Text 2"/>
          <p:cNvSpPr/>
          <p:nvPr/>
        </p:nvSpPr>
        <p:spPr>
          <a:xfrm>
            <a:off x="793790" y="4092178"/>
            <a:ext cx="2855357" cy="708660"/>
          </a:xfrm>
          <a:prstGeom prst="rect">
            <a:avLst/>
          </a:prstGeom>
          <a:noFill/>
          <a:ln/>
        </p:spPr>
        <p:txBody>
          <a:bodyPr wrap="squar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Linear Transformation</a:t>
            </a:r>
            <a:endParaRPr lang="en-US" sz="2200" dirty="0"/>
          </a:p>
        </p:txBody>
      </p:sp>
      <p:sp>
        <p:nvSpPr>
          <p:cNvPr id="5" name="Text 3"/>
          <p:cNvSpPr/>
          <p:nvPr/>
        </p:nvSpPr>
        <p:spPr>
          <a:xfrm>
            <a:off x="793790" y="4936927"/>
            <a:ext cx="2855357" cy="1814513"/>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First, a linear combination of input features is calculated using weights and bias, similar to linear regression: z = w·X + b</a:t>
            </a:r>
            <a:endParaRPr lang="en-US" sz="1750" dirty="0"/>
          </a:p>
        </p:txBody>
      </p:sp>
      <p:sp>
        <p:nvSpPr>
          <p:cNvPr id="6" name="Shape 4"/>
          <p:cNvSpPr/>
          <p:nvPr/>
        </p:nvSpPr>
        <p:spPr>
          <a:xfrm>
            <a:off x="3989308" y="3184922"/>
            <a:ext cx="2855476" cy="226814"/>
          </a:xfrm>
          <a:prstGeom prst="roundRect">
            <a:avLst>
              <a:gd name="adj" fmla="val 42003"/>
            </a:avLst>
          </a:prstGeom>
          <a:solidFill>
            <a:srgbClr val="F7D5D4"/>
          </a:solidFill>
          <a:ln w="7620">
            <a:solidFill>
              <a:srgbClr val="DDBBBA"/>
            </a:solidFill>
            <a:prstDash val="solid"/>
          </a:ln>
        </p:spPr>
      </p:sp>
      <p:sp>
        <p:nvSpPr>
          <p:cNvPr id="7" name="Text 5"/>
          <p:cNvSpPr/>
          <p:nvPr/>
        </p:nvSpPr>
        <p:spPr>
          <a:xfrm>
            <a:off x="3989308" y="3751898"/>
            <a:ext cx="2855476" cy="708660"/>
          </a:xfrm>
          <a:prstGeom prst="rect">
            <a:avLst/>
          </a:prstGeom>
          <a:noFill/>
          <a:ln/>
        </p:spPr>
        <p:txBody>
          <a:bodyPr wrap="squar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Sigmoid Transformation</a:t>
            </a:r>
            <a:endParaRPr lang="en-US" sz="2200" dirty="0"/>
          </a:p>
        </p:txBody>
      </p:sp>
      <p:sp>
        <p:nvSpPr>
          <p:cNvPr id="8" name="Text 6"/>
          <p:cNvSpPr/>
          <p:nvPr/>
        </p:nvSpPr>
        <p:spPr>
          <a:xfrm>
            <a:off x="3989308" y="4596646"/>
            <a:ext cx="2855476" cy="217741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The linear output is then passed through the sigmoid function to transform it into a probability value between 0 and 1: σ(z) = 1/(1+e^(-z))</a:t>
            </a:r>
            <a:endParaRPr lang="en-US" sz="1750" dirty="0"/>
          </a:p>
        </p:txBody>
      </p:sp>
      <p:sp>
        <p:nvSpPr>
          <p:cNvPr id="9" name="Shape 7"/>
          <p:cNvSpPr/>
          <p:nvPr/>
        </p:nvSpPr>
        <p:spPr>
          <a:xfrm>
            <a:off x="7184946" y="2844641"/>
            <a:ext cx="2855476" cy="226814"/>
          </a:xfrm>
          <a:prstGeom prst="roundRect">
            <a:avLst>
              <a:gd name="adj" fmla="val 42003"/>
            </a:avLst>
          </a:prstGeom>
          <a:solidFill>
            <a:srgbClr val="F7D5D4"/>
          </a:solidFill>
          <a:ln w="7620">
            <a:solidFill>
              <a:srgbClr val="DDBBBA"/>
            </a:solidFill>
            <a:prstDash val="solid"/>
          </a:ln>
        </p:spPr>
      </p:sp>
      <p:sp>
        <p:nvSpPr>
          <p:cNvPr id="10" name="Text 8"/>
          <p:cNvSpPr/>
          <p:nvPr/>
        </p:nvSpPr>
        <p:spPr>
          <a:xfrm>
            <a:off x="7184946" y="3411617"/>
            <a:ext cx="2855476" cy="708660"/>
          </a:xfrm>
          <a:prstGeom prst="rect">
            <a:avLst/>
          </a:prstGeom>
          <a:noFill/>
          <a:ln/>
        </p:spPr>
        <p:txBody>
          <a:bodyPr wrap="squar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Probability Interpretation</a:t>
            </a:r>
            <a:endParaRPr lang="en-US" sz="2200" dirty="0"/>
          </a:p>
        </p:txBody>
      </p:sp>
      <p:sp>
        <p:nvSpPr>
          <p:cNvPr id="11" name="Text 9"/>
          <p:cNvSpPr/>
          <p:nvPr/>
        </p:nvSpPr>
        <p:spPr>
          <a:xfrm>
            <a:off x="7184946" y="4256365"/>
            <a:ext cx="2855476" cy="1814513"/>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The resulting probability value represents the likelihood of the positive class: P(y=1) = σ(z) and P(y=0) = 1-σ(z)</a:t>
            </a:r>
            <a:endParaRPr lang="en-US" sz="1750" dirty="0"/>
          </a:p>
        </p:txBody>
      </p:sp>
      <p:sp>
        <p:nvSpPr>
          <p:cNvPr id="12" name="Shape 10"/>
          <p:cNvSpPr/>
          <p:nvPr/>
        </p:nvSpPr>
        <p:spPr>
          <a:xfrm>
            <a:off x="10380583" y="2504480"/>
            <a:ext cx="2855476" cy="226814"/>
          </a:xfrm>
          <a:prstGeom prst="roundRect">
            <a:avLst>
              <a:gd name="adj" fmla="val 42003"/>
            </a:avLst>
          </a:prstGeom>
          <a:solidFill>
            <a:srgbClr val="F7D5D4"/>
          </a:solidFill>
          <a:ln w="7620">
            <a:solidFill>
              <a:srgbClr val="DDBBBA"/>
            </a:solidFill>
            <a:prstDash val="solid"/>
          </a:ln>
        </p:spPr>
      </p:sp>
      <p:sp>
        <p:nvSpPr>
          <p:cNvPr id="13" name="Text 11"/>
          <p:cNvSpPr/>
          <p:nvPr/>
        </p:nvSpPr>
        <p:spPr>
          <a:xfrm>
            <a:off x="10380583" y="3071455"/>
            <a:ext cx="2855476" cy="708660"/>
          </a:xfrm>
          <a:prstGeom prst="rect">
            <a:avLst/>
          </a:prstGeom>
          <a:noFill/>
          <a:ln/>
        </p:spPr>
        <p:txBody>
          <a:bodyPr wrap="squar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Classification Decision</a:t>
            </a:r>
            <a:endParaRPr lang="en-US" sz="2200" dirty="0"/>
          </a:p>
        </p:txBody>
      </p:sp>
      <p:sp>
        <p:nvSpPr>
          <p:cNvPr id="14" name="Text 12"/>
          <p:cNvSpPr/>
          <p:nvPr/>
        </p:nvSpPr>
        <p:spPr>
          <a:xfrm>
            <a:off x="10380583" y="3916204"/>
            <a:ext cx="2855476" cy="1814513"/>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Finally, a threshold (typically 0.5) is applied to convert the probability into a binary class prediction</a:t>
            </a:r>
            <a:endParaRPr lang="en-US" sz="1750" dirty="0"/>
          </a:p>
        </p:txBody>
      </p:sp>
      <p:pic>
        <p:nvPicPr>
          <p:cNvPr id="15" name="Image 0" descr="preencoded.png">    </p:cNvPr>
          <p:cNvPicPr>
            <a:picLocks noChangeAspect="1"/>
          </p:cNvPicPr>
          <p:nvPr/>
        </p:nvPicPr>
        <p:blipFill>
          <a:blip r:embed="rId1"/>
          <a:stretch>
            <a:fillRect/>
          </a:stretch>
        </p:blipFill>
        <p:spPr>
          <a:xfrm>
            <a:off x="13464778" y="228600"/>
            <a:ext cx="937022" cy="50280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52701" y="512802"/>
            <a:ext cx="7169348" cy="582811"/>
          </a:xfrm>
          <a:prstGeom prst="rect">
            <a:avLst/>
          </a:prstGeom>
          <a:noFill/>
          <a:ln/>
        </p:spPr>
        <p:txBody>
          <a:bodyPr wrap="none" lIns="0" tIns="0" rIns="0" bIns="0" rtlCol="0" anchor="t"/>
          <a:lstStyle/>
          <a:p>
            <a:pPr indent="0" marL="0">
              <a:lnSpc>
                <a:spcPts val="4550"/>
              </a:lnSpc>
              <a:buNone/>
            </a:pPr>
            <a:r>
              <a:rPr lang="en-US" sz="3650" b="1" dirty="0">
                <a:solidFill>
                  <a:srgbClr val="000000"/>
                </a:solidFill>
                <a:latin typeface="Inter Bold" pitchFamily="34" charset="0"/>
                <a:ea typeface="Inter Bold" pitchFamily="34" charset="-122"/>
                <a:cs typeface="Inter Bold" pitchFamily="34" charset="-120"/>
              </a:rPr>
              <a:t>Equation of Logistic Regression</a:t>
            </a:r>
            <a:endParaRPr lang="en-US" sz="3650" dirty="0"/>
          </a:p>
        </p:txBody>
      </p:sp>
      <p:pic>
        <p:nvPicPr>
          <p:cNvPr id="3" name="Image 0" descr="preencoded.png">    </p:cNvPr>
          <p:cNvPicPr>
            <a:picLocks noChangeAspect="1"/>
          </p:cNvPicPr>
          <p:nvPr/>
        </p:nvPicPr>
        <p:blipFill>
          <a:blip r:embed="rId1"/>
          <a:stretch>
            <a:fillRect/>
          </a:stretch>
        </p:blipFill>
        <p:spPr>
          <a:xfrm>
            <a:off x="660321" y="1589961"/>
            <a:ext cx="4089916" cy="4089916"/>
          </a:xfrm>
          <a:prstGeom prst="rect">
            <a:avLst/>
          </a:prstGeom>
        </p:spPr>
      </p:pic>
      <p:pic>
        <p:nvPicPr>
          <p:cNvPr id="4" name="Image 1" descr="preencoded.png">    </p:cNvPr>
          <p:cNvPicPr>
            <a:picLocks noChangeAspect="1"/>
          </p:cNvPicPr>
          <p:nvPr/>
        </p:nvPicPr>
        <p:blipFill>
          <a:blip r:embed="rId2"/>
          <a:stretch>
            <a:fillRect/>
          </a:stretch>
        </p:blipFill>
        <p:spPr>
          <a:xfrm>
            <a:off x="4899422" y="1589961"/>
            <a:ext cx="4089916" cy="4089916"/>
          </a:xfrm>
          <a:prstGeom prst="rect">
            <a:avLst/>
          </a:prstGeom>
        </p:spPr>
      </p:pic>
      <p:pic>
        <p:nvPicPr>
          <p:cNvPr id="5" name="Image 2" descr="preencoded.png">    </p:cNvPr>
          <p:cNvPicPr>
            <a:picLocks noChangeAspect="1"/>
          </p:cNvPicPr>
          <p:nvPr/>
        </p:nvPicPr>
        <p:blipFill>
          <a:blip r:embed="rId3"/>
          <a:stretch>
            <a:fillRect/>
          </a:stretch>
        </p:blipFill>
        <p:spPr>
          <a:xfrm>
            <a:off x="9138523" y="1589961"/>
            <a:ext cx="4089916" cy="4089916"/>
          </a:xfrm>
          <a:prstGeom prst="rect">
            <a:avLst/>
          </a:prstGeom>
        </p:spPr>
      </p:pic>
      <p:sp>
        <p:nvSpPr>
          <p:cNvPr id="6" name="Text 1"/>
          <p:cNvSpPr/>
          <p:nvPr/>
        </p:nvSpPr>
        <p:spPr>
          <a:xfrm>
            <a:off x="652701" y="6011108"/>
            <a:ext cx="12583358" cy="596503"/>
          </a:xfrm>
          <a:prstGeom prst="rect">
            <a:avLst/>
          </a:prstGeom>
          <a:noFill/>
          <a:ln/>
        </p:spPr>
        <p:txBody>
          <a:bodyPr wrap="square" lIns="0" tIns="0" rIns="0" bIns="0" rtlCol="0" anchor="t"/>
          <a:lstStyle/>
          <a:p>
            <a:pPr indent="0" marL="0">
              <a:lnSpc>
                <a:spcPts val="2300"/>
              </a:lnSpc>
              <a:buNone/>
            </a:pPr>
            <a:r>
              <a:rPr lang="en-US" sz="1450" dirty="0">
                <a:solidFill>
                  <a:srgbClr val="000000"/>
                </a:solidFill>
                <a:latin typeface="Inter" pitchFamily="34" charset="0"/>
                <a:ea typeface="Inter" pitchFamily="34" charset="-122"/>
                <a:cs typeface="Inter" pitchFamily="34" charset="-120"/>
              </a:rPr>
              <a:t>The odds ratio in logistic regression represents the ratio of something occurring to something not occurring. It differs from probability, which is the ratio of something occurring to everything that could possibly occur.</a:t>
            </a:r>
            <a:endParaRPr lang="en-US" sz="1450" dirty="0"/>
          </a:p>
        </p:txBody>
      </p:sp>
      <p:sp>
        <p:nvSpPr>
          <p:cNvPr id="7" name="Text 2"/>
          <p:cNvSpPr/>
          <p:nvPr/>
        </p:nvSpPr>
        <p:spPr>
          <a:xfrm>
            <a:off x="652701" y="6817400"/>
            <a:ext cx="12583358" cy="298252"/>
          </a:xfrm>
          <a:prstGeom prst="rect">
            <a:avLst/>
          </a:prstGeom>
          <a:noFill/>
          <a:ln/>
        </p:spPr>
        <p:txBody>
          <a:bodyPr wrap="none" lIns="0" tIns="0" rIns="0" bIns="0" rtlCol="0" anchor="t"/>
          <a:lstStyle/>
          <a:p>
            <a:pPr indent="0" marL="0">
              <a:lnSpc>
                <a:spcPts val="2300"/>
              </a:lnSpc>
              <a:buNone/>
            </a:pPr>
            <a:r>
              <a:rPr lang="en-US" sz="1450" dirty="0">
                <a:solidFill>
                  <a:srgbClr val="000000"/>
                </a:solidFill>
                <a:latin typeface="Inter" pitchFamily="34" charset="0"/>
                <a:ea typeface="Inter" pitchFamily="34" charset="-122"/>
                <a:cs typeface="Inter" pitchFamily="34" charset="-120"/>
              </a:rPr>
              <a:t>The odds can be expressed as: p(x)/(1-p(x)) = e^z</a:t>
            </a:r>
            <a:endParaRPr lang="en-US" sz="1450" dirty="0"/>
          </a:p>
        </p:txBody>
      </p:sp>
      <p:sp>
        <p:nvSpPr>
          <p:cNvPr id="8" name="Text 3"/>
          <p:cNvSpPr/>
          <p:nvPr/>
        </p:nvSpPr>
        <p:spPr>
          <a:xfrm>
            <a:off x="652701" y="7325439"/>
            <a:ext cx="12583358" cy="298252"/>
          </a:xfrm>
          <a:prstGeom prst="rect">
            <a:avLst/>
          </a:prstGeom>
          <a:noFill/>
          <a:ln/>
        </p:spPr>
        <p:txBody>
          <a:bodyPr wrap="none" lIns="0" tIns="0" rIns="0" bIns="0" rtlCol="0" anchor="t"/>
          <a:lstStyle/>
          <a:p>
            <a:pPr indent="0" marL="0">
              <a:lnSpc>
                <a:spcPts val="2300"/>
              </a:lnSpc>
              <a:buNone/>
            </a:pPr>
            <a:r>
              <a:rPr lang="en-US" sz="1450" dirty="0">
                <a:solidFill>
                  <a:srgbClr val="000000"/>
                </a:solidFill>
                <a:latin typeface="Inter" pitchFamily="34" charset="0"/>
                <a:ea typeface="Inter" pitchFamily="34" charset="-122"/>
                <a:cs typeface="Inter" pitchFamily="34" charset="-120"/>
              </a:rPr>
              <a:t>Taking the natural logarithm of the odds (log odds) gives us: log[p(x)/(1-p(x))] = w·X + b</a:t>
            </a:r>
            <a:endParaRPr lang="en-US" sz="1450" dirty="0"/>
          </a:p>
        </p:txBody>
      </p:sp>
      <p:sp>
        <p:nvSpPr>
          <p:cNvPr id="9" name="Text 4"/>
          <p:cNvSpPr/>
          <p:nvPr/>
        </p:nvSpPr>
        <p:spPr>
          <a:xfrm>
            <a:off x="652701" y="7833479"/>
            <a:ext cx="12583358" cy="298252"/>
          </a:xfrm>
          <a:prstGeom prst="rect">
            <a:avLst/>
          </a:prstGeom>
          <a:noFill/>
          <a:ln/>
        </p:spPr>
        <p:txBody>
          <a:bodyPr wrap="none" lIns="0" tIns="0" rIns="0" bIns="0" rtlCol="0" anchor="t"/>
          <a:lstStyle/>
          <a:p>
            <a:pPr indent="0" marL="0">
              <a:lnSpc>
                <a:spcPts val="2300"/>
              </a:lnSpc>
              <a:buNone/>
            </a:pPr>
            <a:r>
              <a:rPr lang="en-US" sz="1450" dirty="0">
                <a:solidFill>
                  <a:srgbClr val="000000"/>
                </a:solidFill>
                <a:latin typeface="Inter" pitchFamily="34" charset="0"/>
                <a:ea typeface="Inter" pitchFamily="34" charset="-122"/>
                <a:cs typeface="Inter" pitchFamily="34" charset="-120"/>
              </a:rPr>
              <a:t>The final logistic regression equation becomes: p(X;b,w) = e^(w·X + b)/(1+e^(w·X + b)) = 1/(1+e^(-(w·X + b)))</a:t>
            </a:r>
            <a:endParaRPr lang="en-US" sz="1450" dirty="0"/>
          </a:p>
        </p:txBody>
      </p:sp>
      <p:pic>
        <p:nvPicPr>
          <p:cNvPr id="10" name="Image 3" descr="preencoded.png">    </p:cNvPr>
          <p:cNvPicPr>
            <a:picLocks noChangeAspect="1"/>
          </p:cNvPicPr>
          <p:nvPr/>
        </p:nvPicPr>
        <p:blipFill>
          <a:blip r:embed="rId4"/>
          <a:stretch>
            <a:fillRect/>
          </a:stretch>
        </p:blipFill>
        <p:spPr>
          <a:xfrm>
            <a:off x="13464778" y="228600"/>
            <a:ext cx="937022" cy="50280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881420"/>
            <a:ext cx="11883866" cy="708779"/>
          </a:xfrm>
          <a:prstGeom prst="rect">
            <a:avLst/>
          </a:prstGeom>
          <a:noFill/>
          <a:ln/>
        </p:spPr>
        <p:txBody>
          <a:bodyPr wrap="none" lIns="0" tIns="0" rIns="0" bIns="0" rtlCol="0" anchor="t"/>
          <a:lstStyle/>
          <a:p>
            <a:pPr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Likelihood Function for Logistic Regression</a:t>
            </a:r>
            <a:endParaRPr lang="en-US" sz="4450" dirty="0"/>
          </a:p>
        </p:txBody>
      </p:sp>
      <p:sp>
        <p:nvSpPr>
          <p:cNvPr id="3" name="Shape 1"/>
          <p:cNvSpPr/>
          <p:nvPr/>
        </p:nvSpPr>
        <p:spPr>
          <a:xfrm>
            <a:off x="793790" y="2043827"/>
            <a:ext cx="12442269" cy="2979420"/>
          </a:xfrm>
          <a:prstGeom prst="roundRect">
            <a:avLst>
              <a:gd name="adj" fmla="val 3198"/>
            </a:avLst>
          </a:prstGeom>
          <a:noFill/>
          <a:ln w="7620">
            <a:solidFill>
              <a:srgbClr val="000000">
                <a:alpha val="8000"/>
              </a:srgbClr>
            </a:solidFill>
            <a:prstDash val="solid"/>
          </a:ln>
        </p:spPr>
      </p:sp>
      <p:sp>
        <p:nvSpPr>
          <p:cNvPr id="4" name="Shape 2"/>
          <p:cNvSpPr/>
          <p:nvPr/>
        </p:nvSpPr>
        <p:spPr>
          <a:xfrm>
            <a:off x="801410" y="2051447"/>
            <a:ext cx="12427029" cy="650319"/>
          </a:xfrm>
          <a:prstGeom prst="rect">
            <a:avLst/>
          </a:prstGeom>
          <a:solidFill>
            <a:srgbClr val="FFFFFF">
              <a:alpha val="4000"/>
            </a:srgbClr>
          </a:solidFill>
          <a:ln/>
        </p:spPr>
      </p:sp>
      <p:sp>
        <p:nvSpPr>
          <p:cNvPr id="5" name="Text 3"/>
          <p:cNvSpPr/>
          <p:nvPr/>
        </p:nvSpPr>
        <p:spPr>
          <a:xfrm>
            <a:off x="1028224" y="2195155"/>
            <a:ext cx="5756077" cy="362903"/>
          </a:xfrm>
          <a:prstGeom prst="rect">
            <a:avLst/>
          </a:prstGeom>
          <a:noFill/>
          <a:ln/>
        </p:spPr>
        <p:txBody>
          <a:bodyPr wrap="non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For y=1</a:t>
            </a:r>
            <a:endParaRPr lang="en-US" sz="1750" dirty="0"/>
          </a:p>
        </p:txBody>
      </p:sp>
      <p:sp>
        <p:nvSpPr>
          <p:cNvPr id="6" name="Text 4"/>
          <p:cNvSpPr/>
          <p:nvPr/>
        </p:nvSpPr>
        <p:spPr>
          <a:xfrm>
            <a:off x="7245548" y="2195155"/>
            <a:ext cx="5756077" cy="362903"/>
          </a:xfrm>
          <a:prstGeom prst="rect">
            <a:avLst/>
          </a:prstGeom>
          <a:noFill/>
          <a:ln/>
        </p:spPr>
        <p:txBody>
          <a:bodyPr wrap="non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Predicted probability = p(X;b,w) = p(x)</a:t>
            </a:r>
            <a:endParaRPr lang="en-US" sz="1750" dirty="0"/>
          </a:p>
        </p:txBody>
      </p:sp>
      <p:sp>
        <p:nvSpPr>
          <p:cNvPr id="7" name="Shape 5"/>
          <p:cNvSpPr/>
          <p:nvPr/>
        </p:nvSpPr>
        <p:spPr>
          <a:xfrm>
            <a:off x="801410" y="2701766"/>
            <a:ext cx="12427029" cy="650319"/>
          </a:xfrm>
          <a:prstGeom prst="rect">
            <a:avLst/>
          </a:prstGeom>
          <a:solidFill>
            <a:srgbClr val="000000">
              <a:alpha val="4000"/>
            </a:srgbClr>
          </a:solidFill>
          <a:ln/>
        </p:spPr>
      </p:sp>
      <p:sp>
        <p:nvSpPr>
          <p:cNvPr id="8" name="Text 6"/>
          <p:cNvSpPr/>
          <p:nvPr/>
        </p:nvSpPr>
        <p:spPr>
          <a:xfrm>
            <a:off x="1028224" y="2845475"/>
            <a:ext cx="5756077" cy="362903"/>
          </a:xfrm>
          <a:prstGeom prst="rect">
            <a:avLst/>
          </a:prstGeom>
          <a:noFill/>
          <a:ln/>
        </p:spPr>
        <p:txBody>
          <a:bodyPr wrap="non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For y=0</a:t>
            </a:r>
            <a:endParaRPr lang="en-US" sz="1750" dirty="0"/>
          </a:p>
        </p:txBody>
      </p:sp>
      <p:sp>
        <p:nvSpPr>
          <p:cNvPr id="9" name="Text 7"/>
          <p:cNvSpPr/>
          <p:nvPr/>
        </p:nvSpPr>
        <p:spPr>
          <a:xfrm>
            <a:off x="7245548" y="2845475"/>
            <a:ext cx="5756077" cy="362903"/>
          </a:xfrm>
          <a:prstGeom prst="rect">
            <a:avLst/>
          </a:prstGeom>
          <a:noFill/>
          <a:ln/>
        </p:spPr>
        <p:txBody>
          <a:bodyPr wrap="non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Predicted probability = 1-p(X;b,w) = 1-p(x)</a:t>
            </a:r>
            <a:endParaRPr lang="en-US" sz="1750" dirty="0"/>
          </a:p>
        </p:txBody>
      </p:sp>
      <p:sp>
        <p:nvSpPr>
          <p:cNvPr id="10" name="Shape 8"/>
          <p:cNvSpPr/>
          <p:nvPr/>
        </p:nvSpPr>
        <p:spPr>
          <a:xfrm>
            <a:off x="801410" y="3352086"/>
            <a:ext cx="12427029" cy="650319"/>
          </a:xfrm>
          <a:prstGeom prst="rect">
            <a:avLst/>
          </a:prstGeom>
          <a:solidFill>
            <a:srgbClr val="FFFFFF">
              <a:alpha val="4000"/>
            </a:srgbClr>
          </a:solidFill>
          <a:ln/>
        </p:spPr>
      </p:sp>
      <p:sp>
        <p:nvSpPr>
          <p:cNvPr id="11" name="Text 9"/>
          <p:cNvSpPr/>
          <p:nvPr/>
        </p:nvSpPr>
        <p:spPr>
          <a:xfrm>
            <a:off x="1028224" y="3495794"/>
            <a:ext cx="5756077" cy="362903"/>
          </a:xfrm>
          <a:prstGeom prst="rect">
            <a:avLst/>
          </a:prstGeom>
          <a:noFill/>
          <a:ln/>
        </p:spPr>
        <p:txBody>
          <a:bodyPr wrap="non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Likelihood function</a:t>
            </a:r>
            <a:endParaRPr lang="en-US" sz="1750" dirty="0"/>
          </a:p>
        </p:txBody>
      </p:sp>
      <p:sp>
        <p:nvSpPr>
          <p:cNvPr id="12" name="Text 10"/>
          <p:cNvSpPr/>
          <p:nvPr/>
        </p:nvSpPr>
        <p:spPr>
          <a:xfrm>
            <a:off x="7245548" y="3495794"/>
            <a:ext cx="5756077" cy="362903"/>
          </a:xfrm>
          <a:prstGeom prst="rect">
            <a:avLst/>
          </a:prstGeom>
          <a:noFill/>
          <a:ln/>
        </p:spPr>
        <p:txBody>
          <a:bodyPr wrap="non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L(b,w) = ∏(i=1 to n) p(x_i)^y_i(1-p(x_i))^(1-y_i)</a:t>
            </a:r>
            <a:endParaRPr lang="en-US" sz="1750" dirty="0"/>
          </a:p>
        </p:txBody>
      </p:sp>
      <p:sp>
        <p:nvSpPr>
          <p:cNvPr id="13" name="Shape 11"/>
          <p:cNvSpPr/>
          <p:nvPr/>
        </p:nvSpPr>
        <p:spPr>
          <a:xfrm>
            <a:off x="801410" y="4002405"/>
            <a:ext cx="12427029" cy="1013222"/>
          </a:xfrm>
          <a:prstGeom prst="rect">
            <a:avLst/>
          </a:prstGeom>
          <a:solidFill>
            <a:srgbClr val="000000">
              <a:alpha val="4000"/>
            </a:srgbClr>
          </a:solidFill>
          <a:ln/>
        </p:spPr>
      </p:sp>
      <p:sp>
        <p:nvSpPr>
          <p:cNvPr id="14" name="Text 12"/>
          <p:cNvSpPr/>
          <p:nvPr/>
        </p:nvSpPr>
        <p:spPr>
          <a:xfrm>
            <a:off x="1028224" y="4146113"/>
            <a:ext cx="5756077" cy="362903"/>
          </a:xfrm>
          <a:prstGeom prst="rect">
            <a:avLst/>
          </a:prstGeom>
          <a:noFill/>
          <a:ln/>
        </p:spPr>
        <p:txBody>
          <a:bodyPr wrap="non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Log-likelihood</a:t>
            </a:r>
            <a:endParaRPr lang="en-US" sz="1750" dirty="0"/>
          </a:p>
        </p:txBody>
      </p:sp>
      <p:sp>
        <p:nvSpPr>
          <p:cNvPr id="15" name="Text 13"/>
          <p:cNvSpPr/>
          <p:nvPr/>
        </p:nvSpPr>
        <p:spPr>
          <a:xfrm>
            <a:off x="7245548" y="4146113"/>
            <a:ext cx="5756077" cy="725805"/>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log(L(b,w)) = ∑(i=1 to n) y_i log p(x_i) + (1-y_i)log(1-p(x_i))</a:t>
            </a:r>
            <a:endParaRPr lang="en-US" sz="1750" dirty="0"/>
          </a:p>
        </p:txBody>
      </p:sp>
      <p:sp>
        <p:nvSpPr>
          <p:cNvPr id="16" name="Text 14"/>
          <p:cNvSpPr/>
          <p:nvPr/>
        </p:nvSpPr>
        <p:spPr>
          <a:xfrm>
            <a:off x="793790" y="5278398"/>
            <a:ext cx="12442269" cy="1088708"/>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The likelihood function represents the probability of observing the given data points with their corresponding labels, given the model parameters. By maximizing this function (or equivalently, its logarithm), we find the optimal parameters for our logistic regression model.</a:t>
            </a:r>
            <a:endParaRPr lang="en-US" sz="1750" dirty="0"/>
          </a:p>
        </p:txBody>
      </p:sp>
      <p:sp>
        <p:nvSpPr>
          <p:cNvPr id="17" name="Text 15"/>
          <p:cNvSpPr/>
          <p:nvPr/>
        </p:nvSpPr>
        <p:spPr>
          <a:xfrm>
            <a:off x="793790" y="6622256"/>
            <a:ext cx="12442269" cy="725805"/>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The log-likelihood function simplifies the computation and is used in the optimization process to find the best weights and bias for the model.</a:t>
            </a:r>
            <a:endParaRPr lang="en-US" sz="1750" dirty="0"/>
          </a:p>
        </p:txBody>
      </p:sp>
      <p:pic>
        <p:nvPicPr>
          <p:cNvPr id="18" name="Image 0" descr="preencoded.png">    </p:cNvPr>
          <p:cNvPicPr>
            <a:picLocks noChangeAspect="1"/>
          </p:cNvPicPr>
          <p:nvPr/>
        </p:nvPicPr>
        <p:blipFill>
          <a:blip r:embed="rId1"/>
          <a:stretch>
            <a:fillRect/>
          </a:stretch>
        </p:blipFill>
        <p:spPr>
          <a:xfrm>
            <a:off x="13464778" y="228600"/>
            <a:ext cx="937022" cy="50280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26018" y="637103"/>
            <a:ext cx="7251859" cy="469702"/>
          </a:xfrm>
          <a:prstGeom prst="rect">
            <a:avLst/>
          </a:prstGeom>
          <a:noFill/>
          <a:ln/>
        </p:spPr>
        <p:txBody>
          <a:bodyPr wrap="none" lIns="0" tIns="0" rIns="0" bIns="0" rtlCol="0" anchor="t"/>
          <a:lstStyle/>
          <a:p>
            <a:pPr indent="0" marL="0">
              <a:lnSpc>
                <a:spcPts val="3650"/>
              </a:lnSpc>
              <a:buNone/>
            </a:pPr>
            <a:r>
              <a:rPr lang="en-US" sz="2950" b="1" dirty="0">
                <a:solidFill>
                  <a:srgbClr val="000000"/>
                </a:solidFill>
                <a:latin typeface="Inter Bold" pitchFamily="34" charset="0"/>
                <a:ea typeface="Inter Bold" pitchFamily="34" charset="-122"/>
                <a:cs typeface="Inter Bold" pitchFamily="34" charset="-120"/>
              </a:rPr>
              <a:t>Gradient of the Log-Likelihood Function</a:t>
            </a:r>
            <a:endParaRPr lang="en-US" sz="2950" dirty="0"/>
          </a:p>
        </p:txBody>
      </p:sp>
      <p:pic>
        <p:nvPicPr>
          <p:cNvPr id="3" name="Image 0" descr="preencoded.png">    </p:cNvPr>
          <p:cNvPicPr>
            <a:picLocks noChangeAspect="1"/>
          </p:cNvPicPr>
          <p:nvPr/>
        </p:nvPicPr>
        <p:blipFill>
          <a:blip r:embed="rId1"/>
          <a:stretch>
            <a:fillRect/>
          </a:stretch>
        </p:blipFill>
        <p:spPr>
          <a:xfrm>
            <a:off x="526018" y="1407319"/>
            <a:ext cx="8422124" cy="4265295"/>
          </a:xfrm>
          <a:prstGeom prst="rect">
            <a:avLst/>
          </a:prstGeom>
        </p:spPr>
      </p:pic>
      <p:sp>
        <p:nvSpPr>
          <p:cNvPr id="4" name="Shape 1"/>
          <p:cNvSpPr/>
          <p:nvPr/>
        </p:nvSpPr>
        <p:spPr>
          <a:xfrm>
            <a:off x="2437209" y="5672614"/>
            <a:ext cx="150257" cy="150257"/>
          </a:xfrm>
          <a:prstGeom prst="roundRect">
            <a:avLst>
              <a:gd name="adj" fmla="val 12171"/>
            </a:avLst>
          </a:prstGeom>
          <a:solidFill>
            <a:srgbClr val="400D0D"/>
          </a:solidFill>
          <a:ln/>
        </p:spPr>
      </p:sp>
      <p:sp>
        <p:nvSpPr>
          <p:cNvPr id="5" name="Text 2"/>
          <p:cNvSpPr/>
          <p:nvPr/>
        </p:nvSpPr>
        <p:spPr>
          <a:xfrm>
            <a:off x="2648426" y="5672614"/>
            <a:ext cx="583287" cy="150257"/>
          </a:xfrm>
          <a:prstGeom prst="rect">
            <a:avLst/>
          </a:prstGeom>
          <a:noFill/>
          <a:ln/>
        </p:spPr>
        <p:txBody>
          <a:bodyPr wrap="none" lIns="0" tIns="0" rIns="0" bIns="0" rtlCol="0" anchor="t"/>
          <a:lstStyle/>
          <a:p>
            <a:pPr algn="l" indent="0" marL="0">
              <a:lnSpc>
                <a:spcPts val="1150"/>
              </a:lnSpc>
              <a:buNone/>
            </a:pPr>
            <a:r>
              <a:rPr lang="en-US" sz="1150" dirty="0">
                <a:solidFill>
                  <a:srgbClr val="000000"/>
                </a:solidFill>
                <a:latin typeface="Inter" pitchFamily="34" charset="0"/>
                <a:ea typeface="Inter" pitchFamily="34" charset="-122"/>
                <a:cs typeface="Inter" pitchFamily="34" charset="-120"/>
              </a:rPr>
              <a:t>Iteration</a:t>
            </a:r>
            <a:endParaRPr lang="en-US" sz="1150" dirty="0"/>
          </a:p>
        </p:txBody>
      </p:sp>
      <p:sp>
        <p:nvSpPr>
          <p:cNvPr id="6" name="Shape 3"/>
          <p:cNvSpPr/>
          <p:nvPr/>
        </p:nvSpPr>
        <p:spPr>
          <a:xfrm>
            <a:off x="4102298" y="5672614"/>
            <a:ext cx="150257" cy="150257"/>
          </a:xfrm>
          <a:prstGeom prst="roundRect">
            <a:avLst>
              <a:gd name="adj" fmla="val 12171"/>
            </a:avLst>
          </a:prstGeom>
          <a:solidFill>
            <a:srgbClr val="871B1B"/>
          </a:solidFill>
          <a:ln/>
        </p:spPr>
      </p:sp>
      <p:sp>
        <p:nvSpPr>
          <p:cNvPr id="7" name="Text 4"/>
          <p:cNvSpPr/>
          <p:nvPr/>
        </p:nvSpPr>
        <p:spPr>
          <a:xfrm>
            <a:off x="4313515" y="5672614"/>
            <a:ext cx="1058228" cy="150257"/>
          </a:xfrm>
          <a:prstGeom prst="rect">
            <a:avLst/>
          </a:prstGeom>
          <a:noFill/>
          <a:ln/>
        </p:spPr>
        <p:txBody>
          <a:bodyPr wrap="none" lIns="0" tIns="0" rIns="0" bIns="0" rtlCol="0" anchor="t"/>
          <a:lstStyle/>
          <a:p>
            <a:pPr algn="l" indent="0" marL="0">
              <a:lnSpc>
                <a:spcPts val="1150"/>
              </a:lnSpc>
              <a:buNone/>
            </a:pPr>
            <a:r>
              <a:rPr lang="en-US" sz="1150" dirty="0">
                <a:solidFill>
                  <a:srgbClr val="000000"/>
                </a:solidFill>
                <a:latin typeface="Inter" pitchFamily="34" charset="0"/>
                <a:ea typeface="Inter" pitchFamily="34" charset="-122"/>
                <a:cs typeface="Inter" pitchFamily="34" charset="-120"/>
              </a:rPr>
              <a:t>Log-Likelihood</a:t>
            </a:r>
            <a:endParaRPr lang="en-US" sz="1150" dirty="0"/>
          </a:p>
        </p:txBody>
      </p:sp>
      <p:sp>
        <p:nvSpPr>
          <p:cNvPr id="8" name="Shape 5"/>
          <p:cNvSpPr/>
          <p:nvPr/>
        </p:nvSpPr>
        <p:spPr>
          <a:xfrm>
            <a:off x="6242328" y="5672614"/>
            <a:ext cx="150257" cy="150257"/>
          </a:xfrm>
          <a:prstGeom prst="roundRect">
            <a:avLst>
              <a:gd name="adj" fmla="val 12171"/>
            </a:avLst>
          </a:prstGeom>
          <a:solidFill>
            <a:srgbClr val="CE2A29"/>
          </a:solidFill>
          <a:ln/>
        </p:spPr>
      </p:sp>
      <p:sp>
        <p:nvSpPr>
          <p:cNvPr id="9" name="Text 6"/>
          <p:cNvSpPr/>
          <p:nvPr/>
        </p:nvSpPr>
        <p:spPr>
          <a:xfrm>
            <a:off x="6453545" y="5672614"/>
            <a:ext cx="1404342" cy="150257"/>
          </a:xfrm>
          <a:prstGeom prst="rect">
            <a:avLst/>
          </a:prstGeom>
          <a:noFill/>
          <a:ln/>
        </p:spPr>
        <p:txBody>
          <a:bodyPr wrap="none" lIns="0" tIns="0" rIns="0" bIns="0" rtlCol="0" anchor="t"/>
          <a:lstStyle/>
          <a:p>
            <a:pPr algn="l" indent="0" marL="0">
              <a:lnSpc>
                <a:spcPts val="1150"/>
              </a:lnSpc>
              <a:buNone/>
            </a:pPr>
            <a:r>
              <a:rPr lang="en-US" sz="1150" dirty="0">
                <a:solidFill>
                  <a:srgbClr val="000000"/>
                </a:solidFill>
                <a:latin typeface="Inter" pitchFamily="34" charset="0"/>
                <a:ea typeface="Inter" pitchFamily="34" charset="-122"/>
                <a:cs typeface="Inter" pitchFamily="34" charset="-120"/>
              </a:rPr>
              <a:t>Gradient Magnitude</a:t>
            </a:r>
            <a:endParaRPr lang="en-US" sz="1150" dirty="0"/>
          </a:p>
        </p:txBody>
      </p:sp>
      <p:sp>
        <p:nvSpPr>
          <p:cNvPr id="10" name="Text 7"/>
          <p:cNvSpPr/>
          <p:nvPr/>
        </p:nvSpPr>
        <p:spPr>
          <a:xfrm>
            <a:off x="526018" y="6292691"/>
            <a:ext cx="12710041" cy="240387"/>
          </a:xfrm>
          <a:prstGeom prst="rect">
            <a:avLst/>
          </a:prstGeom>
          <a:noFill/>
          <a:ln/>
        </p:spPr>
        <p:txBody>
          <a:bodyPr wrap="none" lIns="0" tIns="0" rIns="0" bIns="0" rtlCol="0" anchor="t"/>
          <a:lstStyle/>
          <a:p>
            <a:pPr indent="0" marL="0">
              <a:lnSpc>
                <a:spcPts val="1850"/>
              </a:lnSpc>
              <a:buNone/>
            </a:pPr>
            <a:r>
              <a:rPr lang="en-US" sz="1150" dirty="0">
                <a:solidFill>
                  <a:srgbClr val="000000"/>
                </a:solidFill>
                <a:latin typeface="Inter" pitchFamily="34" charset="0"/>
                <a:ea typeface="Inter" pitchFamily="34" charset="-122"/>
                <a:cs typeface="Inter" pitchFamily="34" charset="-120"/>
              </a:rPr>
              <a:t>To find the maximum likelihood estimates, we differentiate the log-likelihood function with respect to the weights. The gradient of the log-likelihood function is given by:</a:t>
            </a:r>
            <a:endParaRPr lang="en-US" sz="1150" dirty="0"/>
          </a:p>
        </p:txBody>
      </p:sp>
      <p:sp>
        <p:nvSpPr>
          <p:cNvPr id="11" name="Text 8"/>
          <p:cNvSpPr/>
          <p:nvPr/>
        </p:nvSpPr>
        <p:spPr>
          <a:xfrm>
            <a:off x="526018" y="6702147"/>
            <a:ext cx="12710041" cy="240387"/>
          </a:xfrm>
          <a:prstGeom prst="rect">
            <a:avLst/>
          </a:prstGeom>
          <a:noFill/>
          <a:ln/>
        </p:spPr>
        <p:txBody>
          <a:bodyPr wrap="none" lIns="0" tIns="0" rIns="0" bIns="0" rtlCol="0" anchor="t"/>
          <a:lstStyle/>
          <a:p>
            <a:pPr indent="0" marL="0">
              <a:lnSpc>
                <a:spcPts val="1850"/>
              </a:lnSpc>
              <a:buNone/>
            </a:pPr>
            <a:r>
              <a:rPr lang="en-US" sz="1150" dirty="0">
                <a:solidFill>
                  <a:srgbClr val="000000"/>
                </a:solidFill>
                <a:latin typeface="Inter" pitchFamily="34" charset="0"/>
                <a:ea typeface="Inter" pitchFamily="34" charset="-122"/>
                <a:cs typeface="Inter" pitchFamily="34" charset="-120"/>
              </a:rPr>
              <a:t>∂J(l(b,w))/∂w_j = ∑(i=n to n)(y_i - p(x_i;b,w))x_ij</a:t>
            </a:r>
            <a:endParaRPr lang="en-US" sz="1150" dirty="0"/>
          </a:p>
        </p:txBody>
      </p:sp>
      <p:sp>
        <p:nvSpPr>
          <p:cNvPr id="12" name="Text 9"/>
          <p:cNvSpPr/>
          <p:nvPr/>
        </p:nvSpPr>
        <p:spPr>
          <a:xfrm>
            <a:off x="526018" y="7111603"/>
            <a:ext cx="12710041" cy="480774"/>
          </a:xfrm>
          <a:prstGeom prst="rect">
            <a:avLst/>
          </a:prstGeom>
          <a:noFill/>
          <a:ln/>
        </p:spPr>
        <p:txBody>
          <a:bodyPr wrap="square" lIns="0" tIns="0" rIns="0" bIns="0" rtlCol="0" anchor="t"/>
          <a:lstStyle/>
          <a:p>
            <a:pPr indent="0" marL="0">
              <a:lnSpc>
                <a:spcPts val="1850"/>
              </a:lnSpc>
              <a:buNone/>
            </a:pPr>
            <a:r>
              <a:rPr lang="en-US" sz="1150" dirty="0">
                <a:solidFill>
                  <a:srgbClr val="000000"/>
                </a:solidFill>
                <a:latin typeface="Inter" pitchFamily="34" charset="0"/>
                <a:ea typeface="Inter" pitchFamily="34" charset="-122"/>
                <a:cs typeface="Inter" pitchFamily="34" charset="-120"/>
              </a:rPr>
              <a:t>This gradient expression has an intuitive interpretation: it's the sum of the differences between the actual labels (y_i) and the predicted probabilities, weighted by the feature values. When the predictions match the actual labels perfectly, the gradient becomes zero, indicating we've reached an optimum.</a:t>
            </a:r>
            <a:endParaRPr lang="en-US" sz="1150" dirty="0"/>
          </a:p>
        </p:txBody>
      </p:sp>
      <p:pic>
        <p:nvPicPr>
          <p:cNvPr id="13" name="Image 1" descr="preencoded.png">    </p:cNvPr>
          <p:cNvPicPr>
            <a:picLocks noChangeAspect="1"/>
          </p:cNvPicPr>
          <p:nvPr/>
        </p:nvPicPr>
        <p:blipFill>
          <a:blip r:embed="rId2"/>
          <a:stretch>
            <a:fillRect/>
          </a:stretch>
        </p:blipFill>
        <p:spPr>
          <a:xfrm>
            <a:off x="13464778" y="228600"/>
            <a:ext cx="937022" cy="50280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1041559"/>
            <a:ext cx="11343442" cy="708779"/>
          </a:xfrm>
          <a:prstGeom prst="rect">
            <a:avLst/>
          </a:prstGeom>
          <a:noFill/>
          <a:ln/>
        </p:spPr>
        <p:txBody>
          <a:bodyPr wrap="none" lIns="0" tIns="0" rIns="0" bIns="0" rtlCol="0" anchor="t"/>
          <a:lstStyle/>
          <a:p>
            <a:pPr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Key Terminologies in Logistic Regression</a:t>
            </a:r>
            <a:endParaRPr lang="en-US" sz="4450" dirty="0"/>
          </a:p>
        </p:txBody>
      </p:sp>
      <p:sp>
        <p:nvSpPr>
          <p:cNvPr id="3" name="Shape 1"/>
          <p:cNvSpPr/>
          <p:nvPr/>
        </p:nvSpPr>
        <p:spPr>
          <a:xfrm>
            <a:off x="793790" y="2459117"/>
            <a:ext cx="510302" cy="510302"/>
          </a:xfrm>
          <a:prstGeom prst="roundRect">
            <a:avLst>
              <a:gd name="adj" fmla="val 18669"/>
            </a:avLst>
          </a:prstGeom>
          <a:solidFill>
            <a:srgbClr val="F7D5D4"/>
          </a:solidFill>
          <a:ln w="7620">
            <a:solidFill>
              <a:srgbClr val="DDBBBA"/>
            </a:solidFill>
            <a:prstDash val="solid"/>
          </a:ln>
        </p:spPr>
      </p:sp>
      <p:sp>
        <p:nvSpPr>
          <p:cNvPr id="4" name="Text 2"/>
          <p:cNvSpPr/>
          <p:nvPr/>
        </p:nvSpPr>
        <p:spPr>
          <a:xfrm>
            <a:off x="975598" y="2544128"/>
            <a:ext cx="146685" cy="340281"/>
          </a:xfrm>
          <a:prstGeom prst="rect">
            <a:avLst/>
          </a:prstGeom>
          <a:noFill/>
          <a:ln/>
        </p:spPr>
        <p:txBody>
          <a:bodyPr wrap="none" lIns="0" tIns="0" rIns="0" bIns="0" rtlCol="0" anchor="t"/>
          <a:lstStyle/>
          <a:p>
            <a:pPr algn="ctr" indent="0" marL="0">
              <a:lnSpc>
                <a:spcPts val="2650"/>
              </a:lnSpc>
              <a:buNone/>
            </a:pPr>
            <a:r>
              <a:rPr lang="en-US" sz="2650" b="1" dirty="0">
                <a:solidFill>
                  <a:srgbClr val="000000"/>
                </a:solidFill>
                <a:latin typeface="Inter Bold" pitchFamily="34" charset="0"/>
                <a:ea typeface="Inter Bold" pitchFamily="34" charset="-122"/>
                <a:cs typeface="Inter Bold" pitchFamily="34" charset="-120"/>
              </a:rPr>
              <a:t>1</a:t>
            </a:r>
            <a:endParaRPr lang="en-US" sz="2650" dirty="0"/>
          </a:p>
        </p:txBody>
      </p:sp>
      <p:sp>
        <p:nvSpPr>
          <p:cNvPr id="5" name="Text 3"/>
          <p:cNvSpPr/>
          <p:nvPr/>
        </p:nvSpPr>
        <p:spPr>
          <a:xfrm>
            <a:off x="1530906" y="2459117"/>
            <a:ext cx="5300901" cy="354330"/>
          </a:xfrm>
          <a:prstGeom prst="rect">
            <a:avLst/>
          </a:prstGeom>
          <a:noFill/>
          <a:ln/>
        </p:spPr>
        <p:txBody>
          <a:bodyPr wrap="none" lIns="0" tIns="0" rIns="0" bIns="0" rtlCol="0" anchor="t"/>
          <a:lstStyle/>
          <a:p>
            <a:pP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Independent and Dependent Variables</a:t>
            </a:r>
            <a:endParaRPr lang="en-US" sz="2200" dirty="0"/>
          </a:p>
        </p:txBody>
      </p:sp>
      <p:sp>
        <p:nvSpPr>
          <p:cNvPr id="6" name="Text 4"/>
          <p:cNvSpPr/>
          <p:nvPr/>
        </p:nvSpPr>
        <p:spPr>
          <a:xfrm>
            <a:off x="1530906" y="2949535"/>
            <a:ext cx="5370671" cy="1814513"/>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The independent variables are the input characteristics or predictors, while the dependent variable is the target we're trying to predict, typically binary in nature for binary logistic regression.</a:t>
            </a:r>
            <a:endParaRPr lang="en-US" sz="1750" dirty="0"/>
          </a:p>
        </p:txBody>
      </p:sp>
      <p:sp>
        <p:nvSpPr>
          <p:cNvPr id="7" name="Shape 5"/>
          <p:cNvSpPr/>
          <p:nvPr/>
        </p:nvSpPr>
        <p:spPr>
          <a:xfrm>
            <a:off x="7128391" y="2459117"/>
            <a:ext cx="510302" cy="510302"/>
          </a:xfrm>
          <a:prstGeom prst="roundRect">
            <a:avLst>
              <a:gd name="adj" fmla="val 18669"/>
            </a:avLst>
          </a:prstGeom>
          <a:solidFill>
            <a:srgbClr val="F7D5D4"/>
          </a:solidFill>
          <a:ln w="7620">
            <a:solidFill>
              <a:srgbClr val="DDBBBA"/>
            </a:solidFill>
            <a:prstDash val="solid"/>
          </a:ln>
        </p:spPr>
      </p:sp>
      <p:sp>
        <p:nvSpPr>
          <p:cNvPr id="8" name="Text 6"/>
          <p:cNvSpPr/>
          <p:nvPr/>
        </p:nvSpPr>
        <p:spPr>
          <a:xfrm>
            <a:off x="7276386" y="2544128"/>
            <a:ext cx="214193" cy="340281"/>
          </a:xfrm>
          <a:prstGeom prst="rect">
            <a:avLst/>
          </a:prstGeom>
          <a:noFill/>
          <a:ln/>
        </p:spPr>
        <p:txBody>
          <a:bodyPr wrap="none" lIns="0" tIns="0" rIns="0" bIns="0" rtlCol="0" anchor="t"/>
          <a:lstStyle/>
          <a:p>
            <a:pPr algn="ctr" indent="0" marL="0">
              <a:lnSpc>
                <a:spcPts val="2650"/>
              </a:lnSpc>
              <a:buNone/>
            </a:pPr>
            <a:r>
              <a:rPr lang="en-US" sz="2650" b="1" dirty="0">
                <a:solidFill>
                  <a:srgbClr val="000000"/>
                </a:solidFill>
                <a:latin typeface="Inter Bold" pitchFamily="34" charset="0"/>
                <a:ea typeface="Inter Bold" pitchFamily="34" charset="-122"/>
                <a:cs typeface="Inter Bold" pitchFamily="34" charset="-120"/>
              </a:rPr>
              <a:t>2</a:t>
            </a:r>
            <a:endParaRPr lang="en-US" sz="2650" dirty="0"/>
          </a:p>
        </p:txBody>
      </p:sp>
      <p:sp>
        <p:nvSpPr>
          <p:cNvPr id="9" name="Text 7"/>
          <p:cNvSpPr/>
          <p:nvPr/>
        </p:nvSpPr>
        <p:spPr>
          <a:xfrm>
            <a:off x="7865507" y="2459117"/>
            <a:ext cx="3758208" cy="354330"/>
          </a:xfrm>
          <a:prstGeom prst="rect">
            <a:avLst/>
          </a:prstGeom>
          <a:noFill/>
          <a:ln/>
        </p:spPr>
        <p:txBody>
          <a:bodyPr wrap="none" lIns="0" tIns="0" rIns="0" bIns="0" rtlCol="0" anchor="t"/>
          <a:lstStyle/>
          <a:p>
            <a:pP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Logistic Function and Odds</a:t>
            </a:r>
            <a:endParaRPr lang="en-US" sz="2200" dirty="0"/>
          </a:p>
        </p:txBody>
      </p:sp>
      <p:sp>
        <p:nvSpPr>
          <p:cNvPr id="10" name="Text 8"/>
          <p:cNvSpPr/>
          <p:nvPr/>
        </p:nvSpPr>
        <p:spPr>
          <a:xfrm>
            <a:off x="7865507" y="2949535"/>
            <a:ext cx="5370671" cy="1814513"/>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The logistic function transforms inputs into probabilities. Odds represent the ratio of something occurring to not occurring, different from probability which is the ratio of occurrence to all possibilities.</a:t>
            </a:r>
            <a:endParaRPr lang="en-US" sz="1750" dirty="0"/>
          </a:p>
        </p:txBody>
      </p:sp>
      <p:sp>
        <p:nvSpPr>
          <p:cNvPr id="11" name="Shape 9"/>
          <p:cNvSpPr/>
          <p:nvPr/>
        </p:nvSpPr>
        <p:spPr>
          <a:xfrm>
            <a:off x="793790" y="5246013"/>
            <a:ext cx="510302" cy="510302"/>
          </a:xfrm>
          <a:prstGeom prst="roundRect">
            <a:avLst>
              <a:gd name="adj" fmla="val 18669"/>
            </a:avLst>
          </a:prstGeom>
          <a:solidFill>
            <a:srgbClr val="F7D5D4"/>
          </a:solidFill>
          <a:ln w="7620">
            <a:solidFill>
              <a:srgbClr val="DDBBBA"/>
            </a:solidFill>
            <a:prstDash val="solid"/>
          </a:ln>
        </p:spPr>
      </p:sp>
      <p:sp>
        <p:nvSpPr>
          <p:cNvPr id="12" name="Text 10"/>
          <p:cNvSpPr/>
          <p:nvPr/>
        </p:nvSpPr>
        <p:spPr>
          <a:xfrm>
            <a:off x="939046" y="5331023"/>
            <a:ext cx="219670" cy="340281"/>
          </a:xfrm>
          <a:prstGeom prst="rect">
            <a:avLst/>
          </a:prstGeom>
          <a:noFill/>
          <a:ln/>
        </p:spPr>
        <p:txBody>
          <a:bodyPr wrap="none" lIns="0" tIns="0" rIns="0" bIns="0" rtlCol="0" anchor="t"/>
          <a:lstStyle/>
          <a:p>
            <a:pPr algn="ctr" indent="0" marL="0">
              <a:lnSpc>
                <a:spcPts val="2650"/>
              </a:lnSpc>
              <a:buNone/>
            </a:pPr>
            <a:r>
              <a:rPr lang="en-US" sz="2650" b="1" dirty="0">
                <a:solidFill>
                  <a:srgbClr val="000000"/>
                </a:solidFill>
                <a:latin typeface="Inter Bold" pitchFamily="34" charset="0"/>
                <a:ea typeface="Inter Bold" pitchFamily="34" charset="-122"/>
                <a:cs typeface="Inter Bold" pitchFamily="34" charset="-120"/>
              </a:rPr>
              <a:t>3</a:t>
            </a:r>
            <a:endParaRPr lang="en-US" sz="2650" dirty="0"/>
          </a:p>
        </p:txBody>
      </p:sp>
      <p:sp>
        <p:nvSpPr>
          <p:cNvPr id="13" name="Text 11"/>
          <p:cNvSpPr/>
          <p:nvPr/>
        </p:nvSpPr>
        <p:spPr>
          <a:xfrm>
            <a:off x="1530906" y="5246013"/>
            <a:ext cx="3727966" cy="354330"/>
          </a:xfrm>
          <a:prstGeom prst="rect">
            <a:avLst/>
          </a:prstGeom>
          <a:noFill/>
          <a:ln/>
        </p:spPr>
        <p:txBody>
          <a:bodyPr wrap="none" lIns="0" tIns="0" rIns="0" bIns="0" rtlCol="0" anchor="t"/>
          <a:lstStyle/>
          <a:p>
            <a:pP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Log-Odds and Coefficients</a:t>
            </a:r>
            <a:endParaRPr lang="en-US" sz="2200" dirty="0"/>
          </a:p>
        </p:txBody>
      </p:sp>
      <p:sp>
        <p:nvSpPr>
          <p:cNvPr id="14" name="Text 12"/>
          <p:cNvSpPr/>
          <p:nvPr/>
        </p:nvSpPr>
        <p:spPr>
          <a:xfrm>
            <a:off x="1530906" y="5736431"/>
            <a:ext cx="5370671" cy="1451610"/>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Log-odds (logit function) is the natural logarithm of the odds. Coefficients in the model show how the independent and dependent variables relate to each other.</a:t>
            </a:r>
            <a:endParaRPr lang="en-US" sz="1750" dirty="0"/>
          </a:p>
        </p:txBody>
      </p:sp>
      <p:sp>
        <p:nvSpPr>
          <p:cNvPr id="15" name="Shape 13"/>
          <p:cNvSpPr/>
          <p:nvPr/>
        </p:nvSpPr>
        <p:spPr>
          <a:xfrm>
            <a:off x="7128391" y="5246013"/>
            <a:ext cx="510302" cy="510302"/>
          </a:xfrm>
          <a:prstGeom prst="roundRect">
            <a:avLst>
              <a:gd name="adj" fmla="val 18669"/>
            </a:avLst>
          </a:prstGeom>
          <a:solidFill>
            <a:srgbClr val="F7D5D4"/>
          </a:solidFill>
          <a:ln w="7620">
            <a:solidFill>
              <a:srgbClr val="DDBBBA"/>
            </a:solidFill>
            <a:prstDash val="solid"/>
          </a:ln>
        </p:spPr>
      </p:sp>
      <p:sp>
        <p:nvSpPr>
          <p:cNvPr id="16" name="Text 14"/>
          <p:cNvSpPr/>
          <p:nvPr/>
        </p:nvSpPr>
        <p:spPr>
          <a:xfrm>
            <a:off x="7268408" y="5331023"/>
            <a:ext cx="230148" cy="340281"/>
          </a:xfrm>
          <a:prstGeom prst="rect">
            <a:avLst/>
          </a:prstGeom>
          <a:noFill/>
          <a:ln/>
        </p:spPr>
        <p:txBody>
          <a:bodyPr wrap="none" lIns="0" tIns="0" rIns="0" bIns="0" rtlCol="0" anchor="t"/>
          <a:lstStyle/>
          <a:p>
            <a:pPr algn="ctr" indent="0" marL="0">
              <a:lnSpc>
                <a:spcPts val="2650"/>
              </a:lnSpc>
              <a:buNone/>
            </a:pPr>
            <a:r>
              <a:rPr lang="en-US" sz="2650" b="1" dirty="0">
                <a:solidFill>
                  <a:srgbClr val="000000"/>
                </a:solidFill>
                <a:latin typeface="Inter Bold" pitchFamily="34" charset="0"/>
                <a:ea typeface="Inter Bold" pitchFamily="34" charset="-122"/>
                <a:cs typeface="Inter Bold" pitchFamily="34" charset="-120"/>
              </a:rPr>
              <a:t>4</a:t>
            </a:r>
            <a:endParaRPr lang="en-US" sz="2650" dirty="0"/>
          </a:p>
        </p:txBody>
      </p:sp>
      <p:sp>
        <p:nvSpPr>
          <p:cNvPr id="17" name="Text 15"/>
          <p:cNvSpPr/>
          <p:nvPr/>
        </p:nvSpPr>
        <p:spPr>
          <a:xfrm>
            <a:off x="7865507" y="5246013"/>
            <a:ext cx="4382810" cy="354330"/>
          </a:xfrm>
          <a:prstGeom prst="rect">
            <a:avLst/>
          </a:prstGeom>
          <a:noFill/>
          <a:ln/>
        </p:spPr>
        <p:txBody>
          <a:bodyPr wrap="none" lIns="0" tIns="0" rIns="0" bIns="0" rtlCol="0" anchor="t"/>
          <a:lstStyle/>
          <a:p>
            <a:pP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Maximum Likelihood Estimation</a:t>
            </a:r>
            <a:endParaRPr lang="en-US" sz="2200" dirty="0"/>
          </a:p>
        </p:txBody>
      </p:sp>
      <p:sp>
        <p:nvSpPr>
          <p:cNvPr id="18" name="Text 16"/>
          <p:cNvSpPr/>
          <p:nvPr/>
        </p:nvSpPr>
        <p:spPr>
          <a:xfrm>
            <a:off x="7865507" y="5736431"/>
            <a:ext cx="5370671" cy="1451610"/>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A method used to estimate the coefficients of the model by maximizing the likelihood of observing the given data points with their corresponding labels.</a:t>
            </a:r>
            <a:endParaRPr lang="en-US" sz="1750" dirty="0"/>
          </a:p>
        </p:txBody>
      </p:sp>
      <p:pic>
        <p:nvPicPr>
          <p:cNvPr id="19" name="Image 0" descr="preencoded.png">    </p:cNvPr>
          <p:cNvPicPr>
            <a:picLocks noChangeAspect="1"/>
          </p:cNvPicPr>
          <p:nvPr/>
        </p:nvPicPr>
        <p:blipFill>
          <a:blip r:embed="rId1"/>
          <a:stretch>
            <a:fillRect/>
          </a:stretch>
        </p:blipFill>
        <p:spPr>
          <a:xfrm>
            <a:off x="13464778" y="228600"/>
            <a:ext cx="937022" cy="50280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20792" y="489228"/>
            <a:ext cx="10646569" cy="554355"/>
          </a:xfrm>
          <a:prstGeom prst="rect">
            <a:avLst/>
          </a:prstGeom>
          <a:noFill/>
          <a:ln/>
        </p:spPr>
        <p:txBody>
          <a:bodyPr wrap="none" lIns="0" tIns="0" rIns="0" bIns="0" rtlCol="0" anchor="t"/>
          <a:lstStyle/>
          <a:p>
            <a:pPr indent="0" marL="0">
              <a:lnSpc>
                <a:spcPts val="4350"/>
              </a:lnSpc>
              <a:buNone/>
            </a:pPr>
            <a:r>
              <a:rPr lang="en-US" sz="3450" b="1" dirty="0">
                <a:solidFill>
                  <a:srgbClr val="000000"/>
                </a:solidFill>
                <a:latin typeface="Inter Bold" pitchFamily="34" charset="0"/>
                <a:ea typeface="Inter Bold" pitchFamily="34" charset="-122"/>
                <a:cs typeface="Inter Bold" pitchFamily="34" charset="-120"/>
              </a:rPr>
              <a:t>Code Implementation: Binary Logistic Regression</a:t>
            </a:r>
            <a:endParaRPr lang="en-US" sz="3450" dirty="0"/>
          </a:p>
        </p:txBody>
      </p:sp>
      <p:sp>
        <p:nvSpPr>
          <p:cNvPr id="3" name="Shape 1"/>
          <p:cNvSpPr/>
          <p:nvPr/>
        </p:nvSpPr>
        <p:spPr>
          <a:xfrm>
            <a:off x="620792" y="1398270"/>
            <a:ext cx="12615267" cy="4807506"/>
          </a:xfrm>
          <a:prstGeom prst="roundRect">
            <a:avLst>
              <a:gd name="adj" fmla="val 1550"/>
            </a:avLst>
          </a:prstGeom>
          <a:solidFill>
            <a:srgbClr val="F7D5D4"/>
          </a:solidFill>
          <a:ln/>
        </p:spPr>
      </p:sp>
      <p:sp>
        <p:nvSpPr>
          <p:cNvPr id="4" name="Shape 2"/>
          <p:cNvSpPr/>
          <p:nvPr/>
        </p:nvSpPr>
        <p:spPr>
          <a:xfrm>
            <a:off x="611981" y="1398270"/>
            <a:ext cx="12632888" cy="4807506"/>
          </a:xfrm>
          <a:prstGeom prst="roundRect">
            <a:avLst>
              <a:gd name="adj" fmla="val 554"/>
            </a:avLst>
          </a:prstGeom>
          <a:solidFill>
            <a:srgbClr val="F7D5D4"/>
          </a:solidFill>
          <a:ln/>
        </p:spPr>
      </p:sp>
      <p:sp>
        <p:nvSpPr>
          <p:cNvPr id="5" name="Text 3"/>
          <p:cNvSpPr/>
          <p:nvPr/>
        </p:nvSpPr>
        <p:spPr>
          <a:xfrm>
            <a:off x="789265" y="1531263"/>
            <a:ext cx="12278320" cy="4541520"/>
          </a:xfrm>
          <a:prstGeom prst="rect">
            <a:avLst/>
          </a:prstGeom>
          <a:noFill/>
          <a:ln/>
        </p:spPr>
        <p:txBody>
          <a:bodyPr wrap="square" lIns="0" tIns="0" rIns="0" bIns="0" rtlCol="0" anchor="t"/>
          <a:lstStyle/>
          <a:p>
            <a:pPr indent="0" marL="0">
              <a:lnSpc>
                <a:spcPts val="2200"/>
              </a:lnSpc>
              <a:buNone/>
            </a:pPr>
            <a:r>
              <a:rPr lang="en-US" sz="1350" dirty="0">
                <a:solidFill>
                  <a:srgbClr val="000000"/>
                </a:solidFill>
                <a:highlight>
                  <a:srgbClr val="F7D5D4"/>
                </a:highlight>
                <a:latin typeface="Consolas" pitchFamily="34" charset="0"/>
                <a:ea typeface="Consolas" pitchFamily="34" charset="-122"/>
                <a:cs typeface="Consolas" pitchFamily="34" charset="-120"/>
              </a:rPr>
              <a:t>from sklearn.datasets import load_breast_cancer </a:t>
            </a:r>
            <a:endParaRPr lang="en-US" sz="1350" dirty="0"/>
          </a:p>
          <a:p>
            <a:pPr indent="0" marL="0">
              <a:lnSpc>
                <a:spcPts val="2200"/>
              </a:lnSpc>
              <a:buNone/>
            </a:pPr>
            <a:r>
              <a:rPr lang="en-US" sz="1350" dirty="0">
                <a:solidFill>
                  <a:srgbClr val="000000"/>
                </a:solidFill>
                <a:highlight>
                  <a:srgbClr val="F7D5D4"/>
                </a:highlight>
                <a:latin typeface="Consolas" pitchFamily="34" charset="0"/>
                <a:ea typeface="Consolas" pitchFamily="34" charset="-122"/>
                <a:cs typeface="Consolas" pitchFamily="34" charset="-120"/>
              </a:rPr>
              <a:t>from sklearn.linear_model import LogisticRegression </a:t>
            </a:r>
            <a:endParaRPr lang="en-US" sz="1350" dirty="0"/>
          </a:p>
          <a:p>
            <a:pPr indent="0" marL="0">
              <a:lnSpc>
                <a:spcPts val="2200"/>
              </a:lnSpc>
              <a:buNone/>
            </a:pPr>
            <a:r>
              <a:rPr lang="en-US" sz="1350" dirty="0">
                <a:solidFill>
                  <a:srgbClr val="000000"/>
                </a:solidFill>
                <a:highlight>
                  <a:srgbClr val="F7D5D4"/>
                </a:highlight>
                <a:latin typeface="Consolas" pitchFamily="34" charset="0"/>
                <a:ea typeface="Consolas" pitchFamily="34" charset="-122"/>
                <a:cs typeface="Consolas" pitchFamily="34" charset="-120"/>
              </a:rPr>
              <a:t>from sklearn.model_selection import train_test_split </a:t>
            </a:r>
            <a:endParaRPr lang="en-US" sz="1350" dirty="0"/>
          </a:p>
          <a:p>
            <a:pPr indent="0" marL="0">
              <a:lnSpc>
                <a:spcPts val="2200"/>
              </a:lnSpc>
              <a:buNone/>
            </a:pPr>
            <a:r>
              <a:rPr lang="en-US" sz="1350" dirty="0">
                <a:solidFill>
                  <a:srgbClr val="000000"/>
                </a:solidFill>
                <a:highlight>
                  <a:srgbClr val="F7D5D4"/>
                </a:highlight>
                <a:latin typeface="Consolas" pitchFamily="34" charset="0"/>
                <a:ea typeface="Consolas" pitchFamily="34" charset="-122"/>
                <a:cs typeface="Consolas" pitchFamily="34" charset="-120"/>
              </a:rPr>
              <a:t>from sklearn.metrics import accuracy_score </a:t>
            </a:r>
            <a:endParaRPr lang="en-US" sz="1350" dirty="0"/>
          </a:p>
          <a:p>
            <a:pPr indent="0" marL="0">
              <a:lnSpc>
                <a:spcPts val="2200"/>
              </a:lnSpc>
              <a:buNone/>
            </a:pPr>
            <a:endParaRPr lang="en-US" sz="1350" dirty="0"/>
          </a:p>
          <a:p>
            <a:pPr indent="0" marL="0">
              <a:lnSpc>
                <a:spcPts val="2200"/>
              </a:lnSpc>
              <a:buNone/>
            </a:pPr>
            <a:r>
              <a:rPr lang="en-US" sz="1350" dirty="0">
                <a:solidFill>
                  <a:srgbClr val="000000"/>
                </a:solidFill>
                <a:highlight>
                  <a:srgbClr val="F7D5D4"/>
                </a:highlight>
                <a:latin typeface="Consolas" pitchFamily="34" charset="0"/>
                <a:ea typeface="Consolas" pitchFamily="34" charset="-122"/>
                <a:cs typeface="Consolas" pitchFamily="34" charset="-120"/>
              </a:rPr>
              <a:t># load the dataset</a:t>
            </a:r>
            <a:endParaRPr lang="en-US" sz="1350" dirty="0"/>
          </a:p>
          <a:p>
            <a:pPr indent="0" marL="0">
              <a:lnSpc>
                <a:spcPts val="2200"/>
              </a:lnSpc>
              <a:buNone/>
            </a:pPr>
            <a:r>
              <a:rPr lang="en-US" sz="1350" dirty="0">
                <a:solidFill>
                  <a:srgbClr val="000000"/>
                </a:solidFill>
                <a:highlight>
                  <a:srgbClr val="F7D5D4"/>
                </a:highlight>
                <a:latin typeface="Consolas" pitchFamily="34" charset="0"/>
                <a:ea typeface="Consolas" pitchFamily="34" charset="-122"/>
                <a:cs typeface="Consolas" pitchFamily="34" charset="-120"/>
              </a:rPr>
              <a:t>X, y = load_breast_cancer(return_X_y=True) </a:t>
            </a:r>
            <a:endParaRPr lang="en-US" sz="1350" dirty="0"/>
          </a:p>
          <a:p>
            <a:pPr indent="0" marL="0">
              <a:lnSpc>
                <a:spcPts val="2200"/>
              </a:lnSpc>
              <a:buNone/>
            </a:pPr>
            <a:r>
              <a:rPr lang="en-US" sz="1350" dirty="0">
                <a:solidFill>
                  <a:srgbClr val="000000"/>
                </a:solidFill>
                <a:highlight>
                  <a:srgbClr val="F7D5D4"/>
                </a:highlight>
                <a:latin typeface="Consolas" pitchFamily="34" charset="0"/>
                <a:ea typeface="Consolas" pitchFamily="34" charset="-122"/>
                <a:cs typeface="Consolas" pitchFamily="34" charset="-120"/>
              </a:rPr>
              <a:t>X_train, X_test, y_train, y_test = train_test_split(X, y, test_size=0.20, random_state=23) </a:t>
            </a:r>
            <a:endParaRPr lang="en-US" sz="1350" dirty="0"/>
          </a:p>
          <a:p>
            <a:pPr indent="0" marL="0">
              <a:lnSpc>
                <a:spcPts val="2200"/>
              </a:lnSpc>
              <a:buNone/>
            </a:pPr>
            <a:endParaRPr lang="en-US" sz="1350" dirty="0"/>
          </a:p>
          <a:p>
            <a:pPr indent="0" marL="0">
              <a:lnSpc>
                <a:spcPts val="2200"/>
              </a:lnSpc>
              <a:buNone/>
            </a:pPr>
            <a:r>
              <a:rPr lang="en-US" sz="1350" dirty="0">
                <a:solidFill>
                  <a:srgbClr val="000000"/>
                </a:solidFill>
                <a:highlight>
                  <a:srgbClr val="F7D5D4"/>
                </a:highlight>
                <a:latin typeface="Consolas" pitchFamily="34" charset="0"/>
                <a:ea typeface="Consolas" pitchFamily="34" charset="-122"/>
                <a:cs typeface="Consolas" pitchFamily="34" charset="-120"/>
              </a:rPr>
              <a:t># create and train the model</a:t>
            </a:r>
            <a:endParaRPr lang="en-US" sz="1350" dirty="0"/>
          </a:p>
          <a:p>
            <a:pPr indent="0" marL="0">
              <a:lnSpc>
                <a:spcPts val="2200"/>
              </a:lnSpc>
              <a:buNone/>
            </a:pPr>
            <a:r>
              <a:rPr lang="en-US" sz="1350" dirty="0">
                <a:solidFill>
                  <a:srgbClr val="000000"/>
                </a:solidFill>
                <a:highlight>
                  <a:srgbClr val="F7D5D4"/>
                </a:highlight>
                <a:latin typeface="Consolas" pitchFamily="34" charset="0"/>
                <a:ea typeface="Consolas" pitchFamily="34" charset="-122"/>
                <a:cs typeface="Consolas" pitchFamily="34" charset="-120"/>
              </a:rPr>
              <a:t>clf = LogisticRegression(max_iter=10000, random_state=0) </a:t>
            </a:r>
            <a:endParaRPr lang="en-US" sz="1350" dirty="0"/>
          </a:p>
          <a:p>
            <a:pPr indent="0" marL="0">
              <a:lnSpc>
                <a:spcPts val="2200"/>
              </a:lnSpc>
              <a:buNone/>
            </a:pPr>
            <a:r>
              <a:rPr lang="en-US" sz="1350" dirty="0">
                <a:solidFill>
                  <a:srgbClr val="000000"/>
                </a:solidFill>
                <a:highlight>
                  <a:srgbClr val="F7D5D4"/>
                </a:highlight>
                <a:latin typeface="Consolas" pitchFamily="34" charset="0"/>
                <a:ea typeface="Consolas" pitchFamily="34" charset="-122"/>
                <a:cs typeface="Consolas" pitchFamily="34" charset="-120"/>
              </a:rPr>
              <a:t>clf.fit(X_train, y_train) </a:t>
            </a:r>
            <a:endParaRPr lang="en-US" sz="1350" dirty="0"/>
          </a:p>
          <a:p>
            <a:pPr indent="0" marL="0">
              <a:lnSpc>
                <a:spcPts val="2200"/>
              </a:lnSpc>
              <a:buNone/>
            </a:pPr>
            <a:endParaRPr lang="en-US" sz="1350" dirty="0"/>
          </a:p>
          <a:p>
            <a:pPr indent="0" marL="0">
              <a:lnSpc>
                <a:spcPts val="2200"/>
              </a:lnSpc>
              <a:buNone/>
            </a:pPr>
            <a:r>
              <a:rPr lang="en-US" sz="1350" dirty="0">
                <a:solidFill>
                  <a:srgbClr val="000000"/>
                </a:solidFill>
                <a:highlight>
                  <a:srgbClr val="F7D5D4"/>
                </a:highlight>
                <a:latin typeface="Consolas" pitchFamily="34" charset="0"/>
                <a:ea typeface="Consolas" pitchFamily="34" charset="-122"/>
                <a:cs typeface="Consolas" pitchFamily="34" charset="-120"/>
              </a:rPr>
              <a:t># evaluate the model</a:t>
            </a:r>
            <a:endParaRPr lang="en-US" sz="1350" dirty="0"/>
          </a:p>
          <a:p>
            <a:pPr indent="0" marL="0">
              <a:lnSpc>
                <a:spcPts val="2200"/>
              </a:lnSpc>
              <a:buNone/>
            </a:pPr>
            <a:r>
              <a:rPr lang="en-US" sz="1350" dirty="0">
                <a:solidFill>
                  <a:srgbClr val="000000"/>
                </a:solidFill>
                <a:highlight>
                  <a:srgbClr val="F7D5D4"/>
                </a:highlight>
                <a:latin typeface="Consolas" pitchFamily="34" charset="0"/>
                <a:ea typeface="Consolas" pitchFamily="34" charset="-122"/>
                <a:cs typeface="Consolas" pitchFamily="34" charset="-120"/>
              </a:rPr>
              <a:t>acc = accuracy_score(y_test, clf.predict(X_test)) * 100 </a:t>
            </a:r>
            <a:endParaRPr lang="en-US" sz="1350" dirty="0"/>
          </a:p>
          <a:p>
            <a:pPr indent="0" marL="0">
              <a:lnSpc>
                <a:spcPts val="2200"/>
              </a:lnSpc>
              <a:buNone/>
            </a:pPr>
            <a:r>
              <a:rPr lang="en-US" sz="1350" dirty="0">
                <a:solidFill>
                  <a:srgbClr val="000000"/>
                </a:solidFill>
                <a:highlight>
                  <a:srgbClr val="F7D5D4"/>
                </a:highlight>
                <a:latin typeface="Consolas" pitchFamily="34" charset="0"/>
                <a:ea typeface="Consolas" pitchFamily="34" charset="-122"/>
                <a:cs typeface="Consolas" pitchFamily="34" charset="-120"/>
              </a:rPr>
              <a:t>print(f"Logistic Regression model accuracy: {acc:.2f}%")</a:t>
            </a:r>
            <a:endParaRPr lang="en-US" sz="1350" dirty="0"/>
          </a:p>
        </p:txBody>
      </p:sp>
      <p:sp>
        <p:nvSpPr>
          <p:cNvPr id="6" name="Text 4"/>
          <p:cNvSpPr/>
          <p:nvPr/>
        </p:nvSpPr>
        <p:spPr>
          <a:xfrm>
            <a:off x="620792" y="6405324"/>
            <a:ext cx="12615267" cy="567690"/>
          </a:xfrm>
          <a:prstGeom prst="rect">
            <a:avLst/>
          </a:prstGeom>
          <a:noFill/>
          <a:ln/>
        </p:spPr>
        <p:txBody>
          <a:bodyPr wrap="square" lIns="0" tIns="0" rIns="0" bIns="0" rtlCol="0" anchor="t"/>
          <a:lstStyle/>
          <a:p>
            <a:pPr indent="0" marL="0">
              <a:lnSpc>
                <a:spcPts val="2200"/>
              </a:lnSpc>
              <a:buNone/>
            </a:pPr>
            <a:r>
              <a:rPr lang="en-US" sz="1350" dirty="0">
                <a:solidFill>
                  <a:srgbClr val="000000"/>
                </a:solidFill>
                <a:latin typeface="Inter" pitchFamily="34" charset="0"/>
                <a:ea typeface="Inter" pitchFamily="34" charset="-122"/>
                <a:cs typeface="Inter" pitchFamily="34" charset="-120"/>
              </a:rPr>
              <a:t>This Python code demonstrates the implementation of binary logistic regression using the breast cancer dataset. The scikit-learn library provides a user-friendly interface for creating, training, and evaluating the model.</a:t>
            </a:r>
            <a:endParaRPr lang="en-US" sz="1350" dirty="0"/>
          </a:p>
        </p:txBody>
      </p:sp>
      <p:sp>
        <p:nvSpPr>
          <p:cNvPr id="7" name="Text 5"/>
          <p:cNvSpPr/>
          <p:nvPr/>
        </p:nvSpPr>
        <p:spPr>
          <a:xfrm>
            <a:off x="620792" y="7172563"/>
            <a:ext cx="12615267" cy="567690"/>
          </a:xfrm>
          <a:prstGeom prst="rect">
            <a:avLst/>
          </a:prstGeom>
          <a:noFill/>
          <a:ln/>
        </p:spPr>
        <p:txBody>
          <a:bodyPr wrap="square" lIns="0" tIns="0" rIns="0" bIns="0" rtlCol="0" anchor="t"/>
          <a:lstStyle/>
          <a:p>
            <a:pPr indent="0" marL="0">
              <a:lnSpc>
                <a:spcPts val="2200"/>
              </a:lnSpc>
              <a:buNone/>
            </a:pPr>
            <a:r>
              <a:rPr lang="en-US" sz="1350" dirty="0">
                <a:solidFill>
                  <a:srgbClr val="000000"/>
                </a:solidFill>
                <a:latin typeface="Inter" pitchFamily="34" charset="0"/>
                <a:ea typeface="Inter" pitchFamily="34" charset="-122"/>
                <a:cs typeface="Inter" pitchFamily="34" charset="-120"/>
              </a:rPr>
              <a:t>The dataset is first split into training and testing sets. Then, a LogisticRegression model is created and trained on the training data. Finally, the model's accuracy is evaluated on the test data, resulting in an impressive 96.49% accuracy.</a:t>
            </a:r>
            <a:endParaRPr lang="en-US" sz="1350" dirty="0"/>
          </a:p>
        </p:txBody>
      </p:sp>
      <p:pic>
        <p:nvPicPr>
          <p:cNvPr id="8" name="Image 0" descr="preencoded.png">    </p:cNvPr>
          <p:cNvPicPr>
            <a:picLocks noChangeAspect="1"/>
          </p:cNvPicPr>
          <p:nvPr/>
        </p:nvPicPr>
        <p:blipFill>
          <a:blip r:embed="rId1"/>
          <a:stretch>
            <a:fillRect/>
          </a:stretch>
        </p:blipFill>
        <p:spPr>
          <a:xfrm>
            <a:off x="13464778" y="228600"/>
            <a:ext cx="937022" cy="50280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81144" y="456605"/>
            <a:ext cx="11040070" cy="518874"/>
          </a:xfrm>
          <a:prstGeom prst="rect">
            <a:avLst/>
          </a:prstGeom>
          <a:noFill/>
          <a:ln/>
        </p:spPr>
        <p:txBody>
          <a:bodyPr wrap="none" lIns="0" tIns="0" rIns="0" bIns="0" rtlCol="0" anchor="t"/>
          <a:lstStyle/>
          <a:p>
            <a:pPr indent="0" marL="0">
              <a:lnSpc>
                <a:spcPts val="4050"/>
              </a:lnSpc>
              <a:buNone/>
            </a:pPr>
            <a:r>
              <a:rPr lang="en-US" sz="3250" b="1" dirty="0">
                <a:solidFill>
                  <a:srgbClr val="000000"/>
                </a:solidFill>
                <a:latin typeface="Inter Bold" pitchFamily="34" charset="0"/>
                <a:ea typeface="Inter Bold" pitchFamily="34" charset="-122"/>
                <a:cs typeface="Inter Bold" pitchFamily="34" charset="-120"/>
              </a:rPr>
              <a:t>Code Implementation: Multinomial Logistic Regression</a:t>
            </a:r>
            <a:endParaRPr lang="en-US" sz="3250" dirty="0"/>
          </a:p>
        </p:txBody>
      </p:sp>
      <p:sp>
        <p:nvSpPr>
          <p:cNvPr id="3" name="Shape 1"/>
          <p:cNvSpPr/>
          <p:nvPr/>
        </p:nvSpPr>
        <p:spPr>
          <a:xfrm>
            <a:off x="581144" y="1307544"/>
            <a:ext cx="12654915" cy="5032534"/>
          </a:xfrm>
          <a:prstGeom prst="roundRect">
            <a:avLst>
              <a:gd name="adj" fmla="val 1386"/>
            </a:avLst>
          </a:prstGeom>
          <a:solidFill>
            <a:srgbClr val="F7D5D4"/>
          </a:solidFill>
          <a:ln/>
        </p:spPr>
      </p:sp>
      <p:sp>
        <p:nvSpPr>
          <p:cNvPr id="4" name="Shape 2"/>
          <p:cNvSpPr/>
          <p:nvPr/>
        </p:nvSpPr>
        <p:spPr>
          <a:xfrm>
            <a:off x="572929" y="1307544"/>
            <a:ext cx="12671346" cy="5032534"/>
          </a:xfrm>
          <a:prstGeom prst="roundRect">
            <a:avLst>
              <a:gd name="adj" fmla="val 495"/>
            </a:avLst>
          </a:prstGeom>
          <a:solidFill>
            <a:srgbClr val="F7D5D4"/>
          </a:solidFill>
          <a:ln/>
        </p:spPr>
      </p:sp>
      <p:sp>
        <p:nvSpPr>
          <p:cNvPr id="5" name="Text 3"/>
          <p:cNvSpPr/>
          <p:nvPr/>
        </p:nvSpPr>
        <p:spPr>
          <a:xfrm>
            <a:off x="738902" y="1432084"/>
            <a:ext cx="12339399" cy="4783455"/>
          </a:xfrm>
          <a:prstGeom prst="rect">
            <a:avLst/>
          </a:prstGeom>
          <a:noFill/>
          <a:ln/>
        </p:spPr>
        <p:txBody>
          <a:bodyPr wrap="square" lIns="0" tIns="0" rIns="0" bIns="0" rtlCol="0" anchor="t"/>
          <a:lstStyle/>
          <a:p>
            <a:pPr indent="0" marL="0">
              <a:lnSpc>
                <a:spcPts val="2050"/>
              </a:lnSpc>
              <a:buNone/>
            </a:pPr>
            <a:r>
              <a:rPr lang="en-US" sz="1300" dirty="0">
                <a:solidFill>
                  <a:srgbClr val="000000"/>
                </a:solidFill>
                <a:highlight>
                  <a:srgbClr val="F7D5D4"/>
                </a:highlight>
                <a:latin typeface="Consolas" pitchFamily="34" charset="0"/>
                <a:ea typeface="Consolas" pitchFamily="34" charset="-122"/>
                <a:cs typeface="Consolas" pitchFamily="34" charset="-120"/>
              </a:rPr>
              <a:t>from sklearn.model_selection import train_test_split </a:t>
            </a:r>
            <a:endParaRPr lang="en-US" sz="1300" dirty="0"/>
          </a:p>
          <a:p>
            <a:pPr indent="0" marL="0">
              <a:lnSpc>
                <a:spcPts val="2050"/>
              </a:lnSpc>
              <a:buNone/>
            </a:pPr>
            <a:r>
              <a:rPr lang="en-US" sz="1300" dirty="0">
                <a:solidFill>
                  <a:srgbClr val="000000"/>
                </a:solidFill>
                <a:highlight>
                  <a:srgbClr val="F7D5D4"/>
                </a:highlight>
                <a:latin typeface="Consolas" pitchFamily="34" charset="0"/>
                <a:ea typeface="Consolas" pitchFamily="34" charset="-122"/>
                <a:cs typeface="Consolas" pitchFamily="34" charset="-120"/>
              </a:rPr>
              <a:t>from sklearn import datasets, linear_model, metrics </a:t>
            </a:r>
            <a:endParaRPr lang="en-US" sz="1300" dirty="0"/>
          </a:p>
          <a:p>
            <a:pPr indent="0" marL="0">
              <a:lnSpc>
                <a:spcPts val="2050"/>
              </a:lnSpc>
              <a:buNone/>
            </a:pPr>
            <a:endParaRPr lang="en-US" sz="1300" dirty="0"/>
          </a:p>
          <a:p>
            <a:pPr indent="0" marL="0">
              <a:lnSpc>
                <a:spcPts val="2050"/>
              </a:lnSpc>
              <a:buNone/>
            </a:pPr>
            <a:r>
              <a:rPr lang="en-US" sz="1300" dirty="0">
                <a:solidFill>
                  <a:srgbClr val="000000"/>
                </a:solidFill>
                <a:highlight>
                  <a:srgbClr val="F7D5D4"/>
                </a:highlight>
                <a:latin typeface="Consolas" pitchFamily="34" charset="0"/>
                <a:ea typeface="Consolas" pitchFamily="34" charset="-122"/>
                <a:cs typeface="Consolas" pitchFamily="34" charset="-120"/>
              </a:rPr>
              <a:t># load the digits dataset</a:t>
            </a:r>
            <a:endParaRPr lang="en-US" sz="1300" dirty="0"/>
          </a:p>
          <a:p>
            <a:pPr indent="0" marL="0">
              <a:lnSpc>
                <a:spcPts val="2050"/>
              </a:lnSpc>
              <a:buNone/>
            </a:pPr>
            <a:r>
              <a:rPr lang="en-US" sz="1300" dirty="0">
                <a:solidFill>
                  <a:srgbClr val="000000"/>
                </a:solidFill>
                <a:highlight>
                  <a:srgbClr val="F7D5D4"/>
                </a:highlight>
                <a:latin typeface="Consolas" pitchFamily="34" charset="0"/>
                <a:ea typeface="Consolas" pitchFamily="34" charset="-122"/>
                <a:cs typeface="Consolas" pitchFamily="34" charset="-120"/>
              </a:rPr>
              <a:t>digits = datasets.load_digits() </a:t>
            </a:r>
            <a:endParaRPr lang="en-US" sz="1300" dirty="0"/>
          </a:p>
          <a:p>
            <a:pPr indent="0" marL="0">
              <a:lnSpc>
                <a:spcPts val="2050"/>
              </a:lnSpc>
              <a:buNone/>
            </a:pPr>
            <a:r>
              <a:rPr lang="en-US" sz="1300" dirty="0">
                <a:solidFill>
                  <a:srgbClr val="000000"/>
                </a:solidFill>
                <a:highlight>
                  <a:srgbClr val="F7D5D4"/>
                </a:highlight>
                <a:latin typeface="Consolas" pitchFamily="34" charset="0"/>
                <a:ea typeface="Consolas" pitchFamily="34" charset="-122"/>
                <a:cs typeface="Consolas" pitchFamily="34" charset="-120"/>
              </a:rPr>
              <a:t>X = digits.data </a:t>
            </a:r>
            <a:endParaRPr lang="en-US" sz="1300" dirty="0"/>
          </a:p>
          <a:p>
            <a:pPr indent="0" marL="0">
              <a:lnSpc>
                <a:spcPts val="2050"/>
              </a:lnSpc>
              <a:buNone/>
            </a:pPr>
            <a:r>
              <a:rPr lang="en-US" sz="1300" dirty="0">
                <a:solidFill>
                  <a:srgbClr val="000000"/>
                </a:solidFill>
                <a:highlight>
                  <a:srgbClr val="F7D5D4"/>
                </a:highlight>
                <a:latin typeface="Consolas" pitchFamily="34" charset="0"/>
                <a:ea typeface="Consolas" pitchFamily="34" charset="-122"/>
                <a:cs typeface="Consolas" pitchFamily="34" charset="-120"/>
              </a:rPr>
              <a:t>y = digits.target </a:t>
            </a:r>
            <a:endParaRPr lang="en-US" sz="1300" dirty="0"/>
          </a:p>
          <a:p>
            <a:pPr indent="0" marL="0">
              <a:lnSpc>
                <a:spcPts val="2050"/>
              </a:lnSpc>
              <a:buNone/>
            </a:pPr>
            <a:endParaRPr lang="en-US" sz="1300" dirty="0"/>
          </a:p>
          <a:p>
            <a:pPr indent="0" marL="0">
              <a:lnSpc>
                <a:spcPts val="2050"/>
              </a:lnSpc>
              <a:buNone/>
            </a:pPr>
            <a:r>
              <a:rPr lang="en-US" sz="1300" dirty="0">
                <a:solidFill>
                  <a:srgbClr val="000000"/>
                </a:solidFill>
                <a:highlight>
                  <a:srgbClr val="F7D5D4"/>
                </a:highlight>
                <a:latin typeface="Consolas" pitchFamily="34" charset="0"/>
                <a:ea typeface="Consolas" pitchFamily="34" charset="-122"/>
                <a:cs typeface="Consolas" pitchFamily="34" charset="-120"/>
              </a:rPr>
              <a:t># split data into training and testing sets</a:t>
            </a:r>
            <a:endParaRPr lang="en-US" sz="1300" dirty="0"/>
          </a:p>
          <a:p>
            <a:pPr indent="0" marL="0">
              <a:lnSpc>
                <a:spcPts val="2050"/>
              </a:lnSpc>
              <a:buNone/>
            </a:pPr>
            <a:r>
              <a:rPr lang="en-US" sz="1300" dirty="0">
                <a:solidFill>
                  <a:srgbClr val="000000"/>
                </a:solidFill>
                <a:highlight>
                  <a:srgbClr val="F7D5D4"/>
                </a:highlight>
                <a:latin typeface="Consolas" pitchFamily="34" charset="0"/>
                <a:ea typeface="Consolas" pitchFamily="34" charset="-122"/>
                <a:cs typeface="Consolas" pitchFamily="34" charset="-120"/>
              </a:rPr>
              <a:t>X_train, X_test, y_train, y_test = train_test_split(X, y, test_size=0.4, random_state=1) </a:t>
            </a:r>
            <a:endParaRPr lang="en-US" sz="1300" dirty="0"/>
          </a:p>
          <a:p>
            <a:pPr indent="0" marL="0">
              <a:lnSpc>
                <a:spcPts val="2050"/>
              </a:lnSpc>
              <a:buNone/>
            </a:pPr>
            <a:endParaRPr lang="en-US" sz="1300" dirty="0"/>
          </a:p>
          <a:p>
            <a:pPr indent="0" marL="0">
              <a:lnSpc>
                <a:spcPts val="2050"/>
              </a:lnSpc>
              <a:buNone/>
            </a:pPr>
            <a:r>
              <a:rPr lang="en-US" sz="1300" dirty="0">
                <a:solidFill>
                  <a:srgbClr val="000000"/>
                </a:solidFill>
                <a:highlight>
                  <a:srgbClr val="F7D5D4"/>
                </a:highlight>
                <a:latin typeface="Consolas" pitchFamily="34" charset="0"/>
                <a:ea typeface="Consolas" pitchFamily="34" charset="-122"/>
                <a:cs typeface="Consolas" pitchFamily="34" charset="-120"/>
              </a:rPr>
              <a:t># create and train the model</a:t>
            </a:r>
            <a:endParaRPr lang="en-US" sz="1300" dirty="0"/>
          </a:p>
          <a:p>
            <a:pPr indent="0" marL="0">
              <a:lnSpc>
                <a:spcPts val="2050"/>
              </a:lnSpc>
              <a:buNone/>
            </a:pPr>
            <a:r>
              <a:rPr lang="en-US" sz="1300" dirty="0">
                <a:solidFill>
                  <a:srgbClr val="000000"/>
                </a:solidFill>
                <a:highlight>
                  <a:srgbClr val="F7D5D4"/>
                </a:highlight>
                <a:latin typeface="Consolas" pitchFamily="34" charset="0"/>
                <a:ea typeface="Consolas" pitchFamily="34" charset="-122"/>
                <a:cs typeface="Consolas" pitchFamily="34" charset="-120"/>
              </a:rPr>
              <a:t>reg = linear_model.LogisticRegression(max_iter=10000, random_state=0) </a:t>
            </a:r>
            <a:endParaRPr lang="en-US" sz="1300" dirty="0"/>
          </a:p>
          <a:p>
            <a:pPr indent="0" marL="0">
              <a:lnSpc>
                <a:spcPts val="2050"/>
              </a:lnSpc>
              <a:buNone/>
            </a:pPr>
            <a:r>
              <a:rPr lang="en-US" sz="1300" dirty="0">
                <a:solidFill>
                  <a:srgbClr val="000000"/>
                </a:solidFill>
                <a:highlight>
                  <a:srgbClr val="F7D5D4"/>
                </a:highlight>
                <a:latin typeface="Consolas" pitchFamily="34" charset="0"/>
                <a:ea typeface="Consolas" pitchFamily="34" charset="-122"/>
                <a:cs typeface="Consolas" pitchFamily="34" charset="-120"/>
              </a:rPr>
              <a:t>reg.fit(X_train, y_train) </a:t>
            </a:r>
            <a:endParaRPr lang="en-US" sz="1300" dirty="0"/>
          </a:p>
          <a:p>
            <a:pPr indent="0" marL="0">
              <a:lnSpc>
                <a:spcPts val="2050"/>
              </a:lnSpc>
              <a:buNone/>
            </a:pPr>
            <a:endParaRPr lang="en-US" sz="1300" dirty="0"/>
          </a:p>
          <a:p>
            <a:pPr indent="0" marL="0">
              <a:lnSpc>
                <a:spcPts val="2050"/>
              </a:lnSpc>
              <a:buNone/>
            </a:pPr>
            <a:r>
              <a:rPr lang="en-US" sz="1300" dirty="0">
                <a:solidFill>
                  <a:srgbClr val="000000"/>
                </a:solidFill>
                <a:highlight>
                  <a:srgbClr val="F7D5D4"/>
                </a:highlight>
                <a:latin typeface="Consolas" pitchFamily="34" charset="0"/>
                <a:ea typeface="Consolas" pitchFamily="34" charset="-122"/>
                <a:cs typeface="Consolas" pitchFamily="34" charset="-120"/>
              </a:rPr>
              <a:t># evaluate the model</a:t>
            </a:r>
            <a:endParaRPr lang="en-US" sz="1300" dirty="0"/>
          </a:p>
          <a:p>
            <a:pPr indent="0" marL="0">
              <a:lnSpc>
                <a:spcPts val="2050"/>
              </a:lnSpc>
              <a:buNone/>
            </a:pPr>
            <a:r>
              <a:rPr lang="en-US" sz="1300" dirty="0">
                <a:solidFill>
                  <a:srgbClr val="000000"/>
                </a:solidFill>
                <a:highlight>
                  <a:srgbClr val="F7D5D4"/>
                </a:highlight>
                <a:latin typeface="Consolas" pitchFamily="34" charset="0"/>
                <a:ea typeface="Consolas" pitchFamily="34" charset="-122"/>
                <a:cs typeface="Consolas" pitchFamily="34" charset="-120"/>
              </a:rPr>
              <a:t>y_pred = reg.predict(X_test) </a:t>
            </a:r>
            <a:endParaRPr lang="en-US" sz="1300" dirty="0"/>
          </a:p>
          <a:p>
            <a:pPr indent="0" marL="0">
              <a:lnSpc>
                <a:spcPts val="2050"/>
              </a:lnSpc>
              <a:buNone/>
            </a:pPr>
            <a:r>
              <a:rPr lang="en-US" sz="1300" dirty="0">
                <a:solidFill>
                  <a:srgbClr val="000000"/>
                </a:solidFill>
                <a:highlight>
                  <a:srgbClr val="F7D5D4"/>
                </a:highlight>
                <a:latin typeface="Consolas" pitchFamily="34" charset="0"/>
                <a:ea typeface="Consolas" pitchFamily="34" charset="-122"/>
                <a:cs typeface="Consolas" pitchFamily="34" charset="-120"/>
              </a:rPr>
              <a:t>print(f"Logistic Regression model accuracy: {metrics.accuracy_score(y_test, y_pred) * 100:.2f}%")</a:t>
            </a:r>
            <a:endParaRPr lang="en-US" sz="1300" dirty="0"/>
          </a:p>
        </p:txBody>
      </p:sp>
      <p:sp>
        <p:nvSpPr>
          <p:cNvPr id="6" name="Text 4"/>
          <p:cNvSpPr/>
          <p:nvPr/>
        </p:nvSpPr>
        <p:spPr>
          <a:xfrm>
            <a:off x="581144" y="6526887"/>
            <a:ext cx="12654915" cy="531495"/>
          </a:xfrm>
          <a:prstGeom prst="rect">
            <a:avLst/>
          </a:prstGeom>
          <a:noFill/>
          <a:ln/>
        </p:spPr>
        <p:txBody>
          <a:bodyPr wrap="square" lIns="0" tIns="0" rIns="0" bIns="0" rtlCol="0" anchor="t"/>
          <a:lstStyle/>
          <a:p>
            <a:pPr indent="0" marL="0">
              <a:lnSpc>
                <a:spcPts val="2050"/>
              </a:lnSpc>
              <a:buNone/>
            </a:pPr>
            <a:r>
              <a:rPr lang="en-US" sz="1300" dirty="0">
                <a:solidFill>
                  <a:srgbClr val="000000"/>
                </a:solidFill>
                <a:latin typeface="Inter" pitchFamily="34" charset="0"/>
                <a:ea typeface="Inter" pitchFamily="34" charset="-122"/>
                <a:cs typeface="Inter" pitchFamily="34" charset="-120"/>
              </a:rPr>
              <a:t>This code implements multinomial logistic regression using the digits dataset, which contains images of handwritten digits (0-9). Despite having 10 different classes, the implementation is similar to binary logistic regression thanks to scikit-learn's abstraction.</a:t>
            </a:r>
            <a:endParaRPr lang="en-US" sz="1300" dirty="0"/>
          </a:p>
        </p:txBody>
      </p:sp>
      <p:sp>
        <p:nvSpPr>
          <p:cNvPr id="7" name="Text 5"/>
          <p:cNvSpPr/>
          <p:nvPr/>
        </p:nvSpPr>
        <p:spPr>
          <a:xfrm>
            <a:off x="581144" y="7245191"/>
            <a:ext cx="12654915" cy="531495"/>
          </a:xfrm>
          <a:prstGeom prst="rect">
            <a:avLst/>
          </a:prstGeom>
          <a:noFill/>
          <a:ln/>
        </p:spPr>
        <p:txBody>
          <a:bodyPr wrap="square" lIns="0" tIns="0" rIns="0" bIns="0" rtlCol="0" anchor="t"/>
          <a:lstStyle/>
          <a:p>
            <a:pPr indent="0" marL="0">
              <a:lnSpc>
                <a:spcPts val="2050"/>
              </a:lnSpc>
              <a:buNone/>
            </a:pPr>
            <a:r>
              <a:rPr lang="en-US" sz="1300" dirty="0">
                <a:solidFill>
                  <a:srgbClr val="000000"/>
                </a:solidFill>
                <a:latin typeface="Inter" pitchFamily="34" charset="0"/>
                <a:ea typeface="Inter" pitchFamily="34" charset="-122"/>
                <a:cs typeface="Inter" pitchFamily="34" charset="-120"/>
              </a:rPr>
              <a:t>The model achieves an impressive 96.66% accuracy on the test data, demonstrating the effectiveness of logistic regression for multi-class classification tasks when the underlying relationship between features and classes is approximately linear.</a:t>
            </a:r>
            <a:endParaRPr lang="en-US" sz="1300" dirty="0"/>
          </a:p>
        </p:txBody>
      </p:sp>
      <p:pic>
        <p:nvPicPr>
          <p:cNvPr id="8" name="Image 0" descr="preencoded.png">    </p:cNvPr>
          <p:cNvPicPr>
            <a:picLocks noChangeAspect="1"/>
          </p:cNvPicPr>
          <p:nvPr/>
        </p:nvPicPr>
        <p:blipFill>
          <a:blip r:embed="rId1"/>
          <a:stretch>
            <a:fillRect/>
          </a:stretch>
        </p:blipFill>
        <p:spPr>
          <a:xfrm>
            <a:off x="13464778" y="228600"/>
            <a:ext cx="937022" cy="50280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74370" y="832961"/>
            <a:ext cx="12035790" cy="602099"/>
          </a:xfrm>
          <a:prstGeom prst="rect">
            <a:avLst/>
          </a:prstGeom>
          <a:noFill/>
          <a:ln/>
        </p:spPr>
        <p:txBody>
          <a:bodyPr wrap="none" lIns="0" tIns="0" rIns="0" bIns="0" rtlCol="0" anchor="t"/>
          <a:lstStyle/>
          <a:p>
            <a:pPr indent="0" marL="0">
              <a:lnSpc>
                <a:spcPts val="4700"/>
              </a:lnSpc>
              <a:buNone/>
            </a:pPr>
            <a:r>
              <a:rPr lang="en-US" sz="3750" b="1" dirty="0">
                <a:solidFill>
                  <a:srgbClr val="000000"/>
                </a:solidFill>
                <a:latin typeface="Inter Bold" pitchFamily="34" charset="0"/>
                <a:ea typeface="Inter Bold" pitchFamily="34" charset="-122"/>
                <a:cs typeface="Inter Bold" pitchFamily="34" charset="-120"/>
              </a:rPr>
              <a:t>Summary: Logistic Regression in Machine Learning</a:t>
            </a:r>
            <a:endParaRPr lang="en-US" sz="3750" dirty="0"/>
          </a:p>
        </p:txBody>
      </p:sp>
      <p:pic>
        <p:nvPicPr>
          <p:cNvPr id="3" name="Image 0" descr="preencoded.png">    </p:cNvPr>
          <p:cNvPicPr>
            <a:picLocks noChangeAspect="1"/>
          </p:cNvPicPr>
          <p:nvPr/>
        </p:nvPicPr>
        <p:blipFill>
          <a:blip r:embed="rId1"/>
          <a:stretch>
            <a:fillRect/>
          </a:stretch>
        </p:blipFill>
        <p:spPr>
          <a:xfrm>
            <a:off x="674370" y="1724025"/>
            <a:ext cx="963335" cy="1418153"/>
          </a:xfrm>
          <a:prstGeom prst="rect">
            <a:avLst/>
          </a:prstGeom>
        </p:spPr>
      </p:pic>
      <p:sp>
        <p:nvSpPr>
          <p:cNvPr id="4" name="Text 1"/>
          <p:cNvSpPr/>
          <p:nvPr/>
        </p:nvSpPr>
        <p:spPr>
          <a:xfrm>
            <a:off x="1926669" y="1916668"/>
            <a:ext cx="2408515" cy="300990"/>
          </a:xfrm>
          <a:prstGeom prst="rect">
            <a:avLst/>
          </a:prstGeom>
          <a:noFill/>
          <a:ln/>
        </p:spPr>
        <p:txBody>
          <a:bodyPr wrap="none" lIns="0" tIns="0" rIns="0" bIns="0" rtlCol="0" anchor="t"/>
          <a:lstStyle/>
          <a:p>
            <a:pPr algn="l" indent="0" marL="0">
              <a:lnSpc>
                <a:spcPts val="2350"/>
              </a:lnSpc>
              <a:buNone/>
            </a:pPr>
            <a:r>
              <a:rPr lang="en-US" sz="1850" b="1" dirty="0">
                <a:solidFill>
                  <a:srgbClr val="000000"/>
                </a:solidFill>
                <a:latin typeface="Inter Bold" pitchFamily="34" charset="0"/>
                <a:ea typeface="Inter Bold" pitchFamily="34" charset="-122"/>
                <a:cs typeface="Inter Bold" pitchFamily="34" charset="-120"/>
              </a:rPr>
              <a:t>Foundation</a:t>
            </a:r>
            <a:endParaRPr lang="en-US" sz="1850" dirty="0"/>
          </a:p>
        </p:txBody>
      </p:sp>
      <p:sp>
        <p:nvSpPr>
          <p:cNvPr id="5" name="Text 2"/>
          <p:cNvSpPr/>
          <p:nvPr/>
        </p:nvSpPr>
        <p:spPr>
          <a:xfrm>
            <a:off x="1926669" y="2333268"/>
            <a:ext cx="11309390" cy="616268"/>
          </a:xfrm>
          <a:prstGeom prst="rect">
            <a:avLst/>
          </a:prstGeom>
          <a:noFill/>
          <a:ln/>
        </p:spPr>
        <p:txBody>
          <a:bodyPr wrap="square" lIns="0" tIns="0" rIns="0" bIns="0" rtlCol="0" anchor="t"/>
          <a:lstStyle/>
          <a:p>
            <a:pPr algn="l" indent="0" marL="0">
              <a:lnSpc>
                <a:spcPts val="2400"/>
              </a:lnSpc>
              <a:buNone/>
            </a:pPr>
            <a:r>
              <a:rPr lang="en-US" sz="1500" dirty="0">
                <a:solidFill>
                  <a:srgbClr val="000000"/>
                </a:solidFill>
                <a:latin typeface="Inter" pitchFamily="34" charset="0"/>
                <a:ea typeface="Inter" pitchFamily="34" charset="-122"/>
                <a:cs typeface="Inter" pitchFamily="34" charset="-120"/>
              </a:rPr>
              <a:t>Logistic regression is a powerful supervised machine learning algorithm for classification tasks, using the sigmoid function to transform linear combinations of inputs into probabilities.</a:t>
            </a:r>
            <a:endParaRPr lang="en-US" sz="1500" dirty="0"/>
          </a:p>
        </p:txBody>
      </p:sp>
      <p:pic>
        <p:nvPicPr>
          <p:cNvPr id="6" name="Image 1" descr="preencoded.png">    </p:cNvPr>
          <p:cNvPicPr>
            <a:picLocks noChangeAspect="1"/>
          </p:cNvPicPr>
          <p:nvPr/>
        </p:nvPicPr>
        <p:blipFill>
          <a:blip r:embed="rId2"/>
          <a:stretch>
            <a:fillRect/>
          </a:stretch>
        </p:blipFill>
        <p:spPr>
          <a:xfrm>
            <a:off x="674370" y="3142178"/>
            <a:ext cx="963335" cy="1418153"/>
          </a:xfrm>
          <a:prstGeom prst="rect">
            <a:avLst/>
          </a:prstGeom>
        </p:spPr>
      </p:pic>
      <p:sp>
        <p:nvSpPr>
          <p:cNvPr id="7" name="Text 3"/>
          <p:cNvSpPr/>
          <p:nvPr/>
        </p:nvSpPr>
        <p:spPr>
          <a:xfrm>
            <a:off x="1926669" y="3334822"/>
            <a:ext cx="2408515" cy="300990"/>
          </a:xfrm>
          <a:prstGeom prst="rect">
            <a:avLst/>
          </a:prstGeom>
          <a:noFill/>
          <a:ln/>
        </p:spPr>
        <p:txBody>
          <a:bodyPr wrap="none" lIns="0" tIns="0" rIns="0" bIns="0" rtlCol="0" anchor="t"/>
          <a:lstStyle/>
          <a:p>
            <a:pPr algn="l" indent="0" marL="0">
              <a:lnSpc>
                <a:spcPts val="2350"/>
              </a:lnSpc>
              <a:buNone/>
            </a:pPr>
            <a:r>
              <a:rPr lang="en-US" sz="1850" b="1" dirty="0">
                <a:solidFill>
                  <a:srgbClr val="000000"/>
                </a:solidFill>
                <a:latin typeface="Inter Bold" pitchFamily="34" charset="0"/>
                <a:ea typeface="Inter Bold" pitchFamily="34" charset="-122"/>
                <a:cs typeface="Inter Bold" pitchFamily="34" charset="-120"/>
              </a:rPr>
              <a:t>Versatility</a:t>
            </a:r>
            <a:endParaRPr lang="en-US" sz="1850" dirty="0"/>
          </a:p>
        </p:txBody>
      </p:sp>
      <p:sp>
        <p:nvSpPr>
          <p:cNvPr id="8" name="Text 4"/>
          <p:cNvSpPr/>
          <p:nvPr/>
        </p:nvSpPr>
        <p:spPr>
          <a:xfrm>
            <a:off x="1926669" y="3751421"/>
            <a:ext cx="11309390" cy="616268"/>
          </a:xfrm>
          <a:prstGeom prst="rect">
            <a:avLst/>
          </a:prstGeom>
          <a:noFill/>
          <a:ln/>
        </p:spPr>
        <p:txBody>
          <a:bodyPr wrap="square" lIns="0" tIns="0" rIns="0" bIns="0" rtlCol="0" anchor="t"/>
          <a:lstStyle/>
          <a:p>
            <a:pPr algn="l" indent="0" marL="0">
              <a:lnSpc>
                <a:spcPts val="2400"/>
              </a:lnSpc>
              <a:buNone/>
            </a:pPr>
            <a:r>
              <a:rPr lang="en-US" sz="1500" dirty="0">
                <a:solidFill>
                  <a:srgbClr val="000000"/>
                </a:solidFill>
                <a:latin typeface="Inter" pitchFamily="34" charset="0"/>
                <a:ea typeface="Inter" pitchFamily="34" charset="-122"/>
                <a:cs typeface="Inter" pitchFamily="34" charset="-120"/>
              </a:rPr>
              <a:t>It can handle binary, multinomial, and ordinal classification problems, making it a versatile tool for various applications from medical diagnosis to image recognition.</a:t>
            </a:r>
            <a:endParaRPr lang="en-US" sz="1500" dirty="0"/>
          </a:p>
        </p:txBody>
      </p:sp>
      <p:pic>
        <p:nvPicPr>
          <p:cNvPr id="9" name="Image 2" descr="preencoded.png">    </p:cNvPr>
          <p:cNvPicPr>
            <a:picLocks noChangeAspect="1"/>
          </p:cNvPicPr>
          <p:nvPr/>
        </p:nvPicPr>
        <p:blipFill>
          <a:blip r:embed="rId3"/>
          <a:stretch>
            <a:fillRect/>
          </a:stretch>
        </p:blipFill>
        <p:spPr>
          <a:xfrm>
            <a:off x="674370" y="4560332"/>
            <a:ext cx="963335" cy="1418153"/>
          </a:xfrm>
          <a:prstGeom prst="rect">
            <a:avLst/>
          </a:prstGeom>
        </p:spPr>
      </p:pic>
      <p:sp>
        <p:nvSpPr>
          <p:cNvPr id="10" name="Text 5"/>
          <p:cNvSpPr/>
          <p:nvPr/>
        </p:nvSpPr>
        <p:spPr>
          <a:xfrm>
            <a:off x="1926669" y="4752975"/>
            <a:ext cx="2408515" cy="300990"/>
          </a:xfrm>
          <a:prstGeom prst="rect">
            <a:avLst/>
          </a:prstGeom>
          <a:noFill/>
          <a:ln/>
        </p:spPr>
        <p:txBody>
          <a:bodyPr wrap="none" lIns="0" tIns="0" rIns="0" bIns="0" rtlCol="0" anchor="t"/>
          <a:lstStyle/>
          <a:p>
            <a:pPr algn="l" indent="0" marL="0">
              <a:lnSpc>
                <a:spcPts val="2350"/>
              </a:lnSpc>
              <a:buNone/>
            </a:pPr>
            <a:r>
              <a:rPr lang="en-US" sz="1850" b="1" dirty="0">
                <a:solidFill>
                  <a:srgbClr val="000000"/>
                </a:solidFill>
                <a:latin typeface="Inter Bold" pitchFamily="34" charset="0"/>
                <a:ea typeface="Inter Bold" pitchFamily="34" charset="-122"/>
                <a:cs typeface="Inter Bold" pitchFamily="34" charset="-120"/>
              </a:rPr>
              <a:t>Implementation</a:t>
            </a:r>
            <a:endParaRPr lang="en-US" sz="1850" dirty="0"/>
          </a:p>
        </p:txBody>
      </p:sp>
      <p:sp>
        <p:nvSpPr>
          <p:cNvPr id="11" name="Text 6"/>
          <p:cNvSpPr/>
          <p:nvPr/>
        </p:nvSpPr>
        <p:spPr>
          <a:xfrm>
            <a:off x="1926669" y="5169575"/>
            <a:ext cx="11309390" cy="616268"/>
          </a:xfrm>
          <a:prstGeom prst="rect">
            <a:avLst/>
          </a:prstGeom>
          <a:noFill/>
          <a:ln/>
        </p:spPr>
        <p:txBody>
          <a:bodyPr wrap="square" lIns="0" tIns="0" rIns="0" bIns="0" rtlCol="0" anchor="t"/>
          <a:lstStyle/>
          <a:p>
            <a:pPr algn="l" indent="0" marL="0">
              <a:lnSpc>
                <a:spcPts val="2400"/>
              </a:lnSpc>
              <a:buNone/>
            </a:pPr>
            <a:r>
              <a:rPr lang="en-US" sz="1500" dirty="0">
                <a:solidFill>
                  <a:srgbClr val="000000"/>
                </a:solidFill>
                <a:latin typeface="Inter" pitchFamily="34" charset="0"/>
                <a:ea typeface="Inter" pitchFamily="34" charset="-122"/>
                <a:cs typeface="Inter" pitchFamily="34" charset="-120"/>
              </a:rPr>
              <a:t>Modern libraries like scikit-learn make it easy to implement logistic regression models with high accuracy, as demonstrated by the 96%+ accuracy achieved in both binary and multinomial examples.</a:t>
            </a:r>
            <a:endParaRPr lang="en-US" sz="1500" dirty="0"/>
          </a:p>
        </p:txBody>
      </p:sp>
      <p:pic>
        <p:nvPicPr>
          <p:cNvPr id="12" name="Image 3" descr="preencoded.png">    </p:cNvPr>
          <p:cNvPicPr>
            <a:picLocks noChangeAspect="1"/>
          </p:cNvPicPr>
          <p:nvPr/>
        </p:nvPicPr>
        <p:blipFill>
          <a:blip r:embed="rId4"/>
          <a:stretch>
            <a:fillRect/>
          </a:stretch>
        </p:blipFill>
        <p:spPr>
          <a:xfrm>
            <a:off x="674370" y="5978485"/>
            <a:ext cx="963335" cy="1418153"/>
          </a:xfrm>
          <a:prstGeom prst="rect">
            <a:avLst/>
          </a:prstGeom>
        </p:spPr>
      </p:pic>
      <p:sp>
        <p:nvSpPr>
          <p:cNvPr id="13" name="Text 7"/>
          <p:cNvSpPr/>
          <p:nvPr/>
        </p:nvSpPr>
        <p:spPr>
          <a:xfrm>
            <a:off x="1926669" y="6171128"/>
            <a:ext cx="2408515" cy="300990"/>
          </a:xfrm>
          <a:prstGeom prst="rect">
            <a:avLst/>
          </a:prstGeom>
          <a:noFill/>
          <a:ln/>
        </p:spPr>
        <p:txBody>
          <a:bodyPr wrap="none" lIns="0" tIns="0" rIns="0" bIns="0" rtlCol="0" anchor="t"/>
          <a:lstStyle/>
          <a:p>
            <a:pPr algn="l" indent="0" marL="0">
              <a:lnSpc>
                <a:spcPts val="2350"/>
              </a:lnSpc>
              <a:buNone/>
            </a:pPr>
            <a:r>
              <a:rPr lang="en-US" sz="1850" b="1" dirty="0">
                <a:solidFill>
                  <a:srgbClr val="000000"/>
                </a:solidFill>
                <a:latin typeface="Inter Bold" pitchFamily="34" charset="0"/>
                <a:ea typeface="Inter Bold" pitchFamily="34" charset="-122"/>
                <a:cs typeface="Inter Bold" pitchFamily="34" charset="-120"/>
              </a:rPr>
              <a:t>Future Applications</a:t>
            </a:r>
            <a:endParaRPr lang="en-US" sz="1850" dirty="0"/>
          </a:p>
        </p:txBody>
      </p:sp>
      <p:sp>
        <p:nvSpPr>
          <p:cNvPr id="14" name="Text 8"/>
          <p:cNvSpPr/>
          <p:nvPr/>
        </p:nvSpPr>
        <p:spPr>
          <a:xfrm>
            <a:off x="1926669" y="6587728"/>
            <a:ext cx="11309390" cy="616268"/>
          </a:xfrm>
          <a:prstGeom prst="rect">
            <a:avLst/>
          </a:prstGeom>
          <a:noFill/>
          <a:ln/>
        </p:spPr>
        <p:txBody>
          <a:bodyPr wrap="square" lIns="0" tIns="0" rIns="0" bIns="0" rtlCol="0" anchor="t"/>
          <a:lstStyle/>
          <a:p>
            <a:pPr algn="l" indent="0" marL="0">
              <a:lnSpc>
                <a:spcPts val="2400"/>
              </a:lnSpc>
              <a:buNone/>
            </a:pPr>
            <a:r>
              <a:rPr lang="en-US" sz="1500" dirty="0">
                <a:solidFill>
                  <a:srgbClr val="000000"/>
                </a:solidFill>
                <a:latin typeface="Inter" pitchFamily="34" charset="0"/>
                <a:ea typeface="Inter" pitchFamily="34" charset="-122"/>
                <a:cs typeface="Inter" pitchFamily="34" charset="-120"/>
              </a:rPr>
              <a:t>Despite newer algorithms, logistic regression remains relevant for its interpretability, efficiency, and strong performance when assumptions are met.</a:t>
            </a:r>
            <a:endParaRPr lang="en-US" sz="1500" dirty="0"/>
          </a:p>
        </p:txBody>
      </p:sp>
      <p:pic>
        <p:nvPicPr>
          <p:cNvPr id="15" name="Image 4" descr="preencoded.png">    </p:cNvPr>
          <p:cNvPicPr>
            <a:picLocks noChangeAspect="1"/>
          </p:cNvPicPr>
          <p:nvPr/>
        </p:nvPicPr>
        <p:blipFill>
          <a:blip r:embed="rId5"/>
          <a:stretch>
            <a:fillRect/>
          </a:stretch>
        </p:blipFill>
        <p:spPr>
          <a:xfrm>
            <a:off x="13464778" y="228600"/>
            <a:ext cx="937022" cy="50280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2025-03-05T11:32:26Z</dcterms:created>
  <dcterms:modified xsi:type="dcterms:W3CDTF">2025-03-05T11:32:26Z</dcterms:modified>
</cp:coreProperties>
</file>