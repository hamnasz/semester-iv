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4630400" cy="8229600"/>
  <p:notesSz cx="8229600" cy="14630400"/>
  <p:embeddedFontLst>
    <p:embeddedFont>
      <p:font typeface="Inter"/>
      <p:regular r:id="rId22"/>
    </p:embeddedFont>
    <p:embeddedFont>
      <p:font typeface="Inter"/>
      <p:regular r:id="rId23"/>
    </p:embeddedFont>
    <p:embeddedFont>
      <p:font typeface="Inter"/>
      <p:regular r:id="rId24"/>
    </p:embeddedFont>
    <p:embeddedFont>
      <p:font typeface="Inter"/>
      <p:regular r:id="rId25"/>
    </p:embeddedFont>
    <p:embeddedFont>
      <p:font typeface="Inter"/>
      <p:regular r:id="rId26"/>
    </p:embeddedFont>
    <p:embeddedFont>
      <p:font typeface="Inter"/>
      <p:regular r:id="rId27"/>
    </p:embeddedFont>
    <p:embeddedFont>
      <p:font typeface="Inter"/>
      <p:regular r:id="rId28"/>
    </p:embeddedFont>
    <p:embeddedFont>
      <p:font typeface="Inter"/>
      <p:regular r:id="rId2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font" Target="fonts/font1.fntdata"/><Relationship Id="rId23" Type="http://schemas.openxmlformats.org/officeDocument/2006/relationships/font" Target="fonts/font2.fntdata"/><Relationship Id="rId24" Type="http://schemas.openxmlformats.org/officeDocument/2006/relationships/font" Target="fonts/font3.fntdata"/><Relationship Id="rId25" Type="http://schemas.openxmlformats.org/officeDocument/2006/relationships/font" Target="fonts/font4.fntdata"/><Relationship Id="rId26" Type="http://schemas.openxmlformats.org/officeDocument/2006/relationships/font" Target="fonts/font5.fntdata"/><Relationship Id="rId27" Type="http://schemas.openxmlformats.org/officeDocument/2006/relationships/font" Target="fonts/font6.fntdata"/><Relationship Id="rId28" Type="http://schemas.openxmlformats.org/officeDocument/2006/relationships/font" Target="fonts/font7.fntdata"/><Relationship Id="rId29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8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0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3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4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6.xml"/><Relationship Id="rId7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69152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Decision Tree in Machine Learning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44924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 how decision trees work as a supervised learning algorithm. This versatile method creates tree-like structures to make predictions and solve classification and regression problems.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607" y="2975848"/>
            <a:ext cx="4919186" cy="227790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1461135"/>
            <a:ext cx="67779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is a Decision Tree?</a:t>
            </a:r>
            <a:endParaRPr lang="en-US" sz="4450" dirty="0"/>
          </a:p>
        </p:txBody>
      </p:sp>
      <p:sp>
        <p:nvSpPr>
          <p:cNvPr id="5" name="Shape 1"/>
          <p:cNvSpPr/>
          <p:nvPr/>
        </p:nvSpPr>
        <p:spPr>
          <a:xfrm>
            <a:off x="793790" y="276522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7D5D4"/>
          </a:solidFill>
          <a:ln w="7620">
            <a:solidFill>
              <a:srgbClr val="DDBBB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878860" y="2807732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3"/>
          <p:cNvSpPr/>
          <p:nvPr/>
        </p:nvSpPr>
        <p:spPr>
          <a:xfrm>
            <a:off x="1530906" y="27652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Tree Structure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530906" y="3255645"/>
            <a:ext cx="292774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nodes represent attribute tests. Branches show attribute values. Leaf nodes display final decisions.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4685467" y="276522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7D5D4"/>
          </a:solidFill>
          <a:ln w="7620">
            <a:solidFill>
              <a:srgbClr val="DDBBB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770537" y="2807732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7"/>
          <p:cNvSpPr/>
          <p:nvPr/>
        </p:nvSpPr>
        <p:spPr>
          <a:xfrm>
            <a:off x="5422583" y="2765227"/>
            <a:ext cx="29277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Versatile Applications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22583" y="3609975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Used for both classification and regression tasks. Highly interpretable models.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93790" y="555212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7D5D4"/>
          </a:solidFill>
          <a:ln w="7620">
            <a:solidFill>
              <a:srgbClr val="DDBBB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78860" y="559462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650" dirty="0"/>
          </a:p>
        </p:txBody>
      </p:sp>
      <p:sp>
        <p:nvSpPr>
          <p:cNvPr id="15" name="Text 11"/>
          <p:cNvSpPr/>
          <p:nvPr/>
        </p:nvSpPr>
        <p:spPr>
          <a:xfrm>
            <a:off x="1530906" y="5552123"/>
            <a:ext cx="28716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Supervised Learning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1530906" y="6042541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Trained on labeled data. Creates predictive models based on input features.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71324"/>
            <a:ext cx="6955869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Intuition: The Umbrella Decision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829044"/>
            <a:ext cx="170021" cy="1216223"/>
          </a:xfrm>
          <a:prstGeom prst="roundRect">
            <a:avLst>
              <a:gd name="adj" fmla="val 56033"/>
            </a:avLst>
          </a:prstGeom>
          <a:solidFill>
            <a:srgbClr val="F7D5D4"/>
          </a:solidFill>
          <a:ln w="7620">
            <a:solidFill>
              <a:srgbClr val="DDBBB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790373" y="2829044"/>
            <a:ext cx="380559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Ask a Question (Root Node)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790373" y="3319463"/>
            <a:ext cx="644568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it raining? If yes, buy an umbrella. If no, ask another question.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20351" y="4272082"/>
            <a:ext cx="170021" cy="1216223"/>
          </a:xfrm>
          <a:prstGeom prst="roundRect">
            <a:avLst>
              <a:gd name="adj" fmla="val 56033"/>
            </a:avLst>
          </a:prstGeom>
          <a:solidFill>
            <a:srgbClr val="F7D5D4"/>
          </a:solidFill>
          <a:ln w="7620">
            <a:solidFill>
              <a:srgbClr val="DDBBB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30534" y="4272082"/>
            <a:ext cx="450556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More Questions (Internal Nodes)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130534" y="4762500"/>
            <a:ext cx="610552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it likely to rain later? If yes, buy an umbrella. If no, don't buy.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960632" y="5715119"/>
            <a:ext cx="170021" cy="1216223"/>
          </a:xfrm>
          <a:prstGeom prst="roundRect">
            <a:avLst>
              <a:gd name="adj" fmla="val 56033"/>
            </a:avLst>
          </a:prstGeom>
          <a:solidFill>
            <a:srgbClr val="F7D5D4"/>
          </a:solidFill>
          <a:ln w="7620">
            <a:solidFill>
              <a:srgbClr val="DDBBB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70815" y="5715119"/>
            <a:ext cx="39523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Make a Decision (Leaf Node)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470815" y="6205538"/>
            <a:ext cx="57652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Based on your answers, you either buy or skip the umbrella.</a:t>
            </a:r>
            <a:endParaRPr lang="en-US" sz="17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4778" y="228600"/>
            <a:ext cx="937022" cy="5028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6627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Basic Approach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615214"/>
            <a:ext cx="3996214" cy="2047994"/>
          </a:xfrm>
          <a:prstGeom prst="roundRect">
            <a:avLst>
              <a:gd name="adj" fmla="val 4652"/>
            </a:avLst>
          </a:prstGeom>
          <a:solidFill>
            <a:srgbClr val="F7D5D4"/>
          </a:solidFill>
          <a:ln w="7620">
            <a:solidFill>
              <a:srgbClr val="DDBBB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38496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Tree Representation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4340066"/>
            <a:ext cx="352734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leaf node corresponds to a class label. Attributes are represented on internal nodes.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016818" y="3615214"/>
            <a:ext cx="3996214" cy="2047994"/>
          </a:xfrm>
          <a:prstGeom prst="roundRect">
            <a:avLst>
              <a:gd name="adj" fmla="val 4652"/>
            </a:avLst>
          </a:prstGeom>
          <a:solidFill>
            <a:srgbClr val="F7D5D4"/>
          </a:solidFill>
          <a:ln w="7620">
            <a:solidFill>
              <a:srgbClr val="DDBBB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51252" y="38496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Boolean Functions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51252" y="4340066"/>
            <a:ext cx="352734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represent any boolean function on discrete attributes using the tree structure.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239845" y="3615214"/>
            <a:ext cx="3996214" cy="2047994"/>
          </a:xfrm>
          <a:prstGeom prst="roundRect">
            <a:avLst>
              <a:gd name="adj" fmla="val 4652"/>
            </a:avLst>
          </a:prstGeom>
          <a:solidFill>
            <a:srgbClr val="F7D5D4"/>
          </a:solidFill>
          <a:ln w="7620">
            <a:solidFill>
              <a:srgbClr val="DDBB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74279" y="38496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Decision Making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474279" y="4340066"/>
            <a:ext cx="352734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 the path from root to leaf to make a prediction for new data.</a:t>
            </a:r>
            <a:endParaRPr lang="en-US" sz="17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64778" y="228600"/>
            <a:ext cx="937022" cy="5028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607" y="3201233"/>
            <a:ext cx="4919186" cy="182713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88558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Example: Game Preferences</a:t>
            </a:r>
            <a:endParaRPr lang="en-US" sz="4450" dirty="0"/>
          </a:p>
        </p:txBody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643307"/>
            <a:ext cx="1134070" cy="1669852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2268022" y="287012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Age Question</a:t>
            </a:r>
            <a:endParaRPr lang="en-US" sz="2200" dirty="0"/>
          </a:p>
        </p:txBody>
      </p:sp>
      <p:sp>
        <p:nvSpPr>
          <p:cNvPr id="7" name="Text 2"/>
          <p:cNvSpPr/>
          <p:nvPr/>
        </p:nvSpPr>
        <p:spPr>
          <a:xfrm>
            <a:off x="2268022" y="3360539"/>
            <a:ext cx="6082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the person's age less than 15? If yes, they likely enjoy games (+2 score).</a:t>
            </a:r>
            <a:endParaRPr lang="en-US" sz="175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4313158"/>
            <a:ext cx="1134070" cy="1669852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2268022" y="45399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Gender Question</a:t>
            </a:r>
            <a:endParaRPr lang="en-US" sz="2200" dirty="0"/>
          </a:p>
        </p:txBody>
      </p:sp>
      <p:sp>
        <p:nvSpPr>
          <p:cNvPr id="10" name="Text 4"/>
          <p:cNvSpPr/>
          <p:nvPr/>
        </p:nvSpPr>
        <p:spPr>
          <a:xfrm>
            <a:off x="2268022" y="5030391"/>
            <a:ext cx="6082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15 or older, are they male? If yes, somewhat likely (+0.1 score).</a:t>
            </a:r>
            <a:endParaRPr lang="en-US" sz="17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5983010"/>
            <a:ext cx="1134070" cy="1360884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2268022" y="62098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Final Prediction</a:t>
            </a:r>
            <a:endParaRPr lang="en-US" sz="2200" dirty="0"/>
          </a:p>
        </p:txBody>
      </p:sp>
      <p:sp>
        <p:nvSpPr>
          <p:cNvPr id="13" name="Text 6"/>
          <p:cNvSpPr/>
          <p:nvPr/>
        </p:nvSpPr>
        <p:spPr>
          <a:xfrm>
            <a:off x="2268022" y="6700242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not male, less likely to enjoy games (-1 score).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39960"/>
            <a:ext cx="5675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Using Multiple Trees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15715"/>
            <a:ext cx="29884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Tree 1: Demographics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96859"/>
            <a:ext cx="377797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 about age and gender. Scores range from -1 to +2 based on answers.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132784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Tree 2: Behavior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132784" y="4396859"/>
            <a:ext cx="377797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Focuses on daily computer usage. +0.9 for daily users, -0.9 for non-users.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471779" y="3815715"/>
            <a:ext cx="29022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Combined Prediction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471779" y="4396859"/>
            <a:ext cx="377797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score is the sum from both trees. Higher positive scores indicate game preference.</a:t>
            </a:r>
            <a:endParaRPr lang="en-US" sz="17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64778" y="228600"/>
            <a:ext cx="937022" cy="5028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531382"/>
            <a:ext cx="6955869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Attribute Selection Measures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90" y="3289102"/>
            <a:ext cx="522923" cy="52292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80190" y="4038838"/>
            <a:ext cx="209180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Information Gain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6280190" y="4883587"/>
            <a:ext cx="209180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Measures how much uncertainty decreases after a split. Higher is better.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2160" y="3289102"/>
            <a:ext cx="522923" cy="52292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712160" y="4038838"/>
            <a:ext cx="209180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Gini Index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8712160" y="4529257"/>
            <a:ext cx="20918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Measures impurity of a set. Lower values indicate better splits.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44131" y="3289102"/>
            <a:ext cx="522923" cy="52292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144131" y="4038838"/>
            <a:ext cx="209192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Selection Process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11144131" y="4883587"/>
            <a:ext cx="209192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attributes that best separate the data into homogeneous groups.</a:t>
            </a:r>
            <a:endParaRPr lang="en-US" sz="17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64778" y="228600"/>
            <a:ext cx="937022" cy="50280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65421"/>
            <a:ext cx="746212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Information Gain Explained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76951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7D5D4"/>
          </a:solidFill>
          <a:ln w="7620">
            <a:solidFill>
              <a:srgbClr val="DDBBB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75598" y="2854523"/>
            <a:ext cx="146685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2769513"/>
            <a:ext cx="29277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Quantify Uncertainty Reduction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3614261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Shows how useful a question is for splitting data. Good questions create clearer groups.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5467" y="276951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7D5D4"/>
          </a:solidFill>
          <a:ln w="7620">
            <a:solidFill>
              <a:srgbClr val="DDBB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33461" y="2854523"/>
            <a:ext cx="21419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422583" y="27695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Calculation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22583" y="3259931"/>
            <a:ext cx="292774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Gain(S,A) = Entropy(S) – Sum for all values of attribute A.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554783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7D5D4"/>
          </a:solidFill>
          <a:ln w="7620">
            <a:solidFill>
              <a:srgbClr val="DDBBB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39046" y="5632847"/>
            <a:ext cx="219670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530906" y="55478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Practical Example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530906" y="6038255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Perfect split: Young people bought product, old people didn't = high information gain.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56241"/>
            <a:ext cx="887456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Entropy: Measuring Uncertainty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662113" y="28234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Definition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313867"/>
            <a:ext cx="37035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Measures uncertainty of a random variable. Higher entropy means more information content.</a:t>
            </a: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7509" y="2518648"/>
            <a:ext cx="4354711" cy="435471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77188" y="3222188"/>
            <a:ext cx="122277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532382" y="30048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Equal Outcomes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532382" y="3495318"/>
            <a:ext cx="370367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Yes, 3 No = high entropy (uncertain prediction).</a:t>
            </a:r>
            <a:endParaRPr lang="en-US" sz="17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509" y="2518648"/>
            <a:ext cx="4354711" cy="435471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172569" y="3592711"/>
            <a:ext cx="178356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9532382" y="53523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Uniform Outcomes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9532382" y="5842754"/>
            <a:ext cx="370367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Yes or all No = zero entropy (complete certainty).</a:t>
            </a:r>
            <a:endParaRPr lang="en-US" sz="17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7509" y="2518648"/>
            <a:ext cx="4354711" cy="435471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799665" y="5716072"/>
            <a:ext cx="182999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1662113" y="53523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Decision Making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93790" y="5842754"/>
            <a:ext cx="37035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Aim to reduce entropy with each split in the tree.</a:t>
            </a:r>
            <a:endParaRPr lang="en-US" sz="17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7509" y="2518648"/>
            <a:ext cx="4354711" cy="435471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672018" y="5345549"/>
            <a:ext cx="19169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22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64778" y="228600"/>
            <a:ext cx="937022" cy="50280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1380" y="3268980"/>
            <a:ext cx="1691640" cy="16916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3415" y="661511"/>
            <a:ext cx="7837170" cy="1166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550"/>
              </a:lnSpc>
              <a:buNone/>
            </a:pPr>
            <a:r>
              <a:rPr lang="en-US" sz="3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Building a Tree with Information Gain</a:t>
            </a:r>
            <a:endParaRPr lang="en-US" sz="3650" dirty="0"/>
          </a:p>
        </p:txBody>
      </p:sp>
      <p:sp>
        <p:nvSpPr>
          <p:cNvPr id="5" name="Shape 1"/>
          <p:cNvSpPr/>
          <p:nvPr/>
        </p:nvSpPr>
        <p:spPr>
          <a:xfrm>
            <a:off x="863441" y="2108359"/>
            <a:ext cx="22860" cy="5459730"/>
          </a:xfrm>
          <a:prstGeom prst="roundRect">
            <a:avLst>
              <a:gd name="adj" fmla="val 343028"/>
            </a:avLst>
          </a:prstGeom>
          <a:solidFill>
            <a:srgbClr val="DDBBBA"/>
          </a:solidFill>
          <a:ln/>
        </p:spPr>
      </p:sp>
      <p:sp>
        <p:nvSpPr>
          <p:cNvPr id="6" name="Shape 2"/>
          <p:cNvSpPr/>
          <p:nvPr/>
        </p:nvSpPr>
        <p:spPr>
          <a:xfrm>
            <a:off x="1050608" y="2516981"/>
            <a:ext cx="560070" cy="22860"/>
          </a:xfrm>
          <a:prstGeom prst="roundRect">
            <a:avLst>
              <a:gd name="adj" fmla="val 343028"/>
            </a:avLst>
          </a:prstGeom>
          <a:solidFill>
            <a:srgbClr val="DDBBBA"/>
          </a:solidFill>
          <a:ln/>
        </p:spPr>
      </p:sp>
      <p:sp>
        <p:nvSpPr>
          <p:cNvPr id="7" name="Shape 3"/>
          <p:cNvSpPr/>
          <p:nvPr/>
        </p:nvSpPr>
        <p:spPr>
          <a:xfrm>
            <a:off x="653415" y="2318385"/>
            <a:ext cx="420053" cy="420053"/>
          </a:xfrm>
          <a:prstGeom prst="roundRect">
            <a:avLst>
              <a:gd name="adj" fmla="val 18668"/>
            </a:avLst>
          </a:prstGeom>
          <a:solidFill>
            <a:srgbClr val="F7D5D4"/>
          </a:solidFill>
          <a:ln w="7620">
            <a:solidFill>
              <a:srgbClr val="DDBBB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23424" y="2353389"/>
            <a:ext cx="280035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1796891" y="2295049"/>
            <a:ext cx="2333744" cy="291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Start at Root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796891" y="2698671"/>
            <a:ext cx="6693694" cy="597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Begin with all training instances. Calculate information gain for each attribute.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1050608" y="4077891"/>
            <a:ext cx="560070" cy="22860"/>
          </a:xfrm>
          <a:prstGeom prst="roundRect">
            <a:avLst>
              <a:gd name="adj" fmla="val 343028"/>
            </a:avLst>
          </a:prstGeom>
          <a:solidFill>
            <a:srgbClr val="DDBBBA"/>
          </a:solidFill>
          <a:ln/>
        </p:spPr>
      </p:sp>
      <p:sp>
        <p:nvSpPr>
          <p:cNvPr id="12" name="Shape 8"/>
          <p:cNvSpPr/>
          <p:nvPr/>
        </p:nvSpPr>
        <p:spPr>
          <a:xfrm>
            <a:off x="653415" y="3879294"/>
            <a:ext cx="420053" cy="420053"/>
          </a:xfrm>
          <a:prstGeom prst="roundRect">
            <a:avLst>
              <a:gd name="adj" fmla="val 18668"/>
            </a:avLst>
          </a:prstGeom>
          <a:solidFill>
            <a:srgbClr val="F7D5D4"/>
          </a:solidFill>
          <a:ln w="7620">
            <a:solidFill>
              <a:srgbClr val="DDBBB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23424" y="3914299"/>
            <a:ext cx="280035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1796891" y="3855958"/>
            <a:ext cx="2502813" cy="291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Choose Best Attribute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1796891" y="4259580"/>
            <a:ext cx="6693694" cy="298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the attribute with highest information gain for the split.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1050608" y="5340191"/>
            <a:ext cx="560070" cy="22860"/>
          </a:xfrm>
          <a:prstGeom prst="roundRect">
            <a:avLst>
              <a:gd name="adj" fmla="val 343028"/>
            </a:avLst>
          </a:prstGeom>
          <a:solidFill>
            <a:srgbClr val="DDBBBA"/>
          </a:solidFill>
          <a:ln/>
        </p:spPr>
      </p:sp>
      <p:sp>
        <p:nvSpPr>
          <p:cNvPr id="17" name="Shape 13"/>
          <p:cNvSpPr/>
          <p:nvPr/>
        </p:nvSpPr>
        <p:spPr>
          <a:xfrm>
            <a:off x="653415" y="5141595"/>
            <a:ext cx="420053" cy="420053"/>
          </a:xfrm>
          <a:prstGeom prst="roundRect">
            <a:avLst>
              <a:gd name="adj" fmla="val 18668"/>
            </a:avLst>
          </a:prstGeom>
          <a:solidFill>
            <a:srgbClr val="F7D5D4"/>
          </a:solidFill>
          <a:ln w="7620">
            <a:solidFill>
              <a:srgbClr val="DDBBB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23424" y="5176599"/>
            <a:ext cx="280035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1796891" y="5118259"/>
            <a:ext cx="2333744" cy="291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Create Branches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1796891" y="5521881"/>
            <a:ext cx="6693694" cy="298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Split the data based on attribute values. Each value creates a new branch.</a:t>
            </a:r>
            <a:endParaRPr lang="en-US" sz="1450" dirty="0"/>
          </a:p>
        </p:txBody>
      </p:sp>
      <p:sp>
        <p:nvSpPr>
          <p:cNvPr id="21" name="Shape 17"/>
          <p:cNvSpPr/>
          <p:nvPr/>
        </p:nvSpPr>
        <p:spPr>
          <a:xfrm>
            <a:off x="1050608" y="6602492"/>
            <a:ext cx="560070" cy="22860"/>
          </a:xfrm>
          <a:prstGeom prst="roundRect">
            <a:avLst>
              <a:gd name="adj" fmla="val 343028"/>
            </a:avLst>
          </a:prstGeom>
          <a:solidFill>
            <a:srgbClr val="DDBBBA"/>
          </a:solidFill>
          <a:ln/>
        </p:spPr>
      </p:sp>
      <p:sp>
        <p:nvSpPr>
          <p:cNvPr id="22" name="Shape 18"/>
          <p:cNvSpPr/>
          <p:nvPr/>
        </p:nvSpPr>
        <p:spPr>
          <a:xfrm>
            <a:off x="653415" y="6403896"/>
            <a:ext cx="420053" cy="420053"/>
          </a:xfrm>
          <a:prstGeom prst="roundRect">
            <a:avLst>
              <a:gd name="adj" fmla="val 18668"/>
            </a:avLst>
          </a:prstGeom>
          <a:solidFill>
            <a:srgbClr val="F7D5D4"/>
          </a:solidFill>
          <a:ln w="7620">
            <a:solidFill>
              <a:srgbClr val="DDBBBA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23424" y="6438900"/>
            <a:ext cx="280035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0"/>
          <p:cNvSpPr/>
          <p:nvPr/>
        </p:nvSpPr>
        <p:spPr>
          <a:xfrm>
            <a:off x="1796891" y="6380559"/>
            <a:ext cx="2333744" cy="291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Recursion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1796891" y="6784181"/>
            <a:ext cx="6693694" cy="597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 process on each subset until you reach pure nodes or no attributes remain.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7837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Gini Index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440781"/>
            <a:ext cx="2073593" cy="1306949"/>
          </a:xfrm>
          <a:prstGeom prst="roundRect">
            <a:avLst>
              <a:gd name="adj" fmla="val 7289"/>
            </a:avLst>
          </a:prstGeom>
          <a:solidFill>
            <a:srgbClr val="F7D5D4"/>
          </a:solidFill>
          <a:ln w="7620">
            <a:solidFill>
              <a:srgbClr val="DDBBB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2867501"/>
            <a:ext cx="122277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094196" y="26675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Definition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094196" y="3158014"/>
            <a:ext cx="859071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Measures how often a randomly chosen element would be incorrectly identified.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2980730" y="3732490"/>
            <a:ext cx="10141982" cy="15240"/>
          </a:xfrm>
          <a:prstGeom prst="roundRect">
            <a:avLst>
              <a:gd name="adj" fmla="val 625116"/>
            </a:avLst>
          </a:prstGeom>
          <a:solidFill>
            <a:srgbClr val="DDBBBA"/>
          </a:solidFill>
          <a:ln/>
        </p:spPr>
      </p:sp>
      <p:sp>
        <p:nvSpPr>
          <p:cNvPr id="8" name="Shape 6"/>
          <p:cNvSpPr/>
          <p:nvPr/>
        </p:nvSpPr>
        <p:spPr>
          <a:xfrm>
            <a:off x="793790" y="3861078"/>
            <a:ext cx="4147304" cy="1306949"/>
          </a:xfrm>
          <a:prstGeom prst="roundRect">
            <a:avLst>
              <a:gd name="adj" fmla="val 7289"/>
            </a:avLst>
          </a:prstGeom>
          <a:solidFill>
            <a:srgbClr val="F7D5D4"/>
          </a:solidFill>
          <a:ln w="7620">
            <a:solidFill>
              <a:srgbClr val="DDBBB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8224" y="4287798"/>
            <a:ext cx="178356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167908" y="40878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Formula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167908" y="4578310"/>
            <a:ext cx="46774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Gini = 1 – Sum(probability^2) for each class.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5054441" y="5152787"/>
            <a:ext cx="8068270" cy="15240"/>
          </a:xfrm>
          <a:prstGeom prst="roundRect">
            <a:avLst>
              <a:gd name="adj" fmla="val 625116"/>
            </a:avLst>
          </a:prstGeom>
          <a:solidFill>
            <a:srgbClr val="DDBBBA"/>
          </a:solidFill>
          <a:ln/>
        </p:spPr>
      </p:sp>
      <p:sp>
        <p:nvSpPr>
          <p:cNvPr id="13" name="Shape 11"/>
          <p:cNvSpPr/>
          <p:nvPr/>
        </p:nvSpPr>
        <p:spPr>
          <a:xfrm>
            <a:off x="793790" y="5281374"/>
            <a:ext cx="6221135" cy="1669852"/>
          </a:xfrm>
          <a:prstGeom prst="roundRect">
            <a:avLst>
              <a:gd name="adj" fmla="val 5705"/>
            </a:avLst>
          </a:prstGeom>
          <a:solidFill>
            <a:srgbClr val="F7D5D4"/>
          </a:solidFill>
          <a:ln w="7620">
            <a:solidFill>
              <a:srgbClr val="DDBBB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8224" y="5889546"/>
            <a:ext cx="182999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241738" y="55081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Interpretation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241738" y="5998607"/>
            <a:ext cx="57675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Lower values indicate purer splits. Perfect purity = 0. Equal mix = 0.5.</a:t>
            </a:r>
            <a:endParaRPr lang="en-US" sz="175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64778" y="228600"/>
            <a:ext cx="937022" cy="50280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72101"/>
            <a:ext cx="1042046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Real-Life Example: Weather Activities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734508"/>
            <a:ext cx="3920609" cy="24230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5441037"/>
            <a:ext cx="35409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Sunny + Normal Humidity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931456"/>
            <a:ext cx="39206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tree predicts hiking as the activity of choice.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4560" y="2734508"/>
            <a:ext cx="3920609" cy="242304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54560" y="5441037"/>
            <a:ext cx="317777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Sunny + High Humidity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054560" y="5931456"/>
            <a:ext cx="39206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tree suggests swimming as the preferred activity.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5331" y="2734508"/>
            <a:ext cx="3920728" cy="24231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315331" y="54411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Rainy Weather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315331" y="5931575"/>
            <a:ext cx="392072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tree recommends staying inside.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64778" y="228600"/>
            <a:ext cx="937022" cy="50280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2232" y="560308"/>
            <a:ext cx="5520571" cy="636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Decision Tree Process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3141" y="1603296"/>
            <a:ext cx="1239798" cy="11725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788093" y="2131338"/>
            <a:ext cx="109657" cy="407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666417" y="1806773"/>
            <a:ext cx="2312432" cy="31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Make Prediction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666417" y="2246828"/>
            <a:ext cx="2312432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 tree for new data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13778" y="2791658"/>
            <a:ext cx="8671441" cy="11430"/>
          </a:xfrm>
          <a:prstGeom prst="roundRect">
            <a:avLst>
              <a:gd name="adj" fmla="val 747870"/>
            </a:avLst>
          </a:prstGeom>
          <a:solidFill>
            <a:srgbClr val="DDBBB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3302" y="2826663"/>
            <a:ext cx="2479715" cy="11725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762970" y="3209330"/>
            <a:ext cx="160139" cy="407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5286494" y="3030141"/>
            <a:ext cx="2388037" cy="31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Assign Final Labels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5286494" y="3470196"/>
            <a:ext cx="2388037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leaf nodes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133856" y="4015026"/>
            <a:ext cx="8051363" cy="11430"/>
          </a:xfrm>
          <a:prstGeom prst="roundRect">
            <a:avLst>
              <a:gd name="adj" fmla="val 747870"/>
            </a:avLst>
          </a:prstGeom>
          <a:solidFill>
            <a:srgbClr val="DDBBB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3343" y="4050030"/>
            <a:ext cx="3719512" cy="117252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760946" y="4432697"/>
            <a:ext cx="164187" cy="407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5906333" y="4253508"/>
            <a:ext cx="2334101" cy="31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Recursive Splitting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5906333" y="4693563"/>
            <a:ext cx="2334101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until pure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5753695" y="5238393"/>
            <a:ext cx="7431524" cy="11430"/>
          </a:xfrm>
          <a:prstGeom prst="roundRect">
            <a:avLst>
              <a:gd name="adj" fmla="val 747870"/>
            </a:avLst>
          </a:prstGeom>
          <a:solidFill>
            <a:srgbClr val="DDBBBA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3385" y="5273397"/>
            <a:ext cx="4959429" cy="117252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757017" y="5656064"/>
            <a:ext cx="172045" cy="407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6526292" y="5476875"/>
            <a:ext cx="2167414" cy="31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Split Into Subsets</a:t>
            </a:r>
            <a:endParaRPr lang="en-US" sz="2000" dirty="0"/>
          </a:p>
        </p:txBody>
      </p:sp>
      <p:sp>
        <p:nvSpPr>
          <p:cNvPr id="21" name="Text 15"/>
          <p:cNvSpPr/>
          <p:nvPr/>
        </p:nvSpPr>
        <p:spPr>
          <a:xfrm>
            <a:off x="6526292" y="5916930"/>
            <a:ext cx="2167414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Based on questions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6373654" y="6461760"/>
            <a:ext cx="6811566" cy="11430"/>
          </a:xfrm>
          <a:prstGeom prst="roundRect">
            <a:avLst>
              <a:gd name="adj" fmla="val 747870"/>
            </a:avLst>
          </a:prstGeom>
          <a:solidFill>
            <a:srgbClr val="DDBBBA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426" y="6496764"/>
            <a:ext cx="6199227" cy="117252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763804" y="6879431"/>
            <a:ext cx="158234" cy="407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2000" dirty="0"/>
          </a:p>
        </p:txBody>
      </p:sp>
      <p:sp>
        <p:nvSpPr>
          <p:cNvPr id="25" name="Text 18"/>
          <p:cNvSpPr/>
          <p:nvPr/>
        </p:nvSpPr>
        <p:spPr>
          <a:xfrm>
            <a:off x="7146131" y="6700242"/>
            <a:ext cx="2754392" cy="31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Choose Best Question</a:t>
            </a:r>
            <a:endParaRPr lang="en-US" sz="2000" dirty="0"/>
          </a:p>
        </p:txBody>
      </p:sp>
      <p:sp>
        <p:nvSpPr>
          <p:cNvPr id="26" name="Text 19"/>
          <p:cNvSpPr/>
          <p:nvPr/>
        </p:nvSpPr>
        <p:spPr>
          <a:xfrm>
            <a:off x="7146131" y="7140297"/>
            <a:ext cx="2754392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with whole dataset</a:t>
            </a:r>
            <a:endParaRPr lang="en-US" sz="16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64778" y="228600"/>
            <a:ext cx="937022" cy="50280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9471" y="417790"/>
            <a:ext cx="5523786" cy="472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7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Advantages of Decision Trees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529471" y="1193125"/>
            <a:ext cx="8085058" cy="499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9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3900" dirty="0"/>
          </a:p>
        </p:txBody>
      </p:sp>
      <p:sp>
        <p:nvSpPr>
          <p:cNvPr id="5" name="Text 2"/>
          <p:cNvSpPr/>
          <p:nvPr/>
        </p:nvSpPr>
        <p:spPr>
          <a:xfrm>
            <a:off x="3626287" y="1881426"/>
            <a:ext cx="1891308" cy="236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Interpretability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29471" y="2208609"/>
            <a:ext cx="8085058" cy="24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Easy to understand and explain, even to non-technical stakeholders.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29471" y="2980134"/>
            <a:ext cx="8085058" cy="499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9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3900" dirty="0"/>
          </a:p>
        </p:txBody>
      </p:sp>
      <p:sp>
        <p:nvSpPr>
          <p:cNvPr id="8" name="Text 5"/>
          <p:cNvSpPr/>
          <p:nvPr/>
        </p:nvSpPr>
        <p:spPr>
          <a:xfrm>
            <a:off x="3626287" y="3668435"/>
            <a:ext cx="1891308" cy="236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Versatility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29471" y="3995618"/>
            <a:ext cx="8085058" cy="24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 for both classification and regression problems.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29471" y="4767143"/>
            <a:ext cx="8085058" cy="499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9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3900" dirty="0"/>
          </a:p>
        </p:txBody>
      </p:sp>
      <p:sp>
        <p:nvSpPr>
          <p:cNvPr id="11" name="Text 8"/>
          <p:cNvSpPr/>
          <p:nvPr/>
        </p:nvSpPr>
        <p:spPr>
          <a:xfrm>
            <a:off x="3626287" y="5455444"/>
            <a:ext cx="1891308" cy="236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Visualization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29471" y="5782628"/>
            <a:ext cx="8085058" cy="24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to visualize the decision-making process.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29471" y="6554153"/>
            <a:ext cx="8085058" cy="499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9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3900" dirty="0"/>
          </a:p>
        </p:txBody>
      </p:sp>
      <p:sp>
        <p:nvSpPr>
          <p:cNvPr id="14" name="Text 11"/>
          <p:cNvSpPr/>
          <p:nvPr/>
        </p:nvSpPr>
        <p:spPr>
          <a:xfrm>
            <a:off x="3626287" y="7242453"/>
            <a:ext cx="1891308" cy="236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Feature Selection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529471" y="7569637"/>
            <a:ext cx="8085058" cy="24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Automatically identifies most important features for prediction.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5624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662113" y="27327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Tool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223141"/>
            <a:ext cx="37035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trees model and predict outcomes based on input data through tree-like structures.</a:t>
            </a: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7509" y="2518648"/>
            <a:ext cx="4354711" cy="435471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75853" y="3391376"/>
            <a:ext cx="122277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532382" y="27327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Benefits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532382" y="3223141"/>
            <a:ext cx="370367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Offer interpretability, versatility, and simple visualization for various ML tasks.</a:t>
            </a:r>
            <a:endParaRPr lang="en-US" sz="17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509" y="2518648"/>
            <a:ext cx="4354711" cy="435471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003381" y="3391376"/>
            <a:ext cx="178356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9532382" y="50801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Applications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9532382" y="5570577"/>
            <a:ext cx="370367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Valuable for both categorization and regression across diverse scenarios.</a:t>
            </a:r>
            <a:endParaRPr lang="en-US" sz="17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7509" y="2518648"/>
            <a:ext cx="4354711" cy="435471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01000" y="5546884"/>
            <a:ext cx="182999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1662113" y="50801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Challenges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93790" y="5570577"/>
            <a:ext cx="37035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 face issues like overfitting. Understanding formation process is essential.</a:t>
            </a:r>
            <a:endParaRPr lang="en-US" sz="17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7509" y="2518648"/>
            <a:ext cx="4354711" cy="435471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841206" y="5546884"/>
            <a:ext cx="19169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22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64778" y="228600"/>
            <a:ext cx="937022" cy="50280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2025-03-05T11:58:16Z</dcterms:created>
  <dcterms:modified xsi:type="dcterms:W3CDTF">2025-03-05T11:58:16Z</dcterms:modified>
</cp:coreProperties>
</file>