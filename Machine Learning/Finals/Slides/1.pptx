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9" r:id="rId3"/>
    <p:sldId id="279" r:id="rId4"/>
    <p:sldId id="258" r:id="rId5"/>
    <p:sldId id="294" r:id="rId6"/>
    <p:sldId id="261" r:id="rId7"/>
    <p:sldId id="262" r:id="rId8"/>
    <p:sldId id="275" r:id="rId9"/>
    <p:sldId id="268" r:id="rId10"/>
    <p:sldId id="282" r:id="rId11"/>
    <p:sldId id="295" r:id="rId12"/>
    <p:sldId id="278" r:id="rId13"/>
    <p:sldId id="280" r:id="rId14"/>
    <p:sldId id="281" r:id="rId15"/>
    <p:sldId id="277" r:id="rId16"/>
    <p:sldId id="283" r:id="rId17"/>
    <p:sldId id="284" r:id="rId18"/>
    <p:sldId id="285" r:id="rId19"/>
    <p:sldId id="286" r:id="rId20"/>
    <p:sldId id="287" r:id="rId21"/>
    <p:sldId id="288" r:id="rId22"/>
    <p:sldId id="291" r:id="rId23"/>
    <p:sldId id="292" r:id="rId24"/>
    <p:sldId id="293" r:id="rId25"/>
    <p:sldId id="289" r:id="rId26"/>
    <p:sldId id="290" r:id="rId27"/>
    <p:sldId id="296" r:id="rId28"/>
    <p:sldId id="274" r:id="rId2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3" d="100"/>
          <a:sy n="73" d="100"/>
        </p:scale>
        <p:origin x="5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en-PK" smtClean="0"/>
              <a:t>04/21/2025</a:t>
            </a:fld>
            <a:endParaRPr lang="en-PK"/>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04/21/2025</a:t>
            </a:fld>
            <a:endParaRPr lang="en-PK"/>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hyperlink" Target="https://www.geeksforgeeks.org/ml-expectation-maximization-algorithm/"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847342" y="352698"/>
            <a:ext cx="10007891" cy="3540034"/>
          </a:xfrm>
        </p:spPr>
        <p:txBody>
          <a:bodyPr>
            <a:normAutofit/>
          </a:bodyPr>
          <a:lstStyle/>
          <a:p>
            <a:r>
              <a:rPr lang="en-US" sz="4400" b="1" dirty="0">
                <a:latin typeface="Arial" panose="020B0604020202020204" pitchFamily="34" charset="0"/>
                <a:cs typeface="Arial" panose="020B0604020202020204" pitchFamily="34" charset="0"/>
              </a:rPr>
              <a:t>Machine Learning</a:t>
            </a:r>
            <a:br>
              <a:rPr lang="en-US" sz="4400" b="1" dirty="0">
                <a:latin typeface="Arial" panose="020B0604020202020204" pitchFamily="34" charset="0"/>
                <a:cs typeface="Arial" panose="020B0604020202020204" pitchFamily="34" charset="0"/>
              </a:rPr>
            </a:br>
            <a:r>
              <a:rPr lang="en-US" sz="4400" b="1" dirty="0">
                <a:latin typeface="Arial" panose="020B0604020202020204" pitchFamily="34" charset="0"/>
                <a:cs typeface="Arial" panose="020B0604020202020204" pitchFamily="34" charset="0"/>
              </a:rPr>
              <a:t>AI-414</a:t>
            </a:r>
            <a:br>
              <a:rPr lang="en-US" sz="4400" b="1" dirty="0">
                <a:latin typeface="Arial" panose="020B0604020202020204" pitchFamily="34" charset="0"/>
                <a:cs typeface="Arial" panose="020B0604020202020204" pitchFamily="34" charset="0"/>
              </a:rPr>
            </a:br>
            <a:r>
              <a:rPr lang="en-US" sz="4400" b="1" dirty="0">
                <a:latin typeface="Arial" panose="020B0604020202020204" pitchFamily="34" charset="0"/>
                <a:cs typeface="Arial" panose="020B0604020202020204" pitchFamily="34" charset="0"/>
              </a:rPr>
              <a:t>(4 </a:t>
            </a:r>
            <a:r>
              <a:rPr lang="en-US" sz="4400" b="1" dirty="0" err="1">
                <a:latin typeface="Arial" panose="020B0604020202020204" pitchFamily="34" charset="0"/>
                <a:cs typeface="Arial" panose="020B0604020202020204" pitchFamily="34" charset="0"/>
              </a:rPr>
              <a:t>CrH</a:t>
            </a:r>
            <a:r>
              <a:rPr lang="en-US" sz="4400" b="1" dirty="0">
                <a:latin typeface="Arial" panose="020B0604020202020204" pitchFamily="34" charset="0"/>
                <a:cs typeface="Arial" panose="020B0604020202020204" pitchFamily="34" charset="0"/>
              </a:rPr>
              <a:t> = 2 Theory 2 Lab</a:t>
            </a:r>
            <a:r>
              <a:rPr lang="en-US" sz="4400" b="1" dirty="0" smtClean="0">
                <a:latin typeface="Arial" panose="020B0604020202020204" pitchFamily="34" charset="0"/>
                <a:cs typeface="Arial" panose="020B0604020202020204" pitchFamily="34" charset="0"/>
              </a:rPr>
              <a:t>)</a:t>
            </a:r>
            <a:r>
              <a:rPr lang="en-US" sz="4400" b="1" dirty="0">
                <a:latin typeface="Arial" panose="020B0604020202020204" pitchFamily="34" charset="0"/>
                <a:cs typeface="Arial" panose="020B0604020202020204" pitchFamily="34" charset="0"/>
              </a:rPr>
              <a:t/>
            </a:r>
            <a:br>
              <a:rPr lang="en-US" sz="4400" b="1" dirty="0">
                <a:latin typeface="Arial" panose="020B0604020202020204" pitchFamily="34" charset="0"/>
                <a:cs typeface="Arial" panose="020B0604020202020204" pitchFamily="34" charset="0"/>
              </a:rPr>
            </a:br>
            <a:r>
              <a:rPr lang="en-US" sz="4400" b="1" dirty="0">
                <a:latin typeface="Arial" panose="020B0604020202020204" pitchFamily="34" charset="0"/>
                <a:cs typeface="Arial" panose="020B0604020202020204" pitchFamily="34" charset="0"/>
              </a:rPr>
              <a:t>Lecture No. </a:t>
            </a:r>
            <a:r>
              <a:rPr lang="en-US" sz="4400" b="1" dirty="0" smtClean="0">
                <a:latin typeface="Arial" panose="020B0604020202020204" pitchFamily="34" charset="0"/>
                <a:cs typeface="Arial" panose="020B0604020202020204" pitchFamily="34" charset="0"/>
              </a:rPr>
              <a:t>18 &amp; 19</a:t>
            </a:r>
            <a:endParaRPr lang="en-US" sz="44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EC406DBB-5AF5-48F8-9377-D0A0ACE9B10B}"/>
              </a:ext>
            </a:extLst>
          </p:cNvPr>
          <p:cNvSpPr>
            <a:spLocks noGrp="1"/>
          </p:cNvSpPr>
          <p:nvPr>
            <p:ph type="subTitle" idx="1"/>
          </p:nvPr>
        </p:nvSpPr>
        <p:spPr>
          <a:xfrm>
            <a:off x="1030224" y="4389120"/>
            <a:ext cx="8955024" cy="1661796"/>
          </a:xfrm>
        </p:spPr>
        <p:txBody>
          <a:bodyPr>
            <a:noAutofit/>
          </a:bodyPr>
          <a:lstStyle/>
          <a:p>
            <a:r>
              <a:rPr lang="en-US" sz="3200" b="1" dirty="0">
                <a:latin typeface="Arial" panose="020B0604020202020204" pitchFamily="34" charset="0"/>
                <a:cs typeface="Arial" panose="020B0604020202020204" pitchFamily="34" charset="0"/>
              </a:rPr>
              <a:t>Mr. Saeed</a:t>
            </a:r>
          </a:p>
          <a:p>
            <a:r>
              <a:rPr lang="en-US" sz="3200" dirty="0">
                <a:solidFill>
                  <a:schemeClr val="tx1">
                    <a:lumMod val="50000"/>
                    <a:lumOff val="50000"/>
                  </a:schemeClr>
                </a:solidFill>
                <a:latin typeface="Arial" panose="020B0604020202020204" pitchFamily="34" charset="0"/>
                <a:cs typeface="Arial" panose="020B0604020202020204" pitchFamily="34" charset="0"/>
              </a:rPr>
              <a:t>Department of Computer Sciences </a:t>
            </a:r>
          </a:p>
          <a:p>
            <a:r>
              <a:rPr lang="en-US" sz="3200" dirty="0">
                <a:solidFill>
                  <a:schemeClr val="tx1">
                    <a:lumMod val="50000"/>
                    <a:lumOff val="50000"/>
                  </a:schemeClr>
                </a:solidFill>
                <a:latin typeface="Arial" panose="020B0604020202020204" pitchFamily="34" charset="0"/>
                <a:cs typeface="Arial" panose="020B0604020202020204" pitchFamily="34" charset="0"/>
              </a:rPr>
              <a:t>The University of Faisalabad (TUF)</a:t>
            </a: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409FE-0CBB-4EAD-8A22-C51F65DE1771}"/>
              </a:ext>
            </a:extLst>
          </p:cNvPr>
          <p:cNvSpPr>
            <a:spLocks noGrp="1"/>
          </p:cNvSpPr>
          <p:nvPr>
            <p:ph idx="1"/>
          </p:nvPr>
        </p:nvSpPr>
        <p:spPr>
          <a:xfrm>
            <a:off x="662730" y="1802674"/>
            <a:ext cx="10515600" cy="4517981"/>
          </a:xfrm>
        </p:spPr>
        <p:txBody>
          <a:bodyPr>
            <a:normAutofit fontScale="92500" lnSpcReduction="10000"/>
          </a:bodyPr>
          <a:lstStyle/>
          <a:p>
            <a:pPr marL="0" indent="0">
              <a:buNone/>
            </a:pPr>
            <a:r>
              <a:rPr lang="en-US" dirty="0" smtClean="0">
                <a:latin typeface="Arial" charset="0"/>
                <a:ea typeface="Arial" charset="0"/>
                <a:cs typeface="Arial" charset="0"/>
              </a:rPr>
              <a:t>Today </a:t>
            </a:r>
            <a:r>
              <a:rPr lang="en-US" dirty="0" smtClean="0">
                <a:latin typeface="Arial" charset="0"/>
                <a:ea typeface="Arial" charset="0"/>
                <a:cs typeface="Arial" charset="0"/>
              </a:rPr>
              <a:t>Agenda</a:t>
            </a:r>
            <a:r>
              <a:rPr lang="en-US" dirty="0" smtClean="0">
                <a:latin typeface="Arial" charset="0"/>
                <a:ea typeface="Arial" charset="0"/>
                <a:cs typeface="Arial" charset="0"/>
              </a:rPr>
              <a:t>:</a:t>
            </a:r>
          </a:p>
          <a:p>
            <a:pPr marL="0" indent="0">
              <a:buNone/>
            </a:pPr>
            <a:endParaRPr lang="en-US" dirty="0" smtClean="0">
              <a:latin typeface="Arial" charset="0"/>
              <a:ea typeface="Arial" charset="0"/>
              <a:cs typeface="Arial" charset="0"/>
            </a:endParaRPr>
          </a:p>
          <a:p>
            <a:pPr marL="0" indent="0" algn="ctr">
              <a:buNone/>
            </a:pPr>
            <a:r>
              <a:rPr lang="en-US" b="1" dirty="0"/>
              <a:t>Expectation-Maximization (EM</a:t>
            </a:r>
            <a:r>
              <a:rPr lang="en-US" b="1" dirty="0" smtClean="0"/>
              <a:t>)</a:t>
            </a:r>
          </a:p>
          <a:p>
            <a:r>
              <a:rPr lang="en-US" dirty="0"/>
              <a:t>Define the </a:t>
            </a:r>
            <a:r>
              <a:rPr lang="en-US" dirty="0" smtClean="0"/>
              <a:t>Problem</a:t>
            </a:r>
          </a:p>
          <a:p>
            <a:r>
              <a:rPr lang="en-US" dirty="0"/>
              <a:t>Initialize the </a:t>
            </a:r>
            <a:r>
              <a:rPr lang="en-US" dirty="0" smtClean="0"/>
              <a:t>Model</a:t>
            </a:r>
          </a:p>
          <a:p>
            <a:r>
              <a:rPr lang="en-US" dirty="0"/>
              <a:t>Expectation Step (E-Step</a:t>
            </a:r>
            <a:r>
              <a:rPr lang="en-US" dirty="0" smtClean="0"/>
              <a:t>)</a:t>
            </a:r>
          </a:p>
          <a:p>
            <a:r>
              <a:rPr lang="en-US" dirty="0"/>
              <a:t>Maximization Step (M-Step</a:t>
            </a:r>
            <a:r>
              <a:rPr lang="en-US" dirty="0" smtClean="0"/>
              <a:t>)</a:t>
            </a:r>
          </a:p>
          <a:p>
            <a:r>
              <a:rPr lang="en-US" dirty="0"/>
              <a:t>Check for </a:t>
            </a:r>
            <a:r>
              <a:rPr lang="en-US" dirty="0" smtClean="0"/>
              <a:t>Convergence</a:t>
            </a:r>
          </a:p>
          <a:p>
            <a:r>
              <a:rPr lang="en-US" dirty="0"/>
              <a:t>Iterate Steps 3 and </a:t>
            </a:r>
            <a:r>
              <a:rPr lang="en-US" dirty="0" smtClean="0"/>
              <a:t>4</a:t>
            </a:r>
          </a:p>
          <a:p>
            <a:r>
              <a:rPr lang="en-US" dirty="0"/>
              <a:t>Final Model</a:t>
            </a:r>
            <a:endParaRPr lang="en-US" dirty="0" smtClean="0">
              <a:latin typeface="Arial" charset="0"/>
              <a:ea typeface="Arial" charset="0"/>
              <a:cs typeface="Arial" charset="0"/>
            </a:endParaRPr>
          </a:p>
          <a:p>
            <a:pPr marL="0" indent="0">
              <a:buNone/>
            </a:pPr>
            <a:endParaRPr lang="en-US" b="1" dirty="0">
              <a:latin typeface="Arial" charset="0"/>
              <a:ea typeface="Arial" charset="0"/>
              <a:cs typeface="Arial" charset="0"/>
            </a:endParaRPr>
          </a:p>
        </p:txBody>
      </p:sp>
      <p:grpSp>
        <p:nvGrpSpPr>
          <p:cNvPr id="8" name="Group 7">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279BBF0-3F01-4944-AF8F-73A34B5B9CE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F83660F3-45D1-4CA0-BE2A-E7E6C1B794A4}"/>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438584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t>Introduction</a:t>
            </a:r>
            <a:endParaRPr lang="en-US" dirty="0"/>
          </a:p>
          <a:p>
            <a:pPr marL="0" indent="0" algn="just">
              <a:lnSpc>
                <a:spcPct val="150000"/>
              </a:lnSpc>
              <a:buNone/>
            </a:pPr>
            <a:r>
              <a:rPr lang="en-US" sz="2400" dirty="0"/>
              <a:t>Semi-supervised learning (SSL) is a machine learning paradigm that combines labeled and unlabeled data to train models. Expectation-Maximization (EM) is a popular algorithm used in SSL to leverage the information from both types of data. In this approach, EM is used to estimate the model parameters by maximizing the likelihood of the complete data (labeled and unlabeled</a:t>
            </a:r>
            <a:r>
              <a:rPr lang="en-US" sz="2400" dirty="0" smtClean="0"/>
              <a:t>).</a:t>
            </a:r>
            <a:endParaRPr lang="en-US" sz="2400" dirty="0"/>
          </a:p>
        </p:txBody>
      </p:sp>
      <p:grpSp>
        <p:nvGrpSpPr>
          <p:cNvPr id="4" name="Group 3">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421645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906011" y="1881051"/>
            <a:ext cx="9961228" cy="4258492"/>
          </a:xfrm>
        </p:spPr>
        <p:txBody>
          <a:bodyPr>
            <a:normAutofit fontScale="85000" lnSpcReduction="10000"/>
          </a:bodyPr>
          <a:lstStyle/>
          <a:p>
            <a:pPr marL="0" indent="0">
              <a:lnSpc>
                <a:spcPct val="150000"/>
              </a:lnSpc>
              <a:buNone/>
            </a:pPr>
            <a:r>
              <a:rPr lang="en-US" sz="3500" b="1" dirty="0"/>
              <a:t>Expectation-Maximization (EM) </a:t>
            </a:r>
            <a:endParaRPr lang="en-US" sz="3500" b="1" dirty="0" smtClean="0"/>
          </a:p>
          <a:p>
            <a:pPr marL="0" indent="0" algn="just">
              <a:lnSpc>
                <a:spcPct val="160000"/>
              </a:lnSpc>
              <a:buNone/>
            </a:pPr>
            <a:r>
              <a:rPr lang="en-US" b="1" dirty="0" smtClean="0"/>
              <a:t>Semi-supervised </a:t>
            </a:r>
            <a:r>
              <a:rPr lang="en-US" b="1" dirty="0"/>
              <a:t>learning</a:t>
            </a:r>
            <a:r>
              <a:rPr lang="en-US" dirty="0"/>
              <a:t> bridges the gap between supervised and unsupervised learning by utilizing both </a:t>
            </a:r>
            <a:r>
              <a:rPr lang="en-US" b="1" dirty="0"/>
              <a:t>labeled</a:t>
            </a:r>
            <a:r>
              <a:rPr lang="en-US" dirty="0"/>
              <a:t> and </a:t>
            </a:r>
            <a:r>
              <a:rPr lang="en-US" b="1" dirty="0"/>
              <a:t>unlabeled data</a:t>
            </a:r>
            <a:r>
              <a:rPr lang="en-US" dirty="0"/>
              <a:t> to train a model. Labeled data provides clear target outcomes, while unlabeled data offers abundant raw information. The </a:t>
            </a:r>
            <a:r>
              <a:rPr lang="en-US" b="1" dirty="0" smtClean="0"/>
              <a:t>Expectation-Maximization (EM</a:t>
            </a:r>
            <a:r>
              <a:rPr lang="en-US" b="1" dirty="0"/>
              <a:t>) algorithm</a:t>
            </a:r>
            <a:r>
              <a:rPr lang="en-US" dirty="0"/>
              <a:t> is a powerful approach for handling semi-supervised learning tasks, particularly for problems involving missing or uncertain labels.</a:t>
            </a:r>
            <a:endParaRPr lang="en-GB" b="1" dirty="0">
              <a:latin typeface="Arial" charset="0"/>
              <a:ea typeface="Arial" charset="0"/>
              <a:cs typeface="Arial" charset="0"/>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239341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026" name="Picture 2" descr="Expectation-Maximization in EM Algorithm-Geeksforgeeks"/>
          <p:cNvPicPr>
            <a:picLocks noGrp="1" noChangeAspect="1" noChangeArrowheads="1"/>
          </p:cNvPicPr>
          <p:nvPr>
            <p:ph idx="1"/>
          </p:nvPr>
        </p:nvPicPr>
        <p:blipFill>
          <a:blip r:embed="rId8">
            <a:extLst>
              <a:ext uri="{28A0092B-C50C-407E-A947-70E740481C1C}">
                <a14:useLocalDpi xmlns:a14="http://schemas.microsoft.com/office/drawing/2010/main" val="0"/>
              </a:ext>
            </a:extLst>
          </a:blip>
          <a:srcRect/>
          <a:stretch>
            <a:fillRect/>
          </a:stretch>
        </p:blipFill>
        <p:spPr bwMode="auto">
          <a:xfrm>
            <a:off x="2050869" y="1922855"/>
            <a:ext cx="7189742" cy="3609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396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19163-209C-4AAC-9D0B-A21627686F3E}"/>
              </a:ext>
            </a:extLst>
          </p:cNvPr>
          <p:cNvSpPr>
            <a:spLocks noGrp="1"/>
          </p:cNvSpPr>
          <p:nvPr>
            <p:ph idx="1"/>
          </p:nvPr>
        </p:nvSpPr>
        <p:spPr>
          <a:xfrm>
            <a:off x="838200" y="1825626"/>
            <a:ext cx="10330543" cy="4117974"/>
          </a:xfrm>
        </p:spPr>
        <p:txBody>
          <a:bodyPr>
            <a:normAutofit/>
          </a:bodyPr>
          <a:lstStyle/>
          <a:p>
            <a:pPr marL="0" indent="0">
              <a:buNone/>
            </a:pPr>
            <a:endParaRPr lang="en-US" sz="2000" b="1" dirty="0" smtClean="0"/>
          </a:p>
          <a:p>
            <a:pPr marL="0" indent="0">
              <a:buNone/>
            </a:pPr>
            <a:r>
              <a:rPr lang="en-US" b="1" dirty="0" smtClean="0"/>
              <a:t>How </a:t>
            </a:r>
            <a:r>
              <a:rPr lang="en-US" b="1" dirty="0"/>
              <a:t>EM Works in Semi-Supervised Learning</a:t>
            </a:r>
          </a:p>
          <a:p>
            <a:pPr marL="0" indent="0" algn="just">
              <a:lnSpc>
                <a:spcPct val="150000"/>
              </a:lnSpc>
              <a:buNone/>
            </a:pPr>
            <a:r>
              <a:rPr lang="en-US" sz="2400" dirty="0"/>
              <a:t>The EM algorithm is an iterative optimization process that alternates between assigning probabilities to the unlabeled data (Expectation Step) and updating the model parameters (Maximization Step) to better fit both labeled and pseudo-labeled data. This process continues until convergence</a:t>
            </a:r>
            <a:r>
              <a:rPr lang="en-US" sz="2400" dirty="0" smtClean="0"/>
              <a:t>.</a:t>
            </a:r>
          </a:p>
          <a:p>
            <a:pPr marL="0" indent="0">
              <a:buNone/>
            </a:pPr>
            <a:endParaRPr lang="en-US" sz="2000" dirty="0"/>
          </a:p>
          <a:p>
            <a:pPr marL="0" indent="0">
              <a:lnSpc>
                <a:spcPct val="150000"/>
              </a:lnSpc>
              <a:buNone/>
            </a:pPr>
            <a:endParaRPr lang="en-US" sz="2000" dirty="0" smtClean="0"/>
          </a:p>
          <a:p>
            <a:pPr marL="0" indent="0">
              <a:buNone/>
            </a:pPr>
            <a:endParaRPr lang="en-US" sz="2000" dirty="0"/>
          </a:p>
          <a:p>
            <a:pPr marL="0" indent="0">
              <a:buNone/>
            </a:pPr>
            <a:endParaRPr lang="en-PK" dirty="0"/>
          </a:p>
        </p:txBody>
      </p:sp>
      <p:grpSp>
        <p:nvGrpSpPr>
          <p:cNvPr id="8" name="Group 7">
            <a:extLst>
              <a:ext uri="{FF2B5EF4-FFF2-40B4-BE49-F238E27FC236}">
                <a16:creationId xmlns:a16="http://schemas.microsoft.com/office/drawing/2014/main" id="{3DB829FF-4C37-46B6-B4E2-5F205C614DC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7866F03-AB28-4076-A101-C05ED2916839}"/>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CFF2093B-3FF1-45E4-8236-0C753316ADF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9BF863EB-B7C4-4845-A157-7BB371E924B3}"/>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86F0B4C8-CC62-4891-9C99-B146F4A850B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818007ED-0B2B-42D8-9394-014EC0497A35}"/>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26482E21-91A3-466E-88F0-0149ECFB73F8}"/>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7BBDC86F-ED38-4A71-B98D-BFBFB34B9A3B}"/>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777974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E2889D4-75DA-4D6B-B8A6-BEC829D8F12B}"/>
              </a:ext>
            </a:extLst>
          </p:cNvPr>
          <p:cNvSpPr txBox="1"/>
          <p:nvPr/>
        </p:nvSpPr>
        <p:spPr>
          <a:xfrm>
            <a:off x="809625" y="1704974"/>
            <a:ext cx="9781408" cy="4708981"/>
          </a:xfrm>
          <a:prstGeom prst="rect">
            <a:avLst/>
          </a:prstGeom>
          <a:noFill/>
        </p:spPr>
        <p:txBody>
          <a:bodyPr wrap="square" rtlCol="0">
            <a:spAutoFit/>
          </a:bodyPr>
          <a:lstStyle/>
          <a:p>
            <a:pPr algn="just">
              <a:lnSpc>
                <a:spcPct val="150000"/>
              </a:lnSpc>
            </a:pPr>
            <a:r>
              <a:rPr lang="en-US" sz="2800" b="1" dirty="0"/>
              <a:t>Semi-Supervised Learning (SSL)</a:t>
            </a:r>
            <a:endParaRPr lang="en-US" sz="2800" dirty="0"/>
          </a:p>
          <a:p>
            <a:pPr algn="just">
              <a:lnSpc>
                <a:spcPct val="150000"/>
              </a:lnSpc>
            </a:pPr>
            <a:r>
              <a:rPr lang="en-US" sz="2400" dirty="0"/>
              <a:t>SSL addresses the scenario where:</a:t>
            </a:r>
          </a:p>
          <a:p>
            <a:pPr marL="342900" lvl="0" indent="-342900" algn="just">
              <a:lnSpc>
                <a:spcPct val="150000"/>
              </a:lnSpc>
              <a:buFont typeface="Arial" panose="020B0604020202020204" pitchFamily="34" charset="0"/>
              <a:buChar char="•"/>
            </a:pPr>
            <a:r>
              <a:rPr lang="en-US" sz="2400" dirty="0"/>
              <a:t> Labeled data is scarce or expensive to obtain.</a:t>
            </a:r>
          </a:p>
          <a:p>
            <a:pPr marL="342900" lvl="0" indent="-342900" algn="just">
              <a:lnSpc>
                <a:spcPct val="150000"/>
              </a:lnSpc>
              <a:buFont typeface="Arial" panose="020B0604020202020204" pitchFamily="34" charset="0"/>
              <a:buChar char="•"/>
            </a:pPr>
            <a:r>
              <a:rPr lang="en-US" sz="2400" dirty="0"/>
              <a:t>Unlabeled data is abundant and inexpensive</a:t>
            </a:r>
            <a:r>
              <a:rPr lang="en-US" sz="2400" dirty="0" smtClean="0"/>
              <a:t>.</a:t>
            </a:r>
            <a:endParaRPr lang="en-US" sz="2400" dirty="0"/>
          </a:p>
          <a:p>
            <a:pPr>
              <a:lnSpc>
                <a:spcPct val="150000"/>
              </a:lnSpc>
            </a:pPr>
            <a:r>
              <a:rPr lang="en-US" sz="2800" b="1" dirty="0"/>
              <a:t>Input</a:t>
            </a:r>
            <a:endParaRPr lang="en-US" sz="2800" dirty="0"/>
          </a:p>
          <a:p>
            <a:pPr lvl="0">
              <a:lnSpc>
                <a:spcPct val="150000"/>
              </a:lnSpc>
            </a:pPr>
            <a:r>
              <a:rPr lang="en-US" sz="2400" dirty="0"/>
              <a:t>Labeled data: {(x1, y1), ..., (</a:t>
            </a:r>
            <a:r>
              <a:rPr lang="en-US" sz="2400" dirty="0" err="1"/>
              <a:t>xn</a:t>
            </a:r>
            <a:r>
              <a:rPr lang="en-US" sz="2400" dirty="0"/>
              <a:t>, </a:t>
            </a:r>
            <a:r>
              <a:rPr lang="en-US" sz="2400" dirty="0" err="1"/>
              <a:t>yn</a:t>
            </a:r>
            <a:r>
              <a:rPr lang="en-US" sz="2400" dirty="0"/>
              <a:t>)} (n labeled samples)</a:t>
            </a:r>
          </a:p>
          <a:p>
            <a:pPr lvl="0">
              <a:lnSpc>
                <a:spcPct val="150000"/>
              </a:lnSpc>
            </a:pPr>
            <a:r>
              <a:rPr lang="en-US" sz="2400" dirty="0"/>
              <a:t>Unlabeled data: {xu1, ..., </a:t>
            </a:r>
            <a:r>
              <a:rPr lang="en-US" sz="2400" dirty="0" err="1"/>
              <a:t>xum</a:t>
            </a:r>
            <a:r>
              <a:rPr lang="en-US" sz="2400" dirty="0"/>
              <a:t>} (m unlabeled samples)</a:t>
            </a:r>
          </a:p>
          <a:p>
            <a:pPr lvl="0">
              <a:lnSpc>
                <a:spcPct val="150000"/>
              </a:lnSpc>
            </a:pPr>
            <a:r>
              <a:rPr lang="en-US" sz="2400" dirty="0"/>
              <a:t>Model parameters: θ (initial estimate</a:t>
            </a:r>
            <a:r>
              <a:rPr lang="en-US" sz="2400" dirty="0" smtClean="0"/>
              <a:t>)</a:t>
            </a:r>
            <a:endParaRPr lang="en-US" sz="2400" dirty="0"/>
          </a:p>
        </p:txBody>
      </p:sp>
      <p:grpSp>
        <p:nvGrpSpPr>
          <p:cNvPr id="9" name="Group 8">
            <a:extLst>
              <a:ext uri="{FF2B5EF4-FFF2-40B4-BE49-F238E27FC236}">
                <a16:creationId xmlns:a16="http://schemas.microsoft.com/office/drawing/2014/main" id="{71001890-2D27-4C06-8608-762CAE8C86A2}"/>
              </a:ext>
            </a:extLst>
          </p:cNvPr>
          <p:cNvGrpSpPr/>
          <p:nvPr/>
        </p:nvGrpSpPr>
        <p:grpSpPr>
          <a:xfrm>
            <a:off x="0" y="0"/>
            <a:ext cx="12749348" cy="1115736"/>
            <a:chOff x="0" y="0"/>
            <a:chExt cx="12749348" cy="1115736"/>
          </a:xfrm>
        </p:grpSpPr>
        <p:sp>
          <p:nvSpPr>
            <p:cNvPr id="10" name="Rectangle 9">
              <a:extLst>
                <a:ext uri="{FF2B5EF4-FFF2-40B4-BE49-F238E27FC236}">
                  <a16:creationId xmlns:a16="http://schemas.microsoft.com/office/drawing/2014/main" id="{C44EECAA-E328-47D6-ACBC-7B6045FFBA9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1" name="Picture 10">
              <a:extLst>
                <a:ext uri="{FF2B5EF4-FFF2-40B4-BE49-F238E27FC236}">
                  <a16:creationId xmlns:a16="http://schemas.microsoft.com/office/drawing/2014/main" id="{BB310BC6-D369-40F7-9134-CA1AF26C143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2" name="TextBox 11">
              <a:extLst>
                <a:ext uri="{FF2B5EF4-FFF2-40B4-BE49-F238E27FC236}">
                  <a16:creationId xmlns:a16="http://schemas.microsoft.com/office/drawing/2014/main" id="{1C4A534A-AF61-4A94-9BBB-ECD9B5E8BF56}"/>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3" name="Graphic 12">
              <a:extLst>
                <a:ext uri="{FF2B5EF4-FFF2-40B4-BE49-F238E27FC236}">
                  <a16:creationId xmlns:a16="http://schemas.microsoft.com/office/drawing/2014/main" id="{7FD3E16B-B08C-424B-B4E0-5F9C11D045A9}"/>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4" name="TextBox 13">
              <a:extLst>
                <a:ext uri="{FF2B5EF4-FFF2-40B4-BE49-F238E27FC236}">
                  <a16:creationId xmlns:a16="http://schemas.microsoft.com/office/drawing/2014/main" id="{1FF2B077-D3DF-4751-8D55-BD3BDAEDAB0F}"/>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5" name="Graphic 14">
              <a:extLst>
                <a:ext uri="{FF2B5EF4-FFF2-40B4-BE49-F238E27FC236}">
                  <a16:creationId xmlns:a16="http://schemas.microsoft.com/office/drawing/2014/main" id="{B35BA541-C933-4EB5-A6B6-39E31DDF920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6" name="Picture 15">
              <a:extLst>
                <a:ext uri="{FF2B5EF4-FFF2-40B4-BE49-F238E27FC236}">
                  <a16:creationId xmlns:a16="http://schemas.microsoft.com/office/drawing/2014/main" id="{99D81B47-A520-4FD2-B153-D43C470F825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724179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62528"/>
            <a:ext cx="10515600" cy="4872957"/>
          </a:xfrm>
        </p:spPr>
        <p:txBody>
          <a:bodyPr>
            <a:noAutofit/>
          </a:bodyPr>
          <a:lstStyle/>
          <a:p>
            <a:pPr marL="0" indent="0">
              <a:lnSpc>
                <a:spcPct val="150000"/>
              </a:lnSpc>
              <a:buNone/>
            </a:pPr>
            <a:r>
              <a:rPr lang="en-US" b="1" dirty="0" smtClean="0"/>
              <a:t>Expectation-Maximization </a:t>
            </a:r>
            <a:r>
              <a:rPr lang="en-US" b="1" dirty="0"/>
              <a:t>(EM) Algorithm</a:t>
            </a:r>
            <a:endParaRPr lang="en-US" dirty="0"/>
          </a:p>
          <a:p>
            <a:pPr>
              <a:lnSpc>
                <a:spcPct val="150000"/>
              </a:lnSpc>
            </a:pPr>
            <a:r>
              <a:rPr lang="en-US" sz="2400" dirty="0"/>
              <a:t>EM is an iterative algorithm used for maximum likelihood estimation in the presence of missing or incomplete data.</a:t>
            </a:r>
          </a:p>
          <a:p>
            <a:pPr marL="0" indent="0">
              <a:buNone/>
            </a:pPr>
            <a:r>
              <a:rPr lang="en-US" b="1" dirty="0"/>
              <a:t>Key Components</a:t>
            </a:r>
            <a:endParaRPr lang="en-US" dirty="0"/>
          </a:p>
          <a:p>
            <a:pPr lvl="0">
              <a:lnSpc>
                <a:spcPct val="150000"/>
              </a:lnSpc>
            </a:pPr>
            <a:r>
              <a:rPr lang="en-US" sz="2400" b="1" dirty="0"/>
              <a:t>Expectation (E-Step)</a:t>
            </a:r>
            <a:r>
              <a:rPr lang="en-US" sz="2400" dirty="0"/>
              <a:t>: Calculate the expected value of the log-likelihood of the complete data given the observed data and current model parameters.</a:t>
            </a:r>
          </a:p>
          <a:p>
            <a:pPr lvl="0">
              <a:lnSpc>
                <a:spcPct val="150000"/>
              </a:lnSpc>
            </a:pPr>
            <a:r>
              <a:rPr lang="en-US" sz="2400" b="1" dirty="0"/>
              <a:t>Maximization (M-Step)</a:t>
            </a:r>
            <a:r>
              <a:rPr lang="en-US" sz="2400" dirty="0"/>
              <a:t>: Update the model parameters to maximize the expected log-likelihood.</a:t>
            </a:r>
          </a:p>
          <a:p>
            <a:pPr marL="0" indent="0" algn="just">
              <a:lnSpc>
                <a:spcPct val="150000"/>
              </a:lnSpc>
              <a:buNone/>
            </a:pPr>
            <a:endParaRPr lang="en-US" dirty="0">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71001890-2D27-4C06-8608-762CAE8C86A2}"/>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C44EECAA-E328-47D6-ACBC-7B6045FFBA9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BB310BC6-D369-40F7-9134-CA1AF26C143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1C4A534A-AF61-4A94-9BBB-ECD9B5E8BF56}"/>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2">
              <a:extLst>
                <a:ext uri="{FF2B5EF4-FFF2-40B4-BE49-F238E27FC236}">
                  <a16:creationId xmlns:a16="http://schemas.microsoft.com/office/drawing/2014/main" id="{7FD3E16B-B08C-424B-B4E0-5F9C11D045A9}"/>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1FF2B077-D3DF-4751-8D55-BD3BDAEDAB0F}"/>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4">
              <a:extLst>
                <a:ext uri="{FF2B5EF4-FFF2-40B4-BE49-F238E27FC236}">
                  <a16:creationId xmlns:a16="http://schemas.microsoft.com/office/drawing/2014/main" id="{B35BA541-C933-4EB5-A6B6-39E31DDF920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99D81B47-A520-4FD2-B153-D43C470F825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567917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850E8-70C4-41E2-98DF-B4141888672A}"/>
              </a:ext>
            </a:extLst>
          </p:cNvPr>
          <p:cNvSpPr>
            <a:spLocks noGrp="1"/>
          </p:cNvSpPr>
          <p:nvPr>
            <p:ph idx="1"/>
          </p:nvPr>
        </p:nvSpPr>
        <p:spPr>
          <a:xfrm>
            <a:off x="838200" y="1519722"/>
            <a:ext cx="10515600" cy="5024769"/>
          </a:xfrm>
        </p:spPr>
        <p:txBody>
          <a:bodyPr>
            <a:noAutofit/>
          </a:bodyPr>
          <a:lstStyle/>
          <a:p>
            <a:r>
              <a:rPr lang="en-US" sz="2400" b="1" dirty="0"/>
              <a:t>Semi-Supervised EM Algorithm</a:t>
            </a:r>
            <a:endParaRPr lang="en-US" sz="2400" dirty="0"/>
          </a:p>
          <a:p>
            <a:r>
              <a:rPr lang="en-US" sz="2400" b="1" dirty="0"/>
              <a:t>Algorithm</a:t>
            </a:r>
            <a:endParaRPr lang="en-US" sz="2400" dirty="0"/>
          </a:p>
          <a:p>
            <a:pPr marL="0" lvl="0" indent="0">
              <a:buNone/>
            </a:pPr>
            <a:r>
              <a:rPr lang="en-US" sz="2400" dirty="0" smtClean="0"/>
              <a:t>1. Initialize </a:t>
            </a:r>
            <a:r>
              <a:rPr lang="en-US" sz="2400" dirty="0"/>
              <a:t>model parameters θ.</a:t>
            </a:r>
          </a:p>
          <a:p>
            <a:pPr marL="0" lvl="0" indent="0">
              <a:buNone/>
            </a:pPr>
            <a:r>
              <a:rPr lang="en-US" sz="2400" dirty="0" smtClean="0"/>
              <a:t>2. E-Step </a:t>
            </a:r>
            <a:r>
              <a:rPr lang="en-US" sz="2400" dirty="0"/>
              <a:t>(Expectation):</a:t>
            </a:r>
          </a:p>
          <a:p>
            <a:pPr lvl="1"/>
            <a:r>
              <a:rPr lang="en-US" dirty="0"/>
              <a:t>For labeled data, calculate the likelihood P(</a:t>
            </a:r>
            <a:r>
              <a:rPr lang="en-US" dirty="0" err="1"/>
              <a:t>y|x</a:t>
            </a:r>
            <a:r>
              <a:rPr lang="en-US" dirty="0"/>
              <a:t>, θ) using the current model parameters.</a:t>
            </a:r>
          </a:p>
          <a:p>
            <a:pPr lvl="1"/>
            <a:r>
              <a:rPr lang="en-US" dirty="0"/>
              <a:t>For unlabeled data, calculate the expected label distribution P(</a:t>
            </a:r>
            <a:r>
              <a:rPr lang="en-US" dirty="0" err="1"/>
              <a:t>y|x</a:t>
            </a:r>
            <a:r>
              <a:rPr lang="en-US" dirty="0"/>
              <a:t>, θ) using the current model parameters.</a:t>
            </a:r>
          </a:p>
          <a:p>
            <a:pPr marL="0" lvl="0" indent="0">
              <a:buNone/>
            </a:pPr>
            <a:r>
              <a:rPr lang="en-US" sz="2400" dirty="0" smtClean="0"/>
              <a:t>3. M-Step </a:t>
            </a:r>
            <a:r>
              <a:rPr lang="en-US" sz="2400" dirty="0"/>
              <a:t>(Maximization):</a:t>
            </a:r>
          </a:p>
          <a:p>
            <a:pPr lvl="1"/>
            <a:r>
              <a:rPr lang="en-US" dirty="0"/>
              <a:t>Update model parameters θ by maximizing the expected log-likelihood of the complete data (labeled and unlabeled).</a:t>
            </a:r>
          </a:p>
          <a:p>
            <a:pPr marL="0" lvl="0" indent="0">
              <a:buNone/>
            </a:pPr>
            <a:r>
              <a:rPr lang="en-US" sz="2400" dirty="0" smtClean="0"/>
              <a:t>4. Repeat </a:t>
            </a:r>
            <a:r>
              <a:rPr lang="en-US" sz="2400" dirty="0"/>
              <a:t>steps 2-3 until convergence.</a:t>
            </a:r>
          </a:p>
          <a:p>
            <a:pPr marL="0" indent="0">
              <a:buNone/>
            </a:pPr>
            <a:endParaRPr lang="en-US" sz="2400" dirty="0"/>
          </a:p>
        </p:txBody>
      </p:sp>
      <p:grpSp>
        <p:nvGrpSpPr>
          <p:cNvPr id="8" name="Group 7">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DD1A806-05C4-4F48-A1AC-CA732FC0F864}"/>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7F8C439F-A762-48D2-B04B-2CCE741A517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873218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lgn="just">
              <a:lnSpc>
                <a:spcPct val="150000"/>
              </a:lnSpc>
              <a:buNone/>
            </a:pPr>
            <a:r>
              <a:rPr lang="en-US" sz="2400" b="1" dirty="0"/>
              <a:t>Convergence Check:</a:t>
            </a:r>
          </a:p>
          <a:p>
            <a:pPr lvl="1" algn="just">
              <a:lnSpc>
                <a:spcPct val="150000"/>
              </a:lnSpc>
            </a:pPr>
            <a:r>
              <a:rPr lang="en-US" dirty="0"/>
              <a:t>Monitor the change in model parameters or log-likelihood.</a:t>
            </a:r>
          </a:p>
          <a:p>
            <a:pPr lvl="1" algn="just">
              <a:lnSpc>
                <a:spcPct val="150000"/>
              </a:lnSpc>
            </a:pPr>
            <a:r>
              <a:rPr lang="en-US" dirty="0"/>
              <a:t>Stop if convergence criteria are met (e.g., tolerance threshold, maximum iterations).</a:t>
            </a:r>
          </a:p>
          <a:p>
            <a:pPr marL="0" lvl="0" indent="0" algn="just">
              <a:lnSpc>
                <a:spcPct val="150000"/>
              </a:lnSpc>
              <a:buNone/>
            </a:pPr>
            <a:r>
              <a:rPr lang="en-US" sz="2400" b="1" dirty="0"/>
              <a:t>Model Evaluation:</a:t>
            </a:r>
          </a:p>
          <a:p>
            <a:pPr lvl="1" algn="just">
              <a:lnSpc>
                <a:spcPct val="150000"/>
              </a:lnSpc>
            </a:pPr>
            <a:r>
              <a:rPr lang="en-US" dirty="0"/>
              <a:t>Evaluate the trained model on a separate test set.</a:t>
            </a:r>
          </a:p>
          <a:p>
            <a:pPr marL="0" indent="0">
              <a:buNone/>
            </a:pPr>
            <a:endParaRPr lang="en-US" dirty="0"/>
          </a:p>
        </p:txBody>
      </p:sp>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505104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050" name="Picture 2" descr="EM Algorithm Flow chart-Geeksforgeeks"/>
          <p:cNvPicPr>
            <a:picLocks noGrp="1" noChangeAspect="1" noChangeArrowheads="1"/>
          </p:cNvPicPr>
          <p:nvPr>
            <p:ph idx="1"/>
          </p:nvPr>
        </p:nvPicPr>
        <p:blipFill>
          <a:blip r:embed="rId8">
            <a:extLst>
              <a:ext uri="{28A0092B-C50C-407E-A947-70E740481C1C}">
                <a14:useLocalDpi xmlns:a14="http://schemas.microsoft.com/office/drawing/2010/main" val="0"/>
              </a:ext>
            </a:extLst>
          </a:blip>
          <a:srcRect/>
          <a:stretch>
            <a:fillRect/>
          </a:stretch>
        </p:blipFill>
        <p:spPr bwMode="auto">
          <a:xfrm>
            <a:off x="1946367" y="1416684"/>
            <a:ext cx="7370598" cy="506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215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a:xfrm>
            <a:off x="838200" y="1462528"/>
            <a:ext cx="10515600" cy="4468009"/>
          </a:xfrm>
        </p:spPr>
        <p:txBody>
          <a:bodyPr>
            <a:normAutofit fontScale="62500" lnSpcReduction="20000"/>
          </a:bodyPr>
          <a:lstStyle/>
          <a:p>
            <a:pPr marL="0" indent="0">
              <a:buNone/>
            </a:pPr>
            <a:r>
              <a:rPr lang="en-US" sz="3600" b="1" dirty="0"/>
              <a:t>Advantages</a:t>
            </a:r>
            <a:endParaRPr lang="en-US" sz="3600" dirty="0"/>
          </a:p>
          <a:p>
            <a:pPr lvl="0">
              <a:lnSpc>
                <a:spcPct val="170000"/>
              </a:lnSpc>
            </a:pPr>
            <a:r>
              <a:rPr lang="en-US" sz="3400" b="1" dirty="0"/>
              <a:t>Improved accuracy</a:t>
            </a:r>
            <a:r>
              <a:rPr lang="en-US" sz="3400" dirty="0"/>
              <a:t>: Leveraging unlabeled data can improve model performance.</a:t>
            </a:r>
          </a:p>
          <a:p>
            <a:pPr lvl="0">
              <a:lnSpc>
                <a:spcPct val="170000"/>
              </a:lnSpc>
            </a:pPr>
            <a:r>
              <a:rPr lang="en-US" sz="3400" b="1" dirty="0"/>
              <a:t>Robustness to labeling noise</a:t>
            </a:r>
            <a:r>
              <a:rPr lang="en-US" sz="3400" dirty="0"/>
              <a:t>: EM can handle noisy or incomplete labels.</a:t>
            </a:r>
          </a:p>
          <a:p>
            <a:pPr>
              <a:lnSpc>
                <a:spcPct val="170000"/>
              </a:lnSpc>
            </a:pPr>
            <a:r>
              <a:rPr lang="en-US" sz="3400" b="1" dirty="0"/>
              <a:t>Challenges and Limitations</a:t>
            </a:r>
            <a:endParaRPr lang="en-US" sz="3400" dirty="0"/>
          </a:p>
          <a:p>
            <a:pPr lvl="0">
              <a:lnSpc>
                <a:spcPct val="170000"/>
              </a:lnSpc>
            </a:pPr>
            <a:r>
              <a:rPr lang="en-US" sz="3400" b="1" dirty="0"/>
              <a:t>Assumptions</a:t>
            </a:r>
            <a:r>
              <a:rPr lang="en-US" sz="3400" dirty="0"/>
              <a:t>: EM assumes the data is missing at random, which may not always hold.</a:t>
            </a:r>
          </a:p>
          <a:p>
            <a:pPr lvl="0">
              <a:lnSpc>
                <a:spcPct val="170000"/>
              </a:lnSpc>
            </a:pPr>
            <a:r>
              <a:rPr lang="en-US" sz="3400" b="1" dirty="0"/>
              <a:t>Convergence</a:t>
            </a:r>
            <a:r>
              <a:rPr lang="en-US" sz="3400" dirty="0"/>
              <a:t>: EM may converge to local optima or require careful initialization.</a:t>
            </a:r>
          </a:p>
          <a:p>
            <a:pPr lvl="0">
              <a:lnSpc>
                <a:spcPct val="170000"/>
              </a:lnSpc>
            </a:pPr>
            <a:r>
              <a:rPr lang="en-US" sz="3400" b="1" dirty="0"/>
              <a:t>Computational complexity</a:t>
            </a:r>
            <a:r>
              <a:rPr lang="en-US" sz="3400" dirty="0"/>
              <a:t>: EM can be computationally expensive for large datasets</a:t>
            </a:r>
            <a:r>
              <a:rPr lang="en-US" sz="3400" dirty="0" smtClean="0"/>
              <a:t>.</a:t>
            </a:r>
            <a:endParaRPr lang="en-US" sz="3400" dirty="0"/>
          </a:p>
        </p:txBody>
      </p:sp>
    </p:spTree>
    <p:extLst>
      <p:ext uri="{BB962C8B-B14F-4D97-AF65-F5344CB8AC3E}">
        <p14:creationId xmlns:p14="http://schemas.microsoft.com/office/powerpoint/2010/main" val="880635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19722"/>
            <a:ext cx="10515600" cy="4698197"/>
          </a:xfrm>
        </p:spPr>
        <p:txBody>
          <a:bodyPr>
            <a:noAutofit/>
          </a:bodyPr>
          <a:lstStyle/>
          <a:p>
            <a:pPr marL="0" indent="0">
              <a:buNone/>
            </a:pPr>
            <a:r>
              <a:rPr lang="en-US" sz="2400" b="1" dirty="0"/>
              <a:t>Applications</a:t>
            </a:r>
            <a:endParaRPr lang="en-US" sz="2400" dirty="0"/>
          </a:p>
          <a:p>
            <a:pPr lvl="0" algn="just">
              <a:lnSpc>
                <a:spcPct val="170000"/>
              </a:lnSpc>
            </a:pPr>
            <a:r>
              <a:rPr lang="en-US" sz="2400" b="1" dirty="0"/>
              <a:t>Image classification</a:t>
            </a:r>
            <a:r>
              <a:rPr lang="en-US" sz="2400" dirty="0"/>
              <a:t>: SSL with EM can improve image classification accuracy when labeled data is scarce.</a:t>
            </a:r>
          </a:p>
          <a:p>
            <a:pPr lvl="0" algn="just">
              <a:lnSpc>
                <a:spcPct val="170000"/>
              </a:lnSpc>
            </a:pPr>
            <a:r>
              <a:rPr lang="en-US" sz="2400" b="1" dirty="0"/>
              <a:t>Natural Language Processing (NLP)</a:t>
            </a:r>
            <a:r>
              <a:rPr lang="en-US" sz="2400" dirty="0"/>
              <a:t>: SSL with EM can be applied to text classification, sentiment analysis, and language modeling tasks.</a:t>
            </a:r>
          </a:p>
          <a:p>
            <a:pPr lvl="0" algn="just">
              <a:lnSpc>
                <a:spcPct val="170000"/>
              </a:lnSpc>
            </a:pPr>
            <a:r>
              <a:rPr lang="en-US" sz="2400" b="1" dirty="0"/>
              <a:t>Speech recognition</a:t>
            </a:r>
            <a:r>
              <a:rPr lang="en-US" sz="2400" dirty="0"/>
              <a:t>: SSL with EM can improve speech recognition systems when labeled data is limited</a:t>
            </a:r>
            <a:r>
              <a:rPr lang="en-US" sz="2400" dirty="0" smtClean="0"/>
              <a:t>.</a:t>
            </a:r>
            <a:endParaRPr lang="en-US" sz="2400" dirty="0"/>
          </a:p>
        </p:txBody>
      </p:sp>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416760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lnSpc>
                <a:spcPct val="170000"/>
              </a:lnSpc>
              <a:buNone/>
            </a:pPr>
            <a:r>
              <a:rPr lang="en-US" b="1" dirty="0"/>
              <a:t>Real-World Examples</a:t>
            </a:r>
            <a:endParaRPr lang="en-US" dirty="0"/>
          </a:p>
          <a:p>
            <a:pPr lvl="0" algn="just">
              <a:lnSpc>
                <a:spcPct val="150000"/>
              </a:lnSpc>
            </a:pPr>
            <a:r>
              <a:rPr lang="en-US" sz="2400" b="1" dirty="0"/>
              <a:t>Google's image recognition</a:t>
            </a:r>
            <a:r>
              <a:rPr lang="en-US" sz="2400" dirty="0"/>
              <a:t>: Uses SSL with EM to improve image classification accuracy.</a:t>
            </a:r>
          </a:p>
          <a:p>
            <a:pPr lvl="0" algn="just">
              <a:lnSpc>
                <a:spcPct val="150000"/>
              </a:lnSpc>
            </a:pPr>
            <a:r>
              <a:rPr lang="en-US" sz="2400" b="1" dirty="0"/>
              <a:t>Stanford Natural Language Processing Group</a:t>
            </a:r>
            <a:r>
              <a:rPr lang="en-US" sz="2400" dirty="0"/>
              <a:t>: Applies SSL with EM to various NLP tasks</a:t>
            </a:r>
            <a:r>
              <a:rPr lang="en-US" sz="2400" dirty="0" smtClean="0"/>
              <a:t>.</a:t>
            </a:r>
            <a:endParaRPr lang="en-US" sz="2400" dirty="0"/>
          </a:p>
        </p:txBody>
      </p:sp>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105507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3" name="Content Placeholder 2"/>
          <p:cNvPicPr>
            <a:picLocks noGrp="1" noChangeAspect="1"/>
          </p:cNvPicPr>
          <p:nvPr>
            <p:ph idx="1"/>
          </p:nvPr>
        </p:nvPicPr>
        <p:blipFill>
          <a:blip r:embed="rId8">
            <a:extLst>
              <a:ext uri="{28A0092B-C50C-407E-A947-70E740481C1C}">
                <a14:useLocalDpi xmlns:a14="http://schemas.microsoft.com/office/drawing/2010/main" val="0"/>
              </a:ext>
            </a:extLst>
          </a:blip>
          <a:stretch>
            <a:fillRect/>
          </a:stretch>
        </p:blipFill>
        <p:spPr>
          <a:xfrm>
            <a:off x="838200" y="2259149"/>
            <a:ext cx="10515600" cy="3304902"/>
          </a:xfrm>
        </p:spPr>
      </p:pic>
    </p:spTree>
    <p:extLst>
      <p:ext uri="{BB962C8B-B14F-4D97-AF65-F5344CB8AC3E}">
        <p14:creationId xmlns:p14="http://schemas.microsoft.com/office/powerpoint/2010/main" val="945636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272937"/>
            <a:ext cx="10515600" cy="3958045"/>
          </a:xfrm>
        </p:spPr>
      </p:pic>
      <p:grpSp>
        <p:nvGrpSpPr>
          <p:cNvPr id="7" name="Group 6">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8" name="Rectangle 7">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302639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777256"/>
            <a:ext cx="10515600" cy="2448076"/>
          </a:xfrm>
        </p:spPr>
      </p:pic>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145631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43742"/>
            <a:ext cx="10515600" cy="3450771"/>
          </a:xfrm>
        </p:spPr>
        <p:txBody>
          <a:bodyPr>
            <a:normAutofit/>
          </a:bodyPr>
          <a:lstStyle/>
          <a:p>
            <a:endParaRPr lang="en-US" dirty="0"/>
          </a:p>
        </p:txBody>
      </p:sp>
      <p:sp>
        <p:nvSpPr>
          <p:cNvPr id="3" name="Content Placeholder 2"/>
          <p:cNvSpPr>
            <a:spLocks noGrp="1"/>
          </p:cNvSpPr>
          <p:nvPr>
            <p:ph idx="1"/>
          </p:nvPr>
        </p:nvSpPr>
        <p:spPr>
          <a:xfrm>
            <a:off x="838200" y="2142309"/>
            <a:ext cx="10515600" cy="4034654"/>
          </a:xfrm>
        </p:spPr>
        <p:txBody>
          <a:bodyPr/>
          <a:lstStyle/>
          <a:p>
            <a:pPr marL="0" indent="0">
              <a:buNone/>
            </a:pPr>
            <a:endParaRPr lang="en-US" dirty="0" smtClean="0"/>
          </a:p>
          <a:p>
            <a:pPr marL="0" indent="0">
              <a:buNone/>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643743"/>
            <a:ext cx="10515600" cy="3450770"/>
          </a:xfrm>
          <a:prstGeom prst="rect">
            <a:avLst/>
          </a:prstGeom>
        </p:spPr>
      </p:pic>
      <p:grpSp>
        <p:nvGrpSpPr>
          <p:cNvPr id="6" name="Group 5">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7" name="Rectangle 6">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8" name="Picture 7">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9" name="TextBox 8">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0"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1" name="TextBox 10">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2"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3" name="Picture 12">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458962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48843"/>
            <a:ext cx="10515600" cy="3304902"/>
          </a:xfrm>
        </p:spPr>
      </p:pic>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412421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48843"/>
            <a:ext cx="10515600" cy="3304902"/>
          </a:xfrm>
        </p:spPr>
      </p:pic>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703880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48843"/>
            <a:ext cx="10515600" cy="3304902"/>
          </a:xfrm>
        </p:spPr>
      </p:pic>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461786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48843"/>
            <a:ext cx="10515600" cy="3304902"/>
          </a:xfrm>
        </p:spPr>
      </p:pic>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62837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48843"/>
            <a:ext cx="10515600" cy="3304902"/>
          </a:xfrm>
        </p:spPr>
      </p:pic>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873363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48843"/>
            <a:ext cx="10515600" cy="3304902"/>
          </a:xfrm>
        </p:spPr>
      </p:pic>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195803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48843"/>
            <a:ext cx="10515600" cy="3304902"/>
          </a:xfrm>
        </p:spPr>
      </p:pic>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968392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88701" y="1825625"/>
            <a:ext cx="8214598" cy="4351338"/>
          </a:xfrm>
          <a:prstGeom prst="rect">
            <a:avLst/>
          </a:prstGeom>
        </p:spPr>
      </p:pic>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122361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dirty="0" smtClean="0"/>
              <a:t>Further </a:t>
            </a:r>
            <a:r>
              <a:rPr lang="en-US" dirty="0"/>
              <a:t>Reading: </a:t>
            </a:r>
            <a:r>
              <a:rPr lang="en-US" dirty="0">
                <a:hlinkClick r:id="rId2"/>
              </a:rPr>
              <a:t>https://www.geeksforgeeks.org/ml-expectation-maximization-algorithm</a:t>
            </a:r>
            <a:r>
              <a:rPr lang="en-US" dirty="0" smtClean="0">
                <a:hlinkClick r:id="rId2"/>
              </a:rPr>
              <a:t>/</a:t>
            </a:r>
            <a:endParaRPr lang="en-US" dirty="0" smtClean="0"/>
          </a:p>
          <a:p>
            <a:pPr marL="0" indent="0">
              <a:buNone/>
            </a:pPr>
            <a:endParaRPr lang="en-US" dirty="0"/>
          </a:p>
        </p:txBody>
      </p:sp>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769532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a:p>
            <a:pPr marL="0" indent="0">
              <a:buNone/>
            </a:pPr>
            <a:endParaRPr lang="en-US" dirty="0" smtClean="0"/>
          </a:p>
          <a:p>
            <a:pPr marL="0" indent="0" algn="ctr">
              <a:buNone/>
            </a:pPr>
            <a:r>
              <a:rPr lang="en-US" sz="2400" b="1" dirty="0" smtClean="0">
                <a:latin typeface="Arial" panose="020B0604020202020204" pitchFamily="34" charset="0"/>
                <a:cs typeface="Arial" panose="020B0604020202020204" pitchFamily="34" charset="0"/>
              </a:rPr>
              <a:t>Any Question ?</a:t>
            </a:r>
            <a:endParaRPr lang="en-US" sz="2400" b="1" dirty="0">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5549564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TotalTime>
  <Words>981</Words>
  <Application>Microsoft Office PowerPoint</Application>
  <PresentationFormat>Widescreen</PresentationFormat>
  <Paragraphs>126</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Office Theme</vt:lpstr>
      <vt:lpstr>Machine Learning AI-414 (4 CrH = 2 Theory 2 Lab) Lecture No. 18 &amp; 19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Silicon computers</cp:lastModifiedBy>
  <cp:revision>63</cp:revision>
  <dcterms:created xsi:type="dcterms:W3CDTF">2024-06-21T09:49:54Z</dcterms:created>
  <dcterms:modified xsi:type="dcterms:W3CDTF">2025-04-21T03:25:26Z</dcterms:modified>
</cp:coreProperties>
</file>