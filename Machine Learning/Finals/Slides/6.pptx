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9" r:id="rId3"/>
    <p:sldId id="279" r:id="rId4"/>
    <p:sldId id="258" r:id="rId5"/>
    <p:sldId id="261" r:id="rId6"/>
    <p:sldId id="275" r:id="rId7"/>
    <p:sldId id="268" r:id="rId8"/>
    <p:sldId id="282" r:id="rId9"/>
    <p:sldId id="278" r:id="rId10"/>
    <p:sldId id="280" r:id="rId11"/>
    <p:sldId id="281" r:id="rId12"/>
    <p:sldId id="277" r:id="rId13"/>
    <p:sldId id="283" r:id="rId14"/>
    <p:sldId id="284" r:id="rId15"/>
    <p:sldId id="286" r:id="rId16"/>
    <p:sldId id="287" r:id="rId17"/>
    <p:sldId id="289" r:id="rId18"/>
    <p:sldId id="290" r:id="rId19"/>
    <p:sldId id="274" r:id="rId2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3" d="100"/>
          <a:sy n="73" d="100"/>
        </p:scale>
        <p:origin x="58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en-PK" smtClean="0"/>
              <a:t>12/04/2024</a:t>
            </a:fld>
            <a:endParaRPr lang="en-PK"/>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12/04/2024</a:t>
            </a:fld>
            <a:endParaRPr lang="en-PK"/>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847342" y="352698"/>
            <a:ext cx="10007891" cy="3540034"/>
          </a:xfrm>
        </p:spPr>
        <p:txBody>
          <a:bodyPr>
            <a:normAutofit/>
          </a:bodyPr>
          <a:lstStyle/>
          <a:p>
            <a:r>
              <a:rPr lang="en-US" sz="4400" b="1" dirty="0">
                <a:latin typeface="Arial" panose="020B0604020202020204" pitchFamily="34" charset="0"/>
                <a:cs typeface="Arial" panose="020B0604020202020204" pitchFamily="34" charset="0"/>
              </a:rPr>
              <a:t>Machine Learning</a:t>
            </a:r>
            <a:br>
              <a:rPr lang="en-US" sz="4400" b="1" dirty="0">
                <a:latin typeface="Arial" panose="020B0604020202020204" pitchFamily="34" charset="0"/>
                <a:cs typeface="Arial" panose="020B0604020202020204" pitchFamily="34" charset="0"/>
              </a:rPr>
            </a:br>
            <a:r>
              <a:rPr lang="en-US" sz="4400" b="1" dirty="0">
                <a:latin typeface="Arial" panose="020B0604020202020204" pitchFamily="34" charset="0"/>
                <a:cs typeface="Arial" panose="020B0604020202020204" pitchFamily="34" charset="0"/>
              </a:rPr>
              <a:t>AI-414</a:t>
            </a:r>
            <a:br>
              <a:rPr lang="en-US" sz="4400" b="1" dirty="0">
                <a:latin typeface="Arial" panose="020B0604020202020204" pitchFamily="34" charset="0"/>
                <a:cs typeface="Arial" panose="020B0604020202020204" pitchFamily="34" charset="0"/>
              </a:rPr>
            </a:br>
            <a:r>
              <a:rPr lang="en-US" sz="4400" b="1" dirty="0">
                <a:latin typeface="Arial" panose="020B0604020202020204" pitchFamily="34" charset="0"/>
                <a:cs typeface="Arial" panose="020B0604020202020204" pitchFamily="34" charset="0"/>
              </a:rPr>
              <a:t>(4 </a:t>
            </a:r>
            <a:r>
              <a:rPr lang="en-US" sz="4400" b="1" dirty="0" err="1">
                <a:latin typeface="Arial" panose="020B0604020202020204" pitchFamily="34" charset="0"/>
                <a:cs typeface="Arial" panose="020B0604020202020204" pitchFamily="34" charset="0"/>
              </a:rPr>
              <a:t>CrH</a:t>
            </a:r>
            <a:r>
              <a:rPr lang="en-US" sz="4400" b="1" dirty="0">
                <a:latin typeface="Arial" panose="020B0604020202020204" pitchFamily="34" charset="0"/>
                <a:cs typeface="Arial" panose="020B0604020202020204" pitchFamily="34" charset="0"/>
              </a:rPr>
              <a:t> = 2 Theory 2 Lab</a:t>
            </a:r>
            <a:r>
              <a:rPr lang="en-US" sz="4400" b="1" dirty="0" smtClean="0">
                <a:latin typeface="Arial" panose="020B0604020202020204" pitchFamily="34" charset="0"/>
                <a:cs typeface="Arial" panose="020B0604020202020204" pitchFamily="34" charset="0"/>
              </a:rPr>
              <a:t>)</a:t>
            </a:r>
            <a:r>
              <a:rPr lang="en-US" sz="4400" b="1" dirty="0">
                <a:latin typeface="Arial" panose="020B0604020202020204" pitchFamily="34" charset="0"/>
                <a:cs typeface="Arial" panose="020B0604020202020204" pitchFamily="34" charset="0"/>
              </a:rPr>
              <a:t/>
            </a:r>
            <a:br>
              <a:rPr lang="en-US" sz="4400" b="1" dirty="0">
                <a:latin typeface="Arial" panose="020B0604020202020204" pitchFamily="34" charset="0"/>
                <a:cs typeface="Arial" panose="020B0604020202020204" pitchFamily="34" charset="0"/>
              </a:rPr>
            </a:br>
            <a:r>
              <a:rPr lang="en-US" sz="4400" b="1" dirty="0">
                <a:latin typeface="Arial" panose="020B0604020202020204" pitchFamily="34" charset="0"/>
                <a:cs typeface="Arial" panose="020B0604020202020204" pitchFamily="34" charset="0"/>
              </a:rPr>
              <a:t>Lecture No. </a:t>
            </a:r>
            <a:r>
              <a:rPr lang="en-US" sz="4400" b="1" smtClean="0">
                <a:latin typeface="Arial" panose="020B0604020202020204" pitchFamily="34" charset="0"/>
                <a:cs typeface="Arial" panose="020B0604020202020204" pitchFamily="34" charset="0"/>
              </a:rPr>
              <a:t>1</a:t>
            </a:r>
            <a:r>
              <a:rPr lang="en-US" sz="4400" b="1" smtClean="0">
                <a:latin typeface="Arial" panose="020B0604020202020204" pitchFamily="34" charset="0"/>
                <a:cs typeface="Arial" panose="020B0604020202020204" pitchFamily="34" charset="0"/>
              </a:rPr>
              <a:t>9 &amp; 20</a:t>
            </a:r>
            <a:endParaRPr lang="en-US" sz="44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1030224" y="4389120"/>
            <a:ext cx="8955024" cy="1661796"/>
          </a:xfrm>
        </p:spPr>
        <p:txBody>
          <a:bodyPr>
            <a:noAutofit/>
          </a:bodyPr>
          <a:lstStyle/>
          <a:p>
            <a:r>
              <a:rPr lang="en-US" sz="3200" b="1" dirty="0">
                <a:latin typeface="Arial" panose="020B0604020202020204" pitchFamily="34" charset="0"/>
                <a:cs typeface="Arial" panose="020B0604020202020204" pitchFamily="34" charset="0"/>
              </a:rPr>
              <a:t>Mr. Saeed</a:t>
            </a:r>
          </a:p>
          <a:p>
            <a:r>
              <a:rPr lang="en-US" sz="3200" dirty="0">
                <a:solidFill>
                  <a:schemeClr val="tx1">
                    <a:lumMod val="50000"/>
                    <a:lumOff val="50000"/>
                  </a:schemeClr>
                </a:solidFill>
                <a:latin typeface="Arial" panose="020B0604020202020204" pitchFamily="34" charset="0"/>
                <a:cs typeface="Arial" panose="020B0604020202020204" pitchFamily="34" charset="0"/>
              </a:rPr>
              <a:t>Department of Computer Sciences </a:t>
            </a:r>
          </a:p>
          <a:p>
            <a:r>
              <a:rPr lang="en-US" sz="3200" dirty="0">
                <a:solidFill>
                  <a:schemeClr val="tx1">
                    <a:lumMod val="50000"/>
                    <a:lumOff val="50000"/>
                  </a:schemeClr>
                </a:solidFill>
                <a:latin typeface="Arial" panose="020B0604020202020204" pitchFamily="34" charset="0"/>
                <a:cs typeface="Arial" panose="020B0604020202020204" pitchFamily="34" charset="0"/>
              </a:rPr>
              <a:t>The University of Faisalabad (TUF)</a:t>
            </a: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409FE-0CBB-4EAD-8A22-C51F65DE1771}"/>
              </a:ext>
            </a:extLst>
          </p:cNvPr>
          <p:cNvSpPr>
            <a:spLocks noGrp="1"/>
          </p:cNvSpPr>
          <p:nvPr>
            <p:ph idx="1"/>
          </p:nvPr>
        </p:nvSpPr>
        <p:spPr>
          <a:xfrm>
            <a:off x="662730" y="1802674"/>
            <a:ext cx="10515600" cy="4517981"/>
          </a:xfrm>
        </p:spPr>
        <p:txBody>
          <a:bodyPr>
            <a:normAutofit lnSpcReduction="10000"/>
          </a:bodyPr>
          <a:lstStyle/>
          <a:p>
            <a:pPr marL="0" indent="0">
              <a:buNone/>
            </a:pPr>
            <a:r>
              <a:rPr lang="en-US" sz="3200" b="1" dirty="0" smtClean="0">
                <a:ea typeface="Arial" charset="0"/>
                <a:cs typeface="Arial" charset="0"/>
              </a:rPr>
              <a:t>Today Lecture Agenda</a:t>
            </a:r>
            <a:r>
              <a:rPr lang="en-US" sz="3200" b="1" dirty="0" smtClean="0">
                <a:ea typeface="Arial" charset="0"/>
                <a:cs typeface="Arial" charset="0"/>
              </a:rPr>
              <a:t>:</a:t>
            </a:r>
          </a:p>
          <a:p>
            <a:pPr marL="0" indent="0" algn="just">
              <a:buNone/>
            </a:pPr>
            <a:endParaRPr lang="en-US" dirty="0" smtClean="0">
              <a:ea typeface="Arial" charset="0"/>
              <a:cs typeface="Arial" charset="0"/>
            </a:endParaRPr>
          </a:p>
          <a:p>
            <a:pPr marL="0" indent="0" algn="just">
              <a:buNone/>
            </a:pPr>
            <a:r>
              <a:rPr lang="en-US" dirty="0"/>
              <a:t>Reinforcement Learning (RL</a:t>
            </a:r>
            <a:r>
              <a:rPr lang="en-US" dirty="0" smtClean="0"/>
              <a:t>)</a:t>
            </a:r>
          </a:p>
          <a:p>
            <a:pPr marL="0" indent="0" algn="just">
              <a:buNone/>
            </a:pPr>
            <a:r>
              <a:rPr lang="en-US" b="1" dirty="0"/>
              <a:t>Applications of Reinforcement Learning</a:t>
            </a:r>
          </a:p>
          <a:p>
            <a:pPr marL="0" indent="0" algn="just">
              <a:buNone/>
            </a:pPr>
            <a:r>
              <a:rPr lang="en-US" dirty="0"/>
              <a:t>Agents, Environments, States, Actions, and Rewards in </a:t>
            </a:r>
            <a:r>
              <a:rPr lang="en-US" dirty="0" smtClean="0"/>
              <a:t>RL</a:t>
            </a:r>
          </a:p>
          <a:p>
            <a:pPr marL="0" indent="0" algn="just">
              <a:buNone/>
            </a:pPr>
            <a:r>
              <a:rPr lang="en-US" dirty="0"/>
              <a:t>Reinforcement Learning </a:t>
            </a:r>
            <a:r>
              <a:rPr lang="en-US" dirty="0" smtClean="0"/>
              <a:t>Process</a:t>
            </a:r>
          </a:p>
          <a:p>
            <a:pPr marL="0" indent="0" algn="just">
              <a:buNone/>
            </a:pPr>
            <a:r>
              <a:rPr lang="en-US" b="1" dirty="0"/>
              <a:t>Mathematical Representation</a:t>
            </a:r>
          </a:p>
          <a:p>
            <a:pPr marL="0" indent="0" algn="just">
              <a:buNone/>
            </a:pPr>
            <a:r>
              <a:rPr lang="en-US" dirty="0"/>
              <a:t>Key Algorithms in </a:t>
            </a:r>
            <a:r>
              <a:rPr lang="en-US" dirty="0" smtClean="0"/>
              <a:t>RL</a:t>
            </a:r>
          </a:p>
          <a:p>
            <a:pPr marL="0" indent="0" algn="just">
              <a:buNone/>
            </a:pPr>
            <a:r>
              <a:rPr lang="en-US" dirty="0" smtClean="0"/>
              <a:t>Summary</a:t>
            </a:r>
          </a:p>
          <a:p>
            <a:pPr marL="0" indent="0">
              <a:buNone/>
            </a:pPr>
            <a:endParaRPr lang="en-US" dirty="0" smtClean="0">
              <a:latin typeface="Arial" charset="0"/>
              <a:ea typeface="Arial" charset="0"/>
              <a:cs typeface="Arial" charset="0"/>
            </a:endParaRPr>
          </a:p>
        </p:txBody>
      </p:sp>
      <p:grpSp>
        <p:nvGrpSpPr>
          <p:cNvPr id="8" name="Group 7">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43858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smtClean="0"/>
              <a:t>Reinforcement Learning</a:t>
            </a:r>
            <a:endParaRPr lang="en-US" dirty="0"/>
          </a:p>
          <a:p>
            <a:pPr marL="0" indent="0" algn="just">
              <a:lnSpc>
                <a:spcPct val="150000"/>
              </a:lnSpc>
              <a:buNone/>
            </a:pPr>
            <a:r>
              <a:rPr lang="en-US" sz="2400" b="1" dirty="0"/>
              <a:t>Reinforcement Learning</a:t>
            </a:r>
            <a:r>
              <a:rPr lang="en-US" sz="2400" dirty="0"/>
              <a:t> is a type of machine learning where an agent learns to make decisions by interacting with an environment. The goal is to maximize cumulative rewards through trial and error, receiving feedback (rewards or penalties) for its actions. Unlike supervised learning, RL does not require labeled data; instead, it learns from the consequences of its actions.</a:t>
            </a:r>
            <a:endParaRPr lang="en-US" sz="2400" dirty="0"/>
          </a:p>
        </p:txBody>
      </p:sp>
      <p:grpSp>
        <p:nvGrpSpPr>
          <p:cNvPr id="4" name="Group 3">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279BBF0-3F01-4944-AF8F-73A34B5B9CE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F83660F3-45D1-4CA0-BE2A-E7E6C1B794A4}"/>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421645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906011" y="1881051"/>
            <a:ext cx="9961228" cy="4258492"/>
          </a:xfrm>
        </p:spPr>
        <p:txBody>
          <a:bodyPr>
            <a:normAutofit fontScale="92500" lnSpcReduction="20000"/>
          </a:bodyPr>
          <a:lstStyle/>
          <a:p>
            <a:pPr marL="0" indent="0" algn="just">
              <a:lnSpc>
                <a:spcPct val="150000"/>
              </a:lnSpc>
              <a:buNone/>
            </a:pPr>
            <a:r>
              <a:rPr lang="en-US" b="1" dirty="0"/>
              <a:t>Key Characteristics:</a:t>
            </a:r>
          </a:p>
          <a:p>
            <a:pPr algn="just">
              <a:lnSpc>
                <a:spcPct val="150000"/>
              </a:lnSpc>
            </a:pPr>
            <a:r>
              <a:rPr lang="en-US" b="1" dirty="0"/>
              <a:t>Sequential Decision Making</a:t>
            </a:r>
            <a:r>
              <a:rPr lang="en-US" dirty="0"/>
              <a:t>: Actions affect not only immediate rewards but also future states and rewards.</a:t>
            </a:r>
          </a:p>
          <a:p>
            <a:pPr algn="just">
              <a:lnSpc>
                <a:spcPct val="150000"/>
              </a:lnSpc>
            </a:pPr>
            <a:r>
              <a:rPr lang="en-US" b="1" dirty="0"/>
              <a:t>Exploration vs. Exploitation</a:t>
            </a:r>
            <a:r>
              <a:rPr lang="en-US" dirty="0"/>
              <a:t>: The agent balances exploring new strategies and exploiting known ones for better outcomes.</a:t>
            </a:r>
          </a:p>
          <a:p>
            <a:pPr algn="just">
              <a:lnSpc>
                <a:spcPct val="150000"/>
              </a:lnSpc>
            </a:pPr>
            <a:r>
              <a:rPr lang="en-US" b="1" dirty="0"/>
              <a:t>Feedback Loop</a:t>
            </a:r>
            <a:r>
              <a:rPr lang="en-US" dirty="0"/>
              <a:t>: The agent learns continuously from the environment’s responses</a:t>
            </a:r>
            <a:r>
              <a:rPr lang="en-US" dirty="0" smtClean="0"/>
              <a:t>.</a:t>
            </a:r>
            <a:endParaRPr lang="en-US" dirty="0"/>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239341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19163-209C-4AAC-9D0B-A21627686F3E}"/>
              </a:ext>
            </a:extLst>
          </p:cNvPr>
          <p:cNvSpPr>
            <a:spLocks noGrp="1"/>
          </p:cNvSpPr>
          <p:nvPr>
            <p:ph idx="1"/>
          </p:nvPr>
        </p:nvSpPr>
        <p:spPr>
          <a:xfrm>
            <a:off x="838200" y="1519722"/>
            <a:ext cx="10330543" cy="4423878"/>
          </a:xfrm>
        </p:spPr>
        <p:txBody>
          <a:bodyPr>
            <a:normAutofit lnSpcReduction="10000"/>
          </a:bodyPr>
          <a:lstStyle/>
          <a:p>
            <a:pPr marL="0" indent="0">
              <a:buNone/>
            </a:pPr>
            <a:r>
              <a:rPr lang="en-US" sz="2600" b="1" dirty="0"/>
              <a:t>Applications of Reinforcement Learning</a:t>
            </a:r>
            <a:endParaRPr lang="en-US" sz="2600" dirty="0"/>
          </a:p>
          <a:p>
            <a:pPr marL="0" indent="0">
              <a:buNone/>
            </a:pPr>
            <a:r>
              <a:rPr lang="en-US" sz="2600" dirty="0"/>
              <a:t>Reinforcement Learning is widely applied in various domains:</a:t>
            </a:r>
          </a:p>
          <a:p>
            <a:pPr marL="0" lvl="0" indent="0">
              <a:buNone/>
            </a:pPr>
            <a:r>
              <a:rPr lang="en-US" sz="2600" b="1" dirty="0"/>
              <a:t>Robotics</a:t>
            </a:r>
            <a:r>
              <a:rPr lang="en-US" sz="2600" dirty="0"/>
              <a:t>:</a:t>
            </a:r>
          </a:p>
          <a:p>
            <a:pPr lvl="1"/>
            <a:r>
              <a:rPr lang="en-US" sz="2600" dirty="0"/>
              <a:t>Teaching robots to walk, grasp objects, or perform tasks.</a:t>
            </a:r>
          </a:p>
          <a:p>
            <a:pPr lvl="1"/>
            <a:r>
              <a:rPr lang="en-US" sz="2600" dirty="0"/>
              <a:t>Example: Boston Dynamics uses RL to improve robot navigation and motion.</a:t>
            </a:r>
          </a:p>
          <a:p>
            <a:pPr marL="0" lvl="0" indent="0">
              <a:buNone/>
            </a:pPr>
            <a:r>
              <a:rPr lang="en-US" sz="2600" b="1" dirty="0"/>
              <a:t>Gaming</a:t>
            </a:r>
            <a:r>
              <a:rPr lang="en-US" sz="2600" dirty="0"/>
              <a:t>:</a:t>
            </a:r>
          </a:p>
          <a:p>
            <a:pPr lvl="1"/>
            <a:r>
              <a:rPr lang="en-US" sz="2600" dirty="0"/>
              <a:t>Creating intelligent game-playing agents like </a:t>
            </a:r>
            <a:r>
              <a:rPr lang="en-US" sz="2600" dirty="0" err="1"/>
              <a:t>AlphaGo</a:t>
            </a:r>
            <a:r>
              <a:rPr lang="en-US" sz="2600" dirty="0"/>
              <a:t> and </a:t>
            </a:r>
            <a:r>
              <a:rPr lang="en-US" sz="2600" dirty="0" err="1"/>
              <a:t>OpenAI's</a:t>
            </a:r>
            <a:r>
              <a:rPr lang="en-US" sz="2600" dirty="0"/>
              <a:t> </a:t>
            </a:r>
            <a:r>
              <a:rPr lang="en-US" sz="2600" dirty="0" err="1"/>
              <a:t>Dota</a:t>
            </a:r>
            <a:r>
              <a:rPr lang="en-US" sz="2600" dirty="0"/>
              <a:t> 2 bots.</a:t>
            </a:r>
          </a:p>
          <a:p>
            <a:pPr lvl="1"/>
            <a:r>
              <a:rPr lang="en-US" sz="2600" dirty="0"/>
              <a:t>Example: RL algorithms achieved superhuman performance in chess, Go, and video games.</a:t>
            </a:r>
          </a:p>
          <a:p>
            <a:pPr marL="0" indent="0">
              <a:buNone/>
            </a:pPr>
            <a:endParaRPr lang="en-PK" dirty="0"/>
          </a:p>
        </p:txBody>
      </p:sp>
      <p:grpSp>
        <p:nvGrpSpPr>
          <p:cNvPr id="8" name="Group 7">
            <a:extLst>
              <a:ext uri="{FF2B5EF4-FFF2-40B4-BE49-F238E27FC236}">
                <a16:creationId xmlns:a16="http://schemas.microsoft.com/office/drawing/2014/main" id="{3DB829FF-4C37-46B6-B4E2-5F205C614DC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7866F03-AB28-4076-A101-C05ED2916839}"/>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CFF2093B-3FF1-45E4-8236-0C753316ADF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9BF863EB-B7C4-4845-A157-7BB371E924B3}"/>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86F0B4C8-CC62-4891-9C99-B146F4A850B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818007ED-0B2B-42D8-9394-014EC0497A35}"/>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26482E21-91A3-466E-88F0-0149ECFB73F8}"/>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7BBDC86F-ED38-4A71-B98D-BFBFB34B9A3B}"/>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777974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62528"/>
            <a:ext cx="10515600" cy="4872957"/>
          </a:xfrm>
        </p:spPr>
        <p:txBody>
          <a:bodyPr>
            <a:noAutofit/>
          </a:bodyPr>
          <a:lstStyle/>
          <a:p>
            <a:pPr marL="0" lvl="0" indent="0" algn="just">
              <a:lnSpc>
                <a:spcPct val="100000"/>
              </a:lnSpc>
              <a:buNone/>
            </a:pPr>
            <a:r>
              <a:rPr lang="en-US" b="1" dirty="0"/>
              <a:t>Autonomous Vehicles</a:t>
            </a:r>
            <a:r>
              <a:rPr lang="en-US" dirty="0"/>
              <a:t>:</a:t>
            </a:r>
          </a:p>
          <a:p>
            <a:pPr lvl="1" algn="just">
              <a:lnSpc>
                <a:spcPct val="100000"/>
              </a:lnSpc>
            </a:pPr>
            <a:r>
              <a:rPr lang="en-US" sz="2800" dirty="0"/>
              <a:t>Decision-making for self-driving cars, such as route optimization and collision avoidance.</a:t>
            </a:r>
          </a:p>
          <a:p>
            <a:pPr marL="0" lvl="0" indent="0" algn="just">
              <a:lnSpc>
                <a:spcPct val="100000"/>
              </a:lnSpc>
              <a:buNone/>
            </a:pPr>
            <a:r>
              <a:rPr lang="en-US" b="1" dirty="0"/>
              <a:t>Finance</a:t>
            </a:r>
            <a:r>
              <a:rPr lang="en-US" dirty="0"/>
              <a:t>:</a:t>
            </a:r>
          </a:p>
          <a:p>
            <a:pPr lvl="1" algn="just">
              <a:lnSpc>
                <a:spcPct val="100000"/>
              </a:lnSpc>
            </a:pPr>
            <a:r>
              <a:rPr lang="en-US" sz="2800" dirty="0"/>
              <a:t>Portfolio management, trading algorithms, and market analysis.</a:t>
            </a:r>
          </a:p>
          <a:p>
            <a:pPr marL="0" lvl="0" indent="0" algn="just">
              <a:lnSpc>
                <a:spcPct val="100000"/>
              </a:lnSpc>
              <a:buNone/>
            </a:pPr>
            <a:r>
              <a:rPr lang="en-US" b="1" dirty="0"/>
              <a:t>Healthcare</a:t>
            </a:r>
            <a:r>
              <a:rPr lang="en-US" dirty="0"/>
              <a:t>:</a:t>
            </a:r>
          </a:p>
          <a:p>
            <a:pPr lvl="1" algn="just">
              <a:lnSpc>
                <a:spcPct val="100000"/>
              </a:lnSpc>
            </a:pPr>
            <a:r>
              <a:rPr lang="en-US" sz="2800" dirty="0"/>
              <a:t>Personalized treatment planning, drug discovery, and managing patient care systems</a:t>
            </a:r>
            <a:r>
              <a:rPr lang="en-US" sz="2800" dirty="0" smtClean="0"/>
              <a:t>.</a:t>
            </a:r>
            <a:endParaRPr lang="en-US" sz="2800" dirty="0"/>
          </a:p>
        </p:txBody>
      </p:sp>
      <p:grpSp>
        <p:nvGrpSpPr>
          <p:cNvPr id="4" name="Group 3">
            <a:extLst>
              <a:ext uri="{FF2B5EF4-FFF2-40B4-BE49-F238E27FC236}">
                <a16:creationId xmlns:a16="http://schemas.microsoft.com/office/drawing/2014/main" id="{71001890-2D27-4C06-8608-762CAE8C86A2}"/>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C44EECAA-E328-47D6-ACBC-7B6045FFBA9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BB310BC6-D369-40F7-9134-CA1AF26C143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1C4A534A-AF61-4A94-9BBB-ECD9B5E8BF56}"/>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2">
              <a:extLst>
                <a:ext uri="{FF2B5EF4-FFF2-40B4-BE49-F238E27FC236}">
                  <a16:creationId xmlns:a16="http://schemas.microsoft.com/office/drawing/2014/main" id="{7FD3E16B-B08C-424B-B4E0-5F9C11D045A9}"/>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1FF2B077-D3DF-4751-8D55-BD3BDAEDAB0F}"/>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4">
              <a:extLst>
                <a:ext uri="{FF2B5EF4-FFF2-40B4-BE49-F238E27FC236}">
                  <a16:creationId xmlns:a16="http://schemas.microsoft.com/office/drawing/2014/main" id="{B35BA541-C933-4EB5-A6B6-39E31DDF920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99D81B47-A520-4FD2-B153-D43C470F825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567917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850E8-70C4-41E2-98DF-B4141888672A}"/>
              </a:ext>
            </a:extLst>
          </p:cNvPr>
          <p:cNvSpPr>
            <a:spLocks noGrp="1"/>
          </p:cNvSpPr>
          <p:nvPr>
            <p:ph idx="1"/>
          </p:nvPr>
        </p:nvSpPr>
        <p:spPr>
          <a:xfrm>
            <a:off x="838200" y="1519722"/>
            <a:ext cx="10515600" cy="5024769"/>
          </a:xfrm>
        </p:spPr>
        <p:txBody>
          <a:bodyPr>
            <a:noAutofit/>
          </a:bodyPr>
          <a:lstStyle/>
          <a:p>
            <a:pPr marL="0" lvl="0" indent="0">
              <a:buNone/>
            </a:pPr>
            <a:endParaRPr lang="en-US" b="1" dirty="0" smtClean="0"/>
          </a:p>
          <a:p>
            <a:pPr marL="0" lvl="0" indent="0">
              <a:buNone/>
            </a:pPr>
            <a:r>
              <a:rPr lang="en-US" b="1" dirty="0" smtClean="0"/>
              <a:t>Energy </a:t>
            </a:r>
            <a:r>
              <a:rPr lang="en-US" b="1" dirty="0"/>
              <a:t>Systems</a:t>
            </a:r>
            <a:r>
              <a:rPr lang="en-US" dirty="0"/>
              <a:t>:</a:t>
            </a:r>
            <a:endParaRPr lang="en-US" sz="2400" dirty="0"/>
          </a:p>
          <a:p>
            <a:pPr lvl="1"/>
            <a:r>
              <a:rPr lang="en-US" dirty="0"/>
              <a:t>Optimizing energy grids and reducing power consumption in smart buildings.</a:t>
            </a:r>
            <a:endParaRPr lang="en-US" sz="2000" dirty="0"/>
          </a:p>
          <a:p>
            <a:pPr marL="0" lvl="0" indent="0">
              <a:buNone/>
            </a:pPr>
            <a:r>
              <a:rPr lang="en-US" b="1" dirty="0"/>
              <a:t>Recommendation Systems</a:t>
            </a:r>
            <a:r>
              <a:rPr lang="en-US" dirty="0"/>
              <a:t>:</a:t>
            </a:r>
            <a:endParaRPr lang="en-US" sz="2400" dirty="0"/>
          </a:p>
          <a:p>
            <a:pPr lvl="1"/>
            <a:r>
              <a:rPr lang="en-US" dirty="0"/>
              <a:t>Enhancing user experience in platforms like Netflix or YouTube by recommending content adaptively.</a:t>
            </a:r>
            <a:endParaRPr lang="en-US" sz="2000" dirty="0"/>
          </a:p>
          <a:p>
            <a:pPr marL="0" indent="0">
              <a:buNone/>
            </a:pPr>
            <a:endParaRPr lang="en-US" sz="2400" dirty="0"/>
          </a:p>
        </p:txBody>
      </p:sp>
      <p:grpSp>
        <p:nvGrpSpPr>
          <p:cNvPr id="8" name="Group 7">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DD1A806-05C4-4F48-A1AC-CA732FC0F86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7F8C439F-A762-48D2-B04B-2CCE741A517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873218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Agents, Environments, States, Actions, and Rewards in RL</a:t>
            </a:r>
            <a:endParaRPr lang="en-US" sz="2000" dirty="0"/>
          </a:p>
          <a:p>
            <a:pPr marL="0" lvl="0" indent="0">
              <a:buNone/>
            </a:pPr>
            <a:r>
              <a:rPr lang="en-US" b="1" dirty="0"/>
              <a:t>Agent</a:t>
            </a:r>
            <a:r>
              <a:rPr lang="en-US" dirty="0"/>
              <a:t>:</a:t>
            </a:r>
            <a:endParaRPr lang="en-US" sz="2400" dirty="0"/>
          </a:p>
          <a:p>
            <a:pPr lvl="1"/>
            <a:r>
              <a:rPr lang="en-US" dirty="0"/>
              <a:t>The decision-maker or learner in the RL framework.</a:t>
            </a:r>
            <a:endParaRPr lang="en-US" sz="2000" dirty="0"/>
          </a:p>
          <a:p>
            <a:pPr lvl="1"/>
            <a:r>
              <a:rPr lang="en-US" dirty="0"/>
              <a:t>The agent takes actions in the environment to achieve a goal.</a:t>
            </a:r>
            <a:endParaRPr lang="en-US" sz="2000" dirty="0"/>
          </a:p>
          <a:p>
            <a:pPr lvl="1"/>
            <a:r>
              <a:rPr lang="en-US" dirty="0"/>
              <a:t>Example: A robot in a warehouse is the agent, navigating to fulfill tasks.</a:t>
            </a:r>
            <a:endParaRPr lang="en-US" sz="2000" dirty="0"/>
          </a:p>
          <a:p>
            <a:pPr marL="0" lvl="0" indent="0">
              <a:buNone/>
            </a:pPr>
            <a:r>
              <a:rPr lang="en-US" b="1" dirty="0"/>
              <a:t>Environment</a:t>
            </a:r>
            <a:r>
              <a:rPr lang="en-US" dirty="0"/>
              <a:t>:</a:t>
            </a:r>
            <a:endParaRPr lang="en-US" sz="2400" dirty="0"/>
          </a:p>
          <a:p>
            <a:pPr lvl="1"/>
            <a:r>
              <a:rPr lang="en-US" dirty="0"/>
              <a:t>The external system in which the agent operates and interacts.</a:t>
            </a:r>
            <a:endParaRPr lang="en-US" sz="2000" dirty="0"/>
          </a:p>
          <a:p>
            <a:pPr lvl="1"/>
            <a:r>
              <a:rPr lang="en-US" dirty="0"/>
              <a:t>The environment provides feedback (state and reward) based on the agent’s actions.</a:t>
            </a:r>
            <a:endParaRPr lang="en-US" sz="2000" dirty="0"/>
          </a:p>
          <a:p>
            <a:pPr lvl="1"/>
            <a:r>
              <a:rPr lang="en-US" dirty="0"/>
              <a:t>Example: The warehouse layout and tasks represent the environment.</a:t>
            </a:r>
            <a:endParaRPr lang="en-US" sz="2000" dirty="0"/>
          </a:p>
        </p:txBody>
      </p:sp>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505104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3" name="Content Placeholder 2"/>
          <p:cNvSpPr>
            <a:spLocks noGrp="1"/>
          </p:cNvSpPr>
          <p:nvPr>
            <p:ph idx="1"/>
          </p:nvPr>
        </p:nvSpPr>
        <p:spPr>
          <a:xfrm>
            <a:off x="838200" y="1462528"/>
            <a:ext cx="10515600" cy="4468009"/>
          </a:xfrm>
        </p:spPr>
        <p:txBody>
          <a:bodyPr>
            <a:normAutofit/>
          </a:bodyPr>
          <a:lstStyle/>
          <a:p>
            <a:pPr marL="0" lvl="0" indent="0">
              <a:buNone/>
            </a:pPr>
            <a:endParaRPr lang="en-US" b="1" dirty="0" smtClean="0"/>
          </a:p>
          <a:p>
            <a:pPr marL="0" lvl="0" indent="0">
              <a:buNone/>
            </a:pPr>
            <a:r>
              <a:rPr lang="en-US" b="1" dirty="0" smtClean="0"/>
              <a:t>State</a:t>
            </a:r>
            <a:r>
              <a:rPr lang="en-US" dirty="0"/>
              <a:t>:</a:t>
            </a:r>
            <a:endParaRPr lang="en-US" sz="2400" dirty="0"/>
          </a:p>
          <a:p>
            <a:pPr lvl="1"/>
            <a:r>
              <a:rPr lang="en-US" dirty="0"/>
              <a:t>A representation of the current situation or condition of the environment.</a:t>
            </a:r>
            <a:endParaRPr lang="en-US" sz="2000" dirty="0"/>
          </a:p>
          <a:p>
            <a:pPr lvl="1"/>
            <a:r>
              <a:rPr lang="en-US" dirty="0"/>
              <a:t>The state provides context for the agent to decide its next action.</a:t>
            </a:r>
            <a:endParaRPr lang="en-US" sz="2000" dirty="0"/>
          </a:p>
          <a:p>
            <a:pPr lvl="1"/>
            <a:r>
              <a:rPr lang="en-US" dirty="0"/>
              <a:t>Example: The robot's position in the warehouse is a state.</a:t>
            </a:r>
            <a:endParaRPr lang="en-US" sz="2000" dirty="0"/>
          </a:p>
          <a:p>
            <a:pPr marL="0" lvl="0" indent="0">
              <a:buNone/>
            </a:pPr>
            <a:r>
              <a:rPr lang="en-US" b="1" dirty="0"/>
              <a:t>Action</a:t>
            </a:r>
            <a:r>
              <a:rPr lang="en-US" dirty="0"/>
              <a:t>:</a:t>
            </a:r>
            <a:endParaRPr lang="en-US" sz="2400" dirty="0"/>
          </a:p>
          <a:p>
            <a:pPr lvl="1"/>
            <a:r>
              <a:rPr lang="en-US" dirty="0"/>
              <a:t>A decision or move taken by the agent in response to the current state.</a:t>
            </a:r>
            <a:endParaRPr lang="en-US" sz="2000" dirty="0"/>
          </a:p>
          <a:p>
            <a:pPr lvl="1"/>
            <a:r>
              <a:rPr lang="en-US" dirty="0"/>
              <a:t>The action changes the state of the environment.</a:t>
            </a:r>
            <a:endParaRPr lang="en-US" sz="2000" dirty="0"/>
          </a:p>
          <a:p>
            <a:pPr lvl="1"/>
            <a:r>
              <a:rPr lang="en-US" dirty="0"/>
              <a:t>Example: The robot moving forward, picking up an item, or turning.</a:t>
            </a:r>
            <a:endParaRPr lang="en-US" sz="2000" dirty="0"/>
          </a:p>
        </p:txBody>
      </p:sp>
    </p:spTree>
    <p:extLst>
      <p:ext uri="{BB962C8B-B14F-4D97-AF65-F5344CB8AC3E}">
        <p14:creationId xmlns:p14="http://schemas.microsoft.com/office/powerpoint/2010/main" val="880635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19722"/>
            <a:ext cx="10515600" cy="4698197"/>
          </a:xfrm>
        </p:spPr>
        <p:txBody>
          <a:bodyPr>
            <a:noAutofit/>
          </a:bodyPr>
          <a:lstStyle/>
          <a:p>
            <a:pPr marL="0" lvl="0" indent="0" algn="just">
              <a:lnSpc>
                <a:spcPct val="150000"/>
              </a:lnSpc>
              <a:buNone/>
            </a:pPr>
            <a:endParaRPr lang="en-US" b="1" dirty="0" smtClean="0"/>
          </a:p>
          <a:p>
            <a:pPr marL="0" lvl="0" indent="0" algn="just">
              <a:lnSpc>
                <a:spcPct val="150000"/>
              </a:lnSpc>
              <a:buNone/>
            </a:pPr>
            <a:r>
              <a:rPr lang="en-US" b="1" dirty="0" smtClean="0"/>
              <a:t>Reward</a:t>
            </a:r>
            <a:r>
              <a:rPr lang="en-US" dirty="0"/>
              <a:t>:</a:t>
            </a:r>
            <a:endParaRPr lang="en-US" sz="2400" dirty="0"/>
          </a:p>
          <a:p>
            <a:pPr lvl="1" algn="just">
              <a:lnSpc>
                <a:spcPct val="150000"/>
              </a:lnSpc>
            </a:pPr>
            <a:r>
              <a:rPr lang="en-US" dirty="0"/>
              <a:t>Feedback given to the agent for performing an action in a specific state.</a:t>
            </a:r>
            <a:endParaRPr lang="en-US" sz="2000" dirty="0"/>
          </a:p>
          <a:p>
            <a:pPr lvl="1" algn="just">
              <a:lnSpc>
                <a:spcPct val="150000"/>
              </a:lnSpc>
            </a:pPr>
            <a:r>
              <a:rPr lang="en-US" dirty="0"/>
              <a:t>Rewards guide the agent to learn which actions are beneficial.</a:t>
            </a:r>
            <a:endParaRPr lang="en-US" sz="2000" dirty="0"/>
          </a:p>
          <a:p>
            <a:pPr lvl="1" algn="just">
              <a:lnSpc>
                <a:spcPct val="150000"/>
              </a:lnSpc>
            </a:pPr>
            <a:r>
              <a:rPr lang="en-US" dirty="0"/>
              <a:t>Example: A positive reward for delivering an item, and a negative reward for hitting an obstacle.</a:t>
            </a:r>
            <a:endParaRPr lang="en-US" sz="2000" dirty="0"/>
          </a:p>
        </p:txBody>
      </p:sp>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416760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Reinforcement Learning Process</a:t>
            </a:r>
            <a:endParaRPr lang="en-US" dirty="0"/>
          </a:p>
          <a:p>
            <a:pPr lvl="0"/>
            <a:r>
              <a:rPr lang="en-US" b="1" dirty="0"/>
              <a:t>Agent observes the State</a:t>
            </a:r>
            <a:r>
              <a:rPr lang="en-US" dirty="0"/>
              <a:t>: The agent perceives the current state of the environment.</a:t>
            </a:r>
          </a:p>
          <a:p>
            <a:pPr lvl="0"/>
            <a:r>
              <a:rPr lang="en-US" b="1" dirty="0"/>
              <a:t>Takes an Action</a:t>
            </a:r>
            <a:r>
              <a:rPr lang="en-US" dirty="0"/>
              <a:t>: The agent chooses an action based on its policy (strategy).</a:t>
            </a:r>
          </a:p>
          <a:p>
            <a:pPr lvl="0"/>
            <a:r>
              <a:rPr lang="en-US" b="1" dirty="0"/>
              <a:t>Environment Responds</a:t>
            </a:r>
            <a:r>
              <a:rPr lang="en-US" dirty="0"/>
              <a:t>: The environment transitions to a new state and provides a reward.</a:t>
            </a:r>
          </a:p>
          <a:p>
            <a:pPr lvl="0"/>
            <a:r>
              <a:rPr lang="en-US" b="1" dirty="0"/>
              <a:t>Learning and Update</a:t>
            </a:r>
            <a:r>
              <a:rPr lang="en-US" dirty="0"/>
              <a:t>: The agent updates its policy using algorithms like Q-Learning, SARSA, or Deep RL.</a:t>
            </a:r>
          </a:p>
        </p:txBody>
      </p:sp>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105507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Content Placeholder 1"/>
          <p:cNvSpPr>
            <a:spLocks noGrp="1"/>
          </p:cNvSpPr>
          <p:nvPr>
            <p:ph idx="1"/>
          </p:nvPr>
        </p:nvSpPr>
        <p:spPr/>
        <p:txBody>
          <a:bodyPr/>
          <a:lstStyle/>
          <a:p>
            <a:pPr marL="0" indent="0">
              <a:buNone/>
            </a:pPr>
            <a:r>
              <a:rPr lang="en-US" b="1" dirty="0"/>
              <a:t>Mathematical Representation</a:t>
            </a:r>
          </a:p>
          <a:p>
            <a:r>
              <a:rPr lang="en-US" b="1" dirty="0"/>
              <a:t>Policy (π\piπ)</a:t>
            </a:r>
            <a:r>
              <a:rPr lang="en-US" dirty="0"/>
              <a:t>: The agent's strategy, mapping states to actions.</a:t>
            </a:r>
          </a:p>
          <a:p>
            <a:r>
              <a:rPr lang="en-US" b="1" dirty="0"/>
              <a:t>Reward Function (R(</a:t>
            </a:r>
            <a:r>
              <a:rPr lang="en-US" b="1" dirty="0" err="1"/>
              <a:t>s,a</a:t>
            </a:r>
            <a:r>
              <a:rPr lang="en-US" b="1" dirty="0"/>
              <a:t>)R(s, a)R(</a:t>
            </a:r>
            <a:r>
              <a:rPr lang="en-US" b="1" dirty="0" err="1"/>
              <a:t>s,a</a:t>
            </a:r>
            <a:r>
              <a:rPr lang="en-US" b="1" dirty="0"/>
              <a:t>))</a:t>
            </a:r>
            <a:r>
              <a:rPr lang="en-US" dirty="0"/>
              <a:t>: Determines the reward for an action in a state.</a:t>
            </a:r>
          </a:p>
          <a:p>
            <a:r>
              <a:rPr lang="en-US" b="1" dirty="0"/>
              <a:t>Value Function (V(s)V(s)V(s))</a:t>
            </a:r>
            <a:r>
              <a:rPr lang="en-US" dirty="0"/>
              <a:t>: Estimates the expected cumulative reward from a state.</a:t>
            </a:r>
          </a:p>
          <a:p>
            <a:r>
              <a:rPr lang="en-US" b="1" dirty="0"/>
              <a:t>Q-Value (Q(</a:t>
            </a:r>
            <a:r>
              <a:rPr lang="en-US" b="1" dirty="0" err="1"/>
              <a:t>s,a</a:t>
            </a:r>
            <a:r>
              <a:rPr lang="en-US" b="1" dirty="0"/>
              <a:t>)Q(s, a)Q(</a:t>
            </a:r>
            <a:r>
              <a:rPr lang="en-US" b="1" dirty="0" err="1"/>
              <a:t>s,a</a:t>
            </a:r>
            <a:r>
              <a:rPr lang="en-US" b="1" dirty="0"/>
              <a:t>))</a:t>
            </a:r>
            <a:r>
              <a:rPr lang="en-US" dirty="0"/>
              <a:t>: Estimates the value of taking an action in a state.</a:t>
            </a:r>
          </a:p>
          <a:p>
            <a:pPr marL="0" indent="0">
              <a:buNone/>
            </a:pPr>
            <a:endParaRPr lang="en-US" dirty="0"/>
          </a:p>
        </p:txBody>
      </p:sp>
    </p:spTree>
    <p:extLst>
      <p:ext uri="{BB962C8B-B14F-4D97-AF65-F5344CB8AC3E}">
        <p14:creationId xmlns:p14="http://schemas.microsoft.com/office/powerpoint/2010/main" val="945636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8" name="Rectangle 7">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Content Placeholder 1"/>
          <p:cNvSpPr>
            <a:spLocks noGrp="1"/>
          </p:cNvSpPr>
          <p:nvPr>
            <p:ph idx="1"/>
          </p:nvPr>
        </p:nvSpPr>
        <p:spPr>
          <a:xfrm>
            <a:off x="838200" y="1462528"/>
            <a:ext cx="10515600" cy="4833769"/>
          </a:xfrm>
        </p:spPr>
        <p:txBody>
          <a:bodyPr>
            <a:normAutofit/>
          </a:bodyPr>
          <a:lstStyle/>
          <a:p>
            <a:pPr marL="0" indent="0">
              <a:buNone/>
            </a:pPr>
            <a:r>
              <a:rPr lang="en-US" b="1" dirty="0"/>
              <a:t>Key Algorithms in RL</a:t>
            </a:r>
          </a:p>
          <a:p>
            <a:pPr marL="0" indent="0">
              <a:buNone/>
            </a:pPr>
            <a:r>
              <a:rPr lang="en-US" b="1" dirty="0"/>
              <a:t>Q-Learning</a:t>
            </a:r>
            <a:r>
              <a:rPr lang="en-US" dirty="0"/>
              <a:t>:</a:t>
            </a:r>
          </a:p>
          <a:p>
            <a:pPr lvl="1"/>
            <a:r>
              <a:rPr lang="en-US" dirty="0"/>
              <a:t>Off-policy algorithm that learns the action-value function Q(</a:t>
            </a:r>
            <a:r>
              <a:rPr lang="en-US" dirty="0" err="1"/>
              <a:t>s,a</a:t>
            </a:r>
            <a:r>
              <a:rPr lang="en-US" dirty="0"/>
              <a:t>)Q(s, a)Q(</a:t>
            </a:r>
            <a:r>
              <a:rPr lang="en-US" dirty="0" err="1"/>
              <a:t>s,a</a:t>
            </a:r>
            <a:r>
              <a:rPr lang="en-US" dirty="0"/>
              <a:t>).</a:t>
            </a:r>
          </a:p>
          <a:p>
            <a:pPr lvl="1"/>
            <a:r>
              <a:rPr lang="en-US" dirty="0"/>
              <a:t>Goal: Maximize expected rewards.</a:t>
            </a:r>
          </a:p>
          <a:p>
            <a:pPr marL="0" indent="0">
              <a:buNone/>
            </a:pPr>
            <a:r>
              <a:rPr lang="en-US" b="1" dirty="0"/>
              <a:t>Deep Q-Networks (DQN)</a:t>
            </a:r>
            <a:r>
              <a:rPr lang="en-US" dirty="0"/>
              <a:t>:</a:t>
            </a:r>
          </a:p>
          <a:p>
            <a:pPr lvl="1"/>
            <a:r>
              <a:rPr lang="en-US" dirty="0"/>
              <a:t>Combines Q-Learning with deep neural networks for complex environments like video games.</a:t>
            </a:r>
          </a:p>
          <a:p>
            <a:pPr marL="0" indent="0">
              <a:buNone/>
            </a:pPr>
            <a:r>
              <a:rPr lang="en-US" b="1" dirty="0"/>
              <a:t>Policy Gradient Methods</a:t>
            </a:r>
            <a:r>
              <a:rPr lang="en-US" dirty="0"/>
              <a:t>:</a:t>
            </a:r>
          </a:p>
          <a:p>
            <a:pPr lvl="1"/>
            <a:r>
              <a:rPr lang="en-US" dirty="0"/>
              <a:t>Directly optimize the policy to maximize expected rewards</a:t>
            </a:r>
            <a:r>
              <a:rPr lang="en-US" dirty="0" smtClean="0"/>
              <a:t>.</a:t>
            </a:r>
            <a:endParaRPr lang="en-US" dirty="0"/>
          </a:p>
          <a:p>
            <a:pPr marL="0" indent="0">
              <a:buNone/>
            </a:pPr>
            <a:r>
              <a:rPr lang="en-US" b="1" dirty="0"/>
              <a:t>Actor-Critic</a:t>
            </a:r>
            <a:r>
              <a:rPr lang="en-US" dirty="0"/>
              <a:t>:</a:t>
            </a:r>
          </a:p>
          <a:p>
            <a:pPr lvl="1"/>
            <a:r>
              <a:rPr lang="en-US" dirty="0"/>
              <a:t>Combines value-based and policy-based methods for efficient learning.</a:t>
            </a:r>
          </a:p>
          <a:p>
            <a:pPr marL="0" indent="0">
              <a:buNone/>
            </a:pPr>
            <a:endParaRPr lang="en-US" dirty="0"/>
          </a:p>
        </p:txBody>
      </p:sp>
    </p:spTree>
    <p:extLst>
      <p:ext uri="{BB962C8B-B14F-4D97-AF65-F5344CB8AC3E}">
        <p14:creationId xmlns:p14="http://schemas.microsoft.com/office/powerpoint/2010/main" val="3302639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Content Placeholder 1"/>
          <p:cNvSpPr>
            <a:spLocks noGrp="1"/>
          </p:cNvSpPr>
          <p:nvPr>
            <p:ph idx="1"/>
          </p:nvPr>
        </p:nvSpPr>
        <p:spPr/>
        <p:txBody>
          <a:bodyPr>
            <a:normAutofit fontScale="92500"/>
          </a:bodyPr>
          <a:lstStyle/>
          <a:p>
            <a:pPr marL="0" indent="0">
              <a:buNone/>
            </a:pPr>
            <a:r>
              <a:rPr lang="en-US" b="1" dirty="0"/>
              <a:t>Summary</a:t>
            </a:r>
          </a:p>
          <a:p>
            <a:pPr>
              <a:lnSpc>
                <a:spcPct val="150000"/>
              </a:lnSpc>
            </a:pPr>
            <a:r>
              <a:rPr lang="en-US" b="1" dirty="0"/>
              <a:t>Reinforcement Learning (RL)</a:t>
            </a:r>
            <a:r>
              <a:rPr lang="en-US" dirty="0"/>
              <a:t> is a branch of machine learning where an </a:t>
            </a:r>
            <a:r>
              <a:rPr lang="en-US" b="1" dirty="0"/>
              <a:t>agent</a:t>
            </a:r>
            <a:r>
              <a:rPr lang="en-US" dirty="0"/>
              <a:t> learns to make decisions by interacting with an </a:t>
            </a:r>
            <a:r>
              <a:rPr lang="en-US" b="1" dirty="0"/>
              <a:t>environment</a:t>
            </a:r>
            <a:r>
              <a:rPr lang="en-US" dirty="0"/>
              <a:t>. It aims to maximize cumulative </a:t>
            </a:r>
            <a:r>
              <a:rPr lang="en-US" b="1" dirty="0"/>
              <a:t>rewards</a:t>
            </a:r>
            <a:r>
              <a:rPr lang="en-US" dirty="0"/>
              <a:t> by taking specific </a:t>
            </a:r>
            <a:r>
              <a:rPr lang="en-US" b="1" dirty="0"/>
              <a:t>actions</a:t>
            </a:r>
            <a:r>
              <a:rPr lang="en-US" dirty="0"/>
              <a:t> based on the current </a:t>
            </a:r>
            <a:r>
              <a:rPr lang="en-US" b="1" dirty="0"/>
              <a:t>state</a:t>
            </a:r>
            <a:r>
              <a:rPr lang="en-US" dirty="0"/>
              <a:t> of the environment. The learning process involves trial and error, with feedback in the form of rewards or penalties guiding the agent to improve its performance over time.</a:t>
            </a:r>
          </a:p>
          <a:p>
            <a:pPr marL="0" indent="0">
              <a:buNone/>
            </a:pPr>
            <a:endParaRPr lang="en-US" dirty="0"/>
          </a:p>
        </p:txBody>
      </p:sp>
    </p:spTree>
    <p:extLst>
      <p:ext uri="{BB962C8B-B14F-4D97-AF65-F5344CB8AC3E}">
        <p14:creationId xmlns:p14="http://schemas.microsoft.com/office/powerpoint/2010/main" val="4145631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Content Placeholder 1"/>
          <p:cNvSpPr>
            <a:spLocks noGrp="1"/>
          </p:cNvSpPr>
          <p:nvPr>
            <p:ph idx="1"/>
          </p:nvPr>
        </p:nvSpPr>
        <p:spPr/>
        <p:txBody>
          <a:bodyPr/>
          <a:lstStyle/>
          <a:p>
            <a:pPr marL="0" indent="0">
              <a:lnSpc>
                <a:spcPct val="150000"/>
              </a:lnSpc>
              <a:buNone/>
            </a:pPr>
            <a:r>
              <a:rPr lang="en-US" b="1" dirty="0"/>
              <a:t>Key Concepts</a:t>
            </a:r>
            <a:br>
              <a:rPr lang="en-US" b="1" dirty="0"/>
            </a:br>
            <a:r>
              <a:rPr lang="en-US" dirty="0"/>
              <a:t>Agent: The learner or decision-maker.</a:t>
            </a:r>
            <a:br>
              <a:rPr lang="en-US" dirty="0"/>
            </a:br>
            <a:r>
              <a:rPr lang="en-US" dirty="0"/>
              <a:t>Environment: The system the agent interacts with.</a:t>
            </a:r>
            <a:br>
              <a:rPr lang="en-US" dirty="0"/>
            </a:br>
            <a:r>
              <a:rPr lang="en-US" dirty="0"/>
              <a:t>State: The current situation of the environment.</a:t>
            </a:r>
            <a:br>
              <a:rPr lang="en-US" dirty="0"/>
            </a:br>
            <a:r>
              <a:rPr lang="en-US" dirty="0"/>
              <a:t>Action: The agent's move or decision.</a:t>
            </a:r>
            <a:br>
              <a:rPr lang="en-US" dirty="0"/>
            </a:br>
            <a:r>
              <a:rPr lang="en-US" dirty="0"/>
              <a:t>Reward: Feedback from the environment, positive or negative.</a:t>
            </a:r>
          </a:p>
          <a:p>
            <a:pPr marL="0" indent="0">
              <a:lnSpc>
                <a:spcPct val="150000"/>
              </a:lnSpc>
              <a:buNone/>
            </a:pPr>
            <a:endParaRPr lang="en-US" dirty="0"/>
          </a:p>
        </p:txBody>
      </p:sp>
    </p:spTree>
    <p:extLst>
      <p:ext uri="{BB962C8B-B14F-4D97-AF65-F5344CB8AC3E}">
        <p14:creationId xmlns:p14="http://schemas.microsoft.com/office/powerpoint/2010/main" val="3412421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Content Placeholder 1"/>
          <p:cNvSpPr>
            <a:spLocks noGrp="1"/>
          </p:cNvSpPr>
          <p:nvPr>
            <p:ph idx="1"/>
          </p:nvPr>
        </p:nvSpPr>
        <p:spPr/>
        <p:txBody>
          <a:bodyPr/>
          <a:lstStyle/>
          <a:p>
            <a:pPr marL="0" indent="0">
              <a:buNone/>
            </a:pPr>
            <a:r>
              <a:rPr lang="en-US" b="1" dirty="0"/>
              <a:t>Applications</a:t>
            </a:r>
          </a:p>
          <a:p>
            <a:r>
              <a:rPr lang="en-US" b="1" dirty="0"/>
              <a:t>Robotics</a:t>
            </a:r>
            <a:r>
              <a:rPr lang="en-US" dirty="0"/>
              <a:t>: Training robots to perform complex tasks.</a:t>
            </a:r>
          </a:p>
          <a:p>
            <a:r>
              <a:rPr lang="en-US" b="1" dirty="0"/>
              <a:t>Gaming</a:t>
            </a:r>
            <a:r>
              <a:rPr lang="en-US" dirty="0"/>
              <a:t>: AI agents in games like </a:t>
            </a:r>
            <a:r>
              <a:rPr lang="en-US" dirty="0" err="1"/>
              <a:t>AlphaGo</a:t>
            </a:r>
            <a:r>
              <a:rPr lang="en-US" dirty="0"/>
              <a:t> or </a:t>
            </a:r>
            <a:r>
              <a:rPr lang="en-US" dirty="0" err="1"/>
              <a:t>Dota</a:t>
            </a:r>
            <a:r>
              <a:rPr lang="en-US" dirty="0"/>
              <a:t> 2.</a:t>
            </a:r>
          </a:p>
          <a:p>
            <a:r>
              <a:rPr lang="en-US" b="1" dirty="0"/>
              <a:t>Autonomous Vehicles</a:t>
            </a:r>
            <a:r>
              <a:rPr lang="en-US" dirty="0"/>
              <a:t>: Optimizing self-driving car behaviors.</a:t>
            </a:r>
          </a:p>
          <a:p>
            <a:r>
              <a:rPr lang="en-US" b="1" dirty="0"/>
              <a:t>Healthcare</a:t>
            </a:r>
            <a:r>
              <a:rPr lang="en-US" dirty="0"/>
              <a:t>: Personalized treatments and drug discovery.</a:t>
            </a:r>
          </a:p>
          <a:p>
            <a:r>
              <a:rPr lang="en-US" b="1" dirty="0"/>
              <a:t>Finance</a:t>
            </a:r>
            <a:r>
              <a:rPr lang="en-US" dirty="0"/>
              <a:t>: Portfolio optimization and trading strategies.</a:t>
            </a:r>
          </a:p>
          <a:p>
            <a:r>
              <a:rPr lang="en-US" b="1" dirty="0"/>
              <a:t>Recommendation Systems</a:t>
            </a:r>
            <a:r>
              <a:rPr lang="en-US" dirty="0"/>
              <a:t>: Personalized content delivery (e.g., Netflix).</a:t>
            </a:r>
          </a:p>
          <a:p>
            <a:pPr marL="0" indent="0">
              <a:buNone/>
            </a:pPr>
            <a:endParaRPr lang="en-US" dirty="0"/>
          </a:p>
        </p:txBody>
      </p:sp>
    </p:spTree>
    <p:extLst>
      <p:ext uri="{BB962C8B-B14F-4D97-AF65-F5344CB8AC3E}">
        <p14:creationId xmlns:p14="http://schemas.microsoft.com/office/powerpoint/2010/main" val="2703880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Content Placeholder 1"/>
          <p:cNvSpPr>
            <a:spLocks noGrp="1"/>
          </p:cNvSpPr>
          <p:nvPr>
            <p:ph idx="1"/>
          </p:nvPr>
        </p:nvSpPr>
        <p:spPr/>
        <p:txBody>
          <a:bodyPr/>
          <a:lstStyle/>
          <a:p>
            <a:pPr marL="0" indent="0">
              <a:lnSpc>
                <a:spcPct val="150000"/>
              </a:lnSpc>
              <a:buNone/>
            </a:pPr>
            <a:r>
              <a:rPr lang="en-US" b="1" dirty="0"/>
              <a:t>Learning Process</a:t>
            </a:r>
          </a:p>
          <a:p>
            <a:pPr>
              <a:lnSpc>
                <a:spcPct val="150000"/>
              </a:lnSpc>
            </a:pPr>
            <a:r>
              <a:rPr lang="en-US" dirty="0"/>
              <a:t>The agent observes the state of the environment.</a:t>
            </a:r>
          </a:p>
          <a:p>
            <a:pPr>
              <a:lnSpc>
                <a:spcPct val="150000"/>
              </a:lnSpc>
            </a:pPr>
            <a:r>
              <a:rPr lang="en-US" dirty="0"/>
              <a:t>It takes an action based on a policy (strategy).</a:t>
            </a:r>
          </a:p>
          <a:p>
            <a:pPr>
              <a:lnSpc>
                <a:spcPct val="150000"/>
              </a:lnSpc>
            </a:pPr>
            <a:r>
              <a:rPr lang="en-US" dirty="0"/>
              <a:t>The environment transitions to a new state and provides a reward.</a:t>
            </a:r>
          </a:p>
          <a:p>
            <a:pPr>
              <a:lnSpc>
                <a:spcPct val="150000"/>
              </a:lnSpc>
            </a:pPr>
            <a:r>
              <a:rPr lang="en-US" dirty="0"/>
              <a:t>The agent updates its policy to improve future actions.</a:t>
            </a:r>
          </a:p>
          <a:p>
            <a:pPr marL="0" indent="0">
              <a:buNone/>
            </a:pPr>
            <a:endParaRPr lang="en-US" dirty="0"/>
          </a:p>
        </p:txBody>
      </p:sp>
    </p:spTree>
    <p:extLst>
      <p:ext uri="{BB962C8B-B14F-4D97-AF65-F5344CB8AC3E}">
        <p14:creationId xmlns:p14="http://schemas.microsoft.com/office/powerpoint/2010/main" val="1968392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6" name="Rectangle 5">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9"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9906056" y="403986"/>
              <a:ext cx="261610" cy="261610"/>
            </a:xfrm>
            <a:prstGeom prst="rect">
              <a:avLst/>
            </a:prstGeom>
          </p:spPr>
        </p:pic>
        <p:sp>
          <p:nvSpPr>
            <p:cNvPr id="10" name="TextBox 9">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1" name="Graphic 13">
              <a:extLst>
                <a:ext uri="{FF2B5EF4-FFF2-40B4-BE49-F238E27FC236}">
                  <a16:creationId xmlns:a16="http://schemas.microsoft.com/office/drawing/2014/main" id="{ADD1A806-05C4-4F48-A1AC-CA732FC0F864}"/>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591033" y="741997"/>
              <a:ext cx="171450" cy="171450"/>
            </a:xfrm>
            <a:prstGeom prst="rect">
              <a:avLst/>
            </a:prstGeom>
          </p:spPr>
        </p:pic>
        <p:pic>
          <p:nvPicPr>
            <p:cNvPr id="12" name="Picture 11">
              <a:extLst>
                <a:ext uri="{FF2B5EF4-FFF2-40B4-BE49-F238E27FC236}">
                  <a16:creationId xmlns:a16="http://schemas.microsoft.com/office/drawing/2014/main" id="{7F8C439F-A762-48D2-B04B-2CCE741A517E}"/>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Content Placeholder 1"/>
          <p:cNvSpPr>
            <a:spLocks noGrp="1"/>
          </p:cNvSpPr>
          <p:nvPr>
            <p:ph idx="1"/>
          </p:nvPr>
        </p:nvSpPr>
        <p:spPr/>
        <p:txBody>
          <a:bodyPr/>
          <a:lstStyle/>
          <a:p>
            <a:pPr marL="0" indent="0">
              <a:lnSpc>
                <a:spcPct val="150000"/>
              </a:lnSpc>
              <a:buNone/>
            </a:pPr>
            <a:r>
              <a:rPr lang="en-US" b="1" dirty="0"/>
              <a:t>Conclusion</a:t>
            </a:r>
          </a:p>
          <a:p>
            <a:pPr>
              <a:lnSpc>
                <a:spcPct val="150000"/>
              </a:lnSpc>
            </a:pPr>
            <a:r>
              <a:rPr lang="en-US" dirty="0"/>
              <a:t>Reinforcement Learning is a foundational framework in artificial intelligence, enabling agents to learn from their environment and make intelligent decisions. Its versatility and applicability to domains like robotics, gaming, and healthcare make it a key area of research and innovation in AI.</a:t>
            </a:r>
          </a:p>
          <a:p>
            <a:pPr marL="0" indent="0">
              <a:lnSpc>
                <a:spcPct val="150000"/>
              </a:lnSpc>
              <a:buNone/>
            </a:pPr>
            <a:endParaRPr lang="en-US" dirty="0"/>
          </a:p>
        </p:txBody>
      </p:sp>
    </p:spTree>
    <p:extLst>
      <p:ext uri="{BB962C8B-B14F-4D97-AF65-F5344CB8AC3E}">
        <p14:creationId xmlns:p14="http://schemas.microsoft.com/office/powerpoint/2010/main" val="4122361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buNone/>
            </a:pPr>
            <a:endParaRPr lang="en-US" dirty="0" smtClean="0"/>
          </a:p>
          <a:p>
            <a:pPr marL="0" indent="0" algn="ctr">
              <a:buNone/>
            </a:pPr>
            <a:r>
              <a:rPr lang="en-US" sz="2400" b="1" dirty="0" smtClean="0">
                <a:latin typeface="Arial" panose="020B0604020202020204" pitchFamily="34" charset="0"/>
                <a:cs typeface="Arial" panose="020B0604020202020204" pitchFamily="34" charset="0"/>
              </a:rPr>
              <a:t>Any Question ?</a:t>
            </a:r>
            <a:endParaRPr lang="en-US" sz="2400" b="1" dirty="0">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248EDEA5-6F4E-494E-815A-CCF1A7B833E7}"/>
              </a:ext>
            </a:extLst>
          </p:cNvPr>
          <p:cNvGrpSpPr/>
          <p:nvPr/>
        </p:nvGrpSpPr>
        <p:grpSpPr>
          <a:xfrm>
            <a:off x="0" y="0"/>
            <a:ext cx="12749348" cy="1115736"/>
            <a:chOff x="0" y="0"/>
            <a:chExt cx="12749348" cy="1115736"/>
          </a:xfrm>
        </p:grpSpPr>
        <p:sp>
          <p:nvSpPr>
            <p:cNvPr id="5" name="Rectangle 4">
              <a:extLst>
                <a:ext uri="{FF2B5EF4-FFF2-40B4-BE49-F238E27FC236}">
                  <a16:creationId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6" name="Picture 5">
              <a:extLst>
                <a:ext uri="{FF2B5EF4-FFF2-40B4-BE49-F238E27FC236}">
                  <a16:creationId xmlns:a16="http://schemas.microsoft.com/office/drawing/2014/main" id="{DEFABB0B-400F-480C-AFD9-ACEDEFA6AB0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7" name="TextBox 6">
              <a:extLst>
                <a:ext uri="{FF2B5EF4-FFF2-40B4-BE49-F238E27FC236}">
                  <a16:creationId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8" name="Graphic 11">
              <a:extLst>
                <a:ext uri="{FF2B5EF4-FFF2-40B4-BE49-F238E27FC236}">
                  <a16:creationId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9" name="TextBox 8">
              <a:extLst>
                <a:ext uri="{FF2B5EF4-FFF2-40B4-BE49-F238E27FC236}">
                  <a16:creationId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0" name="Graphic 13">
              <a:extLst>
                <a:ext uri="{FF2B5EF4-FFF2-40B4-BE49-F238E27FC236}">
                  <a16:creationId xmlns:a16="http://schemas.microsoft.com/office/drawing/2014/main" id="{ADD1A806-05C4-4F48-A1AC-CA732FC0F864}"/>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1" name="Picture 10">
              <a:extLst>
                <a:ext uri="{FF2B5EF4-FFF2-40B4-BE49-F238E27FC236}">
                  <a16:creationId xmlns:a16="http://schemas.microsoft.com/office/drawing/2014/main" id="{7F8C439F-A762-48D2-B04B-2CCE741A517E}"/>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554956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638</TotalTime>
  <Words>1204</Words>
  <Application>Microsoft Office PowerPoint</Application>
  <PresentationFormat>Widescreen</PresentationFormat>
  <Paragraphs>138</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Machine Learning AI-414 (4 CrH = 2 Theory 2 Lab) Lecture No. 19 &amp; 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Silicon computers</cp:lastModifiedBy>
  <cp:revision>71</cp:revision>
  <dcterms:created xsi:type="dcterms:W3CDTF">2024-06-21T09:49:54Z</dcterms:created>
  <dcterms:modified xsi:type="dcterms:W3CDTF">2024-12-04T10:59:36Z</dcterms:modified>
</cp:coreProperties>
</file>