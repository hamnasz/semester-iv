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4630400" cy="8229600"/>
  <p:notesSz cx="8229600" cy="14630400"/>
  <p:embeddedFontLst>
    <p:embeddedFont>
      <p:font typeface="Inter"/>
      <p:regular r:id="rId27"/>
    </p:embeddedFont>
    <p:embeddedFont>
      <p:font typeface="Inter"/>
      <p:regular r:id="rId28"/>
    </p:embeddedFont>
    <p:embeddedFont>
      <p:font typeface="Inter"/>
      <p:regular r:id="rId29"/>
    </p:embeddedFont>
    <p:embeddedFont>
      <p:font typeface="Inter"/>
      <p:regular r:id="rId30"/>
    </p:embeddedFont>
    <p:embeddedFont>
      <p:font typeface="Inter"/>
      <p:regular r:id="rId31"/>
    </p:embeddedFont>
    <p:embeddedFont>
      <p:font typeface="Inter"/>
      <p:regular r:id="rId32"/>
    </p:embeddedFont>
    <p:embeddedFont>
      <p:font typeface="Inter"/>
      <p:regular r:id="rId33"/>
    </p:embeddedFont>
    <p:embeddedFont>
      <p:font typeface="Inter"/>
      <p:regular r:id="rId34"/>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font" Target="fonts/font1.fntdata"/><Relationship Id="rId28" Type="http://schemas.openxmlformats.org/officeDocument/2006/relationships/font" Target="fonts/font2.fntdata"/><Relationship Id="rId29" Type="http://schemas.openxmlformats.org/officeDocument/2006/relationships/font" Target="fonts/font3.fntdata"/><Relationship Id="rId30" Type="http://schemas.openxmlformats.org/officeDocument/2006/relationships/font" Target="fonts/font4.fntdata"/><Relationship Id="rId31" Type="http://schemas.openxmlformats.org/officeDocument/2006/relationships/font" Target="fonts/font5.fntdata"/><Relationship Id="rId32" Type="http://schemas.openxmlformats.org/officeDocument/2006/relationships/font" Target="fonts/font6.fntdata"/><Relationship Id="rId33" Type="http://schemas.openxmlformats.org/officeDocument/2006/relationships/font" Target="fonts/font7.fntdata"/><Relationship Id="rId34"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5.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6.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7.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9.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slideLayout" Target="../slideLayouts/slideLayout10.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slideLayout" Target="../slideLayouts/slideLayout11.xml"/><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4.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5.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6.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7.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18.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19.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image" Target="../media/image-19-9.png"/><Relationship Id="rId10" Type="http://schemas.openxmlformats.org/officeDocument/2006/relationships/slideLayout" Target="../slideLayouts/slideLayout20.xml"/><Relationship Id="rId11"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1656755"/>
            <a:ext cx="7556421" cy="1417558"/>
          </a:xfrm>
          <a:prstGeom prst="rect">
            <a:avLst/>
          </a:prstGeom>
          <a:noFill/>
          <a:ln/>
        </p:spPr>
        <p:txBody>
          <a:bodyPr wrap="square" lIns="0" tIns="0" rIns="0" bIns="0" rtlCol="0" anchor="t"/>
          <a:lstStyle/>
          <a:p>
            <a:pPr algn="l" indent="0" marL="0">
              <a:lnSpc>
                <a:spcPts val="5550"/>
              </a:lnSpc>
              <a:buNone/>
            </a:pPr>
            <a:r>
              <a:rPr lang="en-US" sz="4450" b="1" dirty="0">
                <a:solidFill>
                  <a:srgbClr val="000000"/>
                </a:solidFill>
                <a:latin typeface="Inter Bold" pitchFamily="34" charset="0"/>
                <a:ea typeface="Inter Bold" pitchFamily="34" charset="-122"/>
                <a:cs typeface="Inter Bold" pitchFamily="34" charset="-120"/>
              </a:rPr>
              <a:t>Artificial Neural Networks and Their Applications</a:t>
            </a:r>
            <a:endParaRPr lang="en-US" sz="4450" dirty="0"/>
          </a:p>
        </p:txBody>
      </p:sp>
      <p:sp>
        <p:nvSpPr>
          <p:cNvPr id="4" name="Text 1"/>
          <p:cNvSpPr/>
          <p:nvPr/>
        </p:nvSpPr>
        <p:spPr>
          <a:xfrm>
            <a:off x="6280190" y="3414474"/>
            <a:ext cx="7556421" cy="2540318"/>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Artificial Neural Networks (ANNs) are computing systems inspired by the biological neural networks that constitute animal brains. These sophisticated systems learn to perform tasks by considering examples, generally without being programmed with task-specific rules. As we explore the fascinating world of neural networks, we'll discover how they mimic the human brain and revolutionize various industries through their remarkable capabilities.</a:t>
            </a:r>
            <a:endParaRPr lang="en-US" sz="1750" dirty="0"/>
          </a:p>
        </p:txBody>
      </p:sp>
      <p:sp>
        <p:nvSpPr>
          <p:cNvPr id="5" name="Text 2"/>
          <p:cNvSpPr/>
          <p:nvPr/>
        </p:nvSpPr>
        <p:spPr>
          <a:xfrm>
            <a:off x="6280190" y="6209943"/>
            <a:ext cx="7556421" cy="362903"/>
          </a:xfrm>
          <a:prstGeom prst="rect">
            <a:avLst/>
          </a:prstGeom>
          <a:noFill/>
          <a:ln/>
        </p:spPr>
        <p:txBody>
          <a:bodyPr wrap="non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Muhammad Saeed</a:t>
            </a:r>
            <a:endParaRPr lang="en-US" sz="1750" dirty="0"/>
          </a:p>
        </p:txBody>
      </p:sp>
      <p:pic>
        <p:nvPicPr>
          <p:cNvPr id="6" name="Image 1" descr="preencoded.png">    </p:cNvPr>
          <p:cNvPicPr>
            <a:picLocks noChangeAspect="1"/>
          </p:cNvPicPr>
          <p:nvPr/>
        </p:nvPicPr>
        <p:blipFill>
          <a:blip r:embed="rId2"/>
          <a:stretch>
            <a:fillRect/>
          </a:stretch>
        </p:blipFill>
        <p:spPr>
          <a:xfrm>
            <a:off x="13700760" y="228600"/>
            <a:ext cx="701040" cy="66413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29020" y="572810"/>
            <a:ext cx="8117086" cy="650915"/>
          </a:xfrm>
          <a:prstGeom prst="rect">
            <a:avLst/>
          </a:prstGeom>
          <a:noFill/>
          <a:ln/>
        </p:spPr>
        <p:txBody>
          <a:bodyPr wrap="none" lIns="0" tIns="0" rIns="0" bIns="0" rtlCol="0" anchor="t"/>
          <a:lstStyle/>
          <a:p>
            <a:pPr algn="l" indent="0" marL="0">
              <a:lnSpc>
                <a:spcPts val="5100"/>
              </a:lnSpc>
              <a:buNone/>
            </a:pPr>
            <a:r>
              <a:rPr lang="en-US" sz="4100" b="1" dirty="0">
                <a:solidFill>
                  <a:srgbClr val="000000"/>
                </a:solidFill>
                <a:latin typeface="Inter Bold" pitchFamily="34" charset="0"/>
                <a:ea typeface="Inter Bold" pitchFamily="34" charset="-122"/>
                <a:cs typeface="Inter Bold" pitchFamily="34" charset="-120"/>
              </a:rPr>
              <a:t>Understanding the Human Brain</a:t>
            </a:r>
            <a:endParaRPr lang="en-US" sz="4100" dirty="0"/>
          </a:p>
        </p:txBody>
      </p:sp>
      <p:sp>
        <p:nvSpPr>
          <p:cNvPr id="3" name="Text 1"/>
          <p:cNvSpPr/>
          <p:nvPr/>
        </p:nvSpPr>
        <p:spPr>
          <a:xfrm>
            <a:off x="729020" y="1744385"/>
            <a:ext cx="2603778" cy="325398"/>
          </a:xfrm>
          <a:prstGeom prst="rect">
            <a:avLst/>
          </a:prstGeom>
          <a:noFill/>
          <a:ln/>
        </p:spPr>
        <p:txBody>
          <a:bodyPr wrap="none" lIns="0" tIns="0" rIns="0" bIns="0" rtlCol="0" anchor="t"/>
          <a:lstStyle/>
          <a:p>
            <a:pPr algn="l" indent="0" marL="0">
              <a:lnSpc>
                <a:spcPts val="2550"/>
              </a:lnSpc>
              <a:buNone/>
            </a:pPr>
            <a:r>
              <a:rPr lang="en-US" sz="2050" b="1" dirty="0">
                <a:solidFill>
                  <a:srgbClr val="000000"/>
                </a:solidFill>
                <a:latin typeface="Inter Bold" pitchFamily="34" charset="0"/>
                <a:ea typeface="Inter Bold" pitchFamily="34" charset="-122"/>
                <a:cs typeface="Inter Bold" pitchFamily="34" charset="-120"/>
              </a:rPr>
              <a:t>Structure</a:t>
            </a:r>
            <a:endParaRPr lang="en-US" sz="2050" dirty="0"/>
          </a:p>
        </p:txBody>
      </p:sp>
      <p:sp>
        <p:nvSpPr>
          <p:cNvPr id="4" name="Text 2"/>
          <p:cNvSpPr/>
          <p:nvPr/>
        </p:nvSpPr>
        <p:spPr>
          <a:xfrm>
            <a:off x="729020" y="2278023"/>
            <a:ext cx="6332101" cy="1666875"/>
          </a:xfrm>
          <a:prstGeom prst="rect">
            <a:avLst/>
          </a:prstGeom>
          <a:noFill/>
          <a:ln/>
        </p:spPr>
        <p:txBody>
          <a:bodyPr wrap="square" lIns="0" tIns="0" rIns="0" bIns="0" rtlCol="0" anchor="t"/>
          <a:lstStyle/>
          <a:p>
            <a:pPr algn="l" indent="0" marL="0">
              <a:lnSpc>
                <a:spcPts val="2600"/>
              </a:lnSpc>
              <a:buNone/>
            </a:pPr>
            <a:r>
              <a:rPr lang="en-US" sz="1600" dirty="0">
                <a:solidFill>
                  <a:srgbClr val="000000"/>
                </a:solidFill>
                <a:latin typeface="Inter" pitchFamily="34" charset="0"/>
                <a:ea typeface="Inter" pitchFamily="34" charset="-122"/>
                <a:cs typeface="Inter" pitchFamily="34" charset="-120"/>
              </a:rPr>
              <a:t>The human brain contains billions of neurons that receive sensory input, process information, and provide output. These neurons are connected to other neurons in complex arrangements at synapses, forming the foundation of our cognitive abilities.</a:t>
            </a:r>
            <a:endParaRPr lang="en-US" sz="1600" dirty="0"/>
          </a:p>
        </p:txBody>
      </p:sp>
      <p:sp>
        <p:nvSpPr>
          <p:cNvPr id="5" name="Text 3"/>
          <p:cNvSpPr/>
          <p:nvPr/>
        </p:nvSpPr>
        <p:spPr>
          <a:xfrm>
            <a:off x="7576899" y="1744385"/>
            <a:ext cx="2603778" cy="325398"/>
          </a:xfrm>
          <a:prstGeom prst="rect">
            <a:avLst/>
          </a:prstGeom>
          <a:noFill/>
          <a:ln/>
        </p:spPr>
        <p:txBody>
          <a:bodyPr wrap="none" lIns="0" tIns="0" rIns="0" bIns="0" rtlCol="0" anchor="t"/>
          <a:lstStyle/>
          <a:p>
            <a:pPr algn="l" indent="0" marL="0">
              <a:lnSpc>
                <a:spcPts val="2550"/>
              </a:lnSpc>
              <a:buNone/>
            </a:pPr>
            <a:r>
              <a:rPr lang="en-US" sz="2050" b="1" dirty="0">
                <a:solidFill>
                  <a:srgbClr val="000000"/>
                </a:solidFill>
                <a:latin typeface="Inter Bold" pitchFamily="34" charset="0"/>
                <a:ea typeface="Inter Bold" pitchFamily="34" charset="-122"/>
                <a:cs typeface="Inter Bold" pitchFamily="34" charset="-120"/>
              </a:rPr>
              <a:t>Function</a:t>
            </a:r>
            <a:endParaRPr lang="en-US" sz="2050" dirty="0"/>
          </a:p>
        </p:txBody>
      </p:sp>
      <p:sp>
        <p:nvSpPr>
          <p:cNvPr id="6" name="Text 4"/>
          <p:cNvSpPr/>
          <p:nvPr/>
        </p:nvSpPr>
        <p:spPr>
          <a:xfrm>
            <a:off x="7576899" y="2278023"/>
            <a:ext cx="6332101" cy="1333500"/>
          </a:xfrm>
          <a:prstGeom prst="rect">
            <a:avLst/>
          </a:prstGeom>
          <a:noFill/>
          <a:ln/>
        </p:spPr>
        <p:txBody>
          <a:bodyPr wrap="square" lIns="0" tIns="0" rIns="0" bIns="0" rtlCol="0" anchor="t"/>
          <a:lstStyle/>
          <a:p>
            <a:pPr algn="l" indent="0" marL="0">
              <a:lnSpc>
                <a:spcPts val="2600"/>
              </a:lnSpc>
              <a:buNone/>
            </a:pPr>
            <a:r>
              <a:rPr lang="en-US" sz="1600" dirty="0">
                <a:solidFill>
                  <a:srgbClr val="000000"/>
                </a:solidFill>
                <a:latin typeface="Inter" pitchFamily="34" charset="0"/>
                <a:ea typeface="Inter" pitchFamily="34" charset="-122"/>
                <a:cs typeface="Inter" pitchFamily="34" charset="-120"/>
              </a:rPr>
              <a:t>Neurons communicate through electrical impulses and chemical signals. When a neuron receives enough stimulation, it fires an action potential that travels down its axon to communicate with other neurons, enabling thought processes.</a:t>
            </a:r>
            <a:endParaRPr lang="en-US" sz="1600" dirty="0"/>
          </a:p>
        </p:txBody>
      </p:sp>
      <p:pic>
        <p:nvPicPr>
          <p:cNvPr id="7" name="Image 0" descr="preencoded.png">    </p:cNvPr>
          <p:cNvPicPr>
            <a:picLocks noChangeAspect="1"/>
          </p:cNvPicPr>
          <p:nvPr/>
        </p:nvPicPr>
        <p:blipFill>
          <a:blip r:embed="rId1"/>
          <a:stretch>
            <a:fillRect/>
          </a:stretch>
        </p:blipFill>
        <p:spPr>
          <a:xfrm>
            <a:off x="729020" y="4366617"/>
            <a:ext cx="7620000" cy="3581400"/>
          </a:xfrm>
          <a:prstGeom prst="rect">
            <a:avLst/>
          </a:prstGeom>
        </p:spPr>
      </p:pic>
      <p:pic>
        <p:nvPicPr>
          <p:cNvPr id="8" name="Image 1" descr="preencoded.png">    </p:cNvPr>
          <p:cNvPicPr>
            <a:picLocks noChangeAspect="1"/>
          </p:cNvPicPr>
          <p:nvPr/>
        </p:nvPicPr>
        <p:blipFill>
          <a:blip r:embed="rId2"/>
          <a:stretch>
            <a:fillRect/>
          </a:stretch>
        </p:blipFill>
        <p:spPr>
          <a:xfrm>
            <a:off x="13700760" y="228600"/>
            <a:ext cx="701040" cy="66413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743903"/>
            <a:ext cx="7556421" cy="1417558"/>
          </a:xfrm>
          <a:prstGeom prst="rect">
            <a:avLst/>
          </a:prstGeom>
          <a:noFill/>
          <a:ln/>
        </p:spPr>
        <p:txBody>
          <a:bodyPr wrap="square" lIns="0" tIns="0" rIns="0" bIns="0" rtlCol="0" anchor="t"/>
          <a:lstStyle/>
          <a:p>
            <a:pPr algn="l" indent="0" marL="0">
              <a:lnSpc>
                <a:spcPts val="5550"/>
              </a:lnSpc>
              <a:buNone/>
            </a:pPr>
            <a:r>
              <a:rPr lang="en-US" sz="4450" b="1" dirty="0">
                <a:solidFill>
                  <a:srgbClr val="000000"/>
                </a:solidFill>
                <a:latin typeface="Inter Bold" pitchFamily="34" charset="0"/>
                <a:ea typeface="Inter Bold" pitchFamily="34" charset="-122"/>
                <a:cs typeface="Inter Bold" pitchFamily="34" charset="-120"/>
              </a:rPr>
              <a:t>What Are Artificial Neural Networks?</a:t>
            </a:r>
            <a:endParaRPr lang="en-US" sz="4450" dirty="0"/>
          </a:p>
        </p:txBody>
      </p:sp>
      <p:sp>
        <p:nvSpPr>
          <p:cNvPr id="4" name="Shape 1"/>
          <p:cNvSpPr/>
          <p:nvPr/>
        </p:nvSpPr>
        <p:spPr>
          <a:xfrm>
            <a:off x="793790" y="2756773"/>
            <a:ext cx="510302" cy="510302"/>
          </a:xfrm>
          <a:prstGeom prst="roundRect">
            <a:avLst>
              <a:gd name="adj" fmla="val 18669"/>
            </a:avLst>
          </a:prstGeom>
          <a:solidFill>
            <a:srgbClr val="D2EDF9"/>
          </a:solidFill>
          <a:ln w="7620">
            <a:solidFill>
              <a:srgbClr val="B8D3DF"/>
            </a:solidFill>
            <a:prstDash val="solid"/>
          </a:ln>
        </p:spPr>
      </p:sp>
      <p:pic>
        <p:nvPicPr>
          <p:cNvPr id="5" name="Image 1" descr="preencoded.png">    </p:cNvPr>
          <p:cNvPicPr>
            <a:picLocks noChangeAspect="1"/>
          </p:cNvPicPr>
          <p:nvPr/>
        </p:nvPicPr>
        <p:blipFill>
          <a:blip r:embed="rId2"/>
          <a:stretch>
            <a:fillRect/>
          </a:stretch>
        </p:blipFill>
        <p:spPr>
          <a:xfrm>
            <a:off x="878860" y="2799278"/>
            <a:ext cx="340162" cy="425291"/>
          </a:xfrm>
          <a:prstGeom prst="rect">
            <a:avLst/>
          </a:prstGeom>
        </p:spPr>
      </p:pic>
      <p:sp>
        <p:nvSpPr>
          <p:cNvPr id="6" name="Text 2"/>
          <p:cNvSpPr/>
          <p:nvPr/>
        </p:nvSpPr>
        <p:spPr>
          <a:xfrm>
            <a:off x="1530906" y="2756773"/>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Artificial Units</a:t>
            </a:r>
            <a:endParaRPr lang="en-US" sz="2200" dirty="0"/>
          </a:p>
        </p:txBody>
      </p:sp>
      <p:sp>
        <p:nvSpPr>
          <p:cNvPr id="7" name="Text 3"/>
          <p:cNvSpPr/>
          <p:nvPr/>
        </p:nvSpPr>
        <p:spPr>
          <a:xfrm>
            <a:off x="1530906" y="3247192"/>
            <a:ext cx="2927747" cy="1814513"/>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ANNs contain artificial neurons called units, arranged in layers that together constitute the whole network system.</a:t>
            </a:r>
            <a:endParaRPr lang="en-US" sz="1750" dirty="0"/>
          </a:p>
        </p:txBody>
      </p:sp>
      <p:sp>
        <p:nvSpPr>
          <p:cNvPr id="8" name="Shape 4"/>
          <p:cNvSpPr/>
          <p:nvPr/>
        </p:nvSpPr>
        <p:spPr>
          <a:xfrm>
            <a:off x="4685467" y="2756773"/>
            <a:ext cx="510302" cy="510302"/>
          </a:xfrm>
          <a:prstGeom prst="roundRect">
            <a:avLst>
              <a:gd name="adj" fmla="val 18669"/>
            </a:avLst>
          </a:prstGeom>
          <a:solidFill>
            <a:srgbClr val="D2EDF9"/>
          </a:solidFill>
          <a:ln w="7620">
            <a:solidFill>
              <a:srgbClr val="B8D3DF"/>
            </a:solidFill>
            <a:prstDash val="solid"/>
          </a:ln>
        </p:spPr>
      </p:sp>
      <p:pic>
        <p:nvPicPr>
          <p:cNvPr id="9" name="Image 2" descr="preencoded.png">    </p:cNvPr>
          <p:cNvPicPr>
            <a:picLocks noChangeAspect="1"/>
          </p:cNvPicPr>
          <p:nvPr/>
        </p:nvPicPr>
        <p:blipFill>
          <a:blip r:embed="rId3"/>
          <a:stretch>
            <a:fillRect/>
          </a:stretch>
        </p:blipFill>
        <p:spPr>
          <a:xfrm>
            <a:off x="4770537" y="2799278"/>
            <a:ext cx="340162" cy="425291"/>
          </a:xfrm>
          <a:prstGeom prst="rect">
            <a:avLst/>
          </a:prstGeom>
        </p:spPr>
      </p:pic>
      <p:sp>
        <p:nvSpPr>
          <p:cNvPr id="10" name="Text 5"/>
          <p:cNvSpPr/>
          <p:nvPr/>
        </p:nvSpPr>
        <p:spPr>
          <a:xfrm>
            <a:off x="5422583" y="2756773"/>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Layer Structure</a:t>
            </a:r>
            <a:endParaRPr lang="en-US" sz="2200" dirty="0"/>
          </a:p>
        </p:txBody>
      </p:sp>
      <p:sp>
        <p:nvSpPr>
          <p:cNvPr id="11" name="Text 6"/>
          <p:cNvSpPr/>
          <p:nvPr/>
        </p:nvSpPr>
        <p:spPr>
          <a:xfrm>
            <a:off x="5422583" y="3247192"/>
            <a:ext cx="2927747" cy="2177415"/>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A typical ANN has an input layer that receives data, hidden layers that transform the input, and an output layer that provides the response.</a:t>
            </a:r>
            <a:endParaRPr lang="en-US" sz="1750" dirty="0"/>
          </a:p>
        </p:txBody>
      </p:sp>
      <p:sp>
        <p:nvSpPr>
          <p:cNvPr id="12" name="Shape 7"/>
          <p:cNvSpPr/>
          <p:nvPr/>
        </p:nvSpPr>
        <p:spPr>
          <a:xfrm>
            <a:off x="793790" y="5906572"/>
            <a:ext cx="510302" cy="510302"/>
          </a:xfrm>
          <a:prstGeom prst="roundRect">
            <a:avLst>
              <a:gd name="adj" fmla="val 18669"/>
            </a:avLst>
          </a:prstGeom>
          <a:solidFill>
            <a:srgbClr val="D2EDF9"/>
          </a:solidFill>
          <a:ln w="7620">
            <a:solidFill>
              <a:srgbClr val="B8D3DF"/>
            </a:solidFill>
            <a:prstDash val="solid"/>
          </a:ln>
        </p:spPr>
      </p:sp>
      <p:pic>
        <p:nvPicPr>
          <p:cNvPr id="13" name="Image 3" descr="preencoded.png">    </p:cNvPr>
          <p:cNvPicPr>
            <a:picLocks noChangeAspect="1"/>
          </p:cNvPicPr>
          <p:nvPr/>
        </p:nvPicPr>
        <p:blipFill>
          <a:blip r:embed="rId4"/>
          <a:stretch>
            <a:fillRect/>
          </a:stretch>
        </p:blipFill>
        <p:spPr>
          <a:xfrm>
            <a:off x="878860" y="5949077"/>
            <a:ext cx="340162" cy="425291"/>
          </a:xfrm>
          <a:prstGeom prst="rect">
            <a:avLst/>
          </a:prstGeom>
        </p:spPr>
      </p:pic>
      <p:sp>
        <p:nvSpPr>
          <p:cNvPr id="14" name="Text 8"/>
          <p:cNvSpPr/>
          <p:nvPr/>
        </p:nvSpPr>
        <p:spPr>
          <a:xfrm>
            <a:off x="1530906" y="5906572"/>
            <a:ext cx="3157776"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Weighted Connections</a:t>
            </a:r>
            <a:endParaRPr lang="en-US" sz="2200" dirty="0"/>
          </a:p>
        </p:txBody>
      </p:sp>
      <p:sp>
        <p:nvSpPr>
          <p:cNvPr id="15" name="Text 9"/>
          <p:cNvSpPr/>
          <p:nvPr/>
        </p:nvSpPr>
        <p:spPr>
          <a:xfrm>
            <a:off x="1530906" y="6396990"/>
            <a:ext cx="6819305" cy="1088708"/>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Units are interconnected from one layer to another, with each connection having weights that determine the influence of one unit on another.</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pic>
        <p:nvPicPr>
          <p:cNvPr id="3" name="Image 1" descr="preencoded.png">    </p:cNvPr>
          <p:cNvPicPr>
            <a:picLocks noChangeAspect="1"/>
          </p:cNvPicPr>
          <p:nvPr/>
        </p:nvPicPr>
        <p:blipFill>
          <a:blip r:embed="rId2"/>
          <a:stretch>
            <a:fillRect/>
          </a:stretch>
        </p:blipFill>
        <p:spPr>
          <a:xfrm>
            <a:off x="9427488" y="2565202"/>
            <a:ext cx="4919305" cy="3099197"/>
          </a:xfrm>
          <a:prstGeom prst="rect">
            <a:avLst/>
          </a:prstGeom>
        </p:spPr>
      </p:pic>
      <p:sp>
        <p:nvSpPr>
          <p:cNvPr id="4" name="Text 0"/>
          <p:cNvSpPr/>
          <p:nvPr/>
        </p:nvSpPr>
        <p:spPr>
          <a:xfrm>
            <a:off x="793790" y="1194554"/>
            <a:ext cx="7556421" cy="1417558"/>
          </a:xfrm>
          <a:prstGeom prst="rect">
            <a:avLst/>
          </a:prstGeom>
          <a:noFill/>
          <a:ln/>
        </p:spPr>
        <p:txBody>
          <a:bodyPr wrap="square" lIns="0" tIns="0" rIns="0" bIns="0" rtlCol="0" anchor="t"/>
          <a:lstStyle/>
          <a:p>
            <a:pPr algn="l" indent="0" marL="0">
              <a:lnSpc>
                <a:spcPts val="5550"/>
              </a:lnSpc>
              <a:buNone/>
            </a:pPr>
            <a:r>
              <a:rPr lang="en-US" sz="4450" b="1" dirty="0">
                <a:solidFill>
                  <a:srgbClr val="000000"/>
                </a:solidFill>
                <a:latin typeface="Inter Bold" pitchFamily="34" charset="0"/>
                <a:ea typeface="Inter Bold" pitchFamily="34" charset="-122"/>
                <a:cs typeface="Inter Bold" pitchFamily="34" charset="-120"/>
              </a:rPr>
              <a:t>Neural Network Architecture</a:t>
            </a:r>
            <a:endParaRPr lang="en-US" sz="4450" dirty="0"/>
          </a:p>
        </p:txBody>
      </p:sp>
      <p:pic>
        <p:nvPicPr>
          <p:cNvPr id="5" name="Image 2" descr="preencoded.png">    </p:cNvPr>
          <p:cNvPicPr>
            <a:picLocks noChangeAspect="1"/>
          </p:cNvPicPr>
          <p:nvPr/>
        </p:nvPicPr>
        <p:blipFill>
          <a:blip r:embed="rId3"/>
          <a:stretch>
            <a:fillRect/>
          </a:stretch>
        </p:blipFill>
        <p:spPr>
          <a:xfrm>
            <a:off x="793790" y="2952274"/>
            <a:ext cx="1134070" cy="1360884"/>
          </a:xfrm>
          <a:prstGeom prst="rect">
            <a:avLst/>
          </a:prstGeom>
        </p:spPr>
      </p:pic>
      <p:sp>
        <p:nvSpPr>
          <p:cNvPr id="6" name="Text 1"/>
          <p:cNvSpPr/>
          <p:nvPr/>
        </p:nvSpPr>
        <p:spPr>
          <a:xfrm>
            <a:off x="2268022" y="3179088"/>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Input Layer</a:t>
            </a:r>
            <a:endParaRPr lang="en-US" sz="2200" dirty="0"/>
          </a:p>
        </p:txBody>
      </p:sp>
      <p:sp>
        <p:nvSpPr>
          <p:cNvPr id="7" name="Text 2"/>
          <p:cNvSpPr/>
          <p:nvPr/>
        </p:nvSpPr>
        <p:spPr>
          <a:xfrm>
            <a:off x="2268022" y="3669506"/>
            <a:ext cx="6082189" cy="362903"/>
          </a:xfrm>
          <a:prstGeom prst="rect">
            <a:avLst/>
          </a:prstGeom>
          <a:noFill/>
          <a:ln/>
        </p:spPr>
        <p:txBody>
          <a:bodyPr wrap="non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Receives data from external sources</a:t>
            </a:r>
            <a:endParaRPr lang="en-US" sz="1750" dirty="0"/>
          </a:p>
        </p:txBody>
      </p:sp>
      <p:pic>
        <p:nvPicPr>
          <p:cNvPr id="8" name="Image 3" descr="preencoded.png">    </p:cNvPr>
          <p:cNvPicPr>
            <a:picLocks noChangeAspect="1"/>
          </p:cNvPicPr>
          <p:nvPr/>
        </p:nvPicPr>
        <p:blipFill>
          <a:blip r:embed="rId4"/>
          <a:stretch>
            <a:fillRect/>
          </a:stretch>
        </p:blipFill>
        <p:spPr>
          <a:xfrm>
            <a:off x="793790" y="4313158"/>
            <a:ext cx="1134070" cy="1360884"/>
          </a:xfrm>
          <a:prstGeom prst="rect">
            <a:avLst/>
          </a:prstGeom>
        </p:spPr>
      </p:pic>
      <p:sp>
        <p:nvSpPr>
          <p:cNvPr id="9" name="Text 3"/>
          <p:cNvSpPr/>
          <p:nvPr/>
        </p:nvSpPr>
        <p:spPr>
          <a:xfrm>
            <a:off x="2268022" y="4539972"/>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Hidden Layer</a:t>
            </a:r>
            <a:endParaRPr lang="en-US" sz="2200" dirty="0"/>
          </a:p>
        </p:txBody>
      </p:sp>
      <p:sp>
        <p:nvSpPr>
          <p:cNvPr id="10" name="Text 4"/>
          <p:cNvSpPr/>
          <p:nvPr/>
        </p:nvSpPr>
        <p:spPr>
          <a:xfrm>
            <a:off x="2268022" y="5030391"/>
            <a:ext cx="6082189" cy="362903"/>
          </a:xfrm>
          <a:prstGeom prst="rect">
            <a:avLst/>
          </a:prstGeom>
          <a:noFill/>
          <a:ln/>
        </p:spPr>
        <p:txBody>
          <a:bodyPr wrap="non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Processes inputs using weighted connections</a:t>
            </a:r>
            <a:endParaRPr lang="en-US" sz="1750" dirty="0"/>
          </a:p>
        </p:txBody>
      </p:sp>
      <p:pic>
        <p:nvPicPr>
          <p:cNvPr id="11" name="Image 4" descr="preencoded.png">    </p:cNvPr>
          <p:cNvPicPr>
            <a:picLocks noChangeAspect="1"/>
          </p:cNvPicPr>
          <p:nvPr/>
        </p:nvPicPr>
        <p:blipFill>
          <a:blip r:embed="rId5"/>
          <a:stretch>
            <a:fillRect/>
          </a:stretch>
        </p:blipFill>
        <p:spPr>
          <a:xfrm>
            <a:off x="793790" y="5674042"/>
            <a:ext cx="1134070" cy="1360884"/>
          </a:xfrm>
          <a:prstGeom prst="rect">
            <a:avLst/>
          </a:prstGeom>
        </p:spPr>
      </p:pic>
      <p:sp>
        <p:nvSpPr>
          <p:cNvPr id="12" name="Text 5"/>
          <p:cNvSpPr/>
          <p:nvPr/>
        </p:nvSpPr>
        <p:spPr>
          <a:xfrm>
            <a:off x="2268022" y="5900857"/>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Output Layer</a:t>
            </a:r>
            <a:endParaRPr lang="en-US" sz="2200" dirty="0"/>
          </a:p>
        </p:txBody>
      </p:sp>
      <p:sp>
        <p:nvSpPr>
          <p:cNvPr id="13" name="Text 6"/>
          <p:cNvSpPr/>
          <p:nvPr/>
        </p:nvSpPr>
        <p:spPr>
          <a:xfrm>
            <a:off x="2268022" y="6391275"/>
            <a:ext cx="6082189" cy="362903"/>
          </a:xfrm>
          <a:prstGeom prst="rect">
            <a:avLst/>
          </a:prstGeom>
          <a:noFill/>
          <a:ln/>
        </p:spPr>
        <p:txBody>
          <a:bodyPr wrap="non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Provides the final response of the network</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1277303"/>
            <a:ext cx="7556421" cy="1417558"/>
          </a:xfrm>
          <a:prstGeom prst="rect">
            <a:avLst/>
          </a:prstGeom>
          <a:noFill/>
          <a:ln/>
        </p:spPr>
        <p:txBody>
          <a:bodyPr wrap="square" lIns="0" tIns="0" rIns="0" bIns="0" rtlCol="0" anchor="t"/>
          <a:lstStyle/>
          <a:p>
            <a:pPr algn="l" indent="0" marL="0">
              <a:lnSpc>
                <a:spcPts val="5550"/>
              </a:lnSpc>
              <a:buNone/>
            </a:pPr>
            <a:r>
              <a:rPr lang="en-US" sz="4450" b="1" dirty="0">
                <a:solidFill>
                  <a:srgbClr val="000000"/>
                </a:solidFill>
                <a:latin typeface="Inter Bold" pitchFamily="34" charset="0"/>
                <a:ea typeface="Inter Bold" pitchFamily="34" charset="-122"/>
                <a:cs typeface="Inter Bold" pitchFamily="34" charset="-120"/>
              </a:rPr>
              <a:t>Biological vs. Artificial Neurons</a:t>
            </a:r>
            <a:endParaRPr lang="en-US" sz="4450" dirty="0"/>
          </a:p>
        </p:txBody>
      </p:sp>
      <p:sp>
        <p:nvSpPr>
          <p:cNvPr id="4" name="Shape 1"/>
          <p:cNvSpPr/>
          <p:nvPr/>
        </p:nvSpPr>
        <p:spPr>
          <a:xfrm>
            <a:off x="6280190" y="3035022"/>
            <a:ext cx="7556421" cy="3917156"/>
          </a:xfrm>
          <a:prstGeom prst="roundRect">
            <a:avLst>
              <a:gd name="adj" fmla="val 2432"/>
            </a:avLst>
          </a:prstGeom>
          <a:noFill/>
          <a:ln w="7620">
            <a:solidFill>
              <a:srgbClr val="000000">
                <a:alpha val="8000"/>
              </a:srgbClr>
            </a:solidFill>
            <a:prstDash val="solid"/>
          </a:ln>
        </p:spPr>
      </p:sp>
      <p:sp>
        <p:nvSpPr>
          <p:cNvPr id="5" name="Shape 2"/>
          <p:cNvSpPr/>
          <p:nvPr/>
        </p:nvSpPr>
        <p:spPr>
          <a:xfrm>
            <a:off x="6287810" y="3042642"/>
            <a:ext cx="7541181" cy="650319"/>
          </a:xfrm>
          <a:prstGeom prst="rect">
            <a:avLst/>
          </a:prstGeom>
          <a:solidFill>
            <a:srgbClr val="FFFFFF">
              <a:alpha val="4000"/>
            </a:srgbClr>
          </a:solidFill>
          <a:ln/>
        </p:spPr>
      </p:sp>
      <p:sp>
        <p:nvSpPr>
          <p:cNvPr id="6" name="Text 3"/>
          <p:cNvSpPr/>
          <p:nvPr/>
        </p:nvSpPr>
        <p:spPr>
          <a:xfrm>
            <a:off x="6514624" y="3186351"/>
            <a:ext cx="3313152" cy="362903"/>
          </a:xfrm>
          <a:prstGeom prst="rect">
            <a:avLst/>
          </a:prstGeom>
          <a:noFill/>
          <a:ln/>
        </p:spPr>
        <p:txBody>
          <a:bodyPr wrap="non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Biological Component</a:t>
            </a:r>
            <a:endParaRPr lang="en-US" sz="1750" dirty="0"/>
          </a:p>
        </p:txBody>
      </p:sp>
      <p:sp>
        <p:nvSpPr>
          <p:cNvPr id="7" name="Text 4"/>
          <p:cNvSpPr/>
          <p:nvPr/>
        </p:nvSpPr>
        <p:spPr>
          <a:xfrm>
            <a:off x="10289024" y="3186351"/>
            <a:ext cx="3313152" cy="362903"/>
          </a:xfrm>
          <a:prstGeom prst="rect">
            <a:avLst/>
          </a:prstGeom>
          <a:noFill/>
          <a:ln/>
        </p:spPr>
        <p:txBody>
          <a:bodyPr wrap="non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Artificial Equivalent</a:t>
            </a:r>
            <a:endParaRPr lang="en-US" sz="1750" dirty="0"/>
          </a:p>
        </p:txBody>
      </p:sp>
      <p:sp>
        <p:nvSpPr>
          <p:cNvPr id="8" name="Shape 5"/>
          <p:cNvSpPr/>
          <p:nvPr/>
        </p:nvSpPr>
        <p:spPr>
          <a:xfrm>
            <a:off x="6287810" y="3692962"/>
            <a:ext cx="7541181" cy="650319"/>
          </a:xfrm>
          <a:prstGeom prst="rect">
            <a:avLst/>
          </a:prstGeom>
          <a:solidFill>
            <a:srgbClr val="000000">
              <a:alpha val="4000"/>
            </a:srgbClr>
          </a:solidFill>
          <a:ln/>
        </p:spPr>
      </p:sp>
      <p:sp>
        <p:nvSpPr>
          <p:cNvPr id="9" name="Text 6"/>
          <p:cNvSpPr/>
          <p:nvPr/>
        </p:nvSpPr>
        <p:spPr>
          <a:xfrm>
            <a:off x="6514624" y="3836670"/>
            <a:ext cx="3313152" cy="362903"/>
          </a:xfrm>
          <a:prstGeom prst="rect">
            <a:avLst/>
          </a:prstGeom>
          <a:noFill/>
          <a:ln/>
        </p:spPr>
        <p:txBody>
          <a:bodyPr wrap="non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Dendrites</a:t>
            </a:r>
            <a:endParaRPr lang="en-US" sz="1750" dirty="0"/>
          </a:p>
        </p:txBody>
      </p:sp>
      <p:sp>
        <p:nvSpPr>
          <p:cNvPr id="10" name="Text 7"/>
          <p:cNvSpPr/>
          <p:nvPr/>
        </p:nvSpPr>
        <p:spPr>
          <a:xfrm>
            <a:off x="10289024" y="3836670"/>
            <a:ext cx="3313152" cy="362903"/>
          </a:xfrm>
          <a:prstGeom prst="rect">
            <a:avLst/>
          </a:prstGeom>
          <a:noFill/>
          <a:ln/>
        </p:spPr>
        <p:txBody>
          <a:bodyPr wrap="non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Inputs</a:t>
            </a:r>
            <a:endParaRPr lang="en-US" sz="1750" dirty="0"/>
          </a:p>
        </p:txBody>
      </p:sp>
      <p:sp>
        <p:nvSpPr>
          <p:cNvPr id="11" name="Shape 8"/>
          <p:cNvSpPr/>
          <p:nvPr/>
        </p:nvSpPr>
        <p:spPr>
          <a:xfrm>
            <a:off x="6287810" y="4343281"/>
            <a:ext cx="7541181" cy="650319"/>
          </a:xfrm>
          <a:prstGeom prst="rect">
            <a:avLst/>
          </a:prstGeom>
          <a:solidFill>
            <a:srgbClr val="FFFFFF">
              <a:alpha val="4000"/>
            </a:srgbClr>
          </a:solidFill>
          <a:ln/>
        </p:spPr>
      </p:sp>
      <p:sp>
        <p:nvSpPr>
          <p:cNvPr id="12" name="Text 9"/>
          <p:cNvSpPr/>
          <p:nvPr/>
        </p:nvSpPr>
        <p:spPr>
          <a:xfrm>
            <a:off x="6514624" y="4486989"/>
            <a:ext cx="3313152" cy="362903"/>
          </a:xfrm>
          <a:prstGeom prst="rect">
            <a:avLst/>
          </a:prstGeom>
          <a:noFill/>
          <a:ln/>
        </p:spPr>
        <p:txBody>
          <a:bodyPr wrap="non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Cell nucleus/Soma</a:t>
            </a:r>
            <a:endParaRPr lang="en-US" sz="1750" dirty="0"/>
          </a:p>
        </p:txBody>
      </p:sp>
      <p:sp>
        <p:nvSpPr>
          <p:cNvPr id="13" name="Text 10"/>
          <p:cNvSpPr/>
          <p:nvPr/>
        </p:nvSpPr>
        <p:spPr>
          <a:xfrm>
            <a:off x="10289024" y="4486989"/>
            <a:ext cx="3313152" cy="362903"/>
          </a:xfrm>
          <a:prstGeom prst="rect">
            <a:avLst/>
          </a:prstGeom>
          <a:noFill/>
          <a:ln/>
        </p:spPr>
        <p:txBody>
          <a:bodyPr wrap="non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Nodes</a:t>
            </a:r>
            <a:endParaRPr lang="en-US" sz="1750" dirty="0"/>
          </a:p>
        </p:txBody>
      </p:sp>
      <p:sp>
        <p:nvSpPr>
          <p:cNvPr id="14" name="Shape 11"/>
          <p:cNvSpPr/>
          <p:nvPr/>
        </p:nvSpPr>
        <p:spPr>
          <a:xfrm>
            <a:off x="6287810" y="4993600"/>
            <a:ext cx="7541181" cy="650319"/>
          </a:xfrm>
          <a:prstGeom prst="rect">
            <a:avLst/>
          </a:prstGeom>
          <a:solidFill>
            <a:srgbClr val="000000">
              <a:alpha val="4000"/>
            </a:srgbClr>
          </a:solidFill>
          <a:ln/>
        </p:spPr>
      </p:sp>
      <p:sp>
        <p:nvSpPr>
          <p:cNvPr id="15" name="Text 12"/>
          <p:cNvSpPr/>
          <p:nvPr/>
        </p:nvSpPr>
        <p:spPr>
          <a:xfrm>
            <a:off x="6514624" y="5137309"/>
            <a:ext cx="3313152" cy="362903"/>
          </a:xfrm>
          <a:prstGeom prst="rect">
            <a:avLst/>
          </a:prstGeom>
          <a:noFill/>
          <a:ln/>
        </p:spPr>
        <p:txBody>
          <a:bodyPr wrap="non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Synapses</a:t>
            </a:r>
            <a:endParaRPr lang="en-US" sz="1750" dirty="0"/>
          </a:p>
        </p:txBody>
      </p:sp>
      <p:sp>
        <p:nvSpPr>
          <p:cNvPr id="16" name="Text 13"/>
          <p:cNvSpPr/>
          <p:nvPr/>
        </p:nvSpPr>
        <p:spPr>
          <a:xfrm>
            <a:off x="10289024" y="5137309"/>
            <a:ext cx="3313152" cy="362903"/>
          </a:xfrm>
          <a:prstGeom prst="rect">
            <a:avLst/>
          </a:prstGeom>
          <a:noFill/>
          <a:ln/>
        </p:spPr>
        <p:txBody>
          <a:bodyPr wrap="non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Weights</a:t>
            </a:r>
            <a:endParaRPr lang="en-US" sz="1750" dirty="0"/>
          </a:p>
        </p:txBody>
      </p:sp>
      <p:sp>
        <p:nvSpPr>
          <p:cNvPr id="17" name="Shape 14"/>
          <p:cNvSpPr/>
          <p:nvPr/>
        </p:nvSpPr>
        <p:spPr>
          <a:xfrm>
            <a:off x="6287810" y="5643920"/>
            <a:ext cx="7541181" cy="650319"/>
          </a:xfrm>
          <a:prstGeom prst="rect">
            <a:avLst/>
          </a:prstGeom>
          <a:solidFill>
            <a:srgbClr val="FFFFFF">
              <a:alpha val="4000"/>
            </a:srgbClr>
          </a:solidFill>
          <a:ln/>
        </p:spPr>
      </p:sp>
      <p:sp>
        <p:nvSpPr>
          <p:cNvPr id="18" name="Text 15"/>
          <p:cNvSpPr/>
          <p:nvPr/>
        </p:nvSpPr>
        <p:spPr>
          <a:xfrm>
            <a:off x="6514624" y="5787628"/>
            <a:ext cx="3313152" cy="362903"/>
          </a:xfrm>
          <a:prstGeom prst="rect">
            <a:avLst/>
          </a:prstGeom>
          <a:noFill/>
          <a:ln/>
        </p:spPr>
        <p:txBody>
          <a:bodyPr wrap="non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Axon</a:t>
            </a:r>
            <a:endParaRPr lang="en-US" sz="1750" dirty="0"/>
          </a:p>
        </p:txBody>
      </p:sp>
      <p:sp>
        <p:nvSpPr>
          <p:cNvPr id="19" name="Text 16"/>
          <p:cNvSpPr/>
          <p:nvPr/>
        </p:nvSpPr>
        <p:spPr>
          <a:xfrm>
            <a:off x="10289024" y="5787628"/>
            <a:ext cx="3313152" cy="362903"/>
          </a:xfrm>
          <a:prstGeom prst="rect">
            <a:avLst/>
          </a:prstGeom>
          <a:noFill/>
          <a:ln/>
        </p:spPr>
        <p:txBody>
          <a:bodyPr wrap="non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Output</a:t>
            </a:r>
            <a:endParaRPr lang="en-US" sz="1750" dirty="0"/>
          </a:p>
        </p:txBody>
      </p:sp>
      <p:sp>
        <p:nvSpPr>
          <p:cNvPr id="20" name="Shape 17"/>
          <p:cNvSpPr/>
          <p:nvPr/>
        </p:nvSpPr>
        <p:spPr>
          <a:xfrm>
            <a:off x="6287810" y="6294239"/>
            <a:ext cx="7541181" cy="650319"/>
          </a:xfrm>
          <a:prstGeom prst="rect">
            <a:avLst/>
          </a:prstGeom>
          <a:solidFill>
            <a:srgbClr val="000000">
              <a:alpha val="4000"/>
            </a:srgbClr>
          </a:solidFill>
          <a:ln/>
        </p:spPr>
      </p:sp>
      <p:sp>
        <p:nvSpPr>
          <p:cNvPr id="21" name="Text 18"/>
          <p:cNvSpPr/>
          <p:nvPr/>
        </p:nvSpPr>
        <p:spPr>
          <a:xfrm>
            <a:off x="6514624" y="6437948"/>
            <a:ext cx="3313152" cy="362903"/>
          </a:xfrm>
          <a:prstGeom prst="rect">
            <a:avLst/>
          </a:prstGeom>
          <a:noFill/>
          <a:ln/>
        </p:spPr>
        <p:txBody>
          <a:bodyPr wrap="non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Synaptic plasticity</a:t>
            </a:r>
            <a:endParaRPr lang="en-US" sz="1750" dirty="0"/>
          </a:p>
        </p:txBody>
      </p:sp>
      <p:sp>
        <p:nvSpPr>
          <p:cNvPr id="22" name="Text 19"/>
          <p:cNvSpPr/>
          <p:nvPr/>
        </p:nvSpPr>
        <p:spPr>
          <a:xfrm>
            <a:off x="10289024" y="6437948"/>
            <a:ext cx="3313152" cy="362903"/>
          </a:xfrm>
          <a:prstGeom prst="rect">
            <a:avLst/>
          </a:prstGeom>
          <a:noFill/>
          <a:ln/>
        </p:spPr>
        <p:txBody>
          <a:bodyPr wrap="non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Backpropagation</a:t>
            </a:r>
            <a:endParaRPr lang="en-US" sz="1750" dirty="0"/>
          </a:p>
        </p:txBody>
      </p:sp>
      <p:pic>
        <p:nvPicPr>
          <p:cNvPr id="23" name="Image 1" descr="preencoded.png">    </p:cNvPr>
          <p:cNvPicPr>
            <a:picLocks noChangeAspect="1"/>
          </p:cNvPicPr>
          <p:nvPr/>
        </p:nvPicPr>
        <p:blipFill>
          <a:blip r:embed="rId2"/>
          <a:stretch>
            <a:fillRect/>
          </a:stretch>
        </p:blipFill>
        <p:spPr>
          <a:xfrm>
            <a:off x="13700760" y="228600"/>
            <a:ext cx="701040" cy="66413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82228" y="536019"/>
            <a:ext cx="5265777" cy="609124"/>
          </a:xfrm>
          <a:prstGeom prst="rect">
            <a:avLst/>
          </a:prstGeom>
          <a:noFill/>
          <a:ln/>
        </p:spPr>
        <p:txBody>
          <a:bodyPr wrap="none" lIns="0" tIns="0" rIns="0" bIns="0" rtlCol="0" anchor="t"/>
          <a:lstStyle/>
          <a:p>
            <a:pPr algn="l" indent="0" marL="0">
              <a:lnSpc>
                <a:spcPts val="4750"/>
              </a:lnSpc>
              <a:buNone/>
            </a:pPr>
            <a:r>
              <a:rPr lang="en-US" sz="3800" b="1" dirty="0">
                <a:solidFill>
                  <a:srgbClr val="000000"/>
                </a:solidFill>
                <a:latin typeface="Inter Bold" pitchFamily="34" charset="0"/>
                <a:ea typeface="Inter Bold" pitchFamily="34" charset="-122"/>
                <a:cs typeface="Inter Bold" pitchFamily="34" charset="-120"/>
              </a:rPr>
              <a:t>Structure Comparison</a:t>
            </a:r>
            <a:endParaRPr lang="en-US" sz="3800" dirty="0"/>
          </a:p>
        </p:txBody>
      </p:sp>
      <p:sp>
        <p:nvSpPr>
          <p:cNvPr id="3" name="Text 1"/>
          <p:cNvSpPr/>
          <p:nvPr/>
        </p:nvSpPr>
        <p:spPr>
          <a:xfrm>
            <a:off x="682228" y="1632347"/>
            <a:ext cx="2436733" cy="304562"/>
          </a:xfrm>
          <a:prstGeom prst="rect">
            <a:avLst/>
          </a:prstGeom>
          <a:noFill/>
          <a:ln/>
        </p:spPr>
        <p:txBody>
          <a:bodyPr wrap="none" lIns="0" tIns="0" rIns="0" bIns="0" rtlCol="0" anchor="t"/>
          <a:lstStyle/>
          <a:p>
            <a:pPr algn="l" indent="0" marL="0">
              <a:lnSpc>
                <a:spcPts val="2350"/>
              </a:lnSpc>
              <a:buNone/>
            </a:pPr>
            <a:r>
              <a:rPr lang="en-US" sz="1900" b="1" dirty="0">
                <a:solidFill>
                  <a:srgbClr val="000000"/>
                </a:solidFill>
                <a:latin typeface="Inter Bold" pitchFamily="34" charset="0"/>
                <a:ea typeface="Inter Bold" pitchFamily="34" charset="-122"/>
                <a:cs typeface="Inter Bold" pitchFamily="34" charset="-120"/>
              </a:rPr>
              <a:t>Biological Neurons</a:t>
            </a:r>
            <a:endParaRPr lang="en-US" sz="1900" dirty="0"/>
          </a:p>
        </p:txBody>
      </p:sp>
      <p:sp>
        <p:nvSpPr>
          <p:cNvPr id="4" name="Text 2"/>
          <p:cNvSpPr/>
          <p:nvPr/>
        </p:nvSpPr>
        <p:spPr>
          <a:xfrm>
            <a:off x="682228" y="2131814"/>
            <a:ext cx="6395204" cy="1559123"/>
          </a:xfrm>
          <a:prstGeom prst="rect">
            <a:avLst/>
          </a:prstGeom>
          <a:noFill/>
          <a:ln/>
        </p:spPr>
        <p:txBody>
          <a:bodyPr wrap="square" lIns="0" tIns="0" rIns="0" bIns="0" rtlCol="0" anchor="t"/>
          <a:lstStyle/>
          <a:p>
            <a:pPr algn="l" indent="0" marL="0">
              <a:lnSpc>
                <a:spcPts val="2450"/>
              </a:lnSpc>
              <a:buNone/>
            </a:pPr>
            <a:r>
              <a:rPr lang="en-US" sz="1500" dirty="0">
                <a:solidFill>
                  <a:srgbClr val="000000"/>
                </a:solidFill>
                <a:latin typeface="Inter" pitchFamily="34" charset="0"/>
                <a:ea typeface="Inter" pitchFamily="34" charset="-122"/>
                <a:cs typeface="Inter" pitchFamily="34" charset="-120"/>
              </a:rPr>
              <a:t>A biological neuron has a cell body (soma) to process impulses, dendrites to receive them, and an axon that transfers them to other neurons. Learning occurs in the cell body nucleus, which processes impulses and produces action potentials when stimuli reach the threshold.</a:t>
            </a:r>
            <a:endParaRPr lang="en-US" sz="1500" dirty="0"/>
          </a:p>
        </p:txBody>
      </p:sp>
      <p:sp>
        <p:nvSpPr>
          <p:cNvPr id="5" name="Text 3"/>
          <p:cNvSpPr/>
          <p:nvPr/>
        </p:nvSpPr>
        <p:spPr>
          <a:xfrm>
            <a:off x="7560588" y="1632347"/>
            <a:ext cx="2436733" cy="304562"/>
          </a:xfrm>
          <a:prstGeom prst="rect">
            <a:avLst/>
          </a:prstGeom>
          <a:noFill/>
          <a:ln/>
        </p:spPr>
        <p:txBody>
          <a:bodyPr wrap="none" lIns="0" tIns="0" rIns="0" bIns="0" rtlCol="0" anchor="t"/>
          <a:lstStyle/>
          <a:p>
            <a:pPr algn="l" indent="0" marL="0">
              <a:lnSpc>
                <a:spcPts val="2350"/>
              </a:lnSpc>
              <a:buNone/>
            </a:pPr>
            <a:r>
              <a:rPr lang="en-US" sz="1900" b="1" dirty="0">
                <a:solidFill>
                  <a:srgbClr val="000000"/>
                </a:solidFill>
                <a:latin typeface="Inter Bold" pitchFamily="34" charset="0"/>
                <a:ea typeface="Inter Bold" pitchFamily="34" charset="-122"/>
                <a:cs typeface="Inter Bold" pitchFamily="34" charset="-120"/>
              </a:rPr>
              <a:t>Artificial Neurons</a:t>
            </a:r>
            <a:endParaRPr lang="en-US" sz="1900" dirty="0"/>
          </a:p>
        </p:txBody>
      </p:sp>
      <p:sp>
        <p:nvSpPr>
          <p:cNvPr id="6" name="Text 4"/>
          <p:cNvSpPr/>
          <p:nvPr/>
        </p:nvSpPr>
        <p:spPr>
          <a:xfrm>
            <a:off x="7560588" y="2131814"/>
            <a:ext cx="6395204" cy="1559123"/>
          </a:xfrm>
          <a:prstGeom prst="rect">
            <a:avLst/>
          </a:prstGeom>
          <a:noFill/>
          <a:ln/>
        </p:spPr>
        <p:txBody>
          <a:bodyPr wrap="square" lIns="0" tIns="0" rIns="0" bIns="0" rtlCol="0" anchor="t"/>
          <a:lstStyle/>
          <a:p>
            <a:pPr algn="l" indent="0" marL="0">
              <a:lnSpc>
                <a:spcPts val="2450"/>
              </a:lnSpc>
              <a:buNone/>
            </a:pPr>
            <a:r>
              <a:rPr lang="en-US" sz="1500" dirty="0">
                <a:solidFill>
                  <a:srgbClr val="000000"/>
                </a:solidFill>
                <a:latin typeface="Inter" pitchFamily="34" charset="0"/>
                <a:ea typeface="Inter" pitchFamily="34" charset="-122"/>
                <a:cs typeface="Inter" pitchFamily="34" charset="-120"/>
              </a:rPr>
              <a:t>The input nodes of artificial neural networks receive input signals, the hidden layer nodes compute these signals, and the output layer nodes compute the final output using activation functions. Learning happens through backpropagation, which adjusts weights between nodes based on error rates.</a:t>
            </a:r>
            <a:endParaRPr lang="en-US" sz="1500" dirty="0"/>
          </a:p>
        </p:txBody>
      </p:sp>
      <p:pic>
        <p:nvPicPr>
          <p:cNvPr id="7" name="Image 0" descr="preencoded.png">    </p:cNvPr>
          <p:cNvPicPr>
            <a:picLocks noChangeAspect="1"/>
          </p:cNvPicPr>
          <p:nvPr/>
        </p:nvPicPr>
        <p:blipFill>
          <a:blip r:embed="rId1"/>
          <a:stretch>
            <a:fillRect/>
          </a:stretch>
        </p:blipFill>
        <p:spPr>
          <a:xfrm>
            <a:off x="682228" y="4085511"/>
            <a:ext cx="7620000" cy="3810000"/>
          </a:xfrm>
          <a:prstGeom prst="rect">
            <a:avLst/>
          </a:prstGeom>
        </p:spPr>
      </p:pic>
      <p:pic>
        <p:nvPicPr>
          <p:cNvPr id="8" name="Image 1" descr="preencoded.png">    </p:cNvPr>
          <p:cNvPicPr>
            <a:picLocks noChangeAspect="1"/>
          </p:cNvPicPr>
          <p:nvPr/>
        </p:nvPicPr>
        <p:blipFill>
          <a:blip r:embed="rId2"/>
          <a:stretch>
            <a:fillRect/>
          </a:stretch>
        </p:blipFill>
        <p:spPr>
          <a:xfrm>
            <a:off x="13700760" y="228600"/>
            <a:ext cx="701040" cy="66413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667703"/>
            <a:ext cx="7556421" cy="1133951"/>
          </a:xfrm>
          <a:prstGeom prst="rect">
            <a:avLst/>
          </a:prstGeom>
          <a:noFill/>
          <a:ln/>
        </p:spPr>
        <p:txBody>
          <a:bodyPr wrap="square" lIns="0" tIns="0" rIns="0" bIns="0" rtlCol="0" anchor="t"/>
          <a:lstStyle/>
          <a:p>
            <a:pPr algn="l" indent="0" marL="0">
              <a:lnSpc>
                <a:spcPts val="4450"/>
              </a:lnSpc>
              <a:buNone/>
            </a:pPr>
            <a:r>
              <a:rPr lang="en-US" sz="3550" b="1" dirty="0">
                <a:solidFill>
                  <a:srgbClr val="000000"/>
                </a:solidFill>
                <a:latin typeface="Inter Bold" pitchFamily="34" charset="0"/>
                <a:ea typeface="Inter Bold" pitchFamily="34" charset="-122"/>
                <a:cs typeface="Inter Bold" pitchFamily="34" charset="-120"/>
              </a:rPr>
              <a:t>How Artificial Neural Networks Learn</a:t>
            </a:r>
            <a:endParaRPr lang="en-US" sz="3550" dirty="0"/>
          </a:p>
        </p:txBody>
      </p:sp>
      <p:sp>
        <p:nvSpPr>
          <p:cNvPr id="4" name="Shape 1"/>
          <p:cNvSpPr/>
          <p:nvPr/>
        </p:nvSpPr>
        <p:spPr>
          <a:xfrm>
            <a:off x="793790" y="2073831"/>
            <a:ext cx="136088" cy="1263134"/>
          </a:xfrm>
          <a:prstGeom prst="roundRect">
            <a:avLst>
              <a:gd name="adj" fmla="val 56004"/>
            </a:avLst>
          </a:prstGeom>
          <a:solidFill>
            <a:srgbClr val="D2EDF9"/>
          </a:solidFill>
          <a:ln w="7620">
            <a:solidFill>
              <a:srgbClr val="B8D3DF"/>
            </a:solidFill>
            <a:prstDash val="solid"/>
          </a:ln>
        </p:spPr>
      </p:sp>
      <p:sp>
        <p:nvSpPr>
          <p:cNvPr id="5" name="Text 2"/>
          <p:cNvSpPr/>
          <p:nvPr/>
        </p:nvSpPr>
        <p:spPr>
          <a:xfrm>
            <a:off x="1202055" y="2073831"/>
            <a:ext cx="2268260" cy="283488"/>
          </a:xfrm>
          <a:prstGeom prst="rect">
            <a:avLst/>
          </a:prstGeom>
          <a:noFill/>
          <a:ln/>
        </p:spPr>
        <p:txBody>
          <a:bodyPr wrap="none" lIns="0" tIns="0" rIns="0" bIns="0" rtlCol="0" anchor="t"/>
          <a:lstStyle/>
          <a:p>
            <a:pPr algn="l" indent="0" marL="0">
              <a:lnSpc>
                <a:spcPts val="2200"/>
              </a:lnSpc>
              <a:buNone/>
            </a:pPr>
            <a:r>
              <a:rPr lang="en-US" sz="1750" b="1" dirty="0">
                <a:solidFill>
                  <a:srgbClr val="000000"/>
                </a:solidFill>
                <a:latin typeface="Inter Bold" pitchFamily="34" charset="0"/>
                <a:ea typeface="Inter Bold" pitchFamily="34" charset="-122"/>
                <a:cs typeface="Inter Bold" pitchFamily="34" charset="-120"/>
              </a:rPr>
              <a:t>Training Data Input</a:t>
            </a:r>
            <a:endParaRPr lang="en-US" sz="1750" dirty="0"/>
          </a:p>
        </p:txBody>
      </p:sp>
      <p:sp>
        <p:nvSpPr>
          <p:cNvPr id="6" name="Text 3"/>
          <p:cNvSpPr/>
          <p:nvPr/>
        </p:nvSpPr>
        <p:spPr>
          <a:xfrm>
            <a:off x="1202055" y="2466142"/>
            <a:ext cx="7148155" cy="870823"/>
          </a:xfrm>
          <a:prstGeom prst="rect">
            <a:avLst/>
          </a:prstGeom>
          <a:noFill/>
          <a:ln/>
        </p:spPr>
        <p:txBody>
          <a:bodyPr wrap="square" lIns="0" tIns="0" rIns="0" bIns="0" rtlCol="0" anchor="t"/>
          <a:lstStyle/>
          <a:p>
            <a:pPr algn="l" indent="0" marL="0">
              <a:lnSpc>
                <a:spcPts val="2250"/>
              </a:lnSpc>
              <a:buNone/>
            </a:pPr>
            <a:r>
              <a:rPr lang="en-US" sz="1400" dirty="0">
                <a:solidFill>
                  <a:srgbClr val="000000"/>
                </a:solidFill>
                <a:latin typeface="Inter" pitchFamily="34" charset="0"/>
                <a:ea typeface="Inter" pitchFamily="34" charset="-122"/>
                <a:cs typeface="Inter" pitchFamily="34" charset="-120"/>
              </a:rPr>
              <a:t>ANNs are trained using a training set of data. For example, to teach an ANN to recognize cats, it is shown thousands of different cat images to learn identification patterns.</a:t>
            </a:r>
            <a:endParaRPr lang="en-US" sz="1400" dirty="0"/>
          </a:p>
        </p:txBody>
      </p:sp>
      <p:sp>
        <p:nvSpPr>
          <p:cNvPr id="7" name="Shape 4"/>
          <p:cNvSpPr/>
          <p:nvPr/>
        </p:nvSpPr>
        <p:spPr>
          <a:xfrm>
            <a:off x="1065967" y="3518416"/>
            <a:ext cx="136088" cy="972860"/>
          </a:xfrm>
          <a:prstGeom prst="roundRect">
            <a:avLst>
              <a:gd name="adj" fmla="val 56004"/>
            </a:avLst>
          </a:prstGeom>
          <a:solidFill>
            <a:srgbClr val="D2EDF9"/>
          </a:solidFill>
          <a:ln w="7620">
            <a:solidFill>
              <a:srgbClr val="B8D3DF"/>
            </a:solidFill>
            <a:prstDash val="solid"/>
          </a:ln>
        </p:spPr>
      </p:sp>
      <p:sp>
        <p:nvSpPr>
          <p:cNvPr id="8" name="Text 5"/>
          <p:cNvSpPr/>
          <p:nvPr/>
        </p:nvSpPr>
        <p:spPr>
          <a:xfrm>
            <a:off x="1474232" y="3518416"/>
            <a:ext cx="2268260" cy="283488"/>
          </a:xfrm>
          <a:prstGeom prst="rect">
            <a:avLst/>
          </a:prstGeom>
          <a:noFill/>
          <a:ln/>
        </p:spPr>
        <p:txBody>
          <a:bodyPr wrap="none" lIns="0" tIns="0" rIns="0" bIns="0" rtlCol="0" anchor="t"/>
          <a:lstStyle/>
          <a:p>
            <a:pPr algn="l" indent="0" marL="0">
              <a:lnSpc>
                <a:spcPts val="2200"/>
              </a:lnSpc>
              <a:buNone/>
            </a:pPr>
            <a:r>
              <a:rPr lang="en-US" sz="1750" b="1" dirty="0">
                <a:solidFill>
                  <a:srgbClr val="000000"/>
                </a:solidFill>
                <a:latin typeface="Inter Bold" pitchFamily="34" charset="0"/>
                <a:ea typeface="Inter Bold" pitchFamily="34" charset="-122"/>
                <a:cs typeface="Inter Bold" pitchFamily="34" charset="-120"/>
              </a:rPr>
              <a:t>Pattern Recognition</a:t>
            </a:r>
            <a:endParaRPr lang="en-US" sz="1750" dirty="0"/>
          </a:p>
        </p:txBody>
      </p:sp>
      <p:sp>
        <p:nvSpPr>
          <p:cNvPr id="9" name="Text 6"/>
          <p:cNvSpPr/>
          <p:nvPr/>
        </p:nvSpPr>
        <p:spPr>
          <a:xfrm>
            <a:off x="1474232" y="3910727"/>
            <a:ext cx="6875978" cy="580549"/>
          </a:xfrm>
          <a:prstGeom prst="rect">
            <a:avLst/>
          </a:prstGeom>
          <a:noFill/>
          <a:ln/>
        </p:spPr>
        <p:txBody>
          <a:bodyPr wrap="square" lIns="0" tIns="0" rIns="0" bIns="0" rtlCol="0" anchor="t"/>
          <a:lstStyle/>
          <a:p>
            <a:pPr algn="l" indent="0" marL="0">
              <a:lnSpc>
                <a:spcPts val="2250"/>
              </a:lnSpc>
              <a:buNone/>
            </a:pPr>
            <a:r>
              <a:rPr lang="en-US" sz="1400" dirty="0">
                <a:solidFill>
                  <a:srgbClr val="000000"/>
                </a:solidFill>
                <a:latin typeface="Inter" pitchFamily="34" charset="0"/>
                <a:ea typeface="Inter" pitchFamily="34" charset="-122"/>
                <a:cs typeface="Inter" pitchFamily="34" charset="-120"/>
              </a:rPr>
              <a:t>The network processes the training data, adjusting internal parameters to recognize patterns and features characteristic of the subject (e.g., cat features).</a:t>
            </a:r>
            <a:endParaRPr lang="en-US" sz="1400" dirty="0"/>
          </a:p>
        </p:txBody>
      </p:sp>
      <p:sp>
        <p:nvSpPr>
          <p:cNvPr id="10" name="Shape 7"/>
          <p:cNvSpPr/>
          <p:nvPr/>
        </p:nvSpPr>
        <p:spPr>
          <a:xfrm>
            <a:off x="1338143" y="4672727"/>
            <a:ext cx="136088" cy="1263134"/>
          </a:xfrm>
          <a:prstGeom prst="roundRect">
            <a:avLst>
              <a:gd name="adj" fmla="val 56004"/>
            </a:avLst>
          </a:prstGeom>
          <a:solidFill>
            <a:srgbClr val="D2EDF9"/>
          </a:solidFill>
          <a:ln w="7620">
            <a:solidFill>
              <a:srgbClr val="B8D3DF"/>
            </a:solidFill>
            <a:prstDash val="solid"/>
          </a:ln>
        </p:spPr>
      </p:sp>
      <p:sp>
        <p:nvSpPr>
          <p:cNvPr id="11" name="Text 8"/>
          <p:cNvSpPr/>
          <p:nvPr/>
        </p:nvSpPr>
        <p:spPr>
          <a:xfrm>
            <a:off x="1746409" y="4672727"/>
            <a:ext cx="2268260" cy="283488"/>
          </a:xfrm>
          <a:prstGeom prst="rect">
            <a:avLst/>
          </a:prstGeom>
          <a:noFill/>
          <a:ln/>
        </p:spPr>
        <p:txBody>
          <a:bodyPr wrap="none" lIns="0" tIns="0" rIns="0" bIns="0" rtlCol="0" anchor="t"/>
          <a:lstStyle/>
          <a:p>
            <a:pPr algn="l" indent="0" marL="0">
              <a:lnSpc>
                <a:spcPts val="2200"/>
              </a:lnSpc>
              <a:buNone/>
            </a:pPr>
            <a:r>
              <a:rPr lang="en-US" sz="1750" b="1" dirty="0">
                <a:solidFill>
                  <a:srgbClr val="000000"/>
                </a:solidFill>
                <a:latin typeface="Inter Bold" pitchFamily="34" charset="0"/>
                <a:ea typeface="Inter Bold" pitchFamily="34" charset="-122"/>
                <a:cs typeface="Inter Bold" pitchFamily="34" charset="-120"/>
              </a:rPr>
              <a:t>Testing &amp; Validation</a:t>
            </a:r>
            <a:endParaRPr lang="en-US" sz="1750" dirty="0"/>
          </a:p>
        </p:txBody>
      </p:sp>
      <p:sp>
        <p:nvSpPr>
          <p:cNvPr id="12" name="Text 9"/>
          <p:cNvSpPr/>
          <p:nvPr/>
        </p:nvSpPr>
        <p:spPr>
          <a:xfrm>
            <a:off x="1746409" y="5065038"/>
            <a:ext cx="6603802" cy="870823"/>
          </a:xfrm>
          <a:prstGeom prst="rect">
            <a:avLst/>
          </a:prstGeom>
          <a:noFill/>
          <a:ln/>
        </p:spPr>
        <p:txBody>
          <a:bodyPr wrap="square" lIns="0" tIns="0" rIns="0" bIns="0" rtlCol="0" anchor="t"/>
          <a:lstStyle/>
          <a:p>
            <a:pPr algn="l" indent="0" marL="0">
              <a:lnSpc>
                <a:spcPts val="2250"/>
              </a:lnSpc>
              <a:buNone/>
            </a:pPr>
            <a:r>
              <a:rPr lang="en-US" sz="1400" dirty="0">
                <a:solidFill>
                  <a:srgbClr val="000000"/>
                </a:solidFill>
                <a:latin typeface="Inter" pitchFamily="34" charset="0"/>
                <a:ea typeface="Inter" pitchFamily="34" charset="-122"/>
                <a:cs typeface="Inter" pitchFamily="34" charset="-120"/>
              </a:rPr>
              <a:t>Once trained, the ANN is tested with new images to see if it can correctly identify cats. The output is compared with human-provided descriptions to verify accuracy.</a:t>
            </a:r>
            <a:endParaRPr lang="en-US" sz="1400" dirty="0"/>
          </a:p>
        </p:txBody>
      </p:sp>
      <p:sp>
        <p:nvSpPr>
          <p:cNvPr id="13" name="Shape 10"/>
          <p:cNvSpPr/>
          <p:nvPr/>
        </p:nvSpPr>
        <p:spPr>
          <a:xfrm>
            <a:off x="1610320" y="6117312"/>
            <a:ext cx="136088" cy="1263134"/>
          </a:xfrm>
          <a:prstGeom prst="roundRect">
            <a:avLst>
              <a:gd name="adj" fmla="val 56004"/>
            </a:avLst>
          </a:prstGeom>
          <a:solidFill>
            <a:srgbClr val="D2EDF9"/>
          </a:solidFill>
          <a:ln w="7620">
            <a:solidFill>
              <a:srgbClr val="B8D3DF"/>
            </a:solidFill>
            <a:prstDash val="solid"/>
          </a:ln>
        </p:spPr>
      </p:sp>
      <p:sp>
        <p:nvSpPr>
          <p:cNvPr id="14" name="Text 11"/>
          <p:cNvSpPr/>
          <p:nvPr/>
        </p:nvSpPr>
        <p:spPr>
          <a:xfrm>
            <a:off x="2018586" y="6117312"/>
            <a:ext cx="2268260" cy="283488"/>
          </a:xfrm>
          <a:prstGeom prst="rect">
            <a:avLst/>
          </a:prstGeom>
          <a:noFill/>
          <a:ln/>
        </p:spPr>
        <p:txBody>
          <a:bodyPr wrap="none" lIns="0" tIns="0" rIns="0" bIns="0" rtlCol="0" anchor="t"/>
          <a:lstStyle/>
          <a:p>
            <a:pPr algn="l" indent="0" marL="0">
              <a:lnSpc>
                <a:spcPts val="2200"/>
              </a:lnSpc>
              <a:buNone/>
            </a:pPr>
            <a:r>
              <a:rPr lang="en-US" sz="1750" b="1" dirty="0">
                <a:solidFill>
                  <a:srgbClr val="000000"/>
                </a:solidFill>
                <a:latin typeface="Inter Bold" pitchFamily="34" charset="0"/>
                <a:ea typeface="Inter Bold" pitchFamily="34" charset="-122"/>
                <a:cs typeface="Inter Bold" pitchFamily="34" charset="-120"/>
              </a:rPr>
              <a:t>Backpropagation</a:t>
            </a:r>
            <a:endParaRPr lang="en-US" sz="1750" dirty="0"/>
          </a:p>
        </p:txBody>
      </p:sp>
      <p:sp>
        <p:nvSpPr>
          <p:cNvPr id="15" name="Text 12"/>
          <p:cNvSpPr/>
          <p:nvPr/>
        </p:nvSpPr>
        <p:spPr>
          <a:xfrm>
            <a:off x="2018586" y="6509623"/>
            <a:ext cx="6331625" cy="870823"/>
          </a:xfrm>
          <a:prstGeom prst="rect">
            <a:avLst/>
          </a:prstGeom>
          <a:noFill/>
          <a:ln/>
        </p:spPr>
        <p:txBody>
          <a:bodyPr wrap="square" lIns="0" tIns="0" rIns="0" bIns="0" rtlCol="0" anchor="t"/>
          <a:lstStyle/>
          <a:p>
            <a:pPr algn="l" indent="0" marL="0">
              <a:lnSpc>
                <a:spcPts val="2250"/>
              </a:lnSpc>
              <a:buNone/>
            </a:pPr>
            <a:r>
              <a:rPr lang="en-US" sz="1400" dirty="0">
                <a:solidFill>
                  <a:srgbClr val="000000"/>
                </a:solidFill>
                <a:latin typeface="Inter" pitchFamily="34" charset="0"/>
                <a:ea typeface="Inter" pitchFamily="34" charset="-122"/>
                <a:cs typeface="Inter" pitchFamily="34" charset="-120"/>
              </a:rPr>
              <a:t>If identification errors occur, backpropagation fine-tunes the weights of connections based on the error rate, improving performance until the ANN achieves minimal error rates.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1053465"/>
            <a:ext cx="7556421" cy="1346835"/>
          </a:xfrm>
          <a:prstGeom prst="rect">
            <a:avLst/>
          </a:prstGeom>
          <a:noFill/>
          <a:ln/>
        </p:spPr>
        <p:txBody>
          <a:bodyPr wrap="square" lIns="0" tIns="0" rIns="0" bIns="0" rtlCol="0" anchor="t"/>
          <a:lstStyle/>
          <a:p>
            <a:pPr algn="l" indent="0" marL="0">
              <a:lnSpc>
                <a:spcPts val="5300"/>
              </a:lnSpc>
              <a:buNone/>
            </a:pPr>
            <a:r>
              <a:rPr lang="en-US" sz="4200" b="1" dirty="0">
                <a:solidFill>
                  <a:srgbClr val="000000"/>
                </a:solidFill>
                <a:latin typeface="Inter Bold" pitchFamily="34" charset="0"/>
                <a:ea typeface="Inter Bold" pitchFamily="34" charset="-122"/>
                <a:cs typeface="Inter Bold" pitchFamily="34" charset="-120"/>
              </a:rPr>
              <a:t>Types of Neural Networks: Feedforward</a:t>
            </a:r>
            <a:endParaRPr lang="en-US" sz="4200" dirty="0"/>
          </a:p>
        </p:txBody>
      </p:sp>
      <p:sp>
        <p:nvSpPr>
          <p:cNvPr id="4" name="Shape 1"/>
          <p:cNvSpPr/>
          <p:nvPr/>
        </p:nvSpPr>
        <p:spPr>
          <a:xfrm>
            <a:off x="6280190" y="2723436"/>
            <a:ext cx="3670578" cy="2635806"/>
          </a:xfrm>
          <a:prstGeom prst="roundRect">
            <a:avLst>
              <a:gd name="adj" fmla="val 3434"/>
            </a:avLst>
          </a:prstGeom>
          <a:solidFill>
            <a:srgbClr val="D2EDF9"/>
          </a:solidFill>
          <a:ln w="7620">
            <a:solidFill>
              <a:srgbClr val="B8D3DF"/>
            </a:solidFill>
            <a:prstDash val="solid"/>
          </a:ln>
        </p:spPr>
      </p:sp>
      <p:sp>
        <p:nvSpPr>
          <p:cNvPr id="5" name="Text 2"/>
          <p:cNvSpPr/>
          <p:nvPr/>
        </p:nvSpPr>
        <p:spPr>
          <a:xfrm>
            <a:off x="6503194" y="2946440"/>
            <a:ext cx="2693551" cy="336590"/>
          </a:xfrm>
          <a:prstGeom prst="rect">
            <a:avLst/>
          </a:prstGeom>
          <a:noFill/>
          <a:ln/>
        </p:spPr>
        <p:txBody>
          <a:bodyPr wrap="none" lIns="0" tIns="0" rIns="0" bIns="0" rtlCol="0" anchor="t"/>
          <a:lstStyle/>
          <a:p>
            <a:pPr algn="l" indent="0" marL="0">
              <a:lnSpc>
                <a:spcPts val="2650"/>
              </a:lnSpc>
              <a:buNone/>
            </a:pPr>
            <a:r>
              <a:rPr lang="en-US" sz="2100" b="1" dirty="0">
                <a:solidFill>
                  <a:srgbClr val="000000"/>
                </a:solidFill>
                <a:latin typeface="Inter Bold" pitchFamily="34" charset="0"/>
                <a:ea typeface="Inter Bold" pitchFamily="34" charset="-122"/>
                <a:cs typeface="Inter Bold" pitchFamily="34" charset="-120"/>
              </a:rPr>
              <a:t>Structure</a:t>
            </a:r>
            <a:endParaRPr lang="en-US" sz="2100" dirty="0"/>
          </a:p>
        </p:txBody>
      </p:sp>
      <p:sp>
        <p:nvSpPr>
          <p:cNvPr id="6" name="Text 3"/>
          <p:cNvSpPr/>
          <p:nvPr/>
        </p:nvSpPr>
        <p:spPr>
          <a:xfrm>
            <a:off x="6503194" y="3412212"/>
            <a:ext cx="3224570" cy="1724025"/>
          </a:xfrm>
          <a:prstGeom prst="rect">
            <a:avLst/>
          </a:prstGeom>
          <a:noFill/>
          <a:ln/>
        </p:spPr>
        <p:txBody>
          <a:bodyPr wrap="square" lIns="0" tIns="0" rIns="0" bIns="0" rtlCol="0" anchor="t"/>
          <a:lstStyle/>
          <a:p>
            <a:pPr algn="l" indent="0" marL="0">
              <a:lnSpc>
                <a:spcPts val="2700"/>
              </a:lnSpc>
              <a:buNone/>
            </a:pPr>
            <a:r>
              <a:rPr lang="en-US" sz="1650" dirty="0">
                <a:solidFill>
                  <a:srgbClr val="000000"/>
                </a:solidFill>
                <a:latin typeface="Inter" pitchFamily="34" charset="0"/>
                <a:ea typeface="Inter" pitchFamily="34" charset="-122"/>
                <a:cs typeface="Inter" pitchFamily="34" charset="-120"/>
              </a:rPr>
              <a:t>One of the most basic ANNs where data travels in a single direction - from input through hidden layers (if any) to output, with no backpropagation.</a:t>
            </a:r>
            <a:endParaRPr lang="en-US" sz="1650" dirty="0"/>
          </a:p>
        </p:txBody>
      </p:sp>
      <p:sp>
        <p:nvSpPr>
          <p:cNvPr id="7" name="Shape 4"/>
          <p:cNvSpPr/>
          <p:nvPr/>
        </p:nvSpPr>
        <p:spPr>
          <a:xfrm>
            <a:off x="10166152" y="2723436"/>
            <a:ext cx="3670578" cy="2635806"/>
          </a:xfrm>
          <a:prstGeom prst="roundRect">
            <a:avLst>
              <a:gd name="adj" fmla="val 3434"/>
            </a:avLst>
          </a:prstGeom>
          <a:solidFill>
            <a:srgbClr val="D2EDF9"/>
          </a:solidFill>
          <a:ln w="7620">
            <a:solidFill>
              <a:srgbClr val="B8D3DF"/>
            </a:solidFill>
            <a:prstDash val="solid"/>
          </a:ln>
        </p:spPr>
      </p:sp>
      <p:sp>
        <p:nvSpPr>
          <p:cNvPr id="8" name="Text 5"/>
          <p:cNvSpPr/>
          <p:nvPr/>
        </p:nvSpPr>
        <p:spPr>
          <a:xfrm>
            <a:off x="10389156" y="2946440"/>
            <a:ext cx="2693551" cy="336590"/>
          </a:xfrm>
          <a:prstGeom prst="rect">
            <a:avLst/>
          </a:prstGeom>
          <a:noFill/>
          <a:ln/>
        </p:spPr>
        <p:txBody>
          <a:bodyPr wrap="none" lIns="0" tIns="0" rIns="0" bIns="0" rtlCol="0" anchor="t"/>
          <a:lstStyle/>
          <a:p>
            <a:pPr algn="l" indent="0" marL="0">
              <a:lnSpc>
                <a:spcPts val="2650"/>
              </a:lnSpc>
              <a:buNone/>
            </a:pPr>
            <a:r>
              <a:rPr lang="en-US" sz="2100" b="1" dirty="0">
                <a:solidFill>
                  <a:srgbClr val="000000"/>
                </a:solidFill>
                <a:latin typeface="Inter Bold" pitchFamily="34" charset="0"/>
                <a:ea typeface="Inter Bold" pitchFamily="34" charset="-122"/>
                <a:cs typeface="Inter Bold" pitchFamily="34" charset="-120"/>
              </a:rPr>
              <a:t>Data Flow</a:t>
            </a:r>
            <a:endParaRPr lang="en-US" sz="2100" dirty="0"/>
          </a:p>
        </p:txBody>
      </p:sp>
      <p:sp>
        <p:nvSpPr>
          <p:cNvPr id="9" name="Text 6"/>
          <p:cNvSpPr/>
          <p:nvPr/>
        </p:nvSpPr>
        <p:spPr>
          <a:xfrm>
            <a:off x="10389156" y="3412212"/>
            <a:ext cx="3224570" cy="1379220"/>
          </a:xfrm>
          <a:prstGeom prst="rect">
            <a:avLst/>
          </a:prstGeom>
          <a:noFill/>
          <a:ln/>
        </p:spPr>
        <p:txBody>
          <a:bodyPr wrap="square" lIns="0" tIns="0" rIns="0" bIns="0" rtlCol="0" anchor="t"/>
          <a:lstStyle/>
          <a:p>
            <a:pPr algn="l" indent="0" marL="0">
              <a:lnSpc>
                <a:spcPts val="2700"/>
              </a:lnSpc>
              <a:buNone/>
            </a:pPr>
            <a:r>
              <a:rPr lang="en-US" sz="1650" dirty="0">
                <a:solidFill>
                  <a:srgbClr val="000000"/>
                </a:solidFill>
                <a:latin typeface="Inter" pitchFamily="34" charset="0"/>
                <a:ea typeface="Inter" pitchFamily="34" charset="-122"/>
                <a:cs typeface="Inter" pitchFamily="34" charset="-120"/>
              </a:rPr>
              <a:t>Information moves forward only, entering through the input layer and exiting through the output layer.</a:t>
            </a:r>
            <a:endParaRPr lang="en-US" sz="1650" dirty="0"/>
          </a:p>
        </p:txBody>
      </p:sp>
      <p:sp>
        <p:nvSpPr>
          <p:cNvPr id="10" name="Shape 7"/>
          <p:cNvSpPr/>
          <p:nvPr/>
        </p:nvSpPr>
        <p:spPr>
          <a:xfrm>
            <a:off x="6280190" y="5574625"/>
            <a:ext cx="7556421" cy="1601391"/>
          </a:xfrm>
          <a:prstGeom prst="roundRect">
            <a:avLst>
              <a:gd name="adj" fmla="val 5652"/>
            </a:avLst>
          </a:prstGeom>
          <a:solidFill>
            <a:srgbClr val="D2EDF9"/>
          </a:solidFill>
          <a:ln w="7620">
            <a:solidFill>
              <a:srgbClr val="B8D3DF"/>
            </a:solidFill>
            <a:prstDash val="solid"/>
          </a:ln>
        </p:spPr>
      </p:sp>
      <p:sp>
        <p:nvSpPr>
          <p:cNvPr id="11" name="Text 8"/>
          <p:cNvSpPr/>
          <p:nvPr/>
        </p:nvSpPr>
        <p:spPr>
          <a:xfrm>
            <a:off x="6503194" y="5797629"/>
            <a:ext cx="2693551" cy="336590"/>
          </a:xfrm>
          <a:prstGeom prst="rect">
            <a:avLst/>
          </a:prstGeom>
          <a:noFill/>
          <a:ln/>
        </p:spPr>
        <p:txBody>
          <a:bodyPr wrap="none" lIns="0" tIns="0" rIns="0" bIns="0" rtlCol="0" anchor="t"/>
          <a:lstStyle/>
          <a:p>
            <a:pPr algn="l" indent="0" marL="0">
              <a:lnSpc>
                <a:spcPts val="2650"/>
              </a:lnSpc>
              <a:buNone/>
            </a:pPr>
            <a:r>
              <a:rPr lang="en-US" sz="2100" b="1" dirty="0">
                <a:solidFill>
                  <a:srgbClr val="000000"/>
                </a:solidFill>
                <a:latin typeface="Inter Bold" pitchFamily="34" charset="0"/>
                <a:ea typeface="Inter Bold" pitchFamily="34" charset="-122"/>
                <a:cs typeface="Inter Bold" pitchFamily="34" charset="-120"/>
              </a:rPr>
              <a:t>Applications</a:t>
            </a:r>
            <a:endParaRPr lang="en-US" sz="2100" dirty="0"/>
          </a:p>
        </p:txBody>
      </p:sp>
      <p:sp>
        <p:nvSpPr>
          <p:cNvPr id="12" name="Text 9"/>
          <p:cNvSpPr/>
          <p:nvPr/>
        </p:nvSpPr>
        <p:spPr>
          <a:xfrm>
            <a:off x="6503194" y="6263402"/>
            <a:ext cx="7110412" cy="689610"/>
          </a:xfrm>
          <a:prstGeom prst="rect">
            <a:avLst/>
          </a:prstGeom>
          <a:noFill/>
          <a:ln/>
        </p:spPr>
        <p:txBody>
          <a:bodyPr wrap="square" lIns="0" tIns="0" rIns="0" bIns="0" rtlCol="0" anchor="t"/>
          <a:lstStyle/>
          <a:p>
            <a:pPr algn="l" indent="0" marL="0">
              <a:lnSpc>
                <a:spcPts val="2700"/>
              </a:lnSpc>
              <a:buNone/>
            </a:pPr>
            <a:r>
              <a:rPr lang="en-US" sz="1650" dirty="0">
                <a:solidFill>
                  <a:srgbClr val="000000"/>
                </a:solidFill>
                <a:latin typeface="Inter" pitchFamily="34" charset="0"/>
                <a:ea typeface="Inter" pitchFamily="34" charset="-122"/>
                <a:cs typeface="Inter" pitchFamily="34" charset="-120"/>
              </a:rPr>
              <a:t>Used in simple pattern recognition tasks, classification problems, and as building blocks for more complex neural network architectures.</a:t>
            </a:r>
            <a:endParaRPr lang="en-US" sz="1650" dirty="0"/>
          </a:p>
        </p:txBody>
      </p:sp>
      <p:pic>
        <p:nvPicPr>
          <p:cNvPr id="13" name="Image 1" descr="preencoded.png">    </p:cNvPr>
          <p:cNvPicPr>
            <a:picLocks noChangeAspect="1"/>
          </p:cNvPicPr>
          <p:nvPr/>
        </p:nvPicPr>
        <p:blipFill>
          <a:blip r:embed="rId2"/>
          <a:stretch>
            <a:fillRect/>
          </a:stretch>
        </p:blipFill>
        <p:spPr>
          <a:xfrm>
            <a:off x="13700760" y="228600"/>
            <a:ext cx="701040" cy="66413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81526" y="614005"/>
            <a:ext cx="10066377" cy="628055"/>
          </a:xfrm>
          <a:prstGeom prst="rect">
            <a:avLst/>
          </a:prstGeom>
          <a:noFill/>
          <a:ln/>
        </p:spPr>
        <p:txBody>
          <a:bodyPr wrap="none" lIns="0" tIns="0" rIns="0" bIns="0" rtlCol="0" anchor="t"/>
          <a:lstStyle/>
          <a:p>
            <a:pPr algn="l" indent="0" marL="0">
              <a:lnSpc>
                <a:spcPts val="4900"/>
              </a:lnSpc>
              <a:buNone/>
            </a:pPr>
            <a:r>
              <a:rPr lang="en-US" sz="3950" b="1" dirty="0">
                <a:solidFill>
                  <a:srgbClr val="000000"/>
                </a:solidFill>
                <a:latin typeface="Inter Bold" pitchFamily="34" charset="0"/>
                <a:ea typeface="Inter Bold" pitchFamily="34" charset="-122"/>
                <a:cs typeface="Inter Bold" pitchFamily="34" charset="-120"/>
              </a:rPr>
              <a:t>Types of Neural Networks: Convolutional</a:t>
            </a:r>
            <a:endParaRPr lang="en-US" sz="3950" dirty="0"/>
          </a:p>
        </p:txBody>
      </p:sp>
      <p:pic>
        <p:nvPicPr>
          <p:cNvPr id="3" name="Image 0" descr="preencoded.png">    </p:cNvPr>
          <p:cNvPicPr>
            <a:picLocks noChangeAspect="1"/>
          </p:cNvPicPr>
          <p:nvPr/>
        </p:nvPicPr>
        <p:blipFill>
          <a:blip r:embed="rId1"/>
          <a:stretch>
            <a:fillRect/>
          </a:stretch>
        </p:blipFill>
        <p:spPr>
          <a:xfrm>
            <a:off x="3239810" y="1644015"/>
            <a:ext cx="1616988" cy="1157883"/>
          </a:xfrm>
          <a:prstGeom prst="rect">
            <a:avLst/>
          </a:prstGeom>
        </p:spPr>
      </p:pic>
      <p:pic>
        <p:nvPicPr>
          <p:cNvPr id="4" name="Image 1" descr="preencoded.png">    </p:cNvPr>
          <p:cNvPicPr>
            <a:picLocks noChangeAspect="1"/>
          </p:cNvPicPr>
          <p:nvPr/>
        </p:nvPicPr>
        <p:blipFill>
          <a:blip r:embed="rId2"/>
          <a:stretch>
            <a:fillRect/>
          </a:stretch>
        </p:blipFill>
        <p:spPr>
          <a:xfrm>
            <a:off x="3906917" y="2189798"/>
            <a:ext cx="282535" cy="353258"/>
          </a:xfrm>
          <a:prstGeom prst="rect">
            <a:avLst/>
          </a:prstGeom>
        </p:spPr>
      </p:pic>
      <p:sp>
        <p:nvSpPr>
          <p:cNvPr id="5" name="Text 1"/>
          <p:cNvSpPr/>
          <p:nvPr/>
        </p:nvSpPr>
        <p:spPr>
          <a:xfrm>
            <a:off x="5057775" y="1844993"/>
            <a:ext cx="2371249" cy="313968"/>
          </a:xfrm>
          <a:prstGeom prst="rect">
            <a:avLst/>
          </a:prstGeom>
          <a:noFill/>
          <a:ln/>
        </p:spPr>
        <p:txBody>
          <a:bodyPr wrap="none" lIns="0" tIns="0" rIns="0" bIns="0" rtlCol="0" anchor="t"/>
          <a:lstStyle/>
          <a:p>
            <a:pPr algn="l" indent="0" marL="0">
              <a:lnSpc>
                <a:spcPts val="2450"/>
              </a:lnSpc>
              <a:buNone/>
            </a:pPr>
            <a:r>
              <a:rPr lang="en-US" sz="1950" b="1" dirty="0">
                <a:solidFill>
                  <a:srgbClr val="000000"/>
                </a:solidFill>
                <a:latin typeface="Inter Bold" pitchFamily="34" charset="0"/>
                <a:ea typeface="Inter Bold" pitchFamily="34" charset="-122"/>
                <a:cs typeface="Inter Bold" pitchFamily="34" charset="-120"/>
              </a:rPr>
              <a:t>Input Layer</a:t>
            </a:r>
            <a:endParaRPr lang="en-US" sz="1950" dirty="0"/>
          </a:p>
        </p:txBody>
      </p:sp>
      <p:sp>
        <p:nvSpPr>
          <p:cNvPr id="6" name="Text 2"/>
          <p:cNvSpPr/>
          <p:nvPr/>
        </p:nvSpPr>
        <p:spPr>
          <a:xfrm>
            <a:off x="5057775" y="2279452"/>
            <a:ext cx="2371249" cy="321469"/>
          </a:xfrm>
          <a:prstGeom prst="rect">
            <a:avLst/>
          </a:prstGeom>
          <a:noFill/>
          <a:ln/>
        </p:spPr>
        <p:txBody>
          <a:bodyPr wrap="none" lIns="0" tIns="0" rIns="0" bIns="0" rtlCol="0" anchor="t"/>
          <a:lstStyle/>
          <a:p>
            <a:pPr algn="l" indent="0" marL="0">
              <a:lnSpc>
                <a:spcPts val="2500"/>
              </a:lnSpc>
              <a:buNone/>
            </a:pPr>
            <a:r>
              <a:rPr lang="en-US" sz="1550" dirty="0">
                <a:solidFill>
                  <a:srgbClr val="000000"/>
                </a:solidFill>
                <a:latin typeface="Inter" pitchFamily="34" charset="0"/>
                <a:ea typeface="Inter" pitchFamily="34" charset="-122"/>
                <a:cs typeface="Inter" pitchFamily="34" charset="-120"/>
              </a:rPr>
              <a:t>Receives raw image data</a:t>
            </a:r>
            <a:endParaRPr lang="en-US" sz="1550" dirty="0"/>
          </a:p>
        </p:txBody>
      </p:sp>
      <p:sp>
        <p:nvSpPr>
          <p:cNvPr id="7" name="Shape 3"/>
          <p:cNvSpPr/>
          <p:nvPr/>
        </p:nvSpPr>
        <p:spPr>
          <a:xfrm>
            <a:off x="4907042" y="2817495"/>
            <a:ext cx="8891588" cy="11430"/>
          </a:xfrm>
          <a:prstGeom prst="roundRect">
            <a:avLst>
              <a:gd name="adj" fmla="val 738514"/>
            </a:avLst>
          </a:prstGeom>
          <a:solidFill>
            <a:srgbClr val="B8D3DF"/>
          </a:solidFill>
          <a:ln/>
        </p:spPr>
      </p:sp>
      <p:pic>
        <p:nvPicPr>
          <p:cNvPr id="8" name="Image 2" descr="preencoded.png">    </p:cNvPr>
          <p:cNvPicPr>
            <a:picLocks noChangeAspect="1"/>
          </p:cNvPicPr>
          <p:nvPr/>
        </p:nvPicPr>
        <p:blipFill>
          <a:blip r:embed="rId3"/>
          <a:stretch>
            <a:fillRect/>
          </a:stretch>
        </p:blipFill>
        <p:spPr>
          <a:xfrm>
            <a:off x="2431256" y="2852142"/>
            <a:ext cx="3234095" cy="1157883"/>
          </a:xfrm>
          <a:prstGeom prst="rect">
            <a:avLst/>
          </a:prstGeom>
        </p:spPr>
      </p:pic>
      <p:pic>
        <p:nvPicPr>
          <p:cNvPr id="9" name="Image 3" descr="preencoded.png">    </p:cNvPr>
          <p:cNvPicPr>
            <a:picLocks noChangeAspect="1"/>
          </p:cNvPicPr>
          <p:nvPr/>
        </p:nvPicPr>
        <p:blipFill>
          <a:blip r:embed="rId4"/>
          <a:stretch>
            <a:fillRect/>
          </a:stretch>
        </p:blipFill>
        <p:spPr>
          <a:xfrm>
            <a:off x="3906917" y="3254454"/>
            <a:ext cx="282535" cy="353258"/>
          </a:xfrm>
          <a:prstGeom prst="rect">
            <a:avLst/>
          </a:prstGeom>
        </p:spPr>
      </p:pic>
      <p:sp>
        <p:nvSpPr>
          <p:cNvPr id="10" name="Text 4"/>
          <p:cNvSpPr/>
          <p:nvPr/>
        </p:nvSpPr>
        <p:spPr>
          <a:xfrm>
            <a:off x="5866328" y="3053120"/>
            <a:ext cx="2582466" cy="313968"/>
          </a:xfrm>
          <a:prstGeom prst="rect">
            <a:avLst/>
          </a:prstGeom>
          <a:noFill/>
          <a:ln/>
        </p:spPr>
        <p:txBody>
          <a:bodyPr wrap="none" lIns="0" tIns="0" rIns="0" bIns="0" rtlCol="0" anchor="t"/>
          <a:lstStyle/>
          <a:p>
            <a:pPr algn="l" indent="0" marL="0">
              <a:lnSpc>
                <a:spcPts val="2450"/>
              </a:lnSpc>
              <a:buNone/>
            </a:pPr>
            <a:r>
              <a:rPr lang="en-US" sz="1950" b="1" dirty="0">
                <a:solidFill>
                  <a:srgbClr val="000000"/>
                </a:solidFill>
                <a:latin typeface="Inter Bold" pitchFamily="34" charset="0"/>
                <a:ea typeface="Inter Bold" pitchFamily="34" charset="-122"/>
                <a:cs typeface="Inter Bold" pitchFamily="34" charset="-120"/>
              </a:rPr>
              <a:t>Convolutional Layers</a:t>
            </a:r>
            <a:endParaRPr lang="en-US" sz="1950" dirty="0"/>
          </a:p>
        </p:txBody>
      </p:sp>
      <p:sp>
        <p:nvSpPr>
          <p:cNvPr id="11" name="Text 5"/>
          <p:cNvSpPr/>
          <p:nvPr/>
        </p:nvSpPr>
        <p:spPr>
          <a:xfrm>
            <a:off x="5866328" y="3487579"/>
            <a:ext cx="2875955" cy="321469"/>
          </a:xfrm>
          <a:prstGeom prst="rect">
            <a:avLst/>
          </a:prstGeom>
          <a:noFill/>
          <a:ln/>
        </p:spPr>
        <p:txBody>
          <a:bodyPr wrap="none" lIns="0" tIns="0" rIns="0" bIns="0" rtlCol="0" anchor="t"/>
          <a:lstStyle/>
          <a:p>
            <a:pPr algn="l" indent="0" marL="0">
              <a:lnSpc>
                <a:spcPts val="2500"/>
              </a:lnSpc>
              <a:buNone/>
            </a:pPr>
            <a:r>
              <a:rPr lang="en-US" sz="1550" dirty="0">
                <a:solidFill>
                  <a:srgbClr val="000000"/>
                </a:solidFill>
                <a:latin typeface="Inter" pitchFamily="34" charset="0"/>
                <a:ea typeface="Inter" pitchFamily="34" charset="-122"/>
                <a:cs typeface="Inter" pitchFamily="34" charset="-120"/>
              </a:rPr>
              <a:t>Apply filters to detect features</a:t>
            </a:r>
            <a:endParaRPr lang="en-US" sz="1550" dirty="0"/>
          </a:p>
        </p:txBody>
      </p:sp>
      <p:sp>
        <p:nvSpPr>
          <p:cNvPr id="12" name="Shape 6"/>
          <p:cNvSpPr/>
          <p:nvPr/>
        </p:nvSpPr>
        <p:spPr>
          <a:xfrm>
            <a:off x="5715595" y="4025622"/>
            <a:ext cx="8083034" cy="11430"/>
          </a:xfrm>
          <a:prstGeom prst="roundRect">
            <a:avLst>
              <a:gd name="adj" fmla="val 738514"/>
            </a:avLst>
          </a:prstGeom>
          <a:solidFill>
            <a:srgbClr val="B8D3DF"/>
          </a:solidFill>
          <a:ln/>
        </p:spPr>
      </p:sp>
      <p:pic>
        <p:nvPicPr>
          <p:cNvPr id="13" name="Image 4" descr="preencoded.png">    </p:cNvPr>
          <p:cNvPicPr>
            <a:picLocks noChangeAspect="1"/>
          </p:cNvPicPr>
          <p:nvPr/>
        </p:nvPicPr>
        <p:blipFill>
          <a:blip r:embed="rId5"/>
          <a:stretch>
            <a:fillRect/>
          </a:stretch>
        </p:blipFill>
        <p:spPr>
          <a:xfrm>
            <a:off x="1622703" y="4060269"/>
            <a:ext cx="4851202" cy="1157883"/>
          </a:xfrm>
          <a:prstGeom prst="rect">
            <a:avLst/>
          </a:prstGeom>
        </p:spPr>
      </p:pic>
      <p:pic>
        <p:nvPicPr>
          <p:cNvPr id="14" name="Image 5" descr="preencoded.png">    </p:cNvPr>
          <p:cNvPicPr>
            <a:picLocks noChangeAspect="1"/>
          </p:cNvPicPr>
          <p:nvPr/>
        </p:nvPicPr>
        <p:blipFill>
          <a:blip r:embed="rId6"/>
          <a:stretch>
            <a:fillRect/>
          </a:stretch>
        </p:blipFill>
        <p:spPr>
          <a:xfrm>
            <a:off x="3907036" y="4462582"/>
            <a:ext cx="282535" cy="353258"/>
          </a:xfrm>
          <a:prstGeom prst="rect">
            <a:avLst/>
          </a:prstGeom>
        </p:spPr>
      </p:pic>
      <p:sp>
        <p:nvSpPr>
          <p:cNvPr id="15" name="Text 7"/>
          <p:cNvSpPr/>
          <p:nvPr/>
        </p:nvSpPr>
        <p:spPr>
          <a:xfrm>
            <a:off x="6674882" y="4261247"/>
            <a:ext cx="2512219" cy="313968"/>
          </a:xfrm>
          <a:prstGeom prst="rect">
            <a:avLst/>
          </a:prstGeom>
          <a:noFill/>
          <a:ln/>
        </p:spPr>
        <p:txBody>
          <a:bodyPr wrap="none" lIns="0" tIns="0" rIns="0" bIns="0" rtlCol="0" anchor="t"/>
          <a:lstStyle/>
          <a:p>
            <a:pPr algn="l" indent="0" marL="0">
              <a:lnSpc>
                <a:spcPts val="2450"/>
              </a:lnSpc>
              <a:buNone/>
            </a:pPr>
            <a:r>
              <a:rPr lang="en-US" sz="1950" b="1" dirty="0">
                <a:solidFill>
                  <a:srgbClr val="000000"/>
                </a:solidFill>
                <a:latin typeface="Inter Bold" pitchFamily="34" charset="0"/>
                <a:ea typeface="Inter Bold" pitchFamily="34" charset="-122"/>
                <a:cs typeface="Inter Bold" pitchFamily="34" charset="-120"/>
              </a:rPr>
              <a:t>Pooling Layers</a:t>
            </a:r>
            <a:endParaRPr lang="en-US" sz="1950" dirty="0"/>
          </a:p>
        </p:txBody>
      </p:sp>
      <p:sp>
        <p:nvSpPr>
          <p:cNvPr id="16" name="Text 8"/>
          <p:cNvSpPr/>
          <p:nvPr/>
        </p:nvSpPr>
        <p:spPr>
          <a:xfrm>
            <a:off x="6674882" y="4695706"/>
            <a:ext cx="4321612" cy="321469"/>
          </a:xfrm>
          <a:prstGeom prst="rect">
            <a:avLst/>
          </a:prstGeom>
          <a:noFill/>
          <a:ln/>
        </p:spPr>
        <p:txBody>
          <a:bodyPr wrap="none" lIns="0" tIns="0" rIns="0" bIns="0" rtlCol="0" anchor="t"/>
          <a:lstStyle/>
          <a:p>
            <a:pPr algn="l" indent="0" marL="0">
              <a:lnSpc>
                <a:spcPts val="2500"/>
              </a:lnSpc>
              <a:buNone/>
            </a:pPr>
            <a:r>
              <a:rPr lang="en-US" sz="1550" dirty="0">
                <a:solidFill>
                  <a:srgbClr val="000000"/>
                </a:solidFill>
                <a:latin typeface="Inter" pitchFamily="34" charset="0"/>
                <a:ea typeface="Inter" pitchFamily="34" charset="-122"/>
                <a:cs typeface="Inter" pitchFamily="34" charset="-120"/>
              </a:rPr>
              <a:t>Reduce dimensions while preserving features</a:t>
            </a:r>
            <a:endParaRPr lang="en-US" sz="1550" dirty="0"/>
          </a:p>
        </p:txBody>
      </p:sp>
      <p:sp>
        <p:nvSpPr>
          <p:cNvPr id="17" name="Shape 9"/>
          <p:cNvSpPr/>
          <p:nvPr/>
        </p:nvSpPr>
        <p:spPr>
          <a:xfrm>
            <a:off x="6524149" y="5233749"/>
            <a:ext cx="7274481" cy="11430"/>
          </a:xfrm>
          <a:prstGeom prst="roundRect">
            <a:avLst>
              <a:gd name="adj" fmla="val 738514"/>
            </a:avLst>
          </a:prstGeom>
          <a:solidFill>
            <a:srgbClr val="B8D3DF"/>
          </a:solidFill>
          <a:ln/>
        </p:spPr>
      </p:sp>
      <p:pic>
        <p:nvPicPr>
          <p:cNvPr id="18" name="Image 6" descr="preencoded.png">    </p:cNvPr>
          <p:cNvPicPr>
            <a:picLocks noChangeAspect="1"/>
          </p:cNvPicPr>
          <p:nvPr/>
        </p:nvPicPr>
        <p:blipFill>
          <a:blip r:embed="rId7"/>
          <a:stretch>
            <a:fillRect/>
          </a:stretch>
        </p:blipFill>
        <p:spPr>
          <a:xfrm>
            <a:off x="814149" y="5268397"/>
            <a:ext cx="6468308" cy="1157883"/>
          </a:xfrm>
          <a:prstGeom prst="rect">
            <a:avLst/>
          </a:prstGeom>
        </p:spPr>
      </p:pic>
      <p:pic>
        <p:nvPicPr>
          <p:cNvPr id="19" name="Image 7" descr="preencoded.png">    </p:cNvPr>
          <p:cNvPicPr>
            <a:picLocks noChangeAspect="1"/>
          </p:cNvPicPr>
          <p:nvPr/>
        </p:nvPicPr>
        <p:blipFill>
          <a:blip r:embed="rId8"/>
          <a:stretch>
            <a:fillRect/>
          </a:stretch>
        </p:blipFill>
        <p:spPr>
          <a:xfrm>
            <a:off x="3907036" y="5670709"/>
            <a:ext cx="282535" cy="353258"/>
          </a:xfrm>
          <a:prstGeom prst="rect">
            <a:avLst/>
          </a:prstGeom>
        </p:spPr>
      </p:pic>
      <p:sp>
        <p:nvSpPr>
          <p:cNvPr id="20" name="Text 10"/>
          <p:cNvSpPr/>
          <p:nvPr/>
        </p:nvSpPr>
        <p:spPr>
          <a:xfrm>
            <a:off x="7483435" y="5469374"/>
            <a:ext cx="2873812" cy="313968"/>
          </a:xfrm>
          <a:prstGeom prst="rect">
            <a:avLst/>
          </a:prstGeom>
          <a:noFill/>
          <a:ln/>
        </p:spPr>
        <p:txBody>
          <a:bodyPr wrap="none" lIns="0" tIns="0" rIns="0" bIns="0" rtlCol="0" anchor="t"/>
          <a:lstStyle/>
          <a:p>
            <a:pPr algn="l" indent="0" marL="0">
              <a:lnSpc>
                <a:spcPts val="2450"/>
              </a:lnSpc>
              <a:buNone/>
            </a:pPr>
            <a:r>
              <a:rPr lang="en-US" sz="1950" b="1" dirty="0">
                <a:solidFill>
                  <a:srgbClr val="000000"/>
                </a:solidFill>
                <a:latin typeface="Inter Bold" pitchFamily="34" charset="0"/>
                <a:ea typeface="Inter Bold" pitchFamily="34" charset="-122"/>
                <a:cs typeface="Inter Bold" pitchFamily="34" charset="-120"/>
              </a:rPr>
              <a:t>Fully Connected Layers</a:t>
            </a:r>
            <a:endParaRPr lang="en-US" sz="1950" dirty="0"/>
          </a:p>
        </p:txBody>
      </p:sp>
      <p:sp>
        <p:nvSpPr>
          <p:cNvPr id="21" name="Text 11"/>
          <p:cNvSpPr/>
          <p:nvPr/>
        </p:nvSpPr>
        <p:spPr>
          <a:xfrm>
            <a:off x="7483435" y="5903833"/>
            <a:ext cx="3484126" cy="321469"/>
          </a:xfrm>
          <a:prstGeom prst="rect">
            <a:avLst/>
          </a:prstGeom>
          <a:noFill/>
          <a:ln/>
        </p:spPr>
        <p:txBody>
          <a:bodyPr wrap="none" lIns="0" tIns="0" rIns="0" bIns="0" rtlCol="0" anchor="t"/>
          <a:lstStyle/>
          <a:p>
            <a:pPr algn="l" indent="0" marL="0">
              <a:lnSpc>
                <a:spcPts val="2500"/>
              </a:lnSpc>
              <a:buNone/>
            </a:pPr>
            <a:r>
              <a:rPr lang="en-US" sz="1550" dirty="0">
                <a:solidFill>
                  <a:srgbClr val="000000"/>
                </a:solidFill>
                <a:latin typeface="Inter" pitchFamily="34" charset="0"/>
                <a:ea typeface="Inter" pitchFamily="34" charset="-122"/>
                <a:cs typeface="Inter" pitchFamily="34" charset="-120"/>
              </a:rPr>
              <a:t>Classify based on extracted features</a:t>
            </a:r>
            <a:endParaRPr lang="en-US" sz="1550" dirty="0"/>
          </a:p>
        </p:txBody>
      </p:sp>
      <p:sp>
        <p:nvSpPr>
          <p:cNvPr id="22" name="Text 12"/>
          <p:cNvSpPr/>
          <p:nvPr/>
        </p:nvSpPr>
        <p:spPr>
          <a:xfrm>
            <a:off x="781526" y="6652379"/>
            <a:ext cx="13067348" cy="964406"/>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Inter" pitchFamily="34" charset="0"/>
                <a:ea typeface="Inter" pitchFamily="34" charset="-122"/>
                <a:cs typeface="Inter" pitchFamily="34" charset="-120"/>
              </a:rPr>
              <a:t>Convolutional Neural Networks (CNNs) are similar to feedforward networks but include convolutional layers that use a convolution operation on input data. CNNs excel at processing grid-like data such as images, making them particularly valuable for computer vision applications and image recognition tasks.</a:t>
            </a:r>
            <a:endParaRPr lang="en-US" sz="1550" dirty="0"/>
          </a:p>
        </p:txBody>
      </p:sp>
      <p:pic>
        <p:nvPicPr>
          <p:cNvPr id="23" name="Image 8" descr="preencoded.png">    </p:cNvPr>
          <p:cNvPicPr>
            <a:picLocks noChangeAspect="1"/>
          </p:cNvPicPr>
          <p:nvPr/>
        </p:nvPicPr>
        <p:blipFill>
          <a:blip r:embed="rId9"/>
          <a:stretch>
            <a:fillRect/>
          </a:stretch>
        </p:blipFill>
        <p:spPr>
          <a:xfrm>
            <a:off x="13700760" y="228600"/>
            <a:ext cx="701040" cy="66413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85098" y="616863"/>
            <a:ext cx="10150912" cy="700921"/>
          </a:xfrm>
          <a:prstGeom prst="rect">
            <a:avLst/>
          </a:prstGeom>
          <a:noFill/>
          <a:ln/>
        </p:spPr>
        <p:txBody>
          <a:bodyPr wrap="none" lIns="0" tIns="0" rIns="0" bIns="0" rtlCol="0" anchor="t"/>
          <a:lstStyle/>
          <a:p>
            <a:pPr algn="l" indent="0" marL="0">
              <a:lnSpc>
                <a:spcPts val="5500"/>
              </a:lnSpc>
              <a:buNone/>
            </a:pPr>
            <a:r>
              <a:rPr lang="en-US" sz="4400" b="1" dirty="0">
                <a:solidFill>
                  <a:srgbClr val="000000"/>
                </a:solidFill>
                <a:latin typeface="Inter Bold" pitchFamily="34" charset="0"/>
                <a:ea typeface="Inter Bold" pitchFamily="34" charset="-122"/>
                <a:cs typeface="Inter Bold" pitchFamily="34" charset="-120"/>
              </a:rPr>
              <a:t>Types of Neural Networks: Recurrent</a:t>
            </a:r>
            <a:endParaRPr lang="en-US" sz="4400" dirty="0"/>
          </a:p>
        </p:txBody>
      </p:sp>
      <p:sp>
        <p:nvSpPr>
          <p:cNvPr id="3" name="Text 1"/>
          <p:cNvSpPr/>
          <p:nvPr/>
        </p:nvSpPr>
        <p:spPr>
          <a:xfrm>
            <a:off x="1889046" y="2403158"/>
            <a:ext cx="2804160" cy="350401"/>
          </a:xfrm>
          <a:prstGeom prst="rect">
            <a:avLst/>
          </a:prstGeom>
          <a:noFill/>
          <a:ln/>
        </p:spPr>
        <p:txBody>
          <a:bodyPr wrap="none" lIns="0" tIns="0" rIns="0" bIns="0" rtlCol="0" anchor="t"/>
          <a:lstStyle/>
          <a:p>
            <a:pPr algn="r"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Input Processing</a:t>
            </a:r>
            <a:endParaRPr lang="en-US" sz="2200" dirty="0"/>
          </a:p>
        </p:txBody>
      </p:sp>
      <p:sp>
        <p:nvSpPr>
          <p:cNvPr id="4" name="Text 2"/>
          <p:cNvSpPr/>
          <p:nvPr/>
        </p:nvSpPr>
        <p:spPr>
          <a:xfrm>
            <a:off x="785098" y="2888099"/>
            <a:ext cx="3908107" cy="358854"/>
          </a:xfrm>
          <a:prstGeom prst="rect">
            <a:avLst/>
          </a:prstGeom>
          <a:noFill/>
          <a:ln/>
        </p:spPr>
        <p:txBody>
          <a:bodyPr wrap="none" lIns="0" tIns="0" rIns="0" bIns="0" rtlCol="0" anchor="t"/>
          <a:lstStyle/>
          <a:p>
            <a:pPr algn="r" indent="0" marL="0">
              <a:lnSpc>
                <a:spcPts val="2800"/>
              </a:lnSpc>
              <a:buNone/>
            </a:pPr>
            <a:r>
              <a:rPr lang="en-US" sz="1750" dirty="0">
                <a:solidFill>
                  <a:srgbClr val="000000"/>
                </a:solidFill>
                <a:latin typeface="Inter" pitchFamily="34" charset="0"/>
                <a:ea typeface="Inter" pitchFamily="34" charset="-122"/>
                <a:cs typeface="Inter" pitchFamily="34" charset="-120"/>
              </a:rPr>
              <a:t>Receives sequential data input</a:t>
            </a:r>
            <a:endParaRPr lang="en-US" sz="1750" dirty="0"/>
          </a:p>
        </p:txBody>
      </p:sp>
      <p:pic>
        <p:nvPicPr>
          <p:cNvPr id="5" name="Image 0" descr="preencoded.png">    </p:cNvPr>
          <p:cNvPicPr>
            <a:picLocks noChangeAspect="1"/>
          </p:cNvPicPr>
          <p:nvPr/>
        </p:nvPicPr>
        <p:blipFill>
          <a:blip r:embed="rId1"/>
          <a:stretch>
            <a:fillRect/>
          </a:stretch>
        </p:blipFill>
        <p:spPr>
          <a:xfrm>
            <a:off x="5029676" y="1766411"/>
            <a:ext cx="4571048" cy="4571048"/>
          </a:xfrm>
          <a:prstGeom prst="rect">
            <a:avLst/>
          </a:prstGeom>
        </p:spPr>
      </p:pic>
      <p:pic>
        <p:nvPicPr>
          <p:cNvPr id="6" name="Image 1" descr="preencoded.png">    </p:cNvPr>
          <p:cNvPicPr>
            <a:picLocks noChangeAspect="1"/>
          </p:cNvPicPr>
          <p:nvPr/>
        </p:nvPicPr>
        <p:blipFill>
          <a:blip r:embed="rId2"/>
          <a:stretch>
            <a:fillRect/>
          </a:stretch>
        </p:blipFill>
        <p:spPr>
          <a:xfrm>
            <a:off x="6227326" y="2533174"/>
            <a:ext cx="335637" cy="419576"/>
          </a:xfrm>
          <a:prstGeom prst="rect">
            <a:avLst/>
          </a:prstGeom>
        </p:spPr>
      </p:pic>
      <p:sp>
        <p:nvSpPr>
          <p:cNvPr id="7" name="Text 3"/>
          <p:cNvSpPr/>
          <p:nvPr/>
        </p:nvSpPr>
        <p:spPr>
          <a:xfrm>
            <a:off x="9937194" y="2223730"/>
            <a:ext cx="2804160" cy="350401"/>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Memory Storage</a:t>
            </a:r>
            <a:endParaRPr lang="en-US" sz="2200" dirty="0"/>
          </a:p>
        </p:txBody>
      </p:sp>
      <p:sp>
        <p:nvSpPr>
          <p:cNvPr id="8" name="Text 4"/>
          <p:cNvSpPr/>
          <p:nvPr/>
        </p:nvSpPr>
        <p:spPr>
          <a:xfrm>
            <a:off x="9937194" y="2708672"/>
            <a:ext cx="3908107" cy="717709"/>
          </a:xfrm>
          <a:prstGeom prst="rect">
            <a:avLst/>
          </a:prstGeom>
          <a:noFill/>
          <a:ln/>
        </p:spPr>
        <p:txBody>
          <a:bodyPr wrap="square" lIns="0" tIns="0" rIns="0" bIns="0" rtlCol="0" anchor="t"/>
          <a:lstStyle/>
          <a:p>
            <a:pPr algn="l" indent="0" marL="0">
              <a:lnSpc>
                <a:spcPts val="2800"/>
              </a:lnSpc>
              <a:buNone/>
            </a:pPr>
            <a:r>
              <a:rPr lang="en-US" sz="1750" dirty="0">
                <a:solidFill>
                  <a:srgbClr val="000000"/>
                </a:solidFill>
                <a:latin typeface="Inter" pitchFamily="34" charset="0"/>
                <a:ea typeface="Inter" pitchFamily="34" charset="-122"/>
                <a:cs typeface="Inter" pitchFamily="34" charset="-120"/>
              </a:rPr>
              <a:t>Retains information from previous steps</a:t>
            </a:r>
            <a:endParaRPr lang="en-US" sz="1750" dirty="0"/>
          </a:p>
        </p:txBody>
      </p:sp>
      <p:pic>
        <p:nvPicPr>
          <p:cNvPr id="9" name="Image 2" descr="preencoded.png">    </p:cNvPr>
          <p:cNvPicPr>
            <a:picLocks noChangeAspect="1"/>
          </p:cNvPicPr>
          <p:nvPr/>
        </p:nvPicPr>
        <p:blipFill>
          <a:blip r:embed="rId3"/>
          <a:stretch>
            <a:fillRect/>
          </a:stretch>
        </p:blipFill>
        <p:spPr>
          <a:xfrm>
            <a:off x="5029676" y="1766411"/>
            <a:ext cx="4571048" cy="4571048"/>
          </a:xfrm>
          <a:prstGeom prst="rect">
            <a:avLst/>
          </a:prstGeom>
        </p:spPr>
      </p:pic>
      <p:pic>
        <p:nvPicPr>
          <p:cNvPr id="10" name="Image 3" descr="preencoded.png">    </p:cNvPr>
          <p:cNvPicPr>
            <a:picLocks noChangeAspect="1"/>
          </p:cNvPicPr>
          <p:nvPr/>
        </p:nvPicPr>
        <p:blipFill>
          <a:blip r:embed="rId4"/>
          <a:stretch>
            <a:fillRect/>
          </a:stretch>
        </p:blipFill>
        <p:spPr>
          <a:xfrm>
            <a:off x="8456176" y="2922151"/>
            <a:ext cx="335637" cy="419576"/>
          </a:xfrm>
          <a:prstGeom prst="rect">
            <a:avLst/>
          </a:prstGeom>
        </p:spPr>
      </p:pic>
      <p:sp>
        <p:nvSpPr>
          <p:cNvPr id="11" name="Text 5"/>
          <p:cNvSpPr/>
          <p:nvPr/>
        </p:nvSpPr>
        <p:spPr>
          <a:xfrm>
            <a:off x="9937194" y="4677489"/>
            <a:ext cx="2804160" cy="350401"/>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Computation</a:t>
            </a:r>
            <a:endParaRPr lang="en-US" sz="2200" dirty="0"/>
          </a:p>
        </p:txBody>
      </p:sp>
      <p:sp>
        <p:nvSpPr>
          <p:cNvPr id="12" name="Text 6"/>
          <p:cNvSpPr/>
          <p:nvPr/>
        </p:nvSpPr>
        <p:spPr>
          <a:xfrm>
            <a:off x="9937194" y="5162431"/>
            <a:ext cx="3908107" cy="717709"/>
          </a:xfrm>
          <a:prstGeom prst="rect">
            <a:avLst/>
          </a:prstGeom>
          <a:noFill/>
          <a:ln/>
        </p:spPr>
        <p:txBody>
          <a:bodyPr wrap="square" lIns="0" tIns="0" rIns="0" bIns="0" rtlCol="0" anchor="t"/>
          <a:lstStyle/>
          <a:p>
            <a:pPr algn="l" indent="0" marL="0">
              <a:lnSpc>
                <a:spcPts val="2800"/>
              </a:lnSpc>
              <a:buNone/>
            </a:pPr>
            <a:r>
              <a:rPr lang="en-US" sz="1750" dirty="0">
                <a:solidFill>
                  <a:srgbClr val="000000"/>
                </a:solidFill>
                <a:latin typeface="Inter" pitchFamily="34" charset="0"/>
                <a:ea typeface="Inter" pitchFamily="34" charset="-122"/>
                <a:cs typeface="Inter" pitchFamily="34" charset="-120"/>
              </a:rPr>
              <a:t>Processes current input with stored memory</a:t>
            </a:r>
            <a:endParaRPr lang="en-US" sz="1750" dirty="0"/>
          </a:p>
        </p:txBody>
      </p:sp>
      <p:pic>
        <p:nvPicPr>
          <p:cNvPr id="13" name="Image 4" descr="preencoded.png">    </p:cNvPr>
          <p:cNvPicPr>
            <a:picLocks noChangeAspect="1"/>
          </p:cNvPicPr>
          <p:nvPr/>
        </p:nvPicPr>
        <p:blipFill>
          <a:blip r:embed="rId5"/>
          <a:stretch>
            <a:fillRect/>
          </a:stretch>
        </p:blipFill>
        <p:spPr>
          <a:xfrm>
            <a:off x="5029676" y="1766411"/>
            <a:ext cx="4571048" cy="4571048"/>
          </a:xfrm>
          <a:prstGeom prst="rect">
            <a:avLst/>
          </a:prstGeom>
        </p:spPr>
      </p:pic>
      <p:pic>
        <p:nvPicPr>
          <p:cNvPr id="14" name="Image 5" descr="preencoded.png">    </p:cNvPr>
          <p:cNvPicPr>
            <a:picLocks noChangeAspect="1"/>
          </p:cNvPicPr>
          <p:nvPr/>
        </p:nvPicPr>
        <p:blipFill>
          <a:blip r:embed="rId6"/>
          <a:stretch>
            <a:fillRect/>
          </a:stretch>
        </p:blipFill>
        <p:spPr>
          <a:xfrm>
            <a:off x="8067199" y="5151001"/>
            <a:ext cx="335637" cy="419576"/>
          </a:xfrm>
          <a:prstGeom prst="rect">
            <a:avLst/>
          </a:prstGeom>
        </p:spPr>
      </p:pic>
      <p:sp>
        <p:nvSpPr>
          <p:cNvPr id="15" name="Text 7"/>
          <p:cNvSpPr/>
          <p:nvPr/>
        </p:nvSpPr>
        <p:spPr>
          <a:xfrm>
            <a:off x="1889046" y="4677489"/>
            <a:ext cx="2804160" cy="350401"/>
          </a:xfrm>
          <a:prstGeom prst="rect">
            <a:avLst/>
          </a:prstGeom>
          <a:noFill/>
          <a:ln/>
        </p:spPr>
        <p:txBody>
          <a:bodyPr wrap="none" lIns="0" tIns="0" rIns="0" bIns="0" rtlCol="0" anchor="t"/>
          <a:lstStyle/>
          <a:p>
            <a:pPr algn="r"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Output Generation</a:t>
            </a:r>
            <a:endParaRPr lang="en-US" sz="2200" dirty="0"/>
          </a:p>
        </p:txBody>
      </p:sp>
      <p:sp>
        <p:nvSpPr>
          <p:cNvPr id="16" name="Text 8"/>
          <p:cNvSpPr/>
          <p:nvPr/>
        </p:nvSpPr>
        <p:spPr>
          <a:xfrm>
            <a:off x="785098" y="5162431"/>
            <a:ext cx="3908107" cy="717709"/>
          </a:xfrm>
          <a:prstGeom prst="rect">
            <a:avLst/>
          </a:prstGeom>
          <a:noFill/>
          <a:ln/>
        </p:spPr>
        <p:txBody>
          <a:bodyPr wrap="square" lIns="0" tIns="0" rIns="0" bIns="0" rtlCol="0" anchor="t"/>
          <a:lstStyle/>
          <a:p>
            <a:pPr algn="r" indent="0" marL="0">
              <a:lnSpc>
                <a:spcPts val="2800"/>
              </a:lnSpc>
              <a:buNone/>
            </a:pPr>
            <a:r>
              <a:rPr lang="en-US" sz="1750" dirty="0">
                <a:solidFill>
                  <a:srgbClr val="000000"/>
                </a:solidFill>
                <a:latin typeface="Inter" pitchFamily="34" charset="0"/>
                <a:ea typeface="Inter" pitchFamily="34" charset="-122"/>
                <a:cs typeface="Inter" pitchFamily="34" charset="-120"/>
              </a:rPr>
              <a:t>Produces output that feeds back into the system</a:t>
            </a:r>
            <a:endParaRPr lang="en-US" sz="1750" dirty="0"/>
          </a:p>
        </p:txBody>
      </p:sp>
      <p:pic>
        <p:nvPicPr>
          <p:cNvPr id="17" name="Image 6" descr="preencoded.png">    </p:cNvPr>
          <p:cNvPicPr>
            <a:picLocks noChangeAspect="1"/>
          </p:cNvPicPr>
          <p:nvPr/>
        </p:nvPicPr>
        <p:blipFill>
          <a:blip r:embed="rId7"/>
          <a:stretch>
            <a:fillRect/>
          </a:stretch>
        </p:blipFill>
        <p:spPr>
          <a:xfrm>
            <a:off x="5029676" y="1766411"/>
            <a:ext cx="4571048" cy="4571048"/>
          </a:xfrm>
          <a:prstGeom prst="rect">
            <a:avLst/>
          </a:prstGeom>
        </p:spPr>
      </p:pic>
      <p:pic>
        <p:nvPicPr>
          <p:cNvPr id="18" name="Image 7" descr="preencoded.png">    </p:cNvPr>
          <p:cNvPicPr>
            <a:picLocks noChangeAspect="1"/>
          </p:cNvPicPr>
          <p:nvPr/>
        </p:nvPicPr>
        <p:blipFill>
          <a:blip r:embed="rId8"/>
          <a:stretch>
            <a:fillRect/>
          </a:stretch>
        </p:blipFill>
        <p:spPr>
          <a:xfrm>
            <a:off x="5838349" y="4762024"/>
            <a:ext cx="335637" cy="419576"/>
          </a:xfrm>
          <a:prstGeom prst="rect">
            <a:avLst/>
          </a:prstGeom>
        </p:spPr>
      </p:pic>
      <p:sp>
        <p:nvSpPr>
          <p:cNvPr id="19" name="Text 9"/>
          <p:cNvSpPr/>
          <p:nvPr/>
        </p:nvSpPr>
        <p:spPr>
          <a:xfrm>
            <a:off x="785098" y="6589752"/>
            <a:ext cx="13060204" cy="1076563"/>
          </a:xfrm>
          <a:prstGeom prst="rect">
            <a:avLst/>
          </a:prstGeom>
          <a:noFill/>
          <a:ln/>
        </p:spPr>
        <p:txBody>
          <a:bodyPr wrap="square" lIns="0" tIns="0" rIns="0" bIns="0" rtlCol="0" anchor="t"/>
          <a:lstStyle/>
          <a:p>
            <a:pPr algn="l" indent="0" marL="0">
              <a:lnSpc>
                <a:spcPts val="2800"/>
              </a:lnSpc>
              <a:buNone/>
            </a:pPr>
            <a:r>
              <a:rPr lang="en-US" sz="1750" dirty="0">
                <a:solidFill>
                  <a:srgbClr val="000000"/>
                </a:solidFill>
                <a:latin typeface="Inter" pitchFamily="34" charset="0"/>
                <a:ea typeface="Inter" pitchFamily="34" charset="-122"/>
                <a:cs typeface="Inter" pitchFamily="34" charset="-120"/>
              </a:rPr>
              <a:t>Recurrent Neural Networks (RNNs) save the output of a layer and feed this back to the input to better predict outcomes. This creates a form of memory that allows RNNs to excel at processing sequential data like text, speech, or time series data where context matters.</a:t>
            </a:r>
            <a:endParaRPr lang="en-US" sz="1750" dirty="0"/>
          </a:p>
        </p:txBody>
      </p:sp>
      <p:pic>
        <p:nvPicPr>
          <p:cNvPr id="20" name="Image 8" descr="preencoded.png">    </p:cNvPr>
          <p:cNvPicPr>
            <a:picLocks noChangeAspect="1"/>
          </p:cNvPicPr>
          <p:nvPr/>
        </p:nvPicPr>
        <p:blipFill>
          <a:blip r:embed="rId9"/>
          <a:stretch>
            <a:fillRect/>
          </a:stretch>
        </p:blipFill>
        <p:spPr>
          <a:xfrm>
            <a:off x="13700760" y="228600"/>
            <a:ext cx="701040" cy="66413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1995607"/>
            <a:ext cx="7875746" cy="708779"/>
          </a:xfrm>
          <a:prstGeom prst="rect">
            <a:avLst/>
          </a:prstGeom>
          <a:noFill/>
          <a:ln/>
        </p:spPr>
        <p:txBody>
          <a:bodyPr wrap="none" lIns="0" tIns="0" rIns="0" bIns="0" rtlCol="0" anchor="t"/>
          <a:lstStyle/>
          <a:p>
            <a:pPr algn="l" indent="0" marL="0">
              <a:lnSpc>
                <a:spcPts val="5550"/>
              </a:lnSpc>
              <a:buNone/>
            </a:pPr>
            <a:r>
              <a:rPr lang="en-US" sz="4450" b="1" dirty="0">
                <a:solidFill>
                  <a:srgbClr val="000000"/>
                </a:solidFill>
                <a:latin typeface="Inter Bold" pitchFamily="34" charset="0"/>
                <a:ea typeface="Inter Bold" pitchFamily="34" charset="-122"/>
                <a:cs typeface="Inter Bold" pitchFamily="34" charset="-120"/>
              </a:rPr>
              <a:t>Other Neural Network Types</a:t>
            </a:r>
            <a:endParaRPr lang="en-US" sz="4450" dirty="0"/>
          </a:p>
        </p:txBody>
      </p:sp>
      <p:sp>
        <p:nvSpPr>
          <p:cNvPr id="3" name="Text 1"/>
          <p:cNvSpPr/>
          <p:nvPr/>
        </p:nvSpPr>
        <p:spPr>
          <a:xfrm>
            <a:off x="793790" y="3271361"/>
            <a:ext cx="3387090"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Modular Neural Network</a:t>
            </a:r>
            <a:endParaRPr lang="en-US" sz="2200" dirty="0"/>
          </a:p>
        </p:txBody>
      </p:sp>
      <p:sp>
        <p:nvSpPr>
          <p:cNvPr id="4" name="Text 2"/>
          <p:cNvSpPr/>
          <p:nvPr/>
        </p:nvSpPr>
        <p:spPr>
          <a:xfrm>
            <a:off x="793790" y="3852505"/>
            <a:ext cx="6244709" cy="1814513"/>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Contains a collection of different neural networks working independently toward obtaining output with no interaction between them. Each network performs a different sub-task by obtaining unique inputs, breaking down complex computational processes into smaller components.</a:t>
            </a:r>
            <a:endParaRPr lang="en-US" sz="1750" dirty="0"/>
          </a:p>
        </p:txBody>
      </p:sp>
      <p:sp>
        <p:nvSpPr>
          <p:cNvPr id="5" name="Text 3"/>
          <p:cNvSpPr/>
          <p:nvPr/>
        </p:nvSpPr>
        <p:spPr>
          <a:xfrm>
            <a:off x="7599521" y="3271361"/>
            <a:ext cx="4189809"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Radial Basis Function Network</a:t>
            </a:r>
            <a:endParaRPr lang="en-US" sz="2200" dirty="0"/>
          </a:p>
        </p:txBody>
      </p:sp>
      <p:sp>
        <p:nvSpPr>
          <p:cNvPr id="6" name="Text 4"/>
          <p:cNvSpPr/>
          <p:nvPr/>
        </p:nvSpPr>
        <p:spPr>
          <a:xfrm>
            <a:off x="7599521" y="3852505"/>
            <a:ext cx="6244709" cy="2177415"/>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Uses radial basis functions that consider the distance of a point concerning the center. These networks have two layers: the first maps input into all radial basis functions in the hidden layer, and the output layer computes the final result. They excel at modeling data with underlying trends.</a:t>
            </a:r>
            <a:endParaRPr lang="en-US" sz="1750" dirty="0"/>
          </a:p>
        </p:txBody>
      </p:sp>
      <p:pic>
        <p:nvPicPr>
          <p:cNvPr id="7" name="Image 0" descr="preencoded.png">    </p:cNvPr>
          <p:cNvPicPr>
            <a:picLocks noChangeAspect="1"/>
          </p:cNvPicPr>
          <p:nvPr/>
        </p:nvPicPr>
        <p:blipFill>
          <a:blip r:embed="rId1"/>
          <a:stretch>
            <a:fillRect/>
          </a:stretch>
        </p:blipFill>
        <p:spPr>
          <a:xfrm>
            <a:off x="13700760" y="228600"/>
            <a:ext cx="701040" cy="66413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784503"/>
            <a:ext cx="7028855" cy="708779"/>
          </a:xfrm>
          <a:prstGeom prst="rect">
            <a:avLst/>
          </a:prstGeom>
          <a:noFill/>
          <a:ln/>
        </p:spPr>
        <p:txBody>
          <a:bodyPr wrap="none" lIns="0" tIns="0" rIns="0" bIns="0" rtlCol="0" anchor="t"/>
          <a:lstStyle/>
          <a:p>
            <a:pPr algn="l" indent="0" marL="0">
              <a:lnSpc>
                <a:spcPts val="5550"/>
              </a:lnSpc>
              <a:buNone/>
            </a:pPr>
            <a:r>
              <a:rPr lang="en-US" sz="4450" b="1" dirty="0">
                <a:solidFill>
                  <a:srgbClr val="000000"/>
                </a:solidFill>
                <a:latin typeface="Inter Bold" pitchFamily="34" charset="0"/>
                <a:ea typeface="Inter Bold" pitchFamily="34" charset="-122"/>
                <a:cs typeface="Inter Bold" pitchFamily="34" charset="-120"/>
              </a:rPr>
              <a:t>Application: Social Media</a:t>
            </a:r>
            <a:endParaRPr lang="en-US" sz="4450" dirty="0"/>
          </a:p>
        </p:txBody>
      </p:sp>
      <p:pic>
        <p:nvPicPr>
          <p:cNvPr id="3" name="Image 0" descr="preencoded.png">    </p:cNvPr>
          <p:cNvPicPr>
            <a:picLocks noChangeAspect="1"/>
          </p:cNvPicPr>
          <p:nvPr/>
        </p:nvPicPr>
        <p:blipFill>
          <a:blip r:embed="rId1"/>
          <a:stretch>
            <a:fillRect/>
          </a:stretch>
        </p:blipFill>
        <p:spPr>
          <a:xfrm>
            <a:off x="793790" y="1946910"/>
            <a:ext cx="4120753" cy="2546747"/>
          </a:xfrm>
          <a:prstGeom prst="rect">
            <a:avLst/>
          </a:prstGeom>
        </p:spPr>
      </p:pic>
      <p:sp>
        <p:nvSpPr>
          <p:cNvPr id="4" name="Text 1"/>
          <p:cNvSpPr/>
          <p:nvPr/>
        </p:nvSpPr>
        <p:spPr>
          <a:xfrm>
            <a:off x="793790" y="4777145"/>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Friend Suggestions</a:t>
            </a:r>
            <a:endParaRPr lang="en-US" sz="2200" dirty="0"/>
          </a:p>
        </p:txBody>
      </p:sp>
      <p:sp>
        <p:nvSpPr>
          <p:cNvPr id="5" name="Text 2"/>
          <p:cNvSpPr/>
          <p:nvPr/>
        </p:nvSpPr>
        <p:spPr>
          <a:xfrm>
            <a:off x="793790" y="5267563"/>
            <a:ext cx="4120753" cy="2177415"/>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Facebook's "People You May Know" feature uses neural networks to analyze your profile, interests, current friends, and their connections to suggest potential contacts you might know in real life.</a:t>
            </a:r>
            <a:endParaRPr lang="en-US" sz="1750" dirty="0"/>
          </a:p>
        </p:txBody>
      </p:sp>
      <p:pic>
        <p:nvPicPr>
          <p:cNvPr id="6" name="Image 1" descr="preencoded.png">    </p:cNvPr>
          <p:cNvPicPr>
            <a:picLocks noChangeAspect="1"/>
          </p:cNvPicPr>
          <p:nvPr/>
        </p:nvPicPr>
        <p:blipFill>
          <a:blip r:embed="rId2"/>
          <a:stretch>
            <a:fillRect/>
          </a:stretch>
        </p:blipFill>
        <p:spPr>
          <a:xfrm>
            <a:off x="5254704" y="1946910"/>
            <a:ext cx="4120872" cy="2546866"/>
          </a:xfrm>
          <a:prstGeom prst="rect">
            <a:avLst/>
          </a:prstGeom>
        </p:spPr>
      </p:pic>
      <p:sp>
        <p:nvSpPr>
          <p:cNvPr id="7" name="Text 3"/>
          <p:cNvSpPr/>
          <p:nvPr/>
        </p:nvSpPr>
        <p:spPr>
          <a:xfrm>
            <a:off x="5254704" y="4777264"/>
            <a:ext cx="3763923"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Content Recommendations</a:t>
            </a:r>
            <a:endParaRPr lang="en-US" sz="2200" dirty="0"/>
          </a:p>
        </p:txBody>
      </p:sp>
      <p:sp>
        <p:nvSpPr>
          <p:cNvPr id="8" name="Text 4"/>
          <p:cNvSpPr/>
          <p:nvPr/>
        </p:nvSpPr>
        <p:spPr>
          <a:xfrm>
            <a:off x="5254704" y="5267682"/>
            <a:ext cx="4120872" cy="2177415"/>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Neural networks analyze your browsing history, likes, and engagement patterns to recommend content that matches your interests, keeping you engaged on the platform longer.</a:t>
            </a:r>
            <a:endParaRPr lang="en-US" sz="1750" dirty="0"/>
          </a:p>
        </p:txBody>
      </p:sp>
      <p:pic>
        <p:nvPicPr>
          <p:cNvPr id="9" name="Image 2" descr="preencoded.png">    </p:cNvPr>
          <p:cNvPicPr>
            <a:picLocks noChangeAspect="1"/>
          </p:cNvPicPr>
          <p:nvPr/>
        </p:nvPicPr>
        <p:blipFill>
          <a:blip r:embed="rId3"/>
          <a:stretch>
            <a:fillRect/>
          </a:stretch>
        </p:blipFill>
        <p:spPr>
          <a:xfrm>
            <a:off x="9715738" y="1946910"/>
            <a:ext cx="4120753" cy="2546747"/>
          </a:xfrm>
          <a:prstGeom prst="rect">
            <a:avLst/>
          </a:prstGeom>
        </p:spPr>
      </p:pic>
      <p:sp>
        <p:nvSpPr>
          <p:cNvPr id="10" name="Text 5"/>
          <p:cNvSpPr/>
          <p:nvPr/>
        </p:nvSpPr>
        <p:spPr>
          <a:xfrm>
            <a:off x="9715738" y="4777145"/>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Facial Recognition</a:t>
            </a:r>
            <a:endParaRPr lang="en-US" sz="2200" dirty="0"/>
          </a:p>
        </p:txBody>
      </p:sp>
      <p:sp>
        <p:nvSpPr>
          <p:cNvPr id="11" name="Text 6"/>
          <p:cNvSpPr/>
          <p:nvPr/>
        </p:nvSpPr>
        <p:spPr>
          <a:xfrm>
            <a:off x="9715738" y="5267563"/>
            <a:ext cx="4120753" cy="1451610"/>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Social platforms use neural networks for facial recognition to suggest tags for people in your photos, enhancing the social connection experience.</a:t>
            </a:r>
            <a:endParaRPr lang="en-US" sz="1750" dirty="0"/>
          </a:p>
        </p:txBody>
      </p:sp>
      <p:pic>
        <p:nvPicPr>
          <p:cNvPr id="12" name="Image 3" descr="preencoded.png">    </p:cNvPr>
          <p:cNvPicPr>
            <a:picLocks noChangeAspect="1"/>
          </p:cNvPicPr>
          <p:nvPr/>
        </p:nvPicPr>
        <p:blipFill>
          <a:blip r:embed="rId4"/>
          <a:stretch>
            <a:fillRect/>
          </a:stretch>
        </p:blipFill>
        <p:spPr>
          <a:xfrm>
            <a:off x="13700760" y="228600"/>
            <a:ext cx="701040" cy="66413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93790" y="973812"/>
            <a:ext cx="9140309" cy="708779"/>
          </a:xfrm>
          <a:prstGeom prst="rect">
            <a:avLst/>
          </a:prstGeom>
          <a:noFill/>
          <a:ln/>
        </p:spPr>
        <p:txBody>
          <a:bodyPr wrap="none" lIns="0" tIns="0" rIns="0" bIns="0" rtlCol="0" anchor="t"/>
          <a:lstStyle/>
          <a:p>
            <a:pPr algn="l" indent="0" marL="0">
              <a:lnSpc>
                <a:spcPts val="5550"/>
              </a:lnSpc>
              <a:buNone/>
            </a:pPr>
            <a:r>
              <a:rPr lang="en-US" sz="4450" b="1" dirty="0">
                <a:solidFill>
                  <a:srgbClr val="000000"/>
                </a:solidFill>
                <a:latin typeface="Inter Bold" pitchFamily="34" charset="0"/>
                <a:ea typeface="Inter Bold" pitchFamily="34" charset="-122"/>
                <a:cs typeface="Inter Bold" pitchFamily="34" charset="-120"/>
              </a:rPr>
              <a:t>Application: Marketing and Sales</a:t>
            </a:r>
            <a:endParaRPr lang="en-US" sz="4450" dirty="0"/>
          </a:p>
        </p:txBody>
      </p:sp>
      <p:pic>
        <p:nvPicPr>
          <p:cNvPr id="3" name="Image 0" descr="preencoded.png">    </p:cNvPr>
          <p:cNvPicPr>
            <a:picLocks noChangeAspect="1"/>
          </p:cNvPicPr>
          <p:nvPr/>
        </p:nvPicPr>
        <p:blipFill>
          <a:blip r:embed="rId1"/>
          <a:stretch>
            <a:fillRect/>
          </a:stretch>
        </p:blipFill>
        <p:spPr>
          <a:xfrm>
            <a:off x="801410" y="2282190"/>
            <a:ext cx="3120747" cy="3120747"/>
          </a:xfrm>
          <a:prstGeom prst="rect">
            <a:avLst/>
          </a:prstGeom>
        </p:spPr>
      </p:pic>
      <p:pic>
        <p:nvPicPr>
          <p:cNvPr id="4" name="Image 1" descr="preencoded.png">    </p:cNvPr>
          <p:cNvPicPr>
            <a:picLocks noChangeAspect="1"/>
          </p:cNvPicPr>
          <p:nvPr/>
        </p:nvPicPr>
        <p:blipFill>
          <a:blip r:embed="rId2"/>
          <a:stretch>
            <a:fillRect/>
          </a:stretch>
        </p:blipFill>
        <p:spPr>
          <a:xfrm>
            <a:off x="4103608" y="2282190"/>
            <a:ext cx="3120866" cy="3120866"/>
          </a:xfrm>
          <a:prstGeom prst="rect">
            <a:avLst/>
          </a:prstGeom>
        </p:spPr>
      </p:pic>
      <p:pic>
        <p:nvPicPr>
          <p:cNvPr id="5" name="Image 2" descr="preencoded.png">    </p:cNvPr>
          <p:cNvPicPr>
            <a:picLocks noChangeAspect="1"/>
          </p:cNvPicPr>
          <p:nvPr/>
        </p:nvPicPr>
        <p:blipFill>
          <a:blip r:embed="rId3"/>
          <a:stretch>
            <a:fillRect/>
          </a:stretch>
        </p:blipFill>
        <p:spPr>
          <a:xfrm>
            <a:off x="7405926" y="2282190"/>
            <a:ext cx="3120747" cy="3120747"/>
          </a:xfrm>
          <a:prstGeom prst="rect">
            <a:avLst/>
          </a:prstGeom>
        </p:spPr>
      </p:pic>
      <p:pic>
        <p:nvPicPr>
          <p:cNvPr id="6" name="Image 3" descr="preencoded.png">    </p:cNvPr>
          <p:cNvPicPr>
            <a:picLocks noChangeAspect="1"/>
          </p:cNvPicPr>
          <p:nvPr/>
        </p:nvPicPr>
        <p:blipFill>
          <a:blip r:embed="rId4"/>
          <a:stretch>
            <a:fillRect/>
          </a:stretch>
        </p:blipFill>
        <p:spPr>
          <a:xfrm>
            <a:off x="10708124" y="2282190"/>
            <a:ext cx="3120866" cy="3120866"/>
          </a:xfrm>
          <a:prstGeom prst="rect">
            <a:avLst/>
          </a:prstGeom>
        </p:spPr>
      </p:pic>
      <p:sp>
        <p:nvSpPr>
          <p:cNvPr id="7" name="Text 1"/>
          <p:cNvSpPr/>
          <p:nvPr/>
        </p:nvSpPr>
        <p:spPr>
          <a:xfrm>
            <a:off x="793790" y="5804178"/>
            <a:ext cx="13042821" cy="1451610"/>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E-commerce platforms like Amazon use neural networks to recommend products based on your browsing history and purchase patterns. Similarly, food delivery apps like Zomato and Swiggy suggest restaurants based on your tastes and previous orders. This personalized marketing extends across book sites, movie services, and hospitality platforms, creating tailored user experiences that drive sales.</a:t>
            </a:r>
            <a:endParaRPr lang="en-US" sz="1750" dirty="0"/>
          </a:p>
        </p:txBody>
      </p:sp>
      <p:pic>
        <p:nvPicPr>
          <p:cNvPr id="8" name="Image 4" descr="preencoded.png">    </p:cNvPr>
          <p:cNvPicPr>
            <a:picLocks noChangeAspect="1"/>
          </p:cNvPicPr>
          <p:nvPr/>
        </p:nvPicPr>
        <p:blipFill>
          <a:blip r:embed="rId5"/>
          <a:stretch>
            <a:fillRect/>
          </a:stretch>
        </p:blipFill>
        <p:spPr>
          <a:xfrm>
            <a:off x="13700760" y="228600"/>
            <a:ext cx="701040" cy="66413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31267"/>
          </a:xfrm>
          <a:prstGeom prst="rect">
            <a:avLst/>
          </a:prstGeom>
        </p:spPr>
      </p:pic>
      <p:sp>
        <p:nvSpPr>
          <p:cNvPr id="3" name="Text 0"/>
          <p:cNvSpPr/>
          <p:nvPr/>
        </p:nvSpPr>
        <p:spPr>
          <a:xfrm>
            <a:off x="781526" y="614005"/>
            <a:ext cx="6440805" cy="697825"/>
          </a:xfrm>
          <a:prstGeom prst="rect">
            <a:avLst/>
          </a:prstGeom>
          <a:noFill/>
          <a:ln/>
        </p:spPr>
        <p:txBody>
          <a:bodyPr wrap="none" lIns="0" tIns="0" rIns="0" bIns="0" rtlCol="0" anchor="t"/>
          <a:lstStyle/>
          <a:p>
            <a:pPr algn="l" indent="0" marL="0">
              <a:lnSpc>
                <a:spcPts val="5450"/>
              </a:lnSpc>
              <a:buNone/>
            </a:pPr>
            <a:r>
              <a:rPr lang="en-US" sz="4350" b="1" dirty="0">
                <a:solidFill>
                  <a:srgbClr val="000000"/>
                </a:solidFill>
                <a:latin typeface="Inter Bold" pitchFamily="34" charset="0"/>
                <a:ea typeface="Inter Bold" pitchFamily="34" charset="-122"/>
                <a:cs typeface="Inter Bold" pitchFamily="34" charset="-120"/>
              </a:rPr>
              <a:t>Application: Healthcare</a:t>
            </a:r>
            <a:endParaRPr lang="en-US" sz="4350" dirty="0"/>
          </a:p>
        </p:txBody>
      </p:sp>
      <p:sp>
        <p:nvSpPr>
          <p:cNvPr id="4" name="Shape 1"/>
          <p:cNvSpPr/>
          <p:nvPr/>
        </p:nvSpPr>
        <p:spPr>
          <a:xfrm>
            <a:off x="781526" y="1897975"/>
            <a:ext cx="502444" cy="502444"/>
          </a:xfrm>
          <a:prstGeom prst="roundRect">
            <a:avLst>
              <a:gd name="adj" fmla="val 18667"/>
            </a:avLst>
          </a:prstGeom>
          <a:solidFill>
            <a:srgbClr val="D2EDF9"/>
          </a:solidFill>
          <a:ln w="7620">
            <a:solidFill>
              <a:srgbClr val="B8D3DF"/>
            </a:solidFill>
            <a:prstDash val="solid"/>
          </a:ln>
        </p:spPr>
      </p:sp>
      <p:pic>
        <p:nvPicPr>
          <p:cNvPr id="5" name="Image 1" descr="preencoded.png">    </p:cNvPr>
          <p:cNvPicPr>
            <a:picLocks noChangeAspect="1"/>
          </p:cNvPicPr>
          <p:nvPr/>
        </p:nvPicPr>
        <p:blipFill>
          <a:blip r:embed="rId2"/>
          <a:stretch>
            <a:fillRect/>
          </a:stretch>
        </p:blipFill>
        <p:spPr>
          <a:xfrm>
            <a:off x="865287" y="1939885"/>
            <a:ext cx="334923" cy="418624"/>
          </a:xfrm>
          <a:prstGeom prst="rect">
            <a:avLst/>
          </a:prstGeom>
        </p:spPr>
      </p:pic>
      <p:sp>
        <p:nvSpPr>
          <p:cNvPr id="6" name="Text 2"/>
          <p:cNvSpPr/>
          <p:nvPr/>
        </p:nvSpPr>
        <p:spPr>
          <a:xfrm>
            <a:off x="1507212" y="1897975"/>
            <a:ext cx="2791301" cy="348853"/>
          </a:xfrm>
          <a:prstGeom prst="rect">
            <a:avLst/>
          </a:prstGeom>
          <a:noFill/>
          <a:ln/>
        </p:spPr>
        <p:txBody>
          <a:bodyPr wrap="none" lIns="0" tIns="0" rIns="0" bIns="0" rtlCol="0" anchor="t"/>
          <a:lstStyle/>
          <a:p>
            <a:pPr algn="l" indent="0" marL="0">
              <a:lnSpc>
                <a:spcPts val="2700"/>
              </a:lnSpc>
              <a:buNone/>
            </a:pPr>
            <a:r>
              <a:rPr lang="en-US" sz="2150" b="1" dirty="0">
                <a:solidFill>
                  <a:srgbClr val="000000"/>
                </a:solidFill>
                <a:latin typeface="Inter Bold" pitchFamily="34" charset="0"/>
                <a:ea typeface="Inter Bold" pitchFamily="34" charset="-122"/>
                <a:cs typeface="Inter Bold" pitchFamily="34" charset="-120"/>
              </a:rPr>
              <a:t>Cancer Detection</a:t>
            </a:r>
            <a:endParaRPr lang="en-US" sz="2150" dirty="0"/>
          </a:p>
        </p:txBody>
      </p:sp>
      <p:sp>
        <p:nvSpPr>
          <p:cNvPr id="7" name="Text 3"/>
          <p:cNvSpPr/>
          <p:nvPr/>
        </p:nvSpPr>
        <p:spPr>
          <a:xfrm>
            <a:off x="1507212" y="2380774"/>
            <a:ext cx="2953226" cy="2501146"/>
          </a:xfrm>
          <a:prstGeom prst="rect">
            <a:avLst/>
          </a:prstGeom>
          <a:noFill/>
          <a:ln/>
        </p:spPr>
        <p:txBody>
          <a:bodyPr wrap="square" lIns="0" tIns="0" rIns="0" bIns="0" rtlCol="0" anchor="t"/>
          <a:lstStyle/>
          <a:p>
            <a:pPr algn="l" indent="0" marL="0">
              <a:lnSpc>
                <a:spcPts val="2800"/>
              </a:lnSpc>
              <a:buNone/>
            </a:pPr>
            <a:r>
              <a:rPr lang="en-US" sz="1750" dirty="0">
                <a:solidFill>
                  <a:srgbClr val="000000"/>
                </a:solidFill>
                <a:latin typeface="Inter" pitchFamily="34" charset="0"/>
                <a:ea typeface="Inter" pitchFamily="34" charset="-122"/>
                <a:cs typeface="Inter" pitchFamily="34" charset="-120"/>
              </a:rPr>
              <a:t>Neural networks are trained to identify cancerous tissue at the microscopic level with accuracy comparable to trained physicians, enabling earlier diagnosis and treatment.</a:t>
            </a:r>
            <a:endParaRPr lang="en-US" sz="1750" dirty="0"/>
          </a:p>
        </p:txBody>
      </p:sp>
      <p:sp>
        <p:nvSpPr>
          <p:cNvPr id="8" name="Shape 4"/>
          <p:cNvSpPr/>
          <p:nvPr/>
        </p:nvSpPr>
        <p:spPr>
          <a:xfrm>
            <a:off x="4683681" y="1897975"/>
            <a:ext cx="502444" cy="502444"/>
          </a:xfrm>
          <a:prstGeom prst="roundRect">
            <a:avLst>
              <a:gd name="adj" fmla="val 18667"/>
            </a:avLst>
          </a:prstGeom>
          <a:solidFill>
            <a:srgbClr val="D2EDF9"/>
          </a:solidFill>
          <a:ln w="7620">
            <a:solidFill>
              <a:srgbClr val="B8D3DF"/>
            </a:solidFill>
            <a:prstDash val="solid"/>
          </a:ln>
        </p:spPr>
      </p:sp>
      <p:pic>
        <p:nvPicPr>
          <p:cNvPr id="9" name="Image 2" descr="preencoded.png">    </p:cNvPr>
          <p:cNvPicPr>
            <a:picLocks noChangeAspect="1"/>
          </p:cNvPicPr>
          <p:nvPr/>
        </p:nvPicPr>
        <p:blipFill>
          <a:blip r:embed="rId3"/>
          <a:stretch>
            <a:fillRect/>
          </a:stretch>
        </p:blipFill>
        <p:spPr>
          <a:xfrm>
            <a:off x="4767441" y="1939885"/>
            <a:ext cx="334923" cy="418624"/>
          </a:xfrm>
          <a:prstGeom prst="rect">
            <a:avLst/>
          </a:prstGeom>
        </p:spPr>
      </p:pic>
      <p:sp>
        <p:nvSpPr>
          <p:cNvPr id="10" name="Text 5"/>
          <p:cNvSpPr/>
          <p:nvPr/>
        </p:nvSpPr>
        <p:spPr>
          <a:xfrm>
            <a:off x="5409367" y="1897975"/>
            <a:ext cx="2953226" cy="697706"/>
          </a:xfrm>
          <a:prstGeom prst="rect">
            <a:avLst/>
          </a:prstGeom>
          <a:noFill/>
          <a:ln/>
        </p:spPr>
        <p:txBody>
          <a:bodyPr wrap="square" lIns="0" tIns="0" rIns="0" bIns="0" rtlCol="0" anchor="t"/>
          <a:lstStyle/>
          <a:p>
            <a:pPr algn="l" indent="0" marL="0">
              <a:lnSpc>
                <a:spcPts val="2700"/>
              </a:lnSpc>
              <a:buNone/>
            </a:pPr>
            <a:r>
              <a:rPr lang="en-US" sz="2150" b="1" dirty="0">
                <a:solidFill>
                  <a:srgbClr val="000000"/>
                </a:solidFill>
                <a:latin typeface="Inter Bold" pitchFamily="34" charset="0"/>
                <a:ea typeface="Inter Bold" pitchFamily="34" charset="-122"/>
                <a:cs typeface="Inter Bold" pitchFamily="34" charset="-120"/>
              </a:rPr>
              <a:t>Rare Disease Identification</a:t>
            </a:r>
            <a:endParaRPr lang="en-US" sz="2150" dirty="0"/>
          </a:p>
        </p:txBody>
      </p:sp>
      <p:sp>
        <p:nvSpPr>
          <p:cNvPr id="11" name="Text 6"/>
          <p:cNvSpPr/>
          <p:nvPr/>
        </p:nvSpPr>
        <p:spPr>
          <a:xfrm>
            <a:off x="5409367" y="2729627"/>
            <a:ext cx="2953226" cy="2858453"/>
          </a:xfrm>
          <a:prstGeom prst="rect">
            <a:avLst/>
          </a:prstGeom>
          <a:noFill/>
          <a:ln/>
        </p:spPr>
        <p:txBody>
          <a:bodyPr wrap="square" lIns="0" tIns="0" rIns="0" bIns="0" rtlCol="0" anchor="t"/>
          <a:lstStyle/>
          <a:p>
            <a:pPr algn="l" indent="0" marL="0">
              <a:lnSpc>
                <a:spcPts val="2800"/>
              </a:lnSpc>
              <a:buNone/>
            </a:pPr>
            <a:r>
              <a:rPr lang="en-US" sz="1750" dirty="0">
                <a:solidFill>
                  <a:srgbClr val="000000"/>
                </a:solidFill>
                <a:latin typeface="Inter" pitchFamily="34" charset="0"/>
                <a:ea typeface="Inter" pitchFamily="34" charset="-122"/>
                <a:cs typeface="Inter" pitchFamily="34" charset="-120"/>
              </a:rPr>
              <a:t>Facial analysis powered by neural networks can identify subtle physical characteristics that may indicate rare diseases in their premature stages, allowing for earlier intervention.</a:t>
            </a:r>
            <a:endParaRPr lang="en-US" sz="1750" dirty="0"/>
          </a:p>
        </p:txBody>
      </p:sp>
      <p:sp>
        <p:nvSpPr>
          <p:cNvPr id="12" name="Shape 7"/>
          <p:cNvSpPr/>
          <p:nvPr/>
        </p:nvSpPr>
        <p:spPr>
          <a:xfrm>
            <a:off x="781526" y="6062543"/>
            <a:ext cx="502444" cy="502444"/>
          </a:xfrm>
          <a:prstGeom prst="roundRect">
            <a:avLst>
              <a:gd name="adj" fmla="val 18667"/>
            </a:avLst>
          </a:prstGeom>
          <a:solidFill>
            <a:srgbClr val="D2EDF9"/>
          </a:solidFill>
          <a:ln w="7620">
            <a:solidFill>
              <a:srgbClr val="B8D3DF"/>
            </a:solidFill>
            <a:prstDash val="solid"/>
          </a:ln>
        </p:spPr>
      </p:sp>
      <p:pic>
        <p:nvPicPr>
          <p:cNvPr id="13" name="Image 3" descr="preencoded.png">    </p:cNvPr>
          <p:cNvPicPr>
            <a:picLocks noChangeAspect="1"/>
          </p:cNvPicPr>
          <p:nvPr/>
        </p:nvPicPr>
        <p:blipFill>
          <a:blip r:embed="rId4"/>
          <a:stretch>
            <a:fillRect/>
          </a:stretch>
        </p:blipFill>
        <p:spPr>
          <a:xfrm>
            <a:off x="865287" y="6104453"/>
            <a:ext cx="334923" cy="418624"/>
          </a:xfrm>
          <a:prstGeom prst="rect">
            <a:avLst/>
          </a:prstGeom>
        </p:spPr>
      </p:pic>
      <p:sp>
        <p:nvSpPr>
          <p:cNvPr id="14" name="Text 8"/>
          <p:cNvSpPr/>
          <p:nvPr/>
        </p:nvSpPr>
        <p:spPr>
          <a:xfrm>
            <a:off x="1507212" y="6062543"/>
            <a:ext cx="2791301" cy="348853"/>
          </a:xfrm>
          <a:prstGeom prst="rect">
            <a:avLst/>
          </a:prstGeom>
          <a:noFill/>
          <a:ln/>
        </p:spPr>
        <p:txBody>
          <a:bodyPr wrap="none" lIns="0" tIns="0" rIns="0" bIns="0" rtlCol="0" anchor="t"/>
          <a:lstStyle/>
          <a:p>
            <a:pPr algn="l" indent="0" marL="0">
              <a:lnSpc>
                <a:spcPts val="2700"/>
              </a:lnSpc>
              <a:buNone/>
            </a:pPr>
            <a:r>
              <a:rPr lang="en-US" sz="2150" b="1" dirty="0">
                <a:solidFill>
                  <a:srgbClr val="000000"/>
                </a:solidFill>
                <a:latin typeface="Inter Bold" pitchFamily="34" charset="0"/>
                <a:ea typeface="Inter Bold" pitchFamily="34" charset="-122"/>
                <a:cs typeface="Inter Bold" pitchFamily="34" charset="-120"/>
              </a:rPr>
              <a:t>Patient Monitoring</a:t>
            </a:r>
            <a:endParaRPr lang="en-US" sz="2150" dirty="0"/>
          </a:p>
        </p:txBody>
      </p:sp>
      <p:sp>
        <p:nvSpPr>
          <p:cNvPr id="15" name="Text 9"/>
          <p:cNvSpPr/>
          <p:nvPr/>
        </p:nvSpPr>
        <p:spPr>
          <a:xfrm>
            <a:off x="1507212" y="6545342"/>
            <a:ext cx="6855262" cy="1071920"/>
          </a:xfrm>
          <a:prstGeom prst="rect">
            <a:avLst/>
          </a:prstGeom>
          <a:noFill/>
          <a:ln/>
        </p:spPr>
        <p:txBody>
          <a:bodyPr wrap="square" lIns="0" tIns="0" rIns="0" bIns="0" rtlCol="0" anchor="t"/>
          <a:lstStyle/>
          <a:p>
            <a:pPr algn="l" indent="0" marL="0">
              <a:lnSpc>
                <a:spcPts val="2800"/>
              </a:lnSpc>
              <a:buNone/>
            </a:pPr>
            <a:r>
              <a:rPr lang="en-US" sz="1750" dirty="0">
                <a:solidFill>
                  <a:srgbClr val="000000"/>
                </a:solidFill>
                <a:latin typeface="Inter" pitchFamily="34" charset="0"/>
                <a:ea typeface="Inter" pitchFamily="34" charset="-122"/>
                <a:cs typeface="Inter" pitchFamily="34" charset="-120"/>
              </a:rPr>
              <a:t>Neural networks analyze patient data in real-time to predict potential health issues before they become critical, improving preventative care.</a:t>
            </a:r>
            <a:endParaRPr lang="en-US" sz="1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93790" y="787837"/>
            <a:ext cx="9002792" cy="708779"/>
          </a:xfrm>
          <a:prstGeom prst="rect">
            <a:avLst/>
          </a:prstGeom>
          <a:noFill/>
          <a:ln/>
        </p:spPr>
        <p:txBody>
          <a:bodyPr wrap="none" lIns="0" tIns="0" rIns="0" bIns="0" rtlCol="0" anchor="t"/>
          <a:lstStyle/>
          <a:p>
            <a:pPr algn="l" indent="0" marL="0">
              <a:lnSpc>
                <a:spcPts val="5550"/>
              </a:lnSpc>
              <a:buNone/>
            </a:pPr>
            <a:r>
              <a:rPr lang="en-US" sz="4450" b="1" dirty="0">
                <a:solidFill>
                  <a:srgbClr val="000000"/>
                </a:solidFill>
                <a:latin typeface="Inter Bold" pitchFamily="34" charset="0"/>
                <a:ea typeface="Inter Bold" pitchFamily="34" charset="-122"/>
                <a:cs typeface="Inter Bold" pitchFamily="34" charset="-120"/>
              </a:rPr>
              <a:t>Application: Personal Assistants</a:t>
            </a:r>
            <a:endParaRPr lang="en-US" sz="4450" dirty="0"/>
          </a:p>
        </p:txBody>
      </p:sp>
      <p:sp>
        <p:nvSpPr>
          <p:cNvPr id="3" name="Shape 1"/>
          <p:cNvSpPr/>
          <p:nvPr/>
        </p:nvSpPr>
        <p:spPr>
          <a:xfrm>
            <a:off x="793790" y="1950244"/>
            <a:ext cx="2173724" cy="1306949"/>
          </a:xfrm>
          <a:prstGeom prst="roundRect">
            <a:avLst>
              <a:gd name="adj" fmla="val 7289"/>
            </a:avLst>
          </a:prstGeom>
          <a:solidFill>
            <a:srgbClr val="D2EDF9"/>
          </a:solidFill>
          <a:ln w="7620">
            <a:solidFill>
              <a:srgbClr val="B8D3DF"/>
            </a:solidFill>
            <a:prstDash val="solid"/>
          </a:ln>
        </p:spPr>
      </p:sp>
      <p:pic>
        <p:nvPicPr>
          <p:cNvPr id="4" name="Image 0" descr="preencoded.png">    </p:cNvPr>
          <p:cNvPicPr>
            <a:picLocks noChangeAspect="1"/>
          </p:cNvPicPr>
          <p:nvPr/>
        </p:nvPicPr>
        <p:blipFill>
          <a:blip r:embed="rId1"/>
          <a:stretch>
            <a:fillRect/>
          </a:stretch>
        </p:blipFill>
        <p:spPr>
          <a:xfrm>
            <a:off x="1721167" y="2404348"/>
            <a:ext cx="318968" cy="398621"/>
          </a:xfrm>
          <a:prstGeom prst="rect">
            <a:avLst/>
          </a:prstGeom>
        </p:spPr>
      </p:pic>
      <p:sp>
        <p:nvSpPr>
          <p:cNvPr id="5" name="Text 2"/>
          <p:cNvSpPr/>
          <p:nvPr/>
        </p:nvSpPr>
        <p:spPr>
          <a:xfrm>
            <a:off x="3194328" y="2177058"/>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Speech Recognition</a:t>
            </a:r>
            <a:endParaRPr lang="en-US" sz="2200" dirty="0"/>
          </a:p>
        </p:txBody>
      </p:sp>
      <p:sp>
        <p:nvSpPr>
          <p:cNvPr id="6" name="Text 3"/>
          <p:cNvSpPr/>
          <p:nvPr/>
        </p:nvSpPr>
        <p:spPr>
          <a:xfrm>
            <a:off x="3194328" y="2667476"/>
            <a:ext cx="3482221" cy="362903"/>
          </a:xfrm>
          <a:prstGeom prst="rect">
            <a:avLst/>
          </a:prstGeom>
          <a:noFill/>
          <a:ln/>
        </p:spPr>
        <p:txBody>
          <a:bodyPr wrap="non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Convert spoken language to text</a:t>
            </a:r>
            <a:endParaRPr lang="en-US" sz="1750" dirty="0"/>
          </a:p>
        </p:txBody>
      </p:sp>
      <p:sp>
        <p:nvSpPr>
          <p:cNvPr id="7" name="Shape 4"/>
          <p:cNvSpPr/>
          <p:nvPr/>
        </p:nvSpPr>
        <p:spPr>
          <a:xfrm>
            <a:off x="3080861" y="3241953"/>
            <a:ext cx="10642402" cy="15240"/>
          </a:xfrm>
          <a:prstGeom prst="roundRect">
            <a:avLst>
              <a:gd name="adj" fmla="val 625116"/>
            </a:avLst>
          </a:prstGeom>
          <a:solidFill>
            <a:srgbClr val="B8D3DF"/>
          </a:solidFill>
          <a:ln/>
        </p:spPr>
      </p:sp>
      <p:sp>
        <p:nvSpPr>
          <p:cNvPr id="8" name="Shape 5"/>
          <p:cNvSpPr/>
          <p:nvPr/>
        </p:nvSpPr>
        <p:spPr>
          <a:xfrm>
            <a:off x="793790" y="3370540"/>
            <a:ext cx="4347567" cy="1306949"/>
          </a:xfrm>
          <a:prstGeom prst="roundRect">
            <a:avLst>
              <a:gd name="adj" fmla="val 7289"/>
            </a:avLst>
          </a:prstGeom>
          <a:solidFill>
            <a:srgbClr val="D2EDF9"/>
          </a:solidFill>
          <a:ln w="7620">
            <a:solidFill>
              <a:srgbClr val="B8D3DF"/>
            </a:solidFill>
            <a:prstDash val="solid"/>
          </a:ln>
        </p:spPr>
      </p:sp>
      <p:pic>
        <p:nvPicPr>
          <p:cNvPr id="9" name="Image 1" descr="preencoded.png">    </p:cNvPr>
          <p:cNvPicPr>
            <a:picLocks noChangeAspect="1"/>
          </p:cNvPicPr>
          <p:nvPr/>
        </p:nvPicPr>
        <p:blipFill>
          <a:blip r:embed="rId2"/>
          <a:stretch>
            <a:fillRect/>
          </a:stretch>
        </p:blipFill>
        <p:spPr>
          <a:xfrm>
            <a:off x="2808089" y="3824645"/>
            <a:ext cx="318968" cy="398621"/>
          </a:xfrm>
          <a:prstGeom prst="rect">
            <a:avLst/>
          </a:prstGeom>
        </p:spPr>
      </p:pic>
      <p:sp>
        <p:nvSpPr>
          <p:cNvPr id="10" name="Text 6"/>
          <p:cNvSpPr/>
          <p:nvPr/>
        </p:nvSpPr>
        <p:spPr>
          <a:xfrm>
            <a:off x="5368171" y="3597354"/>
            <a:ext cx="4067770"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Natural Language Processing</a:t>
            </a:r>
            <a:endParaRPr lang="en-US" sz="2200" dirty="0"/>
          </a:p>
        </p:txBody>
      </p:sp>
      <p:sp>
        <p:nvSpPr>
          <p:cNvPr id="11" name="Text 7"/>
          <p:cNvSpPr/>
          <p:nvPr/>
        </p:nvSpPr>
        <p:spPr>
          <a:xfrm>
            <a:off x="5368171" y="4087773"/>
            <a:ext cx="4067770" cy="362903"/>
          </a:xfrm>
          <a:prstGeom prst="rect">
            <a:avLst/>
          </a:prstGeom>
          <a:noFill/>
          <a:ln/>
        </p:spPr>
        <p:txBody>
          <a:bodyPr wrap="non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Understand meaning and context</a:t>
            </a:r>
            <a:endParaRPr lang="en-US" sz="1750" dirty="0"/>
          </a:p>
        </p:txBody>
      </p:sp>
      <p:sp>
        <p:nvSpPr>
          <p:cNvPr id="12" name="Shape 8"/>
          <p:cNvSpPr/>
          <p:nvPr/>
        </p:nvSpPr>
        <p:spPr>
          <a:xfrm>
            <a:off x="5254704" y="4662249"/>
            <a:ext cx="8468558" cy="15240"/>
          </a:xfrm>
          <a:prstGeom prst="roundRect">
            <a:avLst>
              <a:gd name="adj" fmla="val 625116"/>
            </a:avLst>
          </a:prstGeom>
          <a:solidFill>
            <a:srgbClr val="B8D3DF"/>
          </a:solidFill>
          <a:ln/>
        </p:spPr>
      </p:sp>
      <p:sp>
        <p:nvSpPr>
          <p:cNvPr id="13" name="Shape 9"/>
          <p:cNvSpPr/>
          <p:nvPr/>
        </p:nvSpPr>
        <p:spPr>
          <a:xfrm>
            <a:off x="793790" y="4790837"/>
            <a:ext cx="6521410" cy="1306949"/>
          </a:xfrm>
          <a:prstGeom prst="roundRect">
            <a:avLst>
              <a:gd name="adj" fmla="val 7289"/>
            </a:avLst>
          </a:prstGeom>
          <a:solidFill>
            <a:srgbClr val="D2EDF9"/>
          </a:solidFill>
          <a:ln w="7620">
            <a:solidFill>
              <a:srgbClr val="B8D3DF"/>
            </a:solidFill>
            <a:prstDash val="solid"/>
          </a:ln>
        </p:spPr>
      </p:sp>
      <p:pic>
        <p:nvPicPr>
          <p:cNvPr id="14" name="Image 2" descr="preencoded.png">    </p:cNvPr>
          <p:cNvPicPr>
            <a:picLocks noChangeAspect="1"/>
          </p:cNvPicPr>
          <p:nvPr/>
        </p:nvPicPr>
        <p:blipFill>
          <a:blip r:embed="rId3"/>
          <a:stretch>
            <a:fillRect/>
          </a:stretch>
        </p:blipFill>
        <p:spPr>
          <a:xfrm>
            <a:off x="3895011" y="5244941"/>
            <a:ext cx="318968" cy="398621"/>
          </a:xfrm>
          <a:prstGeom prst="rect">
            <a:avLst/>
          </a:prstGeom>
        </p:spPr>
      </p:pic>
      <p:sp>
        <p:nvSpPr>
          <p:cNvPr id="15" name="Text 10"/>
          <p:cNvSpPr/>
          <p:nvPr/>
        </p:nvSpPr>
        <p:spPr>
          <a:xfrm>
            <a:off x="7542014" y="5017651"/>
            <a:ext cx="2967157"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Response Generation</a:t>
            </a:r>
            <a:endParaRPr lang="en-US" sz="2200" dirty="0"/>
          </a:p>
        </p:txBody>
      </p:sp>
      <p:sp>
        <p:nvSpPr>
          <p:cNvPr id="16" name="Text 11"/>
          <p:cNvSpPr/>
          <p:nvPr/>
        </p:nvSpPr>
        <p:spPr>
          <a:xfrm>
            <a:off x="7542014" y="5508069"/>
            <a:ext cx="3330773" cy="362903"/>
          </a:xfrm>
          <a:prstGeom prst="rect">
            <a:avLst/>
          </a:prstGeom>
          <a:noFill/>
          <a:ln/>
        </p:spPr>
        <p:txBody>
          <a:bodyPr wrap="non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Formulate appropriate answers</a:t>
            </a:r>
            <a:endParaRPr lang="en-US" sz="1750" dirty="0"/>
          </a:p>
        </p:txBody>
      </p:sp>
      <p:sp>
        <p:nvSpPr>
          <p:cNvPr id="17" name="Text 12"/>
          <p:cNvSpPr/>
          <p:nvPr/>
        </p:nvSpPr>
        <p:spPr>
          <a:xfrm>
            <a:off x="793790" y="6352937"/>
            <a:ext cx="13042821" cy="1088708"/>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Personal assistants like Alexa, Siri, and Google Assistant use Natural Language Processing powered by neural networks to interact with users naturally. These systems manage language syntax, semantics, speech correction, and conversation flow, creating an intuitive user experience that feels like talking to a human assistant rather than a machine.</a:t>
            </a:r>
            <a:endParaRPr lang="en-US" sz="1750" dirty="0"/>
          </a:p>
        </p:txBody>
      </p:sp>
      <p:pic>
        <p:nvPicPr>
          <p:cNvPr id="18" name="Image 3" descr="preencoded.png">    </p:cNvPr>
          <p:cNvPicPr>
            <a:picLocks noChangeAspect="1"/>
          </p:cNvPicPr>
          <p:nvPr/>
        </p:nvPicPr>
        <p:blipFill>
          <a:blip r:embed="rId4"/>
          <a:stretch>
            <a:fillRect/>
          </a:stretch>
        </p:blipFill>
        <p:spPr>
          <a:xfrm>
            <a:off x="13700760" y="228600"/>
            <a:ext cx="701040" cy="66413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708660"/>
            <a:ext cx="7556421" cy="1346835"/>
          </a:xfrm>
          <a:prstGeom prst="rect">
            <a:avLst/>
          </a:prstGeom>
          <a:noFill/>
          <a:ln/>
        </p:spPr>
        <p:txBody>
          <a:bodyPr wrap="square" lIns="0" tIns="0" rIns="0" bIns="0" rtlCol="0" anchor="t"/>
          <a:lstStyle/>
          <a:p>
            <a:pPr algn="l" indent="0" marL="0">
              <a:lnSpc>
                <a:spcPts val="5300"/>
              </a:lnSpc>
              <a:buNone/>
            </a:pPr>
            <a:r>
              <a:rPr lang="en-US" sz="4200" b="1" dirty="0">
                <a:solidFill>
                  <a:srgbClr val="000000"/>
                </a:solidFill>
                <a:latin typeface="Inter Bold" pitchFamily="34" charset="0"/>
                <a:ea typeface="Inter Bold" pitchFamily="34" charset="-122"/>
                <a:cs typeface="Inter Bold" pitchFamily="34" charset="-120"/>
              </a:rPr>
              <a:t>Application: Computer Vision</a:t>
            </a:r>
            <a:endParaRPr lang="en-US" sz="4200" dirty="0"/>
          </a:p>
        </p:txBody>
      </p:sp>
      <p:sp>
        <p:nvSpPr>
          <p:cNvPr id="4" name="Shape 1"/>
          <p:cNvSpPr/>
          <p:nvPr/>
        </p:nvSpPr>
        <p:spPr>
          <a:xfrm>
            <a:off x="6280190" y="2378631"/>
            <a:ext cx="3670578" cy="2980611"/>
          </a:xfrm>
          <a:prstGeom prst="roundRect">
            <a:avLst>
              <a:gd name="adj" fmla="val 3036"/>
            </a:avLst>
          </a:prstGeom>
          <a:solidFill>
            <a:srgbClr val="D2EDF9"/>
          </a:solidFill>
          <a:ln w="7620">
            <a:solidFill>
              <a:srgbClr val="B8D3DF"/>
            </a:solidFill>
            <a:prstDash val="solid"/>
          </a:ln>
        </p:spPr>
      </p:sp>
      <p:sp>
        <p:nvSpPr>
          <p:cNvPr id="5" name="Text 2"/>
          <p:cNvSpPr/>
          <p:nvPr/>
        </p:nvSpPr>
        <p:spPr>
          <a:xfrm>
            <a:off x="6503194" y="2601635"/>
            <a:ext cx="2693551" cy="336590"/>
          </a:xfrm>
          <a:prstGeom prst="rect">
            <a:avLst/>
          </a:prstGeom>
          <a:noFill/>
          <a:ln/>
        </p:spPr>
        <p:txBody>
          <a:bodyPr wrap="none" lIns="0" tIns="0" rIns="0" bIns="0" rtlCol="0" anchor="t"/>
          <a:lstStyle/>
          <a:p>
            <a:pPr algn="l" indent="0" marL="0">
              <a:lnSpc>
                <a:spcPts val="2650"/>
              </a:lnSpc>
              <a:buNone/>
            </a:pPr>
            <a:r>
              <a:rPr lang="en-US" sz="2100" b="1" dirty="0">
                <a:solidFill>
                  <a:srgbClr val="000000"/>
                </a:solidFill>
                <a:latin typeface="Inter Bold" pitchFamily="34" charset="0"/>
                <a:ea typeface="Inter Bold" pitchFamily="34" charset="-122"/>
                <a:cs typeface="Inter Bold" pitchFamily="34" charset="-120"/>
              </a:rPr>
              <a:t>Object Detection</a:t>
            </a:r>
            <a:endParaRPr lang="en-US" sz="2100" dirty="0"/>
          </a:p>
        </p:txBody>
      </p:sp>
      <p:sp>
        <p:nvSpPr>
          <p:cNvPr id="6" name="Text 3"/>
          <p:cNvSpPr/>
          <p:nvPr/>
        </p:nvSpPr>
        <p:spPr>
          <a:xfrm>
            <a:off x="6503194" y="3067407"/>
            <a:ext cx="3224570" cy="2068830"/>
          </a:xfrm>
          <a:prstGeom prst="rect">
            <a:avLst/>
          </a:prstGeom>
          <a:noFill/>
          <a:ln/>
        </p:spPr>
        <p:txBody>
          <a:bodyPr wrap="square" lIns="0" tIns="0" rIns="0" bIns="0" rtlCol="0" anchor="t"/>
          <a:lstStyle/>
          <a:p>
            <a:pPr algn="l" indent="0" marL="0">
              <a:lnSpc>
                <a:spcPts val="2700"/>
              </a:lnSpc>
              <a:buNone/>
            </a:pPr>
            <a:r>
              <a:rPr lang="en-US" sz="1650" dirty="0">
                <a:solidFill>
                  <a:srgbClr val="000000"/>
                </a:solidFill>
                <a:latin typeface="Inter" pitchFamily="34" charset="0"/>
                <a:ea typeface="Inter" pitchFamily="34" charset="-122"/>
                <a:cs typeface="Inter" pitchFamily="34" charset="-120"/>
              </a:rPr>
              <a:t>Neural networks can identify and locate multiple objects within images or video streams, enabling applications from autonomous vehicles to security surveillance systems.</a:t>
            </a:r>
            <a:endParaRPr lang="en-US" sz="1650" dirty="0"/>
          </a:p>
        </p:txBody>
      </p:sp>
      <p:sp>
        <p:nvSpPr>
          <p:cNvPr id="7" name="Shape 4"/>
          <p:cNvSpPr/>
          <p:nvPr/>
        </p:nvSpPr>
        <p:spPr>
          <a:xfrm>
            <a:off x="10166152" y="2378631"/>
            <a:ext cx="3670578" cy="2980611"/>
          </a:xfrm>
          <a:prstGeom prst="roundRect">
            <a:avLst>
              <a:gd name="adj" fmla="val 3036"/>
            </a:avLst>
          </a:prstGeom>
          <a:solidFill>
            <a:srgbClr val="D2EDF9"/>
          </a:solidFill>
          <a:ln w="7620">
            <a:solidFill>
              <a:srgbClr val="B8D3DF"/>
            </a:solidFill>
            <a:prstDash val="solid"/>
          </a:ln>
        </p:spPr>
      </p:sp>
      <p:sp>
        <p:nvSpPr>
          <p:cNvPr id="8" name="Text 5"/>
          <p:cNvSpPr/>
          <p:nvPr/>
        </p:nvSpPr>
        <p:spPr>
          <a:xfrm>
            <a:off x="10389156" y="2601635"/>
            <a:ext cx="2693551" cy="336590"/>
          </a:xfrm>
          <a:prstGeom prst="rect">
            <a:avLst/>
          </a:prstGeom>
          <a:noFill/>
          <a:ln/>
        </p:spPr>
        <p:txBody>
          <a:bodyPr wrap="none" lIns="0" tIns="0" rIns="0" bIns="0" rtlCol="0" anchor="t"/>
          <a:lstStyle/>
          <a:p>
            <a:pPr algn="l" indent="0" marL="0">
              <a:lnSpc>
                <a:spcPts val="2650"/>
              </a:lnSpc>
              <a:buNone/>
            </a:pPr>
            <a:r>
              <a:rPr lang="en-US" sz="2100" b="1" dirty="0">
                <a:solidFill>
                  <a:srgbClr val="000000"/>
                </a:solidFill>
                <a:latin typeface="Inter Bold" pitchFamily="34" charset="0"/>
                <a:ea typeface="Inter Bold" pitchFamily="34" charset="-122"/>
                <a:cs typeface="Inter Bold" pitchFamily="34" charset="-120"/>
              </a:rPr>
              <a:t>Image Classification</a:t>
            </a:r>
            <a:endParaRPr lang="en-US" sz="2100" dirty="0"/>
          </a:p>
        </p:txBody>
      </p:sp>
      <p:sp>
        <p:nvSpPr>
          <p:cNvPr id="9" name="Text 6"/>
          <p:cNvSpPr/>
          <p:nvPr/>
        </p:nvSpPr>
        <p:spPr>
          <a:xfrm>
            <a:off x="10389156" y="3067407"/>
            <a:ext cx="3224570" cy="2068830"/>
          </a:xfrm>
          <a:prstGeom prst="rect">
            <a:avLst/>
          </a:prstGeom>
          <a:noFill/>
          <a:ln/>
        </p:spPr>
        <p:txBody>
          <a:bodyPr wrap="square" lIns="0" tIns="0" rIns="0" bIns="0" rtlCol="0" anchor="t"/>
          <a:lstStyle/>
          <a:p>
            <a:pPr algn="l" indent="0" marL="0">
              <a:lnSpc>
                <a:spcPts val="2700"/>
              </a:lnSpc>
              <a:buNone/>
            </a:pPr>
            <a:r>
              <a:rPr lang="en-US" sz="1650" dirty="0">
                <a:solidFill>
                  <a:srgbClr val="000000"/>
                </a:solidFill>
                <a:latin typeface="Inter" pitchFamily="34" charset="0"/>
                <a:ea typeface="Inter" pitchFamily="34" charset="-122"/>
                <a:cs typeface="Inter" pitchFamily="34" charset="-120"/>
              </a:rPr>
              <a:t>Systems can categorize images into thousands of different classes with high accuracy, powering photo organization tools and content moderation systems.</a:t>
            </a:r>
            <a:endParaRPr lang="en-US" sz="1650" dirty="0"/>
          </a:p>
        </p:txBody>
      </p:sp>
      <p:sp>
        <p:nvSpPr>
          <p:cNvPr id="10" name="Shape 7"/>
          <p:cNvSpPr/>
          <p:nvPr/>
        </p:nvSpPr>
        <p:spPr>
          <a:xfrm>
            <a:off x="6280190" y="5574625"/>
            <a:ext cx="7556421" cy="1946196"/>
          </a:xfrm>
          <a:prstGeom prst="roundRect">
            <a:avLst>
              <a:gd name="adj" fmla="val 4650"/>
            </a:avLst>
          </a:prstGeom>
          <a:solidFill>
            <a:srgbClr val="D2EDF9"/>
          </a:solidFill>
          <a:ln w="7620">
            <a:solidFill>
              <a:srgbClr val="B8D3DF"/>
            </a:solidFill>
            <a:prstDash val="solid"/>
          </a:ln>
        </p:spPr>
      </p:sp>
      <p:sp>
        <p:nvSpPr>
          <p:cNvPr id="11" name="Text 8"/>
          <p:cNvSpPr/>
          <p:nvPr/>
        </p:nvSpPr>
        <p:spPr>
          <a:xfrm>
            <a:off x="6503194" y="5797629"/>
            <a:ext cx="2693551" cy="336590"/>
          </a:xfrm>
          <a:prstGeom prst="rect">
            <a:avLst/>
          </a:prstGeom>
          <a:noFill/>
          <a:ln/>
        </p:spPr>
        <p:txBody>
          <a:bodyPr wrap="none" lIns="0" tIns="0" rIns="0" bIns="0" rtlCol="0" anchor="t"/>
          <a:lstStyle/>
          <a:p>
            <a:pPr algn="l" indent="0" marL="0">
              <a:lnSpc>
                <a:spcPts val="2650"/>
              </a:lnSpc>
              <a:buNone/>
            </a:pPr>
            <a:r>
              <a:rPr lang="en-US" sz="2100" b="1" dirty="0">
                <a:solidFill>
                  <a:srgbClr val="000000"/>
                </a:solidFill>
                <a:latin typeface="Inter Bold" pitchFamily="34" charset="0"/>
                <a:ea typeface="Inter Bold" pitchFamily="34" charset="-122"/>
                <a:cs typeface="Inter Bold" pitchFamily="34" charset="-120"/>
              </a:rPr>
              <a:t>Facial Recognition</a:t>
            </a:r>
            <a:endParaRPr lang="en-US" sz="2100" dirty="0"/>
          </a:p>
        </p:txBody>
      </p:sp>
      <p:sp>
        <p:nvSpPr>
          <p:cNvPr id="12" name="Text 9"/>
          <p:cNvSpPr/>
          <p:nvPr/>
        </p:nvSpPr>
        <p:spPr>
          <a:xfrm>
            <a:off x="6503194" y="6263402"/>
            <a:ext cx="7110412" cy="1034415"/>
          </a:xfrm>
          <a:prstGeom prst="rect">
            <a:avLst/>
          </a:prstGeom>
          <a:noFill/>
          <a:ln/>
        </p:spPr>
        <p:txBody>
          <a:bodyPr wrap="square" lIns="0" tIns="0" rIns="0" bIns="0" rtlCol="0" anchor="t"/>
          <a:lstStyle/>
          <a:p>
            <a:pPr algn="l" indent="0" marL="0">
              <a:lnSpc>
                <a:spcPts val="2700"/>
              </a:lnSpc>
              <a:buNone/>
            </a:pPr>
            <a:r>
              <a:rPr lang="en-US" sz="1650" dirty="0">
                <a:solidFill>
                  <a:srgbClr val="000000"/>
                </a:solidFill>
                <a:latin typeface="Inter" pitchFamily="34" charset="0"/>
                <a:ea typeface="Inter" pitchFamily="34" charset="-122"/>
                <a:cs typeface="Inter" pitchFamily="34" charset="-120"/>
              </a:rPr>
              <a:t>Advanced neural networks can identify individuals from facial features, enabling security applications and personalized experiences across devices.</a:t>
            </a:r>
            <a:endParaRPr lang="en-US" sz="1650" dirty="0"/>
          </a:p>
        </p:txBody>
      </p:sp>
      <p:pic>
        <p:nvPicPr>
          <p:cNvPr id="13" name="Image 1" descr="preencoded.png">    </p:cNvPr>
          <p:cNvPicPr>
            <a:picLocks noChangeAspect="1"/>
          </p:cNvPicPr>
          <p:nvPr/>
        </p:nvPicPr>
        <p:blipFill>
          <a:blip r:embed="rId2"/>
          <a:stretch>
            <a:fillRect/>
          </a:stretch>
        </p:blipFill>
        <p:spPr>
          <a:xfrm>
            <a:off x="13700760" y="228600"/>
            <a:ext cx="701040" cy="664131"/>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1373386"/>
            <a:ext cx="7556421" cy="921544"/>
          </a:xfrm>
          <a:prstGeom prst="rect">
            <a:avLst/>
          </a:prstGeom>
          <a:noFill/>
          <a:ln/>
        </p:spPr>
        <p:txBody>
          <a:bodyPr wrap="square" lIns="0" tIns="0" rIns="0" bIns="0" rtlCol="0" anchor="t"/>
          <a:lstStyle/>
          <a:p>
            <a:pPr algn="l" indent="0" marL="0">
              <a:lnSpc>
                <a:spcPts val="3600"/>
              </a:lnSpc>
              <a:buNone/>
            </a:pPr>
            <a:r>
              <a:rPr lang="en-US" sz="2900" b="1" dirty="0">
                <a:solidFill>
                  <a:srgbClr val="000000"/>
                </a:solidFill>
                <a:latin typeface="Inter Bold" pitchFamily="34" charset="0"/>
                <a:ea typeface="Inter Bold" pitchFamily="34" charset="-122"/>
                <a:cs typeface="Inter Bold" pitchFamily="34" charset="-120"/>
              </a:rPr>
              <a:t>Application: Natural Language Processing</a:t>
            </a:r>
            <a:endParaRPr lang="en-US" sz="2900" dirty="0"/>
          </a:p>
        </p:txBody>
      </p:sp>
      <p:pic>
        <p:nvPicPr>
          <p:cNvPr id="4" name="Image 1" descr="preencoded.png">    </p:cNvPr>
          <p:cNvPicPr>
            <a:picLocks noChangeAspect="1"/>
          </p:cNvPicPr>
          <p:nvPr/>
        </p:nvPicPr>
        <p:blipFill>
          <a:blip r:embed="rId2"/>
          <a:stretch>
            <a:fillRect/>
          </a:stretch>
        </p:blipFill>
        <p:spPr>
          <a:xfrm>
            <a:off x="6280190" y="2516029"/>
            <a:ext cx="737116" cy="1085017"/>
          </a:xfrm>
          <a:prstGeom prst="rect">
            <a:avLst/>
          </a:prstGeom>
        </p:spPr>
      </p:pic>
      <p:sp>
        <p:nvSpPr>
          <p:cNvPr id="5" name="Text 1"/>
          <p:cNvSpPr/>
          <p:nvPr/>
        </p:nvSpPr>
        <p:spPr>
          <a:xfrm>
            <a:off x="7238405" y="2663428"/>
            <a:ext cx="1842968" cy="230386"/>
          </a:xfrm>
          <a:prstGeom prst="rect">
            <a:avLst/>
          </a:prstGeom>
          <a:noFill/>
          <a:ln/>
        </p:spPr>
        <p:txBody>
          <a:bodyPr wrap="none" lIns="0" tIns="0" rIns="0" bIns="0" rtlCol="0" anchor="t"/>
          <a:lstStyle/>
          <a:p>
            <a:pPr algn="l" indent="0" marL="0">
              <a:lnSpc>
                <a:spcPts val="1800"/>
              </a:lnSpc>
              <a:buNone/>
            </a:pPr>
            <a:r>
              <a:rPr lang="en-US" sz="1450" b="1" dirty="0">
                <a:solidFill>
                  <a:srgbClr val="000000"/>
                </a:solidFill>
                <a:latin typeface="Inter Bold" pitchFamily="34" charset="0"/>
                <a:ea typeface="Inter Bold" pitchFamily="34" charset="-122"/>
                <a:cs typeface="Inter Bold" pitchFamily="34" charset="-120"/>
              </a:rPr>
              <a:t>Text Analysis</a:t>
            </a:r>
            <a:endParaRPr lang="en-US" sz="1450" dirty="0"/>
          </a:p>
        </p:txBody>
      </p:sp>
      <p:sp>
        <p:nvSpPr>
          <p:cNvPr id="6" name="Text 2"/>
          <p:cNvSpPr/>
          <p:nvPr/>
        </p:nvSpPr>
        <p:spPr>
          <a:xfrm>
            <a:off x="7238405" y="2982158"/>
            <a:ext cx="6598206" cy="471488"/>
          </a:xfrm>
          <a:prstGeom prst="rect">
            <a:avLst/>
          </a:prstGeom>
          <a:noFill/>
          <a:ln/>
        </p:spPr>
        <p:txBody>
          <a:bodyPr wrap="square" lIns="0" tIns="0" rIns="0" bIns="0" rtlCol="0" anchor="t"/>
          <a:lstStyle/>
          <a:p>
            <a:pPr algn="l" indent="0" marL="0">
              <a:lnSpc>
                <a:spcPts val="1850"/>
              </a:lnSpc>
              <a:buNone/>
            </a:pPr>
            <a:r>
              <a:rPr lang="en-US" sz="1150" dirty="0">
                <a:solidFill>
                  <a:srgbClr val="000000"/>
                </a:solidFill>
                <a:latin typeface="Inter" pitchFamily="34" charset="0"/>
                <a:ea typeface="Inter" pitchFamily="34" charset="-122"/>
                <a:cs typeface="Inter" pitchFamily="34" charset="-120"/>
              </a:rPr>
              <a:t>Neural networks process and understand written text, extracting meaning, sentiment, and key information.</a:t>
            </a:r>
            <a:endParaRPr lang="en-US" sz="1150" dirty="0"/>
          </a:p>
        </p:txBody>
      </p:sp>
      <p:pic>
        <p:nvPicPr>
          <p:cNvPr id="7" name="Image 2" descr="preencoded.png">    </p:cNvPr>
          <p:cNvPicPr>
            <a:picLocks noChangeAspect="1"/>
          </p:cNvPicPr>
          <p:nvPr/>
        </p:nvPicPr>
        <p:blipFill>
          <a:blip r:embed="rId3"/>
          <a:stretch>
            <a:fillRect/>
          </a:stretch>
        </p:blipFill>
        <p:spPr>
          <a:xfrm>
            <a:off x="6280190" y="3601045"/>
            <a:ext cx="737116" cy="1085017"/>
          </a:xfrm>
          <a:prstGeom prst="rect">
            <a:avLst/>
          </a:prstGeom>
        </p:spPr>
      </p:pic>
      <p:sp>
        <p:nvSpPr>
          <p:cNvPr id="8" name="Text 3"/>
          <p:cNvSpPr/>
          <p:nvPr/>
        </p:nvSpPr>
        <p:spPr>
          <a:xfrm>
            <a:off x="7238405" y="3748445"/>
            <a:ext cx="1842968" cy="230386"/>
          </a:xfrm>
          <a:prstGeom prst="rect">
            <a:avLst/>
          </a:prstGeom>
          <a:noFill/>
          <a:ln/>
        </p:spPr>
        <p:txBody>
          <a:bodyPr wrap="none" lIns="0" tIns="0" rIns="0" bIns="0" rtlCol="0" anchor="t"/>
          <a:lstStyle/>
          <a:p>
            <a:pPr algn="l" indent="0" marL="0">
              <a:lnSpc>
                <a:spcPts val="1800"/>
              </a:lnSpc>
              <a:buNone/>
            </a:pPr>
            <a:r>
              <a:rPr lang="en-US" sz="1450" b="1" dirty="0">
                <a:solidFill>
                  <a:srgbClr val="000000"/>
                </a:solidFill>
                <a:latin typeface="Inter Bold" pitchFamily="34" charset="0"/>
                <a:ea typeface="Inter Bold" pitchFamily="34" charset="-122"/>
                <a:cs typeface="Inter Bold" pitchFamily="34" charset="-120"/>
              </a:rPr>
              <a:t>Translation</a:t>
            </a:r>
            <a:endParaRPr lang="en-US" sz="1450" dirty="0"/>
          </a:p>
        </p:txBody>
      </p:sp>
      <p:sp>
        <p:nvSpPr>
          <p:cNvPr id="9" name="Text 4"/>
          <p:cNvSpPr/>
          <p:nvPr/>
        </p:nvSpPr>
        <p:spPr>
          <a:xfrm>
            <a:off x="7238405" y="4067175"/>
            <a:ext cx="6598206" cy="471488"/>
          </a:xfrm>
          <a:prstGeom prst="rect">
            <a:avLst/>
          </a:prstGeom>
          <a:noFill/>
          <a:ln/>
        </p:spPr>
        <p:txBody>
          <a:bodyPr wrap="square" lIns="0" tIns="0" rIns="0" bIns="0" rtlCol="0" anchor="t"/>
          <a:lstStyle/>
          <a:p>
            <a:pPr algn="l" indent="0" marL="0">
              <a:lnSpc>
                <a:spcPts val="1850"/>
              </a:lnSpc>
              <a:buNone/>
            </a:pPr>
            <a:r>
              <a:rPr lang="en-US" sz="1150" dirty="0">
                <a:solidFill>
                  <a:srgbClr val="000000"/>
                </a:solidFill>
                <a:latin typeface="Inter" pitchFamily="34" charset="0"/>
                <a:ea typeface="Inter" pitchFamily="34" charset="-122"/>
                <a:cs typeface="Inter" pitchFamily="34" charset="-120"/>
              </a:rPr>
              <a:t>Systems like Google Translate use neural networks to provide increasingly accurate translations between hundreds of languages.</a:t>
            </a:r>
            <a:endParaRPr lang="en-US" sz="1150" dirty="0"/>
          </a:p>
        </p:txBody>
      </p:sp>
      <p:pic>
        <p:nvPicPr>
          <p:cNvPr id="10" name="Image 3" descr="preencoded.png">    </p:cNvPr>
          <p:cNvPicPr>
            <a:picLocks noChangeAspect="1"/>
          </p:cNvPicPr>
          <p:nvPr/>
        </p:nvPicPr>
        <p:blipFill>
          <a:blip r:embed="rId4"/>
          <a:stretch>
            <a:fillRect/>
          </a:stretch>
        </p:blipFill>
        <p:spPr>
          <a:xfrm>
            <a:off x="6280190" y="4686062"/>
            <a:ext cx="737116" cy="1085017"/>
          </a:xfrm>
          <a:prstGeom prst="rect">
            <a:avLst/>
          </a:prstGeom>
        </p:spPr>
      </p:pic>
      <p:sp>
        <p:nvSpPr>
          <p:cNvPr id="11" name="Text 5"/>
          <p:cNvSpPr/>
          <p:nvPr/>
        </p:nvSpPr>
        <p:spPr>
          <a:xfrm>
            <a:off x="7238405" y="4833461"/>
            <a:ext cx="1842968" cy="230386"/>
          </a:xfrm>
          <a:prstGeom prst="rect">
            <a:avLst/>
          </a:prstGeom>
          <a:noFill/>
          <a:ln/>
        </p:spPr>
        <p:txBody>
          <a:bodyPr wrap="none" lIns="0" tIns="0" rIns="0" bIns="0" rtlCol="0" anchor="t"/>
          <a:lstStyle/>
          <a:p>
            <a:pPr algn="l" indent="0" marL="0">
              <a:lnSpc>
                <a:spcPts val="1800"/>
              </a:lnSpc>
              <a:buNone/>
            </a:pPr>
            <a:r>
              <a:rPr lang="en-US" sz="1450" b="1" dirty="0">
                <a:solidFill>
                  <a:srgbClr val="000000"/>
                </a:solidFill>
                <a:latin typeface="Inter Bold" pitchFamily="34" charset="0"/>
                <a:ea typeface="Inter Bold" pitchFamily="34" charset="-122"/>
                <a:cs typeface="Inter Bold" pitchFamily="34" charset="-120"/>
              </a:rPr>
              <a:t>Chatbots</a:t>
            </a:r>
            <a:endParaRPr lang="en-US" sz="1450" dirty="0"/>
          </a:p>
        </p:txBody>
      </p:sp>
      <p:sp>
        <p:nvSpPr>
          <p:cNvPr id="12" name="Text 6"/>
          <p:cNvSpPr/>
          <p:nvPr/>
        </p:nvSpPr>
        <p:spPr>
          <a:xfrm>
            <a:off x="7238405" y="5152192"/>
            <a:ext cx="6598206" cy="471488"/>
          </a:xfrm>
          <a:prstGeom prst="rect">
            <a:avLst/>
          </a:prstGeom>
          <a:noFill/>
          <a:ln/>
        </p:spPr>
        <p:txBody>
          <a:bodyPr wrap="square" lIns="0" tIns="0" rIns="0" bIns="0" rtlCol="0" anchor="t"/>
          <a:lstStyle/>
          <a:p>
            <a:pPr algn="l" indent="0" marL="0">
              <a:lnSpc>
                <a:spcPts val="1850"/>
              </a:lnSpc>
              <a:buNone/>
            </a:pPr>
            <a:r>
              <a:rPr lang="en-US" sz="1150" dirty="0">
                <a:solidFill>
                  <a:srgbClr val="000000"/>
                </a:solidFill>
                <a:latin typeface="Inter" pitchFamily="34" charset="0"/>
                <a:ea typeface="Inter" pitchFamily="34" charset="-122"/>
                <a:cs typeface="Inter" pitchFamily="34" charset="-120"/>
              </a:rPr>
              <a:t>Intelligent conversational agents use neural networks to understand queries and generate human-like responses.</a:t>
            </a:r>
            <a:endParaRPr lang="en-US" sz="1150" dirty="0"/>
          </a:p>
        </p:txBody>
      </p:sp>
      <p:pic>
        <p:nvPicPr>
          <p:cNvPr id="13" name="Image 4" descr="preencoded.png">    </p:cNvPr>
          <p:cNvPicPr>
            <a:picLocks noChangeAspect="1"/>
          </p:cNvPicPr>
          <p:nvPr/>
        </p:nvPicPr>
        <p:blipFill>
          <a:blip r:embed="rId5"/>
          <a:stretch>
            <a:fillRect/>
          </a:stretch>
        </p:blipFill>
        <p:spPr>
          <a:xfrm>
            <a:off x="6280190" y="5771078"/>
            <a:ext cx="737116" cy="1085017"/>
          </a:xfrm>
          <a:prstGeom prst="rect">
            <a:avLst/>
          </a:prstGeom>
        </p:spPr>
      </p:pic>
      <p:sp>
        <p:nvSpPr>
          <p:cNvPr id="14" name="Text 7"/>
          <p:cNvSpPr/>
          <p:nvPr/>
        </p:nvSpPr>
        <p:spPr>
          <a:xfrm>
            <a:off x="7238405" y="5918478"/>
            <a:ext cx="1842968" cy="230386"/>
          </a:xfrm>
          <a:prstGeom prst="rect">
            <a:avLst/>
          </a:prstGeom>
          <a:noFill/>
          <a:ln/>
        </p:spPr>
        <p:txBody>
          <a:bodyPr wrap="none" lIns="0" tIns="0" rIns="0" bIns="0" rtlCol="0" anchor="t"/>
          <a:lstStyle/>
          <a:p>
            <a:pPr algn="l" indent="0" marL="0">
              <a:lnSpc>
                <a:spcPts val="1800"/>
              </a:lnSpc>
              <a:buNone/>
            </a:pPr>
            <a:r>
              <a:rPr lang="en-US" sz="1450" b="1" dirty="0">
                <a:solidFill>
                  <a:srgbClr val="000000"/>
                </a:solidFill>
                <a:latin typeface="Inter Bold" pitchFamily="34" charset="0"/>
                <a:ea typeface="Inter Bold" pitchFamily="34" charset="-122"/>
                <a:cs typeface="Inter Bold" pitchFamily="34" charset="-120"/>
              </a:rPr>
              <a:t>Content Generation</a:t>
            </a:r>
            <a:endParaRPr lang="en-US" sz="1450" dirty="0"/>
          </a:p>
        </p:txBody>
      </p:sp>
      <p:sp>
        <p:nvSpPr>
          <p:cNvPr id="15" name="Text 8"/>
          <p:cNvSpPr/>
          <p:nvPr/>
        </p:nvSpPr>
        <p:spPr>
          <a:xfrm>
            <a:off x="7238405" y="6237208"/>
            <a:ext cx="6598206" cy="471488"/>
          </a:xfrm>
          <a:prstGeom prst="rect">
            <a:avLst/>
          </a:prstGeom>
          <a:noFill/>
          <a:ln/>
        </p:spPr>
        <p:txBody>
          <a:bodyPr wrap="square" lIns="0" tIns="0" rIns="0" bIns="0" rtlCol="0" anchor="t"/>
          <a:lstStyle/>
          <a:p>
            <a:pPr algn="l" indent="0" marL="0">
              <a:lnSpc>
                <a:spcPts val="1850"/>
              </a:lnSpc>
              <a:buNone/>
            </a:pPr>
            <a:r>
              <a:rPr lang="en-US" sz="1150" dirty="0">
                <a:solidFill>
                  <a:srgbClr val="000000"/>
                </a:solidFill>
                <a:latin typeface="Inter" pitchFamily="34" charset="0"/>
                <a:ea typeface="Inter" pitchFamily="34" charset="-122"/>
                <a:cs typeface="Inter" pitchFamily="34" charset="-120"/>
              </a:rPr>
              <a:t>Advanced models can create coherent articles, stories, and other text content based on prompts or requirements.</a:t>
            </a:r>
            <a:endParaRPr lang="en-US" sz="1150" dirty="0"/>
          </a:p>
        </p:txBody>
      </p:sp>
      <p:pic>
        <p:nvPicPr>
          <p:cNvPr id="16" name="Image 5" descr="preencoded.png">    </p:cNvPr>
          <p:cNvPicPr>
            <a:picLocks noChangeAspect="1"/>
          </p:cNvPicPr>
          <p:nvPr/>
        </p:nvPicPr>
        <p:blipFill>
          <a:blip r:embed="rId6"/>
          <a:stretch>
            <a:fillRect/>
          </a:stretch>
        </p:blipFill>
        <p:spPr>
          <a:xfrm>
            <a:off x="13700760" y="228600"/>
            <a:ext cx="701040" cy="664131"/>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749856"/>
            <a:ext cx="7273528" cy="602456"/>
          </a:xfrm>
          <a:prstGeom prst="rect">
            <a:avLst/>
          </a:prstGeom>
          <a:noFill/>
          <a:ln/>
        </p:spPr>
        <p:txBody>
          <a:bodyPr wrap="none" lIns="0" tIns="0" rIns="0" bIns="0" rtlCol="0" anchor="t"/>
          <a:lstStyle/>
          <a:p>
            <a:pPr algn="l" indent="0" marL="0">
              <a:lnSpc>
                <a:spcPts val="4700"/>
              </a:lnSpc>
              <a:buNone/>
            </a:pPr>
            <a:r>
              <a:rPr lang="en-US" sz="3750" b="1" dirty="0">
                <a:solidFill>
                  <a:srgbClr val="000000"/>
                </a:solidFill>
                <a:latin typeface="Inter Bold" pitchFamily="34" charset="0"/>
                <a:ea typeface="Inter Bold" pitchFamily="34" charset="-122"/>
                <a:cs typeface="Inter Bold" pitchFamily="34" charset="-120"/>
              </a:rPr>
              <a:t>Application: Financial Services</a:t>
            </a:r>
            <a:endParaRPr lang="en-US" sz="3750" dirty="0"/>
          </a:p>
        </p:txBody>
      </p:sp>
      <p:pic>
        <p:nvPicPr>
          <p:cNvPr id="4" name="Image 1" descr="preencoded.png">    </p:cNvPr>
          <p:cNvPicPr>
            <a:picLocks noChangeAspect="1"/>
          </p:cNvPicPr>
          <p:nvPr/>
        </p:nvPicPr>
        <p:blipFill>
          <a:blip r:embed="rId2"/>
          <a:stretch>
            <a:fillRect/>
          </a:stretch>
        </p:blipFill>
        <p:spPr>
          <a:xfrm>
            <a:off x="6280190" y="1641515"/>
            <a:ext cx="481965" cy="481965"/>
          </a:xfrm>
          <a:prstGeom prst="rect">
            <a:avLst/>
          </a:prstGeom>
        </p:spPr>
      </p:pic>
      <p:sp>
        <p:nvSpPr>
          <p:cNvPr id="5" name="Text 1"/>
          <p:cNvSpPr/>
          <p:nvPr/>
        </p:nvSpPr>
        <p:spPr>
          <a:xfrm>
            <a:off x="6280190" y="2316242"/>
            <a:ext cx="2326005" cy="301228"/>
          </a:xfrm>
          <a:prstGeom prst="rect">
            <a:avLst/>
          </a:prstGeom>
          <a:noFill/>
          <a:ln/>
        </p:spPr>
        <p:txBody>
          <a:bodyPr wrap="none" lIns="0" tIns="0" rIns="0" bIns="0" rtlCol="0" anchor="t"/>
          <a:lstStyle/>
          <a:p>
            <a:pPr algn="l" indent="0" marL="0">
              <a:lnSpc>
                <a:spcPts val="2350"/>
              </a:lnSpc>
              <a:buNone/>
            </a:pPr>
            <a:r>
              <a:rPr lang="en-US" sz="1850" b="1" dirty="0">
                <a:solidFill>
                  <a:srgbClr val="000000"/>
                </a:solidFill>
                <a:latin typeface="Inter Bold" pitchFamily="34" charset="0"/>
                <a:ea typeface="Inter Bold" pitchFamily="34" charset="-122"/>
                <a:cs typeface="Inter Bold" pitchFamily="34" charset="-120"/>
              </a:rPr>
              <a:t>Market Prediction</a:t>
            </a:r>
            <a:endParaRPr lang="en-US" sz="1850" dirty="0"/>
          </a:p>
        </p:txBody>
      </p:sp>
      <p:sp>
        <p:nvSpPr>
          <p:cNvPr id="6" name="Text 2"/>
          <p:cNvSpPr/>
          <p:nvPr/>
        </p:nvSpPr>
        <p:spPr>
          <a:xfrm>
            <a:off x="6280190" y="2733080"/>
            <a:ext cx="2326005" cy="1541859"/>
          </a:xfrm>
          <a:prstGeom prst="rect">
            <a:avLst/>
          </a:prstGeom>
          <a:noFill/>
          <a:ln/>
        </p:spPr>
        <p:txBody>
          <a:bodyPr wrap="square" lIns="0" tIns="0" rIns="0" bIns="0" rtlCol="0" anchor="t"/>
          <a:lstStyle/>
          <a:p>
            <a:pPr algn="l" indent="0" marL="0">
              <a:lnSpc>
                <a:spcPts val="2400"/>
              </a:lnSpc>
              <a:buNone/>
            </a:pPr>
            <a:r>
              <a:rPr lang="en-US" sz="1500" dirty="0">
                <a:solidFill>
                  <a:srgbClr val="000000"/>
                </a:solidFill>
                <a:latin typeface="Inter" pitchFamily="34" charset="0"/>
                <a:ea typeface="Inter" pitchFamily="34" charset="-122"/>
                <a:cs typeface="Inter" pitchFamily="34" charset="-120"/>
              </a:rPr>
              <a:t>Neural networks analyze market trends and historical data to forecast stock prices and market movements.</a:t>
            </a:r>
            <a:endParaRPr lang="en-US" sz="1500" dirty="0"/>
          </a:p>
        </p:txBody>
      </p:sp>
      <p:pic>
        <p:nvPicPr>
          <p:cNvPr id="7" name="Image 2" descr="preencoded.png">    </p:cNvPr>
          <p:cNvPicPr>
            <a:picLocks noChangeAspect="1"/>
          </p:cNvPicPr>
          <p:nvPr/>
        </p:nvPicPr>
        <p:blipFill>
          <a:blip r:embed="rId3"/>
          <a:stretch>
            <a:fillRect/>
          </a:stretch>
        </p:blipFill>
        <p:spPr>
          <a:xfrm>
            <a:off x="8895398" y="1641515"/>
            <a:ext cx="481965" cy="481965"/>
          </a:xfrm>
          <a:prstGeom prst="rect">
            <a:avLst/>
          </a:prstGeom>
        </p:spPr>
      </p:pic>
      <p:sp>
        <p:nvSpPr>
          <p:cNvPr id="8" name="Text 3"/>
          <p:cNvSpPr/>
          <p:nvPr/>
        </p:nvSpPr>
        <p:spPr>
          <a:xfrm>
            <a:off x="8895398" y="2316242"/>
            <a:ext cx="2326005" cy="301228"/>
          </a:xfrm>
          <a:prstGeom prst="rect">
            <a:avLst/>
          </a:prstGeom>
          <a:noFill/>
          <a:ln/>
        </p:spPr>
        <p:txBody>
          <a:bodyPr wrap="none" lIns="0" tIns="0" rIns="0" bIns="0" rtlCol="0" anchor="t"/>
          <a:lstStyle/>
          <a:p>
            <a:pPr algn="l" indent="0" marL="0">
              <a:lnSpc>
                <a:spcPts val="2350"/>
              </a:lnSpc>
              <a:buNone/>
            </a:pPr>
            <a:r>
              <a:rPr lang="en-US" sz="1850" b="1" dirty="0">
                <a:solidFill>
                  <a:srgbClr val="000000"/>
                </a:solidFill>
                <a:latin typeface="Inter Bold" pitchFamily="34" charset="0"/>
                <a:ea typeface="Inter Bold" pitchFamily="34" charset="-122"/>
                <a:cs typeface="Inter Bold" pitchFamily="34" charset="-120"/>
              </a:rPr>
              <a:t>Fraud Detection</a:t>
            </a:r>
            <a:endParaRPr lang="en-US" sz="1850" dirty="0"/>
          </a:p>
        </p:txBody>
      </p:sp>
      <p:sp>
        <p:nvSpPr>
          <p:cNvPr id="9" name="Text 4"/>
          <p:cNvSpPr/>
          <p:nvPr/>
        </p:nvSpPr>
        <p:spPr>
          <a:xfrm>
            <a:off x="8895398" y="2733080"/>
            <a:ext cx="2326005" cy="1541859"/>
          </a:xfrm>
          <a:prstGeom prst="rect">
            <a:avLst/>
          </a:prstGeom>
          <a:noFill/>
          <a:ln/>
        </p:spPr>
        <p:txBody>
          <a:bodyPr wrap="square" lIns="0" tIns="0" rIns="0" bIns="0" rtlCol="0" anchor="t"/>
          <a:lstStyle/>
          <a:p>
            <a:pPr algn="l" indent="0" marL="0">
              <a:lnSpc>
                <a:spcPts val="2400"/>
              </a:lnSpc>
              <a:buNone/>
            </a:pPr>
            <a:r>
              <a:rPr lang="en-US" sz="1500" dirty="0">
                <a:solidFill>
                  <a:srgbClr val="000000"/>
                </a:solidFill>
                <a:latin typeface="Inter" pitchFamily="34" charset="0"/>
                <a:ea typeface="Inter" pitchFamily="34" charset="-122"/>
                <a:cs typeface="Inter" pitchFamily="34" charset="-120"/>
              </a:rPr>
              <a:t>Advanced systems identify unusual patterns in transaction data to flag potential fraudulent activities.</a:t>
            </a:r>
            <a:endParaRPr lang="en-US" sz="1500" dirty="0"/>
          </a:p>
        </p:txBody>
      </p:sp>
      <p:pic>
        <p:nvPicPr>
          <p:cNvPr id="10" name="Image 3" descr="preencoded.png">    </p:cNvPr>
          <p:cNvPicPr>
            <a:picLocks noChangeAspect="1"/>
          </p:cNvPicPr>
          <p:nvPr/>
        </p:nvPicPr>
        <p:blipFill>
          <a:blip r:embed="rId4"/>
          <a:stretch>
            <a:fillRect/>
          </a:stretch>
        </p:blipFill>
        <p:spPr>
          <a:xfrm>
            <a:off x="11510605" y="1641515"/>
            <a:ext cx="481965" cy="481965"/>
          </a:xfrm>
          <a:prstGeom prst="rect">
            <a:avLst/>
          </a:prstGeom>
        </p:spPr>
      </p:pic>
      <p:sp>
        <p:nvSpPr>
          <p:cNvPr id="11" name="Text 5"/>
          <p:cNvSpPr/>
          <p:nvPr/>
        </p:nvSpPr>
        <p:spPr>
          <a:xfrm>
            <a:off x="11510605" y="2316242"/>
            <a:ext cx="2326005" cy="301228"/>
          </a:xfrm>
          <a:prstGeom prst="rect">
            <a:avLst/>
          </a:prstGeom>
          <a:noFill/>
          <a:ln/>
        </p:spPr>
        <p:txBody>
          <a:bodyPr wrap="none" lIns="0" tIns="0" rIns="0" bIns="0" rtlCol="0" anchor="t"/>
          <a:lstStyle/>
          <a:p>
            <a:pPr algn="l" indent="0" marL="0">
              <a:lnSpc>
                <a:spcPts val="2350"/>
              </a:lnSpc>
              <a:buNone/>
            </a:pPr>
            <a:r>
              <a:rPr lang="en-US" sz="1850" b="1" dirty="0">
                <a:solidFill>
                  <a:srgbClr val="000000"/>
                </a:solidFill>
                <a:latin typeface="Inter Bold" pitchFamily="34" charset="0"/>
                <a:ea typeface="Inter Bold" pitchFamily="34" charset="-122"/>
                <a:cs typeface="Inter Bold" pitchFamily="34" charset="-120"/>
              </a:rPr>
              <a:t>Credit Scoring</a:t>
            </a:r>
            <a:endParaRPr lang="en-US" sz="1850" dirty="0"/>
          </a:p>
        </p:txBody>
      </p:sp>
      <p:sp>
        <p:nvSpPr>
          <p:cNvPr id="12" name="Text 6"/>
          <p:cNvSpPr/>
          <p:nvPr/>
        </p:nvSpPr>
        <p:spPr>
          <a:xfrm>
            <a:off x="11510605" y="2733080"/>
            <a:ext cx="2326005" cy="1541859"/>
          </a:xfrm>
          <a:prstGeom prst="rect">
            <a:avLst/>
          </a:prstGeom>
          <a:noFill/>
          <a:ln/>
        </p:spPr>
        <p:txBody>
          <a:bodyPr wrap="square" lIns="0" tIns="0" rIns="0" bIns="0" rtlCol="0" anchor="t"/>
          <a:lstStyle/>
          <a:p>
            <a:pPr algn="l" indent="0" marL="0">
              <a:lnSpc>
                <a:spcPts val="2400"/>
              </a:lnSpc>
              <a:buNone/>
            </a:pPr>
            <a:r>
              <a:rPr lang="en-US" sz="1500" dirty="0">
                <a:solidFill>
                  <a:srgbClr val="000000"/>
                </a:solidFill>
                <a:latin typeface="Inter" pitchFamily="34" charset="0"/>
                <a:ea typeface="Inter" pitchFamily="34" charset="-122"/>
                <a:cs typeface="Inter" pitchFamily="34" charset="-120"/>
              </a:rPr>
              <a:t>Neural networks assess creditworthiness by analyzing various factors beyond traditional credit history.</a:t>
            </a:r>
            <a:endParaRPr lang="en-US" sz="1500" dirty="0"/>
          </a:p>
        </p:txBody>
      </p:sp>
      <p:pic>
        <p:nvPicPr>
          <p:cNvPr id="13" name="Image 4" descr="preencoded.png">    </p:cNvPr>
          <p:cNvPicPr>
            <a:picLocks noChangeAspect="1"/>
          </p:cNvPicPr>
          <p:nvPr/>
        </p:nvPicPr>
        <p:blipFill>
          <a:blip r:embed="rId5"/>
          <a:stretch>
            <a:fillRect/>
          </a:stretch>
        </p:blipFill>
        <p:spPr>
          <a:xfrm>
            <a:off x="6280190" y="4853345"/>
            <a:ext cx="481965" cy="481965"/>
          </a:xfrm>
          <a:prstGeom prst="rect">
            <a:avLst/>
          </a:prstGeom>
        </p:spPr>
      </p:pic>
      <p:sp>
        <p:nvSpPr>
          <p:cNvPr id="14" name="Text 7"/>
          <p:cNvSpPr/>
          <p:nvPr/>
        </p:nvSpPr>
        <p:spPr>
          <a:xfrm>
            <a:off x="6280190" y="5528072"/>
            <a:ext cx="2326005" cy="602456"/>
          </a:xfrm>
          <a:prstGeom prst="rect">
            <a:avLst/>
          </a:prstGeom>
          <a:noFill/>
          <a:ln/>
        </p:spPr>
        <p:txBody>
          <a:bodyPr wrap="square" lIns="0" tIns="0" rIns="0" bIns="0" rtlCol="0" anchor="t"/>
          <a:lstStyle/>
          <a:p>
            <a:pPr algn="l" indent="0" marL="0">
              <a:lnSpc>
                <a:spcPts val="2350"/>
              </a:lnSpc>
              <a:buNone/>
            </a:pPr>
            <a:r>
              <a:rPr lang="en-US" sz="1850" b="1" dirty="0">
                <a:solidFill>
                  <a:srgbClr val="000000"/>
                </a:solidFill>
                <a:latin typeface="Inter Bold" pitchFamily="34" charset="0"/>
                <a:ea typeface="Inter Bold" pitchFamily="34" charset="-122"/>
                <a:cs typeface="Inter Bold" pitchFamily="34" charset="-120"/>
              </a:rPr>
              <a:t>Algorithmic Trading</a:t>
            </a:r>
            <a:endParaRPr lang="en-US" sz="1850" dirty="0"/>
          </a:p>
        </p:txBody>
      </p:sp>
      <p:sp>
        <p:nvSpPr>
          <p:cNvPr id="15" name="Text 8"/>
          <p:cNvSpPr/>
          <p:nvPr/>
        </p:nvSpPr>
        <p:spPr>
          <a:xfrm>
            <a:off x="6280190" y="6246138"/>
            <a:ext cx="2326005" cy="1233487"/>
          </a:xfrm>
          <a:prstGeom prst="rect">
            <a:avLst/>
          </a:prstGeom>
          <a:noFill/>
          <a:ln/>
        </p:spPr>
        <p:txBody>
          <a:bodyPr wrap="square" lIns="0" tIns="0" rIns="0" bIns="0" rtlCol="0" anchor="t"/>
          <a:lstStyle/>
          <a:p>
            <a:pPr algn="l" indent="0" marL="0">
              <a:lnSpc>
                <a:spcPts val="2400"/>
              </a:lnSpc>
              <a:buNone/>
            </a:pPr>
            <a:r>
              <a:rPr lang="en-US" sz="1500" dirty="0">
                <a:solidFill>
                  <a:srgbClr val="000000"/>
                </a:solidFill>
                <a:latin typeface="Inter" pitchFamily="34" charset="0"/>
                <a:ea typeface="Inter" pitchFamily="34" charset="-122"/>
                <a:cs typeface="Inter" pitchFamily="34" charset="-120"/>
              </a:rPr>
              <a:t>Automated systems execute trades at optimal times based on neural network analysis.</a:t>
            </a:r>
            <a:endParaRPr lang="en-US" sz="1500" dirty="0"/>
          </a:p>
        </p:txBody>
      </p:sp>
      <p:pic>
        <p:nvPicPr>
          <p:cNvPr id="16" name="Image 5" descr="preencoded.png">    </p:cNvPr>
          <p:cNvPicPr>
            <a:picLocks noChangeAspect="1"/>
          </p:cNvPicPr>
          <p:nvPr/>
        </p:nvPicPr>
        <p:blipFill>
          <a:blip r:embed="rId6"/>
          <a:stretch>
            <a:fillRect/>
          </a:stretch>
        </p:blipFill>
        <p:spPr>
          <a:xfrm>
            <a:off x="13700760" y="228600"/>
            <a:ext cx="701040" cy="664131"/>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793790" y="1251109"/>
            <a:ext cx="7485578" cy="708779"/>
          </a:xfrm>
          <a:prstGeom prst="rect">
            <a:avLst/>
          </a:prstGeom>
          <a:noFill/>
          <a:ln/>
        </p:spPr>
        <p:txBody>
          <a:bodyPr wrap="none" lIns="0" tIns="0" rIns="0" bIns="0" rtlCol="0" anchor="t"/>
          <a:lstStyle/>
          <a:p>
            <a:pPr algn="l" indent="0" marL="0">
              <a:lnSpc>
                <a:spcPts val="5550"/>
              </a:lnSpc>
              <a:buNone/>
            </a:pPr>
            <a:r>
              <a:rPr lang="en-US" sz="4450" b="1" dirty="0">
                <a:solidFill>
                  <a:srgbClr val="000000"/>
                </a:solidFill>
                <a:latin typeface="Inter Bold" pitchFamily="34" charset="0"/>
                <a:ea typeface="Inter Bold" pitchFamily="34" charset="-122"/>
                <a:cs typeface="Inter Bold" pitchFamily="34" charset="-120"/>
              </a:rPr>
              <a:t>Challenges and Limitations</a:t>
            </a:r>
            <a:endParaRPr lang="en-US" sz="4450" dirty="0"/>
          </a:p>
        </p:txBody>
      </p:sp>
      <p:sp>
        <p:nvSpPr>
          <p:cNvPr id="3" name="Text 1"/>
          <p:cNvSpPr/>
          <p:nvPr/>
        </p:nvSpPr>
        <p:spPr>
          <a:xfrm>
            <a:off x="1857256" y="2680097"/>
            <a:ext cx="2835235" cy="354330"/>
          </a:xfrm>
          <a:prstGeom prst="rect">
            <a:avLst/>
          </a:prstGeom>
          <a:noFill/>
          <a:ln/>
        </p:spPr>
        <p:txBody>
          <a:bodyPr wrap="none" lIns="0" tIns="0" rIns="0" bIns="0" rtlCol="0" anchor="t"/>
          <a:lstStyle/>
          <a:p>
            <a:pPr algn="r"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Data Requirements</a:t>
            </a:r>
            <a:endParaRPr lang="en-US" sz="2200" dirty="0"/>
          </a:p>
        </p:txBody>
      </p:sp>
      <p:sp>
        <p:nvSpPr>
          <p:cNvPr id="4" name="Text 2"/>
          <p:cNvSpPr/>
          <p:nvPr/>
        </p:nvSpPr>
        <p:spPr>
          <a:xfrm>
            <a:off x="793790" y="3170515"/>
            <a:ext cx="3898702" cy="1088708"/>
          </a:xfrm>
          <a:prstGeom prst="rect">
            <a:avLst/>
          </a:prstGeom>
          <a:noFill/>
          <a:ln/>
        </p:spPr>
        <p:txBody>
          <a:bodyPr wrap="square" lIns="0" tIns="0" rIns="0" bIns="0" rtlCol="0" anchor="t"/>
          <a:lstStyle/>
          <a:p>
            <a:pPr algn="r" indent="0" marL="0">
              <a:lnSpc>
                <a:spcPts val="2850"/>
              </a:lnSpc>
              <a:buNone/>
            </a:pPr>
            <a:r>
              <a:rPr lang="en-US" sz="1750" dirty="0">
                <a:solidFill>
                  <a:srgbClr val="000000"/>
                </a:solidFill>
                <a:latin typeface="Inter" pitchFamily="34" charset="0"/>
                <a:ea typeface="Inter" pitchFamily="34" charset="-122"/>
                <a:cs typeface="Inter" pitchFamily="34" charset="-120"/>
              </a:rPr>
              <a:t>Neural networks typically require large amounts of high-quality training data to perform effectively.</a:t>
            </a:r>
            <a:endParaRPr lang="en-US" sz="1750" dirty="0"/>
          </a:p>
        </p:txBody>
      </p:sp>
      <p:pic>
        <p:nvPicPr>
          <p:cNvPr id="5" name="Image 0" descr="preencoded.png">    </p:cNvPr>
          <p:cNvPicPr>
            <a:picLocks noChangeAspect="1"/>
          </p:cNvPicPr>
          <p:nvPr/>
        </p:nvPicPr>
        <p:blipFill>
          <a:blip r:embed="rId1"/>
          <a:stretch>
            <a:fillRect/>
          </a:stretch>
        </p:blipFill>
        <p:spPr>
          <a:xfrm>
            <a:off x="5032653" y="2413516"/>
            <a:ext cx="4564975" cy="4564975"/>
          </a:xfrm>
          <a:prstGeom prst="rect">
            <a:avLst/>
          </a:prstGeom>
        </p:spPr>
      </p:pic>
      <p:pic>
        <p:nvPicPr>
          <p:cNvPr id="6" name="Image 1" descr="preencoded.png">    </p:cNvPr>
          <p:cNvPicPr>
            <a:picLocks noChangeAspect="1"/>
          </p:cNvPicPr>
          <p:nvPr/>
        </p:nvPicPr>
        <p:blipFill>
          <a:blip r:embed="rId2"/>
          <a:stretch>
            <a:fillRect/>
          </a:stretch>
        </p:blipFill>
        <p:spPr>
          <a:xfrm>
            <a:off x="6015633" y="3353991"/>
            <a:ext cx="339328" cy="424220"/>
          </a:xfrm>
          <a:prstGeom prst="rect">
            <a:avLst/>
          </a:prstGeom>
        </p:spPr>
      </p:pic>
      <p:sp>
        <p:nvSpPr>
          <p:cNvPr id="7" name="Text 3"/>
          <p:cNvSpPr/>
          <p:nvPr/>
        </p:nvSpPr>
        <p:spPr>
          <a:xfrm>
            <a:off x="9937790" y="2680097"/>
            <a:ext cx="3324225"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Computational Intensity</a:t>
            </a:r>
            <a:endParaRPr lang="en-US" sz="2200" dirty="0"/>
          </a:p>
        </p:txBody>
      </p:sp>
      <p:sp>
        <p:nvSpPr>
          <p:cNvPr id="8" name="Text 4"/>
          <p:cNvSpPr/>
          <p:nvPr/>
        </p:nvSpPr>
        <p:spPr>
          <a:xfrm>
            <a:off x="9937790" y="3170515"/>
            <a:ext cx="3898821" cy="1088708"/>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Training complex neural networks demands significant computational resources and energy.</a:t>
            </a:r>
            <a:endParaRPr lang="en-US" sz="1750" dirty="0"/>
          </a:p>
        </p:txBody>
      </p:sp>
      <p:pic>
        <p:nvPicPr>
          <p:cNvPr id="9" name="Image 2" descr="preencoded.png">    </p:cNvPr>
          <p:cNvPicPr>
            <a:picLocks noChangeAspect="1"/>
          </p:cNvPicPr>
          <p:nvPr/>
        </p:nvPicPr>
        <p:blipFill>
          <a:blip r:embed="rId3"/>
          <a:stretch>
            <a:fillRect/>
          </a:stretch>
        </p:blipFill>
        <p:spPr>
          <a:xfrm>
            <a:off x="5032653" y="2413516"/>
            <a:ext cx="4564975" cy="4564975"/>
          </a:xfrm>
          <a:prstGeom prst="rect">
            <a:avLst/>
          </a:prstGeom>
        </p:spPr>
      </p:pic>
      <p:pic>
        <p:nvPicPr>
          <p:cNvPr id="10" name="Image 3" descr="preencoded.png">    </p:cNvPr>
          <p:cNvPicPr>
            <a:picLocks noChangeAspect="1"/>
          </p:cNvPicPr>
          <p:nvPr/>
        </p:nvPicPr>
        <p:blipFill>
          <a:blip r:embed="rId4"/>
          <a:stretch>
            <a:fillRect/>
          </a:stretch>
        </p:blipFill>
        <p:spPr>
          <a:xfrm>
            <a:off x="8275201" y="3353991"/>
            <a:ext cx="339328" cy="424220"/>
          </a:xfrm>
          <a:prstGeom prst="rect">
            <a:avLst/>
          </a:prstGeom>
        </p:spPr>
      </p:pic>
      <p:sp>
        <p:nvSpPr>
          <p:cNvPr id="11" name="Text 5"/>
          <p:cNvSpPr/>
          <p:nvPr/>
        </p:nvSpPr>
        <p:spPr>
          <a:xfrm>
            <a:off x="9937790" y="5132665"/>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Black Box Problem</a:t>
            </a:r>
            <a:endParaRPr lang="en-US" sz="2200" dirty="0"/>
          </a:p>
        </p:txBody>
      </p:sp>
      <p:sp>
        <p:nvSpPr>
          <p:cNvPr id="12" name="Text 6"/>
          <p:cNvSpPr/>
          <p:nvPr/>
        </p:nvSpPr>
        <p:spPr>
          <a:xfrm>
            <a:off x="9937790" y="5623084"/>
            <a:ext cx="3898821" cy="1088708"/>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The decision-making process of neural networks can be difficult to interpret or explain.</a:t>
            </a:r>
            <a:endParaRPr lang="en-US" sz="1750" dirty="0"/>
          </a:p>
        </p:txBody>
      </p:sp>
      <p:pic>
        <p:nvPicPr>
          <p:cNvPr id="13" name="Image 4" descr="preencoded.png">    </p:cNvPr>
          <p:cNvPicPr>
            <a:picLocks noChangeAspect="1"/>
          </p:cNvPicPr>
          <p:nvPr/>
        </p:nvPicPr>
        <p:blipFill>
          <a:blip r:embed="rId5"/>
          <a:stretch>
            <a:fillRect/>
          </a:stretch>
        </p:blipFill>
        <p:spPr>
          <a:xfrm>
            <a:off x="5032653" y="2413516"/>
            <a:ext cx="4564975" cy="4564975"/>
          </a:xfrm>
          <a:prstGeom prst="rect">
            <a:avLst/>
          </a:prstGeom>
        </p:spPr>
      </p:pic>
      <p:pic>
        <p:nvPicPr>
          <p:cNvPr id="14" name="Image 5" descr="preencoded.png">    </p:cNvPr>
          <p:cNvPicPr>
            <a:picLocks noChangeAspect="1"/>
          </p:cNvPicPr>
          <p:nvPr/>
        </p:nvPicPr>
        <p:blipFill>
          <a:blip r:embed="rId6"/>
          <a:stretch>
            <a:fillRect/>
          </a:stretch>
        </p:blipFill>
        <p:spPr>
          <a:xfrm>
            <a:off x="8275201" y="5613559"/>
            <a:ext cx="339328" cy="424220"/>
          </a:xfrm>
          <a:prstGeom prst="rect">
            <a:avLst/>
          </a:prstGeom>
        </p:spPr>
      </p:pic>
      <p:sp>
        <p:nvSpPr>
          <p:cNvPr id="15" name="Text 7"/>
          <p:cNvSpPr/>
          <p:nvPr/>
        </p:nvSpPr>
        <p:spPr>
          <a:xfrm>
            <a:off x="1857256" y="5132665"/>
            <a:ext cx="2835235" cy="354330"/>
          </a:xfrm>
          <a:prstGeom prst="rect">
            <a:avLst/>
          </a:prstGeom>
          <a:noFill/>
          <a:ln/>
        </p:spPr>
        <p:txBody>
          <a:bodyPr wrap="none" lIns="0" tIns="0" rIns="0" bIns="0" rtlCol="0" anchor="t"/>
          <a:lstStyle/>
          <a:p>
            <a:pPr algn="r"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Ethical Concerns</a:t>
            </a:r>
            <a:endParaRPr lang="en-US" sz="2200" dirty="0"/>
          </a:p>
        </p:txBody>
      </p:sp>
      <p:sp>
        <p:nvSpPr>
          <p:cNvPr id="16" name="Text 8"/>
          <p:cNvSpPr/>
          <p:nvPr/>
        </p:nvSpPr>
        <p:spPr>
          <a:xfrm>
            <a:off x="793790" y="5623084"/>
            <a:ext cx="3898702" cy="1088708"/>
          </a:xfrm>
          <a:prstGeom prst="rect">
            <a:avLst/>
          </a:prstGeom>
          <a:noFill/>
          <a:ln/>
        </p:spPr>
        <p:txBody>
          <a:bodyPr wrap="square" lIns="0" tIns="0" rIns="0" bIns="0" rtlCol="0" anchor="t"/>
          <a:lstStyle/>
          <a:p>
            <a:pPr algn="r" indent="0" marL="0">
              <a:lnSpc>
                <a:spcPts val="2850"/>
              </a:lnSpc>
              <a:buNone/>
            </a:pPr>
            <a:r>
              <a:rPr lang="en-US" sz="1750" dirty="0">
                <a:solidFill>
                  <a:srgbClr val="000000"/>
                </a:solidFill>
                <a:latin typeface="Inter" pitchFamily="34" charset="0"/>
                <a:ea typeface="Inter" pitchFamily="34" charset="-122"/>
                <a:cs typeface="Inter" pitchFamily="34" charset="-120"/>
              </a:rPr>
              <a:t>Applications raise questions about privacy, bias, and the societal impact of AI systems.</a:t>
            </a:r>
            <a:endParaRPr lang="en-US" sz="1750" dirty="0"/>
          </a:p>
        </p:txBody>
      </p:sp>
      <p:pic>
        <p:nvPicPr>
          <p:cNvPr id="17" name="Image 6" descr="preencoded.png">    </p:cNvPr>
          <p:cNvPicPr>
            <a:picLocks noChangeAspect="1"/>
          </p:cNvPicPr>
          <p:nvPr/>
        </p:nvPicPr>
        <p:blipFill>
          <a:blip r:embed="rId7"/>
          <a:stretch>
            <a:fillRect/>
          </a:stretch>
        </p:blipFill>
        <p:spPr>
          <a:xfrm>
            <a:off x="5032653" y="2413516"/>
            <a:ext cx="4564975" cy="4564975"/>
          </a:xfrm>
          <a:prstGeom prst="rect">
            <a:avLst/>
          </a:prstGeom>
        </p:spPr>
      </p:pic>
      <p:pic>
        <p:nvPicPr>
          <p:cNvPr id="18" name="Image 7" descr="preencoded.png">    </p:cNvPr>
          <p:cNvPicPr>
            <a:picLocks noChangeAspect="1"/>
          </p:cNvPicPr>
          <p:nvPr/>
        </p:nvPicPr>
        <p:blipFill>
          <a:blip r:embed="rId8"/>
          <a:stretch>
            <a:fillRect/>
          </a:stretch>
        </p:blipFill>
        <p:spPr>
          <a:xfrm>
            <a:off x="6015633" y="5613559"/>
            <a:ext cx="339328" cy="424220"/>
          </a:xfrm>
          <a:prstGeom prst="rect">
            <a:avLst/>
          </a:prstGeom>
        </p:spPr>
      </p:pic>
      <p:pic>
        <p:nvPicPr>
          <p:cNvPr id="19" name="Image 8" descr="preencoded.png">    </p:cNvPr>
          <p:cNvPicPr>
            <a:picLocks noChangeAspect="1"/>
          </p:cNvPicPr>
          <p:nvPr/>
        </p:nvPicPr>
        <p:blipFill>
          <a:blip r:embed="rId9"/>
          <a:stretch>
            <a:fillRect/>
          </a:stretch>
        </p:blipFill>
        <p:spPr>
          <a:xfrm>
            <a:off x="13700760" y="228600"/>
            <a:ext cx="701040" cy="664131"/>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646867"/>
            <a:ext cx="6364724" cy="531614"/>
          </a:xfrm>
          <a:prstGeom prst="rect">
            <a:avLst/>
          </a:prstGeom>
          <a:noFill/>
          <a:ln/>
        </p:spPr>
        <p:txBody>
          <a:bodyPr wrap="none" lIns="0" tIns="0" rIns="0" bIns="0" rtlCol="0" anchor="t"/>
          <a:lstStyle/>
          <a:p>
            <a:pPr algn="l" indent="0" marL="0">
              <a:lnSpc>
                <a:spcPts val="4150"/>
              </a:lnSpc>
              <a:buNone/>
            </a:pPr>
            <a:r>
              <a:rPr lang="en-US" sz="3300" b="1" dirty="0">
                <a:solidFill>
                  <a:srgbClr val="000000"/>
                </a:solidFill>
                <a:latin typeface="Inter Bold" pitchFamily="34" charset="0"/>
                <a:ea typeface="Inter Bold" pitchFamily="34" charset="-122"/>
                <a:cs typeface="Inter Bold" pitchFamily="34" charset="-120"/>
              </a:rPr>
              <a:t>The Future of Neural Networks</a:t>
            </a:r>
            <a:endParaRPr lang="en-US" sz="3300" dirty="0"/>
          </a:p>
        </p:txBody>
      </p:sp>
      <p:sp>
        <p:nvSpPr>
          <p:cNvPr id="4" name="Text 1"/>
          <p:cNvSpPr/>
          <p:nvPr/>
        </p:nvSpPr>
        <p:spPr>
          <a:xfrm>
            <a:off x="793790" y="1518642"/>
            <a:ext cx="3650575" cy="561380"/>
          </a:xfrm>
          <a:prstGeom prst="rect">
            <a:avLst/>
          </a:prstGeom>
          <a:noFill/>
          <a:ln/>
        </p:spPr>
        <p:txBody>
          <a:bodyPr wrap="none" lIns="0" tIns="0" rIns="0" bIns="0" rtlCol="0" anchor="t"/>
          <a:lstStyle/>
          <a:p>
            <a:pPr algn="ctr" indent="0" marL="0">
              <a:lnSpc>
                <a:spcPts val="4400"/>
              </a:lnSpc>
              <a:buNone/>
            </a:pPr>
            <a:r>
              <a:rPr lang="en-US" sz="4400" b="1" dirty="0">
                <a:solidFill>
                  <a:srgbClr val="000000"/>
                </a:solidFill>
                <a:latin typeface="Inter Bold" pitchFamily="34" charset="0"/>
                <a:ea typeface="Inter Bold" pitchFamily="34" charset="-122"/>
                <a:cs typeface="Inter Bold" pitchFamily="34" charset="-120"/>
              </a:rPr>
              <a:t>100x</a:t>
            </a:r>
            <a:endParaRPr lang="en-US" sz="4400" dirty="0"/>
          </a:p>
        </p:txBody>
      </p:sp>
      <p:sp>
        <p:nvSpPr>
          <p:cNvPr id="5" name="Text 2"/>
          <p:cNvSpPr/>
          <p:nvPr/>
        </p:nvSpPr>
        <p:spPr>
          <a:xfrm>
            <a:off x="1555790" y="2292548"/>
            <a:ext cx="2126456" cy="265747"/>
          </a:xfrm>
          <a:prstGeom prst="rect">
            <a:avLst/>
          </a:prstGeom>
          <a:noFill/>
          <a:ln/>
        </p:spPr>
        <p:txBody>
          <a:bodyPr wrap="none" lIns="0" tIns="0" rIns="0" bIns="0" rtlCol="0" anchor="t"/>
          <a:lstStyle/>
          <a:p>
            <a:pPr algn="ctr" indent="0" marL="0">
              <a:lnSpc>
                <a:spcPts val="2050"/>
              </a:lnSpc>
              <a:buNone/>
            </a:pPr>
            <a:r>
              <a:rPr lang="en-US" sz="1650" b="1" dirty="0">
                <a:solidFill>
                  <a:srgbClr val="000000"/>
                </a:solidFill>
                <a:latin typeface="Inter Bold" pitchFamily="34" charset="0"/>
                <a:ea typeface="Inter Bold" pitchFamily="34" charset="-122"/>
                <a:cs typeface="Inter Bold" pitchFamily="34" charset="-120"/>
              </a:rPr>
              <a:t>Efficiency Gains</a:t>
            </a:r>
            <a:endParaRPr lang="en-US" sz="1650" dirty="0"/>
          </a:p>
        </p:txBody>
      </p:sp>
      <p:sp>
        <p:nvSpPr>
          <p:cNvPr id="6" name="Text 3"/>
          <p:cNvSpPr/>
          <p:nvPr/>
        </p:nvSpPr>
        <p:spPr>
          <a:xfrm>
            <a:off x="793790" y="2660332"/>
            <a:ext cx="3650575" cy="816531"/>
          </a:xfrm>
          <a:prstGeom prst="rect">
            <a:avLst/>
          </a:prstGeom>
          <a:noFill/>
          <a:ln/>
        </p:spPr>
        <p:txBody>
          <a:bodyPr wrap="square" lIns="0" tIns="0" rIns="0" bIns="0" rtlCol="0" anchor="t"/>
          <a:lstStyle/>
          <a:p>
            <a:pPr algn="ctr" indent="0" marL="0">
              <a:lnSpc>
                <a:spcPts val="2100"/>
              </a:lnSpc>
              <a:buNone/>
            </a:pPr>
            <a:r>
              <a:rPr lang="en-US" sz="1300" dirty="0">
                <a:solidFill>
                  <a:srgbClr val="000000"/>
                </a:solidFill>
                <a:latin typeface="Inter" pitchFamily="34" charset="0"/>
                <a:ea typeface="Inter" pitchFamily="34" charset="-122"/>
                <a:cs typeface="Inter" pitchFamily="34" charset="-120"/>
              </a:rPr>
              <a:t>Next-generation neural networks may achieve similar results with a fraction of the computational resources.</a:t>
            </a:r>
            <a:endParaRPr lang="en-US" sz="1300" dirty="0"/>
          </a:p>
        </p:txBody>
      </p:sp>
      <p:sp>
        <p:nvSpPr>
          <p:cNvPr id="7" name="Text 4"/>
          <p:cNvSpPr/>
          <p:nvPr/>
        </p:nvSpPr>
        <p:spPr>
          <a:xfrm>
            <a:off x="4699516" y="1518642"/>
            <a:ext cx="3650694" cy="561380"/>
          </a:xfrm>
          <a:prstGeom prst="rect">
            <a:avLst/>
          </a:prstGeom>
          <a:noFill/>
          <a:ln/>
        </p:spPr>
        <p:txBody>
          <a:bodyPr wrap="none" lIns="0" tIns="0" rIns="0" bIns="0" rtlCol="0" anchor="t"/>
          <a:lstStyle/>
          <a:p>
            <a:pPr algn="ctr" indent="0" marL="0">
              <a:lnSpc>
                <a:spcPts val="4400"/>
              </a:lnSpc>
              <a:buNone/>
            </a:pPr>
            <a:r>
              <a:rPr lang="en-US" sz="4400" b="1" dirty="0">
                <a:solidFill>
                  <a:srgbClr val="000000"/>
                </a:solidFill>
                <a:latin typeface="Inter Bold" pitchFamily="34" charset="0"/>
                <a:ea typeface="Inter Bold" pitchFamily="34" charset="-122"/>
                <a:cs typeface="Inter Bold" pitchFamily="34" charset="-120"/>
              </a:rPr>
              <a:t>10B+</a:t>
            </a:r>
            <a:endParaRPr lang="en-US" sz="4400" dirty="0"/>
          </a:p>
        </p:txBody>
      </p:sp>
      <p:sp>
        <p:nvSpPr>
          <p:cNvPr id="8" name="Text 5"/>
          <p:cNvSpPr/>
          <p:nvPr/>
        </p:nvSpPr>
        <p:spPr>
          <a:xfrm>
            <a:off x="5461635" y="2292548"/>
            <a:ext cx="2126456" cy="265747"/>
          </a:xfrm>
          <a:prstGeom prst="rect">
            <a:avLst/>
          </a:prstGeom>
          <a:noFill/>
          <a:ln/>
        </p:spPr>
        <p:txBody>
          <a:bodyPr wrap="none" lIns="0" tIns="0" rIns="0" bIns="0" rtlCol="0" anchor="t"/>
          <a:lstStyle/>
          <a:p>
            <a:pPr algn="ctr" indent="0" marL="0">
              <a:lnSpc>
                <a:spcPts val="2050"/>
              </a:lnSpc>
              <a:buNone/>
            </a:pPr>
            <a:r>
              <a:rPr lang="en-US" sz="1650" b="1" dirty="0">
                <a:solidFill>
                  <a:srgbClr val="000000"/>
                </a:solidFill>
                <a:latin typeface="Inter Bold" pitchFamily="34" charset="0"/>
                <a:ea typeface="Inter Bold" pitchFamily="34" charset="-122"/>
                <a:cs typeface="Inter Bold" pitchFamily="34" charset="-120"/>
              </a:rPr>
              <a:t>Parameters</a:t>
            </a:r>
            <a:endParaRPr lang="en-US" sz="1650" dirty="0"/>
          </a:p>
        </p:txBody>
      </p:sp>
      <p:sp>
        <p:nvSpPr>
          <p:cNvPr id="9" name="Text 6"/>
          <p:cNvSpPr/>
          <p:nvPr/>
        </p:nvSpPr>
        <p:spPr>
          <a:xfrm>
            <a:off x="4699516" y="2660332"/>
            <a:ext cx="3650694" cy="544354"/>
          </a:xfrm>
          <a:prstGeom prst="rect">
            <a:avLst/>
          </a:prstGeom>
          <a:noFill/>
          <a:ln/>
        </p:spPr>
        <p:txBody>
          <a:bodyPr wrap="square" lIns="0" tIns="0" rIns="0" bIns="0" rtlCol="0" anchor="t"/>
          <a:lstStyle/>
          <a:p>
            <a:pPr algn="ctr" indent="0" marL="0">
              <a:lnSpc>
                <a:spcPts val="2100"/>
              </a:lnSpc>
              <a:buNone/>
            </a:pPr>
            <a:r>
              <a:rPr lang="en-US" sz="1300" dirty="0">
                <a:solidFill>
                  <a:srgbClr val="000000"/>
                </a:solidFill>
                <a:latin typeface="Inter" pitchFamily="34" charset="0"/>
                <a:ea typeface="Inter" pitchFamily="34" charset="-122"/>
                <a:cs typeface="Inter" pitchFamily="34" charset="-120"/>
              </a:rPr>
              <a:t>Larger models with billions of parameters will tackle increasingly complex problems.</a:t>
            </a:r>
            <a:endParaRPr lang="en-US" sz="1300" dirty="0"/>
          </a:p>
        </p:txBody>
      </p:sp>
      <p:sp>
        <p:nvSpPr>
          <p:cNvPr id="10" name="Text 7"/>
          <p:cNvSpPr/>
          <p:nvPr/>
        </p:nvSpPr>
        <p:spPr>
          <a:xfrm>
            <a:off x="2746653" y="4072176"/>
            <a:ext cx="3650575" cy="561380"/>
          </a:xfrm>
          <a:prstGeom prst="rect">
            <a:avLst/>
          </a:prstGeom>
          <a:noFill/>
          <a:ln/>
        </p:spPr>
        <p:txBody>
          <a:bodyPr wrap="none" lIns="0" tIns="0" rIns="0" bIns="0" rtlCol="0" anchor="t"/>
          <a:lstStyle/>
          <a:p>
            <a:pPr algn="ctr" indent="0" marL="0">
              <a:lnSpc>
                <a:spcPts val="4400"/>
              </a:lnSpc>
              <a:buNone/>
            </a:pPr>
            <a:r>
              <a:rPr lang="en-US" sz="4400" b="1" dirty="0">
                <a:solidFill>
                  <a:srgbClr val="000000"/>
                </a:solidFill>
                <a:latin typeface="Inter Bold" pitchFamily="34" charset="0"/>
                <a:ea typeface="Inter Bold" pitchFamily="34" charset="-122"/>
                <a:cs typeface="Inter Bold" pitchFamily="34" charset="-120"/>
              </a:rPr>
              <a:t>$15.7T</a:t>
            </a:r>
            <a:endParaRPr lang="en-US" sz="4400" dirty="0"/>
          </a:p>
        </p:txBody>
      </p:sp>
      <p:sp>
        <p:nvSpPr>
          <p:cNvPr id="11" name="Text 8"/>
          <p:cNvSpPr/>
          <p:nvPr/>
        </p:nvSpPr>
        <p:spPr>
          <a:xfrm>
            <a:off x="3508653" y="4846082"/>
            <a:ext cx="2126456" cy="265747"/>
          </a:xfrm>
          <a:prstGeom prst="rect">
            <a:avLst/>
          </a:prstGeom>
          <a:noFill/>
          <a:ln/>
        </p:spPr>
        <p:txBody>
          <a:bodyPr wrap="none" lIns="0" tIns="0" rIns="0" bIns="0" rtlCol="0" anchor="t"/>
          <a:lstStyle/>
          <a:p>
            <a:pPr algn="ctr" indent="0" marL="0">
              <a:lnSpc>
                <a:spcPts val="2050"/>
              </a:lnSpc>
              <a:buNone/>
            </a:pPr>
            <a:r>
              <a:rPr lang="en-US" sz="1650" b="1" dirty="0">
                <a:solidFill>
                  <a:srgbClr val="000000"/>
                </a:solidFill>
                <a:latin typeface="Inter Bold" pitchFamily="34" charset="0"/>
                <a:ea typeface="Inter Bold" pitchFamily="34" charset="-122"/>
                <a:cs typeface="Inter Bold" pitchFamily="34" charset="-120"/>
              </a:rPr>
              <a:t>Economic Impact</a:t>
            </a:r>
            <a:endParaRPr lang="en-US" sz="1650" dirty="0"/>
          </a:p>
        </p:txBody>
      </p:sp>
      <p:sp>
        <p:nvSpPr>
          <p:cNvPr id="12" name="Text 9"/>
          <p:cNvSpPr/>
          <p:nvPr/>
        </p:nvSpPr>
        <p:spPr>
          <a:xfrm>
            <a:off x="2746653" y="5213866"/>
            <a:ext cx="3650575" cy="816531"/>
          </a:xfrm>
          <a:prstGeom prst="rect">
            <a:avLst/>
          </a:prstGeom>
          <a:noFill/>
          <a:ln/>
        </p:spPr>
        <p:txBody>
          <a:bodyPr wrap="square" lIns="0" tIns="0" rIns="0" bIns="0" rtlCol="0" anchor="t"/>
          <a:lstStyle/>
          <a:p>
            <a:pPr algn="ctr" indent="0" marL="0">
              <a:lnSpc>
                <a:spcPts val="2100"/>
              </a:lnSpc>
              <a:buNone/>
            </a:pPr>
            <a:r>
              <a:rPr lang="en-US" sz="1300" dirty="0">
                <a:solidFill>
                  <a:srgbClr val="000000"/>
                </a:solidFill>
                <a:latin typeface="Inter" pitchFamily="34" charset="0"/>
                <a:ea typeface="Inter" pitchFamily="34" charset="-122"/>
                <a:cs typeface="Inter" pitchFamily="34" charset="-120"/>
              </a:rPr>
              <a:t>Projected global economic impact of AI by 2030, with neural networks playing a central role.</a:t>
            </a:r>
            <a:endParaRPr lang="en-US" sz="1300" dirty="0"/>
          </a:p>
        </p:txBody>
      </p:sp>
      <p:sp>
        <p:nvSpPr>
          <p:cNvPr id="13" name="Text 10"/>
          <p:cNvSpPr/>
          <p:nvPr/>
        </p:nvSpPr>
        <p:spPr>
          <a:xfrm>
            <a:off x="793790" y="6221730"/>
            <a:ext cx="7556421" cy="1360884"/>
          </a:xfrm>
          <a:prstGeom prst="rect">
            <a:avLst/>
          </a:prstGeom>
          <a:noFill/>
          <a:ln/>
        </p:spPr>
        <p:txBody>
          <a:bodyPr wrap="square" lIns="0" tIns="0" rIns="0" bIns="0" rtlCol="0" anchor="t"/>
          <a:lstStyle/>
          <a:p>
            <a:pPr algn="l" indent="0" marL="0">
              <a:lnSpc>
                <a:spcPts val="2100"/>
              </a:lnSpc>
              <a:buNone/>
            </a:pPr>
            <a:r>
              <a:rPr lang="en-US" sz="1300" dirty="0">
                <a:solidFill>
                  <a:srgbClr val="000000"/>
                </a:solidFill>
                <a:latin typeface="Inter" pitchFamily="34" charset="0"/>
                <a:ea typeface="Inter" pitchFamily="34" charset="-122"/>
                <a:cs typeface="Inter" pitchFamily="34" charset="-120"/>
              </a:rPr>
              <a:t>As neural network technology continues to advance, we can expect more sophisticated applications across industries. Improvements in interpretability will address the black box problem, while energy-efficient architectures will make deployment more sustainable. The integration of neural networks with other AI techniques will create hybrid systems with enhanced capabilities, opening new frontiers in artificial intelligence.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2025-04-27T12:10:21Z</dcterms:created>
  <dcterms:modified xsi:type="dcterms:W3CDTF">2025-04-27T12:10:21Z</dcterms:modified>
</cp:coreProperties>
</file>