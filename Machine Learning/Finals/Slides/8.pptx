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9.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5.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7.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9.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5.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4037" y="2195751"/>
            <a:ext cx="12902327" cy="1609963"/>
          </a:xfrm>
          <a:prstGeom prst="rect">
            <a:avLst/>
          </a:prstGeom>
          <a:noFill/>
          <a:ln/>
        </p:spPr>
        <p:txBody>
          <a:bodyPr wrap="squar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Understanding Cost Functions &amp; Gradient Descent</a:t>
            </a:r>
            <a:endParaRPr lang="en-US" sz="5050" dirty="0"/>
          </a:p>
        </p:txBody>
      </p:sp>
      <p:sp>
        <p:nvSpPr>
          <p:cNvPr id="3" name="Text 1"/>
          <p:cNvSpPr/>
          <p:nvPr/>
        </p:nvSpPr>
        <p:spPr>
          <a:xfrm>
            <a:off x="864037" y="4175998"/>
            <a:ext cx="12902327" cy="118514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Welcome to this comprehensive guide on cost functions and gradient descent—fundamental concepts in machine learning optimization. Throughout this presentation, we'll break down these complex topics into intuitive explanations with practical examples.</a:t>
            </a:r>
            <a:endParaRPr lang="en-US" sz="1900" dirty="0"/>
          </a:p>
        </p:txBody>
      </p:sp>
      <p:sp>
        <p:nvSpPr>
          <p:cNvPr id="4" name="Text 2"/>
          <p:cNvSpPr/>
          <p:nvPr/>
        </p:nvSpPr>
        <p:spPr>
          <a:xfrm>
            <a:off x="864037" y="5638800"/>
            <a:ext cx="12902327" cy="395049"/>
          </a:xfrm>
          <a:prstGeom prst="rect">
            <a:avLst/>
          </a:prstGeom>
          <a:noFill/>
          <a:ln/>
        </p:spPr>
        <p:txBody>
          <a:bodyPr wrap="non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Muhammad Saeed</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607106"/>
            <a:ext cx="7769662"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What is a Cost Function?</a:t>
            </a:r>
            <a:endParaRPr lang="en-US" sz="5050" dirty="0"/>
          </a:p>
        </p:txBody>
      </p:sp>
      <p:sp>
        <p:nvSpPr>
          <p:cNvPr id="3" name="Shape 1"/>
          <p:cNvSpPr/>
          <p:nvPr/>
        </p:nvSpPr>
        <p:spPr>
          <a:xfrm>
            <a:off x="864037" y="2782372"/>
            <a:ext cx="4136231" cy="3840123"/>
          </a:xfrm>
          <a:prstGeom prst="roundRect">
            <a:avLst>
              <a:gd name="adj" fmla="val 2700"/>
            </a:avLst>
          </a:prstGeom>
          <a:solidFill>
            <a:srgbClr val="DADBF1"/>
          </a:solidFill>
          <a:ln w="15240">
            <a:solidFill>
              <a:srgbClr val="C0C1D7"/>
            </a:solidFill>
            <a:prstDash val="solid"/>
          </a:ln>
        </p:spPr>
      </p:sp>
      <p:sp>
        <p:nvSpPr>
          <p:cNvPr id="4" name="Text 2"/>
          <p:cNvSpPr/>
          <p:nvPr/>
        </p:nvSpPr>
        <p:spPr>
          <a:xfrm>
            <a:off x="1126093" y="3044428"/>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Definition</a:t>
            </a:r>
            <a:endParaRPr lang="en-US" sz="2500" dirty="0"/>
          </a:p>
        </p:txBody>
      </p:sp>
      <p:sp>
        <p:nvSpPr>
          <p:cNvPr id="5" name="Text 3"/>
          <p:cNvSpPr/>
          <p:nvPr/>
        </p:nvSpPr>
        <p:spPr>
          <a:xfrm>
            <a:off x="1126093" y="3595092"/>
            <a:ext cx="3612118" cy="2765346"/>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A </a:t>
            </a:r>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cost function</a:t>
            </a:r>
            <a:pPr algn="l" indent="0" marL="0">
              <a:lnSpc>
                <a:spcPts val="3100"/>
              </a:lnSpc>
              <a:buNone/>
            </a:pPr>
            <a:r>
              <a:rPr lang="en-US" sz="1900" dirty="0">
                <a:solidFill>
                  <a:srgbClr val="272525"/>
                </a:solidFill>
                <a:latin typeface="Inter" pitchFamily="34" charset="0"/>
                <a:ea typeface="Inter" pitchFamily="34" charset="-122"/>
                <a:cs typeface="Inter" pitchFamily="34" charset="-120"/>
              </a:rPr>
              <a:t> (or </a:t>
            </a:r>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loss function</a:t>
            </a:r>
            <a:pPr algn="l" indent="0" marL="0">
              <a:lnSpc>
                <a:spcPts val="3100"/>
              </a:lnSpc>
              <a:buNone/>
            </a:pPr>
            <a:r>
              <a:rPr lang="en-US" sz="1900" dirty="0">
                <a:solidFill>
                  <a:srgbClr val="272525"/>
                </a:solidFill>
                <a:latin typeface="Inter" pitchFamily="34" charset="0"/>
                <a:ea typeface="Inter" pitchFamily="34" charset="-122"/>
                <a:cs typeface="Inter" pitchFamily="34" charset="-120"/>
              </a:rPr>
              <a:t>) measures how well a machine learning model is performing. It calculates the error between the predicted output and the actual target values.</a:t>
            </a:r>
            <a:endParaRPr lang="en-US" sz="1900" dirty="0"/>
          </a:p>
        </p:txBody>
      </p:sp>
      <p:sp>
        <p:nvSpPr>
          <p:cNvPr id="6" name="Shape 4"/>
          <p:cNvSpPr/>
          <p:nvPr/>
        </p:nvSpPr>
        <p:spPr>
          <a:xfrm>
            <a:off x="5247084" y="2782372"/>
            <a:ext cx="4136231" cy="3840123"/>
          </a:xfrm>
          <a:prstGeom prst="roundRect">
            <a:avLst>
              <a:gd name="adj" fmla="val 2700"/>
            </a:avLst>
          </a:prstGeom>
          <a:solidFill>
            <a:srgbClr val="DADBF1"/>
          </a:solidFill>
          <a:ln w="15240">
            <a:solidFill>
              <a:srgbClr val="C0C1D7"/>
            </a:solidFill>
            <a:prstDash val="solid"/>
          </a:ln>
        </p:spPr>
      </p:sp>
      <p:sp>
        <p:nvSpPr>
          <p:cNvPr id="7" name="Text 5"/>
          <p:cNvSpPr/>
          <p:nvPr/>
        </p:nvSpPr>
        <p:spPr>
          <a:xfrm>
            <a:off x="5509141" y="3044428"/>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Purpose</a:t>
            </a:r>
            <a:endParaRPr lang="en-US" sz="2500" dirty="0"/>
          </a:p>
        </p:txBody>
      </p:sp>
      <p:sp>
        <p:nvSpPr>
          <p:cNvPr id="8" name="Text 6"/>
          <p:cNvSpPr/>
          <p:nvPr/>
        </p:nvSpPr>
        <p:spPr>
          <a:xfrm>
            <a:off x="5509141" y="3595092"/>
            <a:ext cx="3612118" cy="2370296"/>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It provides a single numerical value that represents the model's overall performance, allowing us to quantitatively assess and improve predictions.</a:t>
            </a:r>
            <a:endParaRPr lang="en-US" sz="1900" dirty="0"/>
          </a:p>
        </p:txBody>
      </p:sp>
      <p:sp>
        <p:nvSpPr>
          <p:cNvPr id="9" name="Shape 7"/>
          <p:cNvSpPr/>
          <p:nvPr/>
        </p:nvSpPr>
        <p:spPr>
          <a:xfrm>
            <a:off x="9630132" y="2782372"/>
            <a:ext cx="4136231" cy="3840123"/>
          </a:xfrm>
          <a:prstGeom prst="roundRect">
            <a:avLst>
              <a:gd name="adj" fmla="val 2700"/>
            </a:avLst>
          </a:prstGeom>
          <a:solidFill>
            <a:srgbClr val="DADBF1"/>
          </a:solidFill>
          <a:ln w="15240">
            <a:solidFill>
              <a:srgbClr val="C0C1D7"/>
            </a:solidFill>
            <a:prstDash val="solid"/>
          </a:ln>
        </p:spPr>
      </p:sp>
      <p:sp>
        <p:nvSpPr>
          <p:cNvPr id="10" name="Text 8"/>
          <p:cNvSpPr/>
          <p:nvPr/>
        </p:nvSpPr>
        <p:spPr>
          <a:xfrm>
            <a:off x="9892189" y="3044428"/>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Goal</a:t>
            </a:r>
            <a:endParaRPr lang="en-US" sz="2500" dirty="0"/>
          </a:p>
        </p:txBody>
      </p:sp>
      <p:sp>
        <p:nvSpPr>
          <p:cNvPr id="11" name="Text 9"/>
          <p:cNvSpPr/>
          <p:nvPr/>
        </p:nvSpPr>
        <p:spPr>
          <a:xfrm>
            <a:off x="9892189" y="3595092"/>
            <a:ext cx="3612118" cy="1975247"/>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The objective is to </a:t>
            </a:r>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minimize</a:t>
            </a:r>
            <a:pPr algn="l" indent="0" marL="0">
              <a:lnSpc>
                <a:spcPts val="3100"/>
              </a:lnSpc>
              <a:buNone/>
            </a:pPr>
            <a:r>
              <a:rPr lang="en-US" sz="1900" dirty="0">
                <a:solidFill>
                  <a:srgbClr val="272525"/>
                </a:solidFill>
                <a:latin typeface="Inter" pitchFamily="34" charset="0"/>
                <a:ea typeface="Inter" pitchFamily="34" charset="-122"/>
                <a:cs typeface="Inter" pitchFamily="34" charset="-120"/>
              </a:rPr>
              <a:t> this function. Lower values indicate better performance as the model's predictions more closely match actual values.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2123" y="622459"/>
            <a:ext cx="10227112" cy="737949"/>
          </a:xfrm>
          <a:prstGeom prst="rect">
            <a:avLst/>
          </a:prstGeom>
          <a:noFill/>
          <a:ln/>
        </p:spPr>
        <p:txBody>
          <a:bodyPr wrap="none" lIns="0" tIns="0" rIns="0" bIns="0" rtlCol="0" anchor="t"/>
          <a:lstStyle/>
          <a:p>
            <a:pPr algn="l" indent="0" marL="0">
              <a:lnSpc>
                <a:spcPts val="5800"/>
              </a:lnSpc>
              <a:buNone/>
            </a:pPr>
            <a:r>
              <a:rPr lang="en-US" sz="4600" b="1" dirty="0">
                <a:solidFill>
                  <a:srgbClr val="000000"/>
                </a:solidFill>
                <a:latin typeface="Inter Bold" pitchFamily="34" charset="0"/>
                <a:ea typeface="Inter Bold" pitchFamily="34" charset="-122"/>
                <a:cs typeface="Inter Bold" pitchFamily="34" charset="-120"/>
              </a:rPr>
              <a:t>The Mathematics of Cost Functions</a:t>
            </a:r>
            <a:endParaRPr lang="en-US" sz="4600" dirty="0"/>
          </a:p>
        </p:txBody>
      </p:sp>
      <p:sp>
        <p:nvSpPr>
          <p:cNvPr id="3" name="Text 1"/>
          <p:cNvSpPr/>
          <p:nvPr/>
        </p:nvSpPr>
        <p:spPr>
          <a:xfrm>
            <a:off x="792123" y="1926193"/>
            <a:ext cx="3819049" cy="369094"/>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Mean Squared Error (MSE)</a:t>
            </a:r>
            <a:endParaRPr lang="en-US" sz="2300" dirty="0"/>
          </a:p>
        </p:txBody>
      </p:sp>
      <p:sp>
        <p:nvSpPr>
          <p:cNvPr id="4" name="Text 2"/>
          <p:cNvSpPr/>
          <p:nvPr/>
        </p:nvSpPr>
        <p:spPr>
          <a:xfrm>
            <a:off x="792123" y="2521625"/>
            <a:ext cx="6246971" cy="72413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For </a:t>
            </a:r>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Linear Regression</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the most common cost function is the </a:t>
            </a:r>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Mean Squared Error (MSE)</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a:t>
            </a:r>
            <a:endParaRPr lang="en-US" sz="1750" dirty="0"/>
          </a:p>
        </p:txBody>
      </p:sp>
      <p:sp>
        <p:nvSpPr>
          <p:cNvPr id="5" name="Shape 3"/>
          <p:cNvSpPr/>
          <p:nvPr/>
        </p:nvSpPr>
        <p:spPr>
          <a:xfrm>
            <a:off x="792123" y="3500318"/>
            <a:ext cx="6246971" cy="701397"/>
          </a:xfrm>
          <a:prstGeom prst="roundRect">
            <a:avLst>
              <a:gd name="adj" fmla="val 13554"/>
            </a:avLst>
          </a:prstGeom>
          <a:solidFill>
            <a:srgbClr val="DADBF1"/>
          </a:solidFill>
          <a:ln/>
        </p:spPr>
      </p:sp>
      <p:sp>
        <p:nvSpPr>
          <p:cNvPr id="6" name="Shape 4"/>
          <p:cNvSpPr/>
          <p:nvPr/>
        </p:nvSpPr>
        <p:spPr>
          <a:xfrm>
            <a:off x="780812" y="3500318"/>
            <a:ext cx="6269593" cy="701397"/>
          </a:xfrm>
          <a:prstGeom prst="roundRect">
            <a:avLst>
              <a:gd name="adj" fmla="val 4841"/>
            </a:avLst>
          </a:prstGeom>
          <a:solidFill>
            <a:srgbClr val="DADBF1"/>
          </a:solidFill>
          <a:ln/>
        </p:spPr>
      </p:sp>
      <p:sp>
        <p:nvSpPr>
          <p:cNvPr id="7" name="Text 5"/>
          <p:cNvSpPr/>
          <p:nvPr/>
        </p:nvSpPr>
        <p:spPr>
          <a:xfrm>
            <a:off x="1007150" y="3669982"/>
            <a:ext cx="5816918" cy="362069"/>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highlight>
                  <a:srgbClr val="DADBF1"/>
                </a:highlight>
                <a:latin typeface="Consolas" pitchFamily="34" charset="0"/>
                <a:ea typeface="Consolas" pitchFamily="34" charset="-122"/>
                <a:cs typeface="Consolas" pitchFamily="34" charset="-120"/>
              </a:rPr>
              <a:t>J(θ) = (1/2m) ∑(hθ(x^(i)) - y^(i))²</a:t>
            </a:r>
            <a:endParaRPr lang="en-US" sz="1750" dirty="0"/>
          </a:p>
        </p:txBody>
      </p:sp>
      <p:sp>
        <p:nvSpPr>
          <p:cNvPr id="8" name="Text 6"/>
          <p:cNvSpPr/>
          <p:nvPr/>
        </p:nvSpPr>
        <p:spPr>
          <a:xfrm>
            <a:off x="792123" y="4456271"/>
            <a:ext cx="6246971" cy="362069"/>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Where:</a:t>
            </a:r>
            <a:endParaRPr lang="en-US" sz="1750" dirty="0"/>
          </a:p>
        </p:txBody>
      </p:sp>
      <p:sp>
        <p:nvSpPr>
          <p:cNvPr id="9" name="Text 7"/>
          <p:cNvSpPr/>
          <p:nvPr/>
        </p:nvSpPr>
        <p:spPr>
          <a:xfrm>
            <a:off x="792123" y="5021937"/>
            <a:ext cx="6246971" cy="36206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J(θ) is the cost function</a:t>
            </a:r>
            <a:endParaRPr lang="en-US" sz="1750" dirty="0"/>
          </a:p>
        </p:txBody>
      </p:sp>
      <p:sp>
        <p:nvSpPr>
          <p:cNvPr id="10" name="Text 8"/>
          <p:cNvSpPr/>
          <p:nvPr/>
        </p:nvSpPr>
        <p:spPr>
          <a:xfrm>
            <a:off x="792123" y="5463183"/>
            <a:ext cx="6246971" cy="36206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m is the number of training examples</a:t>
            </a:r>
            <a:endParaRPr lang="en-US" sz="1750" dirty="0"/>
          </a:p>
        </p:txBody>
      </p:sp>
      <p:sp>
        <p:nvSpPr>
          <p:cNvPr id="11" name="Text 9"/>
          <p:cNvSpPr/>
          <p:nvPr/>
        </p:nvSpPr>
        <p:spPr>
          <a:xfrm>
            <a:off x="792123" y="5904428"/>
            <a:ext cx="6246971" cy="36206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hθ(x^(i)) is the predicted output</a:t>
            </a:r>
            <a:endParaRPr lang="en-US" sz="1750" dirty="0"/>
          </a:p>
        </p:txBody>
      </p:sp>
      <p:sp>
        <p:nvSpPr>
          <p:cNvPr id="12" name="Text 10"/>
          <p:cNvSpPr/>
          <p:nvPr/>
        </p:nvSpPr>
        <p:spPr>
          <a:xfrm>
            <a:off x="792123" y="6345674"/>
            <a:ext cx="6246971" cy="36206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y^(i) is the actual output</a:t>
            </a:r>
            <a:endParaRPr lang="en-US" sz="1750" dirty="0"/>
          </a:p>
        </p:txBody>
      </p:sp>
      <p:sp>
        <p:nvSpPr>
          <p:cNvPr id="13" name="Text 11"/>
          <p:cNvSpPr/>
          <p:nvPr/>
        </p:nvSpPr>
        <p:spPr>
          <a:xfrm>
            <a:off x="792123" y="6786920"/>
            <a:ext cx="6246971" cy="36206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θ represents model parameters (weights)</a:t>
            </a:r>
            <a:endParaRPr lang="en-US" sz="1750" dirty="0"/>
          </a:p>
        </p:txBody>
      </p:sp>
      <p:pic>
        <p:nvPicPr>
          <p:cNvPr id="14" name="Image 0" descr="preencoded.png">    </p:cNvPr>
          <p:cNvPicPr>
            <a:picLocks noChangeAspect="1"/>
          </p:cNvPicPr>
          <p:nvPr/>
        </p:nvPicPr>
        <p:blipFill>
          <a:blip r:embed="rId1"/>
          <a:stretch>
            <a:fillRect/>
          </a:stretch>
        </p:blipFill>
        <p:spPr>
          <a:xfrm>
            <a:off x="7598926" y="1954411"/>
            <a:ext cx="6246971" cy="3748088"/>
          </a:xfrm>
          <a:prstGeom prst="rect">
            <a:avLst/>
          </a:prstGeom>
        </p:spPr>
      </p:pic>
      <p:sp>
        <p:nvSpPr>
          <p:cNvPr id="15" name="Text 12"/>
          <p:cNvSpPr/>
          <p:nvPr/>
        </p:nvSpPr>
        <p:spPr>
          <a:xfrm>
            <a:off x="7598926" y="5957054"/>
            <a:ext cx="6246971" cy="1448276"/>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function adds up the </a:t>
            </a:r>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squared differences</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between predicted and actual values for all data points. Squaring ensures the error is positive and penalizes larger errors more significantly than smaller ones.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4037" y="1826776"/>
            <a:ext cx="9407009"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Interpreting the Cost Function</a:t>
            </a:r>
            <a:endParaRPr lang="en-US" sz="5050" dirty="0"/>
          </a:p>
        </p:txBody>
      </p:sp>
      <p:sp>
        <p:nvSpPr>
          <p:cNvPr id="3" name="Shape 1"/>
          <p:cNvSpPr/>
          <p:nvPr/>
        </p:nvSpPr>
        <p:spPr>
          <a:xfrm>
            <a:off x="864037" y="3002042"/>
            <a:ext cx="555427" cy="555427"/>
          </a:xfrm>
          <a:prstGeom prst="roundRect">
            <a:avLst>
              <a:gd name="adj" fmla="val 18669"/>
            </a:avLst>
          </a:prstGeom>
          <a:solidFill>
            <a:srgbClr val="DADBF1"/>
          </a:solidFill>
          <a:ln w="15240">
            <a:solidFill>
              <a:srgbClr val="C0C1D7"/>
            </a:solidFill>
            <a:prstDash val="solid"/>
          </a:ln>
        </p:spPr>
      </p:sp>
      <p:pic>
        <p:nvPicPr>
          <p:cNvPr id="4" name="Image 0" descr="preencoded.png">    </p:cNvPr>
          <p:cNvPicPr>
            <a:picLocks noChangeAspect="1"/>
          </p:cNvPicPr>
          <p:nvPr/>
        </p:nvPicPr>
        <p:blipFill>
          <a:blip r:embed="rId1"/>
          <a:stretch>
            <a:fillRect/>
          </a:stretch>
        </p:blipFill>
        <p:spPr>
          <a:xfrm>
            <a:off x="948511" y="3038177"/>
            <a:ext cx="386358" cy="483037"/>
          </a:xfrm>
          <a:prstGeom prst="rect">
            <a:avLst/>
          </a:prstGeom>
        </p:spPr>
      </p:pic>
      <p:sp>
        <p:nvSpPr>
          <p:cNvPr id="5" name="Text 2"/>
          <p:cNvSpPr/>
          <p:nvPr/>
        </p:nvSpPr>
        <p:spPr>
          <a:xfrm>
            <a:off x="1666280" y="3086814"/>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Error Measurement</a:t>
            </a:r>
            <a:endParaRPr lang="en-US" sz="2500" dirty="0"/>
          </a:p>
        </p:txBody>
      </p:sp>
      <p:sp>
        <p:nvSpPr>
          <p:cNvPr id="6" name="Text 3"/>
          <p:cNvSpPr/>
          <p:nvPr/>
        </p:nvSpPr>
        <p:spPr>
          <a:xfrm>
            <a:off x="1666280" y="3637478"/>
            <a:ext cx="3292793" cy="2765346"/>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The cost function quantifies the difference between what your model predicts and the actual values in your training data. It's essentially a measure of how "wrong" your model is.</a:t>
            </a:r>
            <a:endParaRPr lang="en-US" sz="1900" dirty="0"/>
          </a:p>
        </p:txBody>
      </p:sp>
      <p:sp>
        <p:nvSpPr>
          <p:cNvPr id="7" name="Shape 4"/>
          <p:cNvSpPr/>
          <p:nvPr/>
        </p:nvSpPr>
        <p:spPr>
          <a:xfrm>
            <a:off x="5267682" y="3002042"/>
            <a:ext cx="555427" cy="555427"/>
          </a:xfrm>
          <a:prstGeom prst="roundRect">
            <a:avLst>
              <a:gd name="adj" fmla="val 18669"/>
            </a:avLst>
          </a:prstGeom>
          <a:solidFill>
            <a:srgbClr val="DADBF1"/>
          </a:solidFill>
          <a:ln w="15240">
            <a:solidFill>
              <a:srgbClr val="C0C1D7"/>
            </a:solidFill>
            <a:prstDash val="solid"/>
          </a:ln>
        </p:spPr>
      </p:sp>
      <p:pic>
        <p:nvPicPr>
          <p:cNvPr id="8" name="Image 1" descr="preencoded.png">    </p:cNvPr>
          <p:cNvPicPr>
            <a:picLocks noChangeAspect="1"/>
          </p:cNvPicPr>
          <p:nvPr/>
        </p:nvPicPr>
        <p:blipFill>
          <a:blip r:embed="rId2"/>
          <a:stretch>
            <a:fillRect/>
          </a:stretch>
        </p:blipFill>
        <p:spPr>
          <a:xfrm>
            <a:off x="5352157" y="3038177"/>
            <a:ext cx="386358" cy="483037"/>
          </a:xfrm>
          <a:prstGeom prst="rect">
            <a:avLst/>
          </a:prstGeom>
        </p:spPr>
      </p:pic>
      <p:sp>
        <p:nvSpPr>
          <p:cNvPr id="9" name="Text 5"/>
          <p:cNvSpPr/>
          <p:nvPr/>
        </p:nvSpPr>
        <p:spPr>
          <a:xfrm>
            <a:off x="6069925" y="3086814"/>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Squared Differences</a:t>
            </a:r>
            <a:endParaRPr lang="en-US" sz="2500" dirty="0"/>
          </a:p>
        </p:txBody>
      </p:sp>
      <p:sp>
        <p:nvSpPr>
          <p:cNvPr id="10" name="Text 6"/>
          <p:cNvSpPr/>
          <p:nvPr/>
        </p:nvSpPr>
        <p:spPr>
          <a:xfrm>
            <a:off x="6069925" y="3637478"/>
            <a:ext cx="3292793" cy="2765346"/>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By squaring the differences, we ensure all errors are positive and give more weight to larger errors, making them more significant in the calculation.</a:t>
            </a:r>
            <a:endParaRPr lang="en-US" sz="1900" dirty="0"/>
          </a:p>
        </p:txBody>
      </p:sp>
      <p:sp>
        <p:nvSpPr>
          <p:cNvPr id="11" name="Shape 7"/>
          <p:cNvSpPr/>
          <p:nvPr/>
        </p:nvSpPr>
        <p:spPr>
          <a:xfrm>
            <a:off x="9671328" y="3002042"/>
            <a:ext cx="555427" cy="555427"/>
          </a:xfrm>
          <a:prstGeom prst="roundRect">
            <a:avLst>
              <a:gd name="adj" fmla="val 18669"/>
            </a:avLst>
          </a:prstGeom>
          <a:solidFill>
            <a:srgbClr val="DADBF1"/>
          </a:solidFill>
          <a:ln w="15240">
            <a:solidFill>
              <a:srgbClr val="C0C1D7"/>
            </a:solidFill>
            <a:prstDash val="solid"/>
          </a:ln>
        </p:spPr>
      </p:sp>
      <p:pic>
        <p:nvPicPr>
          <p:cNvPr id="12" name="Image 2" descr="preencoded.png">    </p:cNvPr>
          <p:cNvPicPr>
            <a:picLocks noChangeAspect="1"/>
          </p:cNvPicPr>
          <p:nvPr/>
        </p:nvPicPr>
        <p:blipFill>
          <a:blip r:embed="rId3"/>
          <a:stretch>
            <a:fillRect/>
          </a:stretch>
        </p:blipFill>
        <p:spPr>
          <a:xfrm>
            <a:off x="9755803" y="3038177"/>
            <a:ext cx="386358" cy="483037"/>
          </a:xfrm>
          <a:prstGeom prst="rect">
            <a:avLst/>
          </a:prstGeom>
        </p:spPr>
      </p:pic>
      <p:sp>
        <p:nvSpPr>
          <p:cNvPr id="13" name="Text 8"/>
          <p:cNvSpPr/>
          <p:nvPr/>
        </p:nvSpPr>
        <p:spPr>
          <a:xfrm>
            <a:off x="10473571" y="3086814"/>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Minimization Target</a:t>
            </a:r>
            <a:endParaRPr lang="en-US" sz="2500" dirty="0"/>
          </a:p>
        </p:txBody>
      </p:sp>
      <p:sp>
        <p:nvSpPr>
          <p:cNvPr id="14" name="Text 9"/>
          <p:cNvSpPr/>
          <p:nvPr/>
        </p:nvSpPr>
        <p:spPr>
          <a:xfrm>
            <a:off x="10473571" y="3637478"/>
            <a:ext cx="3292793" cy="2370296"/>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The ultimate goal is to find the model parameters that produce the smallest possible cost value, indicating the best fit to the training data.</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06993" y="715804"/>
            <a:ext cx="6832878" cy="658654"/>
          </a:xfrm>
          <a:prstGeom prst="rect">
            <a:avLst/>
          </a:prstGeom>
          <a:noFill/>
          <a:ln/>
        </p:spPr>
        <p:txBody>
          <a:bodyPr wrap="none" lIns="0" tIns="0" rIns="0" bIns="0" rtlCol="0" anchor="t"/>
          <a:lstStyle/>
          <a:p>
            <a:pPr algn="l" indent="0" marL="0">
              <a:lnSpc>
                <a:spcPts val="5150"/>
              </a:lnSpc>
              <a:buNone/>
            </a:pPr>
            <a:r>
              <a:rPr lang="en-US" sz="4100" b="1" dirty="0">
                <a:solidFill>
                  <a:srgbClr val="000000"/>
                </a:solidFill>
                <a:latin typeface="Inter Bold" pitchFamily="34" charset="0"/>
                <a:ea typeface="Inter Bold" pitchFamily="34" charset="-122"/>
                <a:cs typeface="Inter Bold" pitchFamily="34" charset="-120"/>
              </a:rPr>
              <a:t>What is Gradient Descent?</a:t>
            </a:r>
            <a:endParaRPr lang="en-US" sz="4100" dirty="0"/>
          </a:p>
        </p:txBody>
      </p:sp>
      <p:pic>
        <p:nvPicPr>
          <p:cNvPr id="3" name="Image 0" descr="preencoded.png">    </p:cNvPr>
          <p:cNvPicPr>
            <a:picLocks noChangeAspect="1"/>
          </p:cNvPicPr>
          <p:nvPr/>
        </p:nvPicPr>
        <p:blipFill>
          <a:blip r:embed="rId1"/>
          <a:stretch>
            <a:fillRect/>
          </a:stretch>
        </p:blipFill>
        <p:spPr>
          <a:xfrm>
            <a:off x="3193256" y="1778437"/>
            <a:ext cx="1635442" cy="1177528"/>
          </a:xfrm>
          <a:prstGeom prst="rect">
            <a:avLst/>
          </a:prstGeom>
        </p:spPr>
      </p:pic>
      <p:pic>
        <p:nvPicPr>
          <p:cNvPr id="4" name="Image 1" descr="preencoded.png">    </p:cNvPr>
          <p:cNvPicPr>
            <a:picLocks noChangeAspect="1"/>
          </p:cNvPicPr>
          <p:nvPr/>
        </p:nvPicPr>
        <p:blipFill>
          <a:blip r:embed="rId2"/>
          <a:stretch>
            <a:fillRect/>
          </a:stretch>
        </p:blipFill>
        <p:spPr>
          <a:xfrm>
            <a:off x="3868936" y="2336006"/>
            <a:ext cx="283964" cy="355044"/>
          </a:xfrm>
          <a:prstGeom prst="rect">
            <a:avLst/>
          </a:prstGeom>
        </p:spPr>
      </p:pic>
      <p:sp>
        <p:nvSpPr>
          <p:cNvPr id="5" name="Text 1"/>
          <p:cNvSpPr/>
          <p:nvPr/>
        </p:nvSpPr>
        <p:spPr>
          <a:xfrm>
            <a:off x="5030629" y="1980367"/>
            <a:ext cx="2985016" cy="329327"/>
          </a:xfrm>
          <a:prstGeom prst="rect">
            <a:avLst/>
          </a:prstGeom>
          <a:noFill/>
          <a:ln/>
        </p:spPr>
        <p:txBody>
          <a:bodyPr wrap="none" lIns="0" tIns="0" rIns="0" bIns="0" rtlCol="0" anchor="t"/>
          <a:lstStyle/>
          <a:p>
            <a:pPr algn="l" indent="0" marL="0">
              <a:lnSpc>
                <a:spcPts val="2550"/>
              </a:lnSpc>
              <a:buNone/>
            </a:pPr>
            <a:r>
              <a:rPr lang="en-US" sz="2050" b="1" dirty="0">
                <a:solidFill>
                  <a:srgbClr val="272525"/>
                </a:solidFill>
                <a:latin typeface="Inter Bold" pitchFamily="34" charset="0"/>
                <a:ea typeface="Inter Bold" pitchFamily="34" charset="-122"/>
                <a:cs typeface="Inter Bold" pitchFamily="34" charset="-120"/>
              </a:rPr>
              <a:t>Optimization Algorithm</a:t>
            </a:r>
            <a:endParaRPr lang="en-US" sz="2050" dirty="0"/>
          </a:p>
        </p:txBody>
      </p:sp>
      <p:sp>
        <p:nvSpPr>
          <p:cNvPr id="6" name="Text 2"/>
          <p:cNvSpPr/>
          <p:nvPr/>
        </p:nvSpPr>
        <p:spPr>
          <a:xfrm>
            <a:off x="5030629" y="2430780"/>
            <a:ext cx="3721060" cy="323255"/>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Finds the minimum of the cost function</a:t>
            </a:r>
            <a:endParaRPr lang="en-US" sz="1550" dirty="0"/>
          </a:p>
        </p:txBody>
      </p:sp>
      <p:sp>
        <p:nvSpPr>
          <p:cNvPr id="7" name="Shape 3"/>
          <p:cNvSpPr/>
          <p:nvPr/>
        </p:nvSpPr>
        <p:spPr>
          <a:xfrm>
            <a:off x="4879181" y="2971681"/>
            <a:ext cx="8993743" cy="11430"/>
          </a:xfrm>
          <a:prstGeom prst="roundRect">
            <a:avLst>
              <a:gd name="adj" fmla="val 742254"/>
            </a:avLst>
          </a:prstGeom>
          <a:solidFill>
            <a:srgbClr val="C0C1D7"/>
          </a:solidFill>
          <a:ln/>
        </p:spPr>
      </p:sp>
      <p:pic>
        <p:nvPicPr>
          <p:cNvPr id="8" name="Image 2" descr="preencoded.png">    </p:cNvPr>
          <p:cNvPicPr>
            <a:picLocks noChangeAspect="1"/>
          </p:cNvPicPr>
          <p:nvPr/>
        </p:nvPicPr>
        <p:blipFill>
          <a:blip r:embed="rId3"/>
          <a:stretch>
            <a:fillRect/>
          </a:stretch>
        </p:blipFill>
        <p:spPr>
          <a:xfrm>
            <a:off x="2375535" y="3006447"/>
            <a:ext cx="3271004" cy="1177528"/>
          </a:xfrm>
          <a:prstGeom prst="rect">
            <a:avLst/>
          </a:prstGeom>
        </p:spPr>
      </p:pic>
      <p:pic>
        <p:nvPicPr>
          <p:cNvPr id="9" name="Image 3" descr="preencoded.png">    </p:cNvPr>
          <p:cNvPicPr>
            <a:picLocks noChangeAspect="1"/>
          </p:cNvPicPr>
          <p:nvPr/>
        </p:nvPicPr>
        <p:blipFill>
          <a:blip r:embed="rId4"/>
          <a:stretch>
            <a:fillRect/>
          </a:stretch>
        </p:blipFill>
        <p:spPr>
          <a:xfrm>
            <a:off x="3868936" y="3417689"/>
            <a:ext cx="283964" cy="355044"/>
          </a:xfrm>
          <a:prstGeom prst="rect">
            <a:avLst/>
          </a:prstGeom>
        </p:spPr>
      </p:pic>
      <p:sp>
        <p:nvSpPr>
          <p:cNvPr id="10" name="Text 4"/>
          <p:cNvSpPr/>
          <p:nvPr/>
        </p:nvSpPr>
        <p:spPr>
          <a:xfrm>
            <a:off x="5848469" y="3208377"/>
            <a:ext cx="2634734" cy="329327"/>
          </a:xfrm>
          <a:prstGeom prst="rect">
            <a:avLst/>
          </a:prstGeom>
          <a:noFill/>
          <a:ln/>
        </p:spPr>
        <p:txBody>
          <a:bodyPr wrap="none" lIns="0" tIns="0" rIns="0" bIns="0" rtlCol="0" anchor="t"/>
          <a:lstStyle/>
          <a:p>
            <a:pPr algn="l" indent="0" marL="0">
              <a:lnSpc>
                <a:spcPts val="2550"/>
              </a:lnSpc>
              <a:buNone/>
            </a:pPr>
            <a:r>
              <a:rPr lang="en-US" sz="2050" b="1" dirty="0">
                <a:solidFill>
                  <a:srgbClr val="272525"/>
                </a:solidFill>
                <a:latin typeface="Inter Bold" pitchFamily="34" charset="0"/>
                <a:ea typeface="Inter Bold" pitchFamily="34" charset="-122"/>
                <a:cs typeface="Inter Bold" pitchFamily="34" charset="-120"/>
              </a:rPr>
              <a:t>Parameter Updates</a:t>
            </a:r>
            <a:endParaRPr lang="en-US" sz="2050" dirty="0"/>
          </a:p>
        </p:txBody>
      </p:sp>
      <p:sp>
        <p:nvSpPr>
          <p:cNvPr id="11" name="Text 5"/>
          <p:cNvSpPr/>
          <p:nvPr/>
        </p:nvSpPr>
        <p:spPr>
          <a:xfrm>
            <a:off x="5848469" y="3658791"/>
            <a:ext cx="3789640" cy="323255"/>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Adjusts model parameters step-by-step</a:t>
            </a:r>
            <a:endParaRPr lang="en-US" sz="1550" dirty="0"/>
          </a:p>
        </p:txBody>
      </p:sp>
      <p:sp>
        <p:nvSpPr>
          <p:cNvPr id="12" name="Shape 6"/>
          <p:cNvSpPr/>
          <p:nvPr/>
        </p:nvSpPr>
        <p:spPr>
          <a:xfrm>
            <a:off x="5697022" y="4199692"/>
            <a:ext cx="8175903" cy="11430"/>
          </a:xfrm>
          <a:prstGeom prst="roundRect">
            <a:avLst>
              <a:gd name="adj" fmla="val 742254"/>
            </a:avLst>
          </a:prstGeom>
          <a:solidFill>
            <a:srgbClr val="C0C1D7"/>
          </a:solidFill>
          <a:ln/>
        </p:spPr>
      </p:sp>
      <p:pic>
        <p:nvPicPr>
          <p:cNvPr id="13" name="Image 4" descr="preencoded.png">    </p:cNvPr>
          <p:cNvPicPr>
            <a:picLocks noChangeAspect="1"/>
          </p:cNvPicPr>
          <p:nvPr/>
        </p:nvPicPr>
        <p:blipFill>
          <a:blip r:embed="rId5"/>
          <a:stretch>
            <a:fillRect/>
          </a:stretch>
        </p:blipFill>
        <p:spPr>
          <a:xfrm>
            <a:off x="1557695" y="4234458"/>
            <a:ext cx="4906566" cy="1177528"/>
          </a:xfrm>
          <a:prstGeom prst="rect">
            <a:avLst/>
          </a:prstGeom>
        </p:spPr>
      </p:pic>
      <p:pic>
        <p:nvPicPr>
          <p:cNvPr id="14" name="Image 5" descr="preencoded.png">    </p:cNvPr>
          <p:cNvPicPr>
            <a:picLocks noChangeAspect="1"/>
          </p:cNvPicPr>
          <p:nvPr/>
        </p:nvPicPr>
        <p:blipFill>
          <a:blip r:embed="rId6"/>
          <a:stretch>
            <a:fillRect/>
          </a:stretch>
        </p:blipFill>
        <p:spPr>
          <a:xfrm>
            <a:off x="3868936" y="4645700"/>
            <a:ext cx="283964" cy="355044"/>
          </a:xfrm>
          <a:prstGeom prst="rect">
            <a:avLst/>
          </a:prstGeom>
        </p:spPr>
      </p:pic>
      <p:sp>
        <p:nvSpPr>
          <p:cNvPr id="15" name="Text 7"/>
          <p:cNvSpPr/>
          <p:nvPr/>
        </p:nvSpPr>
        <p:spPr>
          <a:xfrm>
            <a:off x="6666190" y="4436388"/>
            <a:ext cx="2634734" cy="329327"/>
          </a:xfrm>
          <a:prstGeom prst="rect">
            <a:avLst/>
          </a:prstGeom>
          <a:noFill/>
          <a:ln/>
        </p:spPr>
        <p:txBody>
          <a:bodyPr wrap="none" lIns="0" tIns="0" rIns="0" bIns="0" rtlCol="0" anchor="t"/>
          <a:lstStyle/>
          <a:p>
            <a:pPr algn="l" indent="0" marL="0">
              <a:lnSpc>
                <a:spcPts val="2550"/>
              </a:lnSpc>
              <a:buNone/>
            </a:pPr>
            <a:r>
              <a:rPr lang="en-US" sz="2050" b="1" dirty="0">
                <a:solidFill>
                  <a:srgbClr val="272525"/>
                </a:solidFill>
                <a:latin typeface="Inter Bold" pitchFamily="34" charset="0"/>
                <a:ea typeface="Inter Bold" pitchFamily="34" charset="-122"/>
                <a:cs typeface="Inter Bold" pitchFamily="34" charset="-120"/>
              </a:rPr>
              <a:t>Gradient Calculation</a:t>
            </a:r>
            <a:endParaRPr lang="en-US" sz="2050" dirty="0"/>
          </a:p>
        </p:txBody>
      </p:sp>
      <p:sp>
        <p:nvSpPr>
          <p:cNvPr id="16" name="Text 8"/>
          <p:cNvSpPr/>
          <p:nvPr/>
        </p:nvSpPr>
        <p:spPr>
          <a:xfrm>
            <a:off x="6666190" y="4886801"/>
            <a:ext cx="3735348" cy="323255"/>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Uses derivatives to determine direction</a:t>
            </a:r>
            <a:endParaRPr lang="en-US" sz="1550" dirty="0"/>
          </a:p>
        </p:txBody>
      </p:sp>
      <p:sp>
        <p:nvSpPr>
          <p:cNvPr id="17" name="Shape 9"/>
          <p:cNvSpPr/>
          <p:nvPr/>
        </p:nvSpPr>
        <p:spPr>
          <a:xfrm>
            <a:off x="6514743" y="5427702"/>
            <a:ext cx="7358182" cy="11430"/>
          </a:xfrm>
          <a:prstGeom prst="roundRect">
            <a:avLst>
              <a:gd name="adj" fmla="val 742254"/>
            </a:avLst>
          </a:prstGeom>
          <a:solidFill>
            <a:srgbClr val="C0C1D7"/>
          </a:solidFill>
          <a:ln/>
        </p:spPr>
      </p:sp>
      <p:pic>
        <p:nvPicPr>
          <p:cNvPr id="18" name="Image 6" descr="preencoded.png">    </p:cNvPr>
          <p:cNvPicPr>
            <a:picLocks noChangeAspect="1"/>
          </p:cNvPicPr>
          <p:nvPr/>
        </p:nvPicPr>
        <p:blipFill>
          <a:blip r:embed="rId7"/>
          <a:stretch>
            <a:fillRect/>
          </a:stretch>
        </p:blipFill>
        <p:spPr>
          <a:xfrm>
            <a:off x="739973" y="5462468"/>
            <a:ext cx="6542008" cy="1177528"/>
          </a:xfrm>
          <a:prstGeom prst="rect">
            <a:avLst/>
          </a:prstGeom>
        </p:spPr>
      </p:pic>
      <p:pic>
        <p:nvPicPr>
          <p:cNvPr id="19" name="Image 7" descr="preencoded.png">    </p:cNvPr>
          <p:cNvPicPr>
            <a:picLocks noChangeAspect="1"/>
          </p:cNvPicPr>
          <p:nvPr/>
        </p:nvPicPr>
        <p:blipFill>
          <a:blip r:embed="rId8"/>
          <a:stretch>
            <a:fillRect/>
          </a:stretch>
        </p:blipFill>
        <p:spPr>
          <a:xfrm>
            <a:off x="3868936" y="5873710"/>
            <a:ext cx="283964" cy="355044"/>
          </a:xfrm>
          <a:prstGeom prst="rect">
            <a:avLst/>
          </a:prstGeom>
        </p:spPr>
      </p:pic>
      <p:sp>
        <p:nvSpPr>
          <p:cNvPr id="20" name="Text 10"/>
          <p:cNvSpPr/>
          <p:nvPr/>
        </p:nvSpPr>
        <p:spPr>
          <a:xfrm>
            <a:off x="7483912" y="5664398"/>
            <a:ext cx="2535079" cy="329327"/>
          </a:xfrm>
          <a:prstGeom prst="rect">
            <a:avLst/>
          </a:prstGeom>
          <a:noFill/>
          <a:ln/>
        </p:spPr>
        <p:txBody>
          <a:bodyPr wrap="none" lIns="0" tIns="0" rIns="0" bIns="0" rtlCol="0" anchor="t"/>
          <a:lstStyle/>
          <a:p>
            <a:pPr algn="l" indent="0" marL="0">
              <a:lnSpc>
                <a:spcPts val="2550"/>
              </a:lnSpc>
              <a:buNone/>
            </a:pPr>
            <a:r>
              <a:rPr lang="en-US" sz="2050" b="1" dirty="0">
                <a:solidFill>
                  <a:srgbClr val="272525"/>
                </a:solidFill>
                <a:latin typeface="Inter Bold" pitchFamily="34" charset="0"/>
                <a:ea typeface="Inter Bold" pitchFamily="34" charset="-122"/>
                <a:cs typeface="Inter Bold" pitchFamily="34" charset="-120"/>
              </a:rPr>
              <a:t>Iterative Process</a:t>
            </a:r>
            <a:endParaRPr lang="en-US" sz="2050" dirty="0"/>
          </a:p>
        </p:txBody>
      </p:sp>
      <p:sp>
        <p:nvSpPr>
          <p:cNvPr id="21" name="Text 11"/>
          <p:cNvSpPr/>
          <p:nvPr/>
        </p:nvSpPr>
        <p:spPr>
          <a:xfrm>
            <a:off x="7483912" y="6114812"/>
            <a:ext cx="2535079" cy="323255"/>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Repeats until convergence</a:t>
            </a:r>
            <a:endParaRPr lang="en-US" sz="1550" dirty="0"/>
          </a:p>
        </p:txBody>
      </p:sp>
      <p:sp>
        <p:nvSpPr>
          <p:cNvPr id="22" name="Text 12"/>
          <p:cNvSpPr/>
          <p:nvPr/>
        </p:nvSpPr>
        <p:spPr>
          <a:xfrm>
            <a:off x="706993" y="6867168"/>
            <a:ext cx="13216414" cy="646509"/>
          </a:xfrm>
          <a:prstGeom prst="rect">
            <a:avLst/>
          </a:prstGeom>
          <a:noFill/>
          <a:ln/>
        </p:spPr>
        <p:txBody>
          <a:bodyPr wrap="squar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Gradient Descent</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is an optimization algorithm used to minimize the cost function by updating the model's parameters step-by-step in the direction of the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negative gradient</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It's like finding the bottom of a valley by taking steps in the steepest downhill direction.</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2123" y="622459"/>
            <a:ext cx="10913269" cy="737949"/>
          </a:xfrm>
          <a:prstGeom prst="rect">
            <a:avLst/>
          </a:prstGeom>
          <a:noFill/>
          <a:ln/>
        </p:spPr>
        <p:txBody>
          <a:bodyPr wrap="none" lIns="0" tIns="0" rIns="0" bIns="0" rtlCol="0" anchor="t"/>
          <a:lstStyle/>
          <a:p>
            <a:pPr algn="l" indent="0" marL="0">
              <a:lnSpc>
                <a:spcPts val="5800"/>
              </a:lnSpc>
              <a:buNone/>
            </a:pPr>
            <a:r>
              <a:rPr lang="en-US" sz="4600" b="1" dirty="0">
                <a:solidFill>
                  <a:srgbClr val="000000"/>
                </a:solidFill>
                <a:latin typeface="Inter Bold" pitchFamily="34" charset="0"/>
                <a:ea typeface="Inter Bold" pitchFamily="34" charset="-122"/>
                <a:cs typeface="Inter Bold" pitchFamily="34" charset="-120"/>
              </a:rPr>
              <a:t>The Mathematics of Gradient Descent</a:t>
            </a:r>
            <a:endParaRPr lang="en-US" sz="4600" dirty="0"/>
          </a:p>
        </p:txBody>
      </p:sp>
      <p:sp>
        <p:nvSpPr>
          <p:cNvPr id="3" name="Text 1"/>
          <p:cNvSpPr/>
          <p:nvPr/>
        </p:nvSpPr>
        <p:spPr>
          <a:xfrm>
            <a:off x="792123" y="1926193"/>
            <a:ext cx="2986326" cy="369094"/>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Update Rule Formula</a:t>
            </a:r>
            <a:endParaRPr lang="en-US" sz="2300" dirty="0"/>
          </a:p>
        </p:txBody>
      </p:sp>
      <p:sp>
        <p:nvSpPr>
          <p:cNvPr id="4" name="Text 2"/>
          <p:cNvSpPr/>
          <p:nvPr/>
        </p:nvSpPr>
        <p:spPr>
          <a:xfrm>
            <a:off x="792123" y="2521625"/>
            <a:ext cx="6246971" cy="362069"/>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For each parameter θj, the update rule is:</a:t>
            </a:r>
            <a:endParaRPr lang="en-US" sz="1750" dirty="0"/>
          </a:p>
        </p:txBody>
      </p:sp>
      <p:sp>
        <p:nvSpPr>
          <p:cNvPr id="5" name="Shape 3"/>
          <p:cNvSpPr/>
          <p:nvPr/>
        </p:nvSpPr>
        <p:spPr>
          <a:xfrm>
            <a:off x="792123" y="3138249"/>
            <a:ext cx="6246971" cy="701397"/>
          </a:xfrm>
          <a:prstGeom prst="roundRect">
            <a:avLst>
              <a:gd name="adj" fmla="val 13554"/>
            </a:avLst>
          </a:prstGeom>
          <a:solidFill>
            <a:srgbClr val="DADBF1"/>
          </a:solidFill>
          <a:ln/>
        </p:spPr>
      </p:sp>
      <p:sp>
        <p:nvSpPr>
          <p:cNvPr id="6" name="Shape 4"/>
          <p:cNvSpPr/>
          <p:nvPr/>
        </p:nvSpPr>
        <p:spPr>
          <a:xfrm>
            <a:off x="780812" y="3138249"/>
            <a:ext cx="6269593" cy="701397"/>
          </a:xfrm>
          <a:prstGeom prst="roundRect">
            <a:avLst>
              <a:gd name="adj" fmla="val 4841"/>
            </a:avLst>
          </a:prstGeom>
          <a:solidFill>
            <a:srgbClr val="DADBF1"/>
          </a:solidFill>
          <a:ln/>
        </p:spPr>
      </p:sp>
      <p:sp>
        <p:nvSpPr>
          <p:cNvPr id="7" name="Text 5"/>
          <p:cNvSpPr/>
          <p:nvPr/>
        </p:nvSpPr>
        <p:spPr>
          <a:xfrm>
            <a:off x="1007150" y="3307913"/>
            <a:ext cx="5816918" cy="362069"/>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highlight>
                  <a:srgbClr val="DADBF1"/>
                </a:highlight>
                <a:latin typeface="Consolas" pitchFamily="34" charset="0"/>
                <a:ea typeface="Consolas" pitchFamily="34" charset="-122"/>
                <a:cs typeface="Consolas" pitchFamily="34" charset="-120"/>
              </a:rPr>
              <a:t>θj := θj - α · ∂J(θ)/∂θj</a:t>
            </a:r>
            <a:endParaRPr lang="en-US" sz="1750" dirty="0"/>
          </a:p>
        </p:txBody>
      </p:sp>
      <p:sp>
        <p:nvSpPr>
          <p:cNvPr id="8" name="Text 6"/>
          <p:cNvSpPr/>
          <p:nvPr/>
        </p:nvSpPr>
        <p:spPr>
          <a:xfrm>
            <a:off x="792123" y="4094202"/>
            <a:ext cx="6246971" cy="362069"/>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Where:</a:t>
            </a:r>
            <a:endParaRPr lang="en-US" sz="1750" dirty="0"/>
          </a:p>
        </p:txBody>
      </p:sp>
      <p:sp>
        <p:nvSpPr>
          <p:cNvPr id="9" name="Text 7"/>
          <p:cNvSpPr/>
          <p:nvPr/>
        </p:nvSpPr>
        <p:spPr>
          <a:xfrm>
            <a:off x="792123" y="4659868"/>
            <a:ext cx="6246971" cy="36206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α is the learning rate (a small positive value like 0.01)</a:t>
            </a:r>
            <a:endParaRPr lang="en-US" sz="1750" dirty="0"/>
          </a:p>
        </p:txBody>
      </p:sp>
      <p:sp>
        <p:nvSpPr>
          <p:cNvPr id="10" name="Text 8"/>
          <p:cNvSpPr/>
          <p:nvPr/>
        </p:nvSpPr>
        <p:spPr>
          <a:xfrm>
            <a:off x="792123" y="5101114"/>
            <a:ext cx="6246971" cy="72413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72525"/>
                </a:solidFill>
                <a:latin typeface="Inter" pitchFamily="34" charset="0"/>
                <a:ea typeface="Inter" pitchFamily="34" charset="-122"/>
                <a:cs typeface="Inter" pitchFamily="34" charset="-120"/>
              </a:rPr>
              <a:t>∂J(θ)/∂θj is the partial derivative (gradient) of the cost function with respect to θj</a:t>
            </a:r>
            <a:endParaRPr lang="en-US" sz="1750" dirty="0"/>
          </a:p>
        </p:txBody>
      </p:sp>
      <p:pic>
        <p:nvPicPr>
          <p:cNvPr id="11" name="Image 0" descr="preencoded.png">    </p:cNvPr>
          <p:cNvPicPr>
            <a:picLocks noChangeAspect="1"/>
          </p:cNvPicPr>
          <p:nvPr/>
        </p:nvPicPr>
        <p:blipFill>
          <a:blip r:embed="rId1"/>
          <a:stretch>
            <a:fillRect/>
          </a:stretch>
        </p:blipFill>
        <p:spPr>
          <a:xfrm>
            <a:off x="7598926" y="1954411"/>
            <a:ext cx="6246971" cy="3748088"/>
          </a:xfrm>
          <a:prstGeom prst="rect">
            <a:avLst/>
          </a:prstGeom>
        </p:spPr>
      </p:pic>
      <p:sp>
        <p:nvSpPr>
          <p:cNvPr id="12" name="Text 9"/>
          <p:cNvSpPr/>
          <p:nvPr/>
        </p:nvSpPr>
        <p:spPr>
          <a:xfrm>
            <a:off x="7598926" y="5957054"/>
            <a:ext cx="6246971" cy="1448276"/>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gradient tells us the direction of steepest increase in the cost function. By moving in the opposite direction (negative gradient), we descend toward the minimum cost. The learning rate controls how large each step is.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4037" y="1145738"/>
            <a:ext cx="9341644"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Interpreting Gradient Descent</a:t>
            </a:r>
            <a:endParaRPr lang="en-US" sz="5050" dirty="0"/>
          </a:p>
        </p:txBody>
      </p:sp>
      <p:sp>
        <p:nvSpPr>
          <p:cNvPr id="3" name="Shape 1"/>
          <p:cNvSpPr/>
          <p:nvPr/>
        </p:nvSpPr>
        <p:spPr>
          <a:xfrm>
            <a:off x="864037" y="2321004"/>
            <a:ext cx="185142" cy="1340763"/>
          </a:xfrm>
          <a:prstGeom prst="roundRect">
            <a:avLst>
              <a:gd name="adj" fmla="val 56007"/>
            </a:avLst>
          </a:prstGeom>
          <a:solidFill>
            <a:srgbClr val="DADBF1"/>
          </a:solidFill>
          <a:ln w="15240">
            <a:solidFill>
              <a:srgbClr val="C0C1D7"/>
            </a:solidFill>
            <a:prstDash val="solid"/>
          </a:ln>
        </p:spPr>
      </p:sp>
      <p:sp>
        <p:nvSpPr>
          <p:cNvPr id="4" name="Text 2"/>
          <p:cNvSpPr/>
          <p:nvPr/>
        </p:nvSpPr>
        <p:spPr>
          <a:xfrm>
            <a:off x="1419463" y="2321004"/>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Compute the Slope</a:t>
            </a:r>
            <a:endParaRPr lang="en-US" sz="2500" dirty="0"/>
          </a:p>
        </p:txBody>
      </p:sp>
      <p:sp>
        <p:nvSpPr>
          <p:cNvPr id="5" name="Text 3"/>
          <p:cNvSpPr/>
          <p:nvPr/>
        </p:nvSpPr>
        <p:spPr>
          <a:xfrm>
            <a:off x="1419463" y="2871668"/>
            <a:ext cx="12346900" cy="790099"/>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Calculate the gradient (slope) of the cost function at the current position. This tells you which direction leads to the steepest increase in cost.</a:t>
            </a:r>
            <a:endParaRPr lang="en-US" sz="1900" dirty="0"/>
          </a:p>
        </p:txBody>
      </p:sp>
      <p:sp>
        <p:nvSpPr>
          <p:cNvPr id="6" name="Shape 4"/>
          <p:cNvSpPr/>
          <p:nvPr/>
        </p:nvSpPr>
        <p:spPr>
          <a:xfrm>
            <a:off x="1234321" y="3908584"/>
            <a:ext cx="185142" cy="1340763"/>
          </a:xfrm>
          <a:prstGeom prst="roundRect">
            <a:avLst>
              <a:gd name="adj" fmla="val 56007"/>
            </a:avLst>
          </a:prstGeom>
          <a:solidFill>
            <a:srgbClr val="DADBF1"/>
          </a:solidFill>
          <a:ln w="15240">
            <a:solidFill>
              <a:srgbClr val="C0C1D7"/>
            </a:solidFill>
            <a:prstDash val="solid"/>
          </a:ln>
        </p:spPr>
      </p:sp>
      <p:sp>
        <p:nvSpPr>
          <p:cNvPr id="7" name="Text 5"/>
          <p:cNvSpPr/>
          <p:nvPr/>
        </p:nvSpPr>
        <p:spPr>
          <a:xfrm>
            <a:off x="1789748" y="3908584"/>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Move Downhill</a:t>
            </a:r>
            <a:endParaRPr lang="en-US" sz="2500" dirty="0"/>
          </a:p>
        </p:txBody>
      </p:sp>
      <p:sp>
        <p:nvSpPr>
          <p:cNvPr id="8" name="Text 6"/>
          <p:cNvSpPr/>
          <p:nvPr/>
        </p:nvSpPr>
        <p:spPr>
          <a:xfrm>
            <a:off x="1789748" y="4459248"/>
            <a:ext cx="11976616" cy="790099"/>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Take a step in the opposite direction of the gradient (negative gradient) to decrease the cost. The size of this step is determined by the learning rate.</a:t>
            </a:r>
            <a:endParaRPr lang="en-US" sz="1900" dirty="0"/>
          </a:p>
        </p:txBody>
      </p:sp>
      <p:sp>
        <p:nvSpPr>
          <p:cNvPr id="9" name="Shape 7"/>
          <p:cNvSpPr/>
          <p:nvPr/>
        </p:nvSpPr>
        <p:spPr>
          <a:xfrm>
            <a:off x="1604605" y="5496163"/>
            <a:ext cx="185142" cy="1340763"/>
          </a:xfrm>
          <a:prstGeom prst="roundRect">
            <a:avLst>
              <a:gd name="adj" fmla="val 56007"/>
            </a:avLst>
          </a:prstGeom>
          <a:solidFill>
            <a:srgbClr val="DADBF1"/>
          </a:solidFill>
          <a:ln w="15240">
            <a:solidFill>
              <a:srgbClr val="C0C1D7"/>
            </a:solidFill>
            <a:prstDash val="solid"/>
          </a:ln>
        </p:spPr>
      </p:sp>
      <p:sp>
        <p:nvSpPr>
          <p:cNvPr id="10" name="Text 8"/>
          <p:cNvSpPr/>
          <p:nvPr/>
        </p:nvSpPr>
        <p:spPr>
          <a:xfrm>
            <a:off x="2160032" y="5496163"/>
            <a:ext cx="4092535"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Repeat Until Convergence</a:t>
            </a:r>
            <a:endParaRPr lang="en-US" sz="2500" dirty="0"/>
          </a:p>
        </p:txBody>
      </p:sp>
      <p:sp>
        <p:nvSpPr>
          <p:cNvPr id="11" name="Text 9"/>
          <p:cNvSpPr/>
          <p:nvPr/>
        </p:nvSpPr>
        <p:spPr>
          <a:xfrm>
            <a:off x="2160032" y="6046827"/>
            <a:ext cx="11606332" cy="790099"/>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Continue this process iteratively until the gradient becomes very small (close to zero), indicating you've reached a minimum where the cost function is as low as possible.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1149429"/>
            <a:ext cx="9114353"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The Learning Rate Parameter</a:t>
            </a:r>
            <a:endParaRPr lang="en-US" sz="5050" dirty="0"/>
          </a:p>
        </p:txBody>
      </p:sp>
      <p:sp>
        <p:nvSpPr>
          <p:cNvPr id="3" name="Text 1"/>
          <p:cNvSpPr/>
          <p:nvPr/>
        </p:nvSpPr>
        <p:spPr>
          <a:xfrm>
            <a:off x="1837134" y="2448163"/>
            <a:ext cx="3220164" cy="402550"/>
          </a:xfrm>
          <a:prstGeom prst="rect">
            <a:avLst/>
          </a:prstGeom>
          <a:noFill/>
          <a:ln/>
        </p:spPr>
        <p:txBody>
          <a:bodyPr wrap="none" lIns="0" tIns="0" rIns="0" bIns="0" rtlCol="0" anchor="t"/>
          <a:lstStyle/>
          <a:p>
            <a:pPr algn="r"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Too Small</a:t>
            </a:r>
            <a:endParaRPr lang="en-US" sz="2500" dirty="0"/>
          </a:p>
        </p:txBody>
      </p:sp>
      <p:sp>
        <p:nvSpPr>
          <p:cNvPr id="4" name="Text 2"/>
          <p:cNvSpPr/>
          <p:nvPr/>
        </p:nvSpPr>
        <p:spPr>
          <a:xfrm>
            <a:off x="864037" y="2998827"/>
            <a:ext cx="4193262" cy="1580198"/>
          </a:xfrm>
          <a:prstGeom prst="rect">
            <a:avLst/>
          </a:prstGeom>
          <a:noFill/>
          <a:ln/>
        </p:spPr>
        <p:txBody>
          <a:bodyPr wrap="square" lIns="0" tIns="0" rIns="0" bIns="0" rtlCol="0" anchor="t"/>
          <a:lstStyle/>
          <a:p>
            <a:pPr algn="r" indent="0" marL="0">
              <a:lnSpc>
                <a:spcPts val="3100"/>
              </a:lnSpc>
              <a:buNone/>
            </a:pPr>
            <a:r>
              <a:rPr lang="en-US" sz="1900" dirty="0">
                <a:solidFill>
                  <a:srgbClr val="272525"/>
                </a:solidFill>
                <a:latin typeface="Inter" pitchFamily="34" charset="0"/>
                <a:ea typeface="Inter" pitchFamily="34" charset="-122"/>
                <a:cs typeface="Inter" pitchFamily="34" charset="-120"/>
              </a:rPr>
              <a:t>If α is too small, gradient descent will work correctly but will be very slow, requiring many iterations to converge.</a:t>
            </a:r>
            <a:endParaRPr lang="en-US" sz="1900" dirty="0"/>
          </a:p>
        </p:txBody>
      </p:sp>
      <p:pic>
        <p:nvPicPr>
          <p:cNvPr id="5" name="Image 0" descr="preencoded.png">    </p:cNvPr>
          <p:cNvPicPr>
            <a:picLocks noChangeAspect="1"/>
          </p:cNvPicPr>
          <p:nvPr/>
        </p:nvPicPr>
        <p:blipFill>
          <a:blip r:embed="rId1"/>
          <a:stretch>
            <a:fillRect/>
          </a:stretch>
        </p:blipFill>
        <p:spPr>
          <a:xfrm>
            <a:off x="5057299" y="2506266"/>
            <a:ext cx="4515803" cy="4515803"/>
          </a:xfrm>
          <a:prstGeom prst="rect">
            <a:avLst/>
          </a:prstGeom>
        </p:spPr>
      </p:pic>
      <p:pic>
        <p:nvPicPr>
          <p:cNvPr id="6" name="Image 1" descr="preencoded.png">    </p:cNvPr>
          <p:cNvPicPr>
            <a:picLocks noChangeAspect="1"/>
          </p:cNvPicPr>
          <p:nvPr/>
        </p:nvPicPr>
        <p:blipFill>
          <a:blip r:embed="rId2"/>
          <a:stretch>
            <a:fillRect/>
          </a:stretch>
        </p:blipFill>
        <p:spPr>
          <a:xfrm>
            <a:off x="6319361" y="3724870"/>
            <a:ext cx="347186" cy="433983"/>
          </a:xfrm>
          <a:prstGeom prst="rect">
            <a:avLst/>
          </a:prstGeom>
        </p:spPr>
      </p:pic>
      <p:sp>
        <p:nvSpPr>
          <p:cNvPr id="7" name="Text 3"/>
          <p:cNvSpPr/>
          <p:nvPr/>
        </p:nvSpPr>
        <p:spPr>
          <a:xfrm>
            <a:off x="9573101" y="2448163"/>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Too Large</a:t>
            </a:r>
            <a:endParaRPr lang="en-US" sz="2500" dirty="0"/>
          </a:p>
        </p:txBody>
      </p:sp>
      <p:sp>
        <p:nvSpPr>
          <p:cNvPr id="8" name="Text 4"/>
          <p:cNvSpPr/>
          <p:nvPr/>
        </p:nvSpPr>
        <p:spPr>
          <a:xfrm>
            <a:off x="9573101" y="2998827"/>
            <a:ext cx="4193262" cy="158019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If α is too large, gradient descent might overshoot the minimum, fail to converge, or even diverge completely.</a:t>
            </a:r>
            <a:endParaRPr lang="en-US" sz="1900" dirty="0"/>
          </a:p>
        </p:txBody>
      </p:sp>
      <p:pic>
        <p:nvPicPr>
          <p:cNvPr id="9" name="Image 2" descr="preencoded.png">    </p:cNvPr>
          <p:cNvPicPr>
            <a:picLocks noChangeAspect="1"/>
          </p:cNvPicPr>
          <p:nvPr/>
        </p:nvPicPr>
        <p:blipFill>
          <a:blip r:embed="rId3"/>
          <a:stretch>
            <a:fillRect/>
          </a:stretch>
        </p:blipFill>
        <p:spPr>
          <a:xfrm>
            <a:off x="5057299" y="2506266"/>
            <a:ext cx="4515803" cy="4515803"/>
          </a:xfrm>
          <a:prstGeom prst="rect">
            <a:avLst/>
          </a:prstGeom>
        </p:spPr>
      </p:pic>
      <p:pic>
        <p:nvPicPr>
          <p:cNvPr id="10" name="Image 3" descr="preencoded.png">    </p:cNvPr>
          <p:cNvPicPr>
            <a:picLocks noChangeAspect="1"/>
          </p:cNvPicPr>
          <p:nvPr/>
        </p:nvPicPr>
        <p:blipFill>
          <a:blip r:embed="rId4"/>
          <a:stretch>
            <a:fillRect/>
          </a:stretch>
        </p:blipFill>
        <p:spPr>
          <a:xfrm>
            <a:off x="7963733" y="3724870"/>
            <a:ext cx="347186" cy="433983"/>
          </a:xfrm>
          <a:prstGeom prst="rect">
            <a:avLst/>
          </a:prstGeom>
        </p:spPr>
      </p:pic>
      <p:sp>
        <p:nvSpPr>
          <p:cNvPr id="11" name="Text 5"/>
          <p:cNvSpPr/>
          <p:nvPr/>
        </p:nvSpPr>
        <p:spPr>
          <a:xfrm>
            <a:off x="9573101" y="4949309"/>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Just Right</a:t>
            </a:r>
            <a:endParaRPr lang="en-US" sz="2500" dirty="0"/>
          </a:p>
        </p:txBody>
      </p:sp>
      <p:sp>
        <p:nvSpPr>
          <p:cNvPr id="12" name="Text 6"/>
          <p:cNvSpPr/>
          <p:nvPr/>
        </p:nvSpPr>
        <p:spPr>
          <a:xfrm>
            <a:off x="9573101" y="5499973"/>
            <a:ext cx="4193262" cy="158019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An optimal learning rate allows the algorithm to converge efficiently without overshooting or taking too long.</a:t>
            </a:r>
            <a:endParaRPr lang="en-US" sz="1900" dirty="0"/>
          </a:p>
        </p:txBody>
      </p:sp>
      <p:pic>
        <p:nvPicPr>
          <p:cNvPr id="13" name="Image 4" descr="preencoded.png">    </p:cNvPr>
          <p:cNvPicPr>
            <a:picLocks noChangeAspect="1"/>
          </p:cNvPicPr>
          <p:nvPr/>
        </p:nvPicPr>
        <p:blipFill>
          <a:blip r:embed="rId5"/>
          <a:stretch>
            <a:fillRect/>
          </a:stretch>
        </p:blipFill>
        <p:spPr>
          <a:xfrm>
            <a:off x="5057299" y="2506266"/>
            <a:ext cx="4515803" cy="4515803"/>
          </a:xfrm>
          <a:prstGeom prst="rect">
            <a:avLst/>
          </a:prstGeom>
        </p:spPr>
      </p:pic>
      <p:pic>
        <p:nvPicPr>
          <p:cNvPr id="14" name="Image 5" descr="preencoded.png">    </p:cNvPr>
          <p:cNvPicPr>
            <a:picLocks noChangeAspect="1"/>
          </p:cNvPicPr>
          <p:nvPr/>
        </p:nvPicPr>
        <p:blipFill>
          <a:blip r:embed="rId6"/>
          <a:stretch>
            <a:fillRect/>
          </a:stretch>
        </p:blipFill>
        <p:spPr>
          <a:xfrm>
            <a:off x="7963733" y="5369243"/>
            <a:ext cx="347186" cy="433983"/>
          </a:xfrm>
          <a:prstGeom prst="rect">
            <a:avLst/>
          </a:prstGeom>
        </p:spPr>
      </p:pic>
      <p:sp>
        <p:nvSpPr>
          <p:cNvPr id="15" name="Text 7"/>
          <p:cNvSpPr/>
          <p:nvPr/>
        </p:nvSpPr>
        <p:spPr>
          <a:xfrm>
            <a:off x="1837134" y="5146834"/>
            <a:ext cx="3220164" cy="402550"/>
          </a:xfrm>
          <a:prstGeom prst="rect">
            <a:avLst/>
          </a:prstGeom>
          <a:noFill/>
          <a:ln/>
        </p:spPr>
        <p:txBody>
          <a:bodyPr wrap="none" lIns="0" tIns="0" rIns="0" bIns="0" rtlCol="0" anchor="t"/>
          <a:lstStyle/>
          <a:p>
            <a:pPr algn="r"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Adaptive Rates</a:t>
            </a:r>
            <a:endParaRPr lang="en-US" sz="2500" dirty="0"/>
          </a:p>
        </p:txBody>
      </p:sp>
      <p:sp>
        <p:nvSpPr>
          <p:cNvPr id="16" name="Text 8"/>
          <p:cNvSpPr/>
          <p:nvPr/>
        </p:nvSpPr>
        <p:spPr>
          <a:xfrm>
            <a:off x="864037" y="5697498"/>
            <a:ext cx="4193262" cy="1185148"/>
          </a:xfrm>
          <a:prstGeom prst="rect">
            <a:avLst/>
          </a:prstGeom>
          <a:noFill/>
          <a:ln/>
        </p:spPr>
        <p:txBody>
          <a:bodyPr wrap="square" lIns="0" tIns="0" rIns="0" bIns="0" rtlCol="0" anchor="t"/>
          <a:lstStyle/>
          <a:p>
            <a:pPr algn="r" indent="0" marL="0">
              <a:lnSpc>
                <a:spcPts val="3100"/>
              </a:lnSpc>
              <a:buNone/>
            </a:pPr>
            <a:r>
              <a:rPr lang="en-US" sz="1900" dirty="0">
                <a:solidFill>
                  <a:srgbClr val="272525"/>
                </a:solidFill>
                <a:latin typeface="Inter" pitchFamily="34" charset="0"/>
                <a:ea typeface="Inter" pitchFamily="34" charset="-122"/>
                <a:cs typeface="Inter" pitchFamily="34" charset="-120"/>
              </a:rPr>
              <a:t>Advanced algorithms can adjust the learning rate automatically during training for better performance.</a:t>
            </a:r>
            <a:endParaRPr lang="en-US" sz="1900" dirty="0"/>
          </a:p>
        </p:txBody>
      </p:sp>
      <p:pic>
        <p:nvPicPr>
          <p:cNvPr id="17" name="Image 6" descr="preencoded.png">    </p:cNvPr>
          <p:cNvPicPr>
            <a:picLocks noChangeAspect="1"/>
          </p:cNvPicPr>
          <p:nvPr/>
        </p:nvPicPr>
        <p:blipFill>
          <a:blip r:embed="rId7"/>
          <a:stretch>
            <a:fillRect/>
          </a:stretch>
        </p:blipFill>
        <p:spPr>
          <a:xfrm>
            <a:off x="5057299" y="2506266"/>
            <a:ext cx="4515803" cy="4515803"/>
          </a:xfrm>
          <a:prstGeom prst="rect">
            <a:avLst/>
          </a:prstGeom>
        </p:spPr>
      </p:pic>
      <p:pic>
        <p:nvPicPr>
          <p:cNvPr id="18" name="Image 7" descr="preencoded.png">    </p:cNvPr>
          <p:cNvPicPr>
            <a:picLocks noChangeAspect="1"/>
          </p:cNvPicPr>
          <p:nvPr/>
        </p:nvPicPr>
        <p:blipFill>
          <a:blip r:embed="rId8"/>
          <a:stretch>
            <a:fillRect/>
          </a:stretch>
        </p:blipFill>
        <p:spPr>
          <a:xfrm>
            <a:off x="6319361" y="5369243"/>
            <a:ext cx="347186" cy="4339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46773" y="672703"/>
            <a:ext cx="10278785" cy="788908"/>
          </a:xfrm>
          <a:prstGeom prst="rect">
            <a:avLst/>
          </a:prstGeom>
          <a:noFill/>
          <a:ln/>
        </p:spPr>
        <p:txBody>
          <a:bodyPr wrap="none" lIns="0" tIns="0" rIns="0" bIns="0" rtlCol="0" anchor="t"/>
          <a:lstStyle/>
          <a:p>
            <a:pPr algn="l" indent="0" marL="0">
              <a:lnSpc>
                <a:spcPts val="6200"/>
              </a:lnSpc>
              <a:buNone/>
            </a:pPr>
            <a:r>
              <a:rPr lang="en-US" sz="4950" b="1" dirty="0">
                <a:solidFill>
                  <a:srgbClr val="000000"/>
                </a:solidFill>
                <a:latin typeface="Inter Bold" pitchFamily="34" charset="0"/>
                <a:ea typeface="Inter Bold" pitchFamily="34" charset="-122"/>
                <a:cs typeface="Inter Bold" pitchFamily="34" charset="-120"/>
              </a:rPr>
              <a:t>Linear Regression Example Setup</a:t>
            </a:r>
            <a:endParaRPr lang="en-US" sz="4950" dirty="0"/>
          </a:p>
        </p:txBody>
      </p:sp>
      <p:sp>
        <p:nvSpPr>
          <p:cNvPr id="3" name="Text 1"/>
          <p:cNvSpPr/>
          <p:nvPr/>
        </p:nvSpPr>
        <p:spPr>
          <a:xfrm>
            <a:off x="846773" y="2066449"/>
            <a:ext cx="3155990" cy="394454"/>
          </a:xfrm>
          <a:prstGeom prst="rect">
            <a:avLst/>
          </a:prstGeom>
          <a:noFill/>
          <a:ln/>
        </p:spPr>
        <p:txBody>
          <a:bodyPr wrap="none" lIns="0" tIns="0" rIns="0" bIns="0" rtlCol="0" anchor="t"/>
          <a:lstStyle/>
          <a:p>
            <a:pPr algn="l" indent="0" marL="0">
              <a:lnSpc>
                <a:spcPts val="3100"/>
              </a:lnSpc>
              <a:buNone/>
            </a:pPr>
            <a:r>
              <a:rPr lang="en-US" sz="2450" b="1" dirty="0">
                <a:solidFill>
                  <a:srgbClr val="000000"/>
                </a:solidFill>
                <a:latin typeface="Inter Bold" pitchFamily="34" charset="0"/>
                <a:ea typeface="Inter Bold" pitchFamily="34" charset="-122"/>
                <a:cs typeface="Inter Bold" pitchFamily="34" charset="-120"/>
              </a:rPr>
              <a:t>The Model</a:t>
            </a:r>
            <a:endParaRPr lang="en-US" sz="2450" dirty="0"/>
          </a:p>
        </p:txBody>
      </p:sp>
      <p:sp>
        <p:nvSpPr>
          <p:cNvPr id="4" name="Text 2"/>
          <p:cNvSpPr/>
          <p:nvPr/>
        </p:nvSpPr>
        <p:spPr>
          <a:xfrm>
            <a:off x="846773" y="2702838"/>
            <a:ext cx="6173272" cy="774144"/>
          </a:xfrm>
          <a:prstGeom prst="rect">
            <a:avLst/>
          </a:prstGeom>
          <a:noFill/>
          <a:ln/>
        </p:spPr>
        <p:txBody>
          <a:bodyPr wrap="squar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Let's consider a simple linear regression model with one feature:</a:t>
            </a:r>
            <a:endParaRPr lang="en-US" sz="1900" dirty="0"/>
          </a:p>
        </p:txBody>
      </p:sp>
      <p:sp>
        <p:nvSpPr>
          <p:cNvPr id="5" name="Shape 3"/>
          <p:cNvSpPr/>
          <p:nvPr/>
        </p:nvSpPr>
        <p:spPr>
          <a:xfrm>
            <a:off x="846773" y="3749159"/>
            <a:ext cx="6173272" cy="749975"/>
          </a:xfrm>
          <a:prstGeom prst="roundRect">
            <a:avLst>
              <a:gd name="adj" fmla="val 13550"/>
            </a:avLst>
          </a:prstGeom>
          <a:solidFill>
            <a:srgbClr val="DADBF1"/>
          </a:solidFill>
          <a:ln/>
        </p:spPr>
      </p:sp>
      <p:sp>
        <p:nvSpPr>
          <p:cNvPr id="6" name="Shape 4"/>
          <p:cNvSpPr/>
          <p:nvPr/>
        </p:nvSpPr>
        <p:spPr>
          <a:xfrm>
            <a:off x="834747" y="3749159"/>
            <a:ext cx="6197322" cy="749975"/>
          </a:xfrm>
          <a:prstGeom prst="roundRect">
            <a:avLst>
              <a:gd name="adj" fmla="val 4839"/>
            </a:avLst>
          </a:prstGeom>
          <a:solidFill>
            <a:srgbClr val="DADBF1"/>
          </a:solidFill>
          <a:ln/>
        </p:spPr>
      </p:sp>
      <p:sp>
        <p:nvSpPr>
          <p:cNvPr id="7" name="Text 5"/>
          <p:cNvSpPr/>
          <p:nvPr/>
        </p:nvSpPr>
        <p:spPr>
          <a:xfrm>
            <a:off x="1076682" y="3930610"/>
            <a:ext cx="5713452"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highlight>
                  <a:srgbClr val="DADBF1"/>
                </a:highlight>
                <a:latin typeface="Consolas" pitchFamily="34" charset="0"/>
                <a:ea typeface="Consolas" pitchFamily="34" charset="-122"/>
                <a:cs typeface="Consolas" pitchFamily="34" charset="-120"/>
              </a:rPr>
              <a:t>hθ(x) = θ0 + θ1x</a:t>
            </a:r>
            <a:endParaRPr lang="en-US" sz="1900" dirty="0"/>
          </a:p>
        </p:txBody>
      </p:sp>
      <p:sp>
        <p:nvSpPr>
          <p:cNvPr id="8" name="Text 6"/>
          <p:cNvSpPr/>
          <p:nvPr/>
        </p:nvSpPr>
        <p:spPr>
          <a:xfrm>
            <a:off x="846773" y="4771311"/>
            <a:ext cx="6173272"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Where:</a:t>
            </a:r>
            <a:endParaRPr lang="en-US" sz="1900" dirty="0"/>
          </a:p>
        </p:txBody>
      </p:sp>
      <p:sp>
        <p:nvSpPr>
          <p:cNvPr id="9" name="Text 7"/>
          <p:cNvSpPr/>
          <p:nvPr/>
        </p:nvSpPr>
        <p:spPr>
          <a:xfrm>
            <a:off x="846773" y="5376029"/>
            <a:ext cx="6173272" cy="387072"/>
          </a:xfrm>
          <a:prstGeom prst="rect">
            <a:avLst/>
          </a:prstGeom>
          <a:noFill/>
          <a:ln/>
        </p:spPr>
        <p:txBody>
          <a:bodyPr wrap="none" lIns="0" tIns="0" rIns="0" bIns="0" rtlCol="0" anchor="t"/>
          <a:lstStyle/>
          <a:p>
            <a:pPr algn="l" marL="342900" indent="-342900">
              <a:lnSpc>
                <a:spcPts val="3000"/>
              </a:lnSpc>
              <a:buSzPct val="100000"/>
              <a:buChar char="•"/>
            </a:pPr>
            <a:r>
              <a:rPr lang="en-US" sz="1900" dirty="0">
                <a:solidFill>
                  <a:srgbClr val="272525"/>
                </a:solidFill>
                <a:latin typeface="Inter" pitchFamily="34" charset="0"/>
                <a:ea typeface="Inter" pitchFamily="34" charset="-122"/>
                <a:cs typeface="Inter" pitchFamily="34" charset="-120"/>
              </a:rPr>
              <a:t>θ0 is the y-intercept</a:t>
            </a:r>
            <a:endParaRPr lang="en-US" sz="1900" dirty="0"/>
          </a:p>
        </p:txBody>
      </p:sp>
      <p:sp>
        <p:nvSpPr>
          <p:cNvPr id="10" name="Text 8"/>
          <p:cNvSpPr/>
          <p:nvPr/>
        </p:nvSpPr>
        <p:spPr>
          <a:xfrm>
            <a:off x="846773" y="5847755"/>
            <a:ext cx="6173272" cy="387072"/>
          </a:xfrm>
          <a:prstGeom prst="rect">
            <a:avLst/>
          </a:prstGeom>
          <a:noFill/>
          <a:ln/>
        </p:spPr>
        <p:txBody>
          <a:bodyPr wrap="none" lIns="0" tIns="0" rIns="0" bIns="0" rtlCol="0" anchor="t"/>
          <a:lstStyle/>
          <a:p>
            <a:pPr algn="l" marL="342900" indent="-342900">
              <a:lnSpc>
                <a:spcPts val="3000"/>
              </a:lnSpc>
              <a:buSzPct val="100000"/>
              <a:buChar char="•"/>
            </a:pPr>
            <a:r>
              <a:rPr lang="en-US" sz="1900" dirty="0">
                <a:solidFill>
                  <a:srgbClr val="272525"/>
                </a:solidFill>
                <a:latin typeface="Inter" pitchFamily="34" charset="0"/>
                <a:ea typeface="Inter" pitchFamily="34" charset="-122"/>
                <a:cs typeface="Inter" pitchFamily="34" charset="-120"/>
              </a:rPr>
              <a:t>θ1 is the slope</a:t>
            </a:r>
            <a:endParaRPr lang="en-US" sz="1900" dirty="0"/>
          </a:p>
        </p:txBody>
      </p:sp>
      <p:sp>
        <p:nvSpPr>
          <p:cNvPr id="11" name="Text 9"/>
          <p:cNvSpPr/>
          <p:nvPr/>
        </p:nvSpPr>
        <p:spPr>
          <a:xfrm>
            <a:off x="846773" y="6319480"/>
            <a:ext cx="6173272" cy="387072"/>
          </a:xfrm>
          <a:prstGeom prst="rect">
            <a:avLst/>
          </a:prstGeom>
          <a:noFill/>
          <a:ln/>
        </p:spPr>
        <p:txBody>
          <a:bodyPr wrap="none" lIns="0" tIns="0" rIns="0" bIns="0" rtlCol="0" anchor="t"/>
          <a:lstStyle/>
          <a:p>
            <a:pPr algn="l" marL="342900" indent="-342900">
              <a:lnSpc>
                <a:spcPts val="3000"/>
              </a:lnSpc>
              <a:buSzPct val="100000"/>
              <a:buChar char="•"/>
            </a:pPr>
            <a:r>
              <a:rPr lang="en-US" sz="1900" dirty="0">
                <a:solidFill>
                  <a:srgbClr val="272525"/>
                </a:solidFill>
                <a:latin typeface="Inter" pitchFamily="34" charset="0"/>
                <a:ea typeface="Inter" pitchFamily="34" charset="-122"/>
                <a:cs typeface="Inter" pitchFamily="34" charset="-120"/>
              </a:rPr>
              <a:t>x is the input feature</a:t>
            </a:r>
            <a:endParaRPr lang="en-US" sz="1900" dirty="0"/>
          </a:p>
        </p:txBody>
      </p:sp>
      <p:sp>
        <p:nvSpPr>
          <p:cNvPr id="12" name="Text 10"/>
          <p:cNvSpPr/>
          <p:nvPr/>
        </p:nvSpPr>
        <p:spPr>
          <a:xfrm>
            <a:off x="7617976" y="2066449"/>
            <a:ext cx="3155990" cy="394454"/>
          </a:xfrm>
          <a:prstGeom prst="rect">
            <a:avLst/>
          </a:prstGeom>
          <a:noFill/>
          <a:ln/>
        </p:spPr>
        <p:txBody>
          <a:bodyPr wrap="none" lIns="0" tIns="0" rIns="0" bIns="0" rtlCol="0" anchor="t"/>
          <a:lstStyle/>
          <a:p>
            <a:pPr algn="l" indent="0" marL="0">
              <a:lnSpc>
                <a:spcPts val="3100"/>
              </a:lnSpc>
              <a:buNone/>
            </a:pPr>
            <a:r>
              <a:rPr lang="en-US" sz="2450" b="1" dirty="0">
                <a:solidFill>
                  <a:srgbClr val="000000"/>
                </a:solidFill>
                <a:latin typeface="Inter Bold" pitchFamily="34" charset="0"/>
                <a:ea typeface="Inter Bold" pitchFamily="34" charset="-122"/>
                <a:cs typeface="Inter Bold" pitchFamily="34" charset="-120"/>
              </a:rPr>
              <a:t>The Dataset</a:t>
            </a:r>
            <a:endParaRPr lang="en-US" sz="2450" dirty="0"/>
          </a:p>
        </p:txBody>
      </p:sp>
      <p:sp>
        <p:nvSpPr>
          <p:cNvPr id="13" name="Shape 11"/>
          <p:cNvSpPr/>
          <p:nvPr/>
        </p:nvSpPr>
        <p:spPr>
          <a:xfrm>
            <a:off x="7617976" y="2733080"/>
            <a:ext cx="6173272" cy="2785586"/>
          </a:xfrm>
          <a:prstGeom prst="roundRect">
            <a:avLst>
              <a:gd name="adj" fmla="val 3648"/>
            </a:avLst>
          </a:prstGeom>
          <a:noFill/>
          <a:ln w="7620">
            <a:solidFill>
              <a:srgbClr val="000000">
                <a:alpha val="8000"/>
              </a:srgbClr>
            </a:solidFill>
            <a:prstDash val="solid"/>
          </a:ln>
        </p:spPr>
      </p:sp>
      <p:sp>
        <p:nvSpPr>
          <p:cNvPr id="14" name="Shape 12"/>
          <p:cNvSpPr/>
          <p:nvPr/>
        </p:nvSpPr>
        <p:spPr>
          <a:xfrm>
            <a:off x="7625596" y="2740700"/>
            <a:ext cx="6158032" cy="692587"/>
          </a:xfrm>
          <a:prstGeom prst="rect">
            <a:avLst/>
          </a:prstGeom>
          <a:solidFill>
            <a:srgbClr val="FFFFFF">
              <a:alpha val="4000"/>
            </a:srgbClr>
          </a:solidFill>
          <a:ln/>
        </p:spPr>
      </p:sp>
      <p:sp>
        <p:nvSpPr>
          <p:cNvPr id="15" name="Text 13"/>
          <p:cNvSpPr/>
          <p:nvPr/>
        </p:nvSpPr>
        <p:spPr>
          <a:xfrm>
            <a:off x="7867650" y="2893457"/>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x (input)</a:t>
            </a:r>
            <a:endParaRPr lang="en-US" sz="1900" dirty="0"/>
          </a:p>
        </p:txBody>
      </p:sp>
      <p:sp>
        <p:nvSpPr>
          <p:cNvPr id="16" name="Text 14"/>
          <p:cNvSpPr/>
          <p:nvPr/>
        </p:nvSpPr>
        <p:spPr>
          <a:xfrm>
            <a:off x="10950416" y="2893457"/>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y (actual)</a:t>
            </a:r>
            <a:endParaRPr lang="en-US" sz="1900" dirty="0"/>
          </a:p>
        </p:txBody>
      </p:sp>
      <p:sp>
        <p:nvSpPr>
          <p:cNvPr id="17" name="Shape 15"/>
          <p:cNvSpPr/>
          <p:nvPr/>
        </p:nvSpPr>
        <p:spPr>
          <a:xfrm>
            <a:off x="7625596" y="3433286"/>
            <a:ext cx="6158032" cy="692587"/>
          </a:xfrm>
          <a:prstGeom prst="rect">
            <a:avLst/>
          </a:prstGeom>
          <a:solidFill>
            <a:srgbClr val="000000">
              <a:alpha val="4000"/>
            </a:srgbClr>
          </a:solidFill>
          <a:ln/>
        </p:spPr>
      </p:sp>
      <p:sp>
        <p:nvSpPr>
          <p:cNvPr id="18" name="Text 16"/>
          <p:cNvSpPr/>
          <p:nvPr/>
        </p:nvSpPr>
        <p:spPr>
          <a:xfrm>
            <a:off x="7867650" y="3586043"/>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1</a:t>
            </a:r>
            <a:endParaRPr lang="en-US" sz="1900" dirty="0"/>
          </a:p>
        </p:txBody>
      </p:sp>
      <p:sp>
        <p:nvSpPr>
          <p:cNvPr id="19" name="Text 17"/>
          <p:cNvSpPr/>
          <p:nvPr/>
        </p:nvSpPr>
        <p:spPr>
          <a:xfrm>
            <a:off x="10950416" y="3586043"/>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2</a:t>
            </a:r>
            <a:endParaRPr lang="en-US" sz="1900" dirty="0"/>
          </a:p>
        </p:txBody>
      </p:sp>
      <p:sp>
        <p:nvSpPr>
          <p:cNvPr id="20" name="Shape 18"/>
          <p:cNvSpPr/>
          <p:nvPr/>
        </p:nvSpPr>
        <p:spPr>
          <a:xfrm>
            <a:off x="7625596" y="4125873"/>
            <a:ext cx="6158032" cy="692587"/>
          </a:xfrm>
          <a:prstGeom prst="rect">
            <a:avLst/>
          </a:prstGeom>
          <a:solidFill>
            <a:srgbClr val="FFFFFF">
              <a:alpha val="4000"/>
            </a:srgbClr>
          </a:solidFill>
          <a:ln/>
        </p:spPr>
      </p:sp>
      <p:sp>
        <p:nvSpPr>
          <p:cNvPr id="21" name="Text 19"/>
          <p:cNvSpPr/>
          <p:nvPr/>
        </p:nvSpPr>
        <p:spPr>
          <a:xfrm>
            <a:off x="7867650" y="4278630"/>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2</a:t>
            </a:r>
            <a:endParaRPr lang="en-US" sz="1900" dirty="0"/>
          </a:p>
        </p:txBody>
      </p:sp>
      <p:sp>
        <p:nvSpPr>
          <p:cNvPr id="22" name="Text 20"/>
          <p:cNvSpPr/>
          <p:nvPr/>
        </p:nvSpPr>
        <p:spPr>
          <a:xfrm>
            <a:off x="10950416" y="4278630"/>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4</a:t>
            </a:r>
            <a:endParaRPr lang="en-US" sz="1900" dirty="0"/>
          </a:p>
        </p:txBody>
      </p:sp>
      <p:sp>
        <p:nvSpPr>
          <p:cNvPr id="23" name="Shape 21"/>
          <p:cNvSpPr/>
          <p:nvPr/>
        </p:nvSpPr>
        <p:spPr>
          <a:xfrm>
            <a:off x="7625596" y="4818459"/>
            <a:ext cx="6158032" cy="692587"/>
          </a:xfrm>
          <a:prstGeom prst="rect">
            <a:avLst/>
          </a:prstGeom>
          <a:solidFill>
            <a:srgbClr val="000000">
              <a:alpha val="4000"/>
            </a:srgbClr>
          </a:solidFill>
          <a:ln/>
        </p:spPr>
      </p:sp>
      <p:sp>
        <p:nvSpPr>
          <p:cNvPr id="24" name="Text 22"/>
          <p:cNvSpPr/>
          <p:nvPr/>
        </p:nvSpPr>
        <p:spPr>
          <a:xfrm>
            <a:off x="7867650" y="4971217"/>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3</a:t>
            </a:r>
            <a:endParaRPr lang="en-US" sz="1900" dirty="0"/>
          </a:p>
        </p:txBody>
      </p:sp>
      <p:sp>
        <p:nvSpPr>
          <p:cNvPr id="25" name="Text 23"/>
          <p:cNvSpPr/>
          <p:nvPr/>
        </p:nvSpPr>
        <p:spPr>
          <a:xfrm>
            <a:off x="10950416" y="4971217"/>
            <a:ext cx="2591276" cy="387072"/>
          </a:xfrm>
          <a:prstGeom prst="rect">
            <a:avLst/>
          </a:prstGeom>
          <a:noFill/>
          <a:ln/>
        </p:spPr>
        <p:txBody>
          <a:bodyPr wrap="non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6</a:t>
            </a:r>
            <a:endParaRPr lang="en-US" sz="1900" dirty="0"/>
          </a:p>
        </p:txBody>
      </p:sp>
      <p:sp>
        <p:nvSpPr>
          <p:cNvPr id="26" name="Text 24"/>
          <p:cNvSpPr/>
          <p:nvPr/>
        </p:nvSpPr>
        <p:spPr>
          <a:xfrm>
            <a:off x="7617976" y="5790843"/>
            <a:ext cx="6173272" cy="1548289"/>
          </a:xfrm>
          <a:prstGeom prst="rect">
            <a:avLst/>
          </a:prstGeom>
          <a:noFill/>
          <a:ln/>
        </p:spPr>
        <p:txBody>
          <a:bodyPr wrap="square" lIns="0" tIns="0" rIns="0" bIns="0" rtlCol="0" anchor="t"/>
          <a:lstStyle/>
          <a:p>
            <a:pPr algn="l" indent="0" marL="0">
              <a:lnSpc>
                <a:spcPts val="3000"/>
              </a:lnSpc>
              <a:buNone/>
            </a:pPr>
            <a:r>
              <a:rPr lang="en-US" sz="1900" dirty="0">
                <a:solidFill>
                  <a:srgbClr val="272525"/>
                </a:solidFill>
                <a:latin typeface="Inter" pitchFamily="34" charset="0"/>
                <a:ea typeface="Inter" pitchFamily="34" charset="-122"/>
                <a:cs typeface="Inter" pitchFamily="34" charset="-120"/>
              </a:rPr>
              <a:t>Looking at this data, we can see that the relationship is y = 2x. Our goal is to learn the values of θ0 and θ1 so that the model predicts y as accurately as possible.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4037" y="1165741"/>
            <a:ext cx="10041374"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Initializing the Learning Process</a:t>
            </a:r>
            <a:endParaRPr lang="en-US" sz="5050" dirty="0"/>
          </a:p>
        </p:txBody>
      </p:sp>
      <p:sp>
        <p:nvSpPr>
          <p:cNvPr id="3" name="Text 1"/>
          <p:cNvSpPr/>
          <p:nvPr/>
        </p:nvSpPr>
        <p:spPr>
          <a:xfrm>
            <a:off x="864037" y="2464356"/>
            <a:ext cx="4053840" cy="814626"/>
          </a:xfrm>
          <a:prstGeom prst="rect">
            <a:avLst/>
          </a:prstGeom>
          <a:noFill/>
          <a:ln/>
        </p:spPr>
        <p:txBody>
          <a:bodyPr wrap="none" lIns="0" tIns="0" rIns="0" bIns="0" rtlCol="0" anchor="t"/>
          <a:lstStyle/>
          <a:p>
            <a:pPr algn="ctr" indent="0" marL="0">
              <a:lnSpc>
                <a:spcPts val="6400"/>
              </a:lnSpc>
              <a:buNone/>
            </a:pPr>
            <a:r>
              <a:rPr lang="en-US" sz="6400" b="1" dirty="0">
                <a:solidFill>
                  <a:srgbClr val="272525"/>
                </a:solidFill>
                <a:latin typeface="Inter Bold" pitchFamily="34" charset="0"/>
                <a:ea typeface="Inter Bold" pitchFamily="34" charset="-122"/>
                <a:cs typeface="Inter Bold" pitchFamily="34" charset="-120"/>
              </a:rPr>
              <a:t>0</a:t>
            </a:r>
            <a:endParaRPr lang="en-US" sz="6400" dirty="0"/>
          </a:p>
        </p:txBody>
      </p:sp>
      <p:sp>
        <p:nvSpPr>
          <p:cNvPr id="4" name="Text 2"/>
          <p:cNvSpPr/>
          <p:nvPr/>
        </p:nvSpPr>
        <p:spPr>
          <a:xfrm>
            <a:off x="1280874" y="3587472"/>
            <a:ext cx="3220164" cy="402550"/>
          </a:xfrm>
          <a:prstGeom prst="rect">
            <a:avLst/>
          </a:prstGeom>
          <a:noFill/>
          <a:ln/>
        </p:spPr>
        <p:txBody>
          <a:bodyPr wrap="none" lIns="0" tIns="0" rIns="0" bIns="0" rtlCol="0" anchor="t"/>
          <a:lstStyle/>
          <a:p>
            <a:pPr algn="ctr"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Initial θ0</a:t>
            </a:r>
            <a:endParaRPr lang="en-US" sz="2500" dirty="0"/>
          </a:p>
        </p:txBody>
      </p:sp>
      <p:sp>
        <p:nvSpPr>
          <p:cNvPr id="5" name="Text 3"/>
          <p:cNvSpPr/>
          <p:nvPr/>
        </p:nvSpPr>
        <p:spPr>
          <a:xfrm>
            <a:off x="864037" y="4138136"/>
            <a:ext cx="4053840" cy="395049"/>
          </a:xfrm>
          <a:prstGeom prst="rect">
            <a:avLst/>
          </a:prstGeom>
          <a:noFill/>
          <a:ln/>
        </p:spPr>
        <p:txBody>
          <a:bodyPr wrap="none" lIns="0" tIns="0" rIns="0" bIns="0" rtlCol="0" anchor="t"/>
          <a:lstStyle/>
          <a:p>
            <a:pPr algn="ctr" indent="0" marL="0">
              <a:lnSpc>
                <a:spcPts val="3100"/>
              </a:lnSpc>
              <a:buNone/>
            </a:pPr>
            <a:r>
              <a:rPr lang="en-US" sz="1900" dirty="0">
                <a:solidFill>
                  <a:srgbClr val="272525"/>
                </a:solidFill>
                <a:latin typeface="Inter" pitchFamily="34" charset="0"/>
                <a:ea typeface="Inter" pitchFamily="34" charset="-122"/>
                <a:cs typeface="Inter" pitchFamily="34" charset="-120"/>
              </a:rPr>
              <a:t>Starting y-intercept value</a:t>
            </a:r>
            <a:endParaRPr lang="en-US" sz="1900" dirty="0"/>
          </a:p>
        </p:txBody>
      </p:sp>
      <p:sp>
        <p:nvSpPr>
          <p:cNvPr id="6" name="Text 4"/>
          <p:cNvSpPr/>
          <p:nvPr/>
        </p:nvSpPr>
        <p:spPr>
          <a:xfrm>
            <a:off x="5288161" y="2464356"/>
            <a:ext cx="4053959" cy="814626"/>
          </a:xfrm>
          <a:prstGeom prst="rect">
            <a:avLst/>
          </a:prstGeom>
          <a:noFill/>
          <a:ln/>
        </p:spPr>
        <p:txBody>
          <a:bodyPr wrap="none" lIns="0" tIns="0" rIns="0" bIns="0" rtlCol="0" anchor="t"/>
          <a:lstStyle/>
          <a:p>
            <a:pPr algn="ctr" indent="0" marL="0">
              <a:lnSpc>
                <a:spcPts val="6400"/>
              </a:lnSpc>
              <a:buNone/>
            </a:pPr>
            <a:r>
              <a:rPr lang="en-US" sz="6400" b="1" dirty="0">
                <a:solidFill>
                  <a:srgbClr val="272525"/>
                </a:solidFill>
                <a:latin typeface="Inter Bold" pitchFamily="34" charset="0"/>
                <a:ea typeface="Inter Bold" pitchFamily="34" charset="-122"/>
                <a:cs typeface="Inter Bold" pitchFamily="34" charset="-120"/>
              </a:rPr>
              <a:t>0</a:t>
            </a:r>
            <a:endParaRPr lang="en-US" sz="6400" dirty="0"/>
          </a:p>
        </p:txBody>
      </p:sp>
      <p:sp>
        <p:nvSpPr>
          <p:cNvPr id="7" name="Text 5"/>
          <p:cNvSpPr/>
          <p:nvPr/>
        </p:nvSpPr>
        <p:spPr>
          <a:xfrm>
            <a:off x="5704999" y="3587472"/>
            <a:ext cx="3220164" cy="402550"/>
          </a:xfrm>
          <a:prstGeom prst="rect">
            <a:avLst/>
          </a:prstGeom>
          <a:noFill/>
          <a:ln/>
        </p:spPr>
        <p:txBody>
          <a:bodyPr wrap="none" lIns="0" tIns="0" rIns="0" bIns="0" rtlCol="0" anchor="t"/>
          <a:lstStyle/>
          <a:p>
            <a:pPr algn="ctr"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Initial θ1</a:t>
            </a:r>
            <a:endParaRPr lang="en-US" sz="2500" dirty="0"/>
          </a:p>
        </p:txBody>
      </p:sp>
      <p:sp>
        <p:nvSpPr>
          <p:cNvPr id="8" name="Text 6"/>
          <p:cNvSpPr/>
          <p:nvPr/>
        </p:nvSpPr>
        <p:spPr>
          <a:xfrm>
            <a:off x="5288161" y="4138136"/>
            <a:ext cx="4053959" cy="395049"/>
          </a:xfrm>
          <a:prstGeom prst="rect">
            <a:avLst/>
          </a:prstGeom>
          <a:noFill/>
          <a:ln/>
        </p:spPr>
        <p:txBody>
          <a:bodyPr wrap="none" lIns="0" tIns="0" rIns="0" bIns="0" rtlCol="0" anchor="t"/>
          <a:lstStyle/>
          <a:p>
            <a:pPr algn="ctr" indent="0" marL="0">
              <a:lnSpc>
                <a:spcPts val="3100"/>
              </a:lnSpc>
              <a:buNone/>
            </a:pPr>
            <a:r>
              <a:rPr lang="en-US" sz="1900" dirty="0">
                <a:solidFill>
                  <a:srgbClr val="272525"/>
                </a:solidFill>
                <a:latin typeface="Inter" pitchFamily="34" charset="0"/>
                <a:ea typeface="Inter" pitchFamily="34" charset="-122"/>
                <a:cs typeface="Inter" pitchFamily="34" charset="-120"/>
              </a:rPr>
              <a:t>Starting slope value</a:t>
            </a:r>
            <a:endParaRPr lang="en-US" sz="1900" dirty="0"/>
          </a:p>
        </p:txBody>
      </p:sp>
      <p:sp>
        <p:nvSpPr>
          <p:cNvPr id="9" name="Text 7"/>
          <p:cNvSpPr/>
          <p:nvPr/>
        </p:nvSpPr>
        <p:spPr>
          <a:xfrm>
            <a:off x="9712404" y="2464356"/>
            <a:ext cx="4053840" cy="814626"/>
          </a:xfrm>
          <a:prstGeom prst="rect">
            <a:avLst/>
          </a:prstGeom>
          <a:noFill/>
          <a:ln/>
        </p:spPr>
        <p:txBody>
          <a:bodyPr wrap="none" lIns="0" tIns="0" rIns="0" bIns="0" rtlCol="0" anchor="t"/>
          <a:lstStyle/>
          <a:p>
            <a:pPr algn="ctr" indent="0" marL="0">
              <a:lnSpc>
                <a:spcPts val="6400"/>
              </a:lnSpc>
              <a:buNone/>
            </a:pPr>
            <a:r>
              <a:rPr lang="en-US" sz="6400" b="1" dirty="0">
                <a:solidFill>
                  <a:srgbClr val="272525"/>
                </a:solidFill>
                <a:latin typeface="Inter Bold" pitchFamily="34" charset="0"/>
                <a:ea typeface="Inter Bold" pitchFamily="34" charset="-122"/>
                <a:cs typeface="Inter Bold" pitchFamily="34" charset="-120"/>
              </a:rPr>
              <a:t>0.1</a:t>
            </a:r>
            <a:endParaRPr lang="en-US" sz="6400" dirty="0"/>
          </a:p>
        </p:txBody>
      </p:sp>
      <p:sp>
        <p:nvSpPr>
          <p:cNvPr id="10" name="Text 8"/>
          <p:cNvSpPr/>
          <p:nvPr/>
        </p:nvSpPr>
        <p:spPr>
          <a:xfrm>
            <a:off x="10129242" y="3587472"/>
            <a:ext cx="3220164" cy="402550"/>
          </a:xfrm>
          <a:prstGeom prst="rect">
            <a:avLst/>
          </a:prstGeom>
          <a:noFill/>
          <a:ln/>
        </p:spPr>
        <p:txBody>
          <a:bodyPr wrap="none" lIns="0" tIns="0" rIns="0" bIns="0" rtlCol="0" anchor="t"/>
          <a:lstStyle/>
          <a:p>
            <a:pPr algn="ctr"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Learning Rate α</a:t>
            </a:r>
            <a:endParaRPr lang="en-US" sz="2500" dirty="0"/>
          </a:p>
        </p:txBody>
      </p:sp>
      <p:sp>
        <p:nvSpPr>
          <p:cNvPr id="11" name="Text 9"/>
          <p:cNvSpPr/>
          <p:nvPr/>
        </p:nvSpPr>
        <p:spPr>
          <a:xfrm>
            <a:off x="9712404" y="4138136"/>
            <a:ext cx="4053840" cy="395049"/>
          </a:xfrm>
          <a:prstGeom prst="rect">
            <a:avLst/>
          </a:prstGeom>
          <a:noFill/>
          <a:ln/>
        </p:spPr>
        <p:txBody>
          <a:bodyPr wrap="none" lIns="0" tIns="0" rIns="0" bIns="0" rtlCol="0" anchor="t"/>
          <a:lstStyle/>
          <a:p>
            <a:pPr algn="ctr" indent="0" marL="0">
              <a:lnSpc>
                <a:spcPts val="3100"/>
              </a:lnSpc>
              <a:buNone/>
            </a:pPr>
            <a:r>
              <a:rPr lang="en-US" sz="1900" dirty="0">
                <a:solidFill>
                  <a:srgbClr val="272525"/>
                </a:solidFill>
                <a:latin typeface="Inter" pitchFamily="34" charset="0"/>
                <a:ea typeface="Inter" pitchFamily="34" charset="-122"/>
                <a:cs typeface="Inter" pitchFamily="34" charset="-120"/>
              </a:rPr>
              <a:t>Step size for updates</a:t>
            </a:r>
            <a:endParaRPr lang="en-US" sz="1900" dirty="0"/>
          </a:p>
        </p:txBody>
      </p:sp>
      <p:sp>
        <p:nvSpPr>
          <p:cNvPr id="12" name="Text 10"/>
          <p:cNvSpPr/>
          <p:nvPr/>
        </p:nvSpPr>
        <p:spPr>
          <a:xfrm>
            <a:off x="864037" y="4810839"/>
            <a:ext cx="12902327" cy="118514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We begin the gradient descent process by initializing our model parameters. We'll start with θ0 = 0 (no y-intercept) and θ1 = 0 (no slope), meaning our initial model predicts y = 0 for any input x. We also set a learning rate α = 0.1 to control how quickly we update our parameters.</a:t>
            </a:r>
            <a:endParaRPr lang="en-US" sz="1900" dirty="0"/>
          </a:p>
        </p:txBody>
      </p:sp>
      <p:sp>
        <p:nvSpPr>
          <p:cNvPr id="13" name="Text 11"/>
          <p:cNvSpPr/>
          <p:nvPr/>
        </p:nvSpPr>
        <p:spPr>
          <a:xfrm>
            <a:off x="864037" y="6273641"/>
            <a:ext cx="12902327" cy="790099"/>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With these initial values, our hypothesis function is hθ(x) = 0 + 0·x = 0, which is clearly far from the true relationship y = 2x that we can observe in our data.</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79490" y="535186"/>
            <a:ext cx="6474143" cy="633055"/>
          </a:xfrm>
          <a:prstGeom prst="rect">
            <a:avLst/>
          </a:prstGeom>
          <a:noFill/>
          <a:ln/>
        </p:spPr>
        <p:txBody>
          <a:bodyPr wrap="none" lIns="0" tIns="0" rIns="0" bIns="0" rtlCol="0" anchor="t"/>
          <a:lstStyle/>
          <a:p>
            <a:pPr algn="l" indent="0" marL="0">
              <a:lnSpc>
                <a:spcPts val="4950"/>
              </a:lnSpc>
              <a:buNone/>
            </a:pPr>
            <a:r>
              <a:rPr lang="en-US" sz="3950" b="1" dirty="0">
                <a:solidFill>
                  <a:srgbClr val="000000"/>
                </a:solidFill>
                <a:latin typeface="Inter Bold" pitchFamily="34" charset="0"/>
                <a:ea typeface="Inter Bold" pitchFamily="34" charset="-122"/>
                <a:cs typeface="Inter Bold" pitchFamily="34" charset="-120"/>
              </a:rPr>
              <a:t>Calculating the Initial Cost</a:t>
            </a:r>
            <a:endParaRPr lang="en-US" sz="3950" dirty="0"/>
          </a:p>
        </p:txBody>
      </p:sp>
      <p:pic>
        <p:nvPicPr>
          <p:cNvPr id="3" name="Image 0" descr="preencoded.png">    </p:cNvPr>
          <p:cNvPicPr>
            <a:picLocks noChangeAspect="1"/>
          </p:cNvPicPr>
          <p:nvPr/>
        </p:nvPicPr>
        <p:blipFill>
          <a:blip r:embed="rId1"/>
          <a:stretch>
            <a:fillRect/>
          </a:stretch>
        </p:blipFill>
        <p:spPr>
          <a:xfrm>
            <a:off x="679490" y="1459349"/>
            <a:ext cx="970717" cy="1558766"/>
          </a:xfrm>
          <a:prstGeom prst="rect">
            <a:avLst/>
          </a:prstGeom>
        </p:spPr>
      </p:pic>
      <p:sp>
        <p:nvSpPr>
          <p:cNvPr id="4" name="Text 1"/>
          <p:cNvSpPr/>
          <p:nvPr/>
        </p:nvSpPr>
        <p:spPr>
          <a:xfrm>
            <a:off x="1941314" y="1653421"/>
            <a:ext cx="3342561" cy="316468"/>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Apply Hypothesis Function</a:t>
            </a:r>
            <a:endParaRPr lang="en-US" sz="1950" dirty="0"/>
          </a:p>
        </p:txBody>
      </p:sp>
      <p:sp>
        <p:nvSpPr>
          <p:cNvPr id="5" name="Text 2"/>
          <p:cNvSpPr/>
          <p:nvPr/>
        </p:nvSpPr>
        <p:spPr>
          <a:xfrm>
            <a:off x="1941314" y="2086332"/>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With θ0 = 0 and θ1 = 0, our model predicts h(x) = 0 for all inputs</a:t>
            </a:r>
            <a:endParaRPr lang="en-US" sz="1500" dirty="0"/>
          </a:p>
        </p:txBody>
      </p:sp>
      <p:sp>
        <p:nvSpPr>
          <p:cNvPr id="6" name="Text 3"/>
          <p:cNvSpPr/>
          <p:nvPr/>
        </p:nvSpPr>
        <p:spPr>
          <a:xfrm>
            <a:off x="1941314" y="2513409"/>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Predictions: [0, 0, 0]</a:t>
            </a:r>
            <a:endParaRPr lang="en-US" sz="1500" dirty="0"/>
          </a:p>
        </p:txBody>
      </p:sp>
      <p:pic>
        <p:nvPicPr>
          <p:cNvPr id="7" name="Image 1" descr="preencoded.png">    </p:cNvPr>
          <p:cNvPicPr>
            <a:picLocks noChangeAspect="1"/>
          </p:cNvPicPr>
          <p:nvPr/>
        </p:nvPicPr>
        <p:blipFill>
          <a:blip r:embed="rId2"/>
          <a:stretch>
            <a:fillRect/>
          </a:stretch>
        </p:blipFill>
        <p:spPr>
          <a:xfrm>
            <a:off x="679490" y="3018115"/>
            <a:ext cx="970717" cy="1558766"/>
          </a:xfrm>
          <a:prstGeom prst="rect">
            <a:avLst/>
          </a:prstGeom>
        </p:spPr>
      </p:pic>
      <p:sp>
        <p:nvSpPr>
          <p:cNvPr id="8" name="Text 4"/>
          <p:cNvSpPr/>
          <p:nvPr/>
        </p:nvSpPr>
        <p:spPr>
          <a:xfrm>
            <a:off x="1941314" y="3212187"/>
            <a:ext cx="2532340" cy="316468"/>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Calculate Errors</a:t>
            </a:r>
            <a:endParaRPr lang="en-US" sz="1950" dirty="0"/>
          </a:p>
        </p:txBody>
      </p:sp>
      <p:sp>
        <p:nvSpPr>
          <p:cNvPr id="9" name="Text 5"/>
          <p:cNvSpPr/>
          <p:nvPr/>
        </p:nvSpPr>
        <p:spPr>
          <a:xfrm>
            <a:off x="1941314" y="3645098"/>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Subtract actual values from predictions</a:t>
            </a:r>
            <a:endParaRPr lang="en-US" sz="1500" dirty="0"/>
          </a:p>
        </p:txBody>
      </p:sp>
      <p:sp>
        <p:nvSpPr>
          <p:cNvPr id="10" name="Text 6"/>
          <p:cNvSpPr/>
          <p:nvPr/>
        </p:nvSpPr>
        <p:spPr>
          <a:xfrm>
            <a:off x="1941314" y="4072176"/>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Errors: [0-2, 0-4, 0-6] = [-2, -4, -6]</a:t>
            </a:r>
            <a:endParaRPr lang="en-US" sz="1500" dirty="0"/>
          </a:p>
        </p:txBody>
      </p:sp>
      <p:pic>
        <p:nvPicPr>
          <p:cNvPr id="11" name="Image 2" descr="preencoded.png">    </p:cNvPr>
          <p:cNvPicPr>
            <a:picLocks noChangeAspect="1"/>
          </p:cNvPicPr>
          <p:nvPr/>
        </p:nvPicPr>
        <p:blipFill>
          <a:blip r:embed="rId3"/>
          <a:stretch>
            <a:fillRect/>
          </a:stretch>
        </p:blipFill>
        <p:spPr>
          <a:xfrm>
            <a:off x="679490" y="4576882"/>
            <a:ext cx="970717" cy="1558766"/>
          </a:xfrm>
          <a:prstGeom prst="rect">
            <a:avLst/>
          </a:prstGeom>
        </p:spPr>
      </p:pic>
      <p:sp>
        <p:nvSpPr>
          <p:cNvPr id="12" name="Text 7"/>
          <p:cNvSpPr/>
          <p:nvPr/>
        </p:nvSpPr>
        <p:spPr>
          <a:xfrm>
            <a:off x="1941314" y="4770953"/>
            <a:ext cx="2532340" cy="316468"/>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Square the Errors</a:t>
            </a:r>
            <a:endParaRPr lang="en-US" sz="1950" dirty="0"/>
          </a:p>
        </p:txBody>
      </p:sp>
      <p:sp>
        <p:nvSpPr>
          <p:cNvPr id="13" name="Text 8"/>
          <p:cNvSpPr/>
          <p:nvPr/>
        </p:nvSpPr>
        <p:spPr>
          <a:xfrm>
            <a:off x="1941314" y="5203865"/>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Square each error value</a:t>
            </a:r>
            <a:endParaRPr lang="en-US" sz="1500" dirty="0"/>
          </a:p>
        </p:txBody>
      </p:sp>
      <p:sp>
        <p:nvSpPr>
          <p:cNvPr id="14" name="Text 9"/>
          <p:cNvSpPr/>
          <p:nvPr/>
        </p:nvSpPr>
        <p:spPr>
          <a:xfrm>
            <a:off x="1941314" y="5630942"/>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Squared Errors: [4, 16, 36]</a:t>
            </a:r>
            <a:endParaRPr lang="en-US" sz="1500" dirty="0"/>
          </a:p>
        </p:txBody>
      </p:sp>
      <p:pic>
        <p:nvPicPr>
          <p:cNvPr id="15" name="Image 3" descr="preencoded.png">    </p:cNvPr>
          <p:cNvPicPr>
            <a:picLocks noChangeAspect="1"/>
          </p:cNvPicPr>
          <p:nvPr/>
        </p:nvPicPr>
        <p:blipFill>
          <a:blip r:embed="rId4"/>
          <a:stretch>
            <a:fillRect/>
          </a:stretch>
        </p:blipFill>
        <p:spPr>
          <a:xfrm>
            <a:off x="679490" y="6135648"/>
            <a:ext cx="970717" cy="1558766"/>
          </a:xfrm>
          <a:prstGeom prst="rect">
            <a:avLst/>
          </a:prstGeom>
        </p:spPr>
      </p:pic>
      <p:sp>
        <p:nvSpPr>
          <p:cNvPr id="16" name="Text 10"/>
          <p:cNvSpPr/>
          <p:nvPr/>
        </p:nvSpPr>
        <p:spPr>
          <a:xfrm>
            <a:off x="1941314" y="6329720"/>
            <a:ext cx="2906792" cy="316468"/>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Compute Cost Function</a:t>
            </a:r>
            <a:endParaRPr lang="en-US" sz="1950" dirty="0"/>
          </a:p>
        </p:txBody>
      </p:sp>
      <p:sp>
        <p:nvSpPr>
          <p:cNvPr id="17" name="Text 11"/>
          <p:cNvSpPr/>
          <p:nvPr/>
        </p:nvSpPr>
        <p:spPr>
          <a:xfrm>
            <a:off x="1941314" y="6762631"/>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J(θ) = (1/2m) × sum of squared errors</a:t>
            </a:r>
            <a:endParaRPr lang="en-US" sz="1500" dirty="0"/>
          </a:p>
        </p:txBody>
      </p:sp>
      <p:sp>
        <p:nvSpPr>
          <p:cNvPr id="18" name="Text 12"/>
          <p:cNvSpPr/>
          <p:nvPr/>
        </p:nvSpPr>
        <p:spPr>
          <a:xfrm>
            <a:off x="1941314" y="7189708"/>
            <a:ext cx="12009596" cy="310634"/>
          </a:xfrm>
          <a:prstGeom prst="rect">
            <a:avLst/>
          </a:prstGeom>
          <a:noFill/>
          <a:ln/>
        </p:spPr>
        <p:txBody>
          <a:bodyPr wrap="none" lIns="0" tIns="0" rIns="0" bIns="0" rtlCol="0" anchor="t"/>
          <a:lstStyle/>
          <a:p>
            <a:pPr algn="l" indent="0" marL="0">
              <a:lnSpc>
                <a:spcPts val="2400"/>
              </a:lnSpc>
              <a:buNone/>
            </a:pPr>
            <a:r>
              <a:rPr lang="en-US" sz="1500" dirty="0">
                <a:solidFill>
                  <a:srgbClr val="272525"/>
                </a:solidFill>
                <a:latin typeface="Inter" pitchFamily="34" charset="0"/>
                <a:ea typeface="Inter" pitchFamily="34" charset="-122"/>
                <a:cs typeface="Inter" pitchFamily="34" charset="-120"/>
              </a:rPr>
              <a:t>J(θ) = (1/6) × (4+16+36) = (1/6) × 56 = 9.33</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42248" y="663416"/>
            <a:ext cx="7679293" cy="784741"/>
          </a:xfrm>
          <a:prstGeom prst="rect">
            <a:avLst/>
          </a:prstGeom>
          <a:noFill/>
          <a:ln/>
        </p:spPr>
        <p:txBody>
          <a:bodyPr wrap="none" lIns="0" tIns="0" rIns="0" bIns="0" rtlCol="0" anchor="t"/>
          <a:lstStyle/>
          <a:p>
            <a:pPr algn="l" indent="0" marL="0">
              <a:lnSpc>
                <a:spcPts val="6150"/>
              </a:lnSpc>
              <a:buNone/>
            </a:pPr>
            <a:r>
              <a:rPr lang="en-US" sz="4900" b="1" dirty="0">
                <a:solidFill>
                  <a:srgbClr val="000000"/>
                </a:solidFill>
                <a:latin typeface="Inter Bold" pitchFamily="34" charset="0"/>
                <a:ea typeface="Inter Bold" pitchFamily="34" charset="-122"/>
                <a:cs typeface="Inter Bold" pitchFamily="34" charset="-120"/>
              </a:rPr>
              <a:t>Computing the Gradients</a:t>
            </a:r>
            <a:endParaRPr lang="en-US" sz="4900" dirty="0"/>
          </a:p>
        </p:txBody>
      </p:sp>
      <p:sp>
        <p:nvSpPr>
          <p:cNvPr id="3" name="Text 1"/>
          <p:cNvSpPr/>
          <p:nvPr/>
        </p:nvSpPr>
        <p:spPr>
          <a:xfrm>
            <a:off x="842248" y="2049661"/>
            <a:ext cx="3138845" cy="392311"/>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Inter Bold" pitchFamily="34" charset="0"/>
                <a:ea typeface="Inter Bold" pitchFamily="34" charset="-122"/>
                <a:cs typeface="Inter Bold" pitchFamily="34" charset="-120"/>
              </a:rPr>
              <a:t>Gradient for θ0</a:t>
            </a:r>
            <a:endParaRPr lang="en-US" sz="2450" dirty="0"/>
          </a:p>
        </p:txBody>
      </p:sp>
      <p:sp>
        <p:nvSpPr>
          <p:cNvPr id="4" name="Text 2"/>
          <p:cNvSpPr/>
          <p:nvPr/>
        </p:nvSpPr>
        <p:spPr>
          <a:xfrm>
            <a:off x="842248" y="2682597"/>
            <a:ext cx="6179463" cy="769858"/>
          </a:xfrm>
          <a:prstGeom prst="rect">
            <a:avLst/>
          </a:prstGeom>
          <a:noFill/>
          <a:ln/>
        </p:spPr>
        <p:txBody>
          <a:bodyPr wrap="square" lIns="0" tIns="0" rIns="0" bIns="0" rtlCol="0" anchor="t"/>
          <a:lstStyle/>
          <a:p>
            <a:pPr algn="l" indent="0" marL="0">
              <a:lnSpc>
                <a:spcPts val="3000"/>
              </a:lnSpc>
              <a:buNone/>
            </a:pPr>
            <a:r>
              <a:rPr lang="en-US" sz="1850" dirty="0">
                <a:solidFill>
                  <a:srgbClr val="272525"/>
                </a:solidFill>
                <a:latin typeface="Inter" pitchFamily="34" charset="0"/>
                <a:ea typeface="Inter" pitchFamily="34" charset="-122"/>
                <a:cs typeface="Inter" pitchFamily="34" charset="-120"/>
              </a:rPr>
              <a:t>The partial derivative of the cost function with respect to θ0 is:</a:t>
            </a:r>
            <a:endParaRPr lang="en-US" sz="1850" dirty="0"/>
          </a:p>
        </p:txBody>
      </p:sp>
      <p:sp>
        <p:nvSpPr>
          <p:cNvPr id="5" name="Shape 3"/>
          <p:cNvSpPr/>
          <p:nvPr/>
        </p:nvSpPr>
        <p:spPr>
          <a:xfrm>
            <a:off x="842248" y="3723084"/>
            <a:ext cx="6179463" cy="745688"/>
          </a:xfrm>
          <a:prstGeom prst="roundRect">
            <a:avLst>
              <a:gd name="adj" fmla="val 13554"/>
            </a:avLst>
          </a:prstGeom>
          <a:solidFill>
            <a:srgbClr val="DADBF1"/>
          </a:solidFill>
          <a:ln/>
        </p:spPr>
      </p:sp>
      <p:sp>
        <p:nvSpPr>
          <p:cNvPr id="6" name="Shape 4"/>
          <p:cNvSpPr/>
          <p:nvPr/>
        </p:nvSpPr>
        <p:spPr>
          <a:xfrm>
            <a:off x="830223" y="3723084"/>
            <a:ext cx="6203513" cy="745688"/>
          </a:xfrm>
          <a:prstGeom prst="roundRect">
            <a:avLst>
              <a:gd name="adj" fmla="val 4841"/>
            </a:avLst>
          </a:prstGeom>
          <a:solidFill>
            <a:srgbClr val="DADBF1"/>
          </a:solidFill>
          <a:ln/>
        </p:spPr>
      </p:sp>
      <p:sp>
        <p:nvSpPr>
          <p:cNvPr id="7" name="Text 5"/>
          <p:cNvSpPr/>
          <p:nvPr/>
        </p:nvSpPr>
        <p:spPr>
          <a:xfrm>
            <a:off x="1070848" y="3903464"/>
            <a:ext cx="5722263" cy="384929"/>
          </a:xfrm>
          <a:prstGeom prst="rect">
            <a:avLst/>
          </a:prstGeom>
          <a:noFill/>
          <a:ln/>
        </p:spPr>
        <p:txBody>
          <a:bodyPr wrap="none" lIns="0" tIns="0" rIns="0" bIns="0" rtlCol="0" anchor="t"/>
          <a:lstStyle/>
          <a:p>
            <a:pPr algn="l" indent="0" marL="0">
              <a:lnSpc>
                <a:spcPts val="300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∂J/∂θ0 = (1/m) ∑(hθ(x^(i)) - y^(i)))</a:t>
            </a:r>
            <a:endParaRPr lang="en-US" sz="1850" dirty="0"/>
          </a:p>
        </p:txBody>
      </p:sp>
      <p:sp>
        <p:nvSpPr>
          <p:cNvPr id="8" name="Text 6"/>
          <p:cNvSpPr/>
          <p:nvPr/>
        </p:nvSpPr>
        <p:spPr>
          <a:xfrm>
            <a:off x="842248" y="4739402"/>
            <a:ext cx="6179463" cy="384929"/>
          </a:xfrm>
          <a:prstGeom prst="rect">
            <a:avLst/>
          </a:prstGeom>
          <a:noFill/>
          <a:ln/>
        </p:spPr>
        <p:txBody>
          <a:bodyPr wrap="none" lIns="0" tIns="0" rIns="0" bIns="0" rtlCol="0" anchor="t"/>
          <a:lstStyle/>
          <a:p>
            <a:pPr algn="l" indent="0" marL="0">
              <a:lnSpc>
                <a:spcPts val="3000"/>
              </a:lnSpc>
              <a:buNone/>
            </a:pPr>
            <a:r>
              <a:rPr lang="en-US" sz="1850" dirty="0">
                <a:solidFill>
                  <a:srgbClr val="272525"/>
                </a:solidFill>
                <a:latin typeface="Inter" pitchFamily="34" charset="0"/>
                <a:ea typeface="Inter" pitchFamily="34" charset="-122"/>
                <a:cs typeface="Inter" pitchFamily="34" charset="-120"/>
              </a:rPr>
              <a:t>Substituting our values:</a:t>
            </a:r>
            <a:endParaRPr lang="en-US" sz="1850" dirty="0"/>
          </a:p>
        </p:txBody>
      </p:sp>
      <p:sp>
        <p:nvSpPr>
          <p:cNvPr id="9" name="Shape 7"/>
          <p:cNvSpPr/>
          <p:nvPr/>
        </p:nvSpPr>
        <p:spPr>
          <a:xfrm>
            <a:off x="842248" y="5394960"/>
            <a:ext cx="6179463" cy="745688"/>
          </a:xfrm>
          <a:prstGeom prst="roundRect">
            <a:avLst>
              <a:gd name="adj" fmla="val 13554"/>
            </a:avLst>
          </a:prstGeom>
          <a:solidFill>
            <a:srgbClr val="DADBF1"/>
          </a:solidFill>
          <a:ln/>
        </p:spPr>
      </p:sp>
      <p:sp>
        <p:nvSpPr>
          <p:cNvPr id="10" name="Shape 8"/>
          <p:cNvSpPr/>
          <p:nvPr/>
        </p:nvSpPr>
        <p:spPr>
          <a:xfrm>
            <a:off x="830223" y="5394960"/>
            <a:ext cx="6203513" cy="745688"/>
          </a:xfrm>
          <a:prstGeom prst="roundRect">
            <a:avLst>
              <a:gd name="adj" fmla="val 4841"/>
            </a:avLst>
          </a:prstGeom>
          <a:solidFill>
            <a:srgbClr val="DADBF1"/>
          </a:solidFill>
          <a:ln/>
        </p:spPr>
      </p:sp>
      <p:sp>
        <p:nvSpPr>
          <p:cNvPr id="11" name="Text 9"/>
          <p:cNvSpPr/>
          <p:nvPr/>
        </p:nvSpPr>
        <p:spPr>
          <a:xfrm>
            <a:off x="1070848" y="5575340"/>
            <a:ext cx="5722263" cy="384929"/>
          </a:xfrm>
          <a:prstGeom prst="rect">
            <a:avLst/>
          </a:prstGeom>
          <a:noFill/>
          <a:ln/>
        </p:spPr>
        <p:txBody>
          <a:bodyPr wrap="none" lIns="0" tIns="0" rIns="0" bIns="0" rtlCol="0" anchor="t"/>
          <a:lstStyle/>
          <a:p>
            <a:pPr algn="l" indent="0" marL="0">
              <a:lnSpc>
                <a:spcPts val="300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∂J/∂θ0 = (1/3) × (-2-4-6) = (1/3) × (-12) = -4</a:t>
            </a:r>
            <a:endParaRPr lang="en-US" sz="1850" dirty="0"/>
          </a:p>
        </p:txBody>
      </p:sp>
      <p:sp>
        <p:nvSpPr>
          <p:cNvPr id="12" name="Text 10"/>
          <p:cNvSpPr/>
          <p:nvPr/>
        </p:nvSpPr>
        <p:spPr>
          <a:xfrm>
            <a:off x="7616309" y="2049661"/>
            <a:ext cx="3138845" cy="392311"/>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Inter Bold" pitchFamily="34" charset="0"/>
                <a:ea typeface="Inter Bold" pitchFamily="34" charset="-122"/>
                <a:cs typeface="Inter Bold" pitchFamily="34" charset="-120"/>
              </a:rPr>
              <a:t>Gradient for θ1</a:t>
            </a:r>
            <a:endParaRPr lang="en-US" sz="2450" dirty="0"/>
          </a:p>
        </p:txBody>
      </p:sp>
      <p:sp>
        <p:nvSpPr>
          <p:cNvPr id="13" name="Text 11"/>
          <p:cNvSpPr/>
          <p:nvPr/>
        </p:nvSpPr>
        <p:spPr>
          <a:xfrm>
            <a:off x="7616309" y="2682597"/>
            <a:ext cx="6179463" cy="769858"/>
          </a:xfrm>
          <a:prstGeom prst="rect">
            <a:avLst/>
          </a:prstGeom>
          <a:noFill/>
          <a:ln/>
        </p:spPr>
        <p:txBody>
          <a:bodyPr wrap="square" lIns="0" tIns="0" rIns="0" bIns="0" rtlCol="0" anchor="t"/>
          <a:lstStyle/>
          <a:p>
            <a:pPr algn="l" indent="0" marL="0">
              <a:lnSpc>
                <a:spcPts val="3000"/>
              </a:lnSpc>
              <a:buNone/>
            </a:pPr>
            <a:r>
              <a:rPr lang="en-US" sz="1850" dirty="0">
                <a:solidFill>
                  <a:srgbClr val="272525"/>
                </a:solidFill>
                <a:latin typeface="Inter" pitchFamily="34" charset="0"/>
                <a:ea typeface="Inter" pitchFamily="34" charset="-122"/>
                <a:cs typeface="Inter" pitchFamily="34" charset="-120"/>
              </a:rPr>
              <a:t>The partial derivative of the cost function with respect to θ1 is:</a:t>
            </a:r>
            <a:endParaRPr lang="en-US" sz="1850" dirty="0"/>
          </a:p>
        </p:txBody>
      </p:sp>
      <p:sp>
        <p:nvSpPr>
          <p:cNvPr id="14" name="Shape 12"/>
          <p:cNvSpPr/>
          <p:nvPr/>
        </p:nvSpPr>
        <p:spPr>
          <a:xfrm>
            <a:off x="7616309" y="3723084"/>
            <a:ext cx="6179463" cy="745688"/>
          </a:xfrm>
          <a:prstGeom prst="roundRect">
            <a:avLst>
              <a:gd name="adj" fmla="val 13554"/>
            </a:avLst>
          </a:prstGeom>
          <a:solidFill>
            <a:srgbClr val="DADBF1"/>
          </a:solidFill>
          <a:ln/>
        </p:spPr>
      </p:sp>
      <p:sp>
        <p:nvSpPr>
          <p:cNvPr id="15" name="Shape 13"/>
          <p:cNvSpPr/>
          <p:nvPr/>
        </p:nvSpPr>
        <p:spPr>
          <a:xfrm>
            <a:off x="7604284" y="3723084"/>
            <a:ext cx="6203513" cy="745688"/>
          </a:xfrm>
          <a:prstGeom prst="roundRect">
            <a:avLst>
              <a:gd name="adj" fmla="val 4841"/>
            </a:avLst>
          </a:prstGeom>
          <a:solidFill>
            <a:srgbClr val="DADBF1"/>
          </a:solidFill>
          <a:ln/>
        </p:spPr>
      </p:sp>
      <p:sp>
        <p:nvSpPr>
          <p:cNvPr id="16" name="Text 14"/>
          <p:cNvSpPr/>
          <p:nvPr/>
        </p:nvSpPr>
        <p:spPr>
          <a:xfrm>
            <a:off x="7844909" y="3903464"/>
            <a:ext cx="5722263" cy="384929"/>
          </a:xfrm>
          <a:prstGeom prst="rect">
            <a:avLst/>
          </a:prstGeom>
          <a:noFill/>
          <a:ln/>
        </p:spPr>
        <p:txBody>
          <a:bodyPr wrap="none" lIns="0" tIns="0" rIns="0" bIns="0" rtlCol="0" anchor="t"/>
          <a:lstStyle/>
          <a:p>
            <a:pPr algn="l" indent="0" marL="0">
              <a:lnSpc>
                <a:spcPts val="300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∂J/∂θ1 = (1/m) ∑((hθ(x^(i)) - y^(i)) × x^(i))</a:t>
            </a:r>
            <a:endParaRPr lang="en-US" sz="1850" dirty="0"/>
          </a:p>
        </p:txBody>
      </p:sp>
      <p:sp>
        <p:nvSpPr>
          <p:cNvPr id="17" name="Text 15"/>
          <p:cNvSpPr/>
          <p:nvPr/>
        </p:nvSpPr>
        <p:spPr>
          <a:xfrm>
            <a:off x="7616309" y="4739402"/>
            <a:ext cx="6179463" cy="384929"/>
          </a:xfrm>
          <a:prstGeom prst="rect">
            <a:avLst/>
          </a:prstGeom>
          <a:noFill/>
          <a:ln/>
        </p:spPr>
        <p:txBody>
          <a:bodyPr wrap="none" lIns="0" tIns="0" rIns="0" bIns="0" rtlCol="0" anchor="t"/>
          <a:lstStyle/>
          <a:p>
            <a:pPr algn="l" indent="0" marL="0">
              <a:lnSpc>
                <a:spcPts val="3000"/>
              </a:lnSpc>
              <a:buNone/>
            </a:pPr>
            <a:r>
              <a:rPr lang="en-US" sz="1850" dirty="0">
                <a:solidFill>
                  <a:srgbClr val="272525"/>
                </a:solidFill>
                <a:latin typeface="Inter" pitchFamily="34" charset="0"/>
                <a:ea typeface="Inter" pitchFamily="34" charset="-122"/>
                <a:cs typeface="Inter" pitchFamily="34" charset="-120"/>
              </a:rPr>
              <a:t>Substituting our values:</a:t>
            </a:r>
            <a:endParaRPr lang="en-US" sz="1850" dirty="0"/>
          </a:p>
        </p:txBody>
      </p:sp>
      <p:sp>
        <p:nvSpPr>
          <p:cNvPr id="18" name="Shape 16"/>
          <p:cNvSpPr/>
          <p:nvPr/>
        </p:nvSpPr>
        <p:spPr>
          <a:xfrm>
            <a:off x="7616309" y="5394960"/>
            <a:ext cx="6179463" cy="1900476"/>
          </a:xfrm>
          <a:prstGeom prst="roundRect">
            <a:avLst>
              <a:gd name="adj" fmla="val 5318"/>
            </a:avLst>
          </a:prstGeom>
          <a:solidFill>
            <a:srgbClr val="DADBF1"/>
          </a:solidFill>
          <a:ln/>
        </p:spPr>
      </p:sp>
      <p:sp>
        <p:nvSpPr>
          <p:cNvPr id="19" name="Shape 17"/>
          <p:cNvSpPr/>
          <p:nvPr/>
        </p:nvSpPr>
        <p:spPr>
          <a:xfrm>
            <a:off x="7604284" y="5394960"/>
            <a:ext cx="6203513" cy="1900476"/>
          </a:xfrm>
          <a:prstGeom prst="roundRect">
            <a:avLst>
              <a:gd name="adj" fmla="val 1899"/>
            </a:avLst>
          </a:prstGeom>
          <a:solidFill>
            <a:srgbClr val="DADBF1"/>
          </a:solidFill>
          <a:ln/>
        </p:spPr>
      </p:sp>
      <p:sp>
        <p:nvSpPr>
          <p:cNvPr id="20" name="Text 18"/>
          <p:cNvSpPr/>
          <p:nvPr/>
        </p:nvSpPr>
        <p:spPr>
          <a:xfrm>
            <a:off x="7844909" y="5575340"/>
            <a:ext cx="5722263" cy="1539716"/>
          </a:xfrm>
          <a:prstGeom prst="rect">
            <a:avLst/>
          </a:prstGeom>
          <a:noFill/>
          <a:ln/>
        </p:spPr>
        <p:txBody>
          <a:bodyPr wrap="square" lIns="0" tIns="0" rIns="0" bIns="0" rtlCol="0" anchor="t"/>
          <a:lstStyle/>
          <a:p>
            <a:pPr algn="l" indent="0" marL="0">
              <a:lnSpc>
                <a:spcPts val="300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∂J/∂θ1 = (1/3) × ((-2×1) + (-4×2) + (-6×3))</a:t>
            </a:r>
            <a:endParaRPr lang="en-US" sz="1850" dirty="0"/>
          </a:p>
          <a:p>
            <a:pPr algn="l" indent="0" marL="0">
              <a:lnSpc>
                <a:spcPts val="300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 (1/3) × (-2-8-18)</a:t>
            </a:r>
            <a:endParaRPr lang="en-US" sz="1850" dirty="0"/>
          </a:p>
          <a:p>
            <a:pPr algn="l" indent="0" marL="0">
              <a:lnSpc>
                <a:spcPts val="300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 (1/3) × (-28)</a:t>
            </a:r>
            <a:endParaRPr lang="en-US" sz="1850" dirty="0"/>
          </a:p>
          <a:p>
            <a:pPr algn="l" indent="0" marL="0">
              <a:lnSpc>
                <a:spcPts val="300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 -9.33</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59976" y="597456"/>
            <a:ext cx="6877645" cy="708065"/>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Updating the Parameters</a:t>
            </a:r>
            <a:endParaRPr lang="en-US" sz="4450" dirty="0"/>
          </a:p>
        </p:txBody>
      </p:sp>
      <p:sp>
        <p:nvSpPr>
          <p:cNvPr id="3" name="Shape 1"/>
          <p:cNvSpPr/>
          <p:nvPr/>
        </p:nvSpPr>
        <p:spPr>
          <a:xfrm>
            <a:off x="759976" y="1739741"/>
            <a:ext cx="2185035" cy="1265753"/>
          </a:xfrm>
          <a:prstGeom prst="roundRect">
            <a:avLst>
              <a:gd name="adj" fmla="val 7205"/>
            </a:avLst>
          </a:prstGeom>
          <a:solidFill>
            <a:srgbClr val="DADBF1"/>
          </a:solidFill>
          <a:ln w="7620">
            <a:solidFill>
              <a:srgbClr val="C0C1D7"/>
            </a:solidFill>
            <a:prstDash val="solid"/>
          </a:ln>
        </p:spPr>
      </p:sp>
      <p:pic>
        <p:nvPicPr>
          <p:cNvPr id="4" name="Image 0" descr="preencoded.png">    </p:cNvPr>
          <p:cNvPicPr>
            <a:picLocks noChangeAspect="1"/>
          </p:cNvPicPr>
          <p:nvPr/>
        </p:nvPicPr>
        <p:blipFill>
          <a:blip r:embed="rId1"/>
          <a:stretch>
            <a:fillRect/>
          </a:stretch>
        </p:blipFill>
        <p:spPr>
          <a:xfrm>
            <a:off x="1699855" y="2181820"/>
            <a:ext cx="305276" cy="381595"/>
          </a:xfrm>
          <a:prstGeom prst="rect">
            <a:avLst/>
          </a:prstGeom>
        </p:spPr>
      </p:pic>
      <p:sp>
        <p:nvSpPr>
          <p:cNvPr id="5" name="Text 2"/>
          <p:cNvSpPr/>
          <p:nvPr/>
        </p:nvSpPr>
        <p:spPr>
          <a:xfrm>
            <a:off x="3162062" y="1956792"/>
            <a:ext cx="2832378" cy="353973"/>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Apply Update Rule</a:t>
            </a:r>
            <a:endParaRPr lang="en-US" sz="2200" dirty="0"/>
          </a:p>
        </p:txBody>
      </p:sp>
      <p:sp>
        <p:nvSpPr>
          <p:cNvPr id="6" name="Text 3"/>
          <p:cNvSpPr/>
          <p:nvPr/>
        </p:nvSpPr>
        <p:spPr>
          <a:xfrm>
            <a:off x="3162062" y="2441019"/>
            <a:ext cx="6138505" cy="347424"/>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Inter" pitchFamily="34" charset="0"/>
                <a:ea typeface="Inter" pitchFamily="34" charset="-122"/>
                <a:cs typeface="Inter" pitchFamily="34" charset="-120"/>
              </a:rPr>
              <a:t>Use the gradient descent formula to update each parameter</a:t>
            </a:r>
            <a:endParaRPr lang="en-US" sz="1700" dirty="0"/>
          </a:p>
        </p:txBody>
      </p:sp>
      <p:sp>
        <p:nvSpPr>
          <p:cNvPr id="7" name="Shape 4"/>
          <p:cNvSpPr/>
          <p:nvPr/>
        </p:nvSpPr>
        <p:spPr>
          <a:xfrm>
            <a:off x="3053477" y="2990255"/>
            <a:ext cx="10708481" cy="15240"/>
          </a:xfrm>
          <a:prstGeom prst="roundRect">
            <a:avLst>
              <a:gd name="adj" fmla="val 598443"/>
            </a:avLst>
          </a:prstGeom>
          <a:solidFill>
            <a:srgbClr val="C0C1D7"/>
          </a:solidFill>
          <a:ln/>
        </p:spPr>
      </p:sp>
      <p:sp>
        <p:nvSpPr>
          <p:cNvPr id="8" name="Shape 5"/>
          <p:cNvSpPr/>
          <p:nvPr/>
        </p:nvSpPr>
        <p:spPr>
          <a:xfrm>
            <a:off x="759976" y="3113961"/>
            <a:ext cx="4370070" cy="1265753"/>
          </a:xfrm>
          <a:prstGeom prst="roundRect">
            <a:avLst>
              <a:gd name="adj" fmla="val 7205"/>
            </a:avLst>
          </a:prstGeom>
          <a:solidFill>
            <a:srgbClr val="DADBF1"/>
          </a:solidFill>
          <a:ln w="7620">
            <a:solidFill>
              <a:srgbClr val="C0C1D7"/>
            </a:solidFill>
            <a:prstDash val="solid"/>
          </a:ln>
        </p:spPr>
      </p:sp>
      <p:pic>
        <p:nvPicPr>
          <p:cNvPr id="9" name="Image 1" descr="preencoded.png">    </p:cNvPr>
          <p:cNvPicPr>
            <a:picLocks noChangeAspect="1"/>
          </p:cNvPicPr>
          <p:nvPr/>
        </p:nvPicPr>
        <p:blipFill>
          <a:blip r:embed="rId2"/>
          <a:stretch>
            <a:fillRect/>
          </a:stretch>
        </p:blipFill>
        <p:spPr>
          <a:xfrm>
            <a:off x="2792373" y="3556040"/>
            <a:ext cx="305276" cy="381595"/>
          </a:xfrm>
          <a:prstGeom prst="rect">
            <a:avLst/>
          </a:prstGeom>
        </p:spPr>
      </p:pic>
      <p:sp>
        <p:nvSpPr>
          <p:cNvPr id="10" name="Text 6"/>
          <p:cNvSpPr/>
          <p:nvPr/>
        </p:nvSpPr>
        <p:spPr>
          <a:xfrm>
            <a:off x="5347097" y="3331012"/>
            <a:ext cx="2427922" cy="353973"/>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Calculate New θ0</a:t>
            </a:r>
            <a:endParaRPr lang="en-US" sz="2200" dirty="0"/>
          </a:p>
        </p:txBody>
      </p:sp>
      <p:sp>
        <p:nvSpPr>
          <p:cNvPr id="11" name="Text 7"/>
          <p:cNvSpPr/>
          <p:nvPr/>
        </p:nvSpPr>
        <p:spPr>
          <a:xfrm>
            <a:off x="5347097" y="3815239"/>
            <a:ext cx="2427922" cy="347424"/>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Inter" pitchFamily="34" charset="0"/>
                <a:ea typeface="Inter" pitchFamily="34" charset="-122"/>
                <a:cs typeface="Inter" pitchFamily="34" charset="-120"/>
              </a:rPr>
              <a:t>θ0 = 0 - 0.1 × (-4) = 0.4</a:t>
            </a:r>
            <a:endParaRPr lang="en-US" sz="1700" dirty="0"/>
          </a:p>
        </p:txBody>
      </p:sp>
      <p:sp>
        <p:nvSpPr>
          <p:cNvPr id="12" name="Shape 8"/>
          <p:cNvSpPr/>
          <p:nvPr/>
        </p:nvSpPr>
        <p:spPr>
          <a:xfrm>
            <a:off x="5238512" y="4364474"/>
            <a:ext cx="8523446" cy="15240"/>
          </a:xfrm>
          <a:prstGeom prst="roundRect">
            <a:avLst>
              <a:gd name="adj" fmla="val 598443"/>
            </a:avLst>
          </a:prstGeom>
          <a:solidFill>
            <a:srgbClr val="C0C1D7"/>
          </a:solidFill>
          <a:ln/>
        </p:spPr>
      </p:sp>
      <p:sp>
        <p:nvSpPr>
          <p:cNvPr id="13" name="Shape 9"/>
          <p:cNvSpPr/>
          <p:nvPr/>
        </p:nvSpPr>
        <p:spPr>
          <a:xfrm>
            <a:off x="759976" y="4488180"/>
            <a:ext cx="6555224" cy="1265753"/>
          </a:xfrm>
          <a:prstGeom prst="roundRect">
            <a:avLst>
              <a:gd name="adj" fmla="val 7205"/>
            </a:avLst>
          </a:prstGeom>
          <a:solidFill>
            <a:srgbClr val="DADBF1"/>
          </a:solidFill>
          <a:ln w="7620">
            <a:solidFill>
              <a:srgbClr val="C0C1D7"/>
            </a:solidFill>
            <a:prstDash val="solid"/>
          </a:ln>
        </p:spPr>
      </p:sp>
      <p:pic>
        <p:nvPicPr>
          <p:cNvPr id="14" name="Image 2" descr="preencoded.png">    </p:cNvPr>
          <p:cNvPicPr>
            <a:picLocks noChangeAspect="1"/>
          </p:cNvPicPr>
          <p:nvPr/>
        </p:nvPicPr>
        <p:blipFill>
          <a:blip r:embed="rId3"/>
          <a:stretch>
            <a:fillRect/>
          </a:stretch>
        </p:blipFill>
        <p:spPr>
          <a:xfrm>
            <a:off x="3884890" y="4930259"/>
            <a:ext cx="305276" cy="381595"/>
          </a:xfrm>
          <a:prstGeom prst="rect">
            <a:avLst/>
          </a:prstGeom>
        </p:spPr>
      </p:pic>
      <p:sp>
        <p:nvSpPr>
          <p:cNvPr id="15" name="Text 10"/>
          <p:cNvSpPr/>
          <p:nvPr/>
        </p:nvSpPr>
        <p:spPr>
          <a:xfrm>
            <a:off x="7532251" y="4705231"/>
            <a:ext cx="2832378" cy="353973"/>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Calculate New θ1</a:t>
            </a:r>
            <a:endParaRPr lang="en-US" sz="2200" dirty="0"/>
          </a:p>
        </p:txBody>
      </p:sp>
      <p:sp>
        <p:nvSpPr>
          <p:cNvPr id="16" name="Text 11"/>
          <p:cNvSpPr/>
          <p:nvPr/>
        </p:nvSpPr>
        <p:spPr>
          <a:xfrm>
            <a:off x="7532251" y="5189458"/>
            <a:ext cx="2949893" cy="347424"/>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Inter" pitchFamily="34" charset="0"/>
                <a:ea typeface="Inter" pitchFamily="34" charset="-122"/>
                <a:cs typeface="Inter" pitchFamily="34" charset="-120"/>
              </a:rPr>
              <a:t>θ1 = 0 - 0.1 × (-9.33) ≈ 0.933</a:t>
            </a:r>
            <a:endParaRPr lang="en-US" sz="1700" dirty="0"/>
          </a:p>
        </p:txBody>
      </p:sp>
      <p:sp>
        <p:nvSpPr>
          <p:cNvPr id="17" name="Text 12"/>
          <p:cNvSpPr/>
          <p:nvPr/>
        </p:nvSpPr>
        <p:spPr>
          <a:xfrm>
            <a:off x="759976" y="5998131"/>
            <a:ext cx="13110448" cy="694849"/>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Inter" pitchFamily="34" charset="0"/>
                <a:ea typeface="Inter" pitchFamily="34" charset="-122"/>
                <a:cs typeface="Inter" pitchFamily="34" charset="-120"/>
              </a:rPr>
              <a:t>After our first update, the model parameters have changed from θ0 = 0, θ1 = 0 to θ0 = 0.4, θ1 = 0.933. Our hypothesis function is now hθ(x) = 0.4 + 0.933x, which is closer to the true relationship y = 2x than our initial model.</a:t>
            </a:r>
            <a:endParaRPr lang="en-US" sz="1700" dirty="0"/>
          </a:p>
        </p:txBody>
      </p:sp>
      <p:sp>
        <p:nvSpPr>
          <p:cNvPr id="18" name="Text 13"/>
          <p:cNvSpPr/>
          <p:nvPr/>
        </p:nvSpPr>
        <p:spPr>
          <a:xfrm>
            <a:off x="759976" y="6937177"/>
            <a:ext cx="13110448" cy="694849"/>
          </a:xfrm>
          <a:prstGeom prst="rect">
            <a:avLst/>
          </a:prstGeom>
          <a:noFill/>
          <a:ln/>
        </p:spPr>
        <p:txBody>
          <a:bodyPr wrap="square" lIns="0" tIns="0" rIns="0" bIns="0" rtlCol="0" anchor="t"/>
          <a:lstStyle/>
          <a:p>
            <a:pPr algn="l" indent="0" marL="0">
              <a:lnSpc>
                <a:spcPts val="2700"/>
              </a:lnSpc>
              <a:buNone/>
            </a:pPr>
            <a:r>
              <a:rPr lang="en-US" sz="1700" dirty="0">
                <a:solidFill>
                  <a:srgbClr val="272525"/>
                </a:solidFill>
                <a:latin typeface="Inter" pitchFamily="34" charset="0"/>
                <a:ea typeface="Inter" pitchFamily="34" charset="-122"/>
                <a:cs typeface="Inter" pitchFamily="34" charset="-120"/>
              </a:rPr>
              <a:t>This is just the first iteration of gradient descent. We would continue this process, recalculating the cost, computing gradients, and updating parameters until convergence.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0210" y="573643"/>
            <a:ext cx="6588919" cy="680204"/>
          </a:xfrm>
          <a:prstGeom prst="rect">
            <a:avLst/>
          </a:prstGeom>
          <a:noFill/>
          <a:ln/>
        </p:spPr>
        <p:txBody>
          <a:bodyPr wrap="none" lIns="0" tIns="0" rIns="0" bIns="0" rtlCol="0" anchor="t"/>
          <a:lstStyle/>
          <a:p>
            <a:pPr algn="l" indent="0" marL="0">
              <a:lnSpc>
                <a:spcPts val="5350"/>
              </a:lnSpc>
              <a:buNone/>
            </a:pPr>
            <a:r>
              <a:rPr lang="en-US" sz="4250" b="1" dirty="0">
                <a:solidFill>
                  <a:srgbClr val="000000"/>
                </a:solidFill>
                <a:latin typeface="Inter Bold" pitchFamily="34" charset="0"/>
                <a:ea typeface="Inter Bold" pitchFamily="34" charset="-122"/>
                <a:cs typeface="Inter Bold" pitchFamily="34" charset="-120"/>
              </a:rPr>
              <a:t>Iterating to Convergence</a:t>
            </a:r>
            <a:endParaRPr lang="en-US" sz="4250" dirty="0"/>
          </a:p>
        </p:txBody>
      </p:sp>
      <p:sp>
        <p:nvSpPr>
          <p:cNvPr id="3" name="Text 1"/>
          <p:cNvSpPr/>
          <p:nvPr/>
        </p:nvSpPr>
        <p:spPr>
          <a:xfrm>
            <a:off x="1907143" y="2345650"/>
            <a:ext cx="2790468" cy="340162"/>
          </a:xfrm>
          <a:prstGeom prst="rect">
            <a:avLst/>
          </a:prstGeom>
          <a:noFill/>
          <a:ln/>
        </p:spPr>
        <p:txBody>
          <a:bodyPr wrap="none" lIns="0" tIns="0" rIns="0" bIns="0" rtlCol="0" anchor="t"/>
          <a:lstStyle/>
          <a:p>
            <a:pPr algn="r"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Compute Predictions</a:t>
            </a:r>
            <a:endParaRPr lang="en-US" sz="2100" dirty="0"/>
          </a:p>
        </p:txBody>
      </p:sp>
      <p:sp>
        <p:nvSpPr>
          <p:cNvPr id="4" name="Text 2"/>
          <p:cNvSpPr/>
          <p:nvPr/>
        </p:nvSpPr>
        <p:spPr>
          <a:xfrm>
            <a:off x="730210" y="2810947"/>
            <a:ext cx="3967401" cy="333732"/>
          </a:xfrm>
          <a:prstGeom prst="rect">
            <a:avLst/>
          </a:prstGeom>
          <a:noFill/>
          <a:ln/>
        </p:spPr>
        <p:txBody>
          <a:bodyPr wrap="none" lIns="0" tIns="0" rIns="0" bIns="0" rtlCol="0" anchor="t"/>
          <a:lstStyle/>
          <a:p>
            <a:pPr algn="r" indent="0" marL="0">
              <a:lnSpc>
                <a:spcPts val="2600"/>
              </a:lnSpc>
              <a:buNone/>
            </a:pPr>
            <a:r>
              <a:rPr lang="en-US" sz="1600" dirty="0">
                <a:solidFill>
                  <a:srgbClr val="272525"/>
                </a:solidFill>
                <a:latin typeface="Inter" pitchFamily="34" charset="0"/>
                <a:ea typeface="Inter" pitchFamily="34" charset="-122"/>
                <a:cs typeface="Inter" pitchFamily="34" charset="-120"/>
              </a:rPr>
              <a:t>Apply current model to input data</a:t>
            </a:r>
            <a:endParaRPr lang="en-US" sz="1600" dirty="0"/>
          </a:p>
        </p:txBody>
      </p:sp>
      <p:pic>
        <p:nvPicPr>
          <p:cNvPr id="5" name="Image 0" descr="preencoded.png">    </p:cNvPr>
          <p:cNvPicPr>
            <a:picLocks noChangeAspect="1"/>
          </p:cNvPicPr>
          <p:nvPr/>
        </p:nvPicPr>
        <p:blipFill>
          <a:blip r:embed="rId1"/>
          <a:stretch>
            <a:fillRect/>
          </a:stretch>
        </p:blipFill>
        <p:spPr>
          <a:xfrm>
            <a:off x="5010507" y="1671042"/>
            <a:ext cx="4609386" cy="4609386"/>
          </a:xfrm>
          <a:prstGeom prst="rect">
            <a:avLst/>
          </a:prstGeom>
        </p:spPr>
      </p:pic>
      <p:pic>
        <p:nvPicPr>
          <p:cNvPr id="6" name="Image 1" descr="preencoded.png">    </p:cNvPr>
          <p:cNvPicPr>
            <a:picLocks noChangeAspect="1"/>
          </p:cNvPicPr>
          <p:nvPr/>
        </p:nvPicPr>
        <p:blipFill>
          <a:blip r:embed="rId2"/>
          <a:stretch>
            <a:fillRect/>
          </a:stretch>
        </p:blipFill>
        <p:spPr>
          <a:xfrm>
            <a:off x="6231374" y="2460665"/>
            <a:ext cx="312063" cy="390168"/>
          </a:xfrm>
          <a:prstGeom prst="rect">
            <a:avLst/>
          </a:prstGeom>
        </p:spPr>
      </p:pic>
      <p:sp>
        <p:nvSpPr>
          <p:cNvPr id="7" name="Text 3"/>
          <p:cNvSpPr/>
          <p:nvPr/>
        </p:nvSpPr>
        <p:spPr>
          <a:xfrm>
            <a:off x="9932789" y="2178725"/>
            <a:ext cx="2721293" cy="340162"/>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Calculate Cost</a:t>
            </a:r>
            <a:endParaRPr lang="en-US" sz="2100" dirty="0"/>
          </a:p>
        </p:txBody>
      </p:sp>
      <p:sp>
        <p:nvSpPr>
          <p:cNvPr id="8" name="Text 4"/>
          <p:cNvSpPr/>
          <p:nvPr/>
        </p:nvSpPr>
        <p:spPr>
          <a:xfrm>
            <a:off x="9932789" y="2644021"/>
            <a:ext cx="3967401" cy="667464"/>
          </a:xfrm>
          <a:prstGeom prst="rect">
            <a:avLst/>
          </a:prstGeom>
          <a:noFill/>
          <a:ln/>
        </p:spPr>
        <p:txBody>
          <a:bodyPr wrap="square" lIns="0" tIns="0" rIns="0" bIns="0" rtlCol="0" anchor="t"/>
          <a:lstStyle/>
          <a:p>
            <a:pPr algn="l" indent="0" marL="0">
              <a:lnSpc>
                <a:spcPts val="2600"/>
              </a:lnSpc>
              <a:buNone/>
            </a:pPr>
            <a:r>
              <a:rPr lang="en-US" sz="1600" dirty="0">
                <a:solidFill>
                  <a:srgbClr val="272525"/>
                </a:solidFill>
                <a:latin typeface="Inter" pitchFamily="34" charset="0"/>
                <a:ea typeface="Inter" pitchFamily="34" charset="-122"/>
                <a:cs typeface="Inter" pitchFamily="34" charset="-120"/>
              </a:rPr>
              <a:t>Measure error between predictions and actual values</a:t>
            </a:r>
            <a:endParaRPr lang="en-US" sz="1600" dirty="0"/>
          </a:p>
        </p:txBody>
      </p:sp>
      <p:pic>
        <p:nvPicPr>
          <p:cNvPr id="9" name="Image 2" descr="preencoded.png">    </p:cNvPr>
          <p:cNvPicPr>
            <a:picLocks noChangeAspect="1"/>
          </p:cNvPicPr>
          <p:nvPr/>
        </p:nvPicPr>
        <p:blipFill>
          <a:blip r:embed="rId3"/>
          <a:stretch>
            <a:fillRect/>
          </a:stretch>
        </p:blipFill>
        <p:spPr>
          <a:xfrm>
            <a:off x="5010507" y="1671042"/>
            <a:ext cx="4609386" cy="4609386"/>
          </a:xfrm>
          <a:prstGeom prst="rect">
            <a:avLst/>
          </a:prstGeom>
        </p:spPr>
      </p:pic>
      <p:pic>
        <p:nvPicPr>
          <p:cNvPr id="10" name="Image 3" descr="preencoded.png">    </p:cNvPr>
          <p:cNvPicPr>
            <a:picLocks noChangeAspect="1"/>
          </p:cNvPicPr>
          <p:nvPr/>
        </p:nvPicPr>
        <p:blipFill>
          <a:blip r:embed="rId4"/>
          <a:stretch>
            <a:fillRect/>
          </a:stretch>
        </p:blipFill>
        <p:spPr>
          <a:xfrm>
            <a:off x="8478917" y="2852857"/>
            <a:ext cx="312063" cy="390168"/>
          </a:xfrm>
          <a:prstGeom prst="rect">
            <a:avLst/>
          </a:prstGeom>
        </p:spPr>
      </p:pic>
      <p:sp>
        <p:nvSpPr>
          <p:cNvPr id="11" name="Text 5"/>
          <p:cNvSpPr/>
          <p:nvPr/>
        </p:nvSpPr>
        <p:spPr>
          <a:xfrm>
            <a:off x="9932789" y="4806791"/>
            <a:ext cx="2721293" cy="340162"/>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Compute Gradients</a:t>
            </a:r>
            <a:endParaRPr lang="en-US" sz="2100" dirty="0"/>
          </a:p>
        </p:txBody>
      </p:sp>
      <p:sp>
        <p:nvSpPr>
          <p:cNvPr id="12" name="Text 6"/>
          <p:cNvSpPr/>
          <p:nvPr/>
        </p:nvSpPr>
        <p:spPr>
          <a:xfrm>
            <a:off x="9932789" y="5272088"/>
            <a:ext cx="3967401" cy="333732"/>
          </a:xfrm>
          <a:prstGeom prst="rect">
            <a:avLst/>
          </a:prstGeom>
          <a:noFill/>
          <a:ln/>
        </p:spPr>
        <p:txBody>
          <a:bodyPr wrap="none" lIns="0" tIns="0" rIns="0" bIns="0" rtlCol="0" anchor="t"/>
          <a:lstStyle/>
          <a:p>
            <a:pPr algn="l" indent="0" marL="0">
              <a:lnSpc>
                <a:spcPts val="2600"/>
              </a:lnSpc>
              <a:buNone/>
            </a:pPr>
            <a:r>
              <a:rPr lang="en-US" sz="1600" dirty="0">
                <a:solidFill>
                  <a:srgbClr val="272525"/>
                </a:solidFill>
                <a:latin typeface="Inter" pitchFamily="34" charset="0"/>
                <a:ea typeface="Inter" pitchFamily="34" charset="-122"/>
                <a:cs typeface="Inter" pitchFamily="34" charset="-120"/>
              </a:rPr>
              <a:t>Find direction of steepest descent</a:t>
            </a:r>
            <a:endParaRPr lang="en-US" sz="1600" dirty="0"/>
          </a:p>
        </p:txBody>
      </p:sp>
      <p:pic>
        <p:nvPicPr>
          <p:cNvPr id="13" name="Image 4" descr="preencoded.png">    </p:cNvPr>
          <p:cNvPicPr>
            <a:picLocks noChangeAspect="1"/>
          </p:cNvPicPr>
          <p:nvPr/>
        </p:nvPicPr>
        <p:blipFill>
          <a:blip r:embed="rId5"/>
          <a:stretch>
            <a:fillRect/>
          </a:stretch>
        </p:blipFill>
        <p:spPr>
          <a:xfrm>
            <a:off x="5010507" y="1671042"/>
            <a:ext cx="4609386" cy="4609386"/>
          </a:xfrm>
          <a:prstGeom prst="rect">
            <a:avLst/>
          </a:prstGeom>
        </p:spPr>
      </p:pic>
      <p:pic>
        <p:nvPicPr>
          <p:cNvPr id="14" name="Image 5" descr="preencoded.png">    </p:cNvPr>
          <p:cNvPicPr>
            <a:picLocks noChangeAspect="1"/>
          </p:cNvPicPr>
          <p:nvPr/>
        </p:nvPicPr>
        <p:blipFill>
          <a:blip r:embed="rId6"/>
          <a:stretch>
            <a:fillRect/>
          </a:stretch>
        </p:blipFill>
        <p:spPr>
          <a:xfrm>
            <a:off x="8086725" y="5100399"/>
            <a:ext cx="312063" cy="390168"/>
          </a:xfrm>
          <a:prstGeom prst="rect">
            <a:avLst/>
          </a:prstGeom>
        </p:spPr>
      </p:pic>
      <p:sp>
        <p:nvSpPr>
          <p:cNvPr id="15" name="Text 7"/>
          <p:cNvSpPr/>
          <p:nvPr/>
        </p:nvSpPr>
        <p:spPr>
          <a:xfrm>
            <a:off x="1976318" y="4639866"/>
            <a:ext cx="2721293" cy="340162"/>
          </a:xfrm>
          <a:prstGeom prst="rect">
            <a:avLst/>
          </a:prstGeom>
          <a:noFill/>
          <a:ln/>
        </p:spPr>
        <p:txBody>
          <a:bodyPr wrap="none" lIns="0" tIns="0" rIns="0" bIns="0" rtlCol="0" anchor="t"/>
          <a:lstStyle/>
          <a:p>
            <a:pPr algn="r"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Update Parameters</a:t>
            </a:r>
            <a:endParaRPr lang="en-US" sz="2100" dirty="0"/>
          </a:p>
        </p:txBody>
      </p:sp>
      <p:sp>
        <p:nvSpPr>
          <p:cNvPr id="16" name="Text 8"/>
          <p:cNvSpPr/>
          <p:nvPr/>
        </p:nvSpPr>
        <p:spPr>
          <a:xfrm>
            <a:off x="730210" y="5105162"/>
            <a:ext cx="3967401" cy="667464"/>
          </a:xfrm>
          <a:prstGeom prst="rect">
            <a:avLst/>
          </a:prstGeom>
          <a:noFill/>
          <a:ln/>
        </p:spPr>
        <p:txBody>
          <a:bodyPr wrap="square" lIns="0" tIns="0" rIns="0" bIns="0" rtlCol="0" anchor="t"/>
          <a:lstStyle/>
          <a:p>
            <a:pPr algn="r" indent="0" marL="0">
              <a:lnSpc>
                <a:spcPts val="2600"/>
              </a:lnSpc>
              <a:buNone/>
            </a:pPr>
            <a:r>
              <a:rPr lang="en-US" sz="1600" dirty="0">
                <a:solidFill>
                  <a:srgbClr val="272525"/>
                </a:solidFill>
                <a:latin typeface="Inter" pitchFamily="34" charset="0"/>
                <a:ea typeface="Inter" pitchFamily="34" charset="-122"/>
                <a:cs typeface="Inter" pitchFamily="34" charset="-120"/>
              </a:rPr>
              <a:t>Adjust model in direction that reduces cost</a:t>
            </a:r>
            <a:endParaRPr lang="en-US" sz="1600" dirty="0"/>
          </a:p>
        </p:txBody>
      </p:sp>
      <p:pic>
        <p:nvPicPr>
          <p:cNvPr id="17" name="Image 6" descr="preencoded.png">    </p:cNvPr>
          <p:cNvPicPr>
            <a:picLocks noChangeAspect="1"/>
          </p:cNvPicPr>
          <p:nvPr/>
        </p:nvPicPr>
        <p:blipFill>
          <a:blip r:embed="rId7"/>
          <a:stretch>
            <a:fillRect/>
          </a:stretch>
        </p:blipFill>
        <p:spPr>
          <a:xfrm>
            <a:off x="5010507" y="1671042"/>
            <a:ext cx="4609386" cy="4609386"/>
          </a:xfrm>
          <a:prstGeom prst="rect">
            <a:avLst/>
          </a:prstGeom>
        </p:spPr>
      </p:pic>
      <p:pic>
        <p:nvPicPr>
          <p:cNvPr id="18" name="Image 7" descr="preencoded.png">    </p:cNvPr>
          <p:cNvPicPr>
            <a:picLocks noChangeAspect="1"/>
          </p:cNvPicPr>
          <p:nvPr/>
        </p:nvPicPr>
        <p:blipFill>
          <a:blip r:embed="rId8"/>
          <a:stretch>
            <a:fillRect/>
          </a:stretch>
        </p:blipFill>
        <p:spPr>
          <a:xfrm>
            <a:off x="5839182" y="4708208"/>
            <a:ext cx="312063" cy="390168"/>
          </a:xfrm>
          <a:prstGeom prst="rect">
            <a:avLst/>
          </a:prstGeom>
        </p:spPr>
      </p:pic>
      <p:sp>
        <p:nvSpPr>
          <p:cNvPr id="19" name="Text 9"/>
          <p:cNvSpPr/>
          <p:nvPr/>
        </p:nvSpPr>
        <p:spPr>
          <a:xfrm>
            <a:off x="730210" y="6515100"/>
            <a:ext cx="13169979" cy="667464"/>
          </a:xfrm>
          <a:prstGeom prst="rect">
            <a:avLst/>
          </a:prstGeom>
          <a:noFill/>
          <a:ln/>
        </p:spPr>
        <p:txBody>
          <a:bodyPr wrap="square" lIns="0" tIns="0" rIns="0" bIns="0" rtlCol="0" anchor="t"/>
          <a:lstStyle/>
          <a:p>
            <a:pPr algn="l" indent="0" marL="0">
              <a:lnSpc>
                <a:spcPts val="2600"/>
              </a:lnSpc>
              <a:buNone/>
            </a:pPr>
            <a:r>
              <a:rPr lang="en-US" sz="1600" dirty="0">
                <a:solidFill>
                  <a:srgbClr val="272525"/>
                </a:solidFill>
                <a:latin typeface="Inter" pitchFamily="34" charset="0"/>
                <a:ea typeface="Inter" pitchFamily="34" charset="-122"/>
                <a:cs typeface="Inter" pitchFamily="34" charset="-120"/>
              </a:rPr>
              <a:t>This cycle repeats until the algorithm converges—when the cost function stops decreasing significantly or the gradients become very close to zero. With each iteration, our model parameters get closer to the optimal values of θ0 ≈ 0 and θ1 ≈ 2.</a:t>
            </a:r>
            <a:endParaRPr lang="en-US" sz="1600" dirty="0"/>
          </a:p>
        </p:txBody>
      </p:sp>
      <p:sp>
        <p:nvSpPr>
          <p:cNvPr id="20" name="Text 10"/>
          <p:cNvSpPr/>
          <p:nvPr/>
        </p:nvSpPr>
        <p:spPr>
          <a:xfrm>
            <a:off x="730210" y="7417237"/>
            <a:ext cx="13169979" cy="333732"/>
          </a:xfrm>
          <a:prstGeom prst="rect">
            <a:avLst/>
          </a:prstGeom>
          <a:noFill/>
          <a:ln/>
        </p:spPr>
        <p:txBody>
          <a:bodyPr wrap="none" lIns="0" tIns="0" rIns="0" bIns="0" rtlCol="0" anchor="t"/>
          <a:lstStyle/>
          <a:p>
            <a:pPr algn="l" indent="0" marL="0">
              <a:lnSpc>
                <a:spcPts val="2600"/>
              </a:lnSpc>
              <a:buNone/>
            </a:pPr>
            <a:r>
              <a:rPr lang="en-US" sz="1600" dirty="0">
                <a:solidFill>
                  <a:srgbClr val="272525"/>
                </a:solidFill>
                <a:latin typeface="Inter" pitchFamily="34" charset="0"/>
                <a:ea typeface="Inter" pitchFamily="34" charset="-122"/>
                <a:cs typeface="Inter" pitchFamily="34" charset="-120"/>
              </a:rPr>
              <a:t>Eventually, our model will closely approximate the true relationship y = 2x that exists in our data.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64037" y="1350526"/>
            <a:ext cx="7567136"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Key Concepts Summary</a:t>
            </a:r>
            <a:endParaRPr lang="en-US" sz="5050" dirty="0"/>
          </a:p>
        </p:txBody>
      </p:sp>
      <p:sp>
        <p:nvSpPr>
          <p:cNvPr id="3" name="Shape 1"/>
          <p:cNvSpPr/>
          <p:nvPr/>
        </p:nvSpPr>
        <p:spPr>
          <a:xfrm>
            <a:off x="864037" y="2525792"/>
            <a:ext cx="12902327" cy="4353163"/>
          </a:xfrm>
          <a:prstGeom prst="roundRect">
            <a:avLst>
              <a:gd name="adj" fmla="val 2382"/>
            </a:avLst>
          </a:prstGeom>
          <a:noFill/>
          <a:ln w="15240">
            <a:solidFill>
              <a:srgbClr val="000000">
                <a:alpha val="8000"/>
              </a:srgbClr>
            </a:solidFill>
            <a:prstDash val="solid"/>
          </a:ln>
        </p:spPr>
      </p:sp>
      <p:sp>
        <p:nvSpPr>
          <p:cNvPr id="4" name="Shape 2"/>
          <p:cNvSpPr/>
          <p:nvPr/>
        </p:nvSpPr>
        <p:spPr>
          <a:xfrm>
            <a:off x="879277" y="2541032"/>
            <a:ext cx="12871847" cy="706517"/>
          </a:xfrm>
          <a:prstGeom prst="rect">
            <a:avLst/>
          </a:prstGeom>
          <a:solidFill>
            <a:srgbClr val="FFFFFF">
              <a:alpha val="4000"/>
            </a:srgbClr>
          </a:solidFill>
          <a:ln/>
        </p:spPr>
      </p:sp>
      <p:sp>
        <p:nvSpPr>
          <p:cNvPr id="5" name="Text 3"/>
          <p:cNvSpPr/>
          <p:nvPr/>
        </p:nvSpPr>
        <p:spPr>
          <a:xfrm>
            <a:off x="1126093" y="2696766"/>
            <a:ext cx="5938480" cy="395049"/>
          </a:xfrm>
          <a:prstGeom prst="rect">
            <a:avLst/>
          </a:prstGeom>
          <a:noFill/>
          <a:ln/>
        </p:spPr>
        <p:txBody>
          <a:bodyPr wrap="non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Concept</a:t>
            </a:r>
            <a:endParaRPr lang="en-US" sz="1900" dirty="0"/>
          </a:p>
        </p:txBody>
      </p:sp>
      <p:sp>
        <p:nvSpPr>
          <p:cNvPr id="6" name="Text 4"/>
          <p:cNvSpPr/>
          <p:nvPr/>
        </p:nvSpPr>
        <p:spPr>
          <a:xfrm>
            <a:off x="7565827" y="2696766"/>
            <a:ext cx="5938480" cy="395049"/>
          </a:xfrm>
          <a:prstGeom prst="rect">
            <a:avLst/>
          </a:prstGeom>
          <a:noFill/>
          <a:ln/>
        </p:spPr>
        <p:txBody>
          <a:bodyPr wrap="non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Meaning</a:t>
            </a:r>
            <a:endParaRPr lang="en-US" sz="1900" dirty="0"/>
          </a:p>
        </p:txBody>
      </p:sp>
      <p:sp>
        <p:nvSpPr>
          <p:cNvPr id="7" name="Shape 5"/>
          <p:cNvSpPr/>
          <p:nvPr/>
        </p:nvSpPr>
        <p:spPr>
          <a:xfrm>
            <a:off x="879277" y="3247549"/>
            <a:ext cx="12871847" cy="706517"/>
          </a:xfrm>
          <a:prstGeom prst="rect">
            <a:avLst/>
          </a:prstGeom>
          <a:solidFill>
            <a:srgbClr val="000000">
              <a:alpha val="4000"/>
            </a:srgbClr>
          </a:solidFill>
          <a:ln/>
        </p:spPr>
      </p:sp>
      <p:sp>
        <p:nvSpPr>
          <p:cNvPr id="8" name="Text 6"/>
          <p:cNvSpPr/>
          <p:nvPr/>
        </p:nvSpPr>
        <p:spPr>
          <a:xfrm>
            <a:off x="1126093" y="3403283"/>
            <a:ext cx="5938480" cy="395049"/>
          </a:xfrm>
          <a:prstGeom prst="rect">
            <a:avLst/>
          </a:prstGeom>
          <a:noFill/>
          <a:ln/>
        </p:spPr>
        <p:txBody>
          <a:bodyPr wrap="none" lIns="0" tIns="0" rIns="0" bIns="0" rtlCol="0" anchor="t"/>
          <a:lstStyle/>
          <a:p>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Cost Function</a:t>
            </a:r>
            <a:endParaRPr lang="en-US" sz="1900" dirty="0"/>
          </a:p>
        </p:txBody>
      </p:sp>
      <p:sp>
        <p:nvSpPr>
          <p:cNvPr id="9" name="Text 7"/>
          <p:cNvSpPr/>
          <p:nvPr/>
        </p:nvSpPr>
        <p:spPr>
          <a:xfrm>
            <a:off x="7565827" y="3403283"/>
            <a:ext cx="5938480" cy="395049"/>
          </a:xfrm>
          <a:prstGeom prst="rect">
            <a:avLst/>
          </a:prstGeom>
          <a:noFill/>
          <a:ln/>
        </p:spPr>
        <p:txBody>
          <a:bodyPr wrap="non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Measures how bad the model's predictions are</a:t>
            </a:r>
            <a:endParaRPr lang="en-US" sz="1900" dirty="0"/>
          </a:p>
        </p:txBody>
      </p:sp>
      <p:sp>
        <p:nvSpPr>
          <p:cNvPr id="10" name="Shape 8"/>
          <p:cNvSpPr/>
          <p:nvPr/>
        </p:nvSpPr>
        <p:spPr>
          <a:xfrm>
            <a:off x="879277" y="3954066"/>
            <a:ext cx="12871847" cy="1101566"/>
          </a:xfrm>
          <a:prstGeom prst="rect">
            <a:avLst/>
          </a:prstGeom>
          <a:solidFill>
            <a:srgbClr val="FFFFFF">
              <a:alpha val="4000"/>
            </a:srgbClr>
          </a:solidFill>
          <a:ln/>
        </p:spPr>
      </p:sp>
      <p:sp>
        <p:nvSpPr>
          <p:cNvPr id="11" name="Text 9"/>
          <p:cNvSpPr/>
          <p:nvPr/>
        </p:nvSpPr>
        <p:spPr>
          <a:xfrm>
            <a:off x="1126093" y="4109799"/>
            <a:ext cx="5938480" cy="395049"/>
          </a:xfrm>
          <a:prstGeom prst="rect">
            <a:avLst/>
          </a:prstGeom>
          <a:noFill/>
          <a:ln/>
        </p:spPr>
        <p:txBody>
          <a:bodyPr wrap="none" lIns="0" tIns="0" rIns="0" bIns="0" rtlCol="0" anchor="t"/>
          <a:lstStyle/>
          <a:p>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Gradient</a:t>
            </a:r>
            <a:endParaRPr lang="en-US" sz="1900" dirty="0"/>
          </a:p>
        </p:txBody>
      </p:sp>
      <p:sp>
        <p:nvSpPr>
          <p:cNvPr id="12" name="Text 10"/>
          <p:cNvSpPr/>
          <p:nvPr/>
        </p:nvSpPr>
        <p:spPr>
          <a:xfrm>
            <a:off x="7565827" y="4109799"/>
            <a:ext cx="5938480" cy="790099"/>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The direction of steepest ascent (we move in the opposite direction)</a:t>
            </a:r>
            <a:endParaRPr lang="en-US" sz="1900" dirty="0"/>
          </a:p>
        </p:txBody>
      </p:sp>
      <p:sp>
        <p:nvSpPr>
          <p:cNvPr id="13" name="Shape 11"/>
          <p:cNvSpPr/>
          <p:nvPr/>
        </p:nvSpPr>
        <p:spPr>
          <a:xfrm>
            <a:off x="879277" y="5055632"/>
            <a:ext cx="12871847" cy="1101566"/>
          </a:xfrm>
          <a:prstGeom prst="rect">
            <a:avLst/>
          </a:prstGeom>
          <a:solidFill>
            <a:srgbClr val="000000">
              <a:alpha val="4000"/>
            </a:srgbClr>
          </a:solidFill>
          <a:ln/>
        </p:spPr>
      </p:sp>
      <p:sp>
        <p:nvSpPr>
          <p:cNvPr id="14" name="Text 12"/>
          <p:cNvSpPr/>
          <p:nvPr/>
        </p:nvSpPr>
        <p:spPr>
          <a:xfrm>
            <a:off x="1126093" y="5211366"/>
            <a:ext cx="5938480" cy="395049"/>
          </a:xfrm>
          <a:prstGeom prst="rect">
            <a:avLst/>
          </a:prstGeom>
          <a:noFill/>
          <a:ln/>
        </p:spPr>
        <p:txBody>
          <a:bodyPr wrap="none" lIns="0" tIns="0" rIns="0" bIns="0" rtlCol="0" anchor="t"/>
          <a:lstStyle/>
          <a:p>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Gradient Descent</a:t>
            </a:r>
            <a:endParaRPr lang="en-US" sz="1900" dirty="0"/>
          </a:p>
        </p:txBody>
      </p:sp>
      <p:sp>
        <p:nvSpPr>
          <p:cNvPr id="15" name="Text 13"/>
          <p:cNvSpPr/>
          <p:nvPr/>
        </p:nvSpPr>
        <p:spPr>
          <a:xfrm>
            <a:off x="7565827" y="5211366"/>
            <a:ext cx="5938480" cy="790099"/>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Algorithm to find the parameters that minimize the cost function</a:t>
            </a:r>
            <a:endParaRPr lang="en-US" sz="1900" dirty="0"/>
          </a:p>
        </p:txBody>
      </p:sp>
      <p:sp>
        <p:nvSpPr>
          <p:cNvPr id="16" name="Shape 14"/>
          <p:cNvSpPr/>
          <p:nvPr/>
        </p:nvSpPr>
        <p:spPr>
          <a:xfrm>
            <a:off x="879277" y="6157198"/>
            <a:ext cx="12871847" cy="706517"/>
          </a:xfrm>
          <a:prstGeom prst="rect">
            <a:avLst/>
          </a:prstGeom>
          <a:solidFill>
            <a:srgbClr val="FFFFFF">
              <a:alpha val="4000"/>
            </a:srgbClr>
          </a:solidFill>
          <a:ln/>
        </p:spPr>
      </p:sp>
      <p:sp>
        <p:nvSpPr>
          <p:cNvPr id="17" name="Text 15"/>
          <p:cNvSpPr/>
          <p:nvPr/>
        </p:nvSpPr>
        <p:spPr>
          <a:xfrm>
            <a:off x="1126093" y="6312932"/>
            <a:ext cx="5938480" cy="395049"/>
          </a:xfrm>
          <a:prstGeom prst="rect">
            <a:avLst/>
          </a:prstGeom>
          <a:noFill/>
          <a:ln/>
        </p:spPr>
        <p:txBody>
          <a:bodyPr wrap="none" lIns="0" tIns="0" rIns="0" bIns="0" rtlCol="0" anchor="t"/>
          <a:lstStyle/>
          <a:p>
            <a:pPr algn="l" indent="0" marL="0">
              <a:lnSpc>
                <a:spcPts val="3100"/>
              </a:lnSpc>
              <a:buNone/>
            </a:pPr>
            <a:r>
              <a:rPr lang="en-US" sz="1900" b="1" dirty="0">
                <a:solidFill>
                  <a:srgbClr val="272525"/>
                </a:solidFill>
                <a:latin typeface="Inter" pitchFamily="34" charset="0"/>
                <a:ea typeface="Inter" pitchFamily="34" charset="-122"/>
                <a:cs typeface="Inter" pitchFamily="34" charset="-120"/>
              </a:rPr>
              <a:t>Learning Rate</a:t>
            </a:r>
            <a:endParaRPr lang="en-US" sz="1900" dirty="0"/>
          </a:p>
        </p:txBody>
      </p:sp>
      <p:sp>
        <p:nvSpPr>
          <p:cNvPr id="18" name="Text 16"/>
          <p:cNvSpPr/>
          <p:nvPr/>
        </p:nvSpPr>
        <p:spPr>
          <a:xfrm>
            <a:off x="7565827" y="6312932"/>
            <a:ext cx="5938480" cy="395049"/>
          </a:xfrm>
          <a:prstGeom prst="rect">
            <a:avLst/>
          </a:prstGeom>
          <a:noFill/>
          <a:ln/>
        </p:spPr>
        <p:txBody>
          <a:bodyPr wrap="non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Controls how big a step we take each time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53427" y="672465"/>
            <a:ext cx="10687169" cy="701993"/>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Inter Bold" pitchFamily="34" charset="0"/>
                <a:ea typeface="Inter Bold" pitchFamily="34" charset="-122"/>
                <a:cs typeface="Inter Bold" pitchFamily="34" charset="-120"/>
              </a:rPr>
              <a:t>Real-World Analogy: Finding the Valley</a:t>
            </a:r>
            <a:endParaRPr lang="en-US" sz="4400" dirty="0"/>
          </a:p>
        </p:txBody>
      </p:sp>
      <p:pic>
        <p:nvPicPr>
          <p:cNvPr id="3" name="Image 0" descr="preencoded.png">    </p:cNvPr>
          <p:cNvPicPr>
            <a:picLocks noChangeAspect="1"/>
          </p:cNvPicPr>
          <p:nvPr/>
        </p:nvPicPr>
        <p:blipFill>
          <a:blip r:embed="rId1"/>
          <a:stretch>
            <a:fillRect/>
          </a:stretch>
        </p:blipFill>
        <p:spPr>
          <a:xfrm>
            <a:off x="753427" y="1804988"/>
            <a:ext cx="4195048" cy="2592705"/>
          </a:xfrm>
          <a:prstGeom prst="rect">
            <a:avLst/>
          </a:prstGeom>
        </p:spPr>
      </p:pic>
      <p:sp>
        <p:nvSpPr>
          <p:cNvPr id="4" name="Text 1"/>
          <p:cNvSpPr/>
          <p:nvPr/>
        </p:nvSpPr>
        <p:spPr>
          <a:xfrm>
            <a:off x="753427" y="4666774"/>
            <a:ext cx="2951202" cy="350996"/>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The Blindfolded Hiker</a:t>
            </a:r>
            <a:endParaRPr lang="en-US" sz="2200" dirty="0"/>
          </a:p>
        </p:txBody>
      </p:sp>
      <p:sp>
        <p:nvSpPr>
          <p:cNvPr id="5" name="Text 2"/>
          <p:cNvSpPr/>
          <p:nvPr/>
        </p:nvSpPr>
        <p:spPr>
          <a:xfrm>
            <a:off x="753427" y="5146834"/>
            <a:ext cx="4195048" cy="2410301"/>
          </a:xfrm>
          <a:prstGeom prst="rect">
            <a:avLst/>
          </a:prstGeom>
          <a:noFill/>
          <a:ln/>
        </p:spPr>
        <p:txBody>
          <a:bodyPr wrap="square" lIns="0" tIns="0" rIns="0" bIns="0" rtlCol="0" anchor="t"/>
          <a:lstStyle/>
          <a:p>
            <a:pPr algn="l" indent="0" marL="0">
              <a:lnSpc>
                <a:spcPts val="2700"/>
              </a:lnSpc>
              <a:buNone/>
            </a:pPr>
            <a:r>
              <a:rPr lang="en-US" sz="1650" dirty="0">
                <a:solidFill>
                  <a:srgbClr val="272525"/>
                </a:solidFill>
                <a:latin typeface="Inter" pitchFamily="34" charset="0"/>
                <a:ea typeface="Inter" pitchFamily="34" charset="-122"/>
                <a:cs typeface="Inter" pitchFamily="34" charset="-120"/>
              </a:rPr>
              <a:t>Imagine you're blindfolded on a mountain and need to reach the lowest point (valley). You can only feel the slope under your feet. This is similar to how gradient descent works—the algorithm can only "feel" the local gradient, not see the entire landscape.</a:t>
            </a:r>
            <a:endParaRPr lang="en-US" sz="1650" dirty="0"/>
          </a:p>
        </p:txBody>
      </p:sp>
      <p:pic>
        <p:nvPicPr>
          <p:cNvPr id="6" name="Image 1" descr="preencoded.png">    </p:cNvPr>
          <p:cNvPicPr>
            <a:picLocks noChangeAspect="1"/>
          </p:cNvPicPr>
          <p:nvPr/>
        </p:nvPicPr>
        <p:blipFill>
          <a:blip r:embed="rId2"/>
          <a:stretch>
            <a:fillRect/>
          </a:stretch>
        </p:blipFill>
        <p:spPr>
          <a:xfrm>
            <a:off x="5217557" y="1804988"/>
            <a:ext cx="4195167" cy="2592705"/>
          </a:xfrm>
          <a:prstGeom prst="rect">
            <a:avLst/>
          </a:prstGeom>
        </p:spPr>
      </p:pic>
      <p:sp>
        <p:nvSpPr>
          <p:cNvPr id="7" name="Text 3"/>
          <p:cNvSpPr/>
          <p:nvPr/>
        </p:nvSpPr>
        <p:spPr>
          <a:xfrm>
            <a:off x="5217557" y="4666774"/>
            <a:ext cx="3026926" cy="350996"/>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Taking Steps Downhill</a:t>
            </a:r>
            <a:endParaRPr lang="en-US" sz="2200" dirty="0"/>
          </a:p>
        </p:txBody>
      </p:sp>
      <p:sp>
        <p:nvSpPr>
          <p:cNvPr id="8" name="Text 4"/>
          <p:cNvSpPr/>
          <p:nvPr/>
        </p:nvSpPr>
        <p:spPr>
          <a:xfrm>
            <a:off x="5217557" y="5146834"/>
            <a:ext cx="4195167" cy="1721644"/>
          </a:xfrm>
          <a:prstGeom prst="rect">
            <a:avLst/>
          </a:prstGeom>
          <a:noFill/>
          <a:ln/>
        </p:spPr>
        <p:txBody>
          <a:bodyPr wrap="square" lIns="0" tIns="0" rIns="0" bIns="0" rtlCol="0" anchor="t"/>
          <a:lstStyle/>
          <a:p>
            <a:pPr algn="l" indent="0" marL="0">
              <a:lnSpc>
                <a:spcPts val="2700"/>
              </a:lnSpc>
              <a:buNone/>
            </a:pPr>
            <a:r>
              <a:rPr lang="en-US" sz="1650" dirty="0">
                <a:solidFill>
                  <a:srgbClr val="272525"/>
                </a:solidFill>
                <a:latin typeface="Inter" pitchFamily="34" charset="0"/>
                <a:ea typeface="Inter" pitchFamily="34" charset="-122"/>
                <a:cs typeface="Inter" pitchFamily="34" charset="-120"/>
              </a:rPr>
              <a:t>You take steps in the direction where the ground slopes downward most steeply. The size of your steps (learning rate) matters—too small and it takes forever, too large and you might overshoot or fall.</a:t>
            </a:r>
            <a:endParaRPr lang="en-US" sz="1650" dirty="0"/>
          </a:p>
        </p:txBody>
      </p:sp>
      <p:pic>
        <p:nvPicPr>
          <p:cNvPr id="9" name="Image 2" descr="preencoded.png">    </p:cNvPr>
          <p:cNvPicPr>
            <a:picLocks noChangeAspect="1"/>
          </p:cNvPicPr>
          <p:nvPr/>
        </p:nvPicPr>
        <p:blipFill>
          <a:blip r:embed="rId3"/>
          <a:stretch>
            <a:fillRect/>
          </a:stretch>
        </p:blipFill>
        <p:spPr>
          <a:xfrm>
            <a:off x="9681805" y="1804988"/>
            <a:ext cx="4195048" cy="2592705"/>
          </a:xfrm>
          <a:prstGeom prst="rect">
            <a:avLst/>
          </a:prstGeom>
        </p:spPr>
      </p:pic>
      <p:sp>
        <p:nvSpPr>
          <p:cNvPr id="10" name="Text 5"/>
          <p:cNvSpPr/>
          <p:nvPr/>
        </p:nvSpPr>
        <p:spPr>
          <a:xfrm>
            <a:off x="9681805" y="4666774"/>
            <a:ext cx="2808089" cy="350996"/>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Reaching the Valley</a:t>
            </a:r>
            <a:endParaRPr lang="en-US" sz="2200" dirty="0"/>
          </a:p>
        </p:txBody>
      </p:sp>
      <p:sp>
        <p:nvSpPr>
          <p:cNvPr id="11" name="Text 6"/>
          <p:cNvSpPr/>
          <p:nvPr/>
        </p:nvSpPr>
        <p:spPr>
          <a:xfrm>
            <a:off x="9681805" y="5146834"/>
            <a:ext cx="4195048" cy="2065973"/>
          </a:xfrm>
          <a:prstGeom prst="rect">
            <a:avLst/>
          </a:prstGeom>
          <a:noFill/>
          <a:ln/>
        </p:spPr>
        <p:txBody>
          <a:bodyPr wrap="square" lIns="0" tIns="0" rIns="0" bIns="0" rtlCol="0" anchor="t"/>
          <a:lstStyle/>
          <a:p>
            <a:pPr algn="l" indent="0" marL="0">
              <a:lnSpc>
                <a:spcPts val="2700"/>
              </a:lnSpc>
              <a:buNone/>
            </a:pPr>
            <a:r>
              <a:rPr lang="en-US" sz="1650" dirty="0">
                <a:solidFill>
                  <a:srgbClr val="272525"/>
                </a:solidFill>
                <a:latin typeface="Inter" pitchFamily="34" charset="0"/>
                <a:ea typeface="Inter" pitchFamily="34" charset="-122"/>
                <a:cs typeface="Inter" pitchFamily="34" charset="-120"/>
              </a:rPr>
              <a:t>Eventually, you reach a point where the ground is flat in all directions—you've found a valley (minimum). This is equivalent to the algorithm converging to the optimal parameters where the cost is minimized.</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58441" y="675442"/>
            <a:ext cx="8302704" cy="799862"/>
          </a:xfrm>
          <a:prstGeom prst="rect">
            <a:avLst/>
          </a:prstGeom>
          <a:noFill/>
          <a:ln/>
        </p:spPr>
        <p:txBody>
          <a:bodyPr wrap="none" lIns="0" tIns="0" rIns="0" bIns="0" rtlCol="0" anchor="t"/>
          <a:lstStyle/>
          <a:p>
            <a:pPr algn="l" indent="0" marL="0">
              <a:lnSpc>
                <a:spcPts val="6250"/>
              </a:lnSpc>
              <a:buNone/>
            </a:pPr>
            <a:r>
              <a:rPr lang="en-US" sz="5000" b="1" dirty="0">
                <a:solidFill>
                  <a:srgbClr val="000000"/>
                </a:solidFill>
                <a:latin typeface="Inter Bold" pitchFamily="34" charset="0"/>
                <a:ea typeface="Inter Bold" pitchFamily="34" charset="-122"/>
                <a:cs typeface="Inter Bold" pitchFamily="34" charset="-120"/>
              </a:rPr>
              <a:t>Types of Gradient Descent</a:t>
            </a:r>
            <a:endParaRPr lang="en-US" sz="5000" dirty="0"/>
          </a:p>
        </p:txBody>
      </p:sp>
      <p:sp>
        <p:nvSpPr>
          <p:cNvPr id="3" name="Shape 1"/>
          <p:cNvSpPr/>
          <p:nvPr/>
        </p:nvSpPr>
        <p:spPr>
          <a:xfrm>
            <a:off x="858441" y="1843207"/>
            <a:ext cx="4140994" cy="5710952"/>
          </a:xfrm>
          <a:prstGeom prst="roundRect">
            <a:avLst>
              <a:gd name="adj" fmla="val 2488"/>
            </a:avLst>
          </a:prstGeom>
          <a:solidFill>
            <a:srgbClr val="DADBF1"/>
          </a:solidFill>
          <a:ln w="15240">
            <a:solidFill>
              <a:srgbClr val="C0C1D7"/>
            </a:solidFill>
            <a:prstDash val="solid"/>
          </a:ln>
        </p:spPr>
      </p:sp>
      <p:sp>
        <p:nvSpPr>
          <p:cNvPr id="4" name="Text 2"/>
          <p:cNvSpPr/>
          <p:nvPr/>
        </p:nvSpPr>
        <p:spPr>
          <a:xfrm>
            <a:off x="1118949" y="2103715"/>
            <a:ext cx="3619976" cy="799624"/>
          </a:xfrm>
          <a:prstGeom prst="rect">
            <a:avLst/>
          </a:prstGeom>
          <a:noFill/>
          <a:ln/>
        </p:spPr>
        <p:txBody>
          <a:bodyPr wrap="square" lIns="0" tIns="0" rIns="0" bIns="0" rtlCol="0" anchor="t"/>
          <a:lstStyle/>
          <a:p>
            <a:pPr algn="l" indent="0" marL="0">
              <a:lnSpc>
                <a:spcPts val="3100"/>
              </a:lnSpc>
              <a:buNone/>
            </a:pPr>
            <a:r>
              <a:rPr lang="en-US" sz="2500" b="1" dirty="0">
                <a:solidFill>
                  <a:srgbClr val="272525"/>
                </a:solidFill>
                <a:latin typeface="Inter Bold" pitchFamily="34" charset="0"/>
                <a:ea typeface="Inter Bold" pitchFamily="34" charset="-122"/>
                <a:cs typeface="Inter Bold" pitchFamily="34" charset="-120"/>
              </a:rPr>
              <a:t>Batch Gradient Descent</a:t>
            </a:r>
            <a:endParaRPr lang="en-US" sz="2500" dirty="0"/>
          </a:p>
        </p:txBody>
      </p:sp>
      <p:sp>
        <p:nvSpPr>
          <p:cNvPr id="5" name="Text 3"/>
          <p:cNvSpPr/>
          <p:nvPr/>
        </p:nvSpPr>
        <p:spPr>
          <a:xfrm>
            <a:off x="1118949" y="3050500"/>
            <a:ext cx="3619976" cy="2354580"/>
          </a:xfrm>
          <a:prstGeom prst="rect">
            <a:avLst/>
          </a:prstGeom>
          <a:noFill/>
          <a:ln/>
        </p:spPr>
        <p:txBody>
          <a:bodyPr wrap="square" lIns="0" tIns="0" rIns="0" bIns="0" rtlCol="0" anchor="t"/>
          <a:lstStyle/>
          <a:p>
            <a:pPr algn="l" indent="0" marL="0">
              <a:lnSpc>
                <a:spcPts val="3050"/>
              </a:lnSpc>
              <a:buNone/>
            </a:pPr>
            <a:r>
              <a:rPr lang="en-US" sz="1900" dirty="0">
                <a:solidFill>
                  <a:srgbClr val="272525"/>
                </a:solidFill>
                <a:latin typeface="Inter" pitchFamily="34" charset="0"/>
                <a:ea typeface="Inter" pitchFamily="34" charset="-122"/>
                <a:cs typeface="Inter" pitchFamily="34" charset="-120"/>
              </a:rPr>
              <a:t>Uses the entire dataset to compute the gradient in each iteration. Computationally expensive for large datasets but provides a more accurate direction.</a:t>
            </a:r>
            <a:endParaRPr lang="en-US" sz="1900" dirty="0"/>
          </a:p>
        </p:txBody>
      </p:sp>
      <p:sp>
        <p:nvSpPr>
          <p:cNvPr id="6" name="Text 4"/>
          <p:cNvSpPr/>
          <p:nvPr/>
        </p:nvSpPr>
        <p:spPr>
          <a:xfrm>
            <a:off x="1118949" y="5552242"/>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Stable convergence</a:t>
            </a:r>
            <a:endParaRPr lang="en-US" sz="1900" dirty="0"/>
          </a:p>
        </p:txBody>
      </p:sp>
      <p:sp>
        <p:nvSpPr>
          <p:cNvPr id="7" name="Text 5"/>
          <p:cNvSpPr/>
          <p:nvPr/>
        </p:nvSpPr>
        <p:spPr>
          <a:xfrm>
            <a:off x="1118949" y="6030516"/>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Computationally expensive</a:t>
            </a:r>
            <a:endParaRPr lang="en-US" sz="1900" dirty="0"/>
          </a:p>
        </p:txBody>
      </p:sp>
      <p:sp>
        <p:nvSpPr>
          <p:cNvPr id="8" name="Text 6"/>
          <p:cNvSpPr/>
          <p:nvPr/>
        </p:nvSpPr>
        <p:spPr>
          <a:xfrm>
            <a:off x="1118949" y="6508790"/>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Memory intensive</a:t>
            </a:r>
            <a:endParaRPr lang="en-US" sz="1900" dirty="0"/>
          </a:p>
        </p:txBody>
      </p:sp>
      <p:sp>
        <p:nvSpPr>
          <p:cNvPr id="9" name="Shape 7"/>
          <p:cNvSpPr/>
          <p:nvPr/>
        </p:nvSpPr>
        <p:spPr>
          <a:xfrm>
            <a:off x="5244703" y="1843207"/>
            <a:ext cx="4140994" cy="5710952"/>
          </a:xfrm>
          <a:prstGeom prst="roundRect">
            <a:avLst>
              <a:gd name="adj" fmla="val 2488"/>
            </a:avLst>
          </a:prstGeom>
          <a:solidFill>
            <a:srgbClr val="DADBF1"/>
          </a:solidFill>
          <a:ln w="15240">
            <a:solidFill>
              <a:srgbClr val="C0C1D7"/>
            </a:solidFill>
            <a:prstDash val="solid"/>
          </a:ln>
        </p:spPr>
      </p:sp>
      <p:sp>
        <p:nvSpPr>
          <p:cNvPr id="10" name="Text 8"/>
          <p:cNvSpPr/>
          <p:nvPr/>
        </p:nvSpPr>
        <p:spPr>
          <a:xfrm>
            <a:off x="5505212" y="2103715"/>
            <a:ext cx="3619976" cy="799624"/>
          </a:xfrm>
          <a:prstGeom prst="rect">
            <a:avLst/>
          </a:prstGeom>
          <a:noFill/>
          <a:ln/>
        </p:spPr>
        <p:txBody>
          <a:bodyPr wrap="square" lIns="0" tIns="0" rIns="0" bIns="0" rtlCol="0" anchor="t"/>
          <a:lstStyle/>
          <a:p>
            <a:pPr algn="l" indent="0" marL="0">
              <a:lnSpc>
                <a:spcPts val="3100"/>
              </a:lnSpc>
              <a:buNone/>
            </a:pPr>
            <a:r>
              <a:rPr lang="en-US" sz="2500" b="1" dirty="0">
                <a:solidFill>
                  <a:srgbClr val="272525"/>
                </a:solidFill>
                <a:latin typeface="Inter Bold" pitchFamily="34" charset="0"/>
                <a:ea typeface="Inter Bold" pitchFamily="34" charset="-122"/>
                <a:cs typeface="Inter Bold" pitchFamily="34" charset="-120"/>
              </a:rPr>
              <a:t>Stochastic Gradient Descent (SGD)</a:t>
            </a:r>
            <a:endParaRPr lang="en-US" sz="2500" dirty="0"/>
          </a:p>
        </p:txBody>
      </p:sp>
      <p:sp>
        <p:nvSpPr>
          <p:cNvPr id="11" name="Text 9"/>
          <p:cNvSpPr/>
          <p:nvPr/>
        </p:nvSpPr>
        <p:spPr>
          <a:xfrm>
            <a:off x="5505212" y="3050500"/>
            <a:ext cx="3619976" cy="2354580"/>
          </a:xfrm>
          <a:prstGeom prst="rect">
            <a:avLst/>
          </a:prstGeom>
          <a:noFill/>
          <a:ln/>
        </p:spPr>
        <p:txBody>
          <a:bodyPr wrap="square" lIns="0" tIns="0" rIns="0" bIns="0" rtlCol="0" anchor="t"/>
          <a:lstStyle/>
          <a:p>
            <a:pPr algn="l" indent="0" marL="0">
              <a:lnSpc>
                <a:spcPts val="3050"/>
              </a:lnSpc>
              <a:buNone/>
            </a:pPr>
            <a:r>
              <a:rPr lang="en-US" sz="1900" dirty="0">
                <a:solidFill>
                  <a:srgbClr val="272525"/>
                </a:solidFill>
                <a:latin typeface="Inter" pitchFamily="34" charset="0"/>
                <a:ea typeface="Inter" pitchFamily="34" charset="-122"/>
                <a:cs typeface="Inter" pitchFamily="34" charset="-120"/>
              </a:rPr>
              <a:t>Uses a single random example to compute the gradient in each iteration. Much faster but results in noisy updates that may not always move directly toward the minimum.</a:t>
            </a:r>
            <a:endParaRPr lang="en-US" sz="1900" dirty="0"/>
          </a:p>
        </p:txBody>
      </p:sp>
      <p:sp>
        <p:nvSpPr>
          <p:cNvPr id="12" name="Text 10"/>
          <p:cNvSpPr/>
          <p:nvPr/>
        </p:nvSpPr>
        <p:spPr>
          <a:xfrm>
            <a:off x="5505212" y="5552242"/>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Fast computation</a:t>
            </a:r>
            <a:endParaRPr lang="en-US" sz="1900" dirty="0"/>
          </a:p>
        </p:txBody>
      </p:sp>
      <p:sp>
        <p:nvSpPr>
          <p:cNvPr id="13" name="Text 11"/>
          <p:cNvSpPr/>
          <p:nvPr/>
        </p:nvSpPr>
        <p:spPr>
          <a:xfrm>
            <a:off x="5505212" y="6030516"/>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Less memory required</a:t>
            </a:r>
            <a:endParaRPr lang="en-US" sz="1900" dirty="0"/>
          </a:p>
        </p:txBody>
      </p:sp>
      <p:sp>
        <p:nvSpPr>
          <p:cNvPr id="14" name="Text 12"/>
          <p:cNvSpPr/>
          <p:nvPr/>
        </p:nvSpPr>
        <p:spPr>
          <a:xfrm>
            <a:off x="5505212" y="6508790"/>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Noisy convergence path</a:t>
            </a:r>
            <a:endParaRPr lang="en-US" sz="1900" dirty="0"/>
          </a:p>
        </p:txBody>
      </p:sp>
      <p:sp>
        <p:nvSpPr>
          <p:cNvPr id="15" name="Shape 13"/>
          <p:cNvSpPr/>
          <p:nvPr/>
        </p:nvSpPr>
        <p:spPr>
          <a:xfrm>
            <a:off x="9630966" y="1843207"/>
            <a:ext cx="4140994" cy="5710952"/>
          </a:xfrm>
          <a:prstGeom prst="roundRect">
            <a:avLst>
              <a:gd name="adj" fmla="val 2488"/>
            </a:avLst>
          </a:prstGeom>
          <a:solidFill>
            <a:srgbClr val="DADBF1"/>
          </a:solidFill>
          <a:ln w="15240">
            <a:solidFill>
              <a:srgbClr val="C0C1D7"/>
            </a:solidFill>
            <a:prstDash val="solid"/>
          </a:ln>
        </p:spPr>
      </p:sp>
      <p:sp>
        <p:nvSpPr>
          <p:cNvPr id="16" name="Text 14"/>
          <p:cNvSpPr/>
          <p:nvPr/>
        </p:nvSpPr>
        <p:spPr>
          <a:xfrm>
            <a:off x="9891474" y="2103715"/>
            <a:ext cx="3619976" cy="799624"/>
          </a:xfrm>
          <a:prstGeom prst="rect">
            <a:avLst/>
          </a:prstGeom>
          <a:noFill/>
          <a:ln/>
        </p:spPr>
        <p:txBody>
          <a:bodyPr wrap="square" lIns="0" tIns="0" rIns="0" bIns="0" rtlCol="0" anchor="t"/>
          <a:lstStyle/>
          <a:p>
            <a:pPr algn="l" indent="0" marL="0">
              <a:lnSpc>
                <a:spcPts val="3100"/>
              </a:lnSpc>
              <a:buNone/>
            </a:pPr>
            <a:r>
              <a:rPr lang="en-US" sz="2500" b="1" dirty="0">
                <a:solidFill>
                  <a:srgbClr val="272525"/>
                </a:solidFill>
                <a:latin typeface="Inter Bold" pitchFamily="34" charset="0"/>
                <a:ea typeface="Inter Bold" pitchFamily="34" charset="-122"/>
                <a:cs typeface="Inter Bold" pitchFamily="34" charset="-120"/>
              </a:rPr>
              <a:t>Mini-Batch Gradient Descent</a:t>
            </a:r>
            <a:endParaRPr lang="en-US" sz="2500" dirty="0"/>
          </a:p>
        </p:txBody>
      </p:sp>
      <p:sp>
        <p:nvSpPr>
          <p:cNvPr id="17" name="Text 15"/>
          <p:cNvSpPr/>
          <p:nvPr/>
        </p:nvSpPr>
        <p:spPr>
          <a:xfrm>
            <a:off x="9891474" y="3050500"/>
            <a:ext cx="3619976" cy="2354580"/>
          </a:xfrm>
          <a:prstGeom prst="rect">
            <a:avLst/>
          </a:prstGeom>
          <a:noFill/>
          <a:ln/>
        </p:spPr>
        <p:txBody>
          <a:bodyPr wrap="square" lIns="0" tIns="0" rIns="0" bIns="0" rtlCol="0" anchor="t"/>
          <a:lstStyle/>
          <a:p>
            <a:pPr algn="l" indent="0" marL="0">
              <a:lnSpc>
                <a:spcPts val="3050"/>
              </a:lnSpc>
              <a:buNone/>
            </a:pPr>
            <a:r>
              <a:rPr lang="en-US" sz="1900" dirty="0">
                <a:solidFill>
                  <a:srgbClr val="272525"/>
                </a:solidFill>
                <a:latin typeface="Inter" pitchFamily="34" charset="0"/>
                <a:ea typeface="Inter" pitchFamily="34" charset="-122"/>
                <a:cs typeface="Inter" pitchFamily="34" charset="-120"/>
              </a:rPr>
              <a:t>A compromise between batch and stochastic approaches, using a small random subset of examples in each iteration. Combines the advantages of both methods.</a:t>
            </a:r>
            <a:endParaRPr lang="en-US" sz="1900" dirty="0"/>
          </a:p>
        </p:txBody>
      </p:sp>
      <p:sp>
        <p:nvSpPr>
          <p:cNvPr id="18" name="Text 16"/>
          <p:cNvSpPr/>
          <p:nvPr/>
        </p:nvSpPr>
        <p:spPr>
          <a:xfrm>
            <a:off x="9891474" y="5552242"/>
            <a:ext cx="3619976" cy="784860"/>
          </a:xfrm>
          <a:prstGeom prst="rect">
            <a:avLst/>
          </a:prstGeom>
          <a:noFill/>
          <a:ln/>
        </p:spPr>
        <p:txBody>
          <a:bodyPr wrap="squar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Balance of speed and stability</a:t>
            </a:r>
            <a:endParaRPr lang="en-US" sz="1900" dirty="0"/>
          </a:p>
        </p:txBody>
      </p:sp>
      <p:sp>
        <p:nvSpPr>
          <p:cNvPr id="19" name="Text 17"/>
          <p:cNvSpPr/>
          <p:nvPr/>
        </p:nvSpPr>
        <p:spPr>
          <a:xfrm>
            <a:off x="9891474" y="6422946"/>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Widely used in practice</a:t>
            </a:r>
            <a:endParaRPr lang="en-US" sz="1900" dirty="0"/>
          </a:p>
        </p:txBody>
      </p:sp>
      <p:sp>
        <p:nvSpPr>
          <p:cNvPr id="20" name="Text 18"/>
          <p:cNvSpPr/>
          <p:nvPr/>
        </p:nvSpPr>
        <p:spPr>
          <a:xfrm>
            <a:off x="9891474" y="6901220"/>
            <a:ext cx="3619976" cy="392430"/>
          </a:xfrm>
          <a:prstGeom prst="rect">
            <a:avLst/>
          </a:prstGeom>
          <a:noFill/>
          <a:ln/>
        </p:spPr>
        <p:txBody>
          <a:bodyPr wrap="none" lIns="0" tIns="0" rIns="0" bIns="0" rtlCol="0" anchor="t"/>
          <a:lstStyle/>
          <a:p>
            <a:pPr algn="l" marL="342900" indent="-342900">
              <a:lnSpc>
                <a:spcPts val="3050"/>
              </a:lnSpc>
              <a:buSzPct val="100000"/>
              <a:buChar char="•"/>
            </a:pPr>
            <a:r>
              <a:rPr lang="en-US" sz="1900" dirty="0">
                <a:solidFill>
                  <a:srgbClr val="272525"/>
                </a:solidFill>
                <a:latin typeface="Inter" pitchFamily="34" charset="0"/>
                <a:ea typeface="Inter" pitchFamily="34" charset="-122"/>
                <a:cs typeface="Inter" pitchFamily="34" charset="-120"/>
              </a:rPr>
              <a:t>Parallelizable computation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64037" y="1002030"/>
            <a:ext cx="9889450"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Challenges in Gradient Descent</a:t>
            </a:r>
            <a:endParaRPr lang="en-US" sz="5050" dirty="0"/>
          </a:p>
        </p:txBody>
      </p:sp>
      <p:pic>
        <p:nvPicPr>
          <p:cNvPr id="3" name="Image 0" descr="preencoded.png">    </p:cNvPr>
          <p:cNvPicPr>
            <a:picLocks noChangeAspect="1"/>
          </p:cNvPicPr>
          <p:nvPr/>
        </p:nvPicPr>
        <p:blipFill>
          <a:blip r:embed="rId1"/>
          <a:stretch>
            <a:fillRect/>
          </a:stretch>
        </p:blipFill>
        <p:spPr>
          <a:xfrm>
            <a:off x="864037" y="2220397"/>
            <a:ext cx="617220" cy="617220"/>
          </a:xfrm>
          <a:prstGeom prst="rect">
            <a:avLst/>
          </a:prstGeom>
        </p:spPr>
      </p:pic>
      <p:sp>
        <p:nvSpPr>
          <p:cNvPr id="4" name="Text 1"/>
          <p:cNvSpPr/>
          <p:nvPr/>
        </p:nvSpPr>
        <p:spPr>
          <a:xfrm>
            <a:off x="1728073" y="2323862"/>
            <a:ext cx="2130028"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Local Minima</a:t>
            </a:r>
            <a:endParaRPr lang="en-US" sz="2500" dirty="0"/>
          </a:p>
        </p:txBody>
      </p:sp>
      <p:sp>
        <p:nvSpPr>
          <p:cNvPr id="5" name="Text 2"/>
          <p:cNvSpPr/>
          <p:nvPr/>
        </p:nvSpPr>
        <p:spPr>
          <a:xfrm>
            <a:off x="1728073" y="2874526"/>
            <a:ext cx="2130028" cy="4345543"/>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The algorithm may get stuck in a local minimum rather than finding the global minimum, especially in complex, non-convex cost functions with multiple valleys.</a:t>
            </a:r>
            <a:endParaRPr lang="en-US" sz="1900" dirty="0"/>
          </a:p>
        </p:txBody>
      </p:sp>
      <p:pic>
        <p:nvPicPr>
          <p:cNvPr id="6" name="Image 1" descr="preencoded.png">    </p:cNvPr>
          <p:cNvPicPr>
            <a:picLocks noChangeAspect="1"/>
          </p:cNvPicPr>
          <p:nvPr/>
        </p:nvPicPr>
        <p:blipFill>
          <a:blip r:embed="rId2"/>
          <a:stretch>
            <a:fillRect/>
          </a:stretch>
        </p:blipFill>
        <p:spPr>
          <a:xfrm>
            <a:off x="4166711" y="2220397"/>
            <a:ext cx="617220" cy="617220"/>
          </a:xfrm>
          <a:prstGeom prst="rect">
            <a:avLst/>
          </a:prstGeom>
        </p:spPr>
      </p:pic>
      <p:sp>
        <p:nvSpPr>
          <p:cNvPr id="7" name="Text 3"/>
          <p:cNvSpPr/>
          <p:nvPr/>
        </p:nvSpPr>
        <p:spPr>
          <a:xfrm>
            <a:off x="5030748" y="2323862"/>
            <a:ext cx="2130147" cy="805101"/>
          </a:xfrm>
          <a:prstGeom prst="rect">
            <a:avLst/>
          </a:prstGeom>
          <a:noFill/>
          <a:ln/>
        </p:spPr>
        <p:txBody>
          <a:bodyPr wrap="squar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Saddle Points</a:t>
            </a:r>
            <a:endParaRPr lang="en-US" sz="2500" dirty="0"/>
          </a:p>
        </p:txBody>
      </p:sp>
      <p:sp>
        <p:nvSpPr>
          <p:cNvPr id="8" name="Text 4"/>
          <p:cNvSpPr/>
          <p:nvPr/>
        </p:nvSpPr>
        <p:spPr>
          <a:xfrm>
            <a:off x="5030748" y="3277076"/>
            <a:ext cx="2130147" cy="3950494"/>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Points where the gradient is zero but are neither minima nor maxima. These can slow down convergence as the algorithm may stall when it encounters them.</a:t>
            </a:r>
            <a:endParaRPr lang="en-US" sz="1900" dirty="0"/>
          </a:p>
        </p:txBody>
      </p:sp>
      <p:pic>
        <p:nvPicPr>
          <p:cNvPr id="9" name="Image 2" descr="preencoded.png">    </p:cNvPr>
          <p:cNvPicPr>
            <a:picLocks noChangeAspect="1"/>
          </p:cNvPicPr>
          <p:nvPr/>
        </p:nvPicPr>
        <p:blipFill>
          <a:blip r:embed="rId3"/>
          <a:stretch>
            <a:fillRect/>
          </a:stretch>
        </p:blipFill>
        <p:spPr>
          <a:xfrm>
            <a:off x="7469505" y="2220397"/>
            <a:ext cx="617220" cy="617220"/>
          </a:xfrm>
          <a:prstGeom prst="rect">
            <a:avLst/>
          </a:prstGeom>
        </p:spPr>
      </p:pic>
      <p:sp>
        <p:nvSpPr>
          <p:cNvPr id="10" name="Text 5"/>
          <p:cNvSpPr/>
          <p:nvPr/>
        </p:nvSpPr>
        <p:spPr>
          <a:xfrm>
            <a:off x="8333542" y="2323862"/>
            <a:ext cx="2130028"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Plateaus</a:t>
            </a:r>
            <a:endParaRPr lang="en-US" sz="2500" dirty="0"/>
          </a:p>
        </p:txBody>
      </p:sp>
      <p:sp>
        <p:nvSpPr>
          <p:cNvPr id="11" name="Text 6"/>
          <p:cNvSpPr/>
          <p:nvPr/>
        </p:nvSpPr>
        <p:spPr>
          <a:xfrm>
            <a:off x="8333542" y="2874526"/>
            <a:ext cx="2130028" cy="3950494"/>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Flat regions where the gradient is very small, causing the algorithm to make very slow progress as the parameter updates become tiny.</a:t>
            </a:r>
            <a:endParaRPr lang="en-US" sz="1900" dirty="0"/>
          </a:p>
        </p:txBody>
      </p:sp>
      <p:pic>
        <p:nvPicPr>
          <p:cNvPr id="12" name="Image 3" descr="preencoded.png">    </p:cNvPr>
          <p:cNvPicPr>
            <a:picLocks noChangeAspect="1"/>
          </p:cNvPicPr>
          <p:nvPr/>
        </p:nvPicPr>
        <p:blipFill>
          <a:blip r:embed="rId4"/>
          <a:stretch>
            <a:fillRect/>
          </a:stretch>
        </p:blipFill>
        <p:spPr>
          <a:xfrm>
            <a:off x="10772180" y="2220397"/>
            <a:ext cx="617220" cy="617220"/>
          </a:xfrm>
          <a:prstGeom prst="rect">
            <a:avLst/>
          </a:prstGeom>
        </p:spPr>
      </p:pic>
      <p:sp>
        <p:nvSpPr>
          <p:cNvPr id="13" name="Text 7"/>
          <p:cNvSpPr/>
          <p:nvPr/>
        </p:nvSpPr>
        <p:spPr>
          <a:xfrm>
            <a:off x="11636216" y="2323862"/>
            <a:ext cx="2130147"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Zigzagging</a:t>
            </a:r>
            <a:endParaRPr lang="en-US" sz="2500" dirty="0"/>
          </a:p>
        </p:txBody>
      </p:sp>
      <p:sp>
        <p:nvSpPr>
          <p:cNvPr id="14" name="Text 8"/>
          <p:cNvSpPr/>
          <p:nvPr/>
        </p:nvSpPr>
        <p:spPr>
          <a:xfrm>
            <a:off x="11636216" y="2874526"/>
            <a:ext cx="2130147" cy="3950494"/>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In narrow valleys, the algorithm may bounce back and forth between the sides, making slow progress toward the minimum instead of moving directly down.</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64037" y="1064657"/>
            <a:ext cx="12463224" cy="804982"/>
          </a:xfrm>
          <a:prstGeom prst="rect">
            <a:avLst/>
          </a:prstGeom>
          <a:noFill/>
          <a:ln/>
        </p:spPr>
        <p:txBody>
          <a:bodyPr wrap="none" lIns="0" tIns="0" rIns="0" bIns="0" rtlCol="0" anchor="t"/>
          <a:lstStyle/>
          <a:p>
            <a:pPr algn="l" indent="0" marL="0">
              <a:lnSpc>
                <a:spcPts val="6300"/>
              </a:lnSpc>
              <a:buNone/>
            </a:pPr>
            <a:r>
              <a:rPr lang="en-US" sz="5050" b="1" dirty="0">
                <a:solidFill>
                  <a:srgbClr val="000000"/>
                </a:solidFill>
                <a:latin typeface="Inter Bold" pitchFamily="34" charset="0"/>
                <a:ea typeface="Inter Bold" pitchFamily="34" charset="-122"/>
                <a:cs typeface="Inter Bold" pitchFamily="34" charset="-120"/>
              </a:rPr>
              <a:t>Advanced Gradient Descent Algorithms</a:t>
            </a:r>
            <a:endParaRPr lang="en-US" sz="5050" dirty="0"/>
          </a:p>
        </p:txBody>
      </p:sp>
      <p:sp>
        <p:nvSpPr>
          <p:cNvPr id="3" name="Shape 1"/>
          <p:cNvSpPr/>
          <p:nvPr/>
        </p:nvSpPr>
        <p:spPr>
          <a:xfrm>
            <a:off x="864037" y="2239923"/>
            <a:ext cx="555427" cy="555427"/>
          </a:xfrm>
          <a:prstGeom prst="roundRect">
            <a:avLst>
              <a:gd name="adj" fmla="val 18669"/>
            </a:avLst>
          </a:prstGeom>
          <a:solidFill>
            <a:srgbClr val="DADBF1"/>
          </a:solidFill>
          <a:ln w="15240">
            <a:solidFill>
              <a:srgbClr val="C0C1D7"/>
            </a:solidFill>
            <a:prstDash val="solid"/>
          </a:ln>
        </p:spPr>
      </p:sp>
      <p:pic>
        <p:nvPicPr>
          <p:cNvPr id="4" name="Image 0" descr="preencoded.png">    </p:cNvPr>
          <p:cNvPicPr>
            <a:picLocks noChangeAspect="1"/>
          </p:cNvPicPr>
          <p:nvPr/>
        </p:nvPicPr>
        <p:blipFill>
          <a:blip r:embed="rId1"/>
          <a:stretch>
            <a:fillRect/>
          </a:stretch>
        </p:blipFill>
        <p:spPr>
          <a:xfrm>
            <a:off x="948511" y="2276058"/>
            <a:ext cx="386358" cy="483037"/>
          </a:xfrm>
          <a:prstGeom prst="rect">
            <a:avLst/>
          </a:prstGeom>
        </p:spPr>
      </p:pic>
      <p:sp>
        <p:nvSpPr>
          <p:cNvPr id="5" name="Text 2"/>
          <p:cNvSpPr/>
          <p:nvPr/>
        </p:nvSpPr>
        <p:spPr>
          <a:xfrm>
            <a:off x="1666280" y="2324695"/>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Momentum</a:t>
            </a:r>
            <a:endParaRPr lang="en-US" sz="2500" dirty="0"/>
          </a:p>
        </p:txBody>
      </p:sp>
      <p:sp>
        <p:nvSpPr>
          <p:cNvPr id="6" name="Text 3"/>
          <p:cNvSpPr/>
          <p:nvPr/>
        </p:nvSpPr>
        <p:spPr>
          <a:xfrm>
            <a:off x="1666280" y="2875359"/>
            <a:ext cx="5494615" cy="158019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Adds a fraction of the previous update to the current one, helping to smooth out oscillations and accelerate convergence, especially in narrow valleys or plateaus.</a:t>
            </a:r>
            <a:endParaRPr lang="en-US" sz="1900" dirty="0"/>
          </a:p>
        </p:txBody>
      </p:sp>
      <p:sp>
        <p:nvSpPr>
          <p:cNvPr id="7" name="Shape 4"/>
          <p:cNvSpPr/>
          <p:nvPr/>
        </p:nvSpPr>
        <p:spPr>
          <a:xfrm>
            <a:off x="7469505" y="2239923"/>
            <a:ext cx="555427" cy="555427"/>
          </a:xfrm>
          <a:prstGeom prst="roundRect">
            <a:avLst>
              <a:gd name="adj" fmla="val 18669"/>
            </a:avLst>
          </a:prstGeom>
          <a:solidFill>
            <a:srgbClr val="DADBF1"/>
          </a:solidFill>
          <a:ln w="15240">
            <a:solidFill>
              <a:srgbClr val="C0C1D7"/>
            </a:solidFill>
            <a:prstDash val="solid"/>
          </a:ln>
        </p:spPr>
      </p:sp>
      <p:pic>
        <p:nvPicPr>
          <p:cNvPr id="8" name="Image 1" descr="preencoded.png">    </p:cNvPr>
          <p:cNvPicPr>
            <a:picLocks noChangeAspect="1"/>
          </p:cNvPicPr>
          <p:nvPr/>
        </p:nvPicPr>
        <p:blipFill>
          <a:blip r:embed="rId2"/>
          <a:stretch>
            <a:fillRect/>
          </a:stretch>
        </p:blipFill>
        <p:spPr>
          <a:xfrm>
            <a:off x="7553980" y="2276058"/>
            <a:ext cx="386358" cy="483037"/>
          </a:xfrm>
          <a:prstGeom prst="rect">
            <a:avLst/>
          </a:prstGeom>
        </p:spPr>
      </p:pic>
      <p:sp>
        <p:nvSpPr>
          <p:cNvPr id="9" name="Text 5"/>
          <p:cNvSpPr/>
          <p:nvPr/>
        </p:nvSpPr>
        <p:spPr>
          <a:xfrm>
            <a:off x="8271748" y="2324695"/>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AdaGrad</a:t>
            </a:r>
            <a:endParaRPr lang="en-US" sz="2500" dirty="0"/>
          </a:p>
        </p:txBody>
      </p:sp>
      <p:sp>
        <p:nvSpPr>
          <p:cNvPr id="10" name="Text 6"/>
          <p:cNvSpPr/>
          <p:nvPr/>
        </p:nvSpPr>
        <p:spPr>
          <a:xfrm>
            <a:off x="8271748" y="2875359"/>
            <a:ext cx="5494615" cy="158019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Adapts the learning rate for each parameter based on historical gradients, giving smaller updates to frequently updated parameters and larger updates to infrequent ones.</a:t>
            </a:r>
            <a:endParaRPr lang="en-US" sz="1900" dirty="0"/>
          </a:p>
        </p:txBody>
      </p:sp>
      <p:sp>
        <p:nvSpPr>
          <p:cNvPr id="11" name="Shape 7"/>
          <p:cNvSpPr/>
          <p:nvPr/>
        </p:nvSpPr>
        <p:spPr>
          <a:xfrm>
            <a:off x="864037" y="4949309"/>
            <a:ext cx="555427" cy="555427"/>
          </a:xfrm>
          <a:prstGeom prst="roundRect">
            <a:avLst>
              <a:gd name="adj" fmla="val 18669"/>
            </a:avLst>
          </a:prstGeom>
          <a:solidFill>
            <a:srgbClr val="DADBF1"/>
          </a:solidFill>
          <a:ln w="15240">
            <a:solidFill>
              <a:srgbClr val="C0C1D7"/>
            </a:solidFill>
            <a:prstDash val="solid"/>
          </a:ln>
        </p:spPr>
      </p:sp>
      <p:pic>
        <p:nvPicPr>
          <p:cNvPr id="12" name="Image 2" descr="preencoded.png">    </p:cNvPr>
          <p:cNvPicPr>
            <a:picLocks noChangeAspect="1"/>
          </p:cNvPicPr>
          <p:nvPr/>
        </p:nvPicPr>
        <p:blipFill>
          <a:blip r:embed="rId3"/>
          <a:stretch>
            <a:fillRect/>
          </a:stretch>
        </p:blipFill>
        <p:spPr>
          <a:xfrm>
            <a:off x="948511" y="4985445"/>
            <a:ext cx="386358" cy="483037"/>
          </a:xfrm>
          <a:prstGeom prst="rect">
            <a:avLst/>
          </a:prstGeom>
        </p:spPr>
      </p:pic>
      <p:sp>
        <p:nvSpPr>
          <p:cNvPr id="13" name="Text 8"/>
          <p:cNvSpPr/>
          <p:nvPr/>
        </p:nvSpPr>
        <p:spPr>
          <a:xfrm>
            <a:off x="1666280" y="5034082"/>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RMSProp</a:t>
            </a:r>
            <a:endParaRPr lang="en-US" sz="2500" dirty="0"/>
          </a:p>
        </p:txBody>
      </p:sp>
      <p:sp>
        <p:nvSpPr>
          <p:cNvPr id="14" name="Text 9"/>
          <p:cNvSpPr/>
          <p:nvPr/>
        </p:nvSpPr>
        <p:spPr>
          <a:xfrm>
            <a:off x="1666280" y="5584746"/>
            <a:ext cx="5494615" cy="158019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Modifies AdaGrad to use an exponentially weighted moving average of squared gradients, preventing the learning rate from becoming too small over time.</a:t>
            </a:r>
            <a:endParaRPr lang="en-US" sz="1900" dirty="0"/>
          </a:p>
        </p:txBody>
      </p:sp>
      <p:sp>
        <p:nvSpPr>
          <p:cNvPr id="15" name="Shape 10"/>
          <p:cNvSpPr/>
          <p:nvPr/>
        </p:nvSpPr>
        <p:spPr>
          <a:xfrm>
            <a:off x="7469505" y="4949309"/>
            <a:ext cx="555427" cy="555427"/>
          </a:xfrm>
          <a:prstGeom prst="roundRect">
            <a:avLst>
              <a:gd name="adj" fmla="val 18669"/>
            </a:avLst>
          </a:prstGeom>
          <a:solidFill>
            <a:srgbClr val="DADBF1"/>
          </a:solidFill>
          <a:ln w="15240">
            <a:solidFill>
              <a:srgbClr val="C0C1D7"/>
            </a:solidFill>
            <a:prstDash val="solid"/>
          </a:ln>
        </p:spPr>
      </p:sp>
      <p:pic>
        <p:nvPicPr>
          <p:cNvPr id="16" name="Image 3" descr="preencoded.png">    </p:cNvPr>
          <p:cNvPicPr>
            <a:picLocks noChangeAspect="1"/>
          </p:cNvPicPr>
          <p:nvPr/>
        </p:nvPicPr>
        <p:blipFill>
          <a:blip r:embed="rId4"/>
          <a:stretch>
            <a:fillRect/>
          </a:stretch>
        </p:blipFill>
        <p:spPr>
          <a:xfrm>
            <a:off x="7553980" y="4985445"/>
            <a:ext cx="386358" cy="483037"/>
          </a:xfrm>
          <a:prstGeom prst="rect">
            <a:avLst/>
          </a:prstGeom>
        </p:spPr>
      </p:pic>
      <p:sp>
        <p:nvSpPr>
          <p:cNvPr id="17" name="Text 11"/>
          <p:cNvSpPr/>
          <p:nvPr/>
        </p:nvSpPr>
        <p:spPr>
          <a:xfrm>
            <a:off x="8271748" y="5034082"/>
            <a:ext cx="3220164" cy="402550"/>
          </a:xfrm>
          <a:prstGeom prst="rect">
            <a:avLst/>
          </a:prstGeom>
          <a:noFill/>
          <a:ln/>
        </p:spPr>
        <p:txBody>
          <a:bodyPr wrap="none" lIns="0" tIns="0" rIns="0" bIns="0" rtlCol="0" anchor="t"/>
          <a:lstStyle/>
          <a:p>
            <a:pPr algn="l" indent="0" marL="0">
              <a:lnSpc>
                <a:spcPts val="3150"/>
              </a:lnSpc>
              <a:buNone/>
            </a:pPr>
            <a:r>
              <a:rPr lang="en-US" sz="2500" b="1" dirty="0">
                <a:solidFill>
                  <a:srgbClr val="272525"/>
                </a:solidFill>
                <a:latin typeface="Inter Bold" pitchFamily="34" charset="0"/>
                <a:ea typeface="Inter Bold" pitchFamily="34" charset="-122"/>
                <a:cs typeface="Inter Bold" pitchFamily="34" charset="-120"/>
              </a:rPr>
              <a:t>Adam</a:t>
            </a:r>
            <a:endParaRPr lang="en-US" sz="2500" dirty="0"/>
          </a:p>
        </p:txBody>
      </p:sp>
      <p:sp>
        <p:nvSpPr>
          <p:cNvPr id="18" name="Text 12"/>
          <p:cNvSpPr/>
          <p:nvPr/>
        </p:nvSpPr>
        <p:spPr>
          <a:xfrm>
            <a:off x="8271748" y="5584746"/>
            <a:ext cx="5494615" cy="1580198"/>
          </a:xfrm>
          <a:prstGeom prst="rect">
            <a:avLst/>
          </a:prstGeom>
          <a:noFill/>
          <a:ln/>
        </p:spPr>
        <p:txBody>
          <a:bodyPr wrap="square" lIns="0" tIns="0" rIns="0" bIns="0" rtlCol="0" anchor="t"/>
          <a:lstStyle/>
          <a:p>
            <a:pPr algn="l" indent="0" marL="0">
              <a:lnSpc>
                <a:spcPts val="3100"/>
              </a:lnSpc>
              <a:buNone/>
            </a:pPr>
            <a:r>
              <a:rPr lang="en-US" sz="1900" dirty="0">
                <a:solidFill>
                  <a:srgbClr val="272525"/>
                </a:solidFill>
                <a:latin typeface="Inter" pitchFamily="34" charset="0"/>
                <a:ea typeface="Inter" pitchFamily="34" charset="-122"/>
                <a:cs typeface="Inter" pitchFamily="34" charset="-120"/>
              </a:rPr>
              <a:t>Combines the benefits of momentum and adaptive learning rates, maintaining both a moving average of gradients and squared gradients for more efficient optimization.</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81012" y="377904"/>
            <a:ext cx="6577132" cy="448270"/>
          </a:xfrm>
          <a:prstGeom prst="rect">
            <a:avLst/>
          </a:prstGeom>
          <a:noFill/>
          <a:ln/>
        </p:spPr>
        <p:txBody>
          <a:bodyPr wrap="none" lIns="0" tIns="0" rIns="0" bIns="0" rtlCol="0" anchor="t"/>
          <a:lstStyle/>
          <a:p>
            <a:pPr algn="l" indent="0" marL="0">
              <a:lnSpc>
                <a:spcPts val="3500"/>
              </a:lnSpc>
              <a:buNone/>
            </a:pPr>
            <a:r>
              <a:rPr lang="en-US" sz="2800" b="1" dirty="0">
                <a:solidFill>
                  <a:srgbClr val="000000"/>
                </a:solidFill>
                <a:latin typeface="Inter Bold" pitchFamily="34" charset="0"/>
                <a:ea typeface="Inter Bold" pitchFamily="34" charset="-122"/>
                <a:cs typeface="Inter Bold" pitchFamily="34" charset="-120"/>
              </a:rPr>
              <a:t>Cost Functions for Different Problems</a:t>
            </a:r>
            <a:endParaRPr lang="en-US" sz="2800" dirty="0"/>
          </a:p>
        </p:txBody>
      </p:sp>
      <p:pic>
        <p:nvPicPr>
          <p:cNvPr id="3" name="Image 0" descr="preencoded.png">    </p:cNvPr>
          <p:cNvPicPr>
            <a:picLocks noChangeAspect="1"/>
          </p:cNvPicPr>
          <p:nvPr/>
        </p:nvPicPr>
        <p:blipFill>
          <a:blip r:embed="rId1"/>
          <a:stretch>
            <a:fillRect/>
          </a:stretch>
        </p:blipFill>
        <p:spPr>
          <a:xfrm>
            <a:off x="481012" y="1100971"/>
            <a:ext cx="13668375" cy="7486412"/>
          </a:xfrm>
          <a:prstGeom prst="rect">
            <a:avLst/>
          </a:prstGeom>
        </p:spPr>
      </p:pic>
      <p:sp>
        <p:nvSpPr>
          <p:cNvPr id="4" name="Shape 1"/>
          <p:cNvSpPr/>
          <p:nvPr/>
        </p:nvSpPr>
        <p:spPr>
          <a:xfrm>
            <a:off x="2863810" y="8617863"/>
            <a:ext cx="137398" cy="137398"/>
          </a:xfrm>
          <a:prstGeom prst="roundRect">
            <a:avLst>
              <a:gd name="adj" fmla="val 13310"/>
            </a:avLst>
          </a:prstGeom>
          <a:solidFill>
            <a:srgbClr val="151738"/>
          </a:solidFill>
          <a:ln/>
        </p:spPr>
      </p:sp>
      <p:sp>
        <p:nvSpPr>
          <p:cNvPr id="5" name="Text 2"/>
          <p:cNvSpPr/>
          <p:nvPr/>
        </p:nvSpPr>
        <p:spPr>
          <a:xfrm>
            <a:off x="3062168" y="8617863"/>
            <a:ext cx="721638" cy="137398"/>
          </a:xfrm>
          <a:prstGeom prst="rect">
            <a:avLst/>
          </a:prstGeom>
          <a:noFill/>
          <a:ln/>
        </p:spPr>
        <p:txBody>
          <a:bodyPr wrap="none" lIns="0" tIns="0" rIns="0" bIns="0" rtlCol="0" anchor="t"/>
          <a:lstStyle/>
          <a:p>
            <a:pPr algn="l" indent="0" marL="0">
              <a:lnSpc>
                <a:spcPts val="1050"/>
              </a:lnSpc>
              <a:buNone/>
            </a:pPr>
            <a:r>
              <a:rPr lang="en-US" sz="1050" dirty="0">
                <a:solidFill>
                  <a:srgbClr val="272525"/>
                </a:solidFill>
                <a:latin typeface="Inter" pitchFamily="34" charset="0"/>
                <a:ea typeface="Inter" pitchFamily="34" charset="-122"/>
                <a:cs typeface="Inter" pitchFamily="34" charset="-120"/>
              </a:rPr>
              <a:t>Regression</a:t>
            </a:r>
            <a:endParaRPr lang="en-US" sz="1050" dirty="0"/>
          </a:p>
        </p:txBody>
      </p:sp>
      <p:sp>
        <p:nvSpPr>
          <p:cNvPr id="6" name="Shape 3"/>
          <p:cNvSpPr/>
          <p:nvPr/>
        </p:nvSpPr>
        <p:spPr>
          <a:xfrm>
            <a:off x="4827270" y="8617863"/>
            <a:ext cx="137398" cy="137398"/>
          </a:xfrm>
          <a:prstGeom prst="roundRect">
            <a:avLst>
              <a:gd name="adj" fmla="val 13310"/>
            </a:avLst>
          </a:prstGeom>
          <a:solidFill>
            <a:srgbClr val="2E337D"/>
          </a:solidFill>
          <a:ln/>
        </p:spPr>
      </p:sp>
      <p:sp>
        <p:nvSpPr>
          <p:cNvPr id="7" name="Text 4"/>
          <p:cNvSpPr/>
          <p:nvPr/>
        </p:nvSpPr>
        <p:spPr>
          <a:xfrm>
            <a:off x="5025628" y="8617863"/>
            <a:ext cx="1322189" cy="137398"/>
          </a:xfrm>
          <a:prstGeom prst="rect">
            <a:avLst/>
          </a:prstGeom>
          <a:noFill/>
          <a:ln/>
        </p:spPr>
        <p:txBody>
          <a:bodyPr wrap="none" lIns="0" tIns="0" rIns="0" bIns="0" rtlCol="0" anchor="t"/>
          <a:lstStyle/>
          <a:p>
            <a:pPr algn="l" indent="0" marL="0">
              <a:lnSpc>
                <a:spcPts val="1050"/>
              </a:lnSpc>
              <a:buNone/>
            </a:pPr>
            <a:r>
              <a:rPr lang="en-US" sz="1050" dirty="0">
                <a:solidFill>
                  <a:srgbClr val="272525"/>
                </a:solidFill>
                <a:latin typeface="Inter" pitchFamily="34" charset="0"/>
                <a:ea typeface="Inter" pitchFamily="34" charset="-122"/>
                <a:cs typeface="Inter" pitchFamily="34" charset="-120"/>
              </a:rPr>
              <a:t>Binary Classification</a:t>
            </a:r>
            <a:endParaRPr lang="en-US" sz="1050" dirty="0"/>
          </a:p>
        </p:txBody>
      </p:sp>
      <p:sp>
        <p:nvSpPr>
          <p:cNvPr id="8" name="Shape 5"/>
          <p:cNvSpPr/>
          <p:nvPr/>
        </p:nvSpPr>
        <p:spPr>
          <a:xfrm>
            <a:off x="8130897" y="8617863"/>
            <a:ext cx="137398" cy="137398"/>
          </a:xfrm>
          <a:prstGeom prst="roundRect">
            <a:avLst>
              <a:gd name="adj" fmla="val 13310"/>
            </a:avLst>
          </a:prstGeom>
          <a:solidFill>
            <a:srgbClr val="4C53BD"/>
          </a:solidFill>
          <a:ln/>
        </p:spPr>
      </p:sp>
      <p:sp>
        <p:nvSpPr>
          <p:cNvPr id="9" name="Text 6"/>
          <p:cNvSpPr/>
          <p:nvPr/>
        </p:nvSpPr>
        <p:spPr>
          <a:xfrm>
            <a:off x="8329255" y="8617863"/>
            <a:ext cx="1625322" cy="137398"/>
          </a:xfrm>
          <a:prstGeom prst="rect">
            <a:avLst/>
          </a:prstGeom>
          <a:noFill/>
          <a:ln/>
        </p:spPr>
        <p:txBody>
          <a:bodyPr wrap="none" lIns="0" tIns="0" rIns="0" bIns="0" rtlCol="0" anchor="t"/>
          <a:lstStyle/>
          <a:p>
            <a:pPr algn="l" indent="0" marL="0">
              <a:lnSpc>
                <a:spcPts val="1050"/>
              </a:lnSpc>
              <a:buNone/>
            </a:pPr>
            <a:r>
              <a:rPr lang="en-US" sz="1050" dirty="0">
                <a:solidFill>
                  <a:srgbClr val="272525"/>
                </a:solidFill>
                <a:latin typeface="Inter" pitchFamily="34" charset="0"/>
                <a:ea typeface="Inter" pitchFamily="34" charset="-122"/>
                <a:cs typeface="Inter" pitchFamily="34" charset="-120"/>
              </a:rPr>
              <a:t>Multi-class Classification</a:t>
            </a:r>
            <a:endParaRPr lang="en-US" sz="1050" dirty="0"/>
          </a:p>
        </p:txBody>
      </p:sp>
      <p:sp>
        <p:nvSpPr>
          <p:cNvPr id="10" name="Shape 7"/>
          <p:cNvSpPr/>
          <p:nvPr/>
        </p:nvSpPr>
        <p:spPr>
          <a:xfrm>
            <a:off x="10846594" y="8617863"/>
            <a:ext cx="137398" cy="137398"/>
          </a:xfrm>
          <a:prstGeom prst="roundRect">
            <a:avLst>
              <a:gd name="adj" fmla="val 13310"/>
            </a:avLst>
          </a:prstGeom>
          <a:solidFill>
            <a:srgbClr val="9195D7"/>
          </a:solidFill>
          <a:ln/>
        </p:spPr>
      </p:sp>
      <p:sp>
        <p:nvSpPr>
          <p:cNvPr id="11" name="Text 8"/>
          <p:cNvSpPr/>
          <p:nvPr/>
        </p:nvSpPr>
        <p:spPr>
          <a:xfrm>
            <a:off x="11044952" y="8617863"/>
            <a:ext cx="362783" cy="137398"/>
          </a:xfrm>
          <a:prstGeom prst="rect">
            <a:avLst/>
          </a:prstGeom>
          <a:noFill/>
          <a:ln/>
        </p:spPr>
        <p:txBody>
          <a:bodyPr wrap="none" lIns="0" tIns="0" rIns="0" bIns="0" rtlCol="0" anchor="t"/>
          <a:lstStyle/>
          <a:p>
            <a:pPr algn="l" indent="0" marL="0">
              <a:lnSpc>
                <a:spcPts val="1050"/>
              </a:lnSpc>
              <a:buNone/>
            </a:pPr>
            <a:r>
              <a:rPr lang="en-US" sz="1050" dirty="0">
                <a:solidFill>
                  <a:srgbClr val="272525"/>
                </a:solidFill>
                <a:latin typeface="Inter" pitchFamily="34" charset="0"/>
                <a:ea typeface="Inter" pitchFamily="34" charset="-122"/>
                <a:cs typeface="Inter" pitchFamily="34" charset="-120"/>
              </a:rPr>
              <a:t>Other</a:t>
            </a:r>
            <a:endParaRPr lang="en-US" sz="1050" dirty="0"/>
          </a:p>
        </p:txBody>
      </p:sp>
      <p:sp>
        <p:nvSpPr>
          <p:cNvPr id="12" name="Text 9"/>
          <p:cNvSpPr/>
          <p:nvPr/>
        </p:nvSpPr>
        <p:spPr>
          <a:xfrm>
            <a:off x="481012" y="8909804"/>
            <a:ext cx="13668375" cy="439579"/>
          </a:xfrm>
          <a:prstGeom prst="rect">
            <a:avLst/>
          </a:prstGeom>
          <a:noFill/>
          <a:ln/>
        </p:spPr>
        <p:txBody>
          <a:bodyPr wrap="squar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Different machine learning problems require different cost functions. For regression problems like our linear regression example, Mean Squared Error (MSE) is commonly used. Binary classification often uses Binary Cross-Entropy or Hinge Loss, while multi-class classification typically employs Categorical Cross-Entropy.</a:t>
            </a:r>
            <a:endParaRPr lang="en-US" sz="1050" dirty="0"/>
          </a:p>
        </p:txBody>
      </p:sp>
      <p:sp>
        <p:nvSpPr>
          <p:cNvPr id="13" name="Text 10"/>
          <p:cNvSpPr/>
          <p:nvPr/>
        </p:nvSpPr>
        <p:spPr>
          <a:xfrm>
            <a:off x="481012" y="9503926"/>
            <a:ext cx="13668375" cy="219789"/>
          </a:xfrm>
          <a:prstGeom prst="rect">
            <a:avLst/>
          </a:prstGeom>
          <a:noFill/>
          <a:ln/>
        </p:spPr>
        <p:txBody>
          <a:bodyPr wrap="none" lIns="0" tIns="0" rIns="0" bIns="0" rtlCol="0" anchor="t"/>
          <a:lstStyle/>
          <a:p>
            <a:pPr algn="l" indent="0" marL="0">
              <a:lnSpc>
                <a:spcPts val="1700"/>
              </a:lnSpc>
              <a:buNone/>
            </a:pPr>
            <a:r>
              <a:rPr lang="en-US" sz="1050" dirty="0">
                <a:solidFill>
                  <a:srgbClr val="272525"/>
                </a:solidFill>
                <a:latin typeface="Inter" pitchFamily="34" charset="0"/>
                <a:ea typeface="Inter" pitchFamily="34" charset="-122"/>
                <a:cs typeface="Inter" pitchFamily="34" charset="-120"/>
              </a:rPr>
              <a:t>The choice of cost function significantly impacts model training and performance. Each is designed to capture the specific type of error relevant to the problem at hand.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33199" y="669727"/>
            <a:ext cx="9786461" cy="776288"/>
          </a:xfrm>
          <a:prstGeom prst="rect">
            <a:avLst/>
          </a:prstGeom>
          <a:noFill/>
          <a:ln/>
        </p:spPr>
        <p:txBody>
          <a:bodyPr wrap="none" lIns="0" tIns="0" rIns="0" bIns="0" rtlCol="0" anchor="t"/>
          <a:lstStyle/>
          <a:p>
            <a:pPr algn="l" indent="0" marL="0">
              <a:lnSpc>
                <a:spcPts val="6100"/>
              </a:lnSpc>
              <a:buNone/>
            </a:pPr>
            <a:r>
              <a:rPr lang="en-US" sz="4850" b="1" dirty="0">
                <a:solidFill>
                  <a:srgbClr val="000000"/>
                </a:solidFill>
                <a:latin typeface="Inter Bold" pitchFamily="34" charset="0"/>
                <a:ea typeface="Inter Bold" pitchFamily="34" charset="-122"/>
                <a:cs typeface="Inter Bold" pitchFamily="34" charset="-120"/>
              </a:rPr>
              <a:t>Regularization in Cost Functions</a:t>
            </a:r>
            <a:endParaRPr lang="en-US" sz="4850" dirty="0"/>
          </a:p>
        </p:txBody>
      </p:sp>
      <p:sp>
        <p:nvSpPr>
          <p:cNvPr id="3" name="Text 1"/>
          <p:cNvSpPr/>
          <p:nvPr/>
        </p:nvSpPr>
        <p:spPr>
          <a:xfrm>
            <a:off x="833199" y="2041088"/>
            <a:ext cx="3579138" cy="388144"/>
          </a:xfrm>
          <a:prstGeom prst="rect">
            <a:avLst/>
          </a:prstGeom>
          <a:noFill/>
          <a:ln/>
        </p:spPr>
        <p:txBody>
          <a:bodyPr wrap="none" lIns="0" tIns="0" rIns="0" bIns="0" rtlCol="0" anchor="t"/>
          <a:lstStyle/>
          <a:p>
            <a:pPr algn="l" indent="0" marL="0">
              <a:lnSpc>
                <a:spcPts val="3050"/>
              </a:lnSpc>
              <a:buNone/>
            </a:pPr>
            <a:r>
              <a:rPr lang="en-US" sz="2400" b="1" dirty="0">
                <a:solidFill>
                  <a:srgbClr val="000000"/>
                </a:solidFill>
                <a:latin typeface="Inter Bold" pitchFamily="34" charset="0"/>
                <a:ea typeface="Inter Bold" pitchFamily="34" charset="-122"/>
                <a:cs typeface="Inter Bold" pitchFamily="34" charset="-120"/>
              </a:rPr>
              <a:t>What is Regularization?</a:t>
            </a:r>
            <a:endParaRPr lang="en-US" sz="2400" dirty="0"/>
          </a:p>
        </p:txBody>
      </p:sp>
      <p:sp>
        <p:nvSpPr>
          <p:cNvPr id="4" name="Text 2"/>
          <p:cNvSpPr/>
          <p:nvPr/>
        </p:nvSpPr>
        <p:spPr>
          <a:xfrm>
            <a:off x="833199" y="2667238"/>
            <a:ext cx="6191607" cy="1524000"/>
          </a:xfrm>
          <a:prstGeom prst="rect">
            <a:avLst/>
          </a:prstGeom>
          <a:noFill/>
          <a:ln/>
        </p:spPr>
        <p:txBody>
          <a:bodyPr wrap="square" lIns="0" tIns="0" rIns="0" bIns="0" rtlCol="0" anchor="t"/>
          <a:lstStyle/>
          <a:p>
            <a:pPr algn="l" indent="0" marL="0">
              <a:lnSpc>
                <a:spcPts val="2950"/>
              </a:lnSpc>
              <a:buNone/>
            </a:pPr>
            <a:r>
              <a:rPr lang="en-US" sz="1850" dirty="0">
                <a:solidFill>
                  <a:srgbClr val="272525"/>
                </a:solidFill>
                <a:latin typeface="Inter" pitchFamily="34" charset="0"/>
                <a:ea typeface="Inter" pitchFamily="34" charset="-122"/>
                <a:cs typeface="Inter" pitchFamily="34" charset="-120"/>
              </a:rPr>
              <a:t>Regularization adds a penalty term to the cost function to discourage complex models and prevent overfitting. It helps the model generalize better to unseen data by keeping the parameter values small.</a:t>
            </a:r>
            <a:endParaRPr lang="en-US" sz="1850" dirty="0"/>
          </a:p>
        </p:txBody>
      </p:sp>
      <p:sp>
        <p:nvSpPr>
          <p:cNvPr id="5" name="Text 3"/>
          <p:cNvSpPr/>
          <p:nvPr/>
        </p:nvSpPr>
        <p:spPr>
          <a:xfrm>
            <a:off x="833199" y="4429244"/>
            <a:ext cx="4662488" cy="388144"/>
          </a:xfrm>
          <a:prstGeom prst="rect">
            <a:avLst/>
          </a:prstGeom>
          <a:noFill/>
          <a:ln/>
        </p:spPr>
        <p:txBody>
          <a:bodyPr wrap="none" lIns="0" tIns="0" rIns="0" bIns="0" rtlCol="0" anchor="t"/>
          <a:lstStyle/>
          <a:p>
            <a:pPr algn="l" indent="0" marL="0">
              <a:lnSpc>
                <a:spcPts val="3050"/>
              </a:lnSpc>
              <a:buNone/>
            </a:pPr>
            <a:r>
              <a:rPr lang="en-US" sz="2400" b="1" dirty="0">
                <a:solidFill>
                  <a:srgbClr val="000000"/>
                </a:solidFill>
                <a:latin typeface="Inter Bold" pitchFamily="34" charset="0"/>
                <a:ea typeface="Inter Bold" pitchFamily="34" charset="-122"/>
                <a:cs typeface="Inter Bold" pitchFamily="34" charset="-120"/>
              </a:rPr>
              <a:t>Common Regularization Terms</a:t>
            </a:r>
            <a:endParaRPr lang="en-US" sz="2400" dirty="0"/>
          </a:p>
        </p:txBody>
      </p:sp>
      <p:sp>
        <p:nvSpPr>
          <p:cNvPr id="6" name="Text 4"/>
          <p:cNvSpPr/>
          <p:nvPr/>
        </p:nvSpPr>
        <p:spPr>
          <a:xfrm>
            <a:off x="833199" y="5055394"/>
            <a:ext cx="6191607" cy="762000"/>
          </a:xfrm>
          <a:prstGeom prst="rect">
            <a:avLst/>
          </a:prstGeom>
          <a:noFill/>
          <a:ln/>
        </p:spPr>
        <p:txBody>
          <a:bodyPr wrap="square" lIns="0" tIns="0" rIns="0" bIns="0" rtlCol="0" anchor="t"/>
          <a:lstStyle/>
          <a:p>
            <a:pPr algn="l" marL="342900" indent="-342900">
              <a:lnSpc>
                <a:spcPts val="2950"/>
              </a:lnSpc>
              <a:buSzPct val="100000"/>
              <a:buChar char="•"/>
            </a:pPr>
            <a:r>
              <a:rPr lang="en-US" sz="1850" b="1" dirty="0">
                <a:solidFill>
                  <a:srgbClr val="272525"/>
                </a:solidFill>
                <a:latin typeface="Inter" pitchFamily="34" charset="0"/>
                <a:ea typeface="Inter" pitchFamily="34" charset="-122"/>
                <a:cs typeface="Inter" pitchFamily="34" charset="-120"/>
              </a:rPr>
              <a:t>L1 Regularization (Lasso)</a:t>
            </a:r>
            <a:pPr algn="l" indent="0" marL="0">
              <a:lnSpc>
                <a:spcPts val="2950"/>
              </a:lnSpc>
              <a:buNone/>
            </a:pPr>
            <a:r>
              <a:rPr lang="en-US" sz="1850" dirty="0">
                <a:solidFill>
                  <a:srgbClr val="272525"/>
                </a:solidFill>
                <a:latin typeface="Inter" pitchFamily="34" charset="0"/>
                <a:ea typeface="Inter" pitchFamily="34" charset="-122"/>
                <a:cs typeface="Inter" pitchFamily="34" charset="-120"/>
              </a:rPr>
              <a:t>: Adds the sum of absolute values of parameters</a:t>
            </a:r>
            <a:endParaRPr lang="en-US" sz="1850" dirty="0"/>
          </a:p>
        </p:txBody>
      </p:sp>
      <p:sp>
        <p:nvSpPr>
          <p:cNvPr id="7" name="Text 5"/>
          <p:cNvSpPr/>
          <p:nvPr/>
        </p:nvSpPr>
        <p:spPr>
          <a:xfrm>
            <a:off x="833199" y="5900618"/>
            <a:ext cx="6191607" cy="762000"/>
          </a:xfrm>
          <a:prstGeom prst="rect">
            <a:avLst/>
          </a:prstGeom>
          <a:noFill/>
          <a:ln/>
        </p:spPr>
        <p:txBody>
          <a:bodyPr wrap="square" lIns="0" tIns="0" rIns="0" bIns="0" rtlCol="0" anchor="t"/>
          <a:lstStyle/>
          <a:p>
            <a:pPr algn="l" marL="342900" indent="-342900">
              <a:lnSpc>
                <a:spcPts val="2950"/>
              </a:lnSpc>
              <a:buSzPct val="100000"/>
              <a:buChar char="•"/>
            </a:pPr>
            <a:r>
              <a:rPr lang="en-US" sz="1850" b="1" dirty="0">
                <a:solidFill>
                  <a:srgbClr val="272525"/>
                </a:solidFill>
                <a:latin typeface="Inter" pitchFamily="34" charset="0"/>
                <a:ea typeface="Inter" pitchFamily="34" charset="-122"/>
                <a:cs typeface="Inter" pitchFamily="34" charset="-120"/>
              </a:rPr>
              <a:t>L2 Regularization (Ridge)</a:t>
            </a:r>
            <a:pPr algn="l" indent="0" marL="0">
              <a:lnSpc>
                <a:spcPts val="2950"/>
              </a:lnSpc>
              <a:buNone/>
            </a:pPr>
            <a:r>
              <a:rPr lang="en-US" sz="1850" dirty="0">
                <a:solidFill>
                  <a:srgbClr val="272525"/>
                </a:solidFill>
                <a:latin typeface="Inter" pitchFamily="34" charset="0"/>
                <a:ea typeface="Inter" pitchFamily="34" charset="-122"/>
                <a:cs typeface="Inter" pitchFamily="34" charset="-120"/>
              </a:rPr>
              <a:t>: Adds the sum of squared values of parameters</a:t>
            </a:r>
            <a:endParaRPr lang="en-US" sz="1850" dirty="0"/>
          </a:p>
        </p:txBody>
      </p:sp>
      <p:sp>
        <p:nvSpPr>
          <p:cNvPr id="8" name="Text 6"/>
          <p:cNvSpPr/>
          <p:nvPr/>
        </p:nvSpPr>
        <p:spPr>
          <a:xfrm>
            <a:off x="833199" y="6745843"/>
            <a:ext cx="6191607" cy="381000"/>
          </a:xfrm>
          <a:prstGeom prst="rect">
            <a:avLst/>
          </a:prstGeom>
          <a:noFill/>
          <a:ln/>
        </p:spPr>
        <p:txBody>
          <a:bodyPr wrap="none" lIns="0" tIns="0" rIns="0" bIns="0" rtlCol="0" anchor="t"/>
          <a:lstStyle/>
          <a:p>
            <a:pPr algn="l" marL="342900" indent="-342900">
              <a:lnSpc>
                <a:spcPts val="2950"/>
              </a:lnSpc>
              <a:buSzPct val="100000"/>
              <a:buChar char="•"/>
            </a:pPr>
            <a:r>
              <a:rPr lang="en-US" sz="1850" b="1" dirty="0">
                <a:solidFill>
                  <a:srgbClr val="272525"/>
                </a:solidFill>
                <a:latin typeface="Inter" pitchFamily="34" charset="0"/>
                <a:ea typeface="Inter" pitchFamily="34" charset="-122"/>
                <a:cs typeface="Inter" pitchFamily="34" charset="-120"/>
              </a:rPr>
              <a:t>Elastic Net</a:t>
            </a:r>
            <a:pPr algn="l" indent="0" marL="0">
              <a:lnSpc>
                <a:spcPts val="2950"/>
              </a:lnSpc>
              <a:buNone/>
            </a:pPr>
            <a:r>
              <a:rPr lang="en-US" sz="1850" dirty="0">
                <a:solidFill>
                  <a:srgbClr val="272525"/>
                </a:solidFill>
                <a:latin typeface="Inter" pitchFamily="34" charset="0"/>
                <a:ea typeface="Inter" pitchFamily="34" charset="-122"/>
                <a:cs typeface="Inter" pitchFamily="34" charset="-120"/>
              </a:rPr>
              <a:t>: Combines both L1 and L2 regularization</a:t>
            </a:r>
            <a:endParaRPr lang="en-US" sz="1850" dirty="0"/>
          </a:p>
        </p:txBody>
      </p:sp>
      <p:sp>
        <p:nvSpPr>
          <p:cNvPr id="9" name="Text 7"/>
          <p:cNvSpPr/>
          <p:nvPr/>
        </p:nvSpPr>
        <p:spPr>
          <a:xfrm>
            <a:off x="7613213" y="2041088"/>
            <a:ext cx="3980974" cy="388144"/>
          </a:xfrm>
          <a:prstGeom prst="rect">
            <a:avLst/>
          </a:prstGeom>
          <a:noFill/>
          <a:ln/>
        </p:spPr>
        <p:txBody>
          <a:bodyPr wrap="none" lIns="0" tIns="0" rIns="0" bIns="0" rtlCol="0" anchor="t"/>
          <a:lstStyle/>
          <a:p>
            <a:pPr algn="l" indent="0" marL="0">
              <a:lnSpc>
                <a:spcPts val="3050"/>
              </a:lnSpc>
              <a:buNone/>
            </a:pPr>
            <a:r>
              <a:rPr lang="en-US" sz="2400" b="1" dirty="0">
                <a:solidFill>
                  <a:srgbClr val="000000"/>
                </a:solidFill>
                <a:latin typeface="Inter Bold" pitchFamily="34" charset="0"/>
                <a:ea typeface="Inter Bold" pitchFamily="34" charset="-122"/>
                <a:cs typeface="Inter Bold" pitchFamily="34" charset="-120"/>
              </a:rPr>
              <a:t>Regularized Cost Function</a:t>
            </a:r>
            <a:endParaRPr lang="en-US" sz="2400" dirty="0"/>
          </a:p>
        </p:txBody>
      </p:sp>
      <p:sp>
        <p:nvSpPr>
          <p:cNvPr id="10" name="Shape 8"/>
          <p:cNvSpPr/>
          <p:nvPr/>
        </p:nvSpPr>
        <p:spPr>
          <a:xfrm>
            <a:off x="7613213" y="2697004"/>
            <a:ext cx="6191607" cy="737949"/>
          </a:xfrm>
          <a:prstGeom prst="roundRect">
            <a:avLst>
              <a:gd name="adj" fmla="val 13550"/>
            </a:avLst>
          </a:prstGeom>
          <a:solidFill>
            <a:srgbClr val="DADBF1"/>
          </a:solidFill>
          <a:ln/>
        </p:spPr>
      </p:sp>
      <p:sp>
        <p:nvSpPr>
          <p:cNvPr id="11" name="Shape 9"/>
          <p:cNvSpPr/>
          <p:nvPr/>
        </p:nvSpPr>
        <p:spPr>
          <a:xfrm>
            <a:off x="7601426" y="2697004"/>
            <a:ext cx="6215182" cy="737949"/>
          </a:xfrm>
          <a:prstGeom prst="roundRect">
            <a:avLst>
              <a:gd name="adj" fmla="val 4839"/>
            </a:avLst>
          </a:prstGeom>
          <a:solidFill>
            <a:srgbClr val="DADBF1"/>
          </a:solidFill>
          <a:ln/>
        </p:spPr>
      </p:sp>
      <p:sp>
        <p:nvSpPr>
          <p:cNvPr id="12" name="Text 10"/>
          <p:cNvSpPr/>
          <p:nvPr/>
        </p:nvSpPr>
        <p:spPr>
          <a:xfrm>
            <a:off x="7839432" y="2875478"/>
            <a:ext cx="5739170" cy="381000"/>
          </a:xfrm>
          <a:prstGeom prst="rect">
            <a:avLst/>
          </a:prstGeom>
          <a:noFill/>
          <a:ln/>
        </p:spPr>
        <p:txBody>
          <a:bodyPr wrap="none" lIns="0" tIns="0" rIns="0" bIns="0" rtlCol="0" anchor="t"/>
          <a:lstStyle/>
          <a:p>
            <a:pPr algn="l" indent="0" marL="0">
              <a:lnSpc>
                <a:spcPts val="2950"/>
              </a:lnSpc>
              <a:buNone/>
            </a:pPr>
            <a:r>
              <a:rPr lang="en-US" sz="1850" dirty="0">
                <a:solidFill>
                  <a:srgbClr val="272525"/>
                </a:solidFill>
                <a:highlight>
                  <a:srgbClr val="DADBF1"/>
                </a:highlight>
                <a:latin typeface="Consolas" pitchFamily="34" charset="0"/>
                <a:ea typeface="Consolas" pitchFamily="34" charset="-122"/>
                <a:cs typeface="Consolas" pitchFamily="34" charset="-120"/>
              </a:rPr>
              <a:t>J(θ)_reg = J(θ) + λ × R(θ)</a:t>
            </a:r>
            <a:endParaRPr lang="en-US" sz="1850" dirty="0"/>
          </a:p>
        </p:txBody>
      </p:sp>
      <p:sp>
        <p:nvSpPr>
          <p:cNvPr id="13" name="Text 11"/>
          <p:cNvSpPr/>
          <p:nvPr/>
        </p:nvSpPr>
        <p:spPr>
          <a:xfrm>
            <a:off x="7613213" y="3702725"/>
            <a:ext cx="6191607" cy="381000"/>
          </a:xfrm>
          <a:prstGeom prst="rect">
            <a:avLst/>
          </a:prstGeom>
          <a:noFill/>
          <a:ln/>
        </p:spPr>
        <p:txBody>
          <a:bodyPr wrap="none" lIns="0" tIns="0" rIns="0" bIns="0" rtlCol="0" anchor="t"/>
          <a:lstStyle/>
          <a:p>
            <a:pPr algn="l" indent="0" marL="0">
              <a:lnSpc>
                <a:spcPts val="2950"/>
              </a:lnSpc>
              <a:buNone/>
            </a:pPr>
            <a:r>
              <a:rPr lang="en-US" sz="1850" dirty="0">
                <a:solidFill>
                  <a:srgbClr val="272525"/>
                </a:solidFill>
                <a:latin typeface="Inter" pitchFamily="34" charset="0"/>
                <a:ea typeface="Inter" pitchFamily="34" charset="-122"/>
                <a:cs typeface="Inter" pitchFamily="34" charset="-120"/>
              </a:rPr>
              <a:t>Where:</a:t>
            </a:r>
            <a:endParaRPr lang="en-US" sz="1850" dirty="0"/>
          </a:p>
        </p:txBody>
      </p:sp>
      <p:sp>
        <p:nvSpPr>
          <p:cNvPr id="14" name="Text 12"/>
          <p:cNvSpPr/>
          <p:nvPr/>
        </p:nvSpPr>
        <p:spPr>
          <a:xfrm>
            <a:off x="7613213" y="4297918"/>
            <a:ext cx="6191607" cy="381000"/>
          </a:xfrm>
          <a:prstGeom prst="rect">
            <a:avLst/>
          </a:prstGeom>
          <a:noFill/>
          <a:ln/>
        </p:spPr>
        <p:txBody>
          <a:bodyPr wrap="none" lIns="0" tIns="0" rIns="0" bIns="0" rtlCol="0" anchor="t"/>
          <a:lstStyle/>
          <a:p>
            <a:pPr algn="l" marL="342900" indent="-342900">
              <a:lnSpc>
                <a:spcPts val="2950"/>
              </a:lnSpc>
              <a:buSzPct val="100000"/>
              <a:buChar char="•"/>
            </a:pPr>
            <a:r>
              <a:rPr lang="en-US" sz="1850" dirty="0">
                <a:solidFill>
                  <a:srgbClr val="272525"/>
                </a:solidFill>
                <a:latin typeface="Inter" pitchFamily="34" charset="0"/>
                <a:ea typeface="Inter" pitchFamily="34" charset="-122"/>
                <a:cs typeface="Inter" pitchFamily="34" charset="-120"/>
              </a:rPr>
              <a:t>J(θ) is the original cost function</a:t>
            </a:r>
            <a:endParaRPr lang="en-US" sz="1850" dirty="0"/>
          </a:p>
        </p:txBody>
      </p:sp>
      <p:sp>
        <p:nvSpPr>
          <p:cNvPr id="15" name="Text 13"/>
          <p:cNvSpPr/>
          <p:nvPr/>
        </p:nvSpPr>
        <p:spPr>
          <a:xfrm>
            <a:off x="7613213" y="4762143"/>
            <a:ext cx="6191607" cy="381000"/>
          </a:xfrm>
          <a:prstGeom prst="rect">
            <a:avLst/>
          </a:prstGeom>
          <a:noFill/>
          <a:ln/>
        </p:spPr>
        <p:txBody>
          <a:bodyPr wrap="none" lIns="0" tIns="0" rIns="0" bIns="0" rtlCol="0" anchor="t"/>
          <a:lstStyle/>
          <a:p>
            <a:pPr algn="l" marL="342900" indent="-342900">
              <a:lnSpc>
                <a:spcPts val="2950"/>
              </a:lnSpc>
              <a:buSzPct val="100000"/>
              <a:buChar char="•"/>
            </a:pPr>
            <a:r>
              <a:rPr lang="en-US" sz="1850" dirty="0">
                <a:solidFill>
                  <a:srgbClr val="272525"/>
                </a:solidFill>
                <a:latin typeface="Inter" pitchFamily="34" charset="0"/>
                <a:ea typeface="Inter" pitchFamily="34" charset="-122"/>
                <a:cs typeface="Inter" pitchFamily="34" charset="-120"/>
              </a:rPr>
              <a:t>R(θ) is the regularization term</a:t>
            </a:r>
            <a:endParaRPr lang="en-US" sz="1850" dirty="0"/>
          </a:p>
        </p:txBody>
      </p:sp>
      <p:sp>
        <p:nvSpPr>
          <p:cNvPr id="16" name="Text 14"/>
          <p:cNvSpPr/>
          <p:nvPr/>
        </p:nvSpPr>
        <p:spPr>
          <a:xfrm>
            <a:off x="7613213" y="5226368"/>
            <a:ext cx="6191607" cy="762000"/>
          </a:xfrm>
          <a:prstGeom prst="rect">
            <a:avLst/>
          </a:prstGeom>
          <a:noFill/>
          <a:ln/>
        </p:spPr>
        <p:txBody>
          <a:bodyPr wrap="square" lIns="0" tIns="0" rIns="0" bIns="0" rtlCol="0" anchor="t"/>
          <a:lstStyle/>
          <a:p>
            <a:pPr algn="l" marL="342900" indent="-342900">
              <a:lnSpc>
                <a:spcPts val="2950"/>
              </a:lnSpc>
              <a:buSzPct val="100000"/>
              <a:buChar char="•"/>
            </a:pPr>
            <a:r>
              <a:rPr lang="en-US" sz="1850" dirty="0">
                <a:solidFill>
                  <a:srgbClr val="272525"/>
                </a:solidFill>
                <a:latin typeface="Inter" pitchFamily="34" charset="0"/>
                <a:ea typeface="Inter" pitchFamily="34" charset="-122"/>
                <a:cs typeface="Inter" pitchFamily="34" charset="-120"/>
              </a:rPr>
              <a:t>λ is the regularization parameter that controls the strength of the penalty</a:t>
            </a:r>
            <a:endParaRPr lang="en-US" sz="1850" dirty="0"/>
          </a:p>
        </p:txBody>
      </p:sp>
      <p:sp>
        <p:nvSpPr>
          <p:cNvPr id="17" name="Text 15"/>
          <p:cNvSpPr/>
          <p:nvPr/>
        </p:nvSpPr>
        <p:spPr>
          <a:xfrm>
            <a:off x="7613213" y="6202561"/>
            <a:ext cx="6191607" cy="1143000"/>
          </a:xfrm>
          <a:prstGeom prst="rect">
            <a:avLst/>
          </a:prstGeom>
          <a:noFill/>
          <a:ln/>
        </p:spPr>
        <p:txBody>
          <a:bodyPr wrap="square" lIns="0" tIns="0" rIns="0" bIns="0" rtlCol="0" anchor="t"/>
          <a:lstStyle/>
          <a:p>
            <a:pPr algn="l" indent="0" marL="0">
              <a:lnSpc>
                <a:spcPts val="2950"/>
              </a:lnSpc>
              <a:buNone/>
            </a:pPr>
            <a:r>
              <a:rPr lang="en-US" sz="1850" dirty="0">
                <a:solidFill>
                  <a:srgbClr val="272525"/>
                </a:solidFill>
                <a:latin typeface="Inter" pitchFamily="34" charset="0"/>
                <a:ea typeface="Inter" pitchFamily="34" charset="-122"/>
                <a:cs typeface="Inter" pitchFamily="34" charset="-120"/>
              </a:rPr>
              <a:t>Larger values of λ result in simpler models with smaller parameter values, potentially reducing overfitting at the cost of increased bias.</a:t>
            </a:r>
            <a:endParaRPr lang="en-US" sz="1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5576" y="767953"/>
            <a:ext cx="11773853" cy="741283"/>
          </a:xfrm>
          <a:prstGeom prst="rect">
            <a:avLst/>
          </a:prstGeom>
          <a:noFill/>
          <a:ln/>
        </p:spPr>
        <p:txBody>
          <a:bodyPr wrap="none" lIns="0" tIns="0" rIns="0" bIns="0" rtlCol="0" anchor="t"/>
          <a:lstStyle/>
          <a:p>
            <a:pPr algn="l" indent="0" marL="0">
              <a:lnSpc>
                <a:spcPts val="5800"/>
              </a:lnSpc>
              <a:buNone/>
            </a:pPr>
            <a:r>
              <a:rPr lang="en-US" sz="4650" b="1" dirty="0">
                <a:solidFill>
                  <a:srgbClr val="000000"/>
                </a:solidFill>
                <a:latin typeface="Inter Bold" pitchFamily="34" charset="0"/>
                <a:ea typeface="Inter Bold" pitchFamily="34" charset="-122"/>
                <a:cs typeface="Inter Bold" pitchFamily="34" charset="-120"/>
              </a:rPr>
              <a:t>Practical Implementation Considerations</a:t>
            </a:r>
            <a:endParaRPr lang="en-US" sz="4650" dirty="0"/>
          </a:p>
        </p:txBody>
      </p:sp>
      <p:sp>
        <p:nvSpPr>
          <p:cNvPr id="3" name="Shape 1"/>
          <p:cNvSpPr/>
          <p:nvPr/>
        </p:nvSpPr>
        <p:spPr>
          <a:xfrm>
            <a:off x="7299960" y="1850112"/>
            <a:ext cx="30480" cy="5611535"/>
          </a:xfrm>
          <a:prstGeom prst="roundRect">
            <a:avLst>
              <a:gd name="adj" fmla="val 313227"/>
            </a:avLst>
          </a:prstGeom>
          <a:solidFill>
            <a:srgbClr val="C0C1D7"/>
          </a:solidFill>
          <a:ln/>
        </p:spPr>
      </p:sp>
      <p:sp>
        <p:nvSpPr>
          <p:cNvPr id="4" name="Shape 2"/>
          <p:cNvSpPr/>
          <p:nvPr/>
        </p:nvSpPr>
        <p:spPr>
          <a:xfrm>
            <a:off x="6408122" y="2090499"/>
            <a:ext cx="681871" cy="30480"/>
          </a:xfrm>
          <a:prstGeom prst="roundRect">
            <a:avLst>
              <a:gd name="adj" fmla="val 313227"/>
            </a:avLst>
          </a:prstGeom>
          <a:solidFill>
            <a:srgbClr val="C0C1D7"/>
          </a:solidFill>
          <a:ln/>
        </p:spPr>
      </p:sp>
      <p:sp>
        <p:nvSpPr>
          <p:cNvPr id="5" name="Shape 3"/>
          <p:cNvSpPr/>
          <p:nvPr/>
        </p:nvSpPr>
        <p:spPr>
          <a:xfrm>
            <a:off x="7059513" y="1850112"/>
            <a:ext cx="511373" cy="511373"/>
          </a:xfrm>
          <a:prstGeom prst="roundRect">
            <a:avLst>
              <a:gd name="adj" fmla="val 18670"/>
            </a:avLst>
          </a:prstGeom>
          <a:solidFill>
            <a:srgbClr val="DADBF1"/>
          </a:solidFill>
          <a:ln w="7620">
            <a:solidFill>
              <a:srgbClr val="C0C1D7"/>
            </a:solidFill>
            <a:prstDash val="solid"/>
          </a:ln>
        </p:spPr>
      </p:sp>
      <p:pic>
        <p:nvPicPr>
          <p:cNvPr id="6" name="Image 0" descr="preencoded.png">    </p:cNvPr>
          <p:cNvPicPr>
            <a:picLocks noChangeAspect="1"/>
          </p:cNvPicPr>
          <p:nvPr/>
        </p:nvPicPr>
        <p:blipFill>
          <a:blip r:embed="rId1"/>
          <a:stretch>
            <a:fillRect/>
          </a:stretch>
        </p:blipFill>
        <p:spPr>
          <a:xfrm>
            <a:off x="7137261" y="1883390"/>
            <a:ext cx="355759" cy="444698"/>
          </a:xfrm>
          <a:prstGeom prst="rect">
            <a:avLst/>
          </a:prstGeom>
        </p:spPr>
      </p:pic>
      <p:sp>
        <p:nvSpPr>
          <p:cNvPr id="7" name="Text 4"/>
          <p:cNvSpPr/>
          <p:nvPr/>
        </p:nvSpPr>
        <p:spPr>
          <a:xfrm>
            <a:off x="3213854" y="1928217"/>
            <a:ext cx="2964894" cy="370523"/>
          </a:xfrm>
          <a:prstGeom prst="rect">
            <a:avLst/>
          </a:prstGeom>
          <a:noFill/>
          <a:ln/>
        </p:spPr>
        <p:txBody>
          <a:bodyPr wrap="none" lIns="0" tIns="0" rIns="0" bIns="0" rtlCol="0" anchor="t"/>
          <a:lstStyle/>
          <a:p>
            <a:pPr algn="r" indent="0" marL="0">
              <a:lnSpc>
                <a:spcPts val="2900"/>
              </a:lnSpc>
              <a:buNone/>
            </a:pPr>
            <a:r>
              <a:rPr lang="en-US" sz="2300" b="1" dirty="0">
                <a:solidFill>
                  <a:srgbClr val="272525"/>
                </a:solidFill>
                <a:latin typeface="Inter Bold" pitchFamily="34" charset="0"/>
                <a:ea typeface="Inter Bold" pitchFamily="34" charset="-122"/>
                <a:cs typeface="Inter Bold" pitchFamily="34" charset="-120"/>
              </a:rPr>
              <a:t>Feature Scaling</a:t>
            </a:r>
            <a:endParaRPr lang="en-US" sz="2300" dirty="0"/>
          </a:p>
        </p:txBody>
      </p:sp>
      <p:sp>
        <p:nvSpPr>
          <p:cNvPr id="8" name="Text 5"/>
          <p:cNvSpPr/>
          <p:nvPr/>
        </p:nvSpPr>
        <p:spPr>
          <a:xfrm>
            <a:off x="795576" y="2435066"/>
            <a:ext cx="5383173" cy="1090851"/>
          </a:xfrm>
          <a:prstGeom prst="rect">
            <a:avLst/>
          </a:prstGeom>
          <a:noFill/>
          <a:ln/>
        </p:spPr>
        <p:txBody>
          <a:bodyPr wrap="square" lIns="0" tIns="0" rIns="0" bIns="0" rtlCol="0" anchor="t"/>
          <a:lstStyle/>
          <a:p>
            <a:pPr algn="r" indent="0" marL="0">
              <a:lnSpc>
                <a:spcPts val="2850"/>
              </a:lnSpc>
              <a:buNone/>
            </a:pPr>
            <a:r>
              <a:rPr lang="en-US" sz="1750" dirty="0">
                <a:solidFill>
                  <a:srgbClr val="272525"/>
                </a:solidFill>
                <a:latin typeface="Inter" pitchFamily="34" charset="0"/>
                <a:ea typeface="Inter" pitchFamily="34" charset="-122"/>
                <a:cs typeface="Inter" pitchFamily="34" charset="-120"/>
              </a:rPr>
              <a:t>Normalize features to have similar scales (e.g., mean 0, standard deviation 1) to help gradient descent converge faster and more reliably.</a:t>
            </a:r>
            <a:endParaRPr lang="en-US" sz="1750" dirty="0"/>
          </a:p>
        </p:txBody>
      </p:sp>
      <p:sp>
        <p:nvSpPr>
          <p:cNvPr id="9" name="Shape 6"/>
          <p:cNvSpPr/>
          <p:nvPr/>
        </p:nvSpPr>
        <p:spPr>
          <a:xfrm>
            <a:off x="7540407" y="3454241"/>
            <a:ext cx="681871" cy="30480"/>
          </a:xfrm>
          <a:prstGeom prst="roundRect">
            <a:avLst>
              <a:gd name="adj" fmla="val 313227"/>
            </a:avLst>
          </a:prstGeom>
          <a:solidFill>
            <a:srgbClr val="C0C1D7"/>
          </a:solidFill>
          <a:ln/>
        </p:spPr>
      </p:sp>
      <p:sp>
        <p:nvSpPr>
          <p:cNvPr id="10" name="Shape 7"/>
          <p:cNvSpPr/>
          <p:nvPr/>
        </p:nvSpPr>
        <p:spPr>
          <a:xfrm>
            <a:off x="7059513" y="3213854"/>
            <a:ext cx="511373" cy="511373"/>
          </a:xfrm>
          <a:prstGeom prst="roundRect">
            <a:avLst>
              <a:gd name="adj" fmla="val 18670"/>
            </a:avLst>
          </a:prstGeom>
          <a:solidFill>
            <a:srgbClr val="DADBF1"/>
          </a:solidFill>
          <a:ln w="7620">
            <a:solidFill>
              <a:srgbClr val="C0C1D7"/>
            </a:solidFill>
            <a:prstDash val="solid"/>
          </a:ln>
        </p:spPr>
      </p:sp>
      <p:pic>
        <p:nvPicPr>
          <p:cNvPr id="11" name="Image 1" descr="preencoded.png">    </p:cNvPr>
          <p:cNvPicPr>
            <a:picLocks noChangeAspect="1"/>
          </p:cNvPicPr>
          <p:nvPr/>
        </p:nvPicPr>
        <p:blipFill>
          <a:blip r:embed="rId2"/>
          <a:stretch>
            <a:fillRect/>
          </a:stretch>
        </p:blipFill>
        <p:spPr>
          <a:xfrm>
            <a:off x="7137261" y="3247132"/>
            <a:ext cx="355759" cy="444698"/>
          </a:xfrm>
          <a:prstGeom prst="rect">
            <a:avLst/>
          </a:prstGeom>
        </p:spPr>
      </p:pic>
      <p:sp>
        <p:nvSpPr>
          <p:cNvPr id="12" name="Text 8"/>
          <p:cNvSpPr/>
          <p:nvPr/>
        </p:nvSpPr>
        <p:spPr>
          <a:xfrm>
            <a:off x="8451652" y="3291959"/>
            <a:ext cx="3336727" cy="370523"/>
          </a:xfrm>
          <a:prstGeom prst="rect">
            <a:avLst/>
          </a:prstGeom>
          <a:noFill/>
          <a:ln/>
        </p:spPr>
        <p:txBody>
          <a:bodyPr wrap="none" lIns="0" tIns="0" rIns="0" bIns="0" rtlCol="0" anchor="t"/>
          <a:lstStyle/>
          <a:p>
            <a:pPr algn="l" indent="0" marL="0">
              <a:lnSpc>
                <a:spcPts val="2900"/>
              </a:lnSpc>
              <a:buNone/>
            </a:pPr>
            <a:r>
              <a:rPr lang="en-US" sz="2300" b="1" dirty="0">
                <a:solidFill>
                  <a:srgbClr val="272525"/>
                </a:solidFill>
                <a:latin typeface="Inter Bold" pitchFamily="34" charset="0"/>
                <a:ea typeface="Inter Bold" pitchFamily="34" charset="-122"/>
                <a:cs typeface="Inter Bold" pitchFamily="34" charset="-120"/>
              </a:rPr>
              <a:t>Parameter Initialization</a:t>
            </a:r>
            <a:endParaRPr lang="en-US" sz="2300" dirty="0"/>
          </a:p>
        </p:txBody>
      </p:sp>
      <p:sp>
        <p:nvSpPr>
          <p:cNvPr id="13" name="Text 9"/>
          <p:cNvSpPr/>
          <p:nvPr/>
        </p:nvSpPr>
        <p:spPr>
          <a:xfrm>
            <a:off x="8451652" y="3798808"/>
            <a:ext cx="5383173" cy="1090851"/>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Initialize parameters randomly but carefully—poor initialization can lead to slow convergence or getting stuck in suboptimal solutions.</a:t>
            </a:r>
            <a:endParaRPr lang="en-US" sz="1750" dirty="0"/>
          </a:p>
        </p:txBody>
      </p:sp>
      <p:sp>
        <p:nvSpPr>
          <p:cNvPr id="14" name="Shape 10"/>
          <p:cNvSpPr/>
          <p:nvPr/>
        </p:nvSpPr>
        <p:spPr>
          <a:xfrm>
            <a:off x="6408122" y="4629745"/>
            <a:ext cx="681871" cy="30480"/>
          </a:xfrm>
          <a:prstGeom prst="roundRect">
            <a:avLst>
              <a:gd name="adj" fmla="val 313227"/>
            </a:avLst>
          </a:prstGeom>
          <a:solidFill>
            <a:srgbClr val="C0C1D7"/>
          </a:solidFill>
          <a:ln/>
        </p:spPr>
      </p:sp>
      <p:sp>
        <p:nvSpPr>
          <p:cNvPr id="15" name="Shape 11"/>
          <p:cNvSpPr/>
          <p:nvPr/>
        </p:nvSpPr>
        <p:spPr>
          <a:xfrm>
            <a:off x="7059513" y="4389358"/>
            <a:ext cx="511373" cy="511373"/>
          </a:xfrm>
          <a:prstGeom prst="roundRect">
            <a:avLst>
              <a:gd name="adj" fmla="val 18670"/>
            </a:avLst>
          </a:prstGeom>
          <a:solidFill>
            <a:srgbClr val="DADBF1"/>
          </a:solidFill>
          <a:ln w="7620">
            <a:solidFill>
              <a:srgbClr val="C0C1D7"/>
            </a:solidFill>
            <a:prstDash val="solid"/>
          </a:ln>
        </p:spPr>
      </p:sp>
      <p:pic>
        <p:nvPicPr>
          <p:cNvPr id="16" name="Image 2" descr="preencoded.png">    </p:cNvPr>
          <p:cNvPicPr>
            <a:picLocks noChangeAspect="1"/>
          </p:cNvPicPr>
          <p:nvPr/>
        </p:nvPicPr>
        <p:blipFill>
          <a:blip r:embed="rId3"/>
          <a:stretch>
            <a:fillRect/>
          </a:stretch>
        </p:blipFill>
        <p:spPr>
          <a:xfrm>
            <a:off x="7137261" y="4422636"/>
            <a:ext cx="355759" cy="444698"/>
          </a:xfrm>
          <a:prstGeom prst="rect">
            <a:avLst/>
          </a:prstGeom>
        </p:spPr>
      </p:pic>
      <p:sp>
        <p:nvSpPr>
          <p:cNvPr id="17" name="Text 12"/>
          <p:cNvSpPr/>
          <p:nvPr/>
        </p:nvSpPr>
        <p:spPr>
          <a:xfrm>
            <a:off x="3087410" y="4467463"/>
            <a:ext cx="3091339" cy="370523"/>
          </a:xfrm>
          <a:prstGeom prst="rect">
            <a:avLst/>
          </a:prstGeom>
          <a:noFill/>
          <a:ln/>
        </p:spPr>
        <p:txBody>
          <a:bodyPr wrap="none" lIns="0" tIns="0" rIns="0" bIns="0" rtlCol="0" anchor="t"/>
          <a:lstStyle/>
          <a:p>
            <a:pPr algn="r" indent="0" marL="0">
              <a:lnSpc>
                <a:spcPts val="2900"/>
              </a:lnSpc>
              <a:buNone/>
            </a:pPr>
            <a:r>
              <a:rPr lang="en-US" sz="2300" b="1" dirty="0">
                <a:solidFill>
                  <a:srgbClr val="272525"/>
                </a:solidFill>
                <a:latin typeface="Inter Bold" pitchFamily="34" charset="0"/>
                <a:ea typeface="Inter Bold" pitchFamily="34" charset="-122"/>
                <a:cs typeface="Inter Bold" pitchFamily="34" charset="-120"/>
              </a:rPr>
              <a:t>Convergence Criteria</a:t>
            </a:r>
            <a:endParaRPr lang="en-US" sz="2300" dirty="0"/>
          </a:p>
        </p:txBody>
      </p:sp>
      <p:sp>
        <p:nvSpPr>
          <p:cNvPr id="18" name="Text 13"/>
          <p:cNvSpPr/>
          <p:nvPr/>
        </p:nvSpPr>
        <p:spPr>
          <a:xfrm>
            <a:off x="795576" y="4974312"/>
            <a:ext cx="5383173" cy="1090851"/>
          </a:xfrm>
          <a:prstGeom prst="rect">
            <a:avLst/>
          </a:prstGeom>
          <a:noFill/>
          <a:ln/>
        </p:spPr>
        <p:txBody>
          <a:bodyPr wrap="square" lIns="0" tIns="0" rIns="0" bIns="0" rtlCol="0" anchor="t"/>
          <a:lstStyle/>
          <a:p>
            <a:pPr algn="r" indent="0" marL="0">
              <a:lnSpc>
                <a:spcPts val="2850"/>
              </a:lnSpc>
              <a:buNone/>
            </a:pPr>
            <a:r>
              <a:rPr lang="en-US" sz="1750" dirty="0">
                <a:solidFill>
                  <a:srgbClr val="272525"/>
                </a:solidFill>
                <a:latin typeface="Inter" pitchFamily="34" charset="0"/>
                <a:ea typeface="Inter" pitchFamily="34" charset="-122"/>
                <a:cs typeface="Inter" pitchFamily="34" charset="-120"/>
              </a:rPr>
              <a:t>Define clear stopping conditions, such as a minimum change in cost or maximum number of iterations, to determine when to stop training.</a:t>
            </a:r>
            <a:endParaRPr lang="en-US" sz="1750" dirty="0"/>
          </a:p>
        </p:txBody>
      </p:sp>
      <p:sp>
        <p:nvSpPr>
          <p:cNvPr id="19" name="Shape 14"/>
          <p:cNvSpPr/>
          <p:nvPr/>
        </p:nvSpPr>
        <p:spPr>
          <a:xfrm>
            <a:off x="7540407" y="5805368"/>
            <a:ext cx="681871" cy="30480"/>
          </a:xfrm>
          <a:prstGeom prst="roundRect">
            <a:avLst>
              <a:gd name="adj" fmla="val 313227"/>
            </a:avLst>
          </a:prstGeom>
          <a:solidFill>
            <a:srgbClr val="C0C1D7"/>
          </a:solidFill>
          <a:ln/>
        </p:spPr>
      </p:sp>
      <p:sp>
        <p:nvSpPr>
          <p:cNvPr id="20" name="Shape 15"/>
          <p:cNvSpPr/>
          <p:nvPr/>
        </p:nvSpPr>
        <p:spPr>
          <a:xfrm>
            <a:off x="7059513" y="5564981"/>
            <a:ext cx="511373" cy="511373"/>
          </a:xfrm>
          <a:prstGeom prst="roundRect">
            <a:avLst>
              <a:gd name="adj" fmla="val 18670"/>
            </a:avLst>
          </a:prstGeom>
          <a:solidFill>
            <a:srgbClr val="DADBF1"/>
          </a:solidFill>
          <a:ln w="7620">
            <a:solidFill>
              <a:srgbClr val="C0C1D7"/>
            </a:solidFill>
            <a:prstDash val="solid"/>
          </a:ln>
        </p:spPr>
      </p:sp>
      <p:pic>
        <p:nvPicPr>
          <p:cNvPr id="21" name="Image 3" descr="preencoded.png">    </p:cNvPr>
          <p:cNvPicPr>
            <a:picLocks noChangeAspect="1"/>
          </p:cNvPicPr>
          <p:nvPr/>
        </p:nvPicPr>
        <p:blipFill>
          <a:blip r:embed="rId4"/>
          <a:stretch>
            <a:fillRect/>
          </a:stretch>
        </p:blipFill>
        <p:spPr>
          <a:xfrm>
            <a:off x="7137261" y="5598259"/>
            <a:ext cx="355759" cy="444698"/>
          </a:xfrm>
          <a:prstGeom prst="rect">
            <a:avLst/>
          </a:prstGeom>
        </p:spPr>
      </p:pic>
      <p:sp>
        <p:nvSpPr>
          <p:cNvPr id="22" name="Text 16"/>
          <p:cNvSpPr/>
          <p:nvPr/>
        </p:nvSpPr>
        <p:spPr>
          <a:xfrm>
            <a:off x="8451652" y="5643086"/>
            <a:ext cx="2964894" cy="370523"/>
          </a:xfrm>
          <a:prstGeom prst="rect">
            <a:avLst/>
          </a:prstGeom>
          <a:noFill/>
          <a:ln/>
        </p:spPr>
        <p:txBody>
          <a:bodyPr wrap="none" lIns="0" tIns="0" rIns="0" bIns="0" rtlCol="0" anchor="t"/>
          <a:lstStyle/>
          <a:p>
            <a:pPr algn="l" indent="0" marL="0">
              <a:lnSpc>
                <a:spcPts val="2900"/>
              </a:lnSpc>
              <a:buNone/>
            </a:pPr>
            <a:r>
              <a:rPr lang="en-US" sz="2300" b="1" dirty="0">
                <a:solidFill>
                  <a:srgbClr val="272525"/>
                </a:solidFill>
                <a:latin typeface="Inter Bold" pitchFamily="34" charset="0"/>
                <a:ea typeface="Inter Bold" pitchFamily="34" charset="-122"/>
                <a:cs typeface="Inter Bold" pitchFamily="34" charset="-120"/>
              </a:rPr>
              <a:t>Debugging</a:t>
            </a:r>
            <a:endParaRPr lang="en-US" sz="2300" dirty="0"/>
          </a:p>
        </p:txBody>
      </p:sp>
      <p:sp>
        <p:nvSpPr>
          <p:cNvPr id="23" name="Text 17"/>
          <p:cNvSpPr/>
          <p:nvPr/>
        </p:nvSpPr>
        <p:spPr>
          <a:xfrm>
            <a:off x="8451652" y="6149935"/>
            <a:ext cx="5383173" cy="1090851"/>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Monitor the cost function during training to ensure it's decreasing. If not, adjust the learning rate or check for implementation errors.</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31959" y="339447"/>
            <a:ext cx="5083373" cy="402550"/>
          </a:xfrm>
          <a:prstGeom prst="rect">
            <a:avLst/>
          </a:prstGeom>
          <a:noFill/>
          <a:ln/>
        </p:spPr>
        <p:txBody>
          <a:bodyPr wrap="none" lIns="0" tIns="0" rIns="0" bIns="0" rtlCol="0" anchor="t"/>
          <a:lstStyle/>
          <a:p>
            <a:pPr algn="l" indent="0" marL="0">
              <a:lnSpc>
                <a:spcPts val="3150"/>
              </a:lnSpc>
              <a:buNone/>
            </a:pPr>
            <a:r>
              <a:rPr lang="en-US" sz="2500" b="1" dirty="0">
                <a:solidFill>
                  <a:srgbClr val="000000"/>
                </a:solidFill>
                <a:latin typeface="Inter Bold" pitchFamily="34" charset="0"/>
                <a:ea typeface="Inter Bold" pitchFamily="34" charset="-122"/>
                <a:cs typeface="Inter Bold" pitchFamily="34" charset="-120"/>
              </a:rPr>
              <a:t>Python Implementation Example</a:t>
            </a:r>
            <a:endParaRPr lang="en-US" sz="2500" dirty="0"/>
          </a:p>
        </p:txBody>
      </p:sp>
      <p:sp>
        <p:nvSpPr>
          <p:cNvPr id="3" name="Shape 1"/>
          <p:cNvSpPr/>
          <p:nvPr/>
        </p:nvSpPr>
        <p:spPr>
          <a:xfrm>
            <a:off x="431959" y="1065967"/>
            <a:ext cx="6732746" cy="8481060"/>
          </a:xfrm>
          <a:prstGeom prst="roundRect">
            <a:avLst>
              <a:gd name="adj" fmla="val 770"/>
            </a:avLst>
          </a:prstGeom>
          <a:solidFill>
            <a:srgbClr val="DADBF1"/>
          </a:solidFill>
          <a:ln/>
        </p:spPr>
      </p:sp>
      <p:sp>
        <p:nvSpPr>
          <p:cNvPr id="4" name="Shape 2"/>
          <p:cNvSpPr/>
          <p:nvPr/>
        </p:nvSpPr>
        <p:spPr>
          <a:xfrm>
            <a:off x="425887" y="1065967"/>
            <a:ext cx="6744891" cy="8481060"/>
          </a:xfrm>
          <a:prstGeom prst="roundRect">
            <a:avLst>
              <a:gd name="adj" fmla="val 275"/>
            </a:avLst>
          </a:prstGeom>
          <a:solidFill>
            <a:srgbClr val="DADBF1"/>
          </a:solidFill>
          <a:ln/>
        </p:spPr>
      </p:sp>
      <p:sp>
        <p:nvSpPr>
          <p:cNvPr id="5" name="Text 3"/>
          <p:cNvSpPr/>
          <p:nvPr/>
        </p:nvSpPr>
        <p:spPr>
          <a:xfrm>
            <a:off x="549235" y="1158478"/>
            <a:ext cx="6498193" cy="8296037"/>
          </a:xfrm>
          <a:prstGeom prst="rect">
            <a:avLst/>
          </a:prstGeom>
          <a:noFill/>
          <a:ln/>
        </p:spPr>
        <p:txBody>
          <a:bodyPr wrap="square" lIns="0" tIns="0" rIns="0" bIns="0" rtlCol="0" anchor="t"/>
          <a:lstStyle/>
          <a:p>
            <a:pPr algn="l" indent="0" marL="0">
              <a:lnSpc>
                <a:spcPts val="1550"/>
              </a:lnSpc>
              <a:buNone/>
            </a:pPr>
            <a:r>
              <a:rPr lang="en-US" sz="950" dirty="0">
                <a:solidFill>
                  <a:srgbClr val="272525"/>
                </a:solidFill>
                <a:highlight>
                  <a:srgbClr val="DADBF1"/>
                </a:highlight>
                <a:latin typeface="Consolas" pitchFamily="34" charset="0"/>
                <a:ea typeface="Consolas" pitchFamily="34" charset="-122"/>
                <a:cs typeface="Consolas" pitchFamily="34" charset="-120"/>
              </a:rPr>
              <a:t>import numpy as np
import matplotlib.pyplot as plt
# Sample data
X = np.array([1, 2, 3])
y = np.array([2, 4, 6])
# Initialize parameters
theta_0 = 0
theta_1 = 0
alpha = 0.1
iterations = 100
# Arrays to store history
cost_history = []
theta_0_history = []
theta_1_history = []
# Gradient descent
for i in range(iterations):
    # Predictions
    y_pred = theta_0 + theta_1 * X
    # Cost
    cost = (1/(2*len(X))) * np.sum((y_pred - y)**2)
    cost_history.append(cost)
    # Gradients
    d_theta_0 = (1/len(X)) * np.sum(y_pred - y)
    d_theta_1 = (1/len(X)) * np.sum((y_pred - y) * X)
    # Update parameters
    theta_0 = theta_0 - alpha * d_theta_0
    theta_1 = theta_1 - alpha * d_theta_1
    # Store parameters
    theta_0_history.append(theta_0)
    theta_1_history.append(theta_1)
print(f"Final parameters: theta_0 = {theta_0}, theta_1 = {theta_1}")
print(f"Final cost: {cost_history[-1]}")
</a:t>
            </a:r>
            <a:endParaRPr lang="en-US" sz="950" dirty="0"/>
          </a:p>
        </p:txBody>
      </p:sp>
      <p:sp>
        <p:nvSpPr>
          <p:cNvPr id="6" name="Text 4"/>
          <p:cNvSpPr/>
          <p:nvPr/>
        </p:nvSpPr>
        <p:spPr>
          <a:xfrm>
            <a:off x="7473315" y="1050488"/>
            <a:ext cx="1610082" cy="201216"/>
          </a:xfrm>
          <a:prstGeom prst="rect">
            <a:avLst/>
          </a:prstGeom>
          <a:noFill/>
          <a:ln/>
        </p:spPr>
        <p:txBody>
          <a:bodyPr wrap="none" lIns="0" tIns="0" rIns="0" bIns="0" rtlCol="0" anchor="t"/>
          <a:lstStyle/>
          <a:p>
            <a:pPr algn="l" indent="0" marL="0">
              <a:lnSpc>
                <a:spcPts val="1550"/>
              </a:lnSpc>
              <a:buNone/>
            </a:pPr>
            <a:r>
              <a:rPr lang="en-US" sz="1250" b="1" dirty="0">
                <a:solidFill>
                  <a:srgbClr val="000000"/>
                </a:solidFill>
                <a:latin typeface="Inter Bold" pitchFamily="34" charset="0"/>
                <a:ea typeface="Inter Bold" pitchFamily="34" charset="-122"/>
                <a:cs typeface="Inter Bold" pitchFamily="34" charset="-120"/>
              </a:rPr>
              <a:t>Code Explanation</a:t>
            </a:r>
            <a:endParaRPr lang="en-US" sz="1250" dirty="0"/>
          </a:p>
        </p:txBody>
      </p:sp>
      <p:sp>
        <p:nvSpPr>
          <p:cNvPr id="7" name="Text 5"/>
          <p:cNvSpPr/>
          <p:nvPr/>
        </p:nvSpPr>
        <p:spPr>
          <a:xfrm>
            <a:off x="7473315" y="1375053"/>
            <a:ext cx="6732746" cy="197525"/>
          </a:xfrm>
          <a:prstGeom prst="rect">
            <a:avLst/>
          </a:prstGeom>
          <a:noFill/>
          <a:ln/>
        </p:spPr>
        <p:txBody>
          <a:bodyPr wrap="none" lIns="0" tIns="0" rIns="0" bIns="0" rtlCol="0" anchor="t"/>
          <a:lstStyle/>
          <a:p>
            <a:pPr algn="l" indent="0" marL="0">
              <a:lnSpc>
                <a:spcPts val="1550"/>
              </a:lnSpc>
              <a:buNone/>
            </a:pPr>
            <a:r>
              <a:rPr lang="en-US" sz="950" dirty="0">
                <a:solidFill>
                  <a:srgbClr val="272525"/>
                </a:solidFill>
                <a:latin typeface="Inter" pitchFamily="34" charset="0"/>
                <a:ea typeface="Inter" pitchFamily="34" charset="-122"/>
                <a:cs typeface="Inter" pitchFamily="34" charset="-120"/>
              </a:rPr>
              <a:t>This Python implementation demonstrates gradient descent for our simple linear regression example. It:</a:t>
            </a:r>
            <a:endParaRPr lang="en-US" sz="950" dirty="0"/>
          </a:p>
        </p:txBody>
      </p:sp>
      <p:sp>
        <p:nvSpPr>
          <p:cNvPr id="8" name="Text 6"/>
          <p:cNvSpPr/>
          <p:nvPr/>
        </p:nvSpPr>
        <p:spPr>
          <a:xfrm>
            <a:off x="7473315" y="1683663"/>
            <a:ext cx="6732746" cy="197525"/>
          </a:xfrm>
          <a:prstGeom prst="rect">
            <a:avLst/>
          </a:prstGeom>
          <a:noFill/>
          <a:ln/>
        </p:spPr>
        <p:txBody>
          <a:bodyPr wrap="none" lIns="0" tIns="0" rIns="0" bIns="0" rtlCol="0" anchor="t"/>
          <a:lstStyle/>
          <a:p>
            <a:pPr algn="l" marL="342900" indent="-342900">
              <a:lnSpc>
                <a:spcPts val="1550"/>
              </a:lnSpc>
              <a:buSzPct val="100000"/>
              <a:buFont typeface="+mj-lt"/>
              <a:buAutoNum type="arabicPeriod" startAt="1"/>
            </a:pPr>
            <a:r>
              <a:rPr lang="en-US" sz="950" dirty="0">
                <a:solidFill>
                  <a:srgbClr val="272525"/>
                </a:solidFill>
                <a:latin typeface="Inter" pitchFamily="34" charset="0"/>
                <a:ea typeface="Inter" pitchFamily="34" charset="-122"/>
                <a:cs typeface="Inter" pitchFamily="34" charset="-120"/>
              </a:rPr>
              <a:t>Initializes parameters θ0 and θ1 to zero</a:t>
            </a:r>
            <a:endParaRPr lang="en-US" sz="950" dirty="0"/>
          </a:p>
        </p:txBody>
      </p:sp>
      <p:sp>
        <p:nvSpPr>
          <p:cNvPr id="9" name="Text 7"/>
          <p:cNvSpPr/>
          <p:nvPr/>
        </p:nvSpPr>
        <p:spPr>
          <a:xfrm>
            <a:off x="7473315" y="1924288"/>
            <a:ext cx="6732746" cy="197525"/>
          </a:xfrm>
          <a:prstGeom prst="rect">
            <a:avLst/>
          </a:prstGeom>
          <a:noFill/>
          <a:ln/>
        </p:spPr>
        <p:txBody>
          <a:bodyPr wrap="none" lIns="0" tIns="0" rIns="0" bIns="0" rtlCol="0" anchor="t"/>
          <a:lstStyle/>
          <a:p>
            <a:pPr algn="l" marL="342900" indent="-342900">
              <a:lnSpc>
                <a:spcPts val="1550"/>
              </a:lnSpc>
              <a:buSzPct val="100000"/>
              <a:buFont typeface="+mj-lt"/>
              <a:buAutoNum type="arabicPeriod" startAt="2"/>
            </a:pPr>
            <a:r>
              <a:rPr lang="en-US" sz="950" dirty="0">
                <a:solidFill>
                  <a:srgbClr val="272525"/>
                </a:solidFill>
                <a:latin typeface="Inter" pitchFamily="34" charset="0"/>
                <a:ea typeface="Inter" pitchFamily="34" charset="-122"/>
                <a:cs typeface="Inter" pitchFamily="34" charset="-120"/>
              </a:rPr>
              <a:t>Sets learning rate α to 0.1</a:t>
            </a:r>
            <a:endParaRPr lang="en-US" sz="950" dirty="0"/>
          </a:p>
        </p:txBody>
      </p:sp>
      <p:sp>
        <p:nvSpPr>
          <p:cNvPr id="10" name="Text 8"/>
          <p:cNvSpPr/>
          <p:nvPr/>
        </p:nvSpPr>
        <p:spPr>
          <a:xfrm>
            <a:off x="7473315" y="2164913"/>
            <a:ext cx="6732746" cy="197525"/>
          </a:xfrm>
          <a:prstGeom prst="rect">
            <a:avLst/>
          </a:prstGeom>
          <a:noFill/>
          <a:ln/>
        </p:spPr>
        <p:txBody>
          <a:bodyPr wrap="none" lIns="0" tIns="0" rIns="0" bIns="0" rtlCol="0" anchor="t"/>
          <a:lstStyle/>
          <a:p>
            <a:pPr algn="l" marL="342900" indent="-342900">
              <a:lnSpc>
                <a:spcPts val="1550"/>
              </a:lnSpc>
              <a:buSzPct val="100000"/>
              <a:buFont typeface="+mj-lt"/>
              <a:buAutoNum type="arabicPeriod" startAt="3"/>
            </a:pPr>
            <a:r>
              <a:rPr lang="en-US" sz="950" dirty="0">
                <a:solidFill>
                  <a:srgbClr val="272525"/>
                </a:solidFill>
                <a:latin typeface="Inter" pitchFamily="34" charset="0"/>
                <a:ea typeface="Inter" pitchFamily="34" charset="-122"/>
                <a:cs typeface="Inter" pitchFamily="34" charset="-120"/>
              </a:rPr>
              <a:t>Runs 100 iterations of gradient descent</a:t>
            </a:r>
            <a:endParaRPr lang="en-US" sz="950" dirty="0"/>
          </a:p>
        </p:txBody>
      </p:sp>
      <p:sp>
        <p:nvSpPr>
          <p:cNvPr id="11" name="Text 9"/>
          <p:cNvSpPr/>
          <p:nvPr/>
        </p:nvSpPr>
        <p:spPr>
          <a:xfrm>
            <a:off x="7473315" y="2405539"/>
            <a:ext cx="6732746" cy="197525"/>
          </a:xfrm>
          <a:prstGeom prst="rect">
            <a:avLst/>
          </a:prstGeom>
          <a:noFill/>
          <a:ln/>
        </p:spPr>
        <p:txBody>
          <a:bodyPr wrap="none" lIns="0" tIns="0" rIns="0" bIns="0" rtlCol="0" anchor="t"/>
          <a:lstStyle/>
          <a:p>
            <a:pPr algn="l" marL="342900" indent="-342900">
              <a:lnSpc>
                <a:spcPts val="1550"/>
              </a:lnSpc>
              <a:buSzPct val="100000"/>
              <a:buFont typeface="+mj-lt"/>
              <a:buAutoNum type="arabicPeriod" startAt="4"/>
            </a:pPr>
            <a:r>
              <a:rPr lang="en-US" sz="950" dirty="0">
                <a:solidFill>
                  <a:srgbClr val="272525"/>
                </a:solidFill>
                <a:latin typeface="Inter" pitchFamily="34" charset="0"/>
                <a:ea typeface="Inter" pitchFamily="34" charset="-122"/>
                <a:cs typeface="Inter" pitchFamily="34" charset="-120"/>
              </a:rPr>
              <a:t>Calculates predictions, cost, and gradients at each step</a:t>
            </a:r>
            <a:endParaRPr lang="en-US" sz="950" dirty="0"/>
          </a:p>
        </p:txBody>
      </p:sp>
      <p:sp>
        <p:nvSpPr>
          <p:cNvPr id="12" name="Text 10"/>
          <p:cNvSpPr/>
          <p:nvPr/>
        </p:nvSpPr>
        <p:spPr>
          <a:xfrm>
            <a:off x="7473315" y="2646164"/>
            <a:ext cx="6732746" cy="197525"/>
          </a:xfrm>
          <a:prstGeom prst="rect">
            <a:avLst/>
          </a:prstGeom>
          <a:noFill/>
          <a:ln/>
        </p:spPr>
        <p:txBody>
          <a:bodyPr wrap="none" lIns="0" tIns="0" rIns="0" bIns="0" rtlCol="0" anchor="t"/>
          <a:lstStyle/>
          <a:p>
            <a:pPr algn="l" marL="342900" indent="-342900">
              <a:lnSpc>
                <a:spcPts val="1550"/>
              </a:lnSpc>
              <a:buSzPct val="100000"/>
              <a:buFont typeface="+mj-lt"/>
              <a:buAutoNum type="arabicPeriod" startAt="5"/>
            </a:pPr>
            <a:r>
              <a:rPr lang="en-US" sz="950" dirty="0">
                <a:solidFill>
                  <a:srgbClr val="272525"/>
                </a:solidFill>
                <a:latin typeface="Inter" pitchFamily="34" charset="0"/>
                <a:ea typeface="Inter" pitchFamily="34" charset="-122"/>
                <a:cs typeface="Inter" pitchFamily="34" charset="-120"/>
              </a:rPr>
              <a:t>Updates parameters using the gradient descent rule</a:t>
            </a:r>
            <a:endParaRPr lang="en-US" sz="950" dirty="0"/>
          </a:p>
        </p:txBody>
      </p:sp>
      <p:sp>
        <p:nvSpPr>
          <p:cNvPr id="13" name="Text 11"/>
          <p:cNvSpPr/>
          <p:nvPr/>
        </p:nvSpPr>
        <p:spPr>
          <a:xfrm>
            <a:off x="7473315" y="2886789"/>
            <a:ext cx="6732746" cy="197525"/>
          </a:xfrm>
          <a:prstGeom prst="rect">
            <a:avLst/>
          </a:prstGeom>
          <a:noFill/>
          <a:ln/>
        </p:spPr>
        <p:txBody>
          <a:bodyPr wrap="none" lIns="0" tIns="0" rIns="0" bIns="0" rtlCol="0" anchor="t"/>
          <a:lstStyle/>
          <a:p>
            <a:pPr algn="l" marL="342900" indent="-342900">
              <a:lnSpc>
                <a:spcPts val="1550"/>
              </a:lnSpc>
              <a:buSzPct val="100000"/>
              <a:buFont typeface="+mj-lt"/>
              <a:buAutoNum type="arabicPeriod" startAt="6"/>
            </a:pPr>
            <a:r>
              <a:rPr lang="en-US" sz="950" dirty="0">
                <a:solidFill>
                  <a:srgbClr val="272525"/>
                </a:solidFill>
                <a:latin typeface="Inter" pitchFamily="34" charset="0"/>
                <a:ea typeface="Inter" pitchFamily="34" charset="-122"/>
                <a:cs typeface="Inter" pitchFamily="34" charset="-120"/>
              </a:rPr>
              <a:t>Tracks the history of cost and parameters</a:t>
            </a:r>
            <a:endParaRPr lang="en-US" sz="950" dirty="0"/>
          </a:p>
        </p:txBody>
      </p:sp>
      <p:sp>
        <p:nvSpPr>
          <p:cNvPr id="14" name="Text 12"/>
          <p:cNvSpPr/>
          <p:nvPr/>
        </p:nvSpPr>
        <p:spPr>
          <a:xfrm>
            <a:off x="7473315" y="3195399"/>
            <a:ext cx="6732746" cy="197525"/>
          </a:xfrm>
          <a:prstGeom prst="rect">
            <a:avLst/>
          </a:prstGeom>
          <a:noFill/>
          <a:ln/>
        </p:spPr>
        <p:txBody>
          <a:bodyPr wrap="none" lIns="0" tIns="0" rIns="0" bIns="0" rtlCol="0" anchor="t"/>
          <a:lstStyle/>
          <a:p>
            <a:pPr algn="l" indent="0" marL="0">
              <a:lnSpc>
                <a:spcPts val="1550"/>
              </a:lnSpc>
              <a:buNone/>
            </a:pPr>
            <a:r>
              <a:rPr lang="en-US" sz="950" dirty="0">
                <a:solidFill>
                  <a:srgbClr val="272525"/>
                </a:solidFill>
                <a:latin typeface="Inter" pitchFamily="34" charset="0"/>
                <a:ea typeface="Inter" pitchFamily="34" charset="-122"/>
                <a:cs typeface="Inter" pitchFamily="34" charset="-120"/>
              </a:rPr>
              <a:t>The final output shows that the algorithm converges to values very close to the true relationship y = 2x.</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49154" y="668179"/>
            <a:ext cx="8901232" cy="791170"/>
          </a:xfrm>
          <a:prstGeom prst="rect">
            <a:avLst/>
          </a:prstGeom>
          <a:noFill/>
          <a:ln/>
        </p:spPr>
        <p:txBody>
          <a:bodyPr wrap="none" lIns="0" tIns="0" rIns="0" bIns="0" rtlCol="0" anchor="t"/>
          <a:lstStyle/>
          <a:p>
            <a:pPr algn="l" indent="0" marL="0">
              <a:lnSpc>
                <a:spcPts val="6200"/>
              </a:lnSpc>
              <a:buNone/>
            </a:pPr>
            <a:r>
              <a:rPr lang="en-US" sz="4950" b="1" dirty="0">
                <a:solidFill>
                  <a:srgbClr val="000000"/>
                </a:solidFill>
                <a:latin typeface="Inter Bold" pitchFamily="34" charset="0"/>
                <a:ea typeface="Inter Bold" pitchFamily="34" charset="-122"/>
                <a:cs typeface="Inter Bold" pitchFamily="34" charset="-120"/>
              </a:rPr>
              <a:t>Key Takeaways &amp; Next Steps</a:t>
            </a:r>
            <a:endParaRPr lang="en-US" sz="4950" dirty="0"/>
          </a:p>
        </p:txBody>
      </p:sp>
      <p:pic>
        <p:nvPicPr>
          <p:cNvPr id="3" name="Image 0" descr="preencoded.png">    </p:cNvPr>
          <p:cNvPicPr>
            <a:picLocks noChangeAspect="1"/>
          </p:cNvPicPr>
          <p:nvPr/>
        </p:nvPicPr>
        <p:blipFill>
          <a:blip r:embed="rId1"/>
          <a:stretch>
            <a:fillRect/>
          </a:stretch>
        </p:blipFill>
        <p:spPr>
          <a:xfrm>
            <a:off x="849154" y="1865590"/>
            <a:ext cx="606504" cy="606504"/>
          </a:xfrm>
          <a:prstGeom prst="rect">
            <a:avLst/>
          </a:prstGeom>
        </p:spPr>
      </p:pic>
      <p:sp>
        <p:nvSpPr>
          <p:cNvPr id="4" name="Text 1"/>
          <p:cNvSpPr/>
          <p:nvPr/>
        </p:nvSpPr>
        <p:spPr>
          <a:xfrm>
            <a:off x="1698188" y="1967151"/>
            <a:ext cx="2156460" cy="791051"/>
          </a:xfrm>
          <a:prstGeom prst="rect">
            <a:avLst/>
          </a:prstGeom>
          <a:noFill/>
          <a:ln/>
        </p:spPr>
        <p:txBody>
          <a:bodyPr wrap="square" lIns="0" tIns="0" rIns="0" bIns="0" rtlCol="0" anchor="t"/>
          <a:lstStyle/>
          <a:p>
            <a:pPr algn="l" indent="0" marL="0">
              <a:lnSpc>
                <a:spcPts val="3100"/>
              </a:lnSpc>
              <a:buNone/>
            </a:pPr>
            <a:r>
              <a:rPr lang="en-US" sz="2450" b="1" dirty="0">
                <a:solidFill>
                  <a:srgbClr val="272525"/>
                </a:solidFill>
                <a:latin typeface="Inter Bold" pitchFamily="34" charset="0"/>
                <a:ea typeface="Inter Bold" pitchFamily="34" charset="-122"/>
                <a:cs typeface="Inter Bold" pitchFamily="34" charset="-120"/>
              </a:rPr>
              <a:t>Cost Functions</a:t>
            </a:r>
            <a:endParaRPr lang="en-US" sz="2450" dirty="0"/>
          </a:p>
        </p:txBody>
      </p:sp>
      <p:sp>
        <p:nvSpPr>
          <p:cNvPr id="5" name="Text 2"/>
          <p:cNvSpPr/>
          <p:nvPr/>
        </p:nvSpPr>
        <p:spPr>
          <a:xfrm>
            <a:off x="1698188" y="2903696"/>
            <a:ext cx="2156460" cy="4657725"/>
          </a:xfrm>
          <a:prstGeom prst="rect">
            <a:avLst/>
          </a:prstGeom>
          <a:noFill/>
          <a:ln/>
        </p:spPr>
        <p:txBody>
          <a:bodyPr wrap="square" lIns="0" tIns="0" rIns="0" bIns="0" rtlCol="0" anchor="t"/>
          <a:lstStyle/>
          <a:p>
            <a:pPr algn="l" indent="0" marL="0">
              <a:lnSpc>
                <a:spcPts val="3050"/>
              </a:lnSpc>
              <a:buNone/>
            </a:pPr>
            <a:r>
              <a:rPr lang="en-US" sz="1900" dirty="0">
                <a:solidFill>
                  <a:srgbClr val="272525"/>
                </a:solidFill>
                <a:latin typeface="Inter" pitchFamily="34" charset="0"/>
                <a:ea typeface="Inter" pitchFamily="34" charset="-122"/>
                <a:cs typeface="Inter" pitchFamily="34" charset="-120"/>
              </a:rPr>
              <a:t>Cost functions quantify model performance by measuring the difference between predictions and actual values. Minimizing this function is the goal of model training.</a:t>
            </a:r>
            <a:endParaRPr lang="en-US" sz="1900" dirty="0"/>
          </a:p>
        </p:txBody>
      </p:sp>
      <p:pic>
        <p:nvPicPr>
          <p:cNvPr id="6" name="Image 1" descr="preencoded.png">    </p:cNvPr>
          <p:cNvPicPr>
            <a:picLocks noChangeAspect="1"/>
          </p:cNvPicPr>
          <p:nvPr/>
        </p:nvPicPr>
        <p:blipFill>
          <a:blip r:embed="rId2"/>
          <a:stretch>
            <a:fillRect/>
          </a:stretch>
        </p:blipFill>
        <p:spPr>
          <a:xfrm>
            <a:off x="4157901" y="1865590"/>
            <a:ext cx="606504" cy="606504"/>
          </a:xfrm>
          <a:prstGeom prst="rect">
            <a:avLst/>
          </a:prstGeom>
        </p:spPr>
      </p:pic>
      <p:sp>
        <p:nvSpPr>
          <p:cNvPr id="7" name="Text 3"/>
          <p:cNvSpPr/>
          <p:nvPr/>
        </p:nvSpPr>
        <p:spPr>
          <a:xfrm>
            <a:off x="5006935" y="1967151"/>
            <a:ext cx="2156579" cy="791051"/>
          </a:xfrm>
          <a:prstGeom prst="rect">
            <a:avLst/>
          </a:prstGeom>
          <a:noFill/>
          <a:ln/>
        </p:spPr>
        <p:txBody>
          <a:bodyPr wrap="square" lIns="0" tIns="0" rIns="0" bIns="0" rtlCol="0" anchor="t"/>
          <a:lstStyle/>
          <a:p>
            <a:pPr algn="l" indent="0" marL="0">
              <a:lnSpc>
                <a:spcPts val="3100"/>
              </a:lnSpc>
              <a:buNone/>
            </a:pPr>
            <a:r>
              <a:rPr lang="en-US" sz="2450" b="1" dirty="0">
                <a:solidFill>
                  <a:srgbClr val="272525"/>
                </a:solidFill>
                <a:latin typeface="Inter Bold" pitchFamily="34" charset="0"/>
                <a:ea typeface="Inter Bold" pitchFamily="34" charset="-122"/>
                <a:cs typeface="Inter Bold" pitchFamily="34" charset="-120"/>
              </a:rPr>
              <a:t>Gradient Descent</a:t>
            </a:r>
            <a:endParaRPr lang="en-US" sz="2450" dirty="0"/>
          </a:p>
        </p:txBody>
      </p:sp>
      <p:sp>
        <p:nvSpPr>
          <p:cNvPr id="8" name="Text 4"/>
          <p:cNvSpPr/>
          <p:nvPr/>
        </p:nvSpPr>
        <p:spPr>
          <a:xfrm>
            <a:off x="5006935" y="2903696"/>
            <a:ext cx="2156579" cy="3881438"/>
          </a:xfrm>
          <a:prstGeom prst="rect">
            <a:avLst/>
          </a:prstGeom>
          <a:noFill/>
          <a:ln/>
        </p:spPr>
        <p:txBody>
          <a:bodyPr wrap="square" lIns="0" tIns="0" rIns="0" bIns="0" rtlCol="0" anchor="t"/>
          <a:lstStyle/>
          <a:p>
            <a:pPr algn="l" indent="0" marL="0">
              <a:lnSpc>
                <a:spcPts val="3050"/>
              </a:lnSpc>
              <a:buNone/>
            </a:pPr>
            <a:r>
              <a:rPr lang="en-US" sz="1900" dirty="0">
                <a:solidFill>
                  <a:srgbClr val="272525"/>
                </a:solidFill>
                <a:latin typeface="Inter" pitchFamily="34" charset="0"/>
                <a:ea typeface="Inter" pitchFamily="34" charset="-122"/>
                <a:cs typeface="Inter" pitchFamily="34" charset="-120"/>
              </a:rPr>
              <a:t>Gradient descent is an iterative optimization algorithm that finds the minimum of the cost function by taking steps in the direction of the negative gradient.</a:t>
            </a:r>
            <a:endParaRPr lang="en-US" sz="1900" dirty="0"/>
          </a:p>
        </p:txBody>
      </p:sp>
      <p:pic>
        <p:nvPicPr>
          <p:cNvPr id="9" name="Image 2" descr="preencoded.png">    </p:cNvPr>
          <p:cNvPicPr>
            <a:picLocks noChangeAspect="1"/>
          </p:cNvPicPr>
          <p:nvPr/>
        </p:nvPicPr>
        <p:blipFill>
          <a:blip r:embed="rId3"/>
          <a:stretch>
            <a:fillRect/>
          </a:stretch>
        </p:blipFill>
        <p:spPr>
          <a:xfrm>
            <a:off x="7466767" y="1865590"/>
            <a:ext cx="606504" cy="606504"/>
          </a:xfrm>
          <a:prstGeom prst="rect">
            <a:avLst/>
          </a:prstGeom>
        </p:spPr>
      </p:pic>
      <p:sp>
        <p:nvSpPr>
          <p:cNvPr id="10" name="Text 5"/>
          <p:cNvSpPr/>
          <p:nvPr/>
        </p:nvSpPr>
        <p:spPr>
          <a:xfrm>
            <a:off x="8315801" y="1967151"/>
            <a:ext cx="2156579" cy="791051"/>
          </a:xfrm>
          <a:prstGeom prst="rect">
            <a:avLst/>
          </a:prstGeom>
          <a:noFill/>
          <a:ln/>
        </p:spPr>
        <p:txBody>
          <a:bodyPr wrap="square" lIns="0" tIns="0" rIns="0" bIns="0" rtlCol="0" anchor="t"/>
          <a:lstStyle/>
          <a:p>
            <a:pPr algn="l" indent="0" marL="0">
              <a:lnSpc>
                <a:spcPts val="3100"/>
              </a:lnSpc>
              <a:buNone/>
            </a:pPr>
            <a:r>
              <a:rPr lang="en-US" sz="2450" b="1" dirty="0">
                <a:solidFill>
                  <a:srgbClr val="272525"/>
                </a:solidFill>
                <a:latin typeface="Inter Bold" pitchFamily="34" charset="0"/>
                <a:ea typeface="Inter Bold" pitchFamily="34" charset="-122"/>
                <a:cs typeface="Inter Bold" pitchFamily="34" charset="-120"/>
              </a:rPr>
              <a:t>Parameter Learning</a:t>
            </a:r>
            <a:endParaRPr lang="en-US" sz="2450" dirty="0"/>
          </a:p>
        </p:txBody>
      </p:sp>
      <p:sp>
        <p:nvSpPr>
          <p:cNvPr id="11" name="Text 6"/>
          <p:cNvSpPr/>
          <p:nvPr/>
        </p:nvSpPr>
        <p:spPr>
          <a:xfrm>
            <a:off x="8315801" y="2903696"/>
            <a:ext cx="2156579" cy="4269581"/>
          </a:xfrm>
          <a:prstGeom prst="rect">
            <a:avLst/>
          </a:prstGeom>
          <a:noFill/>
          <a:ln/>
        </p:spPr>
        <p:txBody>
          <a:bodyPr wrap="square" lIns="0" tIns="0" rIns="0" bIns="0" rtlCol="0" anchor="t"/>
          <a:lstStyle/>
          <a:p>
            <a:pPr algn="l" indent="0" marL="0">
              <a:lnSpc>
                <a:spcPts val="3050"/>
              </a:lnSpc>
              <a:buNone/>
            </a:pPr>
            <a:r>
              <a:rPr lang="en-US" sz="1900" dirty="0">
                <a:solidFill>
                  <a:srgbClr val="272525"/>
                </a:solidFill>
                <a:latin typeface="Inter" pitchFamily="34" charset="0"/>
                <a:ea typeface="Inter" pitchFamily="34" charset="-122"/>
                <a:cs typeface="Inter" pitchFamily="34" charset="-120"/>
              </a:rPr>
              <a:t>Through repeated application of gradient descent, models learn the optimal parameters that best fit the training data, enabling accurate predictions on new data.</a:t>
            </a:r>
            <a:endParaRPr lang="en-US" sz="1900" dirty="0"/>
          </a:p>
        </p:txBody>
      </p:sp>
      <p:pic>
        <p:nvPicPr>
          <p:cNvPr id="12" name="Image 3" descr="preencoded.png">    </p:cNvPr>
          <p:cNvPicPr>
            <a:picLocks noChangeAspect="1"/>
          </p:cNvPicPr>
          <p:nvPr/>
        </p:nvPicPr>
        <p:blipFill>
          <a:blip r:embed="rId4"/>
          <a:stretch>
            <a:fillRect/>
          </a:stretch>
        </p:blipFill>
        <p:spPr>
          <a:xfrm>
            <a:off x="10775633" y="1865590"/>
            <a:ext cx="606504" cy="606504"/>
          </a:xfrm>
          <a:prstGeom prst="rect">
            <a:avLst/>
          </a:prstGeom>
        </p:spPr>
      </p:pic>
      <p:sp>
        <p:nvSpPr>
          <p:cNvPr id="13" name="Text 7"/>
          <p:cNvSpPr/>
          <p:nvPr/>
        </p:nvSpPr>
        <p:spPr>
          <a:xfrm>
            <a:off x="11624667" y="1967151"/>
            <a:ext cx="2156579" cy="791051"/>
          </a:xfrm>
          <a:prstGeom prst="rect">
            <a:avLst/>
          </a:prstGeom>
          <a:noFill/>
          <a:ln/>
        </p:spPr>
        <p:txBody>
          <a:bodyPr wrap="square" lIns="0" tIns="0" rIns="0" bIns="0" rtlCol="0" anchor="t"/>
          <a:lstStyle/>
          <a:p>
            <a:pPr algn="l" indent="0" marL="0">
              <a:lnSpc>
                <a:spcPts val="3100"/>
              </a:lnSpc>
              <a:buNone/>
            </a:pPr>
            <a:r>
              <a:rPr lang="en-US" sz="2450" b="1" dirty="0">
                <a:solidFill>
                  <a:srgbClr val="272525"/>
                </a:solidFill>
                <a:latin typeface="Inter Bold" pitchFamily="34" charset="0"/>
                <a:ea typeface="Inter Bold" pitchFamily="34" charset="-122"/>
                <a:cs typeface="Inter Bold" pitchFamily="34" charset="-120"/>
              </a:rPr>
              <a:t>Advanced Topics</a:t>
            </a:r>
            <a:endParaRPr lang="en-US" sz="2450" dirty="0"/>
          </a:p>
        </p:txBody>
      </p:sp>
      <p:sp>
        <p:nvSpPr>
          <p:cNvPr id="14" name="Text 8"/>
          <p:cNvSpPr/>
          <p:nvPr/>
        </p:nvSpPr>
        <p:spPr>
          <a:xfrm>
            <a:off x="11624667" y="2903696"/>
            <a:ext cx="2156579" cy="4657725"/>
          </a:xfrm>
          <a:prstGeom prst="rect">
            <a:avLst/>
          </a:prstGeom>
          <a:noFill/>
          <a:ln/>
        </p:spPr>
        <p:txBody>
          <a:bodyPr wrap="square" lIns="0" tIns="0" rIns="0" bIns="0" rtlCol="0" anchor="t"/>
          <a:lstStyle/>
          <a:p>
            <a:pPr algn="l" indent="0" marL="0">
              <a:lnSpc>
                <a:spcPts val="3050"/>
              </a:lnSpc>
              <a:buNone/>
            </a:pPr>
            <a:r>
              <a:rPr lang="en-US" sz="1900" dirty="0">
                <a:solidFill>
                  <a:srgbClr val="272525"/>
                </a:solidFill>
                <a:latin typeface="Inter" pitchFamily="34" charset="0"/>
                <a:ea typeface="Inter" pitchFamily="34" charset="-122"/>
                <a:cs typeface="Inter" pitchFamily="34" charset="-120"/>
              </a:rPr>
              <a:t>Further exploration includes advanced optimization algorithms, regularization techniques, and applications to complex models like neural networks.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2025-05-01T06:15:10Z</dcterms:created>
  <dcterms:modified xsi:type="dcterms:W3CDTF">2025-05-01T06:15:10Z</dcterms:modified>
</cp:coreProperties>
</file>