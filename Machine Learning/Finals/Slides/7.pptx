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Inter"/>
      <p:regular r:id="rId27"/>
    </p:embeddedFont>
    <p:embeddedFont>
      <p:font typeface="Inter"/>
      <p:regular r:id="rId28"/>
    </p:embeddedFont>
    <p:embeddedFont>
      <p:font typeface="Inter"/>
      <p:regular r:id="rId29"/>
    </p:embeddedFont>
    <p:embeddedFont>
      <p:font typeface="Inter"/>
      <p:regular r:id="rId30"/>
    </p:embeddedFont>
    <p:embeddedFont>
      <p:font typeface="Inter"/>
      <p:regular r:id="rId31"/>
    </p:embeddedFont>
    <p:embeddedFont>
      <p:font typeface="Inter"/>
      <p:regular r:id="rId32"/>
    </p:embeddedFont>
    <p:embeddedFont>
      <p:font typeface="Inter"/>
      <p:regular r:id="rId33"/>
    </p:embeddedFont>
    <p:embeddedFont>
      <p:font typeface="Inter"/>
      <p:regular r:id="rId3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0.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18.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0.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1.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382560"/>
            <a:ext cx="12678489"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Exploration vs. Exploitation in Monte Carlo Methods</a:t>
            </a:r>
            <a:endParaRPr lang="en-US" sz="4450" dirty="0"/>
          </a:p>
        </p:txBody>
      </p:sp>
      <p:sp>
        <p:nvSpPr>
          <p:cNvPr id="3" name="Text 1"/>
          <p:cNvSpPr/>
          <p:nvPr/>
        </p:nvSpPr>
        <p:spPr>
          <a:xfrm>
            <a:off x="793790" y="4140279"/>
            <a:ext cx="12678489"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exploration vs. exploitation trade-off is a foundational concept in Monte Carlo inference and reinforcement learning. This critical balance shapes how algorithms make decisions in uncertain environments, whether in game playing, sequential optimization, or complex decision-making scenarios.</a:t>
            </a:r>
            <a:endParaRPr lang="en-US" sz="1750" dirty="0"/>
          </a:p>
        </p:txBody>
      </p:sp>
      <p:sp>
        <p:nvSpPr>
          <p:cNvPr id="4" name="Text 2"/>
          <p:cNvSpPr/>
          <p:nvPr/>
        </p:nvSpPr>
        <p:spPr>
          <a:xfrm>
            <a:off x="793790" y="5484138"/>
            <a:ext cx="1267848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Muhammad Saeed</a:t>
            </a:r>
            <a:endParaRPr lang="en-US" sz="1750" dirty="0"/>
          </a:p>
        </p:txBody>
      </p:sp>
      <p:pic>
        <p:nvPicPr>
          <p:cNvPr id="5"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21919"/>
            <a:ext cx="916936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Understanding the Core Dilemma</a:t>
            </a:r>
            <a:endParaRPr lang="en-US" sz="4450" dirty="0"/>
          </a:p>
        </p:txBody>
      </p:sp>
      <p:sp>
        <p:nvSpPr>
          <p:cNvPr id="3" name="Shape 1"/>
          <p:cNvSpPr/>
          <p:nvPr/>
        </p:nvSpPr>
        <p:spPr>
          <a:xfrm>
            <a:off x="793790" y="3070860"/>
            <a:ext cx="4074914" cy="3136702"/>
          </a:xfrm>
          <a:prstGeom prst="roundRect">
            <a:avLst>
              <a:gd name="adj" fmla="val 3037"/>
            </a:avLst>
          </a:prstGeom>
          <a:solidFill>
            <a:srgbClr val="D2EDF9"/>
          </a:solidFill>
          <a:ln w="7620">
            <a:solidFill>
              <a:srgbClr val="B8D3DF"/>
            </a:solidFill>
            <a:prstDash val="solid"/>
          </a:ln>
        </p:spPr>
      </p:sp>
      <p:sp>
        <p:nvSpPr>
          <p:cNvPr id="4" name="Text 2"/>
          <p:cNvSpPr/>
          <p:nvPr/>
        </p:nvSpPr>
        <p:spPr>
          <a:xfrm>
            <a:off x="1028224" y="330529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Exploitation</a:t>
            </a:r>
            <a:endParaRPr lang="en-US" sz="2200" dirty="0"/>
          </a:p>
        </p:txBody>
      </p:sp>
      <p:sp>
        <p:nvSpPr>
          <p:cNvPr id="5" name="Text 3"/>
          <p:cNvSpPr/>
          <p:nvPr/>
        </p:nvSpPr>
        <p:spPr>
          <a:xfrm>
            <a:off x="1028224" y="3795713"/>
            <a:ext cx="3606046"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Choosing actions or paths that have previously yielded high rewards or accurate estimates. It focuses on making the best use of current knowledge to maximize immediate returns.</a:t>
            </a:r>
            <a:endParaRPr lang="en-US" sz="1750" dirty="0"/>
          </a:p>
        </p:txBody>
      </p:sp>
      <p:sp>
        <p:nvSpPr>
          <p:cNvPr id="6" name="Shape 4"/>
          <p:cNvSpPr/>
          <p:nvPr/>
        </p:nvSpPr>
        <p:spPr>
          <a:xfrm>
            <a:off x="5095518" y="3070860"/>
            <a:ext cx="4074914" cy="3136702"/>
          </a:xfrm>
          <a:prstGeom prst="roundRect">
            <a:avLst>
              <a:gd name="adj" fmla="val 3037"/>
            </a:avLst>
          </a:prstGeom>
          <a:solidFill>
            <a:srgbClr val="D2EDF9"/>
          </a:solidFill>
          <a:ln w="7620">
            <a:solidFill>
              <a:srgbClr val="B8D3DF"/>
            </a:solidFill>
            <a:prstDash val="solid"/>
          </a:ln>
        </p:spPr>
      </p:sp>
      <p:sp>
        <p:nvSpPr>
          <p:cNvPr id="7" name="Text 5"/>
          <p:cNvSpPr/>
          <p:nvPr/>
        </p:nvSpPr>
        <p:spPr>
          <a:xfrm>
            <a:off x="5329952" y="330529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Exploration</a:t>
            </a:r>
            <a:endParaRPr lang="en-US" sz="2200" dirty="0"/>
          </a:p>
        </p:txBody>
      </p:sp>
      <p:sp>
        <p:nvSpPr>
          <p:cNvPr id="8" name="Text 6"/>
          <p:cNvSpPr/>
          <p:nvPr/>
        </p:nvSpPr>
        <p:spPr>
          <a:xfrm>
            <a:off x="5329952" y="3795713"/>
            <a:ext cx="3606046"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Choosing less-tried or untested actions to gather more information. The aim is to discover potentially better options that are currently underestimated or unknown.</a:t>
            </a:r>
            <a:endParaRPr lang="en-US" sz="1750" dirty="0"/>
          </a:p>
        </p:txBody>
      </p:sp>
      <p:sp>
        <p:nvSpPr>
          <p:cNvPr id="9" name="Shape 7"/>
          <p:cNvSpPr/>
          <p:nvPr/>
        </p:nvSpPr>
        <p:spPr>
          <a:xfrm>
            <a:off x="9397246" y="3070860"/>
            <a:ext cx="4074914" cy="3136702"/>
          </a:xfrm>
          <a:prstGeom prst="roundRect">
            <a:avLst>
              <a:gd name="adj" fmla="val 3037"/>
            </a:avLst>
          </a:prstGeom>
          <a:solidFill>
            <a:srgbClr val="D2EDF9"/>
          </a:solidFill>
          <a:ln w="7620">
            <a:solidFill>
              <a:srgbClr val="B8D3DF"/>
            </a:solidFill>
            <a:prstDash val="solid"/>
          </a:ln>
        </p:spPr>
      </p:sp>
      <p:sp>
        <p:nvSpPr>
          <p:cNvPr id="10" name="Text 8"/>
          <p:cNvSpPr/>
          <p:nvPr/>
        </p:nvSpPr>
        <p:spPr>
          <a:xfrm>
            <a:off x="9631680" y="330529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The Challenge</a:t>
            </a:r>
            <a:endParaRPr lang="en-US" sz="2200" dirty="0"/>
          </a:p>
        </p:txBody>
      </p:sp>
      <p:sp>
        <p:nvSpPr>
          <p:cNvPr id="11" name="Text 9"/>
          <p:cNvSpPr/>
          <p:nvPr/>
        </p:nvSpPr>
        <p:spPr>
          <a:xfrm>
            <a:off x="9631680" y="3795713"/>
            <a:ext cx="3606046"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Finding the optimal balance between these two strategies to maximize long-term rewards or accuracy, as focusing too much on either can lead to suboptimal outcomes.</a:t>
            </a:r>
            <a:endParaRPr lang="en-US" sz="1750" dirty="0"/>
          </a:p>
        </p:txBody>
      </p:sp>
      <p:pic>
        <p:nvPicPr>
          <p:cNvPr id="12"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217420"/>
            <a:ext cx="10228898"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Monte Carlo Inference Fundamentals</a:t>
            </a:r>
            <a:endParaRPr lang="en-US" sz="4450" dirty="0"/>
          </a:p>
        </p:txBody>
      </p:sp>
      <p:sp>
        <p:nvSpPr>
          <p:cNvPr id="3" name="Shape 1"/>
          <p:cNvSpPr/>
          <p:nvPr/>
        </p:nvSpPr>
        <p:spPr>
          <a:xfrm>
            <a:off x="793790" y="3266361"/>
            <a:ext cx="510302" cy="510302"/>
          </a:xfrm>
          <a:prstGeom prst="roundRect">
            <a:avLst>
              <a:gd name="adj" fmla="val 18669"/>
            </a:avLst>
          </a:prstGeom>
          <a:solidFill>
            <a:srgbClr val="D2EDF9"/>
          </a:solidFill>
          <a:ln w="7620">
            <a:solidFill>
              <a:srgbClr val="B8D3DF"/>
            </a:solidFill>
            <a:prstDash val="solid"/>
          </a:ln>
        </p:spPr>
      </p:sp>
      <p:pic>
        <p:nvPicPr>
          <p:cNvPr id="4" name="Image 0" descr="preencoded.png">    </p:cNvPr>
          <p:cNvPicPr>
            <a:picLocks noChangeAspect="1"/>
          </p:cNvPicPr>
          <p:nvPr/>
        </p:nvPicPr>
        <p:blipFill>
          <a:blip r:embed="rId1"/>
          <a:stretch>
            <a:fillRect/>
          </a:stretch>
        </p:blipFill>
        <p:spPr>
          <a:xfrm>
            <a:off x="878860" y="3308866"/>
            <a:ext cx="340162" cy="425291"/>
          </a:xfrm>
          <a:prstGeom prst="rect">
            <a:avLst/>
          </a:prstGeom>
        </p:spPr>
      </p:pic>
      <p:sp>
        <p:nvSpPr>
          <p:cNvPr id="5" name="Text 2"/>
          <p:cNvSpPr/>
          <p:nvPr/>
        </p:nvSpPr>
        <p:spPr>
          <a:xfrm>
            <a:off x="1530906" y="334422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Random Sampling</a:t>
            </a:r>
            <a:endParaRPr lang="en-US" sz="2200" dirty="0"/>
          </a:p>
        </p:txBody>
      </p:sp>
      <p:sp>
        <p:nvSpPr>
          <p:cNvPr id="6" name="Text 3"/>
          <p:cNvSpPr/>
          <p:nvPr/>
        </p:nvSpPr>
        <p:spPr>
          <a:xfrm>
            <a:off x="1530906" y="3834646"/>
            <a:ext cx="3300055"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Monte Carlo inference uses random sampling to approximate integrals or probabilities, especially when analytic solutions are difficult to compute.</a:t>
            </a:r>
            <a:endParaRPr lang="en-US" sz="1750" dirty="0"/>
          </a:p>
        </p:txBody>
      </p:sp>
      <p:sp>
        <p:nvSpPr>
          <p:cNvPr id="7" name="Shape 4"/>
          <p:cNvSpPr/>
          <p:nvPr/>
        </p:nvSpPr>
        <p:spPr>
          <a:xfrm>
            <a:off x="5114449" y="3266361"/>
            <a:ext cx="510302" cy="510302"/>
          </a:xfrm>
          <a:prstGeom prst="roundRect">
            <a:avLst>
              <a:gd name="adj" fmla="val 18669"/>
            </a:avLst>
          </a:prstGeom>
          <a:solidFill>
            <a:srgbClr val="D2EDF9"/>
          </a:solidFill>
          <a:ln w="7620">
            <a:solidFill>
              <a:srgbClr val="B8D3DF"/>
            </a:solidFill>
            <a:prstDash val="solid"/>
          </a:ln>
        </p:spPr>
      </p:sp>
      <p:pic>
        <p:nvPicPr>
          <p:cNvPr id="8" name="Image 1" descr="preencoded.png">    </p:cNvPr>
          <p:cNvPicPr>
            <a:picLocks noChangeAspect="1"/>
          </p:cNvPicPr>
          <p:nvPr/>
        </p:nvPicPr>
        <p:blipFill>
          <a:blip r:embed="rId2"/>
          <a:stretch>
            <a:fillRect/>
          </a:stretch>
        </p:blipFill>
        <p:spPr>
          <a:xfrm>
            <a:off x="5199519" y="3308866"/>
            <a:ext cx="340162" cy="425291"/>
          </a:xfrm>
          <a:prstGeom prst="rect">
            <a:avLst/>
          </a:prstGeom>
        </p:spPr>
      </p:pic>
      <p:sp>
        <p:nvSpPr>
          <p:cNvPr id="9" name="Text 5"/>
          <p:cNvSpPr/>
          <p:nvPr/>
        </p:nvSpPr>
        <p:spPr>
          <a:xfrm>
            <a:off x="5851565" y="334422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Adaptive Sampling</a:t>
            </a:r>
            <a:endParaRPr lang="en-US" sz="2200" dirty="0"/>
          </a:p>
        </p:txBody>
      </p:sp>
      <p:sp>
        <p:nvSpPr>
          <p:cNvPr id="10" name="Text 6"/>
          <p:cNvSpPr/>
          <p:nvPr/>
        </p:nvSpPr>
        <p:spPr>
          <a:xfrm>
            <a:off x="5851565" y="3834646"/>
            <a:ext cx="3300055"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exploration-exploitation trade-off arises in adaptive sampling, where the goal is to efficiently sample from a distribution or state space.</a:t>
            </a:r>
            <a:endParaRPr lang="en-US" sz="1750" dirty="0"/>
          </a:p>
        </p:txBody>
      </p:sp>
      <p:sp>
        <p:nvSpPr>
          <p:cNvPr id="11" name="Shape 7"/>
          <p:cNvSpPr/>
          <p:nvPr/>
        </p:nvSpPr>
        <p:spPr>
          <a:xfrm>
            <a:off x="9435108" y="3266361"/>
            <a:ext cx="510302" cy="510302"/>
          </a:xfrm>
          <a:prstGeom prst="roundRect">
            <a:avLst>
              <a:gd name="adj" fmla="val 18669"/>
            </a:avLst>
          </a:prstGeom>
          <a:solidFill>
            <a:srgbClr val="D2EDF9"/>
          </a:solidFill>
          <a:ln w="7620">
            <a:solidFill>
              <a:srgbClr val="B8D3DF"/>
            </a:solidFill>
            <a:prstDash val="solid"/>
          </a:ln>
        </p:spPr>
      </p:sp>
      <p:pic>
        <p:nvPicPr>
          <p:cNvPr id="12" name="Image 2" descr="preencoded.png">    </p:cNvPr>
          <p:cNvPicPr>
            <a:picLocks noChangeAspect="1"/>
          </p:cNvPicPr>
          <p:nvPr/>
        </p:nvPicPr>
        <p:blipFill>
          <a:blip r:embed="rId3"/>
          <a:stretch>
            <a:fillRect/>
          </a:stretch>
        </p:blipFill>
        <p:spPr>
          <a:xfrm>
            <a:off x="9520178" y="3308866"/>
            <a:ext cx="340162" cy="425291"/>
          </a:xfrm>
          <a:prstGeom prst="rect">
            <a:avLst/>
          </a:prstGeom>
        </p:spPr>
      </p:pic>
      <p:sp>
        <p:nvSpPr>
          <p:cNvPr id="13" name="Text 8"/>
          <p:cNvSpPr/>
          <p:nvPr/>
        </p:nvSpPr>
        <p:spPr>
          <a:xfrm>
            <a:off x="10172224" y="3344228"/>
            <a:ext cx="3257907"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Efficiency vs. Accuracy</a:t>
            </a:r>
            <a:endParaRPr lang="en-US" sz="2200" dirty="0"/>
          </a:p>
        </p:txBody>
      </p:sp>
      <p:sp>
        <p:nvSpPr>
          <p:cNvPr id="14" name="Text 9"/>
          <p:cNvSpPr/>
          <p:nvPr/>
        </p:nvSpPr>
        <p:spPr>
          <a:xfrm>
            <a:off x="10172224" y="3834646"/>
            <a:ext cx="3300055"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Balancing between exploiting known high-value regions and exploring unknown areas is crucial for both computational efficiency and statistical accuracy.</a:t>
            </a:r>
            <a:endParaRPr lang="en-US" sz="1750" dirty="0"/>
          </a:p>
        </p:txBody>
      </p:sp>
      <p:pic>
        <p:nvPicPr>
          <p:cNvPr id="15"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4494" y="726281"/>
            <a:ext cx="7715012" cy="1275874"/>
          </a:xfrm>
          <a:prstGeom prst="rect">
            <a:avLst/>
          </a:prstGeom>
          <a:noFill/>
          <a:ln/>
        </p:spPr>
        <p:txBody>
          <a:bodyPr wrap="square" lIns="0" tIns="0" rIns="0" bIns="0" rtlCol="0" anchor="t"/>
          <a:lstStyle/>
          <a:p>
            <a:pPr algn="l" indent="0" marL="0">
              <a:lnSpc>
                <a:spcPts val="5000"/>
              </a:lnSpc>
              <a:buNone/>
            </a:pPr>
            <a:r>
              <a:rPr lang="en-US" sz="4000" b="1" dirty="0">
                <a:solidFill>
                  <a:srgbClr val="000000"/>
                </a:solidFill>
                <a:latin typeface="Inter Bold" pitchFamily="34" charset="0"/>
                <a:ea typeface="Inter Bold" pitchFamily="34" charset="-122"/>
                <a:cs typeface="Inter Bold" pitchFamily="34" charset="-120"/>
              </a:rPr>
              <a:t>Monte Carlo Tree Search (MCTS)</a:t>
            </a:r>
            <a:endParaRPr lang="en-US" sz="4000" dirty="0"/>
          </a:p>
        </p:txBody>
      </p:sp>
      <p:sp>
        <p:nvSpPr>
          <p:cNvPr id="4" name="Shape 1"/>
          <p:cNvSpPr/>
          <p:nvPr/>
        </p:nvSpPr>
        <p:spPr>
          <a:xfrm>
            <a:off x="714494" y="2308265"/>
            <a:ext cx="152995" cy="1094661"/>
          </a:xfrm>
          <a:prstGeom prst="roundRect">
            <a:avLst>
              <a:gd name="adj" fmla="val 56042"/>
            </a:avLst>
          </a:prstGeom>
          <a:solidFill>
            <a:srgbClr val="D2EDF9"/>
          </a:solidFill>
          <a:ln w="7620">
            <a:solidFill>
              <a:srgbClr val="B8D3DF"/>
            </a:solidFill>
            <a:prstDash val="solid"/>
          </a:ln>
        </p:spPr>
      </p:sp>
      <p:sp>
        <p:nvSpPr>
          <p:cNvPr id="5" name="Text 2"/>
          <p:cNvSpPr/>
          <p:nvPr/>
        </p:nvSpPr>
        <p:spPr>
          <a:xfrm>
            <a:off x="1173599" y="2308265"/>
            <a:ext cx="2551748" cy="318849"/>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Selection</a:t>
            </a:r>
            <a:endParaRPr lang="en-US" sz="2000" dirty="0"/>
          </a:p>
        </p:txBody>
      </p:sp>
      <p:sp>
        <p:nvSpPr>
          <p:cNvPr id="6" name="Text 3"/>
          <p:cNvSpPr/>
          <p:nvPr/>
        </p:nvSpPr>
        <p:spPr>
          <a:xfrm>
            <a:off x="1173599" y="2749510"/>
            <a:ext cx="7255907" cy="653415"/>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Traverse the tree from the root using a strategy like UCT until reaching a leaf node, balancing between promising and unexplored paths.</a:t>
            </a:r>
            <a:endParaRPr lang="en-US" sz="1600" dirty="0"/>
          </a:p>
        </p:txBody>
      </p:sp>
      <p:sp>
        <p:nvSpPr>
          <p:cNvPr id="7" name="Shape 4"/>
          <p:cNvSpPr/>
          <p:nvPr/>
        </p:nvSpPr>
        <p:spPr>
          <a:xfrm>
            <a:off x="1020604" y="3606998"/>
            <a:ext cx="152995" cy="1094661"/>
          </a:xfrm>
          <a:prstGeom prst="roundRect">
            <a:avLst>
              <a:gd name="adj" fmla="val 56042"/>
            </a:avLst>
          </a:prstGeom>
          <a:solidFill>
            <a:srgbClr val="D2EDF9"/>
          </a:solidFill>
          <a:ln w="7620">
            <a:solidFill>
              <a:srgbClr val="B8D3DF"/>
            </a:solidFill>
            <a:prstDash val="solid"/>
          </a:ln>
        </p:spPr>
      </p:sp>
      <p:sp>
        <p:nvSpPr>
          <p:cNvPr id="8" name="Text 5"/>
          <p:cNvSpPr/>
          <p:nvPr/>
        </p:nvSpPr>
        <p:spPr>
          <a:xfrm>
            <a:off x="1479709" y="3606998"/>
            <a:ext cx="2551748" cy="318849"/>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Expansion</a:t>
            </a:r>
            <a:endParaRPr lang="en-US" sz="2000" dirty="0"/>
          </a:p>
        </p:txBody>
      </p:sp>
      <p:sp>
        <p:nvSpPr>
          <p:cNvPr id="9" name="Text 6"/>
          <p:cNvSpPr/>
          <p:nvPr/>
        </p:nvSpPr>
        <p:spPr>
          <a:xfrm>
            <a:off x="1479709" y="4048244"/>
            <a:ext cx="6949797" cy="653415"/>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Add new children to the leaf node, expanding the search space to include previously unexplored options.</a:t>
            </a:r>
            <a:endParaRPr lang="en-US" sz="1600" dirty="0"/>
          </a:p>
        </p:txBody>
      </p:sp>
      <p:sp>
        <p:nvSpPr>
          <p:cNvPr id="10" name="Shape 7"/>
          <p:cNvSpPr/>
          <p:nvPr/>
        </p:nvSpPr>
        <p:spPr>
          <a:xfrm>
            <a:off x="1326833" y="4905732"/>
            <a:ext cx="152995" cy="1094661"/>
          </a:xfrm>
          <a:prstGeom prst="roundRect">
            <a:avLst>
              <a:gd name="adj" fmla="val 56042"/>
            </a:avLst>
          </a:prstGeom>
          <a:solidFill>
            <a:srgbClr val="D2EDF9"/>
          </a:solidFill>
          <a:ln w="7620">
            <a:solidFill>
              <a:srgbClr val="B8D3DF"/>
            </a:solidFill>
            <a:prstDash val="solid"/>
          </a:ln>
        </p:spPr>
      </p:sp>
      <p:sp>
        <p:nvSpPr>
          <p:cNvPr id="11" name="Text 8"/>
          <p:cNvSpPr/>
          <p:nvPr/>
        </p:nvSpPr>
        <p:spPr>
          <a:xfrm>
            <a:off x="1785938" y="4905732"/>
            <a:ext cx="2551748" cy="318849"/>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Simulation (Rollout)</a:t>
            </a:r>
            <a:endParaRPr lang="en-US" sz="2000" dirty="0"/>
          </a:p>
        </p:txBody>
      </p:sp>
      <p:sp>
        <p:nvSpPr>
          <p:cNvPr id="12" name="Text 9"/>
          <p:cNvSpPr/>
          <p:nvPr/>
        </p:nvSpPr>
        <p:spPr>
          <a:xfrm>
            <a:off x="1785938" y="5346978"/>
            <a:ext cx="6643568" cy="653415"/>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Simulate to a terminal state using some policy (often random) to estimate the value of the new position.</a:t>
            </a:r>
            <a:endParaRPr lang="en-US" sz="1600" dirty="0"/>
          </a:p>
        </p:txBody>
      </p:sp>
      <p:sp>
        <p:nvSpPr>
          <p:cNvPr id="13" name="Shape 10"/>
          <p:cNvSpPr/>
          <p:nvPr/>
        </p:nvSpPr>
        <p:spPr>
          <a:xfrm>
            <a:off x="1633061" y="6204466"/>
            <a:ext cx="152995" cy="1094661"/>
          </a:xfrm>
          <a:prstGeom prst="roundRect">
            <a:avLst>
              <a:gd name="adj" fmla="val 56042"/>
            </a:avLst>
          </a:prstGeom>
          <a:solidFill>
            <a:srgbClr val="D2EDF9"/>
          </a:solidFill>
          <a:ln w="7620">
            <a:solidFill>
              <a:srgbClr val="B8D3DF"/>
            </a:solidFill>
            <a:prstDash val="solid"/>
          </a:ln>
        </p:spPr>
      </p:sp>
      <p:sp>
        <p:nvSpPr>
          <p:cNvPr id="14" name="Text 11"/>
          <p:cNvSpPr/>
          <p:nvPr/>
        </p:nvSpPr>
        <p:spPr>
          <a:xfrm>
            <a:off x="2092166" y="6204466"/>
            <a:ext cx="2551748" cy="318849"/>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Backpropagation</a:t>
            </a:r>
            <a:endParaRPr lang="en-US" sz="2000" dirty="0"/>
          </a:p>
        </p:txBody>
      </p:sp>
      <p:sp>
        <p:nvSpPr>
          <p:cNvPr id="15" name="Text 12"/>
          <p:cNvSpPr/>
          <p:nvPr/>
        </p:nvSpPr>
        <p:spPr>
          <a:xfrm>
            <a:off x="2092166" y="6645712"/>
            <a:ext cx="6337340" cy="653415"/>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Update statistics (rewards, visit counts) up the tree to inform future selections and improve estimates.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9379" y="588764"/>
            <a:ext cx="5353407" cy="669131"/>
          </a:xfrm>
          <a:prstGeom prst="rect">
            <a:avLst/>
          </a:prstGeom>
          <a:noFill/>
          <a:ln/>
        </p:spPr>
        <p:txBody>
          <a:bodyPr wrap="none" lIns="0" tIns="0" rIns="0" bIns="0" rtlCol="0" anchor="t"/>
          <a:lstStyle/>
          <a:p>
            <a:pPr algn="l" indent="0" marL="0">
              <a:lnSpc>
                <a:spcPts val="5250"/>
              </a:lnSpc>
              <a:buNone/>
            </a:pPr>
            <a:r>
              <a:rPr lang="en-US" sz="4200" b="1" dirty="0">
                <a:solidFill>
                  <a:srgbClr val="000000"/>
                </a:solidFill>
                <a:latin typeface="Inter Bold" pitchFamily="34" charset="0"/>
                <a:ea typeface="Inter Bold" pitchFamily="34" charset="-122"/>
                <a:cs typeface="Inter Bold" pitchFamily="34" charset="-120"/>
              </a:rPr>
              <a:t>The UCT Algorithm</a:t>
            </a:r>
            <a:endParaRPr lang="en-US" sz="4200" dirty="0"/>
          </a:p>
        </p:txBody>
      </p:sp>
      <p:sp>
        <p:nvSpPr>
          <p:cNvPr id="3" name="Text 1"/>
          <p:cNvSpPr/>
          <p:nvPr/>
        </p:nvSpPr>
        <p:spPr>
          <a:xfrm>
            <a:off x="749379" y="1686163"/>
            <a:ext cx="12722900" cy="685324"/>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The UCT (Upper Confidence Bound applied to Trees) formula provides a mathematical approach to balance exploration and exploitation in MCTS:</a:t>
            </a:r>
            <a:endParaRPr lang="en-US" sz="1650" dirty="0"/>
          </a:p>
        </p:txBody>
      </p:sp>
      <p:sp>
        <p:nvSpPr>
          <p:cNvPr id="4" name="Shape 2"/>
          <p:cNvSpPr/>
          <p:nvPr/>
        </p:nvSpPr>
        <p:spPr>
          <a:xfrm>
            <a:off x="749379" y="2612350"/>
            <a:ext cx="12722900" cy="663654"/>
          </a:xfrm>
          <a:prstGeom prst="roundRect">
            <a:avLst>
              <a:gd name="adj" fmla="val 13552"/>
            </a:avLst>
          </a:prstGeom>
          <a:solidFill>
            <a:srgbClr val="D2EDF9"/>
          </a:solidFill>
          <a:ln/>
        </p:spPr>
      </p:sp>
      <p:sp>
        <p:nvSpPr>
          <p:cNvPr id="5" name="Shape 3"/>
          <p:cNvSpPr/>
          <p:nvPr/>
        </p:nvSpPr>
        <p:spPr>
          <a:xfrm>
            <a:off x="738783" y="2612350"/>
            <a:ext cx="12744093" cy="663654"/>
          </a:xfrm>
          <a:prstGeom prst="roundRect">
            <a:avLst>
              <a:gd name="adj" fmla="val 4840"/>
            </a:avLst>
          </a:prstGeom>
          <a:solidFill>
            <a:srgbClr val="D2EDF9"/>
          </a:solidFill>
          <a:ln/>
        </p:spPr>
      </p:sp>
      <p:sp>
        <p:nvSpPr>
          <p:cNvPr id="6" name="Text 4"/>
          <p:cNvSpPr/>
          <p:nvPr/>
        </p:nvSpPr>
        <p:spPr>
          <a:xfrm>
            <a:off x="952857" y="2772847"/>
            <a:ext cx="12315944" cy="3426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highlight>
                  <a:srgbClr val="D2EDF9"/>
                </a:highlight>
                <a:latin typeface="Consolas" pitchFamily="34" charset="0"/>
                <a:ea typeface="Consolas" pitchFamily="34" charset="-122"/>
                <a:cs typeface="Consolas" pitchFamily="34" charset="-120"/>
              </a:rPr>
              <a:t>Score = X̄_j + c · √(ln N / n_j)</a:t>
            </a:r>
            <a:endParaRPr lang="en-US" sz="1650" dirty="0"/>
          </a:p>
        </p:txBody>
      </p:sp>
      <p:sp>
        <p:nvSpPr>
          <p:cNvPr id="7" name="Text 5"/>
          <p:cNvSpPr/>
          <p:nvPr/>
        </p:nvSpPr>
        <p:spPr>
          <a:xfrm>
            <a:off x="749379" y="3730942"/>
            <a:ext cx="3143845" cy="334566"/>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Exploitation Component</a:t>
            </a:r>
            <a:endParaRPr lang="en-US" sz="2100" dirty="0"/>
          </a:p>
        </p:txBody>
      </p:sp>
      <p:sp>
        <p:nvSpPr>
          <p:cNvPr id="8" name="Text 6"/>
          <p:cNvSpPr/>
          <p:nvPr/>
        </p:nvSpPr>
        <p:spPr>
          <a:xfrm>
            <a:off x="749379" y="4279583"/>
            <a:ext cx="6100167" cy="3426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X̄_j: Average reward of action j</a:t>
            </a:r>
            <a:endParaRPr lang="en-US" sz="1650" dirty="0"/>
          </a:p>
        </p:txBody>
      </p:sp>
      <p:sp>
        <p:nvSpPr>
          <p:cNvPr id="9" name="Text 7"/>
          <p:cNvSpPr/>
          <p:nvPr/>
        </p:nvSpPr>
        <p:spPr>
          <a:xfrm>
            <a:off x="749379" y="4814888"/>
            <a:ext cx="6100167" cy="1027986"/>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This term encourages selecting actions that have historically yielded high rewards, focusing on exploitation of known good options.</a:t>
            </a:r>
            <a:endParaRPr lang="en-US" sz="1650" dirty="0"/>
          </a:p>
        </p:txBody>
      </p:sp>
      <p:sp>
        <p:nvSpPr>
          <p:cNvPr id="10" name="Text 8"/>
          <p:cNvSpPr/>
          <p:nvPr/>
        </p:nvSpPr>
        <p:spPr>
          <a:xfrm>
            <a:off x="7379613" y="3730942"/>
            <a:ext cx="3077289" cy="334566"/>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Exploration Component</a:t>
            </a:r>
            <a:endParaRPr lang="en-US" sz="2100" dirty="0"/>
          </a:p>
        </p:txBody>
      </p:sp>
      <p:sp>
        <p:nvSpPr>
          <p:cNvPr id="11" name="Text 9"/>
          <p:cNvSpPr/>
          <p:nvPr/>
        </p:nvSpPr>
        <p:spPr>
          <a:xfrm>
            <a:off x="7379613" y="4279583"/>
            <a:ext cx="6100167" cy="3426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c · √(ln N / n_j)</a:t>
            </a:r>
            <a:endParaRPr lang="en-US" sz="1650" dirty="0"/>
          </a:p>
        </p:txBody>
      </p:sp>
      <p:sp>
        <p:nvSpPr>
          <p:cNvPr id="12" name="Text 10"/>
          <p:cNvSpPr/>
          <p:nvPr/>
        </p:nvSpPr>
        <p:spPr>
          <a:xfrm>
            <a:off x="7379613" y="4814888"/>
            <a:ext cx="6100167" cy="3426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n_j: Number of times action j was tried</a:t>
            </a:r>
            <a:endParaRPr lang="en-US" sz="1650" dirty="0"/>
          </a:p>
        </p:txBody>
      </p:sp>
      <p:sp>
        <p:nvSpPr>
          <p:cNvPr id="13" name="Text 11"/>
          <p:cNvSpPr/>
          <p:nvPr/>
        </p:nvSpPr>
        <p:spPr>
          <a:xfrm>
            <a:off x="7379613" y="5350193"/>
            <a:ext cx="6100167" cy="3426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N: Total simulations so far</a:t>
            </a:r>
            <a:endParaRPr lang="en-US" sz="1650" dirty="0"/>
          </a:p>
        </p:txBody>
      </p:sp>
      <p:sp>
        <p:nvSpPr>
          <p:cNvPr id="14" name="Text 12"/>
          <p:cNvSpPr/>
          <p:nvPr/>
        </p:nvSpPr>
        <p:spPr>
          <a:xfrm>
            <a:off x="7379613" y="5885498"/>
            <a:ext cx="6100167" cy="3426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c: Exploration constant (tuning parameter)</a:t>
            </a:r>
            <a:endParaRPr lang="en-US" sz="1650" dirty="0"/>
          </a:p>
        </p:txBody>
      </p:sp>
      <p:sp>
        <p:nvSpPr>
          <p:cNvPr id="15" name="Text 13"/>
          <p:cNvSpPr/>
          <p:nvPr/>
        </p:nvSpPr>
        <p:spPr>
          <a:xfrm>
            <a:off x="7379613" y="6420803"/>
            <a:ext cx="6100167" cy="1027986"/>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This term encourages exploration of less-tried actions, with the bonus decreasing as an action is selected more frequently.</a:t>
            </a:r>
            <a:endParaRPr lang="en-US" sz="1650" dirty="0"/>
          </a:p>
        </p:txBody>
      </p:sp>
      <p:pic>
        <p:nvPicPr>
          <p:cNvPr id="16"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257" y="565071"/>
            <a:ext cx="9134951" cy="642104"/>
          </a:xfrm>
          <a:prstGeom prst="rect">
            <a:avLst/>
          </a:prstGeom>
          <a:noFill/>
          <a:ln/>
        </p:spPr>
        <p:txBody>
          <a:bodyPr wrap="none" lIns="0" tIns="0" rIns="0" bIns="0" rtlCol="0" anchor="t"/>
          <a:lstStyle/>
          <a:p>
            <a:pPr algn="l" indent="0" marL="0">
              <a:lnSpc>
                <a:spcPts val="5050"/>
              </a:lnSpc>
              <a:buNone/>
            </a:pPr>
            <a:r>
              <a:rPr lang="en-US" sz="4000" b="1" dirty="0">
                <a:solidFill>
                  <a:srgbClr val="000000"/>
                </a:solidFill>
                <a:latin typeface="Inter Bold" pitchFamily="34" charset="0"/>
                <a:ea typeface="Inter Bold" pitchFamily="34" charset="-122"/>
                <a:cs typeface="Inter Bold" pitchFamily="34" charset="-120"/>
              </a:rPr>
              <a:t>Importance Sampling in Monte Carlo</a:t>
            </a:r>
            <a:endParaRPr lang="en-US" sz="4000" dirty="0"/>
          </a:p>
        </p:txBody>
      </p:sp>
      <p:pic>
        <p:nvPicPr>
          <p:cNvPr id="3" name="Image 0" descr="preencoded.png">    </p:cNvPr>
          <p:cNvPicPr>
            <a:picLocks noChangeAspect="1"/>
          </p:cNvPicPr>
          <p:nvPr/>
        </p:nvPicPr>
        <p:blipFill>
          <a:blip r:embed="rId1"/>
          <a:stretch>
            <a:fillRect/>
          </a:stretch>
        </p:blipFill>
        <p:spPr>
          <a:xfrm>
            <a:off x="719257" y="1515428"/>
            <a:ext cx="1027509" cy="1233011"/>
          </a:xfrm>
          <a:prstGeom prst="rect">
            <a:avLst/>
          </a:prstGeom>
        </p:spPr>
      </p:pic>
      <p:sp>
        <p:nvSpPr>
          <p:cNvPr id="4" name="Text 1"/>
          <p:cNvSpPr/>
          <p:nvPr/>
        </p:nvSpPr>
        <p:spPr>
          <a:xfrm>
            <a:off x="2055019" y="1720929"/>
            <a:ext cx="2568893" cy="321112"/>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Target Distribution</a:t>
            </a:r>
            <a:endParaRPr lang="en-US" sz="2000" dirty="0"/>
          </a:p>
        </p:txBody>
      </p:sp>
      <p:sp>
        <p:nvSpPr>
          <p:cNvPr id="5" name="Text 2"/>
          <p:cNvSpPr/>
          <p:nvPr/>
        </p:nvSpPr>
        <p:spPr>
          <a:xfrm>
            <a:off x="2055019" y="2165271"/>
            <a:ext cx="11417260" cy="328732"/>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p(x): The distribution we want to estimate</a:t>
            </a:r>
            <a:endParaRPr lang="en-US" sz="1600" dirty="0"/>
          </a:p>
        </p:txBody>
      </p:sp>
      <p:pic>
        <p:nvPicPr>
          <p:cNvPr id="6" name="Image 1" descr="preencoded.png">    </p:cNvPr>
          <p:cNvPicPr>
            <a:picLocks noChangeAspect="1"/>
          </p:cNvPicPr>
          <p:nvPr/>
        </p:nvPicPr>
        <p:blipFill>
          <a:blip r:embed="rId2"/>
          <a:stretch>
            <a:fillRect/>
          </a:stretch>
        </p:blipFill>
        <p:spPr>
          <a:xfrm>
            <a:off x="719257" y="2748439"/>
            <a:ext cx="1027509" cy="1233011"/>
          </a:xfrm>
          <a:prstGeom prst="rect">
            <a:avLst/>
          </a:prstGeom>
        </p:spPr>
      </p:pic>
      <p:sp>
        <p:nvSpPr>
          <p:cNvPr id="7" name="Text 3"/>
          <p:cNvSpPr/>
          <p:nvPr/>
        </p:nvSpPr>
        <p:spPr>
          <a:xfrm>
            <a:off x="2055019" y="2953941"/>
            <a:ext cx="2636044" cy="321112"/>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Proposal Distribution</a:t>
            </a:r>
            <a:endParaRPr lang="en-US" sz="2000" dirty="0"/>
          </a:p>
        </p:txBody>
      </p:sp>
      <p:sp>
        <p:nvSpPr>
          <p:cNvPr id="8" name="Text 4"/>
          <p:cNvSpPr/>
          <p:nvPr/>
        </p:nvSpPr>
        <p:spPr>
          <a:xfrm>
            <a:off x="2055019" y="3398282"/>
            <a:ext cx="11417260" cy="328732"/>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q(x): The distribution we sample from</a:t>
            </a:r>
            <a:endParaRPr lang="en-US" sz="1600" dirty="0"/>
          </a:p>
        </p:txBody>
      </p:sp>
      <p:pic>
        <p:nvPicPr>
          <p:cNvPr id="9" name="Image 2" descr="preencoded.png">    </p:cNvPr>
          <p:cNvPicPr>
            <a:picLocks noChangeAspect="1"/>
          </p:cNvPicPr>
          <p:nvPr/>
        </p:nvPicPr>
        <p:blipFill>
          <a:blip r:embed="rId3"/>
          <a:stretch>
            <a:fillRect/>
          </a:stretch>
        </p:blipFill>
        <p:spPr>
          <a:xfrm>
            <a:off x="719257" y="3981450"/>
            <a:ext cx="1027509" cy="1233011"/>
          </a:xfrm>
          <a:prstGeom prst="rect">
            <a:avLst/>
          </a:prstGeom>
        </p:spPr>
      </p:pic>
      <p:sp>
        <p:nvSpPr>
          <p:cNvPr id="10" name="Text 5"/>
          <p:cNvSpPr/>
          <p:nvPr/>
        </p:nvSpPr>
        <p:spPr>
          <a:xfrm>
            <a:off x="2055019" y="4186952"/>
            <a:ext cx="2568893" cy="321112"/>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Importance Weights</a:t>
            </a:r>
            <a:endParaRPr lang="en-US" sz="2000" dirty="0"/>
          </a:p>
        </p:txBody>
      </p:sp>
      <p:sp>
        <p:nvSpPr>
          <p:cNvPr id="11" name="Text 6"/>
          <p:cNvSpPr/>
          <p:nvPr/>
        </p:nvSpPr>
        <p:spPr>
          <a:xfrm>
            <a:off x="2055019" y="4631293"/>
            <a:ext cx="11417260" cy="328732"/>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w(x) = p(x)/q(x): Corrects the mismatch</a:t>
            </a:r>
            <a:endParaRPr lang="en-US" sz="1600" dirty="0"/>
          </a:p>
        </p:txBody>
      </p:sp>
      <p:pic>
        <p:nvPicPr>
          <p:cNvPr id="12" name="Image 3" descr="preencoded.png">    </p:cNvPr>
          <p:cNvPicPr>
            <a:picLocks noChangeAspect="1"/>
          </p:cNvPicPr>
          <p:nvPr/>
        </p:nvPicPr>
        <p:blipFill>
          <a:blip r:embed="rId4"/>
          <a:stretch>
            <a:fillRect/>
          </a:stretch>
        </p:blipFill>
        <p:spPr>
          <a:xfrm>
            <a:off x="719257" y="5214461"/>
            <a:ext cx="1027509" cy="1233011"/>
          </a:xfrm>
          <a:prstGeom prst="rect">
            <a:avLst/>
          </a:prstGeom>
        </p:spPr>
      </p:pic>
      <p:sp>
        <p:nvSpPr>
          <p:cNvPr id="13" name="Text 7"/>
          <p:cNvSpPr/>
          <p:nvPr/>
        </p:nvSpPr>
        <p:spPr>
          <a:xfrm>
            <a:off x="2055019" y="5419963"/>
            <a:ext cx="2632234" cy="321112"/>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Adaptive Refinement</a:t>
            </a:r>
            <a:endParaRPr lang="en-US" sz="2000" dirty="0"/>
          </a:p>
        </p:txBody>
      </p:sp>
      <p:sp>
        <p:nvSpPr>
          <p:cNvPr id="14" name="Text 8"/>
          <p:cNvSpPr/>
          <p:nvPr/>
        </p:nvSpPr>
        <p:spPr>
          <a:xfrm>
            <a:off x="2055019" y="5864304"/>
            <a:ext cx="11417260" cy="328732"/>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Adjust q(x) based on previous samples</a:t>
            </a:r>
            <a:endParaRPr lang="en-US" sz="1600" dirty="0"/>
          </a:p>
        </p:txBody>
      </p:sp>
      <p:sp>
        <p:nvSpPr>
          <p:cNvPr id="15" name="Text 9"/>
          <p:cNvSpPr/>
          <p:nvPr/>
        </p:nvSpPr>
        <p:spPr>
          <a:xfrm>
            <a:off x="719257" y="6678573"/>
            <a:ext cx="12753023" cy="986195"/>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In adaptive importance sampling, the exploration-exploitation trade-off manifests as choosing between sampling from regions where q(x) is already known to give high weight (exploit) versus sampling from less-known regions to avoid missing important contributions (explore).</a:t>
            </a:r>
            <a:endParaRPr lang="en-US" sz="1600" dirty="0"/>
          </a:p>
        </p:txBody>
      </p:sp>
      <p:pic>
        <p:nvPicPr>
          <p:cNvPr id="16" name="Image 4" descr="preencoded.png">    </p:cNvPr>
          <p:cNvPicPr>
            <a:picLocks noChangeAspect="1"/>
          </p:cNvPicPr>
          <p:nvPr/>
        </p:nvPicPr>
        <p:blipFill>
          <a:blip r:embed="rId5"/>
          <a:stretch>
            <a:fillRect/>
          </a:stretch>
        </p:blipFill>
        <p:spPr>
          <a:xfrm>
            <a:off x="13700760" y="228600"/>
            <a:ext cx="701040" cy="6641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757601"/>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Risks of Imbalance</a:t>
            </a:r>
            <a:endParaRPr lang="en-US" sz="4450" dirty="0"/>
          </a:p>
        </p:txBody>
      </p:sp>
      <p:sp>
        <p:nvSpPr>
          <p:cNvPr id="3" name="Text 1"/>
          <p:cNvSpPr/>
          <p:nvPr/>
        </p:nvSpPr>
        <p:spPr>
          <a:xfrm>
            <a:off x="793790" y="3033355"/>
            <a:ext cx="324421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Over-Exploitation Risks</a:t>
            </a:r>
            <a:endParaRPr lang="en-US" sz="2200" dirty="0"/>
          </a:p>
        </p:txBody>
      </p:sp>
      <p:sp>
        <p:nvSpPr>
          <p:cNvPr id="4" name="Text 2"/>
          <p:cNvSpPr/>
          <p:nvPr/>
        </p:nvSpPr>
        <p:spPr>
          <a:xfrm>
            <a:off x="793790" y="3614499"/>
            <a:ext cx="6062543"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Missing out on better options that haven't been sufficiently explored</a:t>
            </a:r>
            <a:endParaRPr lang="en-US" sz="1750" dirty="0"/>
          </a:p>
        </p:txBody>
      </p:sp>
      <p:sp>
        <p:nvSpPr>
          <p:cNvPr id="5" name="Text 3"/>
          <p:cNvSpPr/>
          <p:nvPr/>
        </p:nvSpPr>
        <p:spPr>
          <a:xfrm>
            <a:off x="793790" y="4419600"/>
            <a:ext cx="6062543"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Getting stuck in local optima rather than finding global solutions</a:t>
            </a:r>
            <a:endParaRPr lang="en-US" sz="1750" dirty="0"/>
          </a:p>
        </p:txBody>
      </p:sp>
      <p:sp>
        <p:nvSpPr>
          <p:cNvPr id="6" name="Text 4"/>
          <p:cNvSpPr/>
          <p:nvPr/>
        </p:nvSpPr>
        <p:spPr>
          <a:xfrm>
            <a:off x="793790" y="5224701"/>
            <a:ext cx="6062543"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Developing biased estimates, especially if initial samples are misleading</a:t>
            </a:r>
            <a:endParaRPr lang="en-US" sz="1750" dirty="0"/>
          </a:p>
        </p:txBody>
      </p:sp>
      <p:sp>
        <p:nvSpPr>
          <p:cNvPr id="7" name="Text 5"/>
          <p:cNvSpPr/>
          <p:nvPr/>
        </p:nvSpPr>
        <p:spPr>
          <a:xfrm>
            <a:off x="793790" y="6029801"/>
            <a:ext cx="6062543"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Premature convergence to suboptimal solutions</a:t>
            </a:r>
            <a:endParaRPr lang="en-US" sz="1750" dirty="0"/>
          </a:p>
        </p:txBody>
      </p:sp>
      <p:sp>
        <p:nvSpPr>
          <p:cNvPr id="8" name="Text 6"/>
          <p:cNvSpPr/>
          <p:nvPr/>
        </p:nvSpPr>
        <p:spPr>
          <a:xfrm>
            <a:off x="7417356" y="3033355"/>
            <a:ext cx="3173849"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Over-Exploration Risks</a:t>
            </a:r>
            <a:endParaRPr lang="en-US" sz="2200" dirty="0"/>
          </a:p>
        </p:txBody>
      </p:sp>
      <p:sp>
        <p:nvSpPr>
          <p:cNvPr id="9" name="Text 7"/>
          <p:cNvSpPr/>
          <p:nvPr/>
        </p:nvSpPr>
        <p:spPr>
          <a:xfrm>
            <a:off x="7417356" y="3614499"/>
            <a:ext cx="6062543"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Wasting computational resources on clearly inferior options</a:t>
            </a:r>
            <a:endParaRPr lang="en-US" sz="1750" dirty="0"/>
          </a:p>
        </p:txBody>
      </p:sp>
      <p:sp>
        <p:nvSpPr>
          <p:cNvPr id="10" name="Text 8"/>
          <p:cNvSpPr/>
          <p:nvPr/>
        </p:nvSpPr>
        <p:spPr>
          <a:xfrm>
            <a:off x="7417356" y="4419600"/>
            <a:ext cx="6062543"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Slow convergence to good solutions due to excessive randomness</a:t>
            </a:r>
            <a:endParaRPr lang="en-US" sz="1750" dirty="0"/>
          </a:p>
        </p:txBody>
      </p:sp>
      <p:sp>
        <p:nvSpPr>
          <p:cNvPr id="11" name="Text 9"/>
          <p:cNvSpPr/>
          <p:nvPr/>
        </p:nvSpPr>
        <p:spPr>
          <a:xfrm>
            <a:off x="7417356" y="5224701"/>
            <a:ext cx="6062543"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High variance in estimates from constant shifting of focus</a:t>
            </a:r>
            <a:endParaRPr lang="en-US" sz="1750" dirty="0"/>
          </a:p>
        </p:txBody>
      </p:sp>
      <p:sp>
        <p:nvSpPr>
          <p:cNvPr id="12" name="Text 10"/>
          <p:cNvSpPr/>
          <p:nvPr/>
        </p:nvSpPr>
        <p:spPr>
          <a:xfrm>
            <a:off x="7417356" y="6029801"/>
            <a:ext cx="6062543"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000000"/>
                </a:solidFill>
                <a:latin typeface="Inter" pitchFamily="34" charset="0"/>
                <a:ea typeface="Inter" pitchFamily="34" charset="-122"/>
                <a:cs typeface="Inter" pitchFamily="34" charset="-120"/>
              </a:rPr>
              <a:t>Inefficient use of limited sampling budget</a:t>
            </a:r>
            <a:endParaRPr lang="en-US" sz="1750" dirty="0"/>
          </a:p>
        </p:txBody>
      </p:sp>
      <p:pic>
        <p:nvPicPr>
          <p:cNvPr id="13"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686520"/>
            <a:ext cx="12678489"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Balancing Strategies: UCT and Epsilon-Greedy</a:t>
            </a:r>
            <a:endParaRPr lang="en-US" sz="4450" dirty="0"/>
          </a:p>
        </p:txBody>
      </p:sp>
      <p:pic>
        <p:nvPicPr>
          <p:cNvPr id="3" name="Image 0" descr="preencoded.png">    </p:cNvPr>
          <p:cNvPicPr>
            <a:picLocks noChangeAspect="1"/>
          </p:cNvPicPr>
          <p:nvPr/>
        </p:nvPicPr>
        <p:blipFill>
          <a:blip r:embed="rId1"/>
          <a:stretch>
            <a:fillRect/>
          </a:stretch>
        </p:blipFill>
        <p:spPr>
          <a:xfrm>
            <a:off x="793790" y="3444240"/>
            <a:ext cx="566976" cy="566976"/>
          </a:xfrm>
          <a:prstGeom prst="rect">
            <a:avLst/>
          </a:prstGeom>
        </p:spPr>
      </p:pic>
      <p:sp>
        <p:nvSpPr>
          <p:cNvPr id="4" name="Text 1"/>
          <p:cNvSpPr/>
          <p:nvPr/>
        </p:nvSpPr>
        <p:spPr>
          <a:xfrm>
            <a:off x="793790" y="423803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UCT (in MCTS)</a:t>
            </a:r>
            <a:endParaRPr lang="en-US" sz="2200" dirty="0"/>
          </a:p>
        </p:txBody>
      </p:sp>
      <p:sp>
        <p:nvSpPr>
          <p:cNvPr id="5" name="Text 2"/>
          <p:cNvSpPr/>
          <p:nvPr/>
        </p:nvSpPr>
        <p:spPr>
          <a:xfrm>
            <a:off x="793790" y="4728448"/>
            <a:ext cx="4037171"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Mathematical approach using confidence bounds to balance exploration and exploitation. The exploration term naturally decreases as nodes are visited more frequently.</a:t>
            </a:r>
            <a:endParaRPr lang="en-US" sz="1750" dirty="0"/>
          </a:p>
        </p:txBody>
      </p:sp>
      <p:pic>
        <p:nvPicPr>
          <p:cNvPr id="6" name="Image 1" descr="preencoded.png">    </p:cNvPr>
          <p:cNvPicPr>
            <a:picLocks noChangeAspect="1"/>
          </p:cNvPicPr>
          <p:nvPr/>
        </p:nvPicPr>
        <p:blipFill>
          <a:blip r:embed="rId2"/>
          <a:stretch>
            <a:fillRect/>
          </a:stretch>
        </p:blipFill>
        <p:spPr>
          <a:xfrm>
            <a:off x="5114449" y="3444240"/>
            <a:ext cx="566976" cy="566976"/>
          </a:xfrm>
          <a:prstGeom prst="rect">
            <a:avLst/>
          </a:prstGeom>
        </p:spPr>
      </p:pic>
      <p:sp>
        <p:nvSpPr>
          <p:cNvPr id="7" name="Text 3"/>
          <p:cNvSpPr/>
          <p:nvPr/>
        </p:nvSpPr>
        <p:spPr>
          <a:xfrm>
            <a:off x="5114449" y="423803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Epsilon-Greedy</a:t>
            </a:r>
            <a:endParaRPr lang="en-US" sz="2200" dirty="0"/>
          </a:p>
        </p:txBody>
      </p:sp>
      <p:sp>
        <p:nvSpPr>
          <p:cNvPr id="8" name="Text 4"/>
          <p:cNvSpPr/>
          <p:nvPr/>
        </p:nvSpPr>
        <p:spPr>
          <a:xfrm>
            <a:off x="5114449" y="4728448"/>
            <a:ext cx="4037171"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Choose random action with probability ε (exploration), and select the best-known action with probability 1-ε (exploitation). Simple but effective in many scenarios.</a:t>
            </a:r>
            <a:endParaRPr lang="en-US" sz="1750" dirty="0"/>
          </a:p>
        </p:txBody>
      </p:sp>
      <p:pic>
        <p:nvPicPr>
          <p:cNvPr id="9" name="Image 2" descr="preencoded.png">    </p:cNvPr>
          <p:cNvPicPr>
            <a:picLocks noChangeAspect="1"/>
          </p:cNvPicPr>
          <p:nvPr/>
        </p:nvPicPr>
        <p:blipFill>
          <a:blip r:embed="rId3"/>
          <a:stretch>
            <a:fillRect/>
          </a:stretch>
        </p:blipFill>
        <p:spPr>
          <a:xfrm>
            <a:off x="9435108" y="3444240"/>
            <a:ext cx="566976" cy="566976"/>
          </a:xfrm>
          <a:prstGeom prst="rect">
            <a:avLst/>
          </a:prstGeom>
        </p:spPr>
      </p:pic>
      <p:sp>
        <p:nvSpPr>
          <p:cNvPr id="10" name="Text 5"/>
          <p:cNvSpPr/>
          <p:nvPr/>
        </p:nvSpPr>
        <p:spPr>
          <a:xfrm>
            <a:off x="9435108" y="423803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Annealing</a:t>
            </a:r>
            <a:endParaRPr lang="en-US" sz="2200" dirty="0"/>
          </a:p>
        </p:txBody>
      </p:sp>
      <p:sp>
        <p:nvSpPr>
          <p:cNvPr id="11" name="Text 6"/>
          <p:cNvSpPr/>
          <p:nvPr/>
        </p:nvSpPr>
        <p:spPr>
          <a:xfrm>
            <a:off x="9435108" y="4728448"/>
            <a:ext cx="4037171"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Gradually decrease the exploration parameter over time, starting with high exploration and shifting toward exploitation as knowledge improves.</a:t>
            </a:r>
            <a:endParaRPr lang="en-US" sz="1750" dirty="0"/>
          </a:p>
        </p:txBody>
      </p:sp>
      <p:pic>
        <p:nvPicPr>
          <p:cNvPr id="12"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04136"/>
            <a:ext cx="12678489"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Balancing Strategies: Probabilistic Approaches</a:t>
            </a:r>
            <a:endParaRPr lang="en-US" sz="4450" dirty="0"/>
          </a:p>
        </p:txBody>
      </p:sp>
      <p:sp>
        <p:nvSpPr>
          <p:cNvPr id="3" name="Text 1"/>
          <p:cNvSpPr/>
          <p:nvPr/>
        </p:nvSpPr>
        <p:spPr>
          <a:xfrm>
            <a:off x="1738908" y="2575322"/>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Softmax/Boltzmann</a:t>
            </a:r>
            <a:endParaRPr lang="en-US" sz="2200" dirty="0"/>
          </a:p>
        </p:txBody>
      </p:sp>
      <p:sp>
        <p:nvSpPr>
          <p:cNvPr id="4" name="Text 2"/>
          <p:cNvSpPr/>
          <p:nvPr/>
        </p:nvSpPr>
        <p:spPr>
          <a:xfrm>
            <a:off x="793790" y="3065740"/>
            <a:ext cx="3780353" cy="1814513"/>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Converts rewards into probabilities, with a temperature parameter controlling randomness. Higher temperature means more exploration.</a:t>
            </a:r>
            <a:endParaRPr lang="en-US" sz="1750" dirty="0"/>
          </a:p>
        </p:txBody>
      </p:sp>
      <p:pic>
        <p:nvPicPr>
          <p:cNvPr id="5" name="Image 0" descr="preencoded.png">    </p:cNvPr>
          <p:cNvPicPr>
            <a:picLocks noChangeAspect="1"/>
          </p:cNvPicPr>
          <p:nvPr/>
        </p:nvPicPr>
        <p:blipFill>
          <a:blip r:embed="rId1"/>
          <a:stretch>
            <a:fillRect/>
          </a:stretch>
        </p:blipFill>
        <p:spPr>
          <a:xfrm>
            <a:off x="4914305" y="2831544"/>
            <a:ext cx="4437459" cy="4437459"/>
          </a:xfrm>
          <a:prstGeom prst="rect">
            <a:avLst/>
          </a:prstGeom>
        </p:spPr>
      </p:pic>
      <p:pic>
        <p:nvPicPr>
          <p:cNvPr id="6" name="Image 1" descr="preencoded.png">    </p:cNvPr>
          <p:cNvPicPr>
            <a:picLocks noChangeAspect="1"/>
          </p:cNvPicPr>
          <p:nvPr/>
        </p:nvPicPr>
        <p:blipFill>
          <a:blip r:embed="rId2"/>
          <a:stretch>
            <a:fillRect/>
          </a:stretch>
        </p:blipFill>
        <p:spPr>
          <a:xfrm>
            <a:off x="6070282" y="3567351"/>
            <a:ext cx="339328" cy="424220"/>
          </a:xfrm>
          <a:prstGeom prst="rect">
            <a:avLst/>
          </a:prstGeom>
        </p:spPr>
      </p:pic>
      <p:sp>
        <p:nvSpPr>
          <p:cNvPr id="7" name="Text 3"/>
          <p:cNvSpPr/>
          <p:nvPr/>
        </p:nvSpPr>
        <p:spPr>
          <a:xfrm>
            <a:off x="9691926" y="2575322"/>
            <a:ext cx="2848928"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Thompson Sampling</a:t>
            </a:r>
            <a:endParaRPr lang="en-US" sz="2200" dirty="0"/>
          </a:p>
        </p:txBody>
      </p:sp>
      <p:sp>
        <p:nvSpPr>
          <p:cNvPr id="8" name="Text 4"/>
          <p:cNvSpPr/>
          <p:nvPr/>
        </p:nvSpPr>
        <p:spPr>
          <a:xfrm>
            <a:off x="9691926" y="3065740"/>
            <a:ext cx="3780353"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Samples from posterior distributions of rewards to naturally balance based on uncertainty. More uncertainty leads to more exploration.</a:t>
            </a:r>
            <a:endParaRPr lang="en-US" sz="1750" dirty="0"/>
          </a:p>
        </p:txBody>
      </p:sp>
      <p:pic>
        <p:nvPicPr>
          <p:cNvPr id="9" name="Image 2" descr="preencoded.png">    </p:cNvPr>
          <p:cNvPicPr>
            <a:picLocks noChangeAspect="1"/>
          </p:cNvPicPr>
          <p:nvPr/>
        </p:nvPicPr>
        <p:blipFill>
          <a:blip r:embed="rId3"/>
          <a:stretch>
            <a:fillRect/>
          </a:stretch>
        </p:blipFill>
        <p:spPr>
          <a:xfrm>
            <a:off x="4914305" y="2831544"/>
            <a:ext cx="4437459" cy="4437459"/>
          </a:xfrm>
          <a:prstGeom prst="rect">
            <a:avLst/>
          </a:prstGeom>
        </p:spPr>
      </p:pic>
      <p:pic>
        <p:nvPicPr>
          <p:cNvPr id="10" name="Image 3" descr="preencoded.png">    </p:cNvPr>
          <p:cNvPicPr>
            <a:picLocks noChangeAspect="1"/>
          </p:cNvPicPr>
          <p:nvPr/>
        </p:nvPicPr>
        <p:blipFill>
          <a:blip r:embed="rId4"/>
          <a:stretch>
            <a:fillRect/>
          </a:stretch>
        </p:blipFill>
        <p:spPr>
          <a:xfrm>
            <a:off x="8234005" y="3945017"/>
            <a:ext cx="339328" cy="424220"/>
          </a:xfrm>
          <a:prstGeom prst="rect">
            <a:avLst/>
          </a:prstGeom>
        </p:spPr>
      </p:pic>
      <p:sp>
        <p:nvSpPr>
          <p:cNvPr id="11" name="Text 5"/>
          <p:cNvSpPr/>
          <p:nvPr/>
        </p:nvSpPr>
        <p:spPr>
          <a:xfrm>
            <a:off x="9691926" y="5220414"/>
            <a:ext cx="3095506"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Bayesian Optimization</a:t>
            </a:r>
            <a:endParaRPr lang="en-US" sz="2200" dirty="0"/>
          </a:p>
        </p:txBody>
      </p:sp>
      <p:sp>
        <p:nvSpPr>
          <p:cNvPr id="12" name="Text 6"/>
          <p:cNvSpPr/>
          <p:nvPr/>
        </p:nvSpPr>
        <p:spPr>
          <a:xfrm>
            <a:off x="9691926" y="5710833"/>
            <a:ext cx="3780353"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Uses acquisition functions like Upper Confidence Bound (UCB) or Expected Improvement (EI) to guide exploration based on predicted value and uncertainty.</a:t>
            </a:r>
            <a:endParaRPr lang="en-US" sz="1750" dirty="0"/>
          </a:p>
        </p:txBody>
      </p:sp>
      <p:pic>
        <p:nvPicPr>
          <p:cNvPr id="13" name="Image 4" descr="preencoded.png">    </p:cNvPr>
          <p:cNvPicPr>
            <a:picLocks noChangeAspect="1"/>
          </p:cNvPicPr>
          <p:nvPr/>
        </p:nvPicPr>
        <p:blipFill>
          <a:blip r:embed="rId5"/>
          <a:stretch>
            <a:fillRect/>
          </a:stretch>
        </p:blipFill>
        <p:spPr>
          <a:xfrm>
            <a:off x="4914305" y="2831544"/>
            <a:ext cx="4437459" cy="4437459"/>
          </a:xfrm>
          <a:prstGeom prst="rect">
            <a:avLst/>
          </a:prstGeom>
        </p:spPr>
      </p:pic>
      <p:pic>
        <p:nvPicPr>
          <p:cNvPr id="14" name="Image 5" descr="preencoded.png">    </p:cNvPr>
          <p:cNvPicPr>
            <a:picLocks noChangeAspect="1"/>
          </p:cNvPicPr>
          <p:nvPr/>
        </p:nvPicPr>
        <p:blipFill>
          <a:blip r:embed="rId6"/>
          <a:stretch>
            <a:fillRect/>
          </a:stretch>
        </p:blipFill>
        <p:spPr>
          <a:xfrm>
            <a:off x="7856339" y="6108740"/>
            <a:ext cx="339328" cy="424220"/>
          </a:xfrm>
          <a:prstGeom prst="rect">
            <a:avLst/>
          </a:prstGeom>
        </p:spPr>
      </p:pic>
      <p:sp>
        <p:nvSpPr>
          <p:cNvPr id="15" name="Text 7"/>
          <p:cNvSpPr/>
          <p:nvPr/>
        </p:nvSpPr>
        <p:spPr>
          <a:xfrm>
            <a:off x="1738908" y="5401866"/>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Contextual Bandits</a:t>
            </a:r>
            <a:endParaRPr lang="en-US" sz="2200" dirty="0"/>
          </a:p>
        </p:txBody>
      </p:sp>
      <p:sp>
        <p:nvSpPr>
          <p:cNvPr id="16" name="Text 8"/>
          <p:cNvSpPr/>
          <p:nvPr/>
        </p:nvSpPr>
        <p:spPr>
          <a:xfrm>
            <a:off x="793790" y="5892284"/>
            <a:ext cx="3780353" cy="1451610"/>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Adapts exploration based on context or state, allowing for more intelligent exploration in relevant situations.</a:t>
            </a:r>
            <a:endParaRPr lang="en-US" sz="1750" dirty="0"/>
          </a:p>
        </p:txBody>
      </p:sp>
      <p:pic>
        <p:nvPicPr>
          <p:cNvPr id="17" name="Image 6" descr="preencoded.png">    </p:cNvPr>
          <p:cNvPicPr>
            <a:picLocks noChangeAspect="1"/>
          </p:cNvPicPr>
          <p:nvPr/>
        </p:nvPicPr>
        <p:blipFill>
          <a:blip r:embed="rId7"/>
          <a:stretch>
            <a:fillRect/>
          </a:stretch>
        </p:blipFill>
        <p:spPr>
          <a:xfrm>
            <a:off x="4914305" y="2831544"/>
            <a:ext cx="4437459" cy="4437459"/>
          </a:xfrm>
          <a:prstGeom prst="rect">
            <a:avLst/>
          </a:prstGeom>
        </p:spPr>
      </p:pic>
      <p:pic>
        <p:nvPicPr>
          <p:cNvPr id="18" name="Image 7" descr="preencoded.png">    </p:cNvPr>
          <p:cNvPicPr>
            <a:picLocks noChangeAspect="1"/>
          </p:cNvPicPr>
          <p:nvPr/>
        </p:nvPicPr>
        <p:blipFill>
          <a:blip r:embed="rId8"/>
          <a:stretch>
            <a:fillRect/>
          </a:stretch>
        </p:blipFill>
        <p:spPr>
          <a:xfrm>
            <a:off x="5692616" y="5731073"/>
            <a:ext cx="339328" cy="424220"/>
          </a:xfrm>
          <a:prstGeom prst="rect">
            <a:avLst/>
          </a:prstGeom>
        </p:spPr>
      </p:pic>
      <p:pic>
        <p:nvPicPr>
          <p:cNvPr id="19" name="Image 8" descr="preencoded.png">    </p:cNvPr>
          <p:cNvPicPr>
            <a:picLocks noChangeAspect="1"/>
          </p:cNvPicPr>
          <p:nvPr/>
        </p:nvPicPr>
        <p:blipFill>
          <a:blip r:embed="rId9"/>
          <a:stretch>
            <a:fillRect/>
          </a:stretch>
        </p:blipFill>
        <p:spPr>
          <a:xfrm>
            <a:off x="13700760" y="228600"/>
            <a:ext cx="701040" cy="6641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7115" y="571262"/>
            <a:ext cx="5335310" cy="649129"/>
          </a:xfrm>
          <a:prstGeom prst="rect">
            <a:avLst/>
          </a:prstGeom>
          <a:noFill/>
          <a:ln/>
        </p:spPr>
        <p:txBody>
          <a:bodyPr wrap="none" lIns="0" tIns="0" rIns="0" bIns="0" rtlCol="0" anchor="t"/>
          <a:lstStyle/>
          <a:p>
            <a:pPr algn="l" indent="0" marL="0">
              <a:lnSpc>
                <a:spcPts val="5100"/>
              </a:lnSpc>
              <a:buNone/>
            </a:pPr>
            <a:r>
              <a:rPr lang="en-US" sz="4050" b="1" dirty="0">
                <a:solidFill>
                  <a:srgbClr val="000000"/>
                </a:solidFill>
                <a:latin typeface="Inter Bold" pitchFamily="34" charset="0"/>
                <a:ea typeface="Inter Bold" pitchFamily="34" charset="-122"/>
                <a:cs typeface="Inter Bold" pitchFamily="34" charset="-120"/>
              </a:rPr>
              <a:t>Application: Game AI</a:t>
            </a:r>
            <a:endParaRPr lang="en-US" sz="4050" dirty="0"/>
          </a:p>
        </p:txBody>
      </p:sp>
      <p:sp>
        <p:nvSpPr>
          <p:cNvPr id="3" name="Shape 1"/>
          <p:cNvSpPr/>
          <p:nvPr/>
        </p:nvSpPr>
        <p:spPr>
          <a:xfrm>
            <a:off x="727115" y="1635800"/>
            <a:ext cx="2124075" cy="1529239"/>
          </a:xfrm>
          <a:prstGeom prst="roundRect">
            <a:avLst>
              <a:gd name="adj" fmla="val 5706"/>
            </a:avLst>
          </a:prstGeom>
          <a:solidFill>
            <a:srgbClr val="D2EDF9"/>
          </a:solidFill>
          <a:ln w="7620">
            <a:solidFill>
              <a:srgbClr val="B8D3DF"/>
            </a:solidFill>
            <a:prstDash val="solid"/>
          </a:ln>
        </p:spPr>
      </p:sp>
      <p:pic>
        <p:nvPicPr>
          <p:cNvPr id="4" name="Image 0" descr="preencoded.png">    </p:cNvPr>
          <p:cNvPicPr>
            <a:picLocks noChangeAspect="1"/>
          </p:cNvPicPr>
          <p:nvPr/>
        </p:nvPicPr>
        <p:blipFill>
          <a:blip r:embed="rId1"/>
          <a:stretch>
            <a:fillRect/>
          </a:stretch>
        </p:blipFill>
        <p:spPr>
          <a:xfrm>
            <a:off x="1643063" y="2217777"/>
            <a:ext cx="292060" cy="365165"/>
          </a:xfrm>
          <a:prstGeom prst="rect">
            <a:avLst/>
          </a:prstGeom>
        </p:spPr>
      </p:pic>
      <p:sp>
        <p:nvSpPr>
          <p:cNvPr id="5" name="Text 2"/>
          <p:cNvSpPr/>
          <p:nvPr/>
        </p:nvSpPr>
        <p:spPr>
          <a:xfrm>
            <a:off x="3058835" y="1843445"/>
            <a:ext cx="2596753" cy="324564"/>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Inter Bold" pitchFamily="34" charset="0"/>
                <a:ea typeface="Inter Bold" pitchFamily="34" charset="-122"/>
                <a:cs typeface="Inter Bold" pitchFamily="34" charset="-120"/>
              </a:rPr>
              <a:t>Traditional Games</a:t>
            </a:r>
            <a:endParaRPr lang="en-US" sz="2000" dirty="0"/>
          </a:p>
        </p:txBody>
      </p:sp>
      <p:sp>
        <p:nvSpPr>
          <p:cNvPr id="6" name="Text 3"/>
          <p:cNvSpPr/>
          <p:nvPr/>
        </p:nvSpPr>
        <p:spPr>
          <a:xfrm>
            <a:off x="3058835" y="2292548"/>
            <a:ext cx="10205799" cy="664845"/>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Inter" pitchFamily="34" charset="0"/>
                <a:ea typeface="Inter" pitchFamily="34" charset="-122"/>
                <a:cs typeface="Inter" pitchFamily="34" charset="-120"/>
              </a:rPr>
              <a:t>Chess, Go, and other board games use MCTS to balance between exploring new move sequences and exploiting known strong lines.</a:t>
            </a:r>
            <a:endParaRPr lang="en-US" sz="1600" dirty="0"/>
          </a:p>
        </p:txBody>
      </p:sp>
      <p:sp>
        <p:nvSpPr>
          <p:cNvPr id="7" name="Shape 4"/>
          <p:cNvSpPr/>
          <p:nvPr/>
        </p:nvSpPr>
        <p:spPr>
          <a:xfrm>
            <a:off x="2955012" y="3155513"/>
            <a:ext cx="10413444" cy="11430"/>
          </a:xfrm>
          <a:prstGeom prst="roundRect">
            <a:avLst>
              <a:gd name="adj" fmla="val 763384"/>
            </a:avLst>
          </a:prstGeom>
          <a:solidFill>
            <a:srgbClr val="B8D3DF"/>
          </a:solidFill>
          <a:ln/>
        </p:spPr>
      </p:sp>
      <p:sp>
        <p:nvSpPr>
          <p:cNvPr id="8" name="Shape 5"/>
          <p:cNvSpPr/>
          <p:nvPr/>
        </p:nvSpPr>
        <p:spPr>
          <a:xfrm>
            <a:off x="727115" y="3268861"/>
            <a:ext cx="4248269" cy="1529239"/>
          </a:xfrm>
          <a:prstGeom prst="roundRect">
            <a:avLst>
              <a:gd name="adj" fmla="val 5706"/>
            </a:avLst>
          </a:prstGeom>
          <a:solidFill>
            <a:srgbClr val="D2EDF9"/>
          </a:solidFill>
          <a:ln w="7620">
            <a:solidFill>
              <a:srgbClr val="B8D3DF"/>
            </a:solidFill>
            <a:prstDash val="solid"/>
          </a:ln>
        </p:spPr>
      </p:sp>
      <p:pic>
        <p:nvPicPr>
          <p:cNvPr id="9" name="Image 1" descr="preencoded.png">    </p:cNvPr>
          <p:cNvPicPr>
            <a:picLocks noChangeAspect="1"/>
          </p:cNvPicPr>
          <p:nvPr/>
        </p:nvPicPr>
        <p:blipFill>
          <a:blip r:embed="rId2"/>
          <a:stretch>
            <a:fillRect/>
          </a:stretch>
        </p:blipFill>
        <p:spPr>
          <a:xfrm>
            <a:off x="2705219" y="3850838"/>
            <a:ext cx="292060" cy="365165"/>
          </a:xfrm>
          <a:prstGeom prst="rect">
            <a:avLst/>
          </a:prstGeom>
        </p:spPr>
      </p:pic>
      <p:sp>
        <p:nvSpPr>
          <p:cNvPr id="10" name="Text 6"/>
          <p:cNvSpPr/>
          <p:nvPr/>
        </p:nvSpPr>
        <p:spPr>
          <a:xfrm>
            <a:off x="5183029" y="3476506"/>
            <a:ext cx="3434120" cy="324564"/>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Inter Bold" pitchFamily="34" charset="0"/>
                <a:ea typeface="Inter Bold" pitchFamily="34" charset="-122"/>
                <a:cs typeface="Inter Bold" pitchFamily="34" charset="-120"/>
              </a:rPr>
              <a:t>Neural Network Integration</a:t>
            </a:r>
            <a:endParaRPr lang="en-US" sz="2000" dirty="0"/>
          </a:p>
        </p:txBody>
      </p:sp>
      <p:sp>
        <p:nvSpPr>
          <p:cNvPr id="11" name="Text 7"/>
          <p:cNvSpPr/>
          <p:nvPr/>
        </p:nvSpPr>
        <p:spPr>
          <a:xfrm>
            <a:off x="5183029" y="3925610"/>
            <a:ext cx="8081605" cy="664845"/>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Inter" pitchFamily="34" charset="0"/>
                <a:ea typeface="Inter" pitchFamily="34" charset="-122"/>
                <a:cs typeface="Inter" pitchFamily="34" charset="-120"/>
              </a:rPr>
              <a:t>AlphaGo and AlphaZero combine MCTS with deep neural networks, using learned policies to guide exploration more efficiently.</a:t>
            </a:r>
            <a:endParaRPr lang="en-US" sz="1600" dirty="0"/>
          </a:p>
        </p:txBody>
      </p:sp>
      <p:sp>
        <p:nvSpPr>
          <p:cNvPr id="12" name="Shape 8"/>
          <p:cNvSpPr/>
          <p:nvPr/>
        </p:nvSpPr>
        <p:spPr>
          <a:xfrm>
            <a:off x="5079206" y="4788575"/>
            <a:ext cx="8289250" cy="11430"/>
          </a:xfrm>
          <a:prstGeom prst="roundRect">
            <a:avLst>
              <a:gd name="adj" fmla="val 763384"/>
            </a:avLst>
          </a:prstGeom>
          <a:solidFill>
            <a:srgbClr val="B8D3DF"/>
          </a:solidFill>
          <a:ln/>
        </p:spPr>
      </p:sp>
      <p:sp>
        <p:nvSpPr>
          <p:cNvPr id="13" name="Shape 9"/>
          <p:cNvSpPr/>
          <p:nvPr/>
        </p:nvSpPr>
        <p:spPr>
          <a:xfrm>
            <a:off x="727115" y="4901922"/>
            <a:ext cx="6372582" cy="1861661"/>
          </a:xfrm>
          <a:prstGeom prst="roundRect">
            <a:avLst>
              <a:gd name="adj" fmla="val 4687"/>
            </a:avLst>
          </a:prstGeom>
          <a:solidFill>
            <a:srgbClr val="D2EDF9"/>
          </a:solidFill>
          <a:ln w="7620">
            <a:solidFill>
              <a:srgbClr val="B8D3DF"/>
            </a:solidFill>
            <a:prstDash val="solid"/>
          </a:ln>
        </p:spPr>
      </p:sp>
      <p:pic>
        <p:nvPicPr>
          <p:cNvPr id="14" name="Image 2" descr="preencoded.png">    </p:cNvPr>
          <p:cNvPicPr>
            <a:picLocks noChangeAspect="1"/>
          </p:cNvPicPr>
          <p:nvPr/>
        </p:nvPicPr>
        <p:blipFill>
          <a:blip r:embed="rId3"/>
          <a:stretch>
            <a:fillRect/>
          </a:stretch>
        </p:blipFill>
        <p:spPr>
          <a:xfrm>
            <a:off x="3767376" y="5650111"/>
            <a:ext cx="292060" cy="365165"/>
          </a:xfrm>
          <a:prstGeom prst="rect">
            <a:avLst/>
          </a:prstGeom>
        </p:spPr>
      </p:pic>
      <p:sp>
        <p:nvSpPr>
          <p:cNvPr id="15" name="Text 10"/>
          <p:cNvSpPr/>
          <p:nvPr/>
        </p:nvSpPr>
        <p:spPr>
          <a:xfrm>
            <a:off x="7307342" y="5109567"/>
            <a:ext cx="2781062" cy="324564"/>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Inter Bold" pitchFamily="34" charset="0"/>
                <a:ea typeface="Inter Bold" pitchFamily="34" charset="-122"/>
                <a:cs typeface="Inter Bold" pitchFamily="34" charset="-120"/>
              </a:rPr>
              <a:t>Advanced AI Systems</a:t>
            </a:r>
            <a:endParaRPr lang="en-US" sz="2000" dirty="0"/>
          </a:p>
        </p:txBody>
      </p:sp>
      <p:sp>
        <p:nvSpPr>
          <p:cNvPr id="16" name="Text 11"/>
          <p:cNvSpPr/>
          <p:nvPr/>
        </p:nvSpPr>
        <p:spPr>
          <a:xfrm>
            <a:off x="7307342" y="5558671"/>
            <a:ext cx="5957292" cy="997268"/>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Inter" pitchFamily="34" charset="0"/>
                <a:ea typeface="Inter" pitchFamily="34" charset="-122"/>
                <a:cs typeface="Inter" pitchFamily="34" charset="-120"/>
              </a:rPr>
              <a:t>Modern game AI uses sophisticated exploration strategies that adapt based on game state, time constraints, and opponent modeling.</a:t>
            </a:r>
            <a:endParaRPr lang="en-US" sz="1600" dirty="0"/>
          </a:p>
        </p:txBody>
      </p:sp>
      <p:sp>
        <p:nvSpPr>
          <p:cNvPr id="17" name="Text 12"/>
          <p:cNvSpPr/>
          <p:nvPr/>
        </p:nvSpPr>
        <p:spPr>
          <a:xfrm>
            <a:off x="727115" y="6997184"/>
            <a:ext cx="12745164" cy="664845"/>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Inter" pitchFamily="34" charset="0"/>
                <a:ea typeface="Inter" pitchFamily="34" charset="-122"/>
                <a:cs typeface="Inter" pitchFamily="34" charset="-120"/>
              </a:rPr>
              <a:t>In game AI, the exploration-exploitation balance is crucial for discovering novel strategies while still playing competitively. Too much exploitation leads to predictable play, while too much exploration results in weak, random moves.</a:t>
            </a:r>
            <a:endParaRPr lang="en-US" sz="1600" dirty="0"/>
          </a:p>
        </p:txBody>
      </p:sp>
      <p:pic>
        <p:nvPicPr>
          <p:cNvPr id="18"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15685" y="562332"/>
            <a:ext cx="8707874" cy="639008"/>
          </a:xfrm>
          <a:prstGeom prst="rect">
            <a:avLst/>
          </a:prstGeom>
          <a:noFill/>
          <a:ln/>
        </p:spPr>
        <p:txBody>
          <a:bodyPr wrap="none" lIns="0" tIns="0" rIns="0" bIns="0" rtlCol="0" anchor="t"/>
          <a:lstStyle/>
          <a:p>
            <a:pPr algn="l" indent="0" marL="0">
              <a:lnSpc>
                <a:spcPts val="5000"/>
              </a:lnSpc>
              <a:buNone/>
            </a:pPr>
            <a:r>
              <a:rPr lang="en-US" sz="4000" b="1" dirty="0">
                <a:solidFill>
                  <a:srgbClr val="000000"/>
                </a:solidFill>
                <a:latin typeface="Inter Bold" pitchFamily="34" charset="0"/>
                <a:ea typeface="Inter Bold" pitchFamily="34" charset="-122"/>
                <a:cs typeface="Inter Bold" pitchFamily="34" charset="-120"/>
              </a:rPr>
              <a:t>Application: Planning and Robotics</a:t>
            </a:r>
            <a:endParaRPr lang="en-US" sz="4000" dirty="0"/>
          </a:p>
        </p:txBody>
      </p:sp>
      <p:pic>
        <p:nvPicPr>
          <p:cNvPr id="3" name="Image 0" descr="preencoded.png">    </p:cNvPr>
          <p:cNvPicPr>
            <a:picLocks noChangeAspect="1"/>
          </p:cNvPicPr>
          <p:nvPr/>
        </p:nvPicPr>
        <p:blipFill>
          <a:blip r:embed="rId1"/>
          <a:stretch>
            <a:fillRect/>
          </a:stretch>
        </p:blipFill>
        <p:spPr>
          <a:xfrm>
            <a:off x="723305" y="1742599"/>
            <a:ext cx="4138136" cy="4138136"/>
          </a:xfrm>
          <a:prstGeom prst="rect">
            <a:avLst/>
          </a:prstGeom>
        </p:spPr>
      </p:pic>
      <p:pic>
        <p:nvPicPr>
          <p:cNvPr id="4" name="Image 1" descr="preencoded.png">    </p:cNvPr>
          <p:cNvPicPr>
            <a:picLocks noChangeAspect="1"/>
          </p:cNvPicPr>
          <p:nvPr/>
        </p:nvPicPr>
        <p:blipFill>
          <a:blip r:embed="rId2"/>
          <a:stretch>
            <a:fillRect/>
          </a:stretch>
        </p:blipFill>
        <p:spPr>
          <a:xfrm>
            <a:off x="5024914" y="1742599"/>
            <a:ext cx="4138136" cy="4138136"/>
          </a:xfrm>
          <a:prstGeom prst="rect">
            <a:avLst/>
          </a:prstGeom>
        </p:spPr>
      </p:pic>
      <p:pic>
        <p:nvPicPr>
          <p:cNvPr id="5" name="Image 2" descr="preencoded.png">    </p:cNvPr>
          <p:cNvPicPr>
            <a:picLocks noChangeAspect="1"/>
          </p:cNvPicPr>
          <p:nvPr/>
        </p:nvPicPr>
        <p:blipFill>
          <a:blip r:embed="rId3"/>
          <a:stretch>
            <a:fillRect/>
          </a:stretch>
        </p:blipFill>
        <p:spPr>
          <a:xfrm>
            <a:off x="9326523" y="1742599"/>
            <a:ext cx="4138136" cy="4138136"/>
          </a:xfrm>
          <a:prstGeom prst="rect">
            <a:avLst/>
          </a:prstGeom>
        </p:spPr>
      </p:pic>
      <p:sp>
        <p:nvSpPr>
          <p:cNvPr id="6" name="Text 1"/>
          <p:cNvSpPr/>
          <p:nvPr/>
        </p:nvSpPr>
        <p:spPr>
          <a:xfrm>
            <a:off x="715685" y="6243161"/>
            <a:ext cx="12756594" cy="981194"/>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In robotics and autonomous systems, the exploration-exploitation trade-off is essential for effective planning. Systems must balance between following known efficient paths (exploitation) and discovering potentially better alternatives or adapting to changing environments (exploration).</a:t>
            </a:r>
            <a:endParaRPr lang="en-US" sz="1600" dirty="0"/>
          </a:p>
        </p:txBody>
      </p:sp>
      <p:sp>
        <p:nvSpPr>
          <p:cNvPr id="7" name="Text 2"/>
          <p:cNvSpPr/>
          <p:nvPr/>
        </p:nvSpPr>
        <p:spPr>
          <a:xfrm>
            <a:off x="715685" y="7454384"/>
            <a:ext cx="12756594" cy="654129"/>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This balance becomes particularly critical in dynamic environments where conditions change frequently, requiring continuous adaptation of the exploration strategy.</a:t>
            </a:r>
            <a:endParaRPr lang="en-US" sz="1600" dirty="0"/>
          </a:p>
        </p:txBody>
      </p:sp>
      <p:pic>
        <p:nvPicPr>
          <p:cNvPr id="8"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458"/>
          </a:xfrm>
          <a:prstGeom prst="rect">
            <a:avLst/>
          </a:prstGeom>
        </p:spPr>
      </p:pic>
      <p:sp>
        <p:nvSpPr>
          <p:cNvPr id="3" name="Text 0"/>
          <p:cNvSpPr/>
          <p:nvPr/>
        </p:nvSpPr>
        <p:spPr>
          <a:xfrm>
            <a:off x="645081" y="506849"/>
            <a:ext cx="7145893" cy="575905"/>
          </a:xfrm>
          <a:prstGeom prst="rect">
            <a:avLst/>
          </a:prstGeom>
          <a:noFill/>
          <a:ln/>
        </p:spPr>
        <p:txBody>
          <a:bodyPr wrap="none" lIns="0" tIns="0" rIns="0" bIns="0" rtlCol="0" anchor="t"/>
          <a:lstStyle/>
          <a:p>
            <a:pPr algn="l" indent="0" marL="0">
              <a:lnSpc>
                <a:spcPts val="4500"/>
              </a:lnSpc>
              <a:buNone/>
            </a:pPr>
            <a:r>
              <a:rPr lang="en-US" sz="3600" b="1" dirty="0">
                <a:solidFill>
                  <a:srgbClr val="000000"/>
                </a:solidFill>
                <a:latin typeface="Inter Bold" pitchFamily="34" charset="0"/>
                <a:ea typeface="Inter Bold" pitchFamily="34" charset="-122"/>
                <a:cs typeface="Inter Bold" pitchFamily="34" charset="-120"/>
              </a:rPr>
              <a:t>Application: Bayesian Inference</a:t>
            </a:r>
            <a:endParaRPr lang="en-US" sz="3600" dirty="0"/>
          </a:p>
        </p:txBody>
      </p:sp>
      <p:sp>
        <p:nvSpPr>
          <p:cNvPr id="4" name="Text 1"/>
          <p:cNvSpPr/>
          <p:nvPr/>
        </p:nvSpPr>
        <p:spPr>
          <a:xfrm>
            <a:off x="645081" y="1451372"/>
            <a:ext cx="3788688" cy="608171"/>
          </a:xfrm>
          <a:prstGeom prst="rect">
            <a:avLst/>
          </a:prstGeom>
          <a:noFill/>
          <a:ln/>
        </p:spPr>
        <p:txBody>
          <a:bodyPr wrap="none" lIns="0" tIns="0" rIns="0" bIns="0" rtlCol="0" anchor="t"/>
          <a:lstStyle/>
          <a:p>
            <a:pPr algn="ctr" indent="0" marL="0">
              <a:lnSpc>
                <a:spcPts val="4750"/>
              </a:lnSpc>
              <a:buNone/>
            </a:pPr>
            <a:r>
              <a:rPr lang="en-US" sz="4750" b="1" dirty="0">
                <a:solidFill>
                  <a:srgbClr val="000000"/>
                </a:solidFill>
                <a:latin typeface="Inter Bold" pitchFamily="34" charset="0"/>
                <a:ea typeface="Inter Bold" pitchFamily="34" charset="-122"/>
                <a:cs typeface="Inter Bold" pitchFamily="34" charset="-120"/>
              </a:rPr>
              <a:t>1000x</a:t>
            </a:r>
            <a:endParaRPr lang="en-US" sz="4750" dirty="0"/>
          </a:p>
        </p:txBody>
      </p:sp>
      <p:sp>
        <p:nvSpPr>
          <p:cNvPr id="5" name="Text 2"/>
          <p:cNvSpPr/>
          <p:nvPr/>
        </p:nvSpPr>
        <p:spPr>
          <a:xfrm>
            <a:off x="1387435" y="2289929"/>
            <a:ext cx="2303978" cy="287893"/>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Efficiency Gain</a:t>
            </a:r>
            <a:endParaRPr lang="en-US" sz="1800" dirty="0"/>
          </a:p>
        </p:txBody>
      </p:sp>
      <p:sp>
        <p:nvSpPr>
          <p:cNvPr id="6" name="Text 3"/>
          <p:cNvSpPr/>
          <p:nvPr/>
        </p:nvSpPr>
        <p:spPr>
          <a:xfrm>
            <a:off x="645081" y="2688312"/>
            <a:ext cx="3788688" cy="884396"/>
          </a:xfrm>
          <a:prstGeom prst="rect">
            <a:avLst/>
          </a:prstGeom>
          <a:noFill/>
          <a:ln/>
        </p:spPr>
        <p:txBody>
          <a:bodyPr wrap="square" lIns="0" tIns="0" rIns="0" bIns="0" rtlCol="0" anchor="t"/>
          <a:lstStyle/>
          <a:p>
            <a:pPr algn="ctr" indent="0" marL="0">
              <a:lnSpc>
                <a:spcPts val="2300"/>
              </a:lnSpc>
              <a:buNone/>
            </a:pPr>
            <a:r>
              <a:rPr lang="en-US" sz="1450" dirty="0">
                <a:solidFill>
                  <a:srgbClr val="000000"/>
                </a:solidFill>
                <a:latin typeface="Inter" pitchFamily="34" charset="0"/>
                <a:ea typeface="Inter" pitchFamily="34" charset="-122"/>
                <a:cs typeface="Inter" pitchFamily="34" charset="-120"/>
              </a:rPr>
              <a:t>Potential improvement in sampling efficiency with adaptive methods vs. simple Monte Carlo</a:t>
            </a:r>
            <a:endParaRPr lang="en-US" sz="1450" dirty="0"/>
          </a:p>
        </p:txBody>
      </p:sp>
      <p:sp>
        <p:nvSpPr>
          <p:cNvPr id="7" name="Text 4"/>
          <p:cNvSpPr/>
          <p:nvPr/>
        </p:nvSpPr>
        <p:spPr>
          <a:xfrm>
            <a:off x="4710232" y="1451372"/>
            <a:ext cx="3788688" cy="608171"/>
          </a:xfrm>
          <a:prstGeom prst="rect">
            <a:avLst/>
          </a:prstGeom>
          <a:noFill/>
          <a:ln/>
        </p:spPr>
        <p:txBody>
          <a:bodyPr wrap="none" lIns="0" tIns="0" rIns="0" bIns="0" rtlCol="0" anchor="t"/>
          <a:lstStyle/>
          <a:p>
            <a:pPr algn="ctr" indent="0" marL="0">
              <a:lnSpc>
                <a:spcPts val="4750"/>
              </a:lnSpc>
              <a:buNone/>
            </a:pPr>
            <a:r>
              <a:rPr lang="en-US" sz="4750" b="1" dirty="0">
                <a:solidFill>
                  <a:srgbClr val="000000"/>
                </a:solidFill>
                <a:latin typeface="Inter Bold" pitchFamily="34" charset="0"/>
                <a:ea typeface="Inter Bold" pitchFamily="34" charset="-122"/>
                <a:cs typeface="Inter Bold" pitchFamily="34" charset="-120"/>
              </a:rPr>
              <a:t>95%</a:t>
            </a:r>
            <a:endParaRPr lang="en-US" sz="4750" dirty="0"/>
          </a:p>
        </p:txBody>
      </p:sp>
      <p:sp>
        <p:nvSpPr>
          <p:cNvPr id="8" name="Text 5"/>
          <p:cNvSpPr/>
          <p:nvPr/>
        </p:nvSpPr>
        <p:spPr>
          <a:xfrm>
            <a:off x="5452586" y="2289929"/>
            <a:ext cx="2303978" cy="287893"/>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Coverage</a:t>
            </a:r>
            <a:endParaRPr lang="en-US" sz="1800" dirty="0"/>
          </a:p>
        </p:txBody>
      </p:sp>
      <p:sp>
        <p:nvSpPr>
          <p:cNvPr id="9" name="Text 6"/>
          <p:cNvSpPr/>
          <p:nvPr/>
        </p:nvSpPr>
        <p:spPr>
          <a:xfrm>
            <a:off x="4710232" y="2688312"/>
            <a:ext cx="3788688" cy="589598"/>
          </a:xfrm>
          <a:prstGeom prst="rect">
            <a:avLst/>
          </a:prstGeom>
          <a:noFill/>
          <a:ln/>
        </p:spPr>
        <p:txBody>
          <a:bodyPr wrap="square" lIns="0" tIns="0" rIns="0" bIns="0" rtlCol="0" anchor="t"/>
          <a:lstStyle/>
          <a:p>
            <a:pPr algn="ctr" indent="0" marL="0">
              <a:lnSpc>
                <a:spcPts val="2300"/>
              </a:lnSpc>
              <a:buNone/>
            </a:pPr>
            <a:r>
              <a:rPr lang="en-US" sz="1450" dirty="0">
                <a:solidFill>
                  <a:srgbClr val="000000"/>
                </a:solidFill>
                <a:latin typeface="Inter" pitchFamily="34" charset="0"/>
                <a:ea typeface="Inter" pitchFamily="34" charset="-122"/>
                <a:cs typeface="Inter" pitchFamily="34" charset="-120"/>
              </a:rPr>
              <a:t>Typical target for distribution coverage in high-dimensional problems</a:t>
            </a:r>
            <a:endParaRPr lang="en-US" sz="1450" dirty="0"/>
          </a:p>
        </p:txBody>
      </p:sp>
      <p:sp>
        <p:nvSpPr>
          <p:cNvPr id="10" name="Text 7"/>
          <p:cNvSpPr/>
          <p:nvPr/>
        </p:nvSpPr>
        <p:spPr>
          <a:xfrm>
            <a:off x="2677597" y="4217789"/>
            <a:ext cx="3788688" cy="608171"/>
          </a:xfrm>
          <a:prstGeom prst="rect">
            <a:avLst/>
          </a:prstGeom>
          <a:noFill/>
          <a:ln/>
        </p:spPr>
        <p:txBody>
          <a:bodyPr wrap="none" lIns="0" tIns="0" rIns="0" bIns="0" rtlCol="0" anchor="t"/>
          <a:lstStyle/>
          <a:p>
            <a:pPr algn="ctr" indent="0" marL="0">
              <a:lnSpc>
                <a:spcPts val="4750"/>
              </a:lnSpc>
              <a:buNone/>
            </a:pPr>
            <a:r>
              <a:rPr lang="en-US" sz="4750" b="1" dirty="0">
                <a:solidFill>
                  <a:srgbClr val="000000"/>
                </a:solidFill>
                <a:latin typeface="Inter Bold" pitchFamily="34" charset="0"/>
                <a:ea typeface="Inter Bold" pitchFamily="34" charset="-122"/>
                <a:cs typeface="Inter Bold" pitchFamily="34" charset="-120"/>
              </a:rPr>
              <a:t>10-30%</a:t>
            </a:r>
            <a:endParaRPr lang="en-US" sz="4750" dirty="0"/>
          </a:p>
        </p:txBody>
      </p:sp>
      <p:sp>
        <p:nvSpPr>
          <p:cNvPr id="11" name="Text 8"/>
          <p:cNvSpPr/>
          <p:nvPr/>
        </p:nvSpPr>
        <p:spPr>
          <a:xfrm>
            <a:off x="3419951" y="5056346"/>
            <a:ext cx="2303978" cy="287893"/>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Exploration Budget</a:t>
            </a:r>
            <a:endParaRPr lang="en-US" sz="1800" dirty="0"/>
          </a:p>
        </p:txBody>
      </p:sp>
      <p:sp>
        <p:nvSpPr>
          <p:cNvPr id="12" name="Text 9"/>
          <p:cNvSpPr/>
          <p:nvPr/>
        </p:nvSpPr>
        <p:spPr>
          <a:xfrm>
            <a:off x="2677597" y="5454729"/>
            <a:ext cx="3788688" cy="589598"/>
          </a:xfrm>
          <a:prstGeom prst="rect">
            <a:avLst/>
          </a:prstGeom>
          <a:noFill/>
          <a:ln/>
        </p:spPr>
        <p:txBody>
          <a:bodyPr wrap="square" lIns="0" tIns="0" rIns="0" bIns="0" rtlCol="0" anchor="t"/>
          <a:lstStyle/>
          <a:p>
            <a:pPr algn="ctr" indent="0" marL="0">
              <a:lnSpc>
                <a:spcPts val="2300"/>
              </a:lnSpc>
              <a:buNone/>
            </a:pPr>
            <a:r>
              <a:rPr lang="en-US" sz="1450" dirty="0">
                <a:solidFill>
                  <a:srgbClr val="000000"/>
                </a:solidFill>
                <a:latin typeface="Inter" pitchFamily="34" charset="0"/>
                <a:ea typeface="Inter" pitchFamily="34" charset="-122"/>
                <a:cs typeface="Inter" pitchFamily="34" charset="-120"/>
              </a:rPr>
              <a:t>Typical allocation of samples for exploration in adaptive schemes</a:t>
            </a:r>
            <a:endParaRPr lang="en-US" sz="1450" dirty="0"/>
          </a:p>
        </p:txBody>
      </p:sp>
      <p:sp>
        <p:nvSpPr>
          <p:cNvPr id="13" name="Text 10"/>
          <p:cNvSpPr/>
          <p:nvPr/>
        </p:nvSpPr>
        <p:spPr>
          <a:xfrm>
            <a:off x="645081" y="6251615"/>
            <a:ext cx="7853839" cy="147399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In Bayesian inference, particularly with complex posterior distributions, adaptive importance sampling methods must carefully balance between exploiting high-density regions and exploring the tails of distributions. This balance is crucial for accurate estimation of posterior expectations, especially for multi-modal distributions or when calculating rare event probabilities.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11875" y="559356"/>
            <a:ext cx="8289250" cy="635556"/>
          </a:xfrm>
          <a:prstGeom prst="rect">
            <a:avLst/>
          </a:prstGeom>
          <a:noFill/>
          <a:ln/>
        </p:spPr>
        <p:txBody>
          <a:bodyPr wrap="none" lIns="0" tIns="0" rIns="0" bIns="0" rtlCol="0" anchor="t"/>
          <a:lstStyle/>
          <a:p>
            <a:pPr algn="l" indent="0" marL="0">
              <a:lnSpc>
                <a:spcPts val="5000"/>
              </a:lnSpc>
              <a:buNone/>
            </a:pPr>
            <a:r>
              <a:rPr lang="en-US" sz="4000" b="1" dirty="0">
                <a:solidFill>
                  <a:srgbClr val="000000"/>
                </a:solidFill>
                <a:latin typeface="Inter Bold" pitchFamily="34" charset="0"/>
                <a:ea typeface="Inter Bold" pitchFamily="34" charset="-122"/>
                <a:cs typeface="Inter Bold" pitchFamily="34" charset="-120"/>
              </a:rPr>
              <a:t>Application: Multi-Armed Bandits</a:t>
            </a:r>
            <a:endParaRPr lang="en-US" sz="4000" dirty="0"/>
          </a:p>
        </p:txBody>
      </p:sp>
      <p:pic>
        <p:nvPicPr>
          <p:cNvPr id="3" name="Image 0" descr="preencoded.png">    </p:cNvPr>
          <p:cNvPicPr>
            <a:picLocks noChangeAspect="1"/>
          </p:cNvPicPr>
          <p:nvPr/>
        </p:nvPicPr>
        <p:blipFill>
          <a:blip r:embed="rId1"/>
          <a:stretch>
            <a:fillRect/>
          </a:stretch>
        </p:blipFill>
        <p:spPr>
          <a:xfrm>
            <a:off x="711875" y="1601629"/>
            <a:ext cx="4083963" cy="2524006"/>
          </a:xfrm>
          <a:prstGeom prst="rect">
            <a:avLst/>
          </a:prstGeom>
        </p:spPr>
      </p:pic>
      <p:sp>
        <p:nvSpPr>
          <p:cNvPr id="4" name="Text 1"/>
          <p:cNvSpPr/>
          <p:nvPr/>
        </p:nvSpPr>
        <p:spPr>
          <a:xfrm>
            <a:off x="711875" y="4379833"/>
            <a:ext cx="3073718" cy="317897"/>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Classical Bandit Problem</a:t>
            </a:r>
            <a:endParaRPr lang="en-US" sz="2000" dirty="0"/>
          </a:p>
        </p:txBody>
      </p:sp>
      <p:sp>
        <p:nvSpPr>
          <p:cNvPr id="5" name="Text 2"/>
          <p:cNvSpPr/>
          <p:nvPr/>
        </p:nvSpPr>
        <p:spPr>
          <a:xfrm>
            <a:off x="711875" y="4819769"/>
            <a:ext cx="4083963" cy="2927509"/>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The multi-armed bandit problem involves choosing between multiple options (like slot machines) with unknown reward distributions. The goal is to maximize cumulative reward by balancing between playing machines with historically high payouts (exploitation) and trying less-played machines to learn their payouts (exploration).</a:t>
            </a:r>
            <a:endParaRPr lang="en-US" sz="1600" dirty="0"/>
          </a:p>
        </p:txBody>
      </p:sp>
      <p:pic>
        <p:nvPicPr>
          <p:cNvPr id="6" name="Image 1" descr="preencoded.png">    </p:cNvPr>
          <p:cNvPicPr>
            <a:picLocks noChangeAspect="1"/>
          </p:cNvPicPr>
          <p:nvPr/>
        </p:nvPicPr>
        <p:blipFill>
          <a:blip r:embed="rId2"/>
          <a:stretch>
            <a:fillRect/>
          </a:stretch>
        </p:blipFill>
        <p:spPr>
          <a:xfrm>
            <a:off x="5050036" y="1601629"/>
            <a:ext cx="4083963" cy="2524006"/>
          </a:xfrm>
          <a:prstGeom prst="rect">
            <a:avLst/>
          </a:prstGeom>
        </p:spPr>
      </p:pic>
      <p:sp>
        <p:nvSpPr>
          <p:cNvPr id="7" name="Text 3"/>
          <p:cNvSpPr/>
          <p:nvPr/>
        </p:nvSpPr>
        <p:spPr>
          <a:xfrm>
            <a:off x="5050036" y="4379833"/>
            <a:ext cx="3017163" cy="317897"/>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Real-World Applications</a:t>
            </a:r>
            <a:endParaRPr lang="en-US" sz="2000" dirty="0"/>
          </a:p>
        </p:txBody>
      </p:sp>
      <p:sp>
        <p:nvSpPr>
          <p:cNvPr id="8" name="Text 4"/>
          <p:cNvSpPr/>
          <p:nvPr/>
        </p:nvSpPr>
        <p:spPr>
          <a:xfrm>
            <a:off x="5050036" y="4819769"/>
            <a:ext cx="4083963" cy="2602230"/>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This framework applies to numerous real-world scenarios: A/B testing in marketing, clinical trials for drug testing, adaptive routing in networks, and recommendation systems. In each case, there's a fundamental trade-off between gathering more information and leveraging existing knowledge.</a:t>
            </a:r>
            <a:endParaRPr lang="en-US" sz="1600" dirty="0"/>
          </a:p>
        </p:txBody>
      </p:sp>
      <p:pic>
        <p:nvPicPr>
          <p:cNvPr id="9" name="Image 2" descr="preencoded.png">    </p:cNvPr>
          <p:cNvPicPr>
            <a:picLocks noChangeAspect="1"/>
          </p:cNvPicPr>
          <p:nvPr/>
        </p:nvPicPr>
        <p:blipFill>
          <a:blip r:embed="rId3"/>
          <a:stretch>
            <a:fillRect/>
          </a:stretch>
        </p:blipFill>
        <p:spPr>
          <a:xfrm>
            <a:off x="9388197" y="1601629"/>
            <a:ext cx="4083963" cy="2524006"/>
          </a:xfrm>
          <a:prstGeom prst="rect">
            <a:avLst/>
          </a:prstGeom>
        </p:spPr>
      </p:pic>
      <p:sp>
        <p:nvSpPr>
          <p:cNvPr id="10" name="Text 5"/>
          <p:cNvSpPr/>
          <p:nvPr/>
        </p:nvSpPr>
        <p:spPr>
          <a:xfrm>
            <a:off x="9388197" y="4379833"/>
            <a:ext cx="2625328" cy="317897"/>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Performance Metrics</a:t>
            </a:r>
            <a:endParaRPr lang="en-US" sz="2000" dirty="0"/>
          </a:p>
        </p:txBody>
      </p:sp>
      <p:sp>
        <p:nvSpPr>
          <p:cNvPr id="11" name="Text 6"/>
          <p:cNvSpPr/>
          <p:nvPr/>
        </p:nvSpPr>
        <p:spPr>
          <a:xfrm>
            <a:off x="9388197" y="4819769"/>
            <a:ext cx="4083963" cy="2276951"/>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The effectiveness of bandit algorithms is often measured by regret—the difference between the reward obtained and what could have been obtained with perfect knowledge. Different exploration strategies lead to different regret profiles over time.</a:t>
            </a:r>
            <a:endParaRPr lang="en-US" sz="1600" dirty="0"/>
          </a:p>
        </p:txBody>
      </p:sp>
      <p:pic>
        <p:nvPicPr>
          <p:cNvPr id="12"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69106" y="368618"/>
            <a:ext cx="4319945" cy="418862"/>
          </a:xfrm>
          <a:prstGeom prst="rect">
            <a:avLst/>
          </a:prstGeom>
          <a:noFill/>
          <a:ln/>
        </p:spPr>
        <p:txBody>
          <a:bodyPr wrap="none" lIns="0" tIns="0" rIns="0" bIns="0" rtlCol="0" anchor="t"/>
          <a:lstStyle/>
          <a:p>
            <a:pPr algn="l" indent="0" marL="0">
              <a:lnSpc>
                <a:spcPts val="3250"/>
              </a:lnSpc>
              <a:buNone/>
            </a:pPr>
            <a:r>
              <a:rPr lang="en-US" sz="2600" b="1" dirty="0">
                <a:solidFill>
                  <a:srgbClr val="000000"/>
                </a:solidFill>
                <a:latin typeface="Inter Bold" pitchFamily="34" charset="0"/>
                <a:ea typeface="Inter Bold" pitchFamily="34" charset="-122"/>
                <a:cs typeface="Inter Bold" pitchFamily="34" charset="-120"/>
              </a:rPr>
              <a:t>Mathematical Implications</a:t>
            </a:r>
            <a:endParaRPr lang="en-US" sz="2600" dirty="0"/>
          </a:p>
        </p:txBody>
      </p:sp>
      <p:pic>
        <p:nvPicPr>
          <p:cNvPr id="3" name="Image 0" descr="preencoded.png">    </p:cNvPr>
          <p:cNvPicPr>
            <a:picLocks noChangeAspect="1"/>
          </p:cNvPicPr>
          <p:nvPr/>
        </p:nvPicPr>
        <p:blipFill>
          <a:blip r:embed="rId1"/>
          <a:stretch>
            <a:fillRect/>
          </a:stretch>
        </p:blipFill>
        <p:spPr>
          <a:xfrm>
            <a:off x="469106" y="1055489"/>
            <a:ext cx="13003173" cy="6879550"/>
          </a:xfrm>
          <a:prstGeom prst="rect">
            <a:avLst/>
          </a:prstGeom>
        </p:spPr>
      </p:pic>
      <p:sp>
        <p:nvSpPr>
          <p:cNvPr id="4" name="Shape 1"/>
          <p:cNvSpPr/>
          <p:nvPr/>
        </p:nvSpPr>
        <p:spPr>
          <a:xfrm>
            <a:off x="2699385" y="7935039"/>
            <a:ext cx="133945" cy="133945"/>
          </a:xfrm>
          <a:prstGeom prst="roundRect">
            <a:avLst>
              <a:gd name="adj" fmla="val 13653"/>
            </a:avLst>
          </a:prstGeom>
          <a:solidFill>
            <a:srgbClr val="093243"/>
          </a:solidFill>
          <a:ln/>
        </p:spPr>
      </p:sp>
      <p:sp>
        <p:nvSpPr>
          <p:cNvPr id="5" name="Text 2"/>
          <p:cNvSpPr/>
          <p:nvPr/>
        </p:nvSpPr>
        <p:spPr>
          <a:xfrm>
            <a:off x="2894290" y="7935039"/>
            <a:ext cx="711279" cy="133945"/>
          </a:xfrm>
          <a:prstGeom prst="rect">
            <a:avLst/>
          </a:prstGeom>
          <a:noFill/>
          <a:ln/>
        </p:spPr>
        <p:txBody>
          <a:bodyPr wrap="none" lIns="0" tIns="0" rIns="0" bIns="0" rtlCol="0" anchor="t"/>
          <a:lstStyle/>
          <a:p>
            <a:pPr algn="l" indent="0" marL="0">
              <a:lnSpc>
                <a:spcPts val="1050"/>
              </a:lnSpc>
              <a:buNone/>
            </a:pPr>
            <a:r>
              <a:rPr lang="en-US" sz="1050" dirty="0">
                <a:solidFill>
                  <a:srgbClr val="000000"/>
                </a:solidFill>
                <a:latin typeface="Inter" pitchFamily="34" charset="0"/>
                <a:ea typeface="Inter" pitchFamily="34" charset="-122"/>
                <a:cs typeface="Inter" pitchFamily="34" charset="-120"/>
              </a:rPr>
              <a:t>Time Steps</a:t>
            </a:r>
            <a:endParaRPr lang="en-US" sz="1050" dirty="0"/>
          </a:p>
        </p:txBody>
      </p:sp>
      <p:sp>
        <p:nvSpPr>
          <p:cNvPr id="6" name="Shape 3"/>
          <p:cNvSpPr/>
          <p:nvPr/>
        </p:nvSpPr>
        <p:spPr>
          <a:xfrm>
            <a:off x="4696182" y="7935039"/>
            <a:ext cx="133945" cy="133945"/>
          </a:xfrm>
          <a:prstGeom prst="roundRect">
            <a:avLst>
              <a:gd name="adj" fmla="val 13653"/>
            </a:avLst>
          </a:prstGeom>
          <a:solidFill>
            <a:srgbClr val="0E4C67"/>
          </a:solidFill>
          <a:ln/>
        </p:spPr>
      </p:sp>
      <p:sp>
        <p:nvSpPr>
          <p:cNvPr id="7" name="Text 4"/>
          <p:cNvSpPr/>
          <p:nvPr/>
        </p:nvSpPr>
        <p:spPr>
          <a:xfrm>
            <a:off x="4891088" y="7935039"/>
            <a:ext cx="1065014" cy="133945"/>
          </a:xfrm>
          <a:prstGeom prst="rect">
            <a:avLst/>
          </a:prstGeom>
          <a:noFill/>
          <a:ln/>
        </p:spPr>
        <p:txBody>
          <a:bodyPr wrap="none" lIns="0" tIns="0" rIns="0" bIns="0" rtlCol="0" anchor="t"/>
          <a:lstStyle/>
          <a:p>
            <a:pPr algn="l" indent="0" marL="0">
              <a:lnSpc>
                <a:spcPts val="1050"/>
              </a:lnSpc>
              <a:buNone/>
            </a:pPr>
            <a:r>
              <a:rPr lang="en-US" sz="1050" dirty="0">
                <a:solidFill>
                  <a:srgbClr val="000000"/>
                </a:solidFill>
                <a:latin typeface="Inter" pitchFamily="34" charset="0"/>
                <a:ea typeface="Inter" pitchFamily="34" charset="-122"/>
                <a:cs typeface="Inter" pitchFamily="34" charset="-120"/>
              </a:rPr>
              <a:t>Pure Exploitation</a:t>
            </a:r>
            <a:endParaRPr lang="en-US" sz="1050" dirty="0"/>
          </a:p>
        </p:txBody>
      </p:sp>
      <p:sp>
        <p:nvSpPr>
          <p:cNvPr id="8" name="Shape 5"/>
          <p:cNvSpPr/>
          <p:nvPr/>
        </p:nvSpPr>
        <p:spPr>
          <a:xfrm>
            <a:off x="7896939" y="7935039"/>
            <a:ext cx="133945" cy="133945"/>
          </a:xfrm>
          <a:prstGeom prst="roundRect">
            <a:avLst>
              <a:gd name="adj" fmla="val 13653"/>
            </a:avLst>
          </a:prstGeom>
          <a:solidFill>
            <a:srgbClr val="13668B"/>
          </a:solidFill>
          <a:ln/>
        </p:spPr>
      </p:sp>
      <p:sp>
        <p:nvSpPr>
          <p:cNvPr id="9" name="Text 6"/>
          <p:cNvSpPr/>
          <p:nvPr/>
        </p:nvSpPr>
        <p:spPr>
          <a:xfrm>
            <a:off x="8091845" y="7935039"/>
            <a:ext cx="1241227" cy="133945"/>
          </a:xfrm>
          <a:prstGeom prst="rect">
            <a:avLst/>
          </a:prstGeom>
          <a:noFill/>
          <a:ln/>
        </p:spPr>
        <p:txBody>
          <a:bodyPr wrap="none" lIns="0" tIns="0" rIns="0" bIns="0" rtlCol="0" anchor="t"/>
          <a:lstStyle/>
          <a:p>
            <a:pPr algn="l" indent="0" marL="0">
              <a:lnSpc>
                <a:spcPts val="1050"/>
              </a:lnSpc>
              <a:buNone/>
            </a:pPr>
            <a:r>
              <a:rPr lang="en-US" sz="1050" dirty="0">
                <a:solidFill>
                  <a:srgbClr val="000000"/>
                </a:solidFill>
                <a:latin typeface="Inter" pitchFamily="34" charset="0"/>
                <a:ea typeface="Inter" pitchFamily="34" charset="-122"/>
                <a:cs typeface="Inter" pitchFamily="34" charset="-120"/>
              </a:rPr>
              <a:t>Balanced Approach</a:t>
            </a:r>
            <a:endParaRPr lang="en-US" sz="1050" dirty="0"/>
          </a:p>
        </p:txBody>
      </p:sp>
      <p:sp>
        <p:nvSpPr>
          <p:cNvPr id="10" name="Shape 7"/>
          <p:cNvSpPr/>
          <p:nvPr/>
        </p:nvSpPr>
        <p:spPr>
          <a:xfrm>
            <a:off x="10335697" y="7935039"/>
            <a:ext cx="133945" cy="133945"/>
          </a:xfrm>
          <a:prstGeom prst="roundRect">
            <a:avLst>
              <a:gd name="adj" fmla="val 13653"/>
            </a:avLst>
          </a:prstGeom>
          <a:solidFill>
            <a:srgbClr val="1881AF"/>
          </a:solidFill>
          <a:ln/>
        </p:spPr>
      </p:sp>
      <p:sp>
        <p:nvSpPr>
          <p:cNvPr id="11" name="Text 8"/>
          <p:cNvSpPr/>
          <p:nvPr/>
        </p:nvSpPr>
        <p:spPr>
          <a:xfrm>
            <a:off x="10530602" y="7935039"/>
            <a:ext cx="1038582" cy="133945"/>
          </a:xfrm>
          <a:prstGeom prst="rect">
            <a:avLst/>
          </a:prstGeom>
          <a:noFill/>
          <a:ln/>
        </p:spPr>
        <p:txBody>
          <a:bodyPr wrap="none" lIns="0" tIns="0" rIns="0" bIns="0" rtlCol="0" anchor="t"/>
          <a:lstStyle/>
          <a:p>
            <a:pPr algn="l" indent="0" marL="0">
              <a:lnSpc>
                <a:spcPts val="1050"/>
              </a:lnSpc>
              <a:buNone/>
            </a:pPr>
            <a:r>
              <a:rPr lang="en-US" sz="1050" dirty="0">
                <a:solidFill>
                  <a:srgbClr val="000000"/>
                </a:solidFill>
                <a:latin typeface="Inter" pitchFamily="34" charset="0"/>
                <a:ea typeface="Inter" pitchFamily="34" charset="-122"/>
                <a:cs typeface="Inter" pitchFamily="34" charset="-120"/>
              </a:rPr>
              <a:t>Pure Exploration</a:t>
            </a:r>
            <a:endParaRPr lang="en-US" sz="1050" dirty="0"/>
          </a:p>
        </p:txBody>
      </p:sp>
      <p:sp>
        <p:nvSpPr>
          <p:cNvPr id="12" name="Text 9"/>
          <p:cNvSpPr/>
          <p:nvPr/>
        </p:nvSpPr>
        <p:spPr>
          <a:xfrm>
            <a:off x="469106" y="8487966"/>
            <a:ext cx="13003173" cy="428863"/>
          </a:xfrm>
          <a:prstGeom prst="rect">
            <a:avLst/>
          </a:prstGeom>
          <a:noFill/>
          <a:ln/>
        </p:spPr>
        <p:txBody>
          <a:bodyPr wrap="square" lIns="0" tIns="0" rIns="0" bIns="0" rtlCol="0" anchor="t"/>
          <a:lstStyle/>
          <a:p>
            <a:pPr algn="l" indent="0" marL="0">
              <a:lnSpc>
                <a:spcPts val="1650"/>
              </a:lnSpc>
              <a:buNone/>
            </a:pPr>
            <a:r>
              <a:rPr lang="en-US" sz="1050" dirty="0">
                <a:solidFill>
                  <a:srgbClr val="000000"/>
                </a:solidFill>
                <a:latin typeface="Inter" pitchFamily="34" charset="0"/>
                <a:ea typeface="Inter" pitchFamily="34" charset="-122"/>
                <a:cs typeface="Inter" pitchFamily="34" charset="-120"/>
              </a:rPr>
              <a:t>The chart illustrates how different exploration-exploitation strategies affect cumulative reward over time. Pure exploitation starts strong but plateaus as it gets stuck in local optima. Pure exploration builds knowledge but accumulates reward slowly. The balanced approach eventually outperforms both, demonstrating the long-term benefit of proper balance.</a:t>
            </a:r>
            <a:endParaRPr lang="en-US" sz="1050" dirty="0"/>
          </a:p>
        </p:txBody>
      </p:sp>
      <p:sp>
        <p:nvSpPr>
          <p:cNvPr id="13" name="Text 10"/>
          <p:cNvSpPr/>
          <p:nvPr/>
        </p:nvSpPr>
        <p:spPr>
          <a:xfrm>
            <a:off x="469106" y="9067562"/>
            <a:ext cx="13003173" cy="428863"/>
          </a:xfrm>
          <a:prstGeom prst="rect">
            <a:avLst/>
          </a:prstGeom>
          <a:noFill/>
          <a:ln/>
        </p:spPr>
        <p:txBody>
          <a:bodyPr wrap="square" lIns="0" tIns="0" rIns="0" bIns="0" rtlCol="0" anchor="t"/>
          <a:lstStyle/>
          <a:p>
            <a:pPr algn="l" indent="0" marL="0">
              <a:lnSpc>
                <a:spcPts val="1650"/>
              </a:lnSpc>
              <a:buNone/>
            </a:pPr>
            <a:r>
              <a:rPr lang="en-US" sz="1050" dirty="0">
                <a:solidFill>
                  <a:srgbClr val="000000"/>
                </a:solidFill>
                <a:latin typeface="Inter" pitchFamily="34" charset="0"/>
                <a:ea typeface="Inter" pitchFamily="34" charset="-122"/>
                <a:cs typeface="Inter" pitchFamily="34" charset="-120"/>
              </a:rPr>
              <a:t>Mathematically, this balance ensures convergence to optimal policies, reduced variance in estimates, and lower regret over time—but only if exploration is sufficient to eventually visit all options infinitely often, albeit at a decreasing rate.</a:t>
            </a:r>
            <a:endParaRPr lang="en-US" sz="1050" dirty="0"/>
          </a:p>
        </p:txBody>
      </p:sp>
      <p:pic>
        <p:nvPicPr>
          <p:cNvPr id="14"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343620"/>
            <a:ext cx="6497241"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Theoretical Guarantees</a:t>
            </a:r>
            <a:endParaRPr lang="en-US" sz="4450" dirty="0"/>
          </a:p>
        </p:txBody>
      </p:sp>
      <p:sp>
        <p:nvSpPr>
          <p:cNvPr id="3" name="Shape 1"/>
          <p:cNvSpPr/>
          <p:nvPr/>
        </p:nvSpPr>
        <p:spPr>
          <a:xfrm>
            <a:off x="793790" y="2392561"/>
            <a:ext cx="510302" cy="510302"/>
          </a:xfrm>
          <a:prstGeom prst="roundRect">
            <a:avLst>
              <a:gd name="adj" fmla="val 18669"/>
            </a:avLst>
          </a:prstGeom>
          <a:solidFill>
            <a:srgbClr val="D2EDF9"/>
          </a:solidFill>
          <a:ln w="7620">
            <a:solidFill>
              <a:srgbClr val="B8D3DF"/>
            </a:solidFill>
            <a:prstDash val="solid"/>
          </a:ln>
        </p:spPr>
      </p:sp>
      <p:sp>
        <p:nvSpPr>
          <p:cNvPr id="4" name="Text 2"/>
          <p:cNvSpPr/>
          <p:nvPr/>
        </p:nvSpPr>
        <p:spPr>
          <a:xfrm>
            <a:off x="878860" y="2435066"/>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1</a:t>
            </a:r>
            <a:endParaRPr lang="en-US" sz="2650" dirty="0"/>
          </a:p>
        </p:txBody>
      </p:sp>
      <p:sp>
        <p:nvSpPr>
          <p:cNvPr id="5" name="Text 3"/>
          <p:cNvSpPr/>
          <p:nvPr/>
        </p:nvSpPr>
        <p:spPr>
          <a:xfrm>
            <a:off x="1530906" y="2470428"/>
            <a:ext cx="35210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Asymptotic Convergence</a:t>
            </a:r>
            <a:endParaRPr lang="en-US" sz="2200" dirty="0"/>
          </a:p>
        </p:txBody>
      </p:sp>
      <p:sp>
        <p:nvSpPr>
          <p:cNvPr id="6" name="Text 4"/>
          <p:cNvSpPr/>
          <p:nvPr/>
        </p:nvSpPr>
        <p:spPr>
          <a:xfrm>
            <a:off x="1530906" y="2960846"/>
            <a:ext cx="5460444"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With sufficient exploration, Monte Carlo methods will converge to the true values or optimal policies as the number of samples approaches infinity, regardless of initial estimates.</a:t>
            </a:r>
            <a:endParaRPr lang="en-US" sz="1750" dirty="0"/>
          </a:p>
        </p:txBody>
      </p:sp>
      <p:sp>
        <p:nvSpPr>
          <p:cNvPr id="7" name="Shape 5"/>
          <p:cNvSpPr/>
          <p:nvPr/>
        </p:nvSpPr>
        <p:spPr>
          <a:xfrm>
            <a:off x="7274838" y="2392561"/>
            <a:ext cx="510302" cy="510302"/>
          </a:xfrm>
          <a:prstGeom prst="roundRect">
            <a:avLst>
              <a:gd name="adj" fmla="val 18669"/>
            </a:avLst>
          </a:prstGeom>
          <a:solidFill>
            <a:srgbClr val="D2EDF9"/>
          </a:solidFill>
          <a:ln w="7620">
            <a:solidFill>
              <a:srgbClr val="B8D3DF"/>
            </a:solidFill>
            <a:prstDash val="solid"/>
          </a:ln>
        </p:spPr>
      </p:sp>
      <p:sp>
        <p:nvSpPr>
          <p:cNvPr id="8" name="Text 6"/>
          <p:cNvSpPr/>
          <p:nvPr/>
        </p:nvSpPr>
        <p:spPr>
          <a:xfrm>
            <a:off x="7359908" y="2435066"/>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2</a:t>
            </a:r>
            <a:endParaRPr lang="en-US" sz="2650" dirty="0"/>
          </a:p>
        </p:txBody>
      </p:sp>
      <p:sp>
        <p:nvSpPr>
          <p:cNvPr id="9" name="Text 7"/>
          <p:cNvSpPr/>
          <p:nvPr/>
        </p:nvSpPr>
        <p:spPr>
          <a:xfrm>
            <a:off x="8011954" y="247042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Regret Bounds</a:t>
            </a:r>
            <a:endParaRPr lang="en-US" sz="2200" dirty="0"/>
          </a:p>
        </p:txBody>
      </p:sp>
      <p:sp>
        <p:nvSpPr>
          <p:cNvPr id="10" name="Text 8"/>
          <p:cNvSpPr/>
          <p:nvPr/>
        </p:nvSpPr>
        <p:spPr>
          <a:xfrm>
            <a:off x="8011954" y="2960846"/>
            <a:ext cx="5460444"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Many exploration strategies come with theoretical upper bounds on cumulative regret, often scaling logarithmically with the number of actions taken, proving their efficiency.</a:t>
            </a:r>
            <a:endParaRPr lang="en-US" sz="1750" dirty="0"/>
          </a:p>
        </p:txBody>
      </p:sp>
      <p:sp>
        <p:nvSpPr>
          <p:cNvPr id="11" name="Shape 9"/>
          <p:cNvSpPr/>
          <p:nvPr/>
        </p:nvSpPr>
        <p:spPr>
          <a:xfrm>
            <a:off x="793790" y="4866084"/>
            <a:ext cx="510302" cy="510302"/>
          </a:xfrm>
          <a:prstGeom prst="roundRect">
            <a:avLst>
              <a:gd name="adj" fmla="val 18669"/>
            </a:avLst>
          </a:prstGeom>
          <a:solidFill>
            <a:srgbClr val="D2EDF9"/>
          </a:solidFill>
          <a:ln w="7620">
            <a:solidFill>
              <a:srgbClr val="B8D3DF"/>
            </a:solidFill>
            <a:prstDash val="solid"/>
          </a:ln>
        </p:spPr>
      </p:sp>
      <p:sp>
        <p:nvSpPr>
          <p:cNvPr id="12" name="Text 10"/>
          <p:cNvSpPr/>
          <p:nvPr/>
        </p:nvSpPr>
        <p:spPr>
          <a:xfrm>
            <a:off x="878860" y="4908590"/>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3</a:t>
            </a:r>
            <a:endParaRPr lang="en-US" sz="2650" dirty="0"/>
          </a:p>
        </p:txBody>
      </p:sp>
      <p:sp>
        <p:nvSpPr>
          <p:cNvPr id="13" name="Text 11"/>
          <p:cNvSpPr/>
          <p:nvPr/>
        </p:nvSpPr>
        <p:spPr>
          <a:xfrm>
            <a:off x="1530906" y="4943951"/>
            <a:ext cx="356449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Exploration Requirements</a:t>
            </a:r>
            <a:endParaRPr lang="en-US" sz="2200" dirty="0"/>
          </a:p>
        </p:txBody>
      </p:sp>
      <p:sp>
        <p:nvSpPr>
          <p:cNvPr id="14" name="Text 12"/>
          <p:cNvSpPr/>
          <p:nvPr/>
        </p:nvSpPr>
        <p:spPr>
          <a:xfrm>
            <a:off x="1530906" y="5434370"/>
            <a:ext cx="5460444"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Theoretical guarantees typically require that every option is visited infinitely often, though at a decreasing rate that allows exploitation to dominate in the limit.</a:t>
            </a:r>
            <a:endParaRPr lang="en-US" sz="1750" dirty="0"/>
          </a:p>
        </p:txBody>
      </p:sp>
      <p:sp>
        <p:nvSpPr>
          <p:cNvPr id="15" name="Shape 13"/>
          <p:cNvSpPr/>
          <p:nvPr/>
        </p:nvSpPr>
        <p:spPr>
          <a:xfrm>
            <a:off x="7274838" y="4866084"/>
            <a:ext cx="510302" cy="510302"/>
          </a:xfrm>
          <a:prstGeom prst="roundRect">
            <a:avLst>
              <a:gd name="adj" fmla="val 18669"/>
            </a:avLst>
          </a:prstGeom>
          <a:solidFill>
            <a:srgbClr val="D2EDF9"/>
          </a:solidFill>
          <a:ln w="7620">
            <a:solidFill>
              <a:srgbClr val="B8D3DF"/>
            </a:solidFill>
            <a:prstDash val="solid"/>
          </a:ln>
        </p:spPr>
      </p:sp>
      <p:sp>
        <p:nvSpPr>
          <p:cNvPr id="16" name="Text 14"/>
          <p:cNvSpPr/>
          <p:nvPr/>
        </p:nvSpPr>
        <p:spPr>
          <a:xfrm>
            <a:off x="7359908" y="4908590"/>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Inter Bold" pitchFamily="34" charset="0"/>
                <a:ea typeface="Inter Bold" pitchFamily="34" charset="-122"/>
                <a:cs typeface="Inter Bold" pitchFamily="34" charset="-120"/>
              </a:rPr>
              <a:t>4</a:t>
            </a:r>
            <a:endParaRPr lang="en-US" sz="2650" dirty="0"/>
          </a:p>
        </p:txBody>
      </p:sp>
      <p:sp>
        <p:nvSpPr>
          <p:cNvPr id="17" name="Text 15"/>
          <p:cNvSpPr/>
          <p:nvPr/>
        </p:nvSpPr>
        <p:spPr>
          <a:xfrm>
            <a:off x="8011954" y="4943951"/>
            <a:ext cx="344138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Finite-Time Performance</a:t>
            </a:r>
            <a:endParaRPr lang="en-US" sz="2200" dirty="0"/>
          </a:p>
        </p:txBody>
      </p:sp>
      <p:sp>
        <p:nvSpPr>
          <p:cNvPr id="18" name="Text 16"/>
          <p:cNvSpPr/>
          <p:nvPr/>
        </p:nvSpPr>
        <p:spPr>
          <a:xfrm>
            <a:off x="8011954" y="5434370"/>
            <a:ext cx="5460444"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Beyond asymptotic guarantees, modern algorithms also focus on minimizing regret or error within finite time horizons, which is more relevant for practical applications.</a:t>
            </a:r>
            <a:endParaRPr lang="en-US" sz="1750" dirty="0"/>
          </a:p>
        </p:txBody>
      </p:sp>
      <p:pic>
        <p:nvPicPr>
          <p:cNvPr id="19"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48784" y="588288"/>
            <a:ext cx="10620137" cy="668536"/>
          </a:xfrm>
          <a:prstGeom prst="rect">
            <a:avLst/>
          </a:prstGeom>
          <a:noFill/>
          <a:ln/>
        </p:spPr>
        <p:txBody>
          <a:bodyPr wrap="none" lIns="0" tIns="0" rIns="0" bIns="0" rtlCol="0" anchor="t"/>
          <a:lstStyle/>
          <a:p>
            <a:pPr algn="l" indent="0" marL="0">
              <a:lnSpc>
                <a:spcPts val="5250"/>
              </a:lnSpc>
              <a:buNone/>
            </a:pPr>
            <a:r>
              <a:rPr lang="en-US" sz="4200" b="1" dirty="0">
                <a:solidFill>
                  <a:srgbClr val="000000"/>
                </a:solidFill>
                <a:latin typeface="Inter Bold" pitchFamily="34" charset="0"/>
                <a:ea typeface="Inter Bold" pitchFamily="34" charset="-122"/>
                <a:cs typeface="Inter Bold" pitchFamily="34" charset="-120"/>
              </a:rPr>
              <a:t>Practical Implementation Considerations</a:t>
            </a:r>
            <a:endParaRPr lang="en-US" sz="4200" dirty="0"/>
          </a:p>
        </p:txBody>
      </p:sp>
      <p:sp>
        <p:nvSpPr>
          <p:cNvPr id="3" name="Shape 1"/>
          <p:cNvSpPr/>
          <p:nvPr/>
        </p:nvSpPr>
        <p:spPr>
          <a:xfrm>
            <a:off x="748784" y="1577697"/>
            <a:ext cx="12723495" cy="4455676"/>
          </a:xfrm>
          <a:prstGeom prst="roundRect">
            <a:avLst>
              <a:gd name="adj" fmla="val 2017"/>
            </a:avLst>
          </a:prstGeom>
          <a:noFill/>
          <a:ln w="7620">
            <a:solidFill>
              <a:srgbClr val="000000">
                <a:alpha val="8000"/>
              </a:srgbClr>
            </a:solidFill>
            <a:prstDash val="solid"/>
          </a:ln>
        </p:spPr>
      </p:sp>
      <p:sp>
        <p:nvSpPr>
          <p:cNvPr id="4" name="Shape 2"/>
          <p:cNvSpPr/>
          <p:nvPr/>
        </p:nvSpPr>
        <p:spPr>
          <a:xfrm>
            <a:off x="756404" y="1585317"/>
            <a:ext cx="12708255" cy="614243"/>
          </a:xfrm>
          <a:prstGeom prst="rect">
            <a:avLst/>
          </a:prstGeom>
          <a:solidFill>
            <a:srgbClr val="FFFFFF">
              <a:alpha val="4000"/>
            </a:srgbClr>
          </a:solidFill>
          <a:ln/>
        </p:spPr>
      </p:sp>
      <p:sp>
        <p:nvSpPr>
          <p:cNvPr id="5" name="Text 3"/>
          <p:cNvSpPr/>
          <p:nvPr/>
        </p:nvSpPr>
        <p:spPr>
          <a:xfrm>
            <a:off x="970240" y="1721287"/>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Parameter</a:t>
            </a:r>
            <a:endParaRPr lang="en-US" sz="1650" dirty="0"/>
          </a:p>
        </p:txBody>
      </p:sp>
      <p:sp>
        <p:nvSpPr>
          <p:cNvPr id="6" name="Text 4"/>
          <p:cNvSpPr/>
          <p:nvPr/>
        </p:nvSpPr>
        <p:spPr>
          <a:xfrm>
            <a:off x="4151114" y="1721287"/>
            <a:ext cx="274177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Effect on Exploration</a:t>
            </a:r>
            <a:endParaRPr lang="en-US" sz="1650" dirty="0"/>
          </a:p>
        </p:txBody>
      </p:sp>
      <p:sp>
        <p:nvSpPr>
          <p:cNvPr id="7" name="Text 5"/>
          <p:cNvSpPr/>
          <p:nvPr/>
        </p:nvSpPr>
        <p:spPr>
          <a:xfrm>
            <a:off x="7328178" y="1721287"/>
            <a:ext cx="274177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Typical Values</a:t>
            </a:r>
            <a:endParaRPr lang="en-US" sz="1650" dirty="0"/>
          </a:p>
        </p:txBody>
      </p:sp>
      <p:sp>
        <p:nvSpPr>
          <p:cNvPr id="8" name="Text 6"/>
          <p:cNvSpPr/>
          <p:nvPr/>
        </p:nvSpPr>
        <p:spPr>
          <a:xfrm>
            <a:off x="10505242" y="1721287"/>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Adjustment Strategy</a:t>
            </a:r>
            <a:endParaRPr lang="en-US" sz="1650" dirty="0"/>
          </a:p>
        </p:txBody>
      </p:sp>
      <p:sp>
        <p:nvSpPr>
          <p:cNvPr id="9" name="Shape 7"/>
          <p:cNvSpPr/>
          <p:nvPr/>
        </p:nvSpPr>
        <p:spPr>
          <a:xfrm>
            <a:off x="756404" y="2199561"/>
            <a:ext cx="12708255" cy="956548"/>
          </a:xfrm>
          <a:prstGeom prst="rect">
            <a:avLst/>
          </a:prstGeom>
          <a:solidFill>
            <a:srgbClr val="000000">
              <a:alpha val="4000"/>
            </a:srgbClr>
          </a:solidFill>
          <a:ln/>
        </p:spPr>
      </p:sp>
      <p:sp>
        <p:nvSpPr>
          <p:cNvPr id="10" name="Text 8"/>
          <p:cNvSpPr/>
          <p:nvPr/>
        </p:nvSpPr>
        <p:spPr>
          <a:xfrm>
            <a:off x="970240" y="2335530"/>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UCT constant (c)</a:t>
            </a:r>
            <a:endParaRPr lang="en-US" sz="1650" dirty="0"/>
          </a:p>
        </p:txBody>
      </p:sp>
      <p:sp>
        <p:nvSpPr>
          <p:cNvPr id="11" name="Text 9"/>
          <p:cNvSpPr/>
          <p:nvPr/>
        </p:nvSpPr>
        <p:spPr>
          <a:xfrm>
            <a:off x="4151114" y="2335530"/>
            <a:ext cx="2741771" cy="684609"/>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Higher c = more exploration</a:t>
            </a:r>
            <a:endParaRPr lang="en-US" sz="1650" dirty="0"/>
          </a:p>
        </p:txBody>
      </p:sp>
      <p:sp>
        <p:nvSpPr>
          <p:cNvPr id="12" name="Text 10"/>
          <p:cNvSpPr/>
          <p:nvPr/>
        </p:nvSpPr>
        <p:spPr>
          <a:xfrm>
            <a:off x="7328178" y="2335530"/>
            <a:ext cx="274177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1.0 - 2.0</a:t>
            </a:r>
            <a:endParaRPr lang="en-US" sz="1650" dirty="0"/>
          </a:p>
        </p:txBody>
      </p:sp>
      <p:sp>
        <p:nvSpPr>
          <p:cNvPr id="13" name="Text 11"/>
          <p:cNvSpPr/>
          <p:nvPr/>
        </p:nvSpPr>
        <p:spPr>
          <a:xfrm>
            <a:off x="10505242" y="2335530"/>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Domain-specific tuning</a:t>
            </a:r>
            <a:endParaRPr lang="en-US" sz="1650" dirty="0"/>
          </a:p>
        </p:txBody>
      </p:sp>
      <p:sp>
        <p:nvSpPr>
          <p:cNvPr id="14" name="Shape 12"/>
          <p:cNvSpPr/>
          <p:nvPr/>
        </p:nvSpPr>
        <p:spPr>
          <a:xfrm>
            <a:off x="756404" y="3156109"/>
            <a:ext cx="12708255" cy="956548"/>
          </a:xfrm>
          <a:prstGeom prst="rect">
            <a:avLst/>
          </a:prstGeom>
          <a:solidFill>
            <a:srgbClr val="FFFFFF">
              <a:alpha val="4000"/>
            </a:srgbClr>
          </a:solidFill>
          <a:ln/>
        </p:spPr>
      </p:sp>
      <p:sp>
        <p:nvSpPr>
          <p:cNvPr id="15" name="Text 13"/>
          <p:cNvSpPr/>
          <p:nvPr/>
        </p:nvSpPr>
        <p:spPr>
          <a:xfrm>
            <a:off x="970240" y="3292078"/>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Epsilon (ε)</a:t>
            </a:r>
            <a:endParaRPr lang="en-US" sz="1650" dirty="0"/>
          </a:p>
        </p:txBody>
      </p:sp>
      <p:sp>
        <p:nvSpPr>
          <p:cNvPr id="16" name="Text 14"/>
          <p:cNvSpPr/>
          <p:nvPr/>
        </p:nvSpPr>
        <p:spPr>
          <a:xfrm>
            <a:off x="4151114" y="3292078"/>
            <a:ext cx="2741771" cy="684609"/>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Directly controls exploration probability</a:t>
            </a:r>
            <a:endParaRPr lang="en-US" sz="1650" dirty="0"/>
          </a:p>
        </p:txBody>
      </p:sp>
      <p:sp>
        <p:nvSpPr>
          <p:cNvPr id="17" name="Text 15"/>
          <p:cNvSpPr/>
          <p:nvPr/>
        </p:nvSpPr>
        <p:spPr>
          <a:xfrm>
            <a:off x="7328178" y="3292078"/>
            <a:ext cx="274177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0.05 - 0.2</a:t>
            </a:r>
            <a:endParaRPr lang="en-US" sz="1650" dirty="0"/>
          </a:p>
        </p:txBody>
      </p:sp>
      <p:sp>
        <p:nvSpPr>
          <p:cNvPr id="18" name="Text 16"/>
          <p:cNvSpPr/>
          <p:nvPr/>
        </p:nvSpPr>
        <p:spPr>
          <a:xfrm>
            <a:off x="10505242" y="3292078"/>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Decrease over time</a:t>
            </a:r>
            <a:endParaRPr lang="en-US" sz="1650" dirty="0"/>
          </a:p>
        </p:txBody>
      </p:sp>
      <p:sp>
        <p:nvSpPr>
          <p:cNvPr id="19" name="Shape 17"/>
          <p:cNvSpPr/>
          <p:nvPr/>
        </p:nvSpPr>
        <p:spPr>
          <a:xfrm>
            <a:off x="756404" y="4112657"/>
            <a:ext cx="12708255" cy="956548"/>
          </a:xfrm>
          <a:prstGeom prst="rect">
            <a:avLst/>
          </a:prstGeom>
          <a:solidFill>
            <a:srgbClr val="000000">
              <a:alpha val="4000"/>
            </a:srgbClr>
          </a:solidFill>
          <a:ln/>
        </p:spPr>
      </p:sp>
      <p:sp>
        <p:nvSpPr>
          <p:cNvPr id="20" name="Text 18"/>
          <p:cNvSpPr/>
          <p:nvPr/>
        </p:nvSpPr>
        <p:spPr>
          <a:xfrm>
            <a:off x="970240" y="4248626"/>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Temperature (τ)</a:t>
            </a:r>
            <a:endParaRPr lang="en-US" sz="1650" dirty="0"/>
          </a:p>
        </p:txBody>
      </p:sp>
      <p:sp>
        <p:nvSpPr>
          <p:cNvPr id="21" name="Text 19"/>
          <p:cNvSpPr/>
          <p:nvPr/>
        </p:nvSpPr>
        <p:spPr>
          <a:xfrm>
            <a:off x="4151114" y="4248626"/>
            <a:ext cx="2741771" cy="684609"/>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Higher τ = more uniform selection</a:t>
            </a:r>
            <a:endParaRPr lang="en-US" sz="1650" dirty="0"/>
          </a:p>
        </p:txBody>
      </p:sp>
      <p:sp>
        <p:nvSpPr>
          <p:cNvPr id="22" name="Text 20"/>
          <p:cNvSpPr/>
          <p:nvPr/>
        </p:nvSpPr>
        <p:spPr>
          <a:xfrm>
            <a:off x="7328178" y="4248626"/>
            <a:ext cx="274177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0.1 - 1.0</a:t>
            </a:r>
            <a:endParaRPr lang="en-US" sz="1650" dirty="0"/>
          </a:p>
        </p:txBody>
      </p:sp>
      <p:sp>
        <p:nvSpPr>
          <p:cNvPr id="23" name="Text 21"/>
          <p:cNvSpPr/>
          <p:nvPr/>
        </p:nvSpPr>
        <p:spPr>
          <a:xfrm>
            <a:off x="10505242" y="4248626"/>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Anneal from high to low</a:t>
            </a:r>
            <a:endParaRPr lang="en-US" sz="1650" dirty="0"/>
          </a:p>
        </p:txBody>
      </p:sp>
      <p:sp>
        <p:nvSpPr>
          <p:cNvPr id="24" name="Shape 22"/>
          <p:cNvSpPr/>
          <p:nvPr/>
        </p:nvSpPr>
        <p:spPr>
          <a:xfrm>
            <a:off x="756404" y="5069205"/>
            <a:ext cx="12708255" cy="956548"/>
          </a:xfrm>
          <a:prstGeom prst="rect">
            <a:avLst/>
          </a:prstGeom>
          <a:solidFill>
            <a:srgbClr val="FFFFFF">
              <a:alpha val="4000"/>
            </a:srgbClr>
          </a:solidFill>
          <a:ln/>
        </p:spPr>
      </p:sp>
      <p:sp>
        <p:nvSpPr>
          <p:cNvPr id="25" name="Text 23"/>
          <p:cNvSpPr/>
          <p:nvPr/>
        </p:nvSpPr>
        <p:spPr>
          <a:xfrm>
            <a:off x="970240" y="5205174"/>
            <a:ext cx="274558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Prior weight</a:t>
            </a:r>
            <a:endParaRPr lang="en-US" sz="1650" dirty="0"/>
          </a:p>
        </p:txBody>
      </p:sp>
      <p:sp>
        <p:nvSpPr>
          <p:cNvPr id="26" name="Text 24"/>
          <p:cNvSpPr/>
          <p:nvPr/>
        </p:nvSpPr>
        <p:spPr>
          <a:xfrm>
            <a:off x="4151114" y="5205174"/>
            <a:ext cx="2741771" cy="684609"/>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Stronger prior = less initial exploration</a:t>
            </a:r>
            <a:endParaRPr lang="en-US" sz="1650" dirty="0"/>
          </a:p>
        </p:txBody>
      </p:sp>
      <p:sp>
        <p:nvSpPr>
          <p:cNvPr id="27" name="Text 25"/>
          <p:cNvSpPr/>
          <p:nvPr/>
        </p:nvSpPr>
        <p:spPr>
          <a:xfrm>
            <a:off x="7328178" y="5205174"/>
            <a:ext cx="2741771" cy="342305"/>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Domain-dependent</a:t>
            </a:r>
            <a:endParaRPr lang="en-US" sz="1650" dirty="0"/>
          </a:p>
        </p:txBody>
      </p:sp>
      <p:sp>
        <p:nvSpPr>
          <p:cNvPr id="28" name="Text 26"/>
          <p:cNvSpPr/>
          <p:nvPr/>
        </p:nvSpPr>
        <p:spPr>
          <a:xfrm>
            <a:off x="10505242" y="5205174"/>
            <a:ext cx="2745581" cy="684609"/>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Decrease as data accumulates</a:t>
            </a:r>
            <a:endParaRPr lang="en-US" sz="1650" dirty="0"/>
          </a:p>
        </p:txBody>
      </p:sp>
      <p:sp>
        <p:nvSpPr>
          <p:cNvPr id="29" name="Text 27"/>
          <p:cNvSpPr/>
          <p:nvPr/>
        </p:nvSpPr>
        <p:spPr>
          <a:xfrm>
            <a:off x="748784" y="6273998"/>
            <a:ext cx="12723495" cy="1369219"/>
          </a:xfrm>
          <a:prstGeom prst="rect">
            <a:avLst/>
          </a:prstGeom>
          <a:noFill/>
          <a:ln/>
        </p:spPr>
        <p:txBody>
          <a:bodyPr wrap="square" lIns="0" tIns="0" rIns="0" bIns="0" rtlCol="0" anchor="t"/>
          <a:lstStyle/>
          <a:p>
            <a:pPr algn="l" indent="0" marL="0">
              <a:lnSpc>
                <a:spcPts val="2650"/>
              </a:lnSpc>
              <a:buNone/>
            </a:pPr>
            <a:r>
              <a:rPr lang="en-US" sz="1650" dirty="0">
                <a:solidFill>
                  <a:srgbClr val="000000"/>
                </a:solidFill>
                <a:latin typeface="Inter" pitchFamily="34" charset="0"/>
                <a:ea typeface="Inter" pitchFamily="34" charset="-122"/>
                <a:cs typeface="Inter" pitchFamily="34" charset="-120"/>
              </a:rPr>
              <a:t>When implementing exploration strategies in practice, parameter tuning becomes crucial. The optimal balance depends heavily on the specific problem characteristics, available computational resources, and time constraints. Many successful implementations use adaptive parameters that change over time, starting with high exploration and gradually shifting toward exploitation.</a:t>
            </a:r>
            <a:endParaRPr lang="en-US" sz="1650" dirty="0"/>
          </a:p>
        </p:txBody>
      </p:sp>
      <p:pic>
        <p:nvPicPr>
          <p:cNvPr id="30"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5081" y="506849"/>
            <a:ext cx="4785122" cy="575905"/>
          </a:xfrm>
          <a:prstGeom prst="rect">
            <a:avLst/>
          </a:prstGeom>
          <a:noFill/>
          <a:ln/>
        </p:spPr>
        <p:txBody>
          <a:bodyPr wrap="none" lIns="0" tIns="0" rIns="0" bIns="0" rtlCol="0" anchor="t"/>
          <a:lstStyle/>
          <a:p>
            <a:pPr algn="l" indent="0" marL="0">
              <a:lnSpc>
                <a:spcPts val="4500"/>
              </a:lnSpc>
              <a:buNone/>
            </a:pPr>
            <a:r>
              <a:rPr lang="en-US" sz="3600" b="1" dirty="0">
                <a:solidFill>
                  <a:srgbClr val="000000"/>
                </a:solidFill>
                <a:latin typeface="Inter Bold" pitchFamily="34" charset="0"/>
                <a:ea typeface="Inter Bold" pitchFamily="34" charset="-122"/>
                <a:cs typeface="Inter Bold" pitchFamily="34" charset="-120"/>
              </a:rPr>
              <a:t>Case Study: AlphaGo</a:t>
            </a:r>
            <a:endParaRPr lang="en-US" sz="3600" dirty="0"/>
          </a:p>
        </p:txBody>
      </p:sp>
      <p:pic>
        <p:nvPicPr>
          <p:cNvPr id="3" name="Image 0" descr="preencoded.png">    </p:cNvPr>
          <p:cNvPicPr>
            <a:picLocks noChangeAspect="1"/>
          </p:cNvPicPr>
          <p:nvPr/>
        </p:nvPicPr>
        <p:blipFill>
          <a:blip r:embed="rId1"/>
          <a:stretch>
            <a:fillRect/>
          </a:stretch>
        </p:blipFill>
        <p:spPr>
          <a:xfrm>
            <a:off x="3058120" y="1451372"/>
            <a:ext cx="1587341" cy="1061799"/>
          </a:xfrm>
          <a:prstGeom prst="rect">
            <a:avLst/>
          </a:prstGeom>
        </p:spPr>
      </p:pic>
      <p:pic>
        <p:nvPicPr>
          <p:cNvPr id="4" name="Image 1" descr="preencoded.png">    </p:cNvPr>
          <p:cNvPicPr>
            <a:picLocks noChangeAspect="1"/>
          </p:cNvPicPr>
          <p:nvPr/>
        </p:nvPicPr>
        <p:blipFill>
          <a:blip r:embed="rId2"/>
          <a:stretch>
            <a:fillRect/>
          </a:stretch>
        </p:blipFill>
        <p:spPr>
          <a:xfrm>
            <a:off x="3722251" y="1951792"/>
            <a:ext cx="259080" cy="323969"/>
          </a:xfrm>
          <a:prstGeom prst="rect">
            <a:avLst/>
          </a:prstGeom>
        </p:spPr>
      </p:pic>
      <p:sp>
        <p:nvSpPr>
          <p:cNvPr id="5" name="Text 1"/>
          <p:cNvSpPr/>
          <p:nvPr/>
        </p:nvSpPr>
        <p:spPr>
          <a:xfrm>
            <a:off x="4829770" y="1635681"/>
            <a:ext cx="2968228" cy="287893"/>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Superhuman Performance</a:t>
            </a:r>
            <a:endParaRPr lang="en-US" sz="1800" dirty="0"/>
          </a:p>
        </p:txBody>
      </p:sp>
      <p:sp>
        <p:nvSpPr>
          <p:cNvPr id="6" name="Text 2"/>
          <p:cNvSpPr/>
          <p:nvPr/>
        </p:nvSpPr>
        <p:spPr>
          <a:xfrm>
            <a:off x="4829770" y="2034064"/>
            <a:ext cx="2968228" cy="294799"/>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Defeated world champions in Go</a:t>
            </a:r>
            <a:endParaRPr lang="en-US" sz="1450" dirty="0"/>
          </a:p>
        </p:txBody>
      </p:sp>
      <p:sp>
        <p:nvSpPr>
          <p:cNvPr id="7" name="Shape 3"/>
          <p:cNvSpPr/>
          <p:nvPr/>
        </p:nvSpPr>
        <p:spPr>
          <a:xfrm>
            <a:off x="4691539" y="2526625"/>
            <a:ext cx="8734663" cy="11430"/>
          </a:xfrm>
          <a:prstGeom prst="roundRect">
            <a:avLst>
              <a:gd name="adj" fmla="val 677269"/>
            </a:avLst>
          </a:prstGeom>
          <a:solidFill>
            <a:srgbClr val="B8D3DF"/>
          </a:solidFill>
          <a:ln/>
        </p:spPr>
      </p:sp>
      <p:pic>
        <p:nvPicPr>
          <p:cNvPr id="8" name="Image 2" descr="preencoded.png">    </p:cNvPr>
          <p:cNvPicPr>
            <a:picLocks noChangeAspect="1"/>
          </p:cNvPicPr>
          <p:nvPr/>
        </p:nvPicPr>
        <p:blipFill>
          <a:blip r:embed="rId3"/>
          <a:stretch>
            <a:fillRect/>
          </a:stretch>
        </p:blipFill>
        <p:spPr>
          <a:xfrm>
            <a:off x="2264450" y="2559248"/>
            <a:ext cx="3174683" cy="1061799"/>
          </a:xfrm>
          <a:prstGeom prst="rect">
            <a:avLst/>
          </a:prstGeom>
        </p:spPr>
      </p:pic>
      <p:pic>
        <p:nvPicPr>
          <p:cNvPr id="9" name="Image 3" descr="preencoded.png">    </p:cNvPr>
          <p:cNvPicPr>
            <a:picLocks noChangeAspect="1"/>
          </p:cNvPicPr>
          <p:nvPr/>
        </p:nvPicPr>
        <p:blipFill>
          <a:blip r:embed="rId4"/>
          <a:stretch>
            <a:fillRect/>
          </a:stretch>
        </p:blipFill>
        <p:spPr>
          <a:xfrm>
            <a:off x="3722132" y="2928104"/>
            <a:ext cx="259080" cy="323969"/>
          </a:xfrm>
          <a:prstGeom prst="rect">
            <a:avLst/>
          </a:prstGeom>
        </p:spPr>
      </p:pic>
      <p:sp>
        <p:nvSpPr>
          <p:cNvPr id="10" name="Text 4"/>
          <p:cNvSpPr/>
          <p:nvPr/>
        </p:nvSpPr>
        <p:spPr>
          <a:xfrm>
            <a:off x="5623441" y="2743557"/>
            <a:ext cx="2891671" cy="287893"/>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Neural Network Guidance</a:t>
            </a:r>
            <a:endParaRPr lang="en-US" sz="1800" dirty="0"/>
          </a:p>
        </p:txBody>
      </p:sp>
      <p:sp>
        <p:nvSpPr>
          <p:cNvPr id="11" name="Text 5"/>
          <p:cNvSpPr/>
          <p:nvPr/>
        </p:nvSpPr>
        <p:spPr>
          <a:xfrm>
            <a:off x="5623441" y="3141940"/>
            <a:ext cx="3466862" cy="294799"/>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Policy and value networks direct search</a:t>
            </a:r>
            <a:endParaRPr lang="en-US" sz="1450" dirty="0"/>
          </a:p>
        </p:txBody>
      </p:sp>
      <p:sp>
        <p:nvSpPr>
          <p:cNvPr id="12" name="Shape 6"/>
          <p:cNvSpPr/>
          <p:nvPr/>
        </p:nvSpPr>
        <p:spPr>
          <a:xfrm>
            <a:off x="5485209" y="3634502"/>
            <a:ext cx="7940992" cy="11430"/>
          </a:xfrm>
          <a:prstGeom prst="roundRect">
            <a:avLst>
              <a:gd name="adj" fmla="val 677269"/>
            </a:avLst>
          </a:prstGeom>
          <a:solidFill>
            <a:srgbClr val="B8D3DF"/>
          </a:solidFill>
          <a:ln/>
        </p:spPr>
      </p:sp>
      <p:pic>
        <p:nvPicPr>
          <p:cNvPr id="13" name="Image 4" descr="preencoded.png">    </p:cNvPr>
          <p:cNvPicPr>
            <a:picLocks noChangeAspect="1"/>
          </p:cNvPicPr>
          <p:nvPr/>
        </p:nvPicPr>
        <p:blipFill>
          <a:blip r:embed="rId5"/>
          <a:stretch>
            <a:fillRect/>
          </a:stretch>
        </p:blipFill>
        <p:spPr>
          <a:xfrm>
            <a:off x="1470779" y="3667125"/>
            <a:ext cx="4762024" cy="1061799"/>
          </a:xfrm>
          <a:prstGeom prst="rect">
            <a:avLst/>
          </a:prstGeom>
        </p:spPr>
      </p:pic>
      <p:pic>
        <p:nvPicPr>
          <p:cNvPr id="14" name="Image 5" descr="preencoded.png">    </p:cNvPr>
          <p:cNvPicPr>
            <a:picLocks noChangeAspect="1"/>
          </p:cNvPicPr>
          <p:nvPr/>
        </p:nvPicPr>
        <p:blipFill>
          <a:blip r:embed="rId6"/>
          <a:stretch>
            <a:fillRect/>
          </a:stretch>
        </p:blipFill>
        <p:spPr>
          <a:xfrm>
            <a:off x="3722251" y="4035981"/>
            <a:ext cx="259080" cy="323969"/>
          </a:xfrm>
          <a:prstGeom prst="rect">
            <a:avLst/>
          </a:prstGeom>
        </p:spPr>
      </p:pic>
      <p:sp>
        <p:nvSpPr>
          <p:cNvPr id="15" name="Text 7"/>
          <p:cNvSpPr/>
          <p:nvPr/>
        </p:nvSpPr>
        <p:spPr>
          <a:xfrm>
            <a:off x="6417112" y="3851434"/>
            <a:ext cx="2303859" cy="287893"/>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Advanced MCTS</a:t>
            </a:r>
            <a:endParaRPr lang="en-US" sz="1800" dirty="0"/>
          </a:p>
        </p:txBody>
      </p:sp>
      <p:sp>
        <p:nvSpPr>
          <p:cNvPr id="16" name="Text 8"/>
          <p:cNvSpPr/>
          <p:nvPr/>
        </p:nvSpPr>
        <p:spPr>
          <a:xfrm>
            <a:off x="6417112" y="4249817"/>
            <a:ext cx="3090862" cy="294799"/>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Sophisticated tree search algorithm</a:t>
            </a:r>
            <a:endParaRPr lang="en-US" sz="1450" dirty="0"/>
          </a:p>
        </p:txBody>
      </p:sp>
      <p:sp>
        <p:nvSpPr>
          <p:cNvPr id="17" name="Shape 9"/>
          <p:cNvSpPr/>
          <p:nvPr/>
        </p:nvSpPr>
        <p:spPr>
          <a:xfrm>
            <a:off x="6278880" y="4742378"/>
            <a:ext cx="7147322" cy="11430"/>
          </a:xfrm>
          <a:prstGeom prst="roundRect">
            <a:avLst>
              <a:gd name="adj" fmla="val 677269"/>
            </a:avLst>
          </a:prstGeom>
          <a:solidFill>
            <a:srgbClr val="B8D3DF"/>
          </a:solidFill>
          <a:ln/>
        </p:spPr>
      </p:sp>
      <p:pic>
        <p:nvPicPr>
          <p:cNvPr id="18" name="Image 6" descr="preencoded.png">    </p:cNvPr>
          <p:cNvPicPr>
            <a:picLocks noChangeAspect="1"/>
          </p:cNvPicPr>
          <p:nvPr/>
        </p:nvPicPr>
        <p:blipFill>
          <a:blip r:embed="rId7"/>
          <a:stretch>
            <a:fillRect/>
          </a:stretch>
        </p:blipFill>
        <p:spPr>
          <a:xfrm>
            <a:off x="677108" y="4775002"/>
            <a:ext cx="6349365" cy="1061799"/>
          </a:xfrm>
          <a:prstGeom prst="rect">
            <a:avLst/>
          </a:prstGeom>
        </p:spPr>
      </p:pic>
      <p:pic>
        <p:nvPicPr>
          <p:cNvPr id="19" name="Image 7" descr="preencoded.png">    </p:cNvPr>
          <p:cNvPicPr>
            <a:picLocks noChangeAspect="1"/>
          </p:cNvPicPr>
          <p:nvPr/>
        </p:nvPicPr>
        <p:blipFill>
          <a:blip r:embed="rId8"/>
          <a:stretch>
            <a:fillRect/>
          </a:stretch>
        </p:blipFill>
        <p:spPr>
          <a:xfrm>
            <a:off x="3722251" y="5143857"/>
            <a:ext cx="259080" cy="323969"/>
          </a:xfrm>
          <a:prstGeom prst="rect">
            <a:avLst/>
          </a:prstGeom>
        </p:spPr>
      </p:pic>
      <p:sp>
        <p:nvSpPr>
          <p:cNvPr id="20" name="Text 10"/>
          <p:cNvSpPr/>
          <p:nvPr/>
        </p:nvSpPr>
        <p:spPr>
          <a:xfrm>
            <a:off x="7210782" y="4959310"/>
            <a:ext cx="3673316" cy="287893"/>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Exploration-Exploitation Balance</a:t>
            </a:r>
            <a:endParaRPr lang="en-US" sz="1800" dirty="0"/>
          </a:p>
        </p:txBody>
      </p:sp>
      <p:sp>
        <p:nvSpPr>
          <p:cNvPr id="21" name="Text 11"/>
          <p:cNvSpPr/>
          <p:nvPr/>
        </p:nvSpPr>
        <p:spPr>
          <a:xfrm>
            <a:off x="7210782" y="5357693"/>
            <a:ext cx="3673316" cy="294799"/>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Core principle behind its success</a:t>
            </a:r>
            <a:endParaRPr lang="en-US" sz="1450" dirty="0"/>
          </a:p>
        </p:txBody>
      </p:sp>
      <p:sp>
        <p:nvSpPr>
          <p:cNvPr id="22" name="Text 12"/>
          <p:cNvSpPr/>
          <p:nvPr/>
        </p:nvSpPr>
        <p:spPr>
          <a:xfrm>
            <a:off x="645081" y="6044089"/>
            <a:ext cx="12827198" cy="884396"/>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AlphaGo represents one of the most successful applications of the exploration-exploitation balance in practice. It uses MCTS guided by deep neural networks to efficiently explore the vast game tree of Go. The system balances between exploring promising but uncertain moves suggested by its policy network and exploiting known strong positions evaluated by its value network.</a:t>
            </a:r>
            <a:endParaRPr lang="en-US" sz="1450" dirty="0"/>
          </a:p>
        </p:txBody>
      </p:sp>
      <p:sp>
        <p:nvSpPr>
          <p:cNvPr id="23" name="Text 13"/>
          <p:cNvSpPr/>
          <p:nvPr/>
        </p:nvSpPr>
        <p:spPr>
          <a:xfrm>
            <a:off x="645081" y="7135773"/>
            <a:ext cx="12827198" cy="589598"/>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Inter" pitchFamily="34" charset="0"/>
                <a:ea typeface="Inter" pitchFamily="34" charset="-122"/>
                <a:cs typeface="Inter" pitchFamily="34" charset="-120"/>
              </a:rPr>
              <a:t>This balance allowed AlphaGo to discover novel strategies that surprised human experts while still playing consistently strong moves, demonstrating the power of well-tuned exploration in complex domains.</a:t>
            </a:r>
            <a:endParaRPr lang="en-US" sz="1450" dirty="0"/>
          </a:p>
        </p:txBody>
      </p:sp>
      <p:pic>
        <p:nvPicPr>
          <p:cNvPr id="24" name="Image 8" descr="preencoded.png">    </p:cNvPr>
          <p:cNvPicPr>
            <a:picLocks noChangeAspect="1"/>
          </p:cNvPicPr>
          <p:nvPr/>
        </p:nvPicPr>
        <p:blipFill>
          <a:blip r:embed="rId9"/>
          <a:stretch>
            <a:fillRect/>
          </a:stretch>
        </p:blipFill>
        <p:spPr>
          <a:xfrm>
            <a:off x="13700760" y="228600"/>
            <a:ext cx="701040" cy="6641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827842"/>
            <a:ext cx="6153507"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Emerging Approaches</a:t>
            </a:r>
            <a:endParaRPr lang="en-US" sz="4450" dirty="0"/>
          </a:p>
        </p:txBody>
      </p:sp>
      <p:sp>
        <p:nvSpPr>
          <p:cNvPr id="3" name="Shape 1"/>
          <p:cNvSpPr/>
          <p:nvPr/>
        </p:nvSpPr>
        <p:spPr>
          <a:xfrm>
            <a:off x="793790" y="1990249"/>
            <a:ext cx="6225897" cy="2773799"/>
          </a:xfrm>
          <a:prstGeom prst="roundRect">
            <a:avLst>
              <a:gd name="adj" fmla="val 3435"/>
            </a:avLst>
          </a:prstGeom>
          <a:solidFill>
            <a:srgbClr val="D2EDF9"/>
          </a:solidFill>
          <a:ln w="7620">
            <a:solidFill>
              <a:srgbClr val="B8D3DF"/>
            </a:solidFill>
            <a:prstDash val="solid"/>
          </a:ln>
        </p:spPr>
      </p:sp>
      <p:sp>
        <p:nvSpPr>
          <p:cNvPr id="4" name="Text 2"/>
          <p:cNvSpPr/>
          <p:nvPr/>
        </p:nvSpPr>
        <p:spPr>
          <a:xfrm>
            <a:off x="1028224" y="2224683"/>
            <a:ext cx="4160044"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Meta-Learning for Exploration</a:t>
            </a:r>
            <a:endParaRPr lang="en-US" sz="2200" dirty="0"/>
          </a:p>
        </p:txBody>
      </p:sp>
      <p:sp>
        <p:nvSpPr>
          <p:cNvPr id="5" name="Text 3"/>
          <p:cNvSpPr/>
          <p:nvPr/>
        </p:nvSpPr>
        <p:spPr>
          <a:xfrm>
            <a:off x="1028224" y="2715101"/>
            <a:ext cx="5757029"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Using machine learning to learn optimal exploration strategies themselves, rather than hand-designing them. These approaches can adapt the exploration strategy based on the specific characteristics of the problem domain.</a:t>
            </a:r>
            <a:endParaRPr lang="en-US" sz="1750" dirty="0"/>
          </a:p>
        </p:txBody>
      </p:sp>
      <p:sp>
        <p:nvSpPr>
          <p:cNvPr id="6" name="Shape 4"/>
          <p:cNvSpPr/>
          <p:nvPr/>
        </p:nvSpPr>
        <p:spPr>
          <a:xfrm>
            <a:off x="7246501" y="1990249"/>
            <a:ext cx="6225897" cy="2773799"/>
          </a:xfrm>
          <a:prstGeom prst="roundRect">
            <a:avLst>
              <a:gd name="adj" fmla="val 3435"/>
            </a:avLst>
          </a:prstGeom>
          <a:solidFill>
            <a:srgbClr val="D2EDF9"/>
          </a:solidFill>
          <a:ln w="7620">
            <a:solidFill>
              <a:srgbClr val="B8D3DF"/>
            </a:solidFill>
            <a:prstDash val="solid"/>
          </a:ln>
        </p:spPr>
      </p:sp>
      <p:sp>
        <p:nvSpPr>
          <p:cNvPr id="7" name="Text 5"/>
          <p:cNvSpPr/>
          <p:nvPr/>
        </p:nvSpPr>
        <p:spPr>
          <a:xfrm>
            <a:off x="7480935" y="2224683"/>
            <a:ext cx="469094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Information-Theoretic Exploration</a:t>
            </a:r>
            <a:endParaRPr lang="en-US" sz="2200" dirty="0"/>
          </a:p>
        </p:txBody>
      </p:sp>
      <p:sp>
        <p:nvSpPr>
          <p:cNvPr id="8" name="Text 6"/>
          <p:cNvSpPr/>
          <p:nvPr/>
        </p:nvSpPr>
        <p:spPr>
          <a:xfrm>
            <a:off x="7480935" y="2715101"/>
            <a:ext cx="575702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Defining exploration objectives based on information gain or entropy reduction, leading to more principled exploration that targets the most informative actions rather than simply the least-visited ones.</a:t>
            </a:r>
            <a:endParaRPr lang="en-US" sz="1750" dirty="0"/>
          </a:p>
        </p:txBody>
      </p:sp>
      <p:sp>
        <p:nvSpPr>
          <p:cNvPr id="9" name="Shape 7"/>
          <p:cNvSpPr/>
          <p:nvPr/>
        </p:nvSpPr>
        <p:spPr>
          <a:xfrm>
            <a:off x="793790" y="4990862"/>
            <a:ext cx="6225897" cy="2410897"/>
          </a:xfrm>
          <a:prstGeom prst="roundRect">
            <a:avLst>
              <a:gd name="adj" fmla="val 3952"/>
            </a:avLst>
          </a:prstGeom>
          <a:solidFill>
            <a:srgbClr val="D2EDF9"/>
          </a:solidFill>
          <a:ln w="7620">
            <a:solidFill>
              <a:srgbClr val="B8D3DF"/>
            </a:solidFill>
            <a:prstDash val="solid"/>
          </a:ln>
        </p:spPr>
      </p:sp>
      <p:sp>
        <p:nvSpPr>
          <p:cNvPr id="10" name="Text 8"/>
          <p:cNvSpPr/>
          <p:nvPr/>
        </p:nvSpPr>
        <p:spPr>
          <a:xfrm>
            <a:off x="1028224" y="522529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Intrinsic Motivation</a:t>
            </a:r>
            <a:endParaRPr lang="en-US" sz="2200" dirty="0"/>
          </a:p>
        </p:txBody>
      </p:sp>
      <p:sp>
        <p:nvSpPr>
          <p:cNvPr id="11" name="Text 9"/>
          <p:cNvSpPr/>
          <p:nvPr/>
        </p:nvSpPr>
        <p:spPr>
          <a:xfrm>
            <a:off x="1028224" y="5715714"/>
            <a:ext cx="575702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Incorporating curiosity or novelty as intrinsic rewards to drive exploration, inspired by human learning. This approach can help discover useful skills or knowledge even in the absence of external rewards.</a:t>
            </a:r>
            <a:endParaRPr lang="en-US" sz="1750" dirty="0"/>
          </a:p>
        </p:txBody>
      </p:sp>
      <p:sp>
        <p:nvSpPr>
          <p:cNvPr id="12" name="Shape 10"/>
          <p:cNvSpPr/>
          <p:nvPr/>
        </p:nvSpPr>
        <p:spPr>
          <a:xfrm>
            <a:off x="7246501" y="4990862"/>
            <a:ext cx="6225897" cy="2410897"/>
          </a:xfrm>
          <a:prstGeom prst="roundRect">
            <a:avLst>
              <a:gd name="adj" fmla="val 3952"/>
            </a:avLst>
          </a:prstGeom>
          <a:solidFill>
            <a:srgbClr val="D2EDF9"/>
          </a:solidFill>
          <a:ln w="7620">
            <a:solidFill>
              <a:srgbClr val="B8D3DF"/>
            </a:solidFill>
            <a:prstDash val="solid"/>
          </a:ln>
        </p:spPr>
      </p:sp>
      <p:sp>
        <p:nvSpPr>
          <p:cNvPr id="13" name="Text 11"/>
          <p:cNvSpPr/>
          <p:nvPr/>
        </p:nvSpPr>
        <p:spPr>
          <a:xfrm>
            <a:off x="7480935" y="5225296"/>
            <a:ext cx="3312200"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Hierarchical Exploration</a:t>
            </a:r>
            <a:endParaRPr lang="en-US" sz="2200" dirty="0"/>
          </a:p>
        </p:txBody>
      </p:sp>
      <p:sp>
        <p:nvSpPr>
          <p:cNvPr id="14" name="Text 12"/>
          <p:cNvSpPr/>
          <p:nvPr/>
        </p:nvSpPr>
        <p:spPr>
          <a:xfrm>
            <a:off x="7480935" y="5715714"/>
            <a:ext cx="575702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Exploring at multiple levels of abstraction simultaneously, allowing for more efficient exploration of large or complex state spaces by focusing on meaningful high-level options.</a:t>
            </a:r>
            <a:endParaRPr lang="en-US" sz="1750" dirty="0"/>
          </a:p>
        </p:txBody>
      </p:sp>
      <p:pic>
        <p:nvPicPr>
          <p:cNvPr id="15"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49078"/>
          </a:xfrm>
          <a:prstGeom prst="rect">
            <a:avLst/>
          </a:prstGeom>
        </p:spPr>
      </p:pic>
      <p:sp>
        <p:nvSpPr>
          <p:cNvPr id="3" name="Text 0"/>
          <p:cNvSpPr/>
          <p:nvPr/>
        </p:nvSpPr>
        <p:spPr>
          <a:xfrm>
            <a:off x="601742" y="2621875"/>
            <a:ext cx="6721435" cy="537210"/>
          </a:xfrm>
          <a:prstGeom prst="rect">
            <a:avLst/>
          </a:prstGeom>
          <a:noFill/>
          <a:ln/>
        </p:spPr>
        <p:txBody>
          <a:bodyPr wrap="none" lIns="0" tIns="0" rIns="0" bIns="0" rtlCol="0" anchor="t"/>
          <a:lstStyle/>
          <a:p>
            <a:pPr algn="l" indent="0" marL="0">
              <a:lnSpc>
                <a:spcPts val="4200"/>
              </a:lnSpc>
              <a:buNone/>
            </a:pPr>
            <a:r>
              <a:rPr lang="en-US" sz="3350" b="1" dirty="0">
                <a:solidFill>
                  <a:srgbClr val="000000"/>
                </a:solidFill>
                <a:latin typeface="Inter Bold" pitchFamily="34" charset="0"/>
                <a:ea typeface="Inter Bold" pitchFamily="34" charset="-122"/>
                <a:cs typeface="Inter Bold" pitchFamily="34" charset="-120"/>
              </a:rPr>
              <a:t>Challenges and Open Questions</a:t>
            </a:r>
            <a:endParaRPr lang="en-US" sz="3350" dirty="0"/>
          </a:p>
        </p:txBody>
      </p:sp>
      <p:sp>
        <p:nvSpPr>
          <p:cNvPr id="4" name="Shape 1"/>
          <p:cNvSpPr/>
          <p:nvPr/>
        </p:nvSpPr>
        <p:spPr>
          <a:xfrm>
            <a:off x="7303770" y="3416975"/>
            <a:ext cx="22860" cy="4340781"/>
          </a:xfrm>
          <a:prstGeom prst="roundRect">
            <a:avLst>
              <a:gd name="adj" fmla="val 315882"/>
            </a:avLst>
          </a:prstGeom>
          <a:solidFill>
            <a:srgbClr val="B8D3DF"/>
          </a:solidFill>
          <a:ln/>
        </p:spPr>
      </p:sp>
      <p:sp>
        <p:nvSpPr>
          <p:cNvPr id="5" name="Shape 2"/>
          <p:cNvSpPr/>
          <p:nvPr/>
        </p:nvSpPr>
        <p:spPr>
          <a:xfrm>
            <a:off x="6628864" y="3598902"/>
            <a:ext cx="515779" cy="22860"/>
          </a:xfrm>
          <a:prstGeom prst="roundRect">
            <a:avLst>
              <a:gd name="adj" fmla="val 315882"/>
            </a:avLst>
          </a:prstGeom>
          <a:solidFill>
            <a:srgbClr val="B8D3DF"/>
          </a:solidFill>
          <a:ln/>
        </p:spPr>
      </p:sp>
      <p:sp>
        <p:nvSpPr>
          <p:cNvPr id="6" name="Shape 3"/>
          <p:cNvSpPr/>
          <p:nvPr/>
        </p:nvSpPr>
        <p:spPr>
          <a:xfrm>
            <a:off x="7121783" y="3416975"/>
            <a:ext cx="386834" cy="386834"/>
          </a:xfrm>
          <a:prstGeom prst="roundRect">
            <a:avLst>
              <a:gd name="adj" fmla="val 18667"/>
            </a:avLst>
          </a:prstGeom>
          <a:solidFill>
            <a:srgbClr val="D2EDF9"/>
          </a:solidFill>
          <a:ln w="7620">
            <a:solidFill>
              <a:srgbClr val="B8D3DF"/>
            </a:solidFill>
            <a:prstDash val="solid"/>
          </a:ln>
        </p:spPr>
      </p:sp>
      <p:pic>
        <p:nvPicPr>
          <p:cNvPr id="7" name="Image 1" descr="preencoded.png">    </p:cNvPr>
          <p:cNvPicPr>
            <a:picLocks noChangeAspect="1"/>
          </p:cNvPicPr>
          <p:nvPr/>
        </p:nvPicPr>
        <p:blipFill>
          <a:blip r:embed="rId2"/>
          <a:stretch>
            <a:fillRect/>
          </a:stretch>
        </p:blipFill>
        <p:spPr>
          <a:xfrm>
            <a:off x="7186196" y="3449181"/>
            <a:ext cx="257889" cy="322302"/>
          </a:xfrm>
          <a:prstGeom prst="rect">
            <a:avLst/>
          </a:prstGeom>
        </p:spPr>
      </p:pic>
      <p:sp>
        <p:nvSpPr>
          <p:cNvPr id="8" name="Text 4"/>
          <p:cNvSpPr/>
          <p:nvPr/>
        </p:nvSpPr>
        <p:spPr>
          <a:xfrm>
            <a:off x="3332559" y="3476030"/>
            <a:ext cx="3123009" cy="268605"/>
          </a:xfrm>
          <a:prstGeom prst="rect">
            <a:avLst/>
          </a:prstGeom>
          <a:noFill/>
          <a:ln/>
        </p:spPr>
        <p:txBody>
          <a:bodyPr wrap="none" lIns="0" tIns="0" rIns="0" bIns="0" rtlCol="0" anchor="t"/>
          <a:lstStyle/>
          <a:p>
            <a:pPr algn="r"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Non-Stationary Environments</a:t>
            </a:r>
            <a:endParaRPr lang="en-US" sz="1650" dirty="0"/>
          </a:p>
        </p:txBody>
      </p:sp>
      <p:sp>
        <p:nvSpPr>
          <p:cNvPr id="9" name="Text 5"/>
          <p:cNvSpPr/>
          <p:nvPr/>
        </p:nvSpPr>
        <p:spPr>
          <a:xfrm>
            <a:off x="601742" y="3847743"/>
            <a:ext cx="5853827" cy="825103"/>
          </a:xfrm>
          <a:prstGeom prst="rect">
            <a:avLst/>
          </a:prstGeom>
          <a:noFill/>
          <a:ln/>
        </p:spPr>
        <p:txBody>
          <a:bodyPr wrap="square" lIns="0" tIns="0" rIns="0" bIns="0" rtlCol="0" anchor="t"/>
          <a:lstStyle/>
          <a:p>
            <a:pPr algn="r" indent="0" marL="0">
              <a:lnSpc>
                <a:spcPts val="2150"/>
              </a:lnSpc>
              <a:buNone/>
            </a:pPr>
            <a:r>
              <a:rPr lang="en-US" sz="1350" dirty="0">
                <a:solidFill>
                  <a:srgbClr val="000000"/>
                </a:solidFill>
                <a:latin typeface="Inter" pitchFamily="34" charset="0"/>
                <a:ea typeface="Inter" pitchFamily="34" charset="-122"/>
                <a:cs typeface="Inter" pitchFamily="34" charset="-120"/>
              </a:rPr>
              <a:t>How to balance exploration and exploitation when the underlying distributions or rewards are changing over time? Adaptation becomes even more critical in dynamic environments.</a:t>
            </a:r>
            <a:endParaRPr lang="en-US" sz="1350" dirty="0"/>
          </a:p>
        </p:txBody>
      </p:sp>
      <p:sp>
        <p:nvSpPr>
          <p:cNvPr id="10" name="Shape 6"/>
          <p:cNvSpPr/>
          <p:nvPr/>
        </p:nvSpPr>
        <p:spPr>
          <a:xfrm>
            <a:off x="7485757" y="4630460"/>
            <a:ext cx="515779" cy="22860"/>
          </a:xfrm>
          <a:prstGeom prst="roundRect">
            <a:avLst>
              <a:gd name="adj" fmla="val 315882"/>
            </a:avLst>
          </a:prstGeom>
          <a:solidFill>
            <a:srgbClr val="B8D3DF"/>
          </a:solidFill>
          <a:ln/>
        </p:spPr>
      </p:sp>
      <p:sp>
        <p:nvSpPr>
          <p:cNvPr id="11" name="Shape 7"/>
          <p:cNvSpPr/>
          <p:nvPr/>
        </p:nvSpPr>
        <p:spPr>
          <a:xfrm>
            <a:off x="7121783" y="4448532"/>
            <a:ext cx="386834" cy="386834"/>
          </a:xfrm>
          <a:prstGeom prst="roundRect">
            <a:avLst>
              <a:gd name="adj" fmla="val 18667"/>
            </a:avLst>
          </a:prstGeom>
          <a:solidFill>
            <a:srgbClr val="D2EDF9"/>
          </a:solidFill>
          <a:ln w="7620">
            <a:solidFill>
              <a:srgbClr val="B8D3DF"/>
            </a:solidFill>
            <a:prstDash val="solid"/>
          </a:ln>
        </p:spPr>
      </p:sp>
      <p:pic>
        <p:nvPicPr>
          <p:cNvPr id="12" name="Image 2" descr="preencoded.png">    </p:cNvPr>
          <p:cNvPicPr>
            <a:picLocks noChangeAspect="1"/>
          </p:cNvPicPr>
          <p:nvPr/>
        </p:nvPicPr>
        <p:blipFill>
          <a:blip r:embed="rId3"/>
          <a:stretch>
            <a:fillRect/>
          </a:stretch>
        </p:blipFill>
        <p:spPr>
          <a:xfrm>
            <a:off x="7186196" y="4480739"/>
            <a:ext cx="257889" cy="322302"/>
          </a:xfrm>
          <a:prstGeom prst="rect">
            <a:avLst/>
          </a:prstGeom>
        </p:spPr>
      </p:pic>
      <p:sp>
        <p:nvSpPr>
          <p:cNvPr id="13" name="Text 8"/>
          <p:cNvSpPr/>
          <p:nvPr/>
        </p:nvSpPr>
        <p:spPr>
          <a:xfrm>
            <a:off x="8174831" y="4507587"/>
            <a:ext cx="2714863" cy="268605"/>
          </a:xfrm>
          <a:prstGeom prst="rect">
            <a:avLst/>
          </a:prstGeom>
          <a:noFill/>
          <a:ln/>
        </p:spPr>
        <p:txBody>
          <a:bodyPr wrap="none" lIns="0" tIns="0" rIns="0" bIns="0" rtlCol="0" anchor="t"/>
          <a:lstStyle/>
          <a:p>
            <a:pPr algn="l"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High-Dimensional Spaces</a:t>
            </a:r>
            <a:endParaRPr lang="en-US" sz="1650" dirty="0"/>
          </a:p>
        </p:txBody>
      </p:sp>
      <p:sp>
        <p:nvSpPr>
          <p:cNvPr id="14" name="Text 9"/>
          <p:cNvSpPr/>
          <p:nvPr/>
        </p:nvSpPr>
        <p:spPr>
          <a:xfrm>
            <a:off x="8174831" y="4879300"/>
            <a:ext cx="5853827" cy="1100138"/>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Inter" pitchFamily="34" charset="0"/>
                <a:ea typeface="Inter" pitchFamily="34" charset="-122"/>
                <a:cs typeface="Inter" pitchFamily="34" charset="-120"/>
              </a:rPr>
              <a:t>Traditional exploration strategies often struggle in very high-dimensional spaces where the curse of dimensionality makes comprehensive exploration impossible. How can we explore efficiently in such spaces?</a:t>
            </a:r>
            <a:endParaRPr lang="en-US" sz="1350" dirty="0"/>
          </a:p>
        </p:txBody>
      </p:sp>
      <p:sp>
        <p:nvSpPr>
          <p:cNvPr id="15" name="Shape 10"/>
          <p:cNvSpPr/>
          <p:nvPr/>
        </p:nvSpPr>
        <p:spPr>
          <a:xfrm>
            <a:off x="6628864" y="5567839"/>
            <a:ext cx="515779" cy="22860"/>
          </a:xfrm>
          <a:prstGeom prst="roundRect">
            <a:avLst>
              <a:gd name="adj" fmla="val 315882"/>
            </a:avLst>
          </a:prstGeom>
          <a:solidFill>
            <a:srgbClr val="B8D3DF"/>
          </a:solidFill>
          <a:ln/>
        </p:spPr>
      </p:sp>
      <p:sp>
        <p:nvSpPr>
          <p:cNvPr id="16" name="Shape 11"/>
          <p:cNvSpPr/>
          <p:nvPr/>
        </p:nvSpPr>
        <p:spPr>
          <a:xfrm>
            <a:off x="7121783" y="5385911"/>
            <a:ext cx="386834" cy="386834"/>
          </a:xfrm>
          <a:prstGeom prst="roundRect">
            <a:avLst>
              <a:gd name="adj" fmla="val 18667"/>
            </a:avLst>
          </a:prstGeom>
          <a:solidFill>
            <a:srgbClr val="D2EDF9"/>
          </a:solidFill>
          <a:ln w="7620">
            <a:solidFill>
              <a:srgbClr val="B8D3DF"/>
            </a:solidFill>
            <a:prstDash val="solid"/>
          </a:ln>
        </p:spPr>
      </p:sp>
      <p:pic>
        <p:nvPicPr>
          <p:cNvPr id="17" name="Image 3" descr="preencoded.png">    </p:cNvPr>
          <p:cNvPicPr>
            <a:picLocks noChangeAspect="1"/>
          </p:cNvPicPr>
          <p:nvPr/>
        </p:nvPicPr>
        <p:blipFill>
          <a:blip r:embed="rId4"/>
          <a:stretch>
            <a:fillRect/>
          </a:stretch>
        </p:blipFill>
        <p:spPr>
          <a:xfrm>
            <a:off x="7186196" y="5418118"/>
            <a:ext cx="257889" cy="322302"/>
          </a:xfrm>
          <a:prstGeom prst="rect">
            <a:avLst/>
          </a:prstGeom>
        </p:spPr>
      </p:pic>
      <p:sp>
        <p:nvSpPr>
          <p:cNvPr id="18" name="Text 12"/>
          <p:cNvSpPr/>
          <p:nvPr/>
        </p:nvSpPr>
        <p:spPr>
          <a:xfrm>
            <a:off x="4306491" y="5444966"/>
            <a:ext cx="2149078" cy="268605"/>
          </a:xfrm>
          <a:prstGeom prst="rect">
            <a:avLst/>
          </a:prstGeom>
          <a:noFill/>
          <a:ln/>
        </p:spPr>
        <p:txBody>
          <a:bodyPr wrap="none" lIns="0" tIns="0" rIns="0" bIns="0" rtlCol="0" anchor="t"/>
          <a:lstStyle/>
          <a:p>
            <a:pPr algn="r"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Safety Constraints</a:t>
            </a:r>
            <a:endParaRPr lang="en-US" sz="1650" dirty="0"/>
          </a:p>
        </p:txBody>
      </p:sp>
      <p:sp>
        <p:nvSpPr>
          <p:cNvPr id="19" name="Text 13"/>
          <p:cNvSpPr/>
          <p:nvPr/>
        </p:nvSpPr>
        <p:spPr>
          <a:xfrm>
            <a:off x="601742" y="5816679"/>
            <a:ext cx="5853827" cy="825103"/>
          </a:xfrm>
          <a:prstGeom prst="rect">
            <a:avLst/>
          </a:prstGeom>
          <a:noFill/>
          <a:ln/>
        </p:spPr>
        <p:txBody>
          <a:bodyPr wrap="square" lIns="0" tIns="0" rIns="0" bIns="0" rtlCol="0" anchor="t"/>
          <a:lstStyle/>
          <a:p>
            <a:pPr algn="r" indent="0" marL="0">
              <a:lnSpc>
                <a:spcPts val="2150"/>
              </a:lnSpc>
              <a:buNone/>
            </a:pPr>
            <a:r>
              <a:rPr lang="en-US" sz="1350" dirty="0">
                <a:solidFill>
                  <a:srgbClr val="000000"/>
                </a:solidFill>
                <a:latin typeface="Inter" pitchFamily="34" charset="0"/>
                <a:ea typeface="Inter" pitchFamily="34" charset="-122"/>
                <a:cs typeface="Inter" pitchFamily="34" charset="-120"/>
              </a:rPr>
              <a:t>In many real-world applications, exploration carries risks. How can we balance the need for exploration with safety constraints that limit the potential negative outcomes of exploratory actions?</a:t>
            </a:r>
            <a:endParaRPr lang="en-US" sz="1350" dirty="0"/>
          </a:p>
        </p:txBody>
      </p:sp>
      <p:sp>
        <p:nvSpPr>
          <p:cNvPr id="20" name="Shape 14"/>
          <p:cNvSpPr/>
          <p:nvPr/>
        </p:nvSpPr>
        <p:spPr>
          <a:xfrm>
            <a:off x="7485757" y="6505218"/>
            <a:ext cx="515779" cy="22860"/>
          </a:xfrm>
          <a:prstGeom prst="roundRect">
            <a:avLst>
              <a:gd name="adj" fmla="val 315882"/>
            </a:avLst>
          </a:prstGeom>
          <a:solidFill>
            <a:srgbClr val="B8D3DF"/>
          </a:solidFill>
          <a:ln/>
        </p:spPr>
      </p:sp>
      <p:sp>
        <p:nvSpPr>
          <p:cNvPr id="21" name="Shape 15"/>
          <p:cNvSpPr/>
          <p:nvPr/>
        </p:nvSpPr>
        <p:spPr>
          <a:xfrm>
            <a:off x="7121783" y="6323290"/>
            <a:ext cx="386834" cy="386834"/>
          </a:xfrm>
          <a:prstGeom prst="roundRect">
            <a:avLst>
              <a:gd name="adj" fmla="val 18667"/>
            </a:avLst>
          </a:prstGeom>
          <a:solidFill>
            <a:srgbClr val="D2EDF9"/>
          </a:solidFill>
          <a:ln w="7620">
            <a:solidFill>
              <a:srgbClr val="B8D3DF"/>
            </a:solidFill>
            <a:prstDash val="solid"/>
          </a:ln>
        </p:spPr>
      </p:sp>
      <p:pic>
        <p:nvPicPr>
          <p:cNvPr id="22" name="Image 4" descr="preencoded.png">    </p:cNvPr>
          <p:cNvPicPr>
            <a:picLocks noChangeAspect="1"/>
          </p:cNvPicPr>
          <p:nvPr/>
        </p:nvPicPr>
        <p:blipFill>
          <a:blip r:embed="rId5"/>
          <a:stretch>
            <a:fillRect/>
          </a:stretch>
        </p:blipFill>
        <p:spPr>
          <a:xfrm>
            <a:off x="7186196" y="6355497"/>
            <a:ext cx="257889" cy="322302"/>
          </a:xfrm>
          <a:prstGeom prst="rect">
            <a:avLst/>
          </a:prstGeom>
        </p:spPr>
      </p:pic>
      <p:sp>
        <p:nvSpPr>
          <p:cNvPr id="23" name="Text 16"/>
          <p:cNvSpPr/>
          <p:nvPr/>
        </p:nvSpPr>
        <p:spPr>
          <a:xfrm>
            <a:off x="8174831" y="6382345"/>
            <a:ext cx="2149078" cy="268605"/>
          </a:xfrm>
          <a:prstGeom prst="rect">
            <a:avLst/>
          </a:prstGeom>
          <a:noFill/>
          <a:ln/>
        </p:spPr>
        <p:txBody>
          <a:bodyPr wrap="none" lIns="0" tIns="0" rIns="0" bIns="0" rtlCol="0" anchor="t"/>
          <a:lstStyle/>
          <a:p>
            <a:pPr algn="l"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Transfer Learning</a:t>
            </a:r>
            <a:endParaRPr lang="en-US" sz="1650" dirty="0"/>
          </a:p>
        </p:txBody>
      </p:sp>
      <p:sp>
        <p:nvSpPr>
          <p:cNvPr id="24" name="Text 17"/>
          <p:cNvSpPr/>
          <p:nvPr/>
        </p:nvSpPr>
        <p:spPr>
          <a:xfrm>
            <a:off x="8174831" y="6754058"/>
            <a:ext cx="5853827" cy="825103"/>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Inter" pitchFamily="34" charset="0"/>
                <a:ea typeface="Inter" pitchFamily="34" charset="-122"/>
                <a:cs typeface="Inter" pitchFamily="34" charset="-120"/>
              </a:rPr>
              <a:t>Can exploration knowledge be transferred between related tasks to improve efficiency? Leveraging prior experience to guide exploration in new but similar domains remains challenging.</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4175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Key Takeaways</a:t>
            </a:r>
            <a:endParaRPr lang="en-US" sz="4450" dirty="0"/>
          </a:p>
        </p:txBody>
      </p:sp>
      <p:pic>
        <p:nvPicPr>
          <p:cNvPr id="3" name="Image 0" descr="preencoded.png">    </p:cNvPr>
          <p:cNvPicPr>
            <a:picLocks noChangeAspect="1"/>
          </p:cNvPicPr>
          <p:nvPr/>
        </p:nvPicPr>
        <p:blipFill>
          <a:blip r:embed="rId1"/>
          <a:stretch>
            <a:fillRect/>
          </a:stretch>
        </p:blipFill>
        <p:spPr>
          <a:xfrm>
            <a:off x="793790" y="1830348"/>
            <a:ext cx="566976" cy="566976"/>
          </a:xfrm>
          <a:prstGeom prst="rect">
            <a:avLst/>
          </a:prstGeom>
        </p:spPr>
      </p:pic>
      <p:sp>
        <p:nvSpPr>
          <p:cNvPr id="4" name="Text 1"/>
          <p:cNvSpPr/>
          <p:nvPr/>
        </p:nvSpPr>
        <p:spPr>
          <a:xfrm>
            <a:off x="1587579" y="1925360"/>
            <a:ext cx="2163128"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Fundamental Trade-off</a:t>
            </a:r>
            <a:endParaRPr lang="en-US" sz="2200" dirty="0"/>
          </a:p>
        </p:txBody>
      </p:sp>
      <p:sp>
        <p:nvSpPr>
          <p:cNvPr id="5" name="Text 2"/>
          <p:cNvSpPr/>
          <p:nvPr/>
        </p:nvSpPr>
        <p:spPr>
          <a:xfrm>
            <a:off x="1587579" y="2770108"/>
            <a:ext cx="2163128" cy="435483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exploration-exploitation balance is not just a conceptual issue but a mathematical one that deeply affects the efficiency, accuracy, and convergence of Monte Carlo algorithms.</a:t>
            </a:r>
            <a:endParaRPr lang="en-US" sz="1750" dirty="0"/>
          </a:p>
        </p:txBody>
      </p:sp>
      <p:pic>
        <p:nvPicPr>
          <p:cNvPr id="6" name="Image 1" descr="preencoded.png">    </p:cNvPr>
          <p:cNvPicPr>
            <a:picLocks noChangeAspect="1"/>
          </p:cNvPicPr>
          <p:nvPr/>
        </p:nvPicPr>
        <p:blipFill>
          <a:blip r:embed="rId2"/>
          <a:stretch>
            <a:fillRect/>
          </a:stretch>
        </p:blipFill>
        <p:spPr>
          <a:xfrm>
            <a:off x="4034195" y="1830348"/>
            <a:ext cx="566976" cy="566976"/>
          </a:xfrm>
          <a:prstGeom prst="rect">
            <a:avLst/>
          </a:prstGeom>
        </p:spPr>
      </p:pic>
      <p:sp>
        <p:nvSpPr>
          <p:cNvPr id="7" name="Text 3"/>
          <p:cNvSpPr/>
          <p:nvPr/>
        </p:nvSpPr>
        <p:spPr>
          <a:xfrm>
            <a:off x="4827984" y="1925360"/>
            <a:ext cx="2163247"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Mathematical Solutions</a:t>
            </a:r>
            <a:endParaRPr lang="en-US" sz="2200" dirty="0"/>
          </a:p>
        </p:txBody>
      </p:sp>
      <p:sp>
        <p:nvSpPr>
          <p:cNvPr id="8" name="Text 4"/>
          <p:cNvSpPr/>
          <p:nvPr/>
        </p:nvSpPr>
        <p:spPr>
          <a:xfrm>
            <a:off x="4827984" y="2770108"/>
            <a:ext cx="2163247" cy="471773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Algorithms like UCT, epsilon-greedy, and Thompson sampling provide principled approaches to balance exploration and exploitation based on accumulated knowledge and uncertainty.</a:t>
            </a:r>
            <a:endParaRPr lang="en-US" sz="1750" dirty="0"/>
          </a:p>
        </p:txBody>
      </p:sp>
      <p:pic>
        <p:nvPicPr>
          <p:cNvPr id="9" name="Image 2" descr="preencoded.png">    </p:cNvPr>
          <p:cNvPicPr>
            <a:picLocks noChangeAspect="1"/>
          </p:cNvPicPr>
          <p:nvPr/>
        </p:nvPicPr>
        <p:blipFill>
          <a:blip r:embed="rId3"/>
          <a:stretch>
            <a:fillRect/>
          </a:stretch>
        </p:blipFill>
        <p:spPr>
          <a:xfrm>
            <a:off x="7274719" y="1830348"/>
            <a:ext cx="566976" cy="566976"/>
          </a:xfrm>
          <a:prstGeom prst="rect">
            <a:avLst/>
          </a:prstGeom>
        </p:spPr>
      </p:pic>
      <p:sp>
        <p:nvSpPr>
          <p:cNvPr id="10" name="Text 5"/>
          <p:cNvSpPr/>
          <p:nvPr/>
        </p:nvSpPr>
        <p:spPr>
          <a:xfrm>
            <a:off x="8068508" y="1925360"/>
            <a:ext cx="2163247"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Wide Applications</a:t>
            </a:r>
            <a:endParaRPr lang="en-US" sz="2200" dirty="0"/>
          </a:p>
        </p:txBody>
      </p:sp>
      <p:sp>
        <p:nvSpPr>
          <p:cNvPr id="11" name="Text 6"/>
          <p:cNvSpPr/>
          <p:nvPr/>
        </p:nvSpPr>
        <p:spPr>
          <a:xfrm>
            <a:off x="8068508" y="2770108"/>
            <a:ext cx="2163247" cy="362902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This trade-off appears across numerous domains: game AI, robotics planning, Bayesian inference, online learning, and optimization of expensive functions.</a:t>
            </a:r>
            <a:endParaRPr lang="en-US" sz="1750" dirty="0"/>
          </a:p>
        </p:txBody>
      </p:sp>
      <p:pic>
        <p:nvPicPr>
          <p:cNvPr id="12" name="Image 3" descr="preencoded.png">    </p:cNvPr>
          <p:cNvPicPr>
            <a:picLocks noChangeAspect="1"/>
          </p:cNvPicPr>
          <p:nvPr/>
        </p:nvPicPr>
        <p:blipFill>
          <a:blip r:embed="rId4"/>
          <a:stretch>
            <a:fillRect/>
          </a:stretch>
        </p:blipFill>
        <p:spPr>
          <a:xfrm>
            <a:off x="10515243" y="1830348"/>
            <a:ext cx="566976" cy="566976"/>
          </a:xfrm>
          <a:prstGeom prst="rect">
            <a:avLst/>
          </a:prstGeom>
        </p:spPr>
      </p:pic>
      <p:sp>
        <p:nvSpPr>
          <p:cNvPr id="13" name="Text 7"/>
          <p:cNvSpPr/>
          <p:nvPr/>
        </p:nvSpPr>
        <p:spPr>
          <a:xfrm>
            <a:off x="11309033" y="1925360"/>
            <a:ext cx="2163247"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Evolving Field</a:t>
            </a:r>
            <a:endParaRPr lang="en-US" sz="2200" dirty="0"/>
          </a:p>
        </p:txBody>
      </p:sp>
      <p:sp>
        <p:nvSpPr>
          <p:cNvPr id="14" name="Text 8"/>
          <p:cNvSpPr/>
          <p:nvPr/>
        </p:nvSpPr>
        <p:spPr>
          <a:xfrm>
            <a:off x="11309033" y="2415778"/>
            <a:ext cx="2163247" cy="435483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Research continues to develop more sophisticated approaches to this fundamental challenge, with promising directions in meta-learning, information theory, and hierarchical methods.</a:t>
            </a:r>
            <a:endParaRPr lang="en-US" sz="1750" dirty="0"/>
          </a:p>
        </p:txBody>
      </p:sp>
      <p:pic>
        <p:nvPicPr>
          <p:cNvPr id="15" name="Image 4" descr="preencoded.png">    </p:cNvPr>
          <p:cNvPicPr>
            <a:picLocks noChangeAspect="1"/>
          </p:cNvPicPr>
          <p:nvPr/>
        </p:nvPicPr>
        <p:blipFill>
          <a:blip r:embed="rId5"/>
          <a:stretch>
            <a:fillRect/>
          </a:stretch>
        </p:blipFill>
        <p:spPr>
          <a:xfrm>
            <a:off x="13700760" y="228600"/>
            <a:ext cx="701040" cy="6641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2025-05-01T05:41:36Z</dcterms:created>
  <dcterms:modified xsi:type="dcterms:W3CDTF">2025-05-01T05:41:36Z</dcterms:modified>
</cp:coreProperties>
</file>