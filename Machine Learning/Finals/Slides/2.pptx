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6.xml"/><Relationship Id="rId1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4037" y="2141458"/>
            <a:ext cx="10993517" cy="804982"/>
          </a:xfrm>
          <a:prstGeom prst="rect">
            <a:avLst/>
          </a:prstGeom>
          <a:noFill/>
          <a:ln/>
        </p:spPr>
        <p:txBody>
          <a:bodyPr wrap="none" lIns="0" tIns="0" rIns="0" bIns="0" rtlCol="0" anchor="t"/>
          <a:lstStyle/>
          <a:p>
            <a:pPr algn="l" indent="0" marL="0">
              <a:lnSpc>
                <a:spcPts val="6300"/>
              </a:lnSpc>
              <a:buNone/>
            </a:pPr>
            <a:r>
              <a:rPr lang="en-US" sz="5050" b="1" spc="-152" kern="0" dirty="0">
                <a:solidFill>
                  <a:srgbClr val="000000"/>
                </a:solidFill>
                <a:latin typeface="Inter Bold" pitchFamily="34" charset="0"/>
                <a:ea typeface="Inter Bold" pitchFamily="34" charset="-122"/>
                <a:cs typeface="Inter Bold" pitchFamily="34" charset="-120"/>
              </a:rPr>
              <a:t>K-Nearest Neighbor (KNN) Algorithm</a:t>
            </a:r>
            <a:endParaRPr lang="en-US" sz="5050" dirty="0"/>
          </a:p>
        </p:txBody>
      </p:sp>
      <p:sp>
        <p:nvSpPr>
          <p:cNvPr id="3" name="Text 1"/>
          <p:cNvSpPr/>
          <p:nvPr/>
        </p:nvSpPr>
        <p:spPr>
          <a:xfrm>
            <a:off x="864037" y="3440192"/>
            <a:ext cx="12902327" cy="1975247"/>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K-Nearest Neighbors (KNN) is a simple way to classify things by looking at what's nearby. </a:t>
            </a:r>
            <a:pPr algn="l" indent="0" marL="0">
              <a:lnSpc>
                <a:spcPts val="3100"/>
              </a:lnSpc>
              <a:buNone/>
            </a:pPr>
            <a:r>
              <a:rPr lang="en-US" sz="1900" b="1" i="1" spc="-39" kern="0" dirty="0">
                <a:solidFill>
                  <a:srgbClr val="272525"/>
                </a:solidFill>
                <a:latin typeface="Inter" pitchFamily="34" charset="0"/>
                <a:ea typeface="Inter" pitchFamily="34" charset="-122"/>
                <a:cs typeface="Inter" pitchFamily="34" charset="-120"/>
              </a:rPr>
              <a:t>Imagine a streaming service wants to predict if a new user is likely to cancel their subscription (churn) based on their age</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They checks the ages of its existing users and whether they churned or stayed. </a:t>
            </a:r>
            <a:pPr algn="l" indent="0" marL="0">
              <a:lnSpc>
                <a:spcPts val="3100"/>
              </a:lnSpc>
              <a:buNone/>
            </a:pPr>
            <a:r>
              <a:rPr lang="en-US" sz="1900" b="1" i="1" spc="-39" kern="0" dirty="0">
                <a:solidFill>
                  <a:srgbClr val="272525"/>
                </a:solidFill>
                <a:latin typeface="Inter" pitchFamily="34" charset="0"/>
                <a:ea typeface="Inter" pitchFamily="34" charset="-122"/>
                <a:cs typeface="Inter" pitchFamily="34" charset="-120"/>
              </a:rPr>
              <a:t>If most of the "K" closest users in age of new user canceled their subscription KNN will predict the new user might churn too. The key idea is that users with similar ages tend to have similar behaviors and KNN uses this closeness to make decisions.</a:t>
            </a:r>
            <a:endParaRPr lang="en-US" sz="1900" dirty="0"/>
          </a:p>
        </p:txBody>
      </p:sp>
      <p:sp>
        <p:nvSpPr>
          <p:cNvPr id="4" name="Text 2"/>
          <p:cNvSpPr/>
          <p:nvPr/>
        </p:nvSpPr>
        <p:spPr>
          <a:xfrm>
            <a:off x="864037" y="5693093"/>
            <a:ext cx="12902327" cy="395049"/>
          </a:xfrm>
          <a:prstGeom prst="rect">
            <a:avLst/>
          </a:prstGeom>
          <a:noFill/>
          <a:ln/>
        </p:spPr>
        <p:txBody>
          <a:bodyPr wrap="none" lIns="0" tIns="0" rIns="0" bIns="0" rtlCol="0" anchor="t"/>
          <a:lstStyle/>
          <a:p>
            <a:pPr algn="l" indent="0" marL="0">
              <a:lnSpc>
                <a:spcPts val="3100"/>
              </a:lnSpc>
              <a:buNone/>
            </a:pPr>
            <a:r>
              <a:rPr lang="en-US" sz="1900" b="1" i="1" spc="-39" kern="0" dirty="0">
                <a:solidFill>
                  <a:srgbClr val="272525"/>
                </a:solidFill>
                <a:latin typeface="Inter" pitchFamily="34" charset="0"/>
                <a:ea typeface="Inter" pitchFamily="34" charset="-122"/>
                <a:cs typeface="Inter" pitchFamily="34" charset="-120"/>
              </a:rPr>
              <a:t>Muhammad Saeed</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0908" y="472202"/>
            <a:ext cx="8564285" cy="559832"/>
          </a:xfrm>
          <a:prstGeom prst="rect">
            <a:avLst/>
          </a:prstGeom>
          <a:noFill/>
          <a:ln/>
        </p:spPr>
        <p:txBody>
          <a:bodyPr wrap="none" lIns="0" tIns="0" rIns="0" bIns="0" rtlCol="0" anchor="t"/>
          <a:lstStyle/>
          <a:p>
            <a:pPr algn="l" indent="0" marL="0">
              <a:lnSpc>
                <a:spcPts val="4400"/>
              </a:lnSpc>
              <a:buNone/>
            </a:pPr>
            <a:r>
              <a:rPr lang="en-US" sz="3500" b="1" spc="-106" kern="0" dirty="0">
                <a:solidFill>
                  <a:srgbClr val="000000"/>
                </a:solidFill>
                <a:latin typeface="Inter Bold" pitchFamily="34" charset="0"/>
                <a:ea typeface="Inter Bold" pitchFamily="34" charset="-122"/>
                <a:cs typeface="Inter Bold" pitchFamily="34" charset="-120"/>
              </a:rPr>
              <a:t>Getting Started with K-Nearest Neighbors</a:t>
            </a:r>
            <a:endParaRPr lang="en-US" sz="3500" dirty="0"/>
          </a:p>
        </p:txBody>
      </p:sp>
      <p:sp>
        <p:nvSpPr>
          <p:cNvPr id="3" name="Text 1"/>
          <p:cNvSpPr/>
          <p:nvPr/>
        </p:nvSpPr>
        <p:spPr>
          <a:xfrm>
            <a:off x="600908" y="1443990"/>
            <a:ext cx="6504861" cy="824032"/>
          </a:xfrm>
          <a:prstGeom prst="rect">
            <a:avLst/>
          </a:prstGeom>
          <a:noFill/>
          <a:ln/>
        </p:spPr>
        <p:txBody>
          <a:bodyPr wrap="squar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K-Nearest Neighbors is also called as a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lazy learner algorithm</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because it does not learn from the training set immediately instead it stores the dataset and at the time of classification it performs an action on the dataset.</a:t>
            </a:r>
            <a:endParaRPr lang="en-US" sz="1350" dirty="0"/>
          </a:p>
        </p:txBody>
      </p:sp>
      <p:sp>
        <p:nvSpPr>
          <p:cNvPr id="4" name="Text 2"/>
          <p:cNvSpPr/>
          <p:nvPr/>
        </p:nvSpPr>
        <p:spPr>
          <a:xfrm>
            <a:off x="600908" y="2422446"/>
            <a:ext cx="6504861" cy="274677"/>
          </a:xfrm>
          <a:prstGeom prst="rect">
            <a:avLst/>
          </a:prstGeom>
          <a:noFill/>
          <a:ln/>
        </p:spPr>
        <p:txBody>
          <a:bodyPr wrap="non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As an example, consider the following table of data points containing two features:</a:t>
            </a:r>
            <a:endParaRPr lang="en-US" sz="1350" dirty="0"/>
          </a:p>
        </p:txBody>
      </p:sp>
      <p:pic>
        <p:nvPicPr>
          <p:cNvPr id="5" name="Image 0" descr="preencoded.png">    </p:cNvPr>
          <p:cNvPicPr>
            <a:picLocks noChangeAspect="1"/>
          </p:cNvPicPr>
          <p:nvPr/>
        </p:nvPicPr>
        <p:blipFill>
          <a:blip r:embed="rId1"/>
          <a:stretch>
            <a:fillRect/>
          </a:stretch>
        </p:blipFill>
        <p:spPr>
          <a:xfrm>
            <a:off x="7532251" y="1482685"/>
            <a:ext cx="4541520" cy="3314700"/>
          </a:xfrm>
          <a:prstGeom prst="rect">
            <a:avLst/>
          </a:prstGeom>
        </p:spPr>
      </p:pic>
      <p:sp>
        <p:nvSpPr>
          <p:cNvPr id="6" name="Text 3"/>
          <p:cNvSpPr/>
          <p:nvPr/>
        </p:nvSpPr>
        <p:spPr>
          <a:xfrm>
            <a:off x="7532251" y="4990505"/>
            <a:ext cx="6504861" cy="274677"/>
          </a:xfrm>
          <a:prstGeom prst="rect">
            <a:avLst/>
          </a:prstGeom>
          <a:noFill/>
          <a:ln/>
        </p:spPr>
        <p:txBody>
          <a:bodyPr wrap="non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KNN Algorithm working visualization</a:t>
            </a:r>
            <a:endParaRPr lang="en-US" sz="1350" dirty="0"/>
          </a:p>
        </p:txBody>
      </p:sp>
      <p:sp>
        <p:nvSpPr>
          <p:cNvPr id="7" name="Text 4"/>
          <p:cNvSpPr/>
          <p:nvPr/>
        </p:nvSpPr>
        <p:spPr>
          <a:xfrm>
            <a:off x="600908" y="5612725"/>
            <a:ext cx="13428583" cy="274677"/>
          </a:xfrm>
          <a:prstGeom prst="rect">
            <a:avLst/>
          </a:prstGeom>
          <a:noFill/>
          <a:ln/>
        </p:spPr>
        <p:txBody>
          <a:bodyPr wrap="non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The new point is classified as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Category 2</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because most of its closest neighbors are blue squares. KNN assigns the category based on the majority of nearby points.</a:t>
            </a:r>
            <a:endParaRPr lang="en-US" sz="1350" dirty="0"/>
          </a:p>
        </p:txBody>
      </p:sp>
      <p:sp>
        <p:nvSpPr>
          <p:cNvPr id="8" name="Text 5"/>
          <p:cNvSpPr/>
          <p:nvPr/>
        </p:nvSpPr>
        <p:spPr>
          <a:xfrm>
            <a:off x="600908" y="6080522"/>
            <a:ext cx="13428583" cy="274677"/>
          </a:xfrm>
          <a:prstGeom prst="rect">
            <a:avLst/>
          </a:prstGeom>
          <a:noFill/>
          <a:ln/>
        </p:spPr>
        <p:txBody>
          <a:bodyPr wrap="non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The image shows how KNN predicts the category of a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new data point</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based on its closest neighbours.</a:t>
            </a:r>
            <a:endParaRPr lang="en-US" sz="1350" dirty="0"/>
          </a:p>
        </p:txBody>
      </p:sp>
      <p:sp>
        <p:nvSpPr>
          <p:cNvPr id="9" name="Text 6"/>
          <p:cNvSpPr/>
          <p:nvPr/>
        </p:nvSpPr>
        <p:spPr>
          <a:xfrm>
            <a:off x="600908" y="6548318"/>
            <a:ext cx="13428583" cy="274677"/>
          </a:xfrm>
          <a:prstGeom prst="rect">
            <a:avLst/>
          </a:prstGeom>
          <a:noFill/>
          <a:ln/>
        </p:spPr>
        <p:txBody>
          <a:bodyPr wrap="none" lIns="0" tIns="0" rIns="0" bIns="0" rtlCol="0" anchor="t"/>
          <a:lstStyle/>
          <a:p>
            <a:pPr algn="l" marL="342900" indent="-342900">
              <a:lnSpc>
                <a:spcPts val="2150"/>
              </a:lnSpc>
              <a:buSzPct val="100000"/>
              <a:buChar char="•"/>
            </a:pPr>
            <a:r>
              <a:rPr lang="en-US" sz="1350" spc="-27" kern="0" dirty="0">
                <a:solidFill>
                  <a:srgbClr val="272525"/>
                </a:solidFill>
                <a:latin typeface="Inter" pitchFamily="34" charset="0"/>
                <a:ea typeface="Inter" pitchFamily="34" charset="-122"/>
                <a:cs typeface="Inter" pitchFamily="34" charset="-120"/>
              </a:rPr>
              <a:t>The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red diamonds</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represent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Category 1</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and the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blue squares</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represent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Category 2</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a:t>
            </a:r>
            <a:endParaRPr lang="en-US" sz="1350" dirty="0"/>
          </a:p>
        </p:txBody>
      </p:sp>
      <p:sp>
        <p:nvSpPr>
          <p:cNvPr id="10" name="Text 7"/>
          <p:cNvSpPr/>
          <p:nvPr/>
        </p:nvSpPr>
        <p:spPr>
          <a:xfrm>
            <a:off x="600908" y="6883003"/>
            <a:ext cx="13428583" cy="274677"/>
          </a:xfrm>
          <a:prstGeom prst="rect">
            <a:avLst/>
          </a:prstGeom>
          <a:noFill/>
          <a:ln/>
        </p:spPr>
        <p:txBody>
          <a:bodyPr wrap="none" lIns="0" tIns="0" rIns="0" bIns="0" rtlCol="0" anchor="t"/>
          <a:lstStyle/>
          <a:p>
            <a:pPr algn="l" marL="342900" indent="-342900">
              <a:lnSpc>
                <a:spcPts val="2150"/>
              </a:lnSpc>
              <a:buSzPct val="100000"/>
              <a:buChar char="•"/>
            </a:pPr>
            <a:r>
              <a:rPr lang="en-US" sz="1350" spc="-27" kern="0" dirty="0">
                <a:solidFill>
                  <a:srgbClr val="272525"/>
                </a:solidFill>
                <a:latin typeface="Inter" pitchFamily="34" charset="0"/>
                <a:ea typeface="Inter" pitchFamily="34" charset="-122"/>
                <a:cs typeface="Inter" pitchFamily="34" charset="-120"/>
              </a:rPr>
              <a:t>The </a:t>
            </a:r>
            <a:pPr algn="l" indent="0" marL="0">
              <a:lnSpc>
                <a:spcPts val="2150"/>
              </a:lnSpc>
              <a:buNone/>
            </a:pPr>
            <a:r>
              <a:rPr lang="en-US" sz="1350" b="1" spc="-27" kern="0" dirty="0">
                <a:solidFill>
                  <a:srgbClr val="272525"/>
                </a:solidFill>
                <a:latin typeface="Inter" pitchFamily="34" charset="0"/>
                <a:ea typeface="Inter" pitchFamily="34" charset="-122"/>
                <a:cs typeface="Inter" pitchFamily="34" charset="-120"/>
              </a:rPr>
              <a:t>new data point</a:t>
            </a:r>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 checks its closest neighbours (circled points).</a:t>
            </a:r>
            <a:endParaRPr lang="en-US" sz="1350" dirty="0"/>
          </a:p>
        </p:txBody>
      </p:sp>
      <p:sp>
        <p:nvSpPr>
          <p:cNvPr id="11" name="Text 8"/>
          <p:cNvSpPr/>
          <p:nvPr/>
        </p:nvSpPr>
        <p:spPr>
          <a:xfrm>
            <a:off x="600908" y="7217688"/>
            <a:ext cx="13428583" cy="274677"/>
          </a:xfrm>
          <a:prstGeom prst="rect">
            <a:avLst/>
          </a:prstGeom>
          <a:noFill/>
          <a:ln/>
        </p:spPr>
        <p:txBody>
          <a:bodyPr wrap="none" lIns="0" tIns="0" rIns="0" bIns="0" rtlCol="0" anchor="t"/>
          <a:lstStyle/>
          <a:p>
            <a:pPr algn="l" marL="342900" indent="-342900">
              <a:lnSpc>
                <a:spcPts val="2150"/>
              </a:lnSpc>
              <a:buSzPct val="100000"/>
              <a:buChar char="•"/>
            </a:pPr>
            <a:r>
              <a:rPr lang="en-US" sz="1350" spc="-27" kern="0" dirty="0">
                <a:solidFill>
                  <a:srgbClr val="272525"/>
                </a:solidFill>
                <a:latin typeface="Inter" pitchFamily="34" charset="0"/>
                <a:ea typeface="Inter" pitchFamily="34" charset="-122"/>
                <a:cs typeface="Inter" pitchFamily="34" charset="-120"/>
              </a:rPr>
              <a:t>Since the majority of its closest neighbours are blue squares (Category 2) KNN predicts the new data point belongs to Category 2.</a:t>
            </a:r>
            <a:endParaRPr lang="en-US" sz="1350" dirty="0"/>
          </a:p>
        </p:txBody>
      </p:sp>
      <p:sp>
        <p:nvSpPr>
          <p:cNvPr id="12" name="Text 9"/>
          <p:cNvSpPr/>
          <p:nvPr/>
        </p:nvSpPr>
        <p:spPr>
          <a:xfrm>
            <a:off x="600908" y="7685484"/>
            <a:ext cx="13428583" cy="274677"/>
          </a:xfrm>
          <a:prstGeom prst="rect">
            <a:avLst/>
          </a:prstGeom>
          <a:noFill/>
          <a:ln/>
        </p:spPr>
        <p:txBody>
          <a:bodyPr wrap="none" lIns="0" tIns="0" rIns="0" bIns="0" rtlCol="0" anchor="t"/>
          <a:lstStyle/>
          <a:p>
            <a:pPr algn="l" indent="0" marL="0">
              <a:lnSpc>
                <a:spcPts val="2150"/>
              </a:lnSpc>
              <a:buNone/>
            </a:pPr>
            <a:r>
              <a:rPr lang="en-US" sz="1350" spc="-27" kern="0" dirty="0">
                <a:solidFill>
                  <a:srgbClr val="272525"/>
                </a:solidFill>
                <a:latin typeface="Inter" pitchFamily="34" charset="0"/>
                <a:ea typeface="Inter" pitchFamily="34" charset="-122"/>
                <a:cs typeface="Inter" pitchFamily="34" charset="-120"/>
              </a:rPr>
              <a:t>KNN works by using proximity and majority voting to make predictions.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033105"/>
            <a:ext cx="10554057" cy="804982"/>
          </a:xfrm>
          <a:prstGeom prst="rect">
            <a:avLst/>
          </a:prstGeom>
          <a:noFill/>
          <a:ln/>
        </p:spPr>
        <p:txBody>
          <a:bodyPr wrap="none" lIns="0" tIns="0" rIns="0" bIns="0" rtlCol="0" anchor="t"/>
          <a:lstStyle/>
          <a:p>
            <a:pPr algn="l" indent="0" marL="0">
              <a:lnSpc>
                <a:spcPts val="6300"/>
              </a:lnSpc>
              <a:buNone/>
            </a:pPr>
            <a:r>
              <a:rPr lang="en-US" sz="5050" b="1" spc="-152" kern="0" dirty="0">
                <a:solidFill>
                  <a:srgbClr val="000000"/>
                </a:solidFill>
                <a:latin typeface="Inter Bold" pitchFamily="34" charset="0"/>
                <a:ea typeface="Inter Bold" pitchFamily="34" charset="-122"/>
                <a:cs typeface="Inter Bold" pitchFamily="34" charset="-120"/>
              </a:rPr>
              <a:t>What is 'K' in K Nearest Neighbour?</a:t>
            </a:r>
            <a:endParaRPr lang="en-US" sz="5050" dirty="0"/>
          </a:p>
        </p:txBody>
      </p:sp>
      <p:sp>
        <p:nvSpPr>
          <p:cNvPr id="3" name="Shape 1"/>
          <p:cNvSpPr/>
          <p:nvPr/>
        </p:nvSpPr>
        <p:spPr>
          <a:xfrm>
            <a:off x="864037" y="2331839"/>
            <a:ext cx="6327815" cy="4864656"/>
          </a:xfrm>
          <a:prstGeom prst="roundRect">
            <a:avLst>
              <a:gd name="adj" fmla="val 2132"/>
            </a:avLst>
          </a:prstGeom>
          <a:solidFill>
            <a:srgbClr val="DADBF1"/>
          </a:solidFill>
          <a:ln w="15240">
            <a:solidFill>
              <a:srgbClr val="C0C1D7"/>
            </a:solidFill>
            <a:prstDash val="solid"/>
          </a:ln>
        </p:spPr>
      </p:sp>
      <p:sp>
        <p:nvSpPr>
          <p:cNvPr id="4" name="Text 2"/>
          <p:cNvSpPr/>
          <p:nvPr/>
        </p:nvSpPr>
        <p:spPr>
          <a:xfrm>
            <a:off x="1126093" y="2593896"/>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Definition of K</a:t>
            </a:r>
            <a:endParaRPr lang="en-US" sz="2500" dirty="0"/>
          </a:p>
        </p:txBody>
      </p:sp>
      <p:sp>
        <p:nvSpPr>
          <p:cNvPr id="5" name="Text 3"/>
          <p:cNvSpPr/>
          <p:nvPr/>
        </p:nvSpPr>
        <p:spPr>
          <a:xfrm>
            <a:off x="1126093" y="3144560"/>
            <a:ext cx="5803702" cy="158019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In the </a:t>
            </a:r>
            <a:pPr algn="l" indent="0" marL="0">
              <a:lnSpc>
                <a:spcPts val="3100"/>
              </a:lnSpc>
              <a:buNone/>
            </a:pPr>
            <a:r>
              <a:rPr lang="en-US" sz="1900" b="1" spc="-39" kern="0" dirty="0">
                <a:solidFill>
                  <a:srgbClr val="272525"/>
                </a:solidFill>
                <a:latin typeface="Inter" pitchFamily="34" charset="0"/>
                <a:ea typeface="Inter" pitchFamily="34" charset="-122"/>
                <a:cs typeface="Inter" pitchFamily="34" charset="-120"/>
              </a:rPr>
              <a:t>k-Nearest Neighbours (k-NN)</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algorithm </a:t>
            </a:r>
            <a:pPr algn="l" indent="0" marL="0">
              <a:lnSpc>
                <a:spcPts val="3100"/>
              </a:lnSpc>
              <a:buNone/>
            </a:pPr>
            <a:r>
              <a:rPr lang="en-US" sz="1900" b="1" spc="-39" kern="0" dirty="0">
                <a:solidFill>
                  <a:srgbClr val="272525"/>
                </a:solidFill>
                <a:latin typeface="Inter" pitchFamily="34" charset="0"/>
                <a:ea typeface="Inter" pitchFamily="34" charset="-122"/>
                <a:cs typeface="Inter" pitchFamily="34" charset="-120"/>
              </a:rPr>
              <a:t>k</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is just a number that tells the algorithm how many nearby points (neighbours) to look at when it makes a decision.</a:t>
            </a:r>
            <a:endParaRPr lang="en-US" sz="1900" dirty="0"/>
          </a:p>
        </p:txBody>
      </p:sp>
      <p:sp>
        <p:nvSpPr>
          <p:cNvPr id="6" name="Shape 4"/>
          <p:cNvSpPr/>
          <p:nvPr/>
        </p:nvSpPr>
        <p:spPr>
          <a:xfrm>
            <a:off x="7438668" y="2331839"/>
            <a:ext cx="6327815" cy="4864656"/>
          </a:xfrm>
          <a:prstGeom prst="roundRect">
            <a:avLst>
              <a:gd name="adj" fmla="val 2132"/>
            </a:avLst>
          </a:prstGeom>
          <a:solidFill>
            <a:srgbClr val="DADBF1"/>
          </a:solidFill>
          <a:ln w="15240">
            <a:solidFill>
              <a:srgbClr val="C0C1D7"/>
            </a:solidFill>
            <a:prstDash val="solid"/>
          </a:ln>
        </p:spPr>
      </p:sp>
      <p:sp>
        <p:nvSpPr>
          <p:cNvPr id="7" name="Text 5"/>
          <p:cNvSpPr/>
          <p:nvPr/>
        </p:nvSpPr>
        <p:spPr>
          <a:xfrm>
            <a:off x="7700724" y="2593896"/>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Example</a:t>
            </a:r>
            <a:endParaRPr lang="en-US" sz="2500" dirty="0"/>
          </a:p>
        </p:txBody>
      </p:sp>
      <p:sp>
        <p:nvSpPr>
          <p:cNvPr id="8" name="Text 6"/>
          <p:cNvSpPr/>
          <p:nvPr/>
        </p:nvSpPr>
        <p:spPr>
          <a:xfrm>
            <a:off x="7700724" y="3144560"/>
            <a:ext cx="5803702" cy="118514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Imagine you're deciding which fruit it is based on its shape and size. You compare it to fruits you already know.</a:t>
            </a:r>
            <a:endParaRPr lang="en-US" sz="1900" dirty="0"/>
          </a:p>
        </p:txBody>
      </p:sp>
      <p:sp>
        <p:nvSpPr>
          <p:cNvPr id="9" name="Text 7"/>
          <p:cNvSpPr/>
          <p:nvPr/>
        </p:nvSpPr>
        <p:spPr>
          <a:xfrm>
            <a:off x="7700724" y="4477822"/>
            <a:ext cx="5803702" cy="790099"/>
          </a:xfrm>
          <a:prstGeom prst="rect">
            <a:avLst/>
          </a:prstGeom>
          <a:noFill/>
          <a:ln/>
        </p:spPr>
        <p:txBody>
          <a:bodyPr wrap="squar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If </a:t>
            </a:r>
            <a:pPr algn="l" indent="0" marL="0">
              <a:lnSpc>
                <a:spcPts val="3100"/>
              </a:lnSpc>
              <a:buNone/>
            </a:pPr>
            <a:r>
              <a:rPr lang="en-US" sz="1900" b="1" spc="-39" kern="0" dirty="0">
                <a:solidFill>
                  <a:srgbClr val="272525"/>
                </a:solidFill>
                <a:latin typeface="Inter" pitchFamily="34" charset="0"/>
                <a:ea typeface="Inter" pitchFamily="34" charset="-122"/>
                <a:cs typeface="Inter" pitchFamily="34" charset="-120"/>
              </a:rPr>
              <a:t>k = 3</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the algorithm looks at the 3 closest fruits to the new one.</a:t>
            </a:r>
            <a:endParaRPr lang="en-US" sz="1900" dirty="0"/>
          </a:p>
        </p:txBody>
      </p:sp>
      <p:sp>
        <p:nvSpPr>
          <p:cNvPr id="10" name="Text 8"/>
          <p:cNvSpPr/>
          <p:nvPr/>
        </p:nvSpPr>
        <p:spPr>
          <a:xfrm>
            <a:off x="7700724" y="5354241"/>
            <a:ext cx="5803702" cy="1580198"/>
          </a:xfrm>
          <a:prstGeom prst="rect">
            <a:avLst/>
          </a:prstGeom>
          <a:noFill/>
          <a:ln/>
        </p:spPr>
        <p:txBody>
          <a:bodyPr wrap="squar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If 2 of those 3 fruits are apples and 1 is a banana, the algorithm says the new fruit is an apple because most of its neighbours are apples.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0074" y="463629"/>
            <a:ext cx="9775746" cy="549712"/>
          </a:xfrm>
          <a:prstGeom prst="rect">
            <a:avLst/>
          </a:prstGeom>
          <a:noFill/>
          <a:ln/>
        </p:spPr>
        <p:txBody>
          <a:bodyPr wrap="none" lIns="0" tIns="0" rIns="0" bIns="0" rtlCol="0" anchor="t"/>
          <a:lstStyle/>
          <a:p>
            <a:pPr algn="l" indent="0" marL="0">
              <a:lnSpc>
                <a:spcPts val="4300"/>
              </a:lnSpc>
              <a:buNone/>
            </a:pPr>
            <a:r>
              <a:rPr lang="en-US" sz="3450" b="1" spc="-104" kern="0" dirty="0">
                <a:solidFill>
                  <a:srgbClr val="000000"/>
                </a:solidFill>
                <a:latin typeface="Inter Bold" pitchFamily="34" charset="0"/>
                <a:ea typeface="Inter Bold" pitchFamily="34" charset="-122"/>
                <a:cs typeface="Inter Bold" pitchFamily="34" charset="-120"/>
              </a:rPr>
              <a:t>How to Choose the Value of K for KNN Algorithm</a:t>
            </a:r>
            <a:endParaRPr lang="en-US" sz="3450" dirty="0"/>
          </a:p>
        </p:txBody>
      </p:sp>
      <p:pic>
        <p:nvPicPr>
          <p:cNvPr id="3" name="Image 0" descr="preencoded.png">    </p:cNvPr>
          <p:cNvPicPr>
            <a:picLocks noChangeAspect="1"/>
          </p:cNvPicPr>
          <p:nvPr/>
        </p:nvPicPr>
        <p:blipFill>
          <a:blip r:embed="rId1"/>
          <a:stretch>
            <a:fillRect/>
          </a:stretch>
        </p:blipFill>
        <p:spPr>
          <a:xfrm>
            <a:off x="2842974" y="1350526"/>
            <a:ext cx="2219206" cy="982742"/>
          </a:xfrm>
          <a:prstGeom prst="rect">
            <a:avLst/>
          </a:prstGeom>
        </p:spPr>
      </p:pic>
      <p:pic>
        <p:nvPicPr>
          <p:cNvPr id="4" name="Image 1" descr="preencoded.png">    </p:cNvPr>
          <p:cNvPicPr>
            <a:picLocks noChangeAspect="1"/>
          </p:cNvPicPr>
          <p:nvPr/>
        </p:nvPicPr>
        <p:blipFill>
          <a:blip r:embed="rId2"/>
          <a:stretch>
            <a:fillRect/>
          </a:stretch>
        </p:blipFill>
        <p:spPr>
          <a:xfrm>
            <a:off x="3834051" y="1815703"/>
            <a:ext cx="237053" cy="296347"/>
          </a:xfrm>
          <a:prstGeom prst="rect">
            <a:avLst/>
          </a:prstGeom>
        </p:spPr>
      </p:pic>
      <p:sp>
        <p:nvSpPr>
          <p:cNvPr id="5" name="Text 1"/>
          <p:cNvSpPr/>
          <p:nvPr/>
        </p:nvSpPr>
        <p:spPr>
          <a:xfrm>
            <a:off x="5230773" y="1519118"/>
            <a:ext cx="2199203" cy="274796"/>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Optimal K Value</a:t>
            </a:r>
            <a:endParaRPr lang="en-US" sz="1700" dirty="0"/>
          </a:p>
        </p:txBody>
      </p:sp>
      <p:sp>
        <p:nvSpPr>
          <p:cNvPr id="6" name="Text 2"/>
          <p:cNvSpPr/>
          <p:nvPr/>
        </p:nvSpPr>
        <p:spPr>
          <a:xfrm>
            <a:off x="5230773" y="1894999"/>
            <a:ext cx="3396615" cy="269677"/>
          </a:xfrm>
          <a:prstGeom prst="rect">
            <a:avLst/>
          </a:prstGeom>
          <a:noFill/>
          <a:ln/>
        </p:spPr>
        <p:txBody>
          <a:bodyPr wrap="none" lIns="0" tIns="0" rIns="0" bIns="0" rtlCol="0" anchor="t"/>
          <a:lstStyle/>
          <a:p>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Balance between overfitting and underfitting</a:t>
            </a:r>
            <a:endParaRPr lang="en-US" sz="1300" dirty="0"/>
          </a:p>
        </p:txBody>
      </p:sp>
      <p:sp>
        <p:nvSpPr>
          <p:cNvPr id="7" name="Shape 3"/>
          <p:cNvSpPr/>
          <p:nvPr/>
        </p:nvSpPr>
        <p:spPr>
          <a:xfrm>
            <a:off x="5104328" y="2344817"/>
            <a:ext cx="8893850" cy="11430"/>
          </a:xfrm>
          <a:prstGeom prst="roundRect">
            <a:avLst>
              <a:gd name="adj" fmla="val 619553"/>
            </a:avLst>
          </a:prstGeom>
          <a:solidFill>
            <a:srgbClr val="C0C1D7"/>
          </a:solidFill>
          <a:ln/>
        </p:spPr>
      </p:sp>
      <p:pic>
        <p:nvPicPr>
          <p:cNvPr id="8" name="Image 2" descr="preencoded.png">    </p:cNvPr>
          <p:cNvPicPr>
            <a:picLocks noChangeAspect="1"/>
          </p:cNvPicPr>
          <p:nvPr/>
        </p:nvPicPr>
        <p:blipFill>
          <a:blip r:embed="rId3"/>
          <a:stretch>
            <a:fillRect/>
          </a:stretch>
        </p:blipFill>
        <p:spPr>
          <a:xfrm>
            <a:off x="1733312" y="2375416"/>
            <a:ext cx="4438531" cy="982742"/>
          </a:xfrm>
          <a:prstGeom prst="rect">
            <a:avLst/>
          </a:prstGeom>
        </p:spPr>
      </p:pic>
      <p:pic>
        <p:nvPicPr>
          <p:cNvPr id="9" name="Image 3" descr="preencoded.png">    </p:cNvPr>
          <p:cNvPicPr>
            <a:picLocks noChangeAspect="1"/>
          </p:cNvPicPr>
          <p:nvPr/>
        </p:nvPicPr>
        <p:blipFill>
          <a:blip r:embed="rId4"/>
          <a:stretch>
            <a:fillRect/>
          </a:stretch>
        </p:blipFill>
        <p:spPr>
          <a:xfrm>
            <a:off x="3834051" y="2718554"/>
            <a:ext cx="237053" cy="296347"/>
          </a:xfrm>
          <a:prstGeom prst="rect">
            <a:avLst/>
          </a:prstGeom>
        </p:spPr>
      </p:pic>
      <p:sp>
        <p:nvSpPr>
          <p:cNvPr id="10" name="Text 4"/>
          <p:cNvSpPr/>
          <p:nvPr/>
        </p:nvSpPr>
        <p:spPr>
          <a:xfrm>
            <a:off x="6340435" y="2544008"/>
            <a:ext cx="2199203" cy="274796"/>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Statistical Methods</a:t>
            </a:r>
            <a:endParaRPr lang="en-US" sz="1700" dirty="0"/>
          </a:p>
        </p:txBody>
      </p:sp>
      <p:sp>
        <p:nvSpPr>
          <p:cNvPr id="11" name="Text 5"/>
          <p:cNvSpPr/>
          <p:nvPr/>
        </p:nvSpPr>
        <p:spPr>
          <a:xfrm>
            <a:off x="6340435" y="2919889"/>
            <a:ext cx="2432328" cy="269677"/>
          </a:xfrm>
          <a:prstGeom prst="rect">
            <a:avLst/>
          </a:prstGeom>
          <a:noFill/>
          <a:ln/>
        </p:spPr>
        <p:txBody>
          <a:bodyPr wrap="none" lIns="0" tIns="0" rIns="0" bIns="0" rtlCol="0" anchor="t"/>
          <a:lstStyle/>
          <a:p>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Cross-validation, Elbow method</a:t>
            </a:r>
            <a:endParaRPr lang="en-US" sz="1300" dirty="0"/>
          </a:p>
        </p:txBody>
      </p:sp>
      <p:sp>
        <p:nvSpPr>
          <p:cNvPr id="12" name="Shape 6"/>
          <p:cNvSpPr/>
          <p:nvPr/>
        </p:nvSpPr>
        <p:spPr>
          <a:xfrm>
            <a:off x="6213991" y="3369707"/>
            <a:ext cx="7784187" cy="11430"/>
          </a:xfrm>
          <a:prstGeom prst="roundRect">
            <a:avLst>
              <a:gd name="adj" fmla="val 619553"/>
            </a:avLst>
          </a:prstGeom>
          <a:solidFill>
            <a:srgbClr val="C0C1D7"/>
          </a:solidFill>
          <a:ln/>
        </p:spPr>
      </p:sp>
      <p:pic>
        <p:nvPicPr>
          <p:cNvPr id="13" name="Image 4" descr="preencoded.png">    </p:cNvPr>
          <p:cNvPicPr>
            <a:picLocks noChangeAspect="1"/>
          </p:cNvPicPr>
          <p:nvPr/>
        </p:nvPicPr>
        <p:blipFill>
          <a:blip r:embed="rId5"/>
          <a:stretch>
            <a:fillRect/>
          </a:stretch>
        </p:blipFill>
        <p:spPr>
          <a:xfrm>
            <a:off x="623649" y="3400306"/>
            <a:ext cx="6657856" cy="982742"/>
          </a:xfrm>
          <a:prstGeom prst="rect">
            <a:avLst/>
          </a:prstGeom>
        </p:spPr>
      </p:pic>
      <p:pic>
        <p:nvPicPr>
          <p:cNvPr id="14" name="Image 5" descr="preencoded.png">    </p:cNvPr>
          <p:cNvPicPr>
            <a:picLocks noChangeAspect="1"/>
          </p:cNvPicPr>
          <p:nvPr/>
        </p:nvPicPr>
        <p:blipFill>
          <a:blip r:embed="rId6"/>
          <a:stretch>
            <a:fillRect/>
          </a:stretch>
        </p:blipFill>
        <p:spPr>
          <a:xfrm>
            <a:off x="3834051" y="3743444"/>
            <a:ext cx="237053" cy="296347"/>
          </a:xfrm>
          <a:prstGeom prst="rect">
            <a:avLst/>
          </a:prstGeom>
        </p:spPr>
      </p:pic>
      <p:sp>
        <p:nvSpPr>
          <p:cNvPr id="15" name="Text 7"/>
          <p:cNvSpPr/>
          <p:nvPr/>
        </p:nvSpPr>
        <p:spPr>
          <a:xfrm>
            <a:off x="7450098" y="3568898"/>
            <a:ext cx="2199203" cy="274796"/>
          </a:xfrm>
          <a:prstGeom prst="rect">
            <a:avLst/>
          </a:prstGeom>
          <a:noFill/>
          <a:ln/>
        </p:spPr>
        <p:txBody>
          <a:bodyPr wrap="none" lIns="0" tIns="0" rIns="0" bIns="0" rtlCol="0" anchor="t"/>
          <a:lstStyle/>
          <a:p>
            <a:pPr algn="l" indent="0" marL="0">
              <a:lnSpc>
                <a:spcPts val="2150"/>
              </a:lnSpc>
              <a:buNone/>
            </a:pPr>
            <a:r>
              <a:rPr lang="en-US" sz="1700" b="1" spc="-52" kern="0" dirty="0">
                <a:solidFill>
                  <a:srgbClr val="272525"/>
                </a:solidFill>
                <a:latin typeface="Inter Bold" pitchFamily="34" charset="0"/>
                <a:ea typeface="Inter Bold" pitchFamily="34" charset="-122"/>
                <a:cs typeface="Inter Bold" pitchFamily="34" charset="-120"/>
              </a:rPr>
              <a:t>Considerations</a:t>
            </a:r>
            <a:endParaRPr lang="en-US" sz="1700" dirty="0"/>
          </a:p>
        </p:txBody>
      </p:sp>
      <p:sp>
        <p:nvSpPr>
          <p:cNvPr id="16" name="Text 8"/>
          <p:cNvSpPr/>
          <p:nvPr/>
        </p:nvSpPr>
        <p:spPr>
          <a:xfrm>
            <a:off x="7450098" y="3944779"/>
            <a:ext cx="2759273" cy="269677"/>
          </a:xfrm>
          <a:prstGeom prst="rect">
            <a:avLst/>
          </a:prstGeom>
          <a:noFill/>
          <a:ln/>
        </p:spPr>
        <p:txBody>
          <a:bodyPr wrap="none" lIns="0" tIns="0" rIns="0" bIns="0" rtlCol="0" anchor="t"/>
          <a:lstStyle/>
          <a:p>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Noise, dataset size, odd values for k</a:t>
            </a:r>
            <a:endParaRPr lang="en-US" sz="1300" dirty="0"/>
          </a:p>
        </p:txBody>
      </p:sp>
      <p:sp>
        <p:nvSpPr>
          <p:cNvPr id="17" name="Text 9"/>
          <p:cNvSpPr/>
          <p:nvPr/>
        </p:nvSpPr>
        <p:spPr>
          <a:xfrm>
            <a:off x="590074" y="4572714"/>
            <a:ext cx="13450253" cy="809030"/>
          </a:xfrm>
          <a:prstGeom prst="rect">
            <a:avLst/>
          </a:prstGeom>
          <a:noFill/>
          <a:ln/>
        </p:spPr>
        <p:txBody>
          <a:bodyPr wrap="square" lIns="0" tIns="0" rIns="0" bIns="0" rtlCol="0" anchor="t"/>
          <a:lstStyle/>
          <a:p>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The value of k is critical in KNN as it determines the number of neighbors to consider when making predictions. Selecting the optimal value of k depends on the characteristics of the input data. </a:t>
            </a:r>
            <a:pPr algn="l" indent="0" marL="0">
              <a:lnSpc>
                <a:spcPts val="2100"/>
              </a:lnSpc>
              <a:buNone/>
            </a:pPr>
            <a:r>
              <a:rPr lang="en-US" sz="1300" b="1" spc="-27" kern="0" dirty="0">
                <a:solidFill>
                  <a:srgbClr val="272525"/>
                </a:solidFill>
                <a:latin typeface="Inter" pitchFamily="34" charset="0"/>
                <a:ea typeface="Inter" pitchFamily="34" charset="-122"/>
                <a:cs typeface="Inter" pitchFamily="34" charset="-120"/>
              </a:rPr>
              <a:t>If the dataset has significant outliers or noise a higher k can help smooth out the predictions and reduce the influence of noisy data. However choosing very high value can lead to underfitting where the model becomes too simplistic.</a:t>
            </a:r>
            <a:endParaRPr lang="en-US" sz="1300" dirty="0"/>
          </a:p>
        </p:txBody>
      </p:sp>
      <p:sp>
        <p:nvSpPr>
          <p:cNvPr id="18" name="Text 10"/>
          <p:cNvSpPr/>
          <p:nvPr/>
        </p:nvSpPr>
        <p:spPr>
          <a:xfrm>
            <a:off x="590074" y="5571411"/>
            <a:ext cx="13450253" cy="269677"/>
          </a:xfrm>
          <a:prstGeom prst="rect">
            <a:avLst/>
          </a:prstGeom>
          <a:noFill/>
          <a:ln/>
        </p:spPr>
        <p:txBody>
          <a:bodyPr wrap="none" lIns="0" tIns="0" rIns="0" bIns="0" rtlCol="0" anchor="t"/>
          <a:lstStyle/>
          <a:p>
            <a:pPr algn="l" indent="0" marL="0">
              <a:lnSpc>
                <a:spcPts val="2100"/>
              </a:lnSpc>
              <a:buNone/>
            </a:pPr>
            <a:r>
              <a:rPr lang="en-US" sz="1300" b="1" spc="-27" kern="0" dirty="0">
                <a:solidFill>
                  <a:srgbClr val="272525"/>
                </a:solidFill>
                <a:latin typeface="Inter" pitchFamily="34" charset="0"/>
                <a:ea typeface="Inter" pitchFamily="34" charset="-122"/>
                <a:cs typeface="Inter" pitchFamily="34" charset="-120"/>
              </a:rPr>
              <a:t>Statistical Methods for Selecting k</a:t>
            </a:r>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a:t>
            </a:r>
            <a:endParaRPr lang="en-US" sz="1300" dirty="0"/>
          </a:p>
        </p:txBody>
      </p:sp>
      <p:sp>
        <p:nvSpPr>
          <p:cNvPr id="19" name="Text 11"/>
          <p:cNvSpPr/>
          <p:nvPr/>
        </p:nvSpPr>
        <p:spPr>
          <a:xfrm>
            <a:off x="590074" y="6030754"/>
            <a:ext cx="13450253" cy="809030"/>
          </a:xfrm>
          <a:prstGeom prst="rect">
            <a:avLst/>
          </a:prstGeom>
          <a:noFill/>
          <a:ln/>
        </p:spPr>
        <p:txBody>
          <a:bodyPr wrap="square" lIns="0" tIns="0" rIns="0" bIns="0" rtlCol="0" anchor="t"/>
          <a:lstStyle/>
          <a:p>
            <a:pPr algn="l" marL="342900" indent="-342900">
              <a:lnSpc>
                <a:spcPts val="2100"/>
              </a:lnSpc>
              <a:buSzPct val="100000"/>
              <a:buChar char="•"/>
            </a:pPr>
            <a:r>
              <a:rPr lang="en-US" sz="1300" b="1" spc="-27" kern="0" dirty="0">
                <a:solidFill>
                  <a:srgbClr val="272525"/>
                </a:solidFill>
                <a:latin typeface="Inter" pitchFamily="34" charset="0"/>
                <a:ea typeface="Inter" pitchFamily="34" charset="-122"/>
                <a:cs typeface="Inter" pitchFamily="34" charset="-120"/>
              </a:rPr>
              <a:t>Cross-Validation</a:t>
            </a:r>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 A robust method for selecting the best k is to perform k-fold cross-validation. This involves splitting the data into k subsets training the model on some subsets and testing it on the remaining ones and repeating this for each subset. The value of k that results in the highest average validation accuracy is usually the best choice.</a:t>
            </a:r>
            <a:endParaRPr lang="en-US" sz="1300" dirty="0"/>
          </a:p>
        </p:txBody>
      </p:sp>
      <p:sp>
        <p:nvSpPr>
          <p:cNvPr id="20" name="Text 12"/>
          <p:cNvSpPr/>
          <p:nvPr/>
        </p:nvSpPr>
        <p:spPr>
          <a:xfrm>
            <a:off x="590074" y="6898719"/>
            <a:ext cx="13450253" cy="539353"/>
          </a:xfrm>
          <a:prstGeom prst="rect">
            <a:avLst/>
          </a:prstGeom>
          <a:noFill/>
          <a:ln/>
        </p:spPr>
        <p:txBody>
          <a:bodyPr wrap="square" lIns="0" tIns="0" rIns="0" bIns="0" rtlCol="0" anchor="t"/>
          <a:lstStyle/>
          <a:p>
            <a:pPr algn="l" marL="342900" indent="-342900">
              <a:lnSpc>
                <a:spcPts val="2100"/>
              </a:lnSpc>
              <a:buSzPct val="100000"/>
              <a:buChar char="•"/>
            </a:pPr>
            <a:r>
              <a:rPr lang="en-US" sz="1300" b="1" spc="-27" kern="0" dirty="0">
                <a:solidFill>
                  <a:srgbClr val="272525"/>
                </a:solidFill>
                <a:latin typeface="Inter" pitchFamily="34" charset="0"/>
                <a:ea typeface="Inter" pitchFamily="34" charset="-122"/>
                <a:cs typeface="Inter" pitchFamily="34" charset="-120"/>
              </a:rPr>
              <a:t>Elbow Method</a:t>
            </a:r>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 In the </a:t>
            </a:r>
            <a:pPr algn="l" indent="0" marL="0">
              <a:lnSpc>
                <a:spcPts val="2100"/>
              </a:lnSpc>
              <a:buNone/>
            </a:pPr>
            <a:r>
              <a:rPr lang="en-US" sz="1300" b="1" spc="-27" kern="0" dirty="0">
                <a:solidFill>
                  <a:srgbClr val="272525"/>
                </a:solidFill>
                <a:latin typeface="Inter" pitchFamily="34" charset="0"/>
                <a:ea typeface="Inter" pitchFamily="34" charset="-122"/>
                <a:cs typeface="Inter" pitchFamily="34" charset="-120"/>
              </a:rPr>
              <a:t>elbow method</a:t>
            </a:r>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 we plot the model's error rate or accuracy for different values of k. As we increase k the error usually decreases initially. However after a certain point the error rate starts to decrease more slowly. This point where the curve forms an "elbow" that point is considered as best k.</a:t>
            </a:r>
            <a:endParaRPr lang="en-US" sz="1300" dirty="0"/>
          </a:p>
        </p:txBody>
      </p:sp>
      <p:sp>
        <p:nvSpPr>
          <p:cNvPr id="21" name="Text 13"/>
          <p:cNvSpPr/>
          <p:nvPr/>
        </p:nvSpPr>
        <p:spPr>
          <a:xfrm>
            <a:off x="590074" y="7497008"/>
            <a:ext cx="13450253" cy="269677"/>
          </a:xfrm>
          <a:prstGeom prst="rect">
            <a:avLst/>
          </a:prstGeom>
          <a:noFill/>
          <a:ln/>
        </p:spPr>
        <p:txBody>
          <a:bodyPr wrap="none" lIns="0" tIns="0" rIns="0" bIns="0" rtlCol="0" anchor="t"/>
          <a:lstStyle/>
          <a:p>
            <a:pPr algn="l" marL="342900" indent="-342900">
              <a:lnSpc>
                <a:spcPts val="2100"/>
              </a:lnSpc>
              <a:buSzPct val="100000"/>
              <a:buChar char="•"/>
            </a:pPr>
            <a:r>
              <a:rPr lang="en-US" sz="1300" b="1" spc="-27" kern="0" dirty="0">
                <a:solidFill>
                  <a:srgbClr val="272525"/>
                </a:solidFill>
                <a:latin typeface="Inter" pitchFamily="34" charset="0"/>
                <a:ea typeface="Inter" pitchFamily="34" charset="-122"/>
                <a:cs typeface="Inter" pitchFamily="34" charset="-120"/>
              </a:rPr>
              <a:t>Odd Values for k</a:t>
            </a:r>
            <a:pPr algn="l" indent="0" marL="0">
              <a:lnSpc>
                <a:spcPts val="2100"/>
              </a:lnSpc>
              <a:buNone/>
            </a:pPr>
            <a:r>
              <a:rPr lang="en-US" sz="1300" spc="-27" kern="0" dirty="0">
                <a:solidFill>
                  <a:srgbClr val="272525"/>
                </a:solidFill>
                <a:latin typeface="Inter" pitchFamily="34" charset="0"/>
                <a:ea typeface="Inter" pitchFamily="34" charset="-122"/>
                <a:cs typeface="Inter" pitchFamily="34" charset="-120"/>
              </a:rPr>
              <a:t>: It's also recommended to choose an odd value for k especially in classification tasks to avoid ties when deciding the majority class.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41415" y="663416"/>
            <a:ext cx="11654433" cy="784027"/>
          </a:xfrm>
          <a:prstGeom prst="rect">
            <a:avLst/>
          </a:prstGeom>
          <a:noFill/>
          <a:ln/>
        </p:spPr>
        <p:txBody>
          <a:bodyPr wrap="none" lIns="0" tIns="0" rIns="0" bIns="0" rtlCol="0" anchor="t"/>
          <a:lstStyle/>
          <a:p>
            <a:pPr algn="l" indent="0" marL="0">
              <a:lnSpc>
                <a:spcPts val="6150"/>
              </a:lnSpc>
              <a:buNone/>
            </a:pPr>
            <a:r>
              <a:rPr lang="en-US" sz="4900" b="1" spc="-148" kern="0" dirty="0">
                <a:solidFill>
                  <a:srgbClr val="000000"/>
                </a:solidFill>
                <a:latin typeface="Inter Bold" pitchFamily="34" charset="0"/>
                <a:ea typeface="Inter Bold" pitchFamily="34" charset="-122"/>
                <a:cs typeface="Inter Bold" pitchFamily="34" charset="-120"/>
              </a:rPr>
              <a:t>Distance Metrics Used in KNN Algorithm</a:t>
            </a:r>
            <a:endParaRPr lang="en-US" sz="4900" dirty="0"/>
          </a:p>
        </p:txBody>
      </p:sp>
      <p:sp>
        <p:nvSpPr>
          <p:cNvPr id="3" name="Text 1"/>
          <p:cNvSpPr/>
          <p:nvPr/>
        </p:nvSpPr>
        <p:spPr>
          <a:xfrm>
            <a:off x="841415" y="1928217"/>
            <a:ext cx="12947571" cy="769144"/>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KNN uses distance metrics to identify nearest neighbour, these neighbours are used for classification and regression task. To identify nearest neighbour we use below distance metrics:</a:t>
            </a:r>
            <a:endParaRPr lang="en-US" sz="1850" dirty="0"/>
          </a:p>
        </p:txBody>
      </p:sp>
      <p:pic>
        <p:nvPicPr>
          <p:cNvPr id="4" name="Image 0" descr="preencoded.png">    </p:cNvPr>
          <p:cNvPicPr>
            <a:picLocks noChangeAspect="1"/>
          </p:cNvPicPr>
          <p:nvPr/>
        </p:nvPicPr>
        <p:blipFill>
          <a:blip r:embed="rId1"/>
          <a:stretch>
            <a:fillRect/>
          </a:stretch>
        </p:blipFill>
        <p:spPr>
          <a:xfrm>
            <a:off x="841415" y="2967752"/>
            <a:ext cx="601028" cy="601028"/>
          </a:xfrm>
          <a:prstGeom prst="rect">
            <a:avLst/>
          </a:prstGeom>
        </p:spPr>
      </p:pic>
      <p:sp>
        <p:nvSpPr>
          <p:cNvPr id="5" name="Text 2"/>
          <p:cNvSpPr/>
          <p:nvPr/>
        </p:nvSpPr>
        <p:spPr>
          <a:xfrm>
            <a:off x="841415" y="3809167"/>
            <a:ext cx="3135987" cy="391954"/>
          </a:xfrm>
          <a:prstGeom prst="rect">
            <a:avLst/>
          </a:prstGeom>
          <a:noFill/>
          <a:ln/>
        </p:spPr>
        <p:txBody>
          <a:bodyPr wrap="none" lIns="0" tIns="0" rIns="0" bIns="0" rtlCol="0" anchor="t"/>
          <a:lstStyle/>
          <a:p>
            <a:pPr algn="l" indent="0" marL="0">
              <a:lnSpc>
                <a:spcPts val="3050"/>
              </a:lnSpc>
              <a:buNone/>
            </a:pPr>
            <a:r>
              <a:rPr lang="en-US" sz="2450" b="1" spc="-74" kern="0" dirty="0">
                <a:solidFill>
                  <a:srgbClr val="272525"/>
                </a:solidFill>
                <a:latin typeface="Inter Bold" pitchFamily="34" charset="0"/>
                <a:ea typeface="Inter Bold" pitchFamily="34" charset="-122"/>
                <a:cs typeface="Inter Bold" pitchFamily="34" charset="-120"/>
              </a:rPr>
              <a:t>Euclidean Distance</a:t>
            </a:r>
            <a:endParaRPr lang="en-US" sz="2450" dirty="0"/>
          </a:p>
        </p:txBody>
      </p:sp>
      <p:sp>
        <p:nvSpPr>
          <p:cNvPr id="6" name="Text 3"/>
          <p:cNvSpPr/>
          <p:nvPr/>
        </p:nvSpPr>
        <p:spPr>
          <a:xfrm>
            <a:off x="841415" y="4345305"/>
            <a:ext cx="4075390" cy="2307431"/>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Euclidean distance is defined as the straight-line distance between two points in a plane or space. You can think of it like the shortest path you would walk if you were to go directly from one point to another.</a:t>
            </a:r>
            <a:endParaRPr lang="en-US" sz="1850" dirty="0"/>
          </a:p>
        </p:txBody>
      </p:sp>
      <p:sp>
        <p:nvSpPr>
          <p:cNvPr id="7" name="Text 4"/>
          <p:cNvSpPr/>
          <p:nvPr/>
        </p:nvSpPr>
        <p:spPr>
          <a:xfrm>
            <a:off x="841415" y="6796921"/>
            <a:ext cx="4075390" cy="384572"/>
          </a:xfrm>
          <a:prstGeom prst="rect">
            <a:avLst/>
          </a:prstGeom>
          <a:noFill/>
          <a:ln/>
        </p:spPr>
        <p:txBody>
          <a:bodyPr wrap="none" lIns="0" tIns="0" rIns="0" bIns="0" rtlCol="0" anchor="t"/>
          <a:lstStyle/>
          <a:p>
            <a:pPr algn="l" indent="0" marL="0">
              <a:lnSpc>
                <a:spcPts val="3000"/>
              </a:lnSpc>
              <a:buNone/>
            </a:pPr>
            <a:endParaRPr lang="en-US" sz="1850" dirty="0"/>
          </a:p>
        </p:txBody>
      </p:sp>
      <p:pic>
        <p:nvPicPr>
          <p:cNvPr id="8" name="Image 1" descr="preencoded.png">    </p:cNvPr>
          <p:cNvPicPr>
            <a:picLocks noChangeAspect="1"/>
          </p:cNvPicPr>
          <p:nvPr/>
        </p:nvPicPr>
        <p:blipFill>
          <a:blip r:embed="rId2"/>
          <a:stretch>
            <a:fillRect/>
          </a:stretch>
        </p:blipFill>
        <p:spPr>
          <a:xfrm>
            <a:off x="5277445" y="2967752"/>
            <a:ext cx="601028" cy="601028"/>
          </a:xfrm>
          <a:prstGeom prst="rect">
            <a:avLst/>
          </a:prstGeom>
        </p:spPr>
      </p:pic>
      <p:sp>
        <p:nvSpPr>
          <p:cNvPr id="9" name="Text 5"/>
          <p:cNvSpPr/>
          <p:nvPr/>
        </p:nvSpPr>
        <p:spPr>
          <a:xfrm>
            <a:off x="5277445" y="3809167"/>
            <a:ext cx="3135987" cy="391954"/>
          </a:xfrm>
          <a:prstGeom prst="rect">
            <a:avLst/>
          </a:prstGeom>
          <a:noFill/>
          <a:ln/>
        </p:spPr>
        <p:txBody>
          <a:bodyPr wrap="none" lIns="0" tIns="0" rIns="0" bIns="0" rtlCol="0" anchor="t"/>
          <a:lstStyle/>
          <a:p>
            <a:pPr algn="l" indent="0" marL="0">
              <a:lnSpc>
                <a:spcPts val="3050"/>
              </a:lnSpc>
              <a:buNone/>
            </a:pPr>
            <a:r>
              <a:rPr lang="en-US" sz="2450" b="1" spc="-74" kern="0" dirty="0">
                <a:solidFill>
                  <a:srgbClr val="272525"/>
                </a:solidFill>
                <a:latin typeface="Inter Bold" pitchFamily="34" charset="0"/>
                <a:ea typeface="Inter Bold" pitchFamily="34" charset="-122"/>
                <a:cs typeface="Inter Bold" pitchFamily="34" charset="-120"/>
              </a:rPr>
              <a:t>Manhattan Distance</a:t>
            </a:r>
            <a:endParaRPr lang="en-US" sz="2450" dirty="0"/>
          </a:p>
        </p:txBody>
      </p:sp>
      <p:sp>
        <p:nvSpPr>
          <p:cNvPr id="10" name="Text 6"/>
          <p:cNvSpPr/>
          <p:nvPr/>
        </p:nvSpPr>
        <p:spPr>
          <a:xfrm>
            <a:off x="5277445" y="4345305"/>
            <a:ext cx="4075390" cy="2692003"/>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This is the total distance you would travel if you could only move along horizontal and vertical lines (like a grid or city streets). It's also called "taxicab distance" because a taxi can only drive along the grid-like streets of a city.</a:t>
            </a:r>
            <a:endParaRPr lang="en-US" sz="1850" dirty="0"/>
          </a:p>
        </p:txBody>
      </p:sp>
      <p:sp>
        <p:nvSpPr>
          <p:cNvPr id="11" name="Text 7"/>
          <p:cNvSpPr/>
          <p:nvPr/>
        </p:nvSpPr>
        <p:spPr>
          <a:xfrm>
            <a:off x="5277445" y="7181493"/>
            <a:ext cx="4075390" cy="384572"/>
          </a:xfrm>
          <a:prstGeom prst="rect">
            <a:avLst/>
          </a:prstGeom>
          <a:noFill/>
          <a:ln/>
        </p:spPr>
        <p:txBody>
          <a:bodyPr wrap="none" lIns="0" tIns="0" rIns="0" bIns="0" rtlCol="0" anchor="t"/>
          <a:lstStyle/>
          <a:p>
            <a:pPr algn="l" indent="0" marL="0">
              <a:lnSpc>
                <a:spcPts val="3000"/>
              </a:lnSpc>
              <a:buNone/>
            </a:pPr>
            <a:endParaRPr lang="en-US" sz="1850" dirty="0"/>
          </a:p>
        </p:txBody>
      </p:sp>
      <p:pic>
        <p:nvPicPr>
          <p:cNvPr id="12" name="Image 2" descr="preencoded.png">    </p:cNvPr>
          <p:cNvPicPr>
            <a:picLocks noChangeAspect="1"/>
          </p:cNvPicPr>
          <p:nvPr/>
        </p:nvPicPr>
        <p:blipFill>
          <a:blip r:embed="rId3"/>
          <a:stretch>
            <a:fillRect/>
          </a:stretch>
        </p:blipFill>
        <p:spPr>
          <a:xfrm>
            <a:off x="9713476" y="2967752"/>
            <a:ext cx="601028" cy="601028"/>
          </a:xfrm>
          <a:prstGeom prst="rect">
            <a:avLst/>
          </a:prstGeom>
        </p:spPr>
      </p:pic>
      <p:sp>
        <p:nvSpPr>
          <p:cNvPr id="13" name="Text 8"/>
          <p:cNvSpPr/>
          <p:nvPr/>
        </p:nvSpPr>
        <p:spPr>
          <a:xfrm>
            <a:off x="9713476" y="3809167"/>
            <a:ext cx="3135987" cy="391954"/>
          </a:xfrm>
          <a:prstGeom prst="rect">
            <a:avLst/>
          </a:prstGeom>
          <a:noFill/>
          <a:ln/>
        </p:spPr>
        <p:txBody>
          <a:bodyPr wrap="none" lIns="0" tIns="0" rIns="0" bIns="0" rtlCol="0" anchor="t"/>
          <a:lstStyle/>
          <a:p>
            <a:pPr algn="l" indent="0" marL="0">
              <a:lnSpc>
                <a:spcPts val="3050"/>
              </a:lnSpc>
              <a:buNone/>
            </a:pPr>
            <a:r>
              <a:rPr lang="en-US" sz="2450" b="1" spc="-74" kern="0" dirty="0">
                <a:solidFill>
                  <a:srgbClr val="272525"/>
                </a:solidFill>
                <a:latin typeface="Inter Bold" pitchFamily="34" charset="0"/>
                <a:ea typeface="Inter Bold" pitchFamily="34" charset="-122"/>
                <a:cs typeface="Inter Bold" pitchFamily="34" charset="-120"/>
              </a:rPr>
              <a:t>Minkowski Distance</a:t>
            </a:r>
            <a:endParaRPr lang="en-US" sz="2450" dirty="0"/>
          </a:p>
        </p:txBody>
      </p:sp>
      <p:sp>
        <p:nvSpPr>
          <p:cNvPr id="14" name="Text 9"/>
          <p:cNvSpPr/>
          <p:nvPr/>
        </p:nvSpPr>
        <p:spPr>
          <a:xfrm>
            <a:off x="9713476" y="4345305"/>
            <a:ext cx="4075390" cy="1538288"/>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Minkowski distance is like a family of distances, which includes both </a:t>
            </a:r>
            <a:pPr algn="l" indent="0" marL="0">
              <a:lnSpc>
                <a:spcPts val="3000"/>
              </a:lnSpc>
              <a:buNone/>
            </a:pPr>
            <a:r>
              <a:rPr lang="en-US" sz="1850" b="1" spc="-38" kern="0" dirty="0">
                <a:solidFill>
                  <a:srgbClr val="272525"/>
                </a:solidFill>
                <a:latin typeface="Inter" pitchFamily="34" charset="0"/>
                <a:ea typeface="Inter" pitchFamily="34" charset="-122"/>
                <a:cs typeface="Inter" pitchFamily="34" charset="-120"/>
              </a:rPr>
              <a:t>Euclidean</a:t>
            </a:r>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 and </a:t>
            </a:r>
            <a:pPr algn="l" indent="0" marL="0">
              <a:lnSpc>
                <a:spcPts val="3000"/>
              </a:lnSpc>
              <a:buNone/>
            </a:pPr>
            <a:r>
              <a:rPr lang="en-US" sz="1850" b="1" spc="-38" kern="0" dirty="0">
                <a:solidFill>
                  <a:srgbClr val="272525"/>
                </a:solidFill>
                <a:latin typeface="Inter" pitchFamily="34" charset="0"/>
                <a:ea typeface="Inter" pitchFamily="34" charset="-122"/>
                <a:cs typeface="Inter" pitchFamily="34" charset="-120"/>
              </a:rPr>
              <a:t>Manhattan distances</a:t>
            </a:r>
            <a:pPr algn="l" indent="0" marL="0">
              <a:lnSpc>
                <a:spcPts val="3000"/>
              </a:lnSpc>
              <a:buNone/>
            </a:pPr>
            <a:r>
              <a:rPr lang="en-US" sz="1850" spc="-38" kern="0" dirty="0">
                <a:solidFill>
                  <a:srgbClr val="272525"/>
                </a:solidFill>
                <a:latin typeface="Inter" pitchFamily="34" charset="0"/>
                <a:ea typeface="Inter" pitchFamily="34" charset="-122"/>
                <a:cs typeface="Inter" pitchFamily="34" charset="-120"/>
              </a:rPr>
              <a:t> as special cases.</a:t>
            </a:r>
            <a:endParaRPr lang="en-US" sz="1850" dirty="0"/>
          </a:p>
        </p:txBody>
      </p:sp>
      <p:sp>
        <p:nvSpPr>
          <p:cNvPr id="15" name="Text 10"/>
          <p:cNvSpPr/>
          <p:nvPr/>
        </p:nvSpPr>
        <p:spPr>
          <a:xfrm>
            <a:off x="9713476" y="6027777"/>
            <a:ext cx="4075390" cy="384572"/>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31959" y="339447"/>
            <a:ext cx="3935373"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000000"/>
                </a:solidFill>
                <a:latin typeface="Inter Bold" pitchFamily="34" charset="0"/>
                <a:ea typeface="Inter Bold" pitchFamily="34" charset="-122"/>
                <a:cs typeface="Inter Bold" pitchFamily="34" charset="-120"/>
              </a:rPr>
              <a:t>Working of KNN Algorithm</a:t>
            </a:r>
            <a:endParaRPr lang="en-US" sz="2500" dirty="0"/>
          </a:p>
        </p:txBody>
      </p:sp>
      <p:sp>
        <p:nvSpPr>
          <p:cNvPr id="3" name="Text 1"/>
          <p:cNvSpPr/>
          <p:nvPr/>
        </p:nvSpPr>
        <p:spPr>
          <a:xfrm>
            <a:off x="431959" y="988814"/>
            <a:ext cx="13766483" cy="197525"/>
          </a:xfrm>
          <a:prstGeom prst="rect">
            <a:avLst/>
          </a:prstGeom>
          <a:noFill/>
          <a:ln/>
        </p:spPr>
        <p:txBody>
          <a:bodyPr wrap="non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Thе K-Nearest Neighbors (KNN) algorithm operates on the principle of similarity where it predicts the label or value of a new data point by considering the labels or values of its K nearest neighbors in the training dataset.</a:t>
            </a:r>
            <a:endParaRPr lang="en-US" sz="950" dirty="0"/>
          </a:p>
        </p:txBody>
      </p:sp>
      <p:sp>
        <p:nvSpPr>
          <p:cNvPr id="4" name="Shape 2"/>
          <p:cNvSpPr/>
          <p:nvPr/>
        </p:nvSpPr>
        <p:spPr>
          <a:xfrm>
            <a:off x="431959" y="1880592"/>
            <a:ext cx="3302675" cy="123349"/>
          </a:xfrm>
          <a:prstGeom prst="roundRect">
            <a:avLst>
              <a:gd name="adj" fmla="val 42032"/>
            </a:avLst>
          </a:prstGeom>
          <a:solidFill>
            <a:srgbClr val="DADBF1"/>
          </a:solidFill>
          <a:ln w="7620">
            <a:solidFill>
              <a:srgbClr val="C0C1D7"/>
            </a:solidFill>
            <a:prstDash val="solid"/>
          </a:ln>
        </p:spPr>
      </p:sp>
      <p:sp>
        <p:nvSpPr>
          <p:cNvPr id="5" name="Text 3"/>
          <p:cNvSpPr/>
          <p:nvPr/>
        </p:nvSpPr>
        <p:spPr>
          <a:xfrm>
            <a:off x="431959" y="2189083"/>
            <a:ext cx="2845951" cy="201216"/>
          </a:xfrm>
          <a:prstGeom prst="rect">
            <a:avLst/>
          </a:prstGeom>
          <a:noFill/>
          <a:ln/>
        </p:spPr>
        <p:txBody>
          <a:bodyPr wrap="none" lIns="0" tIns="0" rIns="0" bIns="0" rtlCol="0" anchor="t"/>
          <a:lstStyle/>
          <a:p>
            <a:pPr algn="l" indent="0" marL="0">
              <a:lnSpc>
                <a:spcPts val="1550"/>
              </a:lnSpc>
              <a:buNone/>
            </a:pPr>
            <a:r>
              <a:rPr lang="en-US" sz="1250" b="1" spc="-38" kern="0" dirty="0">
                <a:solidFill>
                  <a:srgbClr val="272525"/>
                </a:solidFill>
                <a:latin typeface="Inter Bold" pitchFamily="34" charset="0"/>
                <a:ea typeface="Inter Bold" pitchFamily="34" charset="-122"/>
                <a:cs typeface="Inter Bold" pitchFamily="34" charset="-120"/>
              </a:rPr>
              <a:t>Step 1: Selecting the optimal value of K</a:t>
            </a:r>
            <a:endParaRPr lang="en-US" sz="1250" dirty="0"/>
          </a:p>
        </p:txBody>
      </p:sp>
      <p:sp>
        <p:nvSpPr>
          <p:cNvPr id="6" name="Text 4"/>
          <p:cNvSpPr/>
          <p:nvPr/>
        </p:nvSpPr>
        <p:spPr>
          <a:xfrm>
            <a:off x="431959" y="2464356"/>
            <a:ext cx="3302675" cy="395049"/>
          </a:xfrm>
          <a:prstGeom prst="rect">
            <a:avLst/>
          </a:prstGeom>
          <a:noFill/>
          <a:ln/>
        </p:spPr>
        <p:txBody>
          <a:bodyPr wrap="squar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K represents the number of nearest neighbors that needs to be considered while making prediction.</a:t>
            </a:r>
            <a:endParaRPr lang="en-US" sz="950" dirty="0"/>
          </a:p>
        </p:txBody>
      </p:sp>
      <p:sp>
        <p:nvSpPr>
          <p:cNvPr id="7" name="Shape 5"/>
          <p:cNvSpPr/>
          <p:nvPr/>
        </p:nvSpPr>
        <p:spPr>
          <a:xfrm>
            <a:off x="3919776" y="1695450"/>
            <a:ext cx="3302794" cy="123349"/>
          </a:xfrm>
          <a:prstGeom prst="roundRect">
            <a:avLst>
              <a:gd name="adj" fmla="val 42032"/>
            </a:avLst>
          </a:prstGeom>
          <a:solidFill>
            <a:srgbClr val="DADBF1"/>
          </a:solidFill>
          <a:ln w="7620">
            <a:solidFill>
              <a:srgbClr val="C0C1D7"/>
            </a:solidFill>
            <a:prstDash val="solid"/>
          </a:ln>
        </p:spPr>
      </p:sp>
      <p:sp>
        <p:nvSpPr>
          <p:cNvPr id="8" name="Text 6"/>
          <p:cNvSpPr/>
          <p:nvPr/>
        </p:nvSpPr>
        <p:spPr>
          <a:xfrm>
            <a:off x="3919776" y="2003941"/>
            <a:ext cx="2066330" cy="201216"/>
          </a:xfrm>
          <a:prstGeom prst="rect">
            <a:avLst/>
          </a:prstGeom>
          <a:noFill/>
          <a:ln/>
        </p:spPr>
        <p:txBody>
          <a:bodyPr wrap="none" lIns="0" tIns="0" rIns="0" bIns="0" rtlCol="0" anchor="t"/>
          <a:lstStyle/>
          <a:p>
            <a:pPr algn="l" indent="0" marL="0">
              <a:lnSpc>
                <a:spcPts val="1550"/>
              </a:lnSpc>
              <a:buNone/>
            </a:pPr>
            <a:r>
              <a:rPr lang="en-US" sz="1250" b="1" spc="-38" kern="0" dirty="0">
                <a:solidFill>
                  <a:srgbClr val="272525"/>
                </a:solidFill>
                <a:latin typeface="Inter Bold" pitchFamily="34" charset="0"/>
                <a:ea typeface="Inter Bold" pitchFamily="34" charset="-122"/>
                <a:cs typeface="Inter Bold" pitchFamily="34" charset="-120"/>
              </a:rPr>
              <a:t>Step 2: Calculating distance</a:t>
            </a:r>
            <a:endParaRPr lang="en-US" sz="1250" dirty="0"/>
          </a:p>
        </p:txBody>
      </p:sp>
      <p:sp>
        <p:nvSpPr>
          <p:cNvPr id="9" name="Text 7"/>
          <p:cNvSpPr/>
          <p:nvPr/>
        </p:nvSpPr>
        <p:spPr>
          <a:xfrm>
            <a:off x="3919776" y="2279213"/>
            <a:ext cx="3302794" cy="592574"/>
          </a:xfrm>
          <a:prstGeom prst="rect">
            <a:avLst/>
          </a:prstGeom>
          <a:noFill/>
          <a:ln/>
        </p:spPr>
        <p:txBody>
          <a:bodyPr wrap="squar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To measure the similarity between target and training data points Euclidean distance is used. Distance is calculated between data points in the dataset and target point.</a:t>
            </a:r>
            <a:endParaRPr lang="en-US" sz="950" dirty="0"/>
          </a:p>
        </p:txBody>
      </p:sp>
      <p:sp>
        <p:nvSpPr>
          <p:cNvPr id="10" name="Shape 8"/>
          <p:cNvSpPr/>
          <p:nvPr/>
        </p:nvSpPr>
        <p:spPr>
          <a:xfrm>
            <a:off x="7407712" y="1510308"/>
            <a:ext cx="3302794" cy="123349"/>
          </a:xfrm>
          <a:prstGeom prst="roundRect">
            <a:avLst>
              <a:gd name="adj" fmla="val 42032"/>
            </a:avLst>
          </a:prstGeom>
          <a:solidFill>
            <a:srgbClr val="DADBF1"/>
          </a:solidFill>
          <a:ln w="7620">
            <a:solidFill>
              <a:srgbClr val="C0C1D7"/>
            </a:solidFill>
            <a:prstDash val="solid"/>
          </a:ln>
        </p:spPr>
      </p:sp>
      <p:sp>
        <p:nvSpPr>
          <p:cNvPr id="11" name="Text 9"/>
          <p:cNvSpPr/>
          <p:nvPr/>
        </p:nvSpPr>
        <p:spPr>
          <a:xfrm>
            <a:off x="7407712" y="1818799"/>
            <a:ext cx="2536508" cy="201216"/>
          </a:xfrm>
          <a:prstGeom prst="rect">
            <a:avLst/>
          </a:prstGeom>
          <a:noFill/>
          <a:ln/>
        </p:spPr>
        <p:txBody>
          <a:bodyPr wrap="none" lIns="0" tIns="0" rIns="0" bIns="0" rtlCol="0" anchor="t"/>
          <a:lstStyle/>
          <a:p>
            <a:pPr algn="l" indent="0" marL="0">
              <a:lnSpc>
                <a:spcPts val="1550"/>
              </a:lnSpc>
              <a:buNone/>
            </a:pPr>
            <a:r>
              <a:rPr lang="en-US" sz="1250" b="1" spc="-38" kern="0" dirty="0">
                <a:solidFill>
                  <a:srgbClr val="272525"/>
                </a:solidFill>
                <a:latin typeface="Inter Bold" pitchFamily="34" charset="0"/>
                <a:ea typeface="Inter Bold" pitchFamily="34" charset="-122"/>
                <a:cs typeface="Inter Bold" pitchFamily="34" charset="-120"/>
              </a:rPr>
              <a:t>Step 3: Finding Nearest Neighbors</a:t>
            </a:r>
            <a:endParaRPr lang="en-US" sz="1250" dirty="0"/>
          </a:p>
        </p:txBody>
      </p:sp>
      <p:sp>
        <p:nvSpPr>
          <p:cNvPr id="12" name="Text 10"/>
          <p:cNvSpPr/>
          <p:nvPr/>
        </p:nvSpPr>
        <p:spPr>
          <a:xfrm>
            <a:off x="7407712" y="2094071"/>
            <a:ext cx="3302794" cy="395049"/>
          </a:xfrm>
          <a:prstGeom prst="rect">
            <a:avLst/>
          </a:prstGeom>
          <a:noFill/>
          <a:ln/>
        </p:spPr>
        <p:txBody>
          <a:bodyPr wrap="squar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The k data points with the smallest distances to the target point are nearest neighbors.</a:t>
            </a:r>
            <a:endParaRPr lang="en-US" sz="950" dirty="0"/>
          </a:p>
        </p:txBody>
      </p:sp>
      <p:sp>
        <p:nvSpPr>
          <p:cNvPr id="13" name="Shape 11"/>
          <p:cNvSpPr/>
          <p:nvPr/>
        </p:nvSpPr>
        <p:spPr>
          <a:xfrm>
            <a:off x="10895648" y="1325166"/>
            <a:ext cx="3302794" cy="123349"/>
          </a:xfrm>
          <a:prstGeom prst="roundRect">
            <a:avLst>
              <a:gd name="adj" fmla="val 42032"/>
            </a:avLst>
          </a:prstGeom>
          <a:solidFill>
            <a:srgbClr val="DADBF1"/>
          </a:solidFill>
          <a:ln w="7620">
            <a:solidFill>
              <a:srgbClr val="C0C1D7"/>
            </a:solidFill>
            <a:prstDash val="solid"/>
          </a:ln>
        </p:spPr>
      </p:sp>
      <p:sp>
        <p:nvSpPr>
          <p:cNvPr id="14" name="Text 12"/>
          <p:cNvSpPr/>
          <p:nvPr/>
        </p:nvSpPr>
        <p:spPr>
          <a:xfrm>
            <a:off x="10895648" y="1633657"/>
            <a:ext cx="3302794" cy="402431"/>
          </a:xfrm>
          <a:prstGeom prst="rect">
            <a:avLst/>
          </a:prstGeom>
          <a:noFill/>
          <a:ln/>
        </p:spPr>
        <p:txBody>
          <a:bodyPr wrap="square" lIns="0" tIns="0" rIns="0" bIns="0" rtlCol="0" anchor="t"/>
          <a:lstStyle/>
          <a:p>
            <a:pPr algn="l" indent="0" marL="0">
              <a:lnSpc>
                <a:spcPts val="1550"/>
              </a:lnSpc>
              <a:buNone/>
            </a:pPr>
            <a:r>
              <a:rPr lang="en-US" sz="1250" b="1" spc="-38" kern="0" dirty="0">
                <a:solidFill>
                  <a:srgbClr val="272525"/>
                </a:solidFill>
                <a:latin typeface="Inter Bold" pitchFamily="34" charset="0"/>
                <a:ea typeface="Inter Bold" pitchFamily="34" charset="-122"/>
                <a:cs typeface="Inter Bold" pitchFamily="34" charset="-120"/>
              </a:rPr>
              <a:t>Step 4: Voting for Classification or Taking Average for Regression</a:t>
            </a:r>
            <a:endParaRPr lang="en-US" sz="1250" dirty="0"/>
          </a:p>
        </p:txBody>
      </p:sp>
      <p:sp>
        <p:nvSpPr>
          <p:cNvPr id="15" name="Text 13"/>
          <p:cNvSpPr/>
          <p:nvPr/>
        </p:nvSpPr>
        <p:spPr>
          <a:xfrm>
            <a:off x="10895648" y="2110145"/>
            <a:ext cx="3302794" cy="1185148"/>
          </a:xfrm>
          <a:prstGeom prst="rect">
            <a:avLst/>
          </a:prstGeom>
          <a:noFill/>
          <a:ln/>
        </p:spPr>
        <p:txBody>
          <a:bodyPr wrap="squar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When you want to classify a data point into a category (like spam or not spam), the K-NN algorithm looks at the </a:t>
            </a:r>
            <a:pPr algn="l" indent="0" marL="0">
              <a:lnSpc>
                <a:spcPts val="1550"/>
              </a:lnSpc>
              <a:buNone/>
            </a:pPr>
            <a:r>
              <a:rPr lang="en-US" sz="950" b="1" spc="-19" kern="0" dirty="0">
                <a:solidFill>
                  <a:srgbClr val="272525"/>
                </a:solidFill>
                <a:latin typeface="Inter" pitchFamily="34" charset="0"/>
                <a:ea typeface="Inter" pitchFamily="34" charset="-122"/>
                <a:cs typeface="Inter" pitchFamily="34" charset="-120"/>
              </a:rPr>
              <a:t>K closest points</a:t>
            </a:r>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 in the dataset. These closest points are called neighbors. The algorithm then looks at which category the neighbors belong to and picks the one that appears the most. This is called </a:t>
            </a:r>
            <a:pPr algn="l" indent="0" marL="0">
              <a:lnSpc>
                <a:spcPts val="1550"/>
              </a:lnSpc>
              <a:buNone/>
            </a:pPr>
            <a:r>
              <a:rPr lang="en-US" sz="950" b="1" spc="-19" kern="0" dirty="0">
                <a:solidFill>
                  <a:srgbClr val="272525"/>
                </a:solidFill>
                <a:latin typeface="Inter" pitchFamily="34" charset="0"/>
                <a:ea typeface="Inter" pitchFamily="34" charset="-122"/>
                <a:cs typeface="Inter" pitchFamily="34" charset="-120"/>
              </a:rPr>
              <a:t>majority voting</a:t>
            </a:r>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a:t>
            </a:r>
            <a:endParaRPr lang="en-US" sz="950" dirty="0"/>
          </a:p>
        </p:txBody>
      </p:sp>
      <p:sp>
        <p:nvSpPr>
          <p:cNvPr id="16" name="Text 14"/>
          <p:cNvSpPr/>
          <p:nvPr/>
        </p:nvSpPr>
        <p:spPr>
          <a:xfrm>
            <a:off x="10895648" y="3369350"/>
            <a:ext cx="3302794" cy="987623"/>
          </a:xfrm>
          <a:prstGeom prst="rect">
            <a:avLst/>
          </a:prstGeom>
          <a:noFill/>
          <a:ln/>
        </p:spPr>
        <p:txBody>
          <a:bodyPr wrap="squar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In regression, the algorithm still looks for the </a:t>
            </a:r>
            <a:pPr algn="l" indent="0" marL="0">
              <a:lnSpc>
                <a:spcPts val="1550"/>
              </a:lnSpc>
              <a:buNone/>
            </a:pPr>
            <a:r>
              <a:rPr lang="en-US" sz="950" b="1" spc="-19" kern="0" dirty="0">
                <a:solidFill>
                  <a:srgbClr val="272525"/>
                </a:solidFill>
                <a:latin typeface="Inter" pitchFamily="34" charset="0"/>
                <a:ea typeface="Inter" pitchFamily="34" charset="-122"/>
                <a:cs typeface="Inter" pitchFamily="34" charset="-120"/>
              </a:rPr>
              <a:t>K closest points</a:t>
            </a:r>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 But instead of voting for a class in classification, it takes the </a:t>
            </a:r>
            <a:pPr algn="l" indent="0" marL="0">
              <a:lnSpc>
                <a:spcPts val="1550"/>
              </a:lnSpc>
              <a:buNone/>
            </a:pPr>
            <a:r>
              <a:rPr lang="en-US" sz="950" b="1" spc="-19" kern="0" dirty="0">
                <a:solidFill>
                  <a:srgbClr val="272525"/>
                </a:solidFill>
                <a:latin typeface="Inter" pitchFamily="34" charset="0"/>
                <a:ea typeface="Inter" pitchFamily="34" charset="-122"/>
                <a:cs typeface="Inter" pitchFamily="34" charset="-120"/>
              </a:rPr>
              <a:t>average</a:t>
            </a:r>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 of the values of those K neighbors. This average is the predicted value for the new point for the algorithm.</a:t>
            </a:r>
            <a:endParaRPr lang="en-US" sz="950" dirty="0"/>
          </a:p>
        </p:txBody>
      </p:sp>
      <p:pic>
        <p:nvPicPr>
          <p:cNvPr id="17" name="Image 0" descr="preencoded.png">    </p:cNvPr>
          <p:cNvPicPr>
            <a:picLocks noChangeAspect="1"/>
          </p:cNvPicPr>
          <p:nvPr/>
        </p:nvPicPr>
        <p:blipFill>
          <a:blip r:embed="rId1"/>
          <a:stretch>
            <a:fillRect/>
          </a:stretch>
        </p:blipFill>
        <p:spPr>
          <a:xfrm>
            <a:off x="431959" y="4495800"/>
            <a:ext cx="5242560" cy="2727960"/>
          </a:xfrm>
          <a:prstGeom prst="rect">
            <a:avLst/>
          </a:prstGeom>
        </p:spPr>
      </p:pic>
      <p:sp>
        <p:nvSpPr>
          <p:cNvPr id="18" name="Text 15"/>
          <p:cNvSpPr/>
          <p:nvPr/>
        </p:nvSpPr>
        <p:spPr>
          <a:xfrm>
            <a:off x="431959" y="7362587"/>
            <a:ext cx="13766483" cy="197525"/>
          </a:xfrm>
          <a:prstGeom prst="rect">
            <a:avLst/>
          </a:prstGeom>
          <a:noFill/>
          <a:ln/>
        </p:spPr>
        <p:txBody>
          <a:bodyPr wrap="non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Working of KNN Algorithm</a:t>
            </a:r>
            <a:endParaRPr lang="en-US" sz="950" dirty="0"/>
          </a:p>
        </p:txBody>
      </p:sp>
      <p:sp>
        <p:nvSpPr>
          <p:cNvPr id="19" name="Text 16"/>
          <p:cNvSpPr/>
          <p:nvPr/>
        </p:nvSpPr>
        <p:spPr>
          <a:xfrm>
            <a:off x="431959" y="7698938"/>
            <a:ext cx="13766483" cy="197525"/>
          </a:xfrm>
          <a:prstGeom prst="rect">
            <a:avLst/>
          </a:prstGeom>
          <a:noFill/>
          <a:ln/>
        </p:spPr>
        <p:txBody>
          <a:bodyPr wrap="none" lIns="0" tIns="0" rIns="0" bIns="0" rtlCol="0" anchor="t"/>
          <a:lstStyle/>
          <a:p>
            <a:pPr algn="l" indent="0" marL="0">
              <a:lnSpc>
                <a:spcPts val="1550"/>
              </a:lnSpc>
              <a:buNone/>
            </a:pPr>
            <a:r>
              <a:rPr lang="en-US" sz="950" spc="-19" kern="0" dirty="0">
                <a:solidFill>
                  <a:srgbClr val="272525"/>
                </a:solidFill>
                <a:latin typeface="Inter" pitchFamily="34" charset="0"/>
                <a:ea typeface="Inter" pitchFamily="34" charset="-122"/>
                <a:cs typeface="Inter" pitchFamily="34" charset="-120"/>
              </a:rPr>
              <a:t>It shows how a test point is classified based on its nearest neighbors. As the test point moves the algorithm identifies the closest 'k' data points i.e 5 in this case and assigns test point the majority class label that is grey label class here.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8518" y="536972"/>
            <a:ext cx="7503438" cy="492443"/>
          </a:xfrm>
          <a:prstGeom prst="rect">
            <a:avLst/>
          </a:prstGeom>
          <a:noFill/>
          <a:ln/>
        </p:spPr>
        <p:txBody>
          <a:bodyPr wrap="none" lIns="0" tIns="0" rIns="0" bIns="0" rtlCol="0" anchor="t"/>
          <a:lstStyle/>
          <a:p>
            <a:pPr algn="l" indent="0" marL="0">
              <a:lnSpc>
                <a:spcPts val="3850"/>
              </a:lnSpc>
              <a:buNone/>
            </a:pPr>
            <a:r>
              <a:rPr lang="en-US" sz="3100" b="1" spc="-93" kern="0" dirty="0">
                <a:solidFill>
                  <a:srgbClr val="000000"/>
                </a:solidFill>
                <a:latin typeface="Inter Bold" pitchFamily="34" charset="0"/>
                <a:ea typeface="Inter Bold" pitchFamily="34" charset="-122"/>
                <a:cs typeface="Inter Bold" pitchFamily="34" charset="-120"/>
              </a:rPr>
              <a:t>Python Implementation of KNN Algorithm</a:t>
            </a:r>
            <a:endParaRPr lang="en-US" sz="3100" dirty="0"/>
          </a:p>
        </p:txBody>
      </p:sp>
      <p:sp>
        <p:nvSpPr>
          <p:cNvPr id="3" name="Shape 1"/>
          <p:cNvSpPr/>
          <p:nvPr/>
        </p:nvSpPr>
        <p:spPr>
          <a:xfrm>
            <a:off x="7307580" y="1331357"/>
            <a:ext cx="15240" cy="5055513"/>
          </a:xfrm>
          <a:prstGeom prst="roundRect">
            <a:avLst>
              <a:gd name="adj" fmla="val 416218"/>
            </a:avLst>
          </a:prstGeom>
          <a:solidFill>
            <a:srgbClr val="C0C1D7"/>
          </a:solidFill>
          <a:ln/>
        </p:spPr>
      </p:sp>
      <p:sp>
        <p:nvSpPr>
          <p:cNvPr id="4" name="Shape 2"/>
          <p:cNvSpPr/>
          <p:nvPr/>
        </p:nvSpPr>
        <p:spPr>
          <a:xfrm>
            <a:off x="6707505" y="1663541"/>
            <a:ext cx="453033" cy="15240"/>
          </a:xfrm>
          <a:prstGeom prst="roundRect">
            <a:avLst>
              <a:gd name="adj" fmla="val 416218"/>
            </a:avLst>
          </a:prstGeom>
          <a:solidFill>
            <a:srgbClr val="C0C1D7"/>
          </a:solidFill>
          <a:ln/>
        </p:spPr>
      </p:sp>
      <p:sp>
        <p:nvSpPr>
          <p:cNvPr id="5" name="Shape 3"/>
          <p:cNvSpPr/>
          <p:nvPr/>
        </p:nvSpPr>
        <p:spPr>
          <a:xfrm>
            <a:off x="7145298" y="1501259"/>
            <a:ext cx="339804" cy="339804"/>
          </a:xfrm>
          <a:prstGeom prst="roundRect">
            <a:avLst>
              <a:gd name="adj" fmla="val 18667"/>
            </a:avLst>
          </a:prstGeom>
          <a:solidFill>
            <a:srgbClr val="DADBF1"/>
          </a:solidFill>
          <a:ln w="7620">
            <a:solidFill>
              <a:srgbClr val="C0C1D7"/>
            </a:solidFill>
            <a:prstDash val="solid"/>
          </a:ln>
        </p:spPr>
      </p:sp>
      <p:pic>
        <p:nvPicPr>
          <p:cNvPr id="6" name="Image 0" descr="preencoded.png">    </p:cNvPr>
          <p:cNvPicPr>
            <a:picLocks noChangeAspect="1"/>
          </p:cNvPicPr>
          <p:nvPr/>
        </p:nvPicPr>
        <p:blipFill>
          <a:blip r:embed="rId1"/>
          <a:stretch>
            <a:fillRect/>
          </a:stretch>
        </p:blipFill>
        <p:spPr>
          <a:xfrm>
            <a:off x="7197030" y="1523464"/>
            <a:ext cx="236339" cy="295394"/>
          </a:xfrm>
          <a:prstGeom prst="rect">
            <a:avLst/>
          </a:prstGeom>
        </p:spPr>
      </p:pic>
      <p:sp>
        <p:nvSpPr>
          <p:cNvPr id="7" name="Text 4"/>
          <p:cNvSpPr/>
          <p:nvPr/>
        </p:nvSpPr>
        <p:spPr>
          <a:xfrm>
            <a:off x="4590217" y="1482328"/>
            <a:ext cx="1969889" cy="246221"/>
          </a:xfrm>
          <a:prstGeom prst="rect">
            <a:avLst/>
          </a:prstGeom>
          <a:noFill/>
          <a:ln/>
        </p:spPr>
        <p:txBody>
          <a:bodyPr wrap="none" lIns="0" tIns="0" rIns="0" bIns="0" rtlCol="0" anchor="t"/>
          <a:lstStyle/>
          <a:p>
            <a:pPr algn="r" indent="0" marL="0">
              <a:lnSpc>
                <a:spcPts val="1900"/>
              </a:lnSpc>
              <a:buNone/>
            </a:pPr>
            <a:r>
              <a:rPr lang="en-US" sz="1550" b="1" spc="-47" kern="0" dirty="0">
                <a:solidFill>
                  <a:srgbClr val="272525"/>
                </a:solidFill>
                <a:latin typeface="Inter Bold" pitchFamily="34" charset="0"/>
                <a:ea typeface="Inter Bold" pitchFamily="34" charset="-122"/>
                <a:cs typeface="Inter Bold" pitchFamily="34" charset="-120"/>
              </a:rPr>
              <a:t>1. Importing Libraries</a:t>
            </a:r>
            <a:endParaRPr lang="en-US" sz="1550" dirty="0"/>
          </a:p>
        </p:txBody>
      </p:sp>
      <p:sp>
        <p:nvSpPr>
          <p:cNvPr id="8" name="Text 5"/>
          <p:cNvSpPr/>
          <p:nvPr/>
        </p:nvSpPr>
        <p:spPr>
          <a:xfrm>
            <a:off x="528518" y="1819156"/>
            <a:ext cx="6031587" cy="241459"/>
          </a:xfrm>
          <a:prstGeom prst="rect">
            <a:avLst/>
          </a:prstGeom>
          <a:noFill/>
          <a:ln/>
        </p:spPr>
        <p:txBody>
          <a:bodyPr wrap="none" lIns="0" tIns="0" rIns="0" bIns="0" rtlCol="0" anchor="t"/>
          <a:lstStyle/>
          <a:p>
            <a:pPr algn="r" indent="0" marL="0">
              <a:lnSpc>
                <a:spcPts val="1900"/>
              </a:lnSpc>
              <a:buNone/>
            </a:pPr>
            <a:r>
              <a:rPr lang="en-US" sz="1150" spc="-24" kern="0" dirty="0">
                <a:solidFill>
                  <a:srgbClr val="272525"/>
                </a:solidFill>
                <a:latin typeface="Inter" pitchFamily="34" charset="0"/>
                <a:ea typeface="Inter" pitchFamily="34" charset="-122"/>
                <a:cs typeface="Inter" pitchFamily="34" charset="-120"/>
              </a:rPr>
              <a:t>import numpy as np from collections import Counter</a:t>
            </a:r>
            <a:endParaRPr lang="en-US" sz="1150" dirty="0"/>
          </a:p>
        </p:txBody>
      </p:sp>
      <p:sp>
        <p:nvSpPr>
          <p:cNvPr id="9" name="Text 6"/>
          <p:cNvSpPr/>
          <p:nvPr/>
        </p:nvSpPr>
        <p:spPr>
          <a:xfrm>
            <a:off x="528518" y="2151221"/>
            <a:ext cx="6031587" cy="724376"/>
          </a:xfrm>
          <a:prstGeom prst="rect">
            <a:avLst/>
          </a:prstGeom>
          <a:noFill/>
          <a:ln/>
        </p:spPr>
        <p:txBody>
          <a:bodyPr wrap="square" lIns="0" tIns="0" rIns="0" bIns="0" rtlCol="0" anchor="t"/>
          <a:lstStyle/>
          <a:p>
            <a:pPr algn="r" indent="0" marL="0">
              <a:lnSpc>
                <a:spcPts val="1900"/>
              </a:lnSpc>
              <a:buNone/>
            </a:pPr>
            <a:r>
              <a:rPr lang="en-US" sz="1150" b="1" spc="-24" kern="0" dirty="0">
                <a:solidFill>
                  <a:srgbClr val="272525"/>
                </a:solidFill>
                <a:latin typeface="Inter" pitchFamily="34" charset="0"/>
                <a:ea typeface="Inter" pitchFamily="34" charset="-122"/>
                <a:cs typeface="Inter" pitchFamily="34" charset="-120"/>
              </a:rPr>
              <a:t>Counter</a:t>
            </a:r>
            <a:pPr algn="r" indent="0" marL="0">
              <a:lnSpc>
                <a:spcPts val="1900"/>
              </a:lnSpc>
              <a:buNone/>
            </a:pPr>
            <a:r>
              <a:rPr lang="en-US" sz="1150" spc="-24" kern="0" dirty="0">
                <a:solidFill>
                  <a:srgbClr val="272525"/>
                </a:solidFill>
                <a:latin typeface="Inter" pitchFamily="34" charset="0"/>
                <a:ea typeface="Inter" pitchFamily="34" charset="-122"/>
                <a:cs typeface="Inter" pitchFamily="34" charset="-120"/>
              </a:rPr>
              <a:t>: is used to count the occurrences of elements in a list or iterable. In KNN after finding the k nearest neighbors labels Counter helps count how many times each label appears.</a:t>
            </a:r>
            <a:endParaRPr lang="en-US" sz="1150" dirty="0"/>
          </a:p>
        </p:txBody>
      </p:sp>
      <p:sp>
        <p:nvSpPr>
          <p:cNvPr id="10" name="Shape 7"/>
          <p:cNvSpPr/>
          <p:nvPr/>
        </p:nvSpPr>
        <p:spPr>
          <a:xfrm>
            <a:off x="7469862" y="2418517"/>
            <a:ext cx="453033" cy="15240"/>
          </a:xfrm>
          <a:prstGeom prst="roundRect">
            <a:avLst>
              <a:gd name="adj" fmla="val 416218"/>
            </a:avLst>
          </a:prstGeom>
          <a:solidFill>
            <a:srgbClr val="C0C1D7"/>
          </a:solidFill>
          <a:ln/>
        </p:spPr>
      </p:sp>
      <p:sp>
        <p:nvSpPr>
          <p:cNvPr id="11" name="Shape 8"/>
          <p:cNvSpPr/>
          <p:nvPr/>
        </p:nvSpPr>
        <p:spPr>
          <a:xfrm>
            <a:off x="7145298" y="2256234"/>
            <a:ext cx="339804" cy="339804"/>
          </a:xfrm>
          <a:prstGeom prst="roundRect">
            <a:avLst>
              <a:gd name="adj" fmla="val 18667"/>
            </a:avLst>
          </a:prstGeom>
          <a:solidFill>
            <a:srgbClr val="DADBF1"/>
          </a:solidFill>
          <a:ln w="7620">
            <a:solidFill>
              <a:srgbClr val="C0C1D7"/>
            </a:solidFill>
            <a:prstDash val="solid"/>
          </a:ln>
        </p:spPr>
      </p:sp>
      <p:pic>
        <p:nvPicPr>
          <p:cNvPr id="12" name="Image 1" descr="preencoded.png">    </p:cNvPr>
          <p:cNvPicPr>
            <a:picLocks noChangeAspect="1"/>
          </p:cNvPicPr>
          <p:nvPr/>
        </p:nvPicPr>
        <p:blipFill>
          <a:blip r:embed="rId2"/>
          <a:stretch>
            <a:fillRect/>
          </a:stretch>
        </p:blipFill>
        <p:spPr>
          <a:xfrm>
            <a:off x="7197030" y="2278440"/>
            <a:ext cx="236339" cy="295394"/>
          </a:xfrm>
          <a:prstGeom prst="rect">
            <a:avLst/>
          </a:prstGeom>
        </p:spPr>
      </p:pic>
      <p:sp>
        <p:nvSpPr>
          <p:cNvPr id="13" name="Text 9"/>
          <p:cNvSpPr/>
          <p:nvPr/>
        </p:nvSpPr>
        <p:spPr>
          <a:xfrm>
            <a:off x="8070294" y="2237303"/>
            <a:ext cx="3924300" cy="246221"/>
          </a:xfrm>
          <a:prstGeom prst="rect">
            <a:avLst/>
          </a:prstGeom>
          <a:noFill/>
          <a:ln/>
        </p:spPr>
        <p:txBody>
          <a:bodyPr wrap="none" lIns="0" tIns="0" rIns="0" bIns="0" rtlCol="0" anchor="t"/>
          <a:lstStyle/>
          <a:p>
            <a:pPr algn="l" indent="0" marL="0">
              <a:lnSpc>
                <a:spcPts val="1900"/>
              </a:lnSpc>
              <a:buNone/>
            </a:pPr>
            <a:r>
              <a:rPr lang="en-US" sz="1550" b="1" spc="-47" kern="0" dirty="0">
                <a:solidFill>
                  <a:srgbClr val="272525"/>
                </a:solidFill>
                <a:latin typeface="Inter Bold" pitchFamily="34" charset="0"/>
                <a:ea typeface="Inter Bold" pitchFamily="34" charset="-122"/>
                <a:cs typeface="Inter Bold" pitchFamily="34" charset="-120"/>
              </a:rPr>
              <a:t>2. Defining the Euclidean Distance Function</a:t>
            </a:r>
            <a:endParaRPr lang="en-US" sz="1550" dirty="0"/>
          </a:p>
        </p:txBody>
      </p:sp>
      <p:sp>
        <p:nvSpPr>
          <p:cNvPr id="14" name="Text 10"/>
          <p:cNvSpPr/>
          <p:nvPr/>
        </p:nvSpPr>
        <p:spPr>
          <a:xfrm>
            <a:off x="8070294" y="2574131"/>
            <a:ext cx="6031587" cy="482918"/>
          </a:xfrm>
          <a:prstGeom prst="rect">
            <a:avLst/>
          </a:prstGeom>
          <a:noFill/>
          <a:ln/>
        </p:spPr>
        <p:txBody>
          <a:bodyPr wrap="square" lIns="0" tIns="0" rIns="0" bIns="0" rtlCol="0" anchor="t"/>
          <a:lstStyle/>
          <a:p>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def euclidean_distance(point1, point2): return np.sqrt(np.sum((np.array(point1) - np.array(point2))**2))</a:t>
            </a:r>
            <a:endParaRPr lang="en-US" sz="1150" dirty="0"/>
          </a:p>
        </p:txBody>
      </p:sp>
      <p:sp>
        <p:nvSpPr>
          <p:cNvPr id="15" name="Text 11"/>
          <p:cNvSpPr/>
          <p:nvPr/>
        </p:nvSpPr>
        <p:spPr>
          <a:xfrm>
            <a:off x="8070294" y="3147655"/>
            <a:ext cx="6031587" cy="241459"/>
          </a:xfrm>
          <a:prstGeom prst="rect">
            <a:avLst/>
          </a:prstGeom>
          <a:noFill/>
          <a:ln/>
        </p:spPr>
        <p:txBody>
          <a:bodyPr wrap="none" lIns="0" tIns="0" rIns="0" bIns="0" rtlCol="0" anchor="t"/>
          <a:lstStyle/>
          <a:p>
            <a:pPr algn="l" indent="0" marL="0">
              <a:lnSpc>
                <a:spcPts val="1900"/>
              </a:lnSpc>
              <a:buNone/>
            </a:pPr>
            <a:r>
              <a:rPr lang="en-US" sz="1150" b="1" spc="-24" kern="0" dirty="0">
                <a:solidFill>
                  <a:srgbClr val="272525"/>
                </a:solidFill>
                <a:latin typeface="Inter" pitchFamily="34" charset="0"/>
                <a:ea typeface="Inter" pitchFamily="34" charset="-122"/>
                <a:cs typeface="Inter" pitchFamily="34" charset="-120"/>
              </a:rPr>
              <a:t>euclidean_distance</a:t>
            </a:r>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 to calculate euclidean distance between points</a:t>
            </a:r>
            <a:endParaRPr lang="en-US" sz="1150" dirty="0"/>
          </a:p>
        </p:txBody>
      </p:sp>
      <p:sp>
        <p:nvSpPr>
          <p:cNvPr id="16" name="Shape 12"/>
          <p:cNvSpPr/>
          <p:nvPr/>
        </p:nvSpPr>
        <p:spPr>
          <a:xfrm>
            <a:off x="6707505" y="3509724"/>
            <a:ext cx="453033" cy="15240"/>
          </a:xfrm>
          <a:prstGeom prst="roundRect">
            <a:avLst>
              <a:gd name="adj" fmla="val 416218"/>
            </a:avLst>
          </a:prstGeom>
          <a:solidFill>
            <a:srgbClr val="C0C1D7"/>
          </a:solidFill>
          <a:ln/>
        </p:spPr>
      </p:sp>
      <p:sp>
        <p:nvSpPr>
          <p:cNvPr id="17" name="Shape 13"/>
          <p:cNvSpPr/>
          <p:nvPr/>
        </p:nvSpPr>
        <p:spPr>
          <a:xfrm>
            <a:off x="7145298" y="3347442"/>
            <a:ext cx="339804" cy="339804"/>
          </a:xfrm>
          <a:prstGeom prst="roundRect">
            <a:avLst>
              <a:gd name="adj" fmla="val 18667"/>
            </a:avLst>
          </a:prstGeom>
          <a:solidFill>
            <a:srgbClr val="DADBF1"/>
          </a:solidFill>
          <a:ln w="7620">
            <a:solidFill>
              <a:srgbClr val="C0C1D7"/>
            </a:solidFill>
            <a:prstDash val="solid"/>
          </a:ln>
        </p:spPr>
      </p:sp>
      <p:pic>
        <p:nvPicPr>
          <p:cNvPr id="18" name="Image 2" descr="preencoded.png">    </p:cNvPr>
          <p:cNvPicPr>
            <a:picLocks noChangeAspect="1"/>
          </p:cNvPicPr>
          <p:nvPr/>
        </p:nvPicPr>
        <p:blipFill>
          <a:blip r:embed="rId3"/>
          <a:stretch>
            <a:fillRect/>
          </a:stretch>
        </p:blipFill>
        <p:spPr>
          <a:xfrm>
            <a:off x="7197030" y="3369647"/>
            <a:ext cx="236339" cy="295394"/>
          </a:xfrm>
          <a:prstGeom prst="rect">
            <a:avLst/>
          </a:prstGeom>
        </p:spPr>
      </p:pic>
      <p:sp>
        <p:nvSpPr>
          <p:cNvPr id="19" name="Text 14"/>
          <p:cNvSpPr/>
          <p:nvPr/>
        </p:nvSpPr>
        <p:spPr>
          <a:xfrm>
            <a:off x="4127897" y="3328511"/>
            <a:ext cx="2432209" cy="246221"/>
          </a:xfrm>
          <a:prstGeom prst="rect">
            <a:avLst/>
          </a:prstGeom>
          <a:noFill/>
          <a:ln/>
        </p:spPr>
        <p:txBody>
          <a:bodyPr wrap="none" lIns="0" tIns="0" rIns="0" bIns="0" rtlCol="0" anchor="t"/>
          <a:lstStyle/>
          <a:p>
            <a:pPr algn="r" indent="0" marL="0">
              <a:lnSpc>
                <a:spcPts val="1900"/>
              </a:lnSpc>
              <a:buNone/>
            </a:pPr>
            <a:r>
              <a:rPr lang="en-US" sz="1550" b="1" spc="-47" kern="0" dirty="0">
                <a:solidFill>
                  <a:srgbClr val="272525"/>
                </a:solidFill>
                <a:latin typeface="Inter Bold" pitchFamily="34" charset="0"/>
                <a:ea typeface="Inter Bold" pitchFamily="34" charset="-122"/>
                <a:cs typeface="Inter Bold" pitchFamily="34" charset="-120"/>
              </a:rPr>
              <a:t>3. KNN Prediction Function</a:t>
            </a:r>
            <a:endParaRPr lang="en-US" sz="1550" dirty="0"/>
          </a:p>
        </p:txBody>
      </p:sp>
      <p:sp>
        <p:nvSpPr>
          <p:cNvPr id="20" name="Text 15"/>
          <p:cNvSpPr/>
          <p:nvPr/>
        </p:nvSpPr>
        <p:spPr>
          <a:xfrm>
            <a:off x="528518" y="3665339"/>
            <a:ext cx="6031587" cy="1207294"/>
          </a:xfrm>
          <a:prstGeom prst="rect">
            <a:avLst/>
          </a:prstGeom>
          <a:noFill/>
          <a:ln/>
        </p:spPr>
        <p:txBody>
          <a:bodyPr wrap="square" lIns="0" tIns="0" rIns="0" bIns="0" rtlCol="0" anchor="t"/>
          <a:lstStyle/>
          <a:p>
            <a:pPr algn="r" indent="0" marL="0">
              <a:lnSpc>
                <a:spcPts val="1900"/>
              </a:lnSpc>
              <a:buNone/>
            </a:pPr>
            <a:r>
              <a:rPr lang="en-US" sz="1150" spc="-24" kern="0" dirty="0">
                <a:solidFill>
                  <a:srgbClr val="272525"/>
                </a:solidFill>
                <a:latin typeface="Inter" pitchFamily="34" charset="0"/>
                <a:ea typeface="Inter" pitchFamily="34" charset="-122"/>
                <a:cs typeface="Inter" pitchFamily="34" charset="-120"/>
              </a:rPr>
              <a:t>def knn_predict(training_data, training_labels, test_point, k): distances = [] for i in range(len(training_data)): dist = euclidean_distance(test_point, training_data[i]) distances.append((dist, training_labels[i])) distances.sort(key=lambda x: x[0]) k_nearest_labels = [label for _, label in distances[:k]] return Counter(k_nearest_labels).most_common(1)[0][0]</a:t>
            </a:r>
            <a:endParaRPr lang="en-US" sz="1150" dirty="0"/>
          </a:p>
        </p:txBody>
      </p:sp>
      <p:sp>
        <p:nvSpPr>
          <p:cNvPr id="21" name="Shape 16"/>
          <p:cNvSpPr/>
          <p:nvPr/>
        </p:nvSpPr>
        <p:spPr>
          <a:xfrm>
            <a:off x="7469862" y="4508183"/>
            <a:ext cx="453033" cy="15240"/>
          </a:xfrm>
          <a:prstGeom prst="roundRect">
            <a:avLst>
              <a:gd name="adj" fmla="val 416218"/>
            </a:avLst>
          </a:prstGeom>
          <a:solidFill>
            <a:srgbClr val="C0C1D7"/>
          </a:solidFill>
          <a:ln/>
        </p:spPr>
      </p:sp>
      <p:sp>
        <p:nvSpPr>
          <p:cNvPr id="22" name="Shape 17"/>
          <p:cNvSpPr/>
          <p:nvPr/>
        </p:nvSpPr>
        <p:spPr>
          <a:xfrm>
            <a:off x="7145298" y="4345900"/>
            <a:ext cx="339804" cy="339804"/>
          </a:xfrm>
          <a:prstGeom prst="roundRect">
            <a:avLst>
              <a:gd name="adj" fmla="val 18667"/>
            </a:avLst>
          </a:prstGeom>
          <a:solidFill>
            <a:srgbClr val="DADBF1"/>
          </a:solidFill>
          <a:ln w="7620">
            <a:solidFill>
              <a:srgbClr val="C0C1D7"/>
            </a:solidFill>
            <a:prstDash val="solid"/>
          </a:ln>
        </p:spPr>
      </p:sp>
      <p:pic>
        <p:nvPicPr>
          <p:cNvPr id="23" name="Image 3" descr="preencoded.png">    </p:cNvPr>
          <p:cNvPicPr>
            <a:picLocks noChangeAspect="1"/>
          </p:cNvPicPr>
          <p:nvPr/>
        </p:nvPicPr>
        <p:blipFill>
          <a:blip r:embed="rId4"/>
          <a:stretch>
            <a:fillRect/>
          </a:stretch>
        </p:blipFill>
        <p:spPr>
          <a:xfrm>
            <a:off x="7197030" y="4368105"/>
            <a:ext cx="236339" cy="295394"/>
          </a:xfrm>
          <a:prstGeom prst="rect">
            <a:avLst/>
          </a:prstGeom>
        </p:spPr>
      </p:pic>
      <p:sp>
        <p:nvSpPr>
          <p:cNvPr id="24" name="Text 18"/>
          <p:cNvSpPr/>
          <p:nvPr/>
        </p:nvSpPr>
        <p:spPr>
          <a:xfrm>
            <a:off x="8070294" y="4326969"/>
            <a:ext cx="3430310" cy="246221"/>
          </a:xfrm>
          <a:prstGeom prst="rect">
            <a:avLst/>
          </a:prstGeom>
          <a:noFill/>
          <a:ln/>
        </p:spPr>
        <p:txBody>
          <a:bodyPr wrap="none" lIns="0" tIns="0" rIns="0" bIns="0" rtlCol="0" anchor="t"/>
          <a:lstStyle/>
          <a:p>
            <a:pPr algn="l" indent="0" marL="0">
              <a:lnSpc>
                <a:spcPts val="1900"/>
              </a:lnSpc>
              <a:buNone/>
            </a:pPr>
            <a:r>
              <a:rPr lang="en-US" sz="1550" b="1" spc="-47" kern="0" dirty="0">
                <a:solidFill>
                  <a:srgbClr val="272525"/>
                </a:solidFill>
                <a:latin typeface="Inter Bold" pitchFamily="34" charset="0"/>
                <a:ea typeface="Inter Bold" pitchFamily="34" charset="-122"/>
                <a:cs typeface="Inter Bold" pitchFamily="34" charset="-120"/>
              </a:rPr>
              <a:t>4. Training Data, Labels and Test Point</a:t>
            </a:r>
            <a:endParaRPr lang="en-US" sz="1550" dirty="0"/>
          </a:p>
        </p:txBody>
      </p:sp>
      <p:sp>
        <p:nvSpPr>
          <p:cNvPr id="25" name="Text 19"/>
          <p:cNvSpPr/>
          <p:nvPr/>
        </p:nvSpPr>
        <p:spPr>
          <a:xfrm>
            <a:off x="8070294" y="4663797"/>
            <a:ext cx="6031587" cy="482918"/>
          </a:xfrm>
          <a:prstGeom prst="rect">
            <a:avLst/>
          </a:prstGeom>
          <a:noFill/>
          <a:ln/>
        </p:spPr>
        <p:txBody>
          <a:bodyPr wrap="square" lIns="0" tIns="0" rIns="0" bIns="0" rtlCol="0" anchor="t"/>
          <a:lstStyle/>
          <a:p>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training_data = [[1, 2], [2, 3], [3, 4], [6, 7], [7, 8]] training_labels = ['A', 'A', 'A', 'B', 'B'] test_point = [4, 5] k = 3</a:t>
            </a:r>
            <a:endParaRPr lang="en-US" sz="1150" dirty="0"/>
          </a:p>
        </p:txBody>
      </p:sp>
      <p:sp>
        <p:nvSpPr>
          <p:cNvPr id="26" name="Shape 20"/>
          <p:cNvSpPr/>
          <p:nvPr/>
        </p:nvSpPr>
        <p:spPr>
          <a:xfrm>
            <a:off x="6707505" y="5506760"/>
            <a:ext cx="453033" cy="15240"/>
          </a:xfrm>
          <a:prstGeom prst="roundRect">
            <a:avLst>
              <a:gd name="adj" fmla="val 416218"/>
            </a:avLst>
          </a:prstGeom>
          <a:solidFill>
            <a:srgbClr val="C0C1D7"/>
          </a:solidFill>
          <a:ln/>
        </p:spPr>
      </p:sp>
      <p:sp>
        <p:nvSpPr>
          <p:cNvPr id="27" name="Shape 21"/>
          <p:cNvSpPr/>
          <p:nvPr/>
        </p:nvSpPr>
        <p:spPr>
          <a:xfrm>
            <a:off x="7145298" y="5344478"/>
            <a:ext cx="339804" cy="339804"/>
          </a:xfrm>
          <a:prstGeom prst="roundRect">
            <a:avLst>
              <a:gd name="adj" fmla="val 18667"/>
            </a:avLst>
          </a:prstGeom>
          <a:solidFill>
            <a:srgbClr val="DADBF1"/>
          </a:solidFill>
          <a:ln w="7620">
            <a:solidFill>
              <a:srgbClr val="C0C1D7"/>
            </a:solidFill>
            <a:prstDash val="solid"/>
          </a:ln>
        </p:spPr>
      </p:sp>
      <p:pic>
        <p:nvPicPr>
          <p:cNvPr id="28" name="Image 4" descr="preencoded.png">    </p:cNvPr>
          <p:cNvPicPr>
            <a:picLocks noChangeAspect="1"/>
          </p:cNvPicPr>
          <p:nvPr/>
        </p:nvPicPr>
        <p:blipFill>
          <a:blip r:embed="rId5"/>
          <a:stretch>
            <a:fillRect/>
          </a:stretch>
        </p:blipFill>
        <p:spPr>
          <a:xfrm>
            <a:off x="7197030" y="5366683"/>
            <a:ext cx="236339" cy="295394"/>
          </a:xfrm>
          <a:prstGeom prst="rect">
            <a:avLst/>
          </a:prstGeom>
        </p:spPr>
      </p:pic>
      <p:sp>
        <p:nvSpPr>
          <p:cNvPr id="29" name="Text 22"/>
          <p:cNvSpPr/>
          <p:nvPr/>
        </p:nvSpPr>
        <p:spPr>
          <a:xfrm>
            <a:off x="4375309" y="5325547"/>
            <a:ext cx="2184797" cy="246221"/>
          </a:xfrm>
          <a:prstGeom prst="rect">
            <a:avLst/>
          </a:prstGeom>
          <a:noFill/>
          <a:ln/>
        </p:spPr>
        <p:txBody>
          <a:bodyPr wrap="none" lIns="0" tIns="0" rIns="0" bIns="0" rtlCol="0" anchor="t"/>
          <a:lstStyle/>
          <a:p>
            <a:pPr algn="r" indent="0" marL="0">
              <a:lnSpc>
                <a:spcPts val="1900"/>
              </a:lnSpc>
              <a:buNone/>
            </a:pPr>
            <a:r>
              <a:rPr lang="en-US" sz="1550" b="1" spc="-47" kern="0" dirty="0">
                <a:solidFill>
                  <a:srgbClr val="272525"/>
                </a:solidFill>
                <a:latin typeface="Inter Bold" pitchFamily="34" charset="0"/>
                <a:ea typeface="Inter Bold" pitchFamily="34" charset="-122"/>
                <a:cs typeface="Inter Bold" pitchFamily="34" charset="-120"/>
              </a:rPr>
              <a:t>5. Prediction and Output</a:t>
            </a:r>
            <a:endParaRPr lang="en-US" sz="1550" dirty="0"/>
          </a:p>
        </p:txBody>
      </p:sp>
      <p:sp>
        <p:nvSpPr>
          <p:cNvPr id="30" name="Text 23"/>
          <p:cNvSpPr/>
          <p:nvPr/>
        </p:nvSpPr>
        <p:spPr>
          <a:xfrm>
            <a:off x="528518" y="5662374"/>
            <a:ext cx="6031587" cy="241459"/>
          </a:xfrm>
          <a:prstGeom prst="rect">
            <a:avLst/>
          </a:prstGeom>
          <a:noFill/>
          <a:ln/>
        </p:spPr>
        <p:txBody>
          <a:bodyPr wrap="none" lIns="0" tIns="0" rIns="0" bIns="0" rtlCol="0" anchor="t"/>
          <a:lstStyle/>
          <a:p>
            <a:pPr algn="r" indent="0" marL="0">
              <a:lnSpc>
                <a:spcPts val="1900"/>
              </a:lnSpc>
              <a:buNone/>
            </a:pPr>
            <a:r>
              <a:rPr lang="en-US" sz="1150" spc="-24" kern="0" dirty="0">
                <a:solidFill>
                  <a:srgbClr val="272525"/>
                </a:solidFill>
                <a:latin typeface="Inter" pitchFamily="34" charset="0"/>
                <a:ea typeface="Inter" pitchFamily="34" charset="-122"/>
                <a:cs typeface="Inter" pitchFamily="34" charset="-120"/>
              </a:rPr>
              <a:t>prediction = knn_predict(training_data, training_labels, test_point, k) print(prediction)</a:t>
            </a:r>
            <a:endParaRPr lang="en-US" sz="1150" dirty="0"/>
          </a:p>
        </p:txBody>
      </p:sp>
      <p:sp>
        <p:nvSpPr>
          <p:cNvPr id="31" name="Text 24"/>
          <p:cNvSpPr/>
          <p:nvPr/>
        </p:nvSpPr>
        <p:spPr>
          <a:xfrm>
            <a:off x="528518" y="5994440"/>
            <a:ext cx="6031587" cy="241459"/>
          </a:xfrm>
          <a:prstGeom prst="rect">
            <a:avLst/>
          </a:prstGeom>
          <a:noFill/>
          <a:ln/>
        </p:spPr>
        <p:txBody>
          <a:bodyPr wrap="none" lIns="0" tIns="0" rIns="0" bIns="0" rtlCol="0" anchor="t"/>
          <a:lstStyle/>
          <a:p>
            <a:pPr algn="r" indent="0" marL="0">
              <a:lnSpc>
                <a:spcPts val="1900"/>
              </a:lnSpc>
              <a:buNone/>
            </a:pPr>
            <a:r>
              <a:rPr lang="en-US" sz="1150" b="1" spc="-24" kern="0" dirty="0">
                <a:solidFill>
                  <a:srgbClr val="272525"/>
                </a:solidFill>
                <a:latin typeface="Inter" pitchFamily="34" charset="0"/>
                <a:ea typeface="Inter" pitchFamily="34" charset="-122"/>
                <a:cs typeface="Inter" pitchFamily="34" charset="-120"/>
              </a:rPr>
              <a:t>Output:</a:t>
            </a:r>
            <a:pPr algn="r" indent="0" marL="0">
              <a:lnSpc>
                <a:spcPts val="1900"/>
              </a:lnSpc>
              <a:buNone/>
            </a:pPr>
            <a:r>
              <a:rPr lang="en-US" sz="1150" spc="-24" kern="0" dirty="0">
                <a:solidFill>
                  <a:srgbClr val="272525"/>
                </a:solidFill>
                <a:latin typeface="Inter" pitchFamily="34" charset="0"/>
                <a:ea typeface="Inter" pitchFamily="34" charset="-122"/>
                <a:cs typeface="Inter" pitchFamily="34" charset="-120"/>
              </a:rPr>
              <a:t> A</a:t>
            </a:r>
            <a:endParaRPr lang="en-US" sz="1150" dirty="0"/>
          </a:p>
        </p:txBody>
      </p:sp>
      <p:sp>
        <p:nvSpPr>
          <p:cNvPr id="32" name="Text 25"/>
          <p:cNvSpPr/>
          <p:nvPr/>
        </p:nvSpPr>
        <p:spPr>
          <a:xfrm>
            <a:off x="528518" y="6556772"/>
            <a:ext cx="13573363" cy="482918"/>
          </a:xfrm>
          <a:prstGeom prst="rect">
            <a:avLst/>
          </a:prstGeom>
          <a:noFill/>
          <a:ln/>
        </p:spPr>
        <p:txBody>
          <a:bodyPr wrap="square" lIns="0" tIns="0" rIns="0" bIns="0" rtlCol="0" anchor="t"/>
          <a:lstStyle/>
          <a:p>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The algorithm calculates the distances of the test point [4, 5] to all training points, selects the 3 closest points (as k = 3), and determines their labels. Since the majority of the closest points are labelled </a:t>
            </a:r>
            <a:pPr algn="l" indent="0" marL="0">
              <a:lnSpc>
                <a:spcPts val="1900"/>
              </a:lnSpc>
              <a:buNone/>
            </a:pPr>
            <a:r>
              <a:rPr lang="en-US" sz="1150" b="1" spc="-24" kern="0" dirty="0">
                <a:solidFill>
                  <a:srgbClr val="272525"/>
                </a:solidFill>
                <a:latin typeface="Inter" pitchFamily="34" charset="0"/>
                <a:ea typeface="Inter" pitchFamily="34" charset="-122"/>
                <a:cs typeface="Inter" pitchFamily="34" charset="-120"/>
              </a:rPr>
              <a:t>'A'</a:t>
            </a:r>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 the test point is classified as </a:t>
            </a:r>
            <a:pPr algn="l" indent="0" marL="0">
              <a:lnSpc>
                <a:spcPts val="1900"/>
              </a:lnSpc>
              <a:buNone/>
            </a:pPr>
            <a:r>
              <a:rPr lang="en-US" sz="1150" b="1" spc="-24" kern="0" dirty="0">
                <a:solidFill>
                  <a:srgbClr val="272525"/>
                </a:solidFill>
                <a:latin typeface="Inter" pitchFamily="34" charset="0"/>
                <a:ea typeface="Inter" pitchFamily="34" charset="-122"/>
                <a:cs typeface="Inter" pitchFamily="34" charset="-120"/>
              </a:rPr>
              <a:t>'A'</a:t>
            </a:r>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a:t>
            </a:r>
            <a:endParaRPr lang="en-US" sz="1150" dirty="0"/>
          </a:p>
        </p:txBody>
      </p:sp>
      <p:sp>
        <p:nvSpPr>
          <p:cNvPr id="33" name="Text 26"/>
          <p:cNvSpPr/>
          <p:nvPr/>
        </p:nvSpPr>
        <p:spPr>
          <a:xfrm>
            <a:off x="528518" y="7209592"/>
            <a:ext cx="13573363" cy="482918"/>
          </a:xfrm>
          <a:prstGeom prst="rect">
            <a:avLst/>
          </a:prstGeom>
          <a:noFill/>
          <a:ln/>
        </p:spPr>
        <p:txBody>
          <a:bodyPr wrap="square" lIns="0" tIns="0" rIns="0" bIns="0" rtlCol="0" anchor="t"/>
          <a:lstStyle/>
          <a:p>
            <a:pPr algn="l" indent="0" marL="0">
              <a:lnSpc>
                <a:spcPts val="1900"/>
              </a:lnSpc>
              <a:buNone/>
            </a:pPr>
            <a:r>
              <a:rPr lang="en-US" sz="1150" spc="-24" kern="0" dirty="0">
                <a:solidFill>
                  <a:srgbClr val="272525"/>
                </a:solidFill>
                <a:latin typeface="Inter" pitchFamily="34" charset="0"/>
                <a:ea typeface="Inter" pitchFamily="34" charset="-122"/>
                <a:cs typeface="Inter" pitchFamily="34" charset="-120"/>
              </a:rPr>
              <a:t>In machine learning we can also use Scikit Learn python library which has in built functions to perform KNN machine learning model and for that you refer to Implementation of KNN classifier using Sklearn.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0333" y="625673"/>
            <a:ext cx="9068991" cy="708422"/>
          </a:xfrm>
          <a:prstGeom prst="rect">
            <a:avLst/>
          </a:prstGeom>
          <a:noFill/>
          <a:ln/>
        </p:spPr>
        <p:txBody>
          <a:bodyPr wrap="none" lIns="0" tIns="0" rIns="0" bIns="0" rtlCol="0" anchor="t"/>
          <a:lstStyle/>
          <a:p>
            <a:pPr algn="l"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KNN Prediction Function Explained</a:t>
            </a:r>
            <a:endParaRPr lang="en-US" sz="4450" dirty="0"/>
          </a:p>
        </p:txBody>
      </p:sp>
      <p:pic>
        <p:nvPicPr>
          <p:cNvPr id="3" name="Image 0" descr="preencoded.png">    </p:cNvPr>
          <p:cNvPicPr>
            <a:picLocks noChangeAspect="1"/>
          </p:cNvPicPr>
          <p:nvPr/>
        </p:nvPicPr>
        <p:blipFill>
          <a:blip r:embed="rId1"/>
          <a:stretch>
            <a:fillRect/>
          </a:stretch>
        </p:blipFill>
        <p:spPr>
          <a:xfrm>
            <a:off x="760333" y="1768554"/>
            <a:ext cx="1086326" cy="1614130"/>
          </a:xfrm>
          <a:prstGeom prst="rect">
            <a:avLst/>
          </a:prstGeom>
        </p:spPr>
      </p:pic>
      <p:sp>
        <p:nvSpPr>
          <p:cNvPr id="4" name="Text 1"/>
          <p:cNvSpPr/>
          <p:nvPr/>
        </p:nvSpPr>
        <p:spPr>
          <a:xfrm>
            <a:off x="2172533" y="1985724"/>
            <a:ext cx="2833926" cy="354211"/>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distances.append</a:t>
            </a:r>
            <a:endParaRPr lang="en-US" sz="2200" dirty="0"/>
          </a:p>
        </p:txBody>
      </p:sp>
      <p:sp>
        <p:nvSpPr>
          <p:cNvPr id="5" name="Text 2"/>
          <p:cNvSpPr/>
          <p:nvPr/>
        </p:nvSpPr>
        <p:spPr>
          <a:xfrm>
            <a:off x="2172533" y="2470190"/>
            <a:ext cx="11697533" cy="695325"/>
          </a:xfrm>
          <a:prstGeom prst="rect">
            <a:avLst/>
          </a:prstGeom>
          <a:noFill/>
          <a:ln/>
        </p:spPr>
        <p:txBody>
          <a:bodyPr wrap="square" lIns="0" tIns="0" rIns="0" bIns="0" rtlCol="0" anchor="t"/>
          <a:lstStyle/>
          <a:p>
            <a:pPr algn="l" indent="0" marL="0">
              <a:lnSpc>
                <a:spcPts val="2700"/>
              </a:lnSpc>
              <a:buNone/>
            </a:pPr>
            <a:r>
              <a:rPr lang="en-US" sz="1700" spc="-34" kern="0" dirty="0">
                <a:solidFill>
                  <a:srgbClr val="272525"/>
                </a:solidFill>
                <a:latin typeface="Inter" pitchFamily="34" charset="0"/>
                <a:ea typeface="Inter" pitchFamily="34" charset="-122"/>
                <a:cs typeface="Inter" pitchFamily="34" charset="-120"/>
              </a:rPr>
              <a:t>Each distance is paired with the corresponding label (training_labels[i]) of the training data. This pair is stored in a list called distances.</a:t>
            </a:r>
            <a:endParaRPr lang="en-US" sz="1700" dirty="0"/>
          </a:p>
        </p:txBody>
      </p:sp>
      <p:pic>
        <p:nvPicPr>
          <p:cNvPr id="6" name="Image 1" descr="preencoded.png">    </p:cNvPr>
          <p:cNvPicPr>
            <a:picLocks noChangeAspect="1"/>
          </p:cNvPicPr>
          <p:nvPr/>
        </p:nvPicPr>
        <p:blipFill>
          <a:blip r:embed="rId2"/>
          <a:stretch>
            <a:fillRect/>
          </a:stretch>
        </p:blipFill>
        <p:spPr>
          <a:xfrm>
            <a:off x="760333" y="3382685"/>
            <a:ext cx="1086326" cy="1303496"/>
          </a:xfrm>
          <a:prstGeom prst="rect">
            <a:avLst/>
          </a:prstGeom>
        </p:spPr>
      </p:pic>
      <p:sp>
        <p:nvSpPr>
          <p:cNvPr id="7" name="Text 3"/>
          <p:cNvSpPr/>
          <p:nvPr/>
        </p:nvSpPr>
        <p:spPr>
          <a:xfrm>
            <a:off x="2172533" y="3599855"/>
            <a:ext cx="2833926" cy="354211"/>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distances.sort</a:t>
            </a:r>
            <a:endParaRPr lang="en-US" sz="2200" dirty="0"/>
          </a:p>
        </p:txBody>
      </p:sp>
      <p:sp>
        <p:nvSpPr>
          <p:cNvPr id="8" name="Text 4"/>
          <p:cNvSpPr/>
          <p:nvPr/>
        </p:nvSpPr>
        <p:spPr>
          <a:xfrm>
            <a:off x="2172533" y="4084320"/>
            <a:ext cx="11697533" cy="347663"/>
          </a:xfrm>
          <a:prstGeom prst="rect">
            <a:avLst/>
          </a:prstGeom>
          <a:noFill/>
          <a:ln/>
        </p:spPr>
        <p:txBody>
          <a:bodyPr wrap="none" lIns="0" tIns="0" rIns="0" bIns="0" rtlCol="0" anchor="t"/>
          <a:lstStyle/>
          <a:p>
            <a:pPr algn="l" indent="0" marL="0">
              <a:lnSpc>
                <a:spcPts val="2700"/>
              </a:lnSpc>
              <a:buNone/>
            </a:pPr>
            <a:r>
              <a:rPr lang="en-US" sz="1700" spc="-34" kern="0" dirty="0">
                <a:solidFill>
                  <a:srgbClr val="272525"/>
                </a:solidFill>
                <a:latin typeface="Inter" pitchFamily="34" charset="0"/>
                <a:ea typeface="Inter" pitchFamily="34" charset="-122"/>
                <a:cs typeface="Inter" pitchFamily="34" charset="-120"/>
              </a:rPr>
              <a:t>The list of distances is sorted in ascending order so that the closest points are at the beginning of the list.</a:t>
            </a:r>
            <a:endParaRPr lang="en-US" sz="1700" dirty="0"/>
          </a:p>
        </p:txBody>
      </p:sp>
      <p:pic>
        <p:nvPicPr>
          <p:cNvPr id="9" name="Image 2" descr="preencoded.png">    </p:cNvPr>
          <p:cNvPicPr>
            <a:picLocks noChangeAspect="1"/>
          </p:cNvPicPr>
          <p:nvPr/>
        </p:nvPicPr>
        <p:blipFill>
          <a:blip r:embed="rId3"/>
          <a:stretch>
            <a:fillRect/>
          </a:stretch>
        </p:blipFill>
        <p:spPr>
          <a:xfrm>
            <a:off x="760333" y="4686181"/>
            <a:ext cx="1086326" cy="1303496"/>
          </a:xfrm>
          <a:prstGeom prst="rect">
            <a:avLst/>
          </a:prstGeom>
        </p:spPr>
      </p:pic>
      <p:sp>
        <p:nvSpPr>
          <p:cNvPr id="10" name="Text 5"/>
          <p:cNvSpPr/>
          <p:nvPr/>
        </p:nvSpPr>
        <p:spPr>
          <a:xfrm>
            <a:off x="2172533" y="4903351"/>
            <a:ext cx="2833926" cy="354211"/>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k_nearest_labels</a:t>
            </a:r>
            <a:endParaRPr lang="en-US" sz="2200" dirty="0"/>
          </a:p>
        </p:txBody>
      </p:sp>
      <p:sp>
        <p:nvSpPr>
          <p:cNvPr id="11" name="Text 6"/>
          <p:cNvSpPr/>
          <p:nvPr/>
        </p:nvSpPr>
        <p:spPr>
          <a:xfrm>
            <a:off x="2172533" y="5387816"/>
            <a:ext cx="11697533" cy="347663"/>
          </a:xfrm>
          <a:prstGeom prst="rect">
            <a:avLst/>
          </a:prstGeom>
          <a:noFill/>
          <a:ln/>
        </p:spPr>
        <p:txBody>
          <a:bodyPr wrap="none" lIns="0" tIns="0" rIns="0" bIns="0" rtlCol="0" anchor="t"/>
          <a:lstStyle/>
          <a:p>
            <a:pPr algn="l" indent="0" marL="0">
              <a:lnSpc>
                <a:spcPts val="2700"/>
              </a:lnSpc>
              <a:buNone/>
            </a:pPr>
            <a:r>
              <a:rPr lang="en-US" sz="1700" spc="-34" kern="0" dirty="0">
                <a:solidFill>
                  <a:srgbClr val="272525"/>
                </a:solidFill>
                <a:latin typeface="Inter" pitchFamily="34" charset="0"/>
                <a:ea typeface="Inter" pitchFamily="34" charset="-122"/>
                <a:cs typeface="Inter" pitchFamily="34" charset="-120"/>
              </a:rPr>
              <a:t>The function then selects the labels of the k closest neighbors.</a:t>
            </a:r>
            <a:endParaRPr lang="en-US" sz="1700" dirty="0"/>
          </a:p>
        </p:txBody>
      </p:sp>
      <p:pic>
        <p:nvPicPr>
          <p:cNvPr id="12" name="Image 3" descr="preencoded.png">    </p:cNvPr>
          <p:cNvPicPr>
            <a:picLocks noChangeAspect="1"/>
          </p:cNvPicPr>
          <p:nvPr/>
        </p:nvPicPr>
        <p:blipFill>
          <a:blip r:embed="rId4"/>
          <a:stretch>
            <a:fillRect/>
          </a:stretch>
        </p:blipFill>
        <p:spPr>
          <a:xfrm>
            <a:off x="760333" y="5989677"/>
            <a:ext cx="1086326" cy="1614130"/>
          </a:xfrm>
          <a:prstGeom prst="rect">
            <a:avLst/>
          </a:prstGeom>
        </p:spPr>
      </p:pic>
      <p:sp>
        <p:nvSpPr>
          <p:cNvPr id="13" name="Text 7"/>
          <p:cNvSpPr/>
          <p:nvPr/>
        </p:nvSpPr>
        <p:spPr>
          <a:xfrm>
            <a:off x="2172533" y="6206847"/>
            <a:ext cx="3617357" cy="354211"/>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Counter and most_common</a:t>
            </a:r>
            <a:endParaRPr lang="en-US" sz="2200" dirty="0"/>
          </a:p>
        </p:txBody>
      </p:sp>
      <p:sp>
        <p:nvSpPr>
          <p:cNvPr id="14" name="Text 8"/>
          <p:cNvSpPr/>
          <p:nvPr/>
        </p:nvSpPr>
        <p:spPr>
          <a:xfrm>
            <a:off x="2172533" y="6691313"/>
            <a:ext cx="11697533" cy="695325"/>
          </a:xfrm>
          <a:prstGeom prst="rect">
            <a:avLst/>
          </a:prstGeom>
          <a:noFill/>
          <a:ln/>
        </p:spPr>
        <p:txBody>
          <a:bodyPr wrap="square" lIns="0" tIns="0" rIns="0" bIns="0" rtlCol="0" anchor="t"/>
          <a:lstStyle/>
          <a:p>
            <a:pPr algn="l" indent="0" marL="0">
              <a:lnSpc>
                <a:spcPts val="2700"/>
              </a:lnSpc>
              <a:buNone/>
            </a:pPr>
            <a:r>
              <a:rPr lang="en-US" sz="1700" spc="-34" kern="0" dirty="0">
                <a:solidFill>
                  <a:srgbClr val="272525"/>
                </a:solidFill>
                <a:latin typeface="Inter" pitchFamily="34" charset="0"/>
                <a:ea typeface="Inter" pitchFamily="34" charset="-122"/>
                <a:cs typeface="Inter" pitchFamily="34" charset="-120"/>
              </a:rPr>
              <a:t>The labels of the k nearest neighbors are counted using the Counter class, and the most frequent label is returned as the prediction for the test_point. This is based on the majority vote of the k neighbors.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897" y="549116"/>
            <a:ext cx="8235077" cy="651272"/>
          </a:xfrm>
          <a:prstGeom prst="rect">
            <a:avLst/>
          </a:prstGeom>
          <a:noFill/>
          <a:ln/>
        </p:spPr>
        <p:txBody>
          <a:bodyPr wrap="none" lIns="0" tIns="0" rIns="0" bIns="0" rtlCol="0" anchor="t"/>
          <a:lstStyle/>
          <a:p>
            <a:pPr algn="l" indent="0" marL="0">
              <a:lnSpc>
                <a:spcPts val="5100"/>
              </a:lnSpc>
              <a:buNone/>
            </a:pPr>
            <a:r>
              <a:rPr lang="en-US" sz="4100" b="1" spc="-123" kern="0" dirty="0">
                <a:solidFill>
                  <a:srgbClr val="000000"/>
                </a:solidFill>
                <a:latin typeface="Inter Bold" pitchFamily="34" charset="0"/>
                <a:ea typeface="Inter Bold" pitchFamily="34" charset="-122"/>
                <a:cs typeface="Inter Bold" pitchFamily="34" charset="-120"/>
              </a:rPr>
              <a:t>Applications of the KNN Algorithm</a:t>
            </a:r>
            <a:endParaRPr lang="en-US" sz="4100" dirty="0"/>
          </a:p>
        </p:txBody>
      </p:sp>
      <p:pic>
        <p:nvPicPr>
          <p:cNvPr id="3" name="Image 0" descr="preencoded.png">    </p:cNvPr>
          <p:cNvPicPr>
            <a:picLocks noChangeAspect="1"/>
          </p:cNvPicPr>
          <p:nvPr/>
        </p:nvPicPr>
        <p:blipFill>
          <a:blip r:embed="rId1"/>
          <a:stretch>
            <a:fillRect/>
          </a:stretch>
        </p:blipFill>
        <p:spPr>
          <a:xfrm>
            <a:off x="698897" y="1599724"/>
            <a:ext cx="3083481" cy="1905714"/>
          </a:xfrm>
          <a:prstGeom prst="rect">
            <a:avLst/>
          </a:prstGeom>
        </p:spPr>
      </p:pic>
      <p:sp>
        <p:nvSpPr>
          <p:cNvPr id="4" name="Text 1"/>
          <p:cNvSpPr/>
          <p:nvPr/>
        </p:nvSpPr>
        <p:spPr>
          <a:xfrm>
            <a:off x="698897" y="3754993"/>
            <a:ext cx="3083481" cy="651272"/>
          </a:xfrm>
          <a:prstGeom prst="rect">
            <a:avLst/>
          </a:prstGeom>
          <a:noFill/>
          <a:ln/>
        </p:spPr>
        <p:txBody>
          <a:bodyPr wrap="squar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Recommendation Systems</a:t>
            </a:r>
            <a:endParaRPr lang="en-US" sz="2050" dirty="0"/>
          </a:p>
        </p:txBody>
      </p:sp>
      <p:sp>
        <p:nvSpPr>
          <p:cNvPr id="5" name="Text 2"/>
          <p:cNvSpPr/>
          <p:nvPr/>
        </p:nvSpPr>
        <p:spPr>
          <a:xfrm>
            <a:off x="698897" y="4526042"/>
            <a:ext cx="3083481" cy="2875002"/>
          </a:xfrm>
          <a:prstGeom prst="rect">
            <a:avLst/>
          </a:prstGeom>
          <a:noFill/>
          <a:ln/>
        </p:spPr>
        <p:txBody>
          <a:bodyPr wrap="square" lIns="0" tIns="0" rIns="0" bIns="0" rtlCol="0" anchor="t"/>
          <a:lstStyle/>
          <a:p>
            <a:pPr algn="l" indent="0" marL="0">
              <a:lnSpc>
                <a:spcPts val="2500"/>
              </a:lnSpc>
              <a:buNone/>
            </a:pPr>
            <a:r>
              <a:rPr lang="en-US" sz="1550" spc="-31" kern="0" dirty="0">
                <a:solidFill>
                  <a:srgbClr val="272525"/>
                </a:solidFill>
                <a:latin typeface="Inter" pitchFamily="34" charset="0"/>
                <a:ea typeface="Inter" pitchFamily="34" charset="-122"/>
                <a:cs typeface="Inter" pitchFamily="34" charset="-120"/>
              </a:rPr>
              <a:t>Many recommendation systems, such as those used by Netflix or Amazon, rely on KNN to suggest products or content. KNN observes at user behavior and finds similar users. If user A and user B have similar preferences, KNN might recommend movies that user A liked to user B.</a:t>
            </a:r>
            <a:endParaRPr lang="en-US" sz="1550" dirty="0"/>
          </a:p>
        </p:txBody>
      </p:sp>
      <p:pic>
        <p:nvPicPr>
          <p:cNvPr id="6" name="Image 1" descr="preencoded.png">    </p:cNvPr>
          <p:cNvPicPr>
            <a:picLocks noChangeAspect="1"/>
          </p:cNvPicPr>
          <p:nvPr/>
        </p:nvPicPr>
        <p:blipFill>
          <a:blip r:embed="rId2"/>
          <a:stretch>
            <a:fillRect/>
          </a:stretch>
        </p:blipFill>
        <p:spPr>
          <a:xfrm>
            <a:off x="4081939" y="1599724"/>
            <a:ext cx="3083481" cy="1905714"/>
          </a:xfrm>
          <a:prstGeom prst="rect">
            <a:avLst/>
          </a:prstGeom>
        </p:spPr>
      </p:pic>
      <p:sp>
        <p:nvSpPr>
          <p:cNvPr id="7" name="Text 3"/>
          <p:cNvSpPr/>
          <p:nvPr/>
        </p:nvSpPr>
        <p:spPr>
          <a:xfrm>
            <a:off x="4081939" y="3754993"/>
            <a:ext cx="2604849" cy="325636"/>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Spam Detection</a:t>
            </a:r>
            <a:endParaRPr lang="en-US" sz="2050" dirty="0"/>
          </a:p>
        </p:txBody>
      </p:sp>
      <p:sp>
        <p:nvSpPr>
          <p:cNvPr id="8" name="Text 4"/>
          <p:cNvSpPr/>
          <p:nvPr/>
        </p:nvSpPr>
        <p:spPr>
          <a:xfrm>
            <a:off x="4081939" y="4200406"/>
            <a:ext cx="3083481" cy="2236113"/>
          </a:xfrm>
          <a:prstGeom prst="rect">
            <a:avLst/>
          </a:prstGeom>
          <a:noFill/>
          <a:ln/>
        </p:spPr>
        <p:txBody>
          <a:bodyPr wrap="square" lIns="0" tIns="0" rIns="0" bIns="0" rtlCol="0" anchor="t"/>
          <a:lstStyle/>
          <a:p>
            <a:pPr algn="l" indent="0" marL="0">
              <a:lnSpc>
                <a:spcPts val="2500"/>
              </a:lnSpc>
              <a:buNone/>
            </a:pPr>
            <a:r>
              <a:rPr lang="en-US" sz="1550" spc="-31" kern="0" dirty="0">
                <a:solidFill>
                  <a:srgbClr val="272525"/>
                </a:solidFill>
                <a:latin typeface="Inter" pitchFamily="34" charset="0"/>
                <a:ea typeface="Inter" pitchFamily="34" charset="-122"/>
                <a:cs typeface="Inter" pitchFamily="34" charset="-120"/>
              </a:rPr>
              <a:t>KNN is widely used in filtering spam emails. By comparing the features of a new email with those of previously labeled spam and non-spam emails, KNN can predict whether a new email is spam or not.</a:t>
            </a:r>
            <a:endParaRPr lang="en-US" sz="1550" dirty="0"/>
          </a:p>
        </p:txBody>
      </p:sp>
      <p:pic>
        <p:nvPicPr>
          <p:cNvPr id="9" name="Image 2" descr="preencoded.png">    </p:cNvPr>
          <p:cNvPicPr>
            <a:picLocks noChangeAspect="1"/>
          </p:cNvPicPr>
          <p:nvPr/>
        </p:nvPicPr>
        <p:blipFill>
          <a:blip r:embed="rId3"/>
          <a:stretch>
            <a:fillRect/>
          </a:stretch>
        </p:blipFill>
        <p:spPr>
          <a:xfrm>
            <a:off x="7464981" y="1599724"/>
            <a:ext cx="3083481" cy="1905714"/>
          </a:xfrm>
          <a:prstGeom prst="rect">
            <a:avLst/>
          </a:prstGeom>
        </p:spPr>
      </p:pic>
      <p:sp>
        <p:nvSpPr>
          <p:cNvPr id="10" name="Text 5"/>
          <p:cNvSpPr/>
          <p:nvPr/>
        </p:nvSpPr>
        <p:spPr>
          <a:xfrm>
            <a:off x="7464981" y="3754993"/>
            <a:ext cx="2930009" cy="325636"/>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Customer Segmentation</a:t>
            </a:r>
            <a:endParaRPr lang="en-US" sz="2050" dirty="0"/>
          </a:p>
        </p:txBody>
      </p:sp>
      <p:sp>
        <p:nvSpPr>
          <p:cNvPr id="11" name="Text 6"/>
          <p:cNvSpPr/>
          <p:nvPr/>
        </p:nvSpPr>
        <p:spPr>
          <a:xfrm>
            <a:off x="7464981" y="4200406"/>
            <a:ext cx="3083481" cy="3513892"/>
          </a:xfrm>
          <a:prstGeom prst="rect">
            <a:avLst/>
          </a:prstGeom>
          <a:noFill/>
          <a:ln/>
        </p:spPr>
        <p:txBody>
          <a:bodyPr wrap="square" lIns="0" tIns="0" rIns="0" bIns="0" rtlCol="0" anchor="t"/>
          <a:lstStyle/>
          <a:p>
            <a:pPr algn="l" indent="0" marL="0">
              <a:lnSpc>
                <a:spcPts val="2500"/>
              </a:lnSpc>
              <a:buNone/>
            </a:pPr>
            <a:r>
              <a:rPr lang="en-US" sz="1550" spc="-31" kern="0" dirty="0">
                <a:solidFill>
                  <a:srgbClr val="272525"/>
                </a:solidFill>
                <a:latin typeface="Inter" pitchFamily="34" charset="0"/>
                <a:ea typeface="Inter" pitchFamily="34" charset="-122"/>
                <a:cs typeface="Inter" pitchFamily="34" charset="-120"/>
              </a:rPr>
              <a:t>In marketing firms, KNN is used to segment customers based on their purchasing behavior. By comparing new customers to existing customers, KNN can easily group customers into segments with similar choices and preferences. This helps businesses target the right customers with right products or advertisements.</a:t>
            </a:r>
            <a:endParaRPr lang="en-US" sz="1550" dirty="0"/>
          </a:p>
        </p:txBody>
      </p:sp>
      <p:pic>
        <p:nvPicPr>
          <p:cNvPr id="12" name="Image 3" descr="preencoded.png">    </p:cNvPr>
          <p:cNvPicPr>
            <a:picLocks noChangeAspect="1"/>
          </p:cNvPicPr>
          <p:nvPr/>
        </p:nvPicPr>
        <p:blipFill>
          <a:blip r:embed="rId4"/>
          <a:stretch>
            <a:fillRect/>
          </a:stretch>
        </p:blipFill>
        <p:spPr>
          <a:xfrm>
            <a:off x="10848023" y="1599724"/>
            <a:ext cx="3083481" cy="1905714"/>
          </a:xfrm>
          <a:prstGeom prst="rect">
            <a:avLst/>
          </a:prstGeom>
        </p:spPr>
      </p:pic>
      <p:sp>
        <p:nvSpPr>
          <p:cNvPr id="13" name="Text 7"/>
          <p:cNvSpPr/>
          <p:nvPr/>
        </p:nvSpPr>
        <p:spPr>
          <a:xfrm>
            <a:off x="10848023" y="3754993"/>
            <a:ext cx="2604849" cy="325636"/>
          </a:xfrm>
          <a:prstGeom prst="rect">
            <a:avLst/>
          </a:prstGeom>
          <a:noFill/>
          <a:ln/>
        </p:spPr>
        <p:txBody>
          <a:bodyPr wrap="none" lIns="0" tIns="0" rIns="0" bIns="0" rtlCol="0" anchor="t"/>
          <a:lstStyle/>
          <a:p>
            <a:pPr algn="l" indent="0" marL="0">
              <a:lnSpc>
                <a:spcPts val="2550"/>
              </a:lnSpc>
              <a:buNone/>
            </a:pPr>
            <a:r>
              <a:rPr lang="en-US" sz="2050" b="1" spc="-62" kern="0" dirty="0">
                <a:solidFill>
                  <a:srgbClr val="272525"/>
                </a:solidFill>
                <a:latin typeface="Inter Bold" pitchFamily="34" charset="0"/>
                <a:ea typeface="Inter Bold" pitchFamily="34" charset="-122"/>
                <a:cs typeface="Inter Bold" pitchFamily="34" charset="-120"/>
              </a:rPr>
              <a:t>Speech Recognition</a:t>
            </a:r>
            <a:endParaRPr lang="en-US" sz="2050" dirty="0"/>
          </a:p>
        </p:txBody>
      </p:sp>
      <p:sp>
        <p:nvSpPr>
          <p:cNvPr id="14" name="Text 8"/>
          <p:cNvSpPr/>
          <p:nvPr/>
        </p:nvSpPr>
        <p:spPr>
          <a:xfrm>
            <a:off x="10848023" y="4200406"/>
            <a:ext cx="3083481" cy="2875002"/>
          </a:xfrm>
          <a:prstGeom prst="rect">
            <a:avLst/>
          </a:prstGeom>
          <a:noFill/>
          <a:ln/>
        </p:spPr>
        <p:txBody>
          <a:bodyPr wrap="square" lIns="0" tIns="0" rIns="0" bIns="0" rtlCol="0" anchor="t"/>
          <a:lstStyle/>
          <a:p>
            <a:pPr algn="l" indent="0" marL="0">
              <a:lnSpc>
                <a:spcPts val="2500"/>
              </a:lnSpc>
              <a:buNone/>
            </a:pPr>
            <a:r>
              <a:rPr lang="en-US" sz="1550" spc="-31" kern="0" dirty="0">
                <a:solidFill>
                  <a:srgbClr val="272525"/>
                </a:solidFill>
                <a:latin typeface="Inter" pitchFamily="34" charset="0"/>
                <a:ea typeface="Inter" pitchFamily="34" charset="-122"/>
                <a:cs typeface="Inter" pitchFamily="34" charset="-120"/>
              </a:rPr>
              <a:t>KNN is often used in speech recognition systems to transcribe spoken words into text. The algorithm compares the features of the spoken input with those of known speech patterns. It then predicts the most likely word or command based on the closest matches.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4037" y="933450"/>
            <a:ext cx="10049589" cy="804982"/>
          </a:xfrm>
          <a:prstGeom prst="rect">
            <a:avLst/>
          </a:prstGeom>
          <a:noFill/>
          <a:ln/>
        </p:spPr>
        <p:txBody>
          <a:bodyPr wrap="none" lIns="0" tIns="0" rIns="0" bIns="0" rtlCol="0" anchor="t"/>
          <a:lstStyle/>
          <a:p>
            <a:pPr algn="l" indent="0" marL="0">
              <a:lnSpc>
                <a:spcPts val="6300"/>
              </a:lnSpc>
              <a:buNone/>
            </a:pPr>
            <a:r>
              <a:rPr lang="en-US" sz="5050" b="1" spc="-152" kern="0" dirty="0">
                <a:solidFill>
                  <a:srgbClr val="000000"/>
                </a:solidFill>
                <a:latin typeface="Inter Bold" pitchFamily="34" charset="0"/>
                <a:ea typeface="Inter Bold" pitchFamily="34" charset="-122"/>
                <a:cs typeface="Inter Bold" pitchFamily="34" charset="-120"/>
              </a:rPr>
              <a:t>Advantages of the KNN Algorithm</a:t>
            </a:r>
            <a:endParaRPr lang="en-US" sz="5050" dirty="0"/>
          </a:p>
        </p:txBody>
      </p:sp>
      <p:sp>
        <p:nvSpPr>
          <p:cNvPr id="3" name="Shape 1"/>
          <p:cNvSpPr/>
          <p:nvPr/>
        </p:nvSpPr>
        <p:spPr>
          <a:xfrm>
            <a:off x="864037" y="2509838"/>
            <a:ext cx="555427" cy="555427"/>
          </a:xfrm>
          <a:prstGeom prst="roundRect">
            <a:avLst>
              <a:gd name="adj" fmla="val 18669"/>
            </a:avLst>
          </a:prstGeom>
          <a:solidFill>
            <a:srgbClr val="DADBF1"/>
          </a:solidFill>
          <a:ln w="1524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948511" y="2545973"/>
            <a:ext cx="386358" cy="483037"/>
          </a:xfrm>
          <a:prstGeom prst="rect">
            <a:avLst/>
          </a:prstGeom>
        </p:spPr>
      </p:pic>
      <p:sp>
        <p:nvSpPr>
          <p:cNvPr id="5" name="Text 2"/>
          <p:cNvSpPr/>
          <p:nvPr/>
        </p:nvSpPr>
        <p:spPr>
          <a:xfrm>
            <a:off x="1666280" y="2509838"/>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Easy to implement</a:t>
            </a:r>
            <a:endParaRPr lang="en-US" sz="2500" dirty="0"/>
          </a:p>
        </p:txBody>
      </p:sp>
      <p:sp>
        <p:nvSpPr>
          <p:cNvPr id="6" name="Text 3"/>
          <p:cNvSpPr/>
          <p:nvPr/>
        </p:nvSpPr>
        <p:spPr>
          <a:xfrm>
            <a:off x="1666280" y="3060502"/>
            <a:ext cx="5525572" cy="118514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The KNN algorithm is easy to implement because its complexity is relatively low as compared to other machine learning algorithms.</a:t>
            </a:r>
            <a:endParaRPr lang="en-US" sz="1900" dirty="0"/>
          </a:p>
        </p:txBody>
      </p:sp>
      <p:sp>
        <p:nvSpPr>
          <p:cNvPr id="7" name="Shape 4"/>
          <p:cNvSpPr/>
          <p:nvPr/>
        </p:nvSpPr>
        <p:spPr>
          <a:xfrm>
            <a:off x="7438668" y="2509838"/>
            <a:ext cx="555427" cy="555427"/>
          </a:xfrm>
          <a:prstGeom prst="roundRect">
            <a:avLst>
              <a:gd name="adj" fmla="val 18669"/>
            </a:avLst>
          </a:prstGeom>
          <a:solidFill>
            <a:srgbClr val="DADBF1"/>
          </a:solidFill>
          <a:ln w="15240">
            <a:solidFill>
              <a:srgbClr val="C0C1D7"/>
            </a:solidFill>
            <a:prstDash val="solid"/>
          </a:ln>
        </p:spPr>
      </p:sp>
      <p:pic>
        <p:nvPicPr>
          <p:cNvPr id="8" name="Image 1" descr="preencoded.png">    </p:cNvPr>
          <p:cNvPicPr>
            <a:picLocks noChangeAspect="1"/>
          </p:cNvPicPr>
          <p:nvPr/>
        </p:nvPicPr>
        <p:blipFill>
          <a:blip r:embed="rId2"/>
          <a:stretch>
            <a:fillRect/>
          </a:stretch>
        </p:blipFill>
        <p:spPr>
          <a:xfrm>
            <a:off x="7523143" y="2545973"/>
            <a:ext cx="386358" cy="483037"/>
          </a:xfrm>
          <a:prstGeom prst="rect">
            <a:avLst/>
          </a:prstGeom>
        </p:spPr>
      </p:pic>
      <p:sp>
        <p:nvSpPr>
          <p:cNvPr id="9" name="Text 5"/>
          <p:cNvSpPr/>
          <p:nvPr/>
        </p:nvSpPr>
        <p:spPr>
          <a:xfrm>
            <a:off x="8240911" y="2509838"/>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No training required</a:t>
            </a:r>
            <a:endParaRPr lang="en-US" sz="2500" dirty="0"/>
          </a:p>
        </p:txBody>
      </p:sp>
      <p:sp>
        <p:nvSpPr>
          <p:cNvPr id="10" name="Text 6"/>
          <p:cNvSpPr/>
          <p:nvPr/>
        </p:nvSpPr>
        <p:spPr>
          <a:xfrm>
            <a:off x="8240911" y="3060502"/>
            <a:ext cx="5525572" cy="158019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KNN stores all data in memory and doesn't require any training so when new data points are added it automatically adjusts and uses the new data for future predictions.</a:t>
            </a:r>
            <a:endParaRPr lang="en-US" sz="1900" dirty="0"/>
          </a:p>
        </p:txBody>
      </p:sp>
      <p:sp>
        <p:nvSpPr>
          <p:cNvPr id="11" name="Shape 7"/>
          <p:cNvSpPr/>
          <p:nvPr/>
        </p:nvSpPr>
        <p:spPr>
          <a:xfrm>
            <a:off x="864037" y="5165169"/>
            <a:ext cx="555427" cy="555427"/>
          </a:xfrm>
          <a:prstGeom prst="roundRect">
            <a:avLst>
              <a:gd name="adj" fmla="val 18669"/>
            </a:avLst>
          </a:prstGeom>
          <a:solidFill>
            <a:srgbClr val="DADBF1"/>
          </a:solidFill>
          <a:ln w="15240">
            <a:solidFill>
              <a:srgbClr val="C0C1D7"/>
            </a:solidFill>
            <a:prstDash val="solid"/>
          </a:ln>
        </p:spPr>
      </p:sp>
      <p:pic>
        <p:nvPicPr>
          <p:cNvPr id="12" name="Image 2" descr="preencoded.png">    </p:cNvPr>
          <p:cNvPicPr>
            <a:picLocks noChangeAspect="1"/>
          </p:cNvPicPr>
          <p:nvPr/>
        </p:nvPicPr>
        <p:blipFill>
          <a:blip r:embed="rId3"/>
          <a:stretch>
            <a:fillRect/>
          </a:stretch>
        </p:blipFill>
        <p:spPr>
          <a:xfrm>
            <a:off x="948511" y="5201305"/>
            <a:ext cx="386358" cy="483037"/>
          </a:xfrm>
          <a:prstGeom prst="rect">
            <a:avLst/>
          </a:prstGeom>
        </p:spPr>
      </p:pic>
      <p:sp>
        <p:nvSpPr>
          <p:cNvPr id="13" name="Text 8"/>
          <p:cNvSpPr/>
          <p:nvPr/>
        </p:nvSpPr>
        <p:spPr>
          <a:xfrm>
            <a:off x="1666280" y="5165169"/>
            <a:ext cx="3309461"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Few Hyperparameters</a:t>
            </a:r>
            <a:endParaRPr lang="en-US" sz="2500" dirty="0"/>
          </a:p>
        </p:txBody>
      </p:sp>
      <p:sp>
        <p:nvSpPr>
          <p:cNvPr id="14" name="Text 9"/>
          <p:cNvSpPr/>
          <p:nvPr/>
        </p:nvSpPr>
        <p:spPr>
          <a:xfrm>
            <a:off x="1666280" y="5715833"/>
            <a:ext cx="5525572" cy="158019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The only parameters which are required in the training of a KNN algorithm are the value of k and the choice of the distance metric which we would like to choose from our evaluation metric.</a:t>
            </a:r>
            <a:endParaRPr lang="en-US" sz="1900" dirty="0"/>
          </a:p>
        </p:txBody>
      </p:sp>
      <p:sp>
        <p:nvSpPr>
          <p:cNvPr id="15" name="Shape 10"/>
          <p:cNvSpPr/>
          <p:nvPr/>
        </p:nvSpPr>
        <p:spPr>
          <a:xfrm>
            <a:off x="7438668" y="5165169"/>
            <a:ext cx="555427" cy="555427"/>
          </a:xfrm>
          <a:prstGeom prst="roundRect">
            <a:avLst>
              <a:gd name="adj" fmla="val 18669"/>
            </a:avLst>
          </a:prstGeom>
          <a:solidFill>
            <a:srgbClr val="DADBF1"/>
          </a:solidFill>
          <a:ln w="15240">
            <a:solidFill>
              <a:srgbClr val="C0C1D7"/>
            </a:solidFill>
            <a:prstDash val="solid"/>
          </a:ln>
        </p:spPr>
      </p:sp>
      <p:pic>
        <p:nvPicPr>
          <p:cNvPr id="16" name="Image 3" descr="preencoded.png">    </p:cNvPr>
          <p:cNvPicPr>
            <a:picLocks noChangeAspect="1"/>
          </p:cNvPicPr>
          <p:nvPr/>
        </p:nvPicPr>
        <p:blipFill>
          <a:blip r:embed="rId4"/>
          <a:stretch>
            <a:fillRect/>
          </a:stretch>
        </p:blipFill>
        <p:spPr>
          <a:xfrm>
            <a:off x="7523143" y="5201305"/>
            <a:ext cx="386358" cy="483037"/>
          </a:xfrm>
          <a:prstGeom prst="rect">
            <a:avLst/>
          </a:prstGeom>
        </p:spPr>
      </p:pic>
      <p:sp>
        <p:nvSpPr>
          <p:cNvPr id="17" name="Text 11"/>
          <p:cNvSpPr/>
          <p:nvPr/>
        </p:nvSpPr>
        <p:spPr>
          <a:xfrm>
            <a:off x="8240911" y="5165169"/>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Flexible</a:t>
            </a:r>
            <a:endParaRPr lang="en-US" sz="2500" dirty="0"/>
          </a:p>
        </p:txBody>
      </p:sp>
      <p:sp>
        <p:nvSpPr>
          <p:cNvPr id="18" name="Text 12"/>
          <p:cNvSpPr/>
          <p:nvPr/>
        </p:nvSpPr>
        <p:spPr>
          <a:xfrm>
            <a:off x="8240911" y="5715833"/>
            <a:ext cx="5525572" cy="158019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It works for </a:t>
            </a:r>
            <a:pPr algn="l" indent="0" marL="0">
              <a:lnSpc>
                <a:spcPts val="3100"/>
              </a:lnSpc>
              <a:buNone/>
            </a:pPr>
            <a:r>
              <a:rPr lang="en-US" sz="1900" b="1" spc="-39" kern="0" dirty="0">
                <a:solidFill>
                  <a:srgbClr val="272525"/>
                </a:solidFill>
                <a:latin typeface="Inter" pitchFamily="34" charset="0"/>
                <a:ea typeface="Inter" pitchFamily="34" charset="-122"/>
                <a:cs typeface="Inter" pitchFamily="34" charset="-120"/>
              </a:rPr>
              <a:t>Classification</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problem like is this email spam or not?and also work for </a:t>
            </a:r>
            <a:pPr algn="l" indent="0" marL="0">
              <a:lnSpc>
                <a:spcPts val="3100"/>
              </a:lnSpc>
              <a:buNone/>
            </a:pPr>
            <a:r>
              <a:rPr lang="en-US" sz="1900" b="1" spc="-39" kern="0" dirty="0">
                <a:solidFill>
                  <a:srgbClr val="272525"/>
                </a:solidFill>
                <a:latin typeface="Inter" pitchFamily="34" charset="0"/>
                <a:ea typeface="Inter" pitchFamily="34" charset="-122"/>
                <a:cs typeface="Inter" pitchFamily="34" charset="-120"/>
              </a:rPr>
              <a:t>Regression task</a:t>
            </a:r>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 like predicting house prices based on nearby similar houses.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4037" y="1862376"/>
            <a:ext cx="10899815" cy="804982"/>
          </a:xfrm>
          <a:prstGeom prst="rect">
            <a:avLst/>
          </a:prstGeom>
          <a:noFill/>
          <a:ln/>
        </p:spPr>
        <p:txBody>
          <a:bodyPr wrap="none" lIns="0" tIns="0" rIns="0" bIns="0" rtlCol="0" anchor="t"/>
          <a:lstStyle/>
          <a:p>
            <a:pPr algn="l" indent="0" marL="0">
              <a:lnSpc>
                <a:spcPts val="6300"/>
              </a:lnSpc>
              <a:buNone/>
            </a:pPr>
            <a:r>
              <a:rPr lang="en-US" sz="5050" b="1" spc="-152" kern="0" dirty="0">
                <a:solidFill>
                  <a:srgbClr val="000000"/>
                </a:solidFill>
                <a:latin typeface="Inter Bold" pitchFamily="34" charset="0"/>
                <a:ea typeface="Inter Bold" pitchFamily="34" charset="-122"/>
                <a:cs typeface="Inter Bold" pitchFamily="34" charset="-120"/>
              </a:rPr>
              <a:t>Disadvantages of the KNN Algorithm</a:t>
            </a:r>
            <a:endParaRPr lang="en-US" sz="5050" dirty="0"/>
          </a:p>
        </p:txBody>
      </p:sp>
      <p:sp>
        <p:nvSpPr>
          <p:cNvPr id="3" name="Shape 1"/>
          <p:cNvSpPr/>
          <p:nvPr/>
        </p:nvSpPr>
        <p:spPr>
          <a:xfrm>
            <a:off x="864037" y="3438763"/>
            <a:ext cx="555427" cy="555427"/>
          </a:xfrm>
          <a:prstGeom prst="roundRect">
            <a:avLst>
              <a:gd name="adj" fmla="val 18669"/>
            </a:avLst>
          </a:prstGeom>
          <a:solidFill>
            <a:srgbClr val="DADBF1"/>
          </a:solidFill>
          <a:ln w="1524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948511" y="3474899"/>
            <a:ext cx="386358" cy="483037"/>
          </a:xfrm>
          <a:prstGeom prst="rect">
            <a:avLst/>
          </a:prstGeom>
        </p:spPr>
      </p:pic>
      <p:sp>
        <p:nvSpPr>
          <p:cNvPr id="5" name="Text 2"/>
          <p:cNvSpPr/>
          <p:nvPr/>
        </p:nvSpPr>
        <p:spPr>
          <a:xfrm>
            <a:off x="1666280" y="3438763"/>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Doesn't scale well</a:t>
            </a:r>
            <a:endParaRPr lang="en-US" sz="2500" dirty="0"/>
          </a:p>
        </p:txBody>
      </p:sp>
      <p:sp>
        <p:nvSpPr>
          <p:cNvPr id="6" name="Text 3"/>
          <p:cNvSpPr/>
          <p:nvPr/>
        </p:nvSpPr>
        <p:spPr>
          <a:xfrm>
            <a:off x="1666280" y="3989427"/>
            <a:ext cx="3333988" cy="158019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KNN is considered as a "lazy" algorithm as it is very slow especially with large datasets</a:t>
            </a:r>
            <a:endParaRPr lang="en-US" sz="1900" dirty="0"/>
          </a:p>
        </p:txBody>
      </p:sp>
      <p:sp>
        <p:nvSpPr>
          <p:cNvPr id="7" name="Shape 4"/>
          <p:cNvSpPr/>
          <p:nvPr/>
        </p:nvSpPr>
        <p:spPr>
          <a:xfrm>
            <a:off x="5247084" y="3438763"/>
            <a:ext cx="555427" cy="555427"/>
          </a:xfrm>
          <a:prstGeom prst="roundRect">
            <a:avLst>
              <a:gd name="adj" fmla="val 18669"/>
            </a:avLst>
          </a:prstGeom>
          <a:solidFill>
            <a:srgbClr val="DADBF1"/>
          </a:solidFill>
          <a:ln w="15240">
            <a:solidFill>
              <a:srgbClr val="C0C1D7"/>
            </a:solidFill>
            <a:prstDash val="solid"/>
          </a:ln>
        </p:spPr>
      </p:sp>
      <p:pic>
        <p:nvPicPr>
          <p:cNvPr id="8" name="Image 1" descr="preencoded.png">    </p:cNvPr>
          <p:cNvPicPr>
            <a:picLocks noChangeAspect="1"/>
          </p:cNvPicPr>
          <p:nvPr/>
        </p:nvPicPr>
        <p:blipFill>
          <a:blip r:embed="rId2"/>
          <a:stretch>
            <a:fillRect/>
          </a:stretch>
        </p:blipFill>
        <p:spPr>
          <a:xfrm>
            <a:off x="5331559" y="3474899"/>
            <a:ext cx="386358" cy="483037"/>
          </a:xfrm>
          <a:prstGeom prst="rect">
            <a:avLst/>
          </a:prstGeom>
        </p:spPr>
      </p:pic>
      <p:sp>
        <p:nvSpPr>
          <p:cNvPr id="9" name="Text 5"/>
          <p:cNvSpPr/>
          <p:nvPr/>
        </p:nvSpPr>
        <p:spPr>
          <a:xfrm>
            <a:off x="6049328" y="3438763"/>
            <a:ext cx="3333988" cy="805101"/>
          </a:xfrm>
          <a:prstGeom prst="rect">
            <a:avLst/>
          </a:prstGeom>
          <a:noFill/>
          <a:ln/>
        </p:spPr>
        <p:txBody>
          <a:bodyPr wrap="squar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Curse of Dimensionality</a:t>
            </a:r>
            <a:endParaRPr lang="en-US" sz="2500" dirty="0"/>
          </a:p>
        </p:txBody>
      </p:sp>
      <p:sp>
        <p:nvSpPr>
          <p:cNvPr id="10" name="Text 6"/>
          <p:cNvSpPr/>
          <p:nvPr/>
        </p:nvSpPr>
        <p:spPr>
          <a:xfrm>
            <a:off x="6049328" y="4391978"/>
            <a:ext cx="3333988" cy="1975247"/>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When the number of features increases KNN struggles to classify data accurately a problem known as curse of dimensionality.</a:t>
            </a:r>
            <a:endParaRPr lang="en-US" sz="1900" dirty="0"/>
          </a:p>
        </p:txBody>
      </p:sp>
      <p:sp>
        <p:nvSpPr>
          <p:cNvPr id="11" name="Shape 7"/>
          <p:cNvSpPr/>
          <p:nvPr/>
        </p:nvSpPr>
        <p:spPr>
          <a:xfrm>
            <a:off x="9630132" y="3438763"/>
            <a:ext cx="555427" cy="555427"/>
          </a:xfrm>
          <a:prstGeom prst="roundRect">
            <a:avLst>
              <a:gd name="adj" fmla="val 18669"/>
            </a:avLst>
          </a:prstGeom>
          <a:solidFill>
            <a:srgbClr val="DADBF1"/>
          </a:solidFill>
          <a:ln w="15240">
            <a:solidFill>
              <a:srgbClr val="C0C1D7"/>
            </a:solidFill>
            <a:prstDash val="solid"/>
          </a:ln>
        </p:spPr>
      </p:sp>
      <p:pic>
        <p:nvPicPr>
          <p:cNvPr id="12" name="Image 2" descr="preencoded.png">    </p:cNvPr>
          <p:cNvPicPr>
            <a:picLocks noChangeAspect="1"/>
          </p:cNvPicPr>
          <p:nvPr/>
        </p:nvPicPr>
        <p:blipFill>
          <a:blip r:embed="rId3"/>
          <a:stretch>
            <a:fillRect/>
          </a:stretch>
        </p:blipFill>
        <p:spPr>
          <a:xfrm>
            <a:off x="9714607" y="3474899"/>
            <a:ext cx="386358" cy="483037"/>
          </a:xfrm>
          <a:prstGeom prst="rect">
            <a:avLst/>
          </a:prstGeom>
        </p:spPr>
      </p:pic>
      <p:sp>
        <p:nvSpPr>
          <p:cNvPr id="13" name="Text 8"/>
          <p:cNvSpPr/>
          <p:nvPr/>
        </p:nvSpPr>
        <p:spPr>
          <a:xfrm>
            <a:off x="10432375" y="3438763"/>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272525"/>
                </a:solidFill>
                <a:latin typeface="Inter Bold" pitchFamily="34" charset="0"/>
                <a:ea typeface="Inter Bold" pitchFamily="34" charset="-122"/>
                <a:cs typeface="Inter Bold" pitchFamily="34" charset="-120"/>
              </a:rPr>
              <a:t>Prone to Overfitting</a:t>
            </a:r>
            <a:endParaRPr lang="en-US" sz="2500" dirty="0"/>
          </a:p>
        </p:txBody>
      </p:sp>
      <p:sp>
        <p:nvSpPr>
          <p:cNvPr id="14" name="Text 9"/>
          <p:cNvSpPr/>
          <p:nvPr/>
        </p:nvSpPr>
        <p:spPr>
          <a:xfrm>
            <a:off x="10432375" y="3989427"/>
            <a:ext cx="3333988" cy="1975247"/>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As the algorithm is affected due to the curse of dimensionality it is prone to the problem of overfitting as well.</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4037" y="881777"/>
            <a:ext cx="10855762" cy="804982"/>
          </a:xfrm>
          <a:prstGeom prst="rect">
            <a:avLst/>
          </a:prstGeom>
          <a:noFill/>
          <a:ln/>
        </p:spPr>
        <p:txBody>
          <a:bodyPr wrap="none" lIns="0" tIns="0" rIns="0" bIns="0" rtlCol="0" anchor="t"/>
          <a:lstStyle/>
          <a:p>
            <a:pPr algn="l" indent="0" marL="0">
              <a:lnSpc>
                <a:spcPts val="6300"/>
              </a:lnSpc>
              <a:buNone/>
            </a:pPr>
            <a:r>
              <a:rPr lang="en-US" sz="5050" b="1" spc="-152" kern="0" dirty="0">
                <a:solidFill>
                  <a:srgbClr val="000000"/>
                </a:solidFill>
                <a:latin typeface="Inter Bold" pitchFamily="34" charset="0"/>
                <a:ea typeface="Inter Bold" pitchFamily="34" charset="-122"/>
                <a:cs typeface="Inter Bold" pitchFamily="34" charset="-120"/>
              </a:rPr>
              <a:t>KNN for Classification vs Regression</a:t>
            </a:r>
            <a:endParaRPr lang="en-US" sz="5050" dirty="0"/>
          </a:p>
        </p:txBody>
      </p:sp>
      <p:sp>
        <p:nvSpPr>
          <p:cNvPr id="3" name="Text 1"/>
          <p:cNvSpPr/>
          <p:nvPr/>
        </p:nvSpPr>
        <p:spPr>
          <a:xfrm>
            <a:off x="864037" y="2303859"/>
            <a:ext cx="3493413"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000000"/>
                </a:solidFill>
                <a:latin typeface="Inter Bold" pitchFamily="34" charset="0"/>
                <a:ea typeface="Inter Bold" pitchFamily="34" charset="-122"/>
                <a:cs typeface="Inter Bold" pitchFamily="34" charset="-120"/>
              </a:rPr>
              <a:t>Classification with KNN</a:t>
            </a:r>
            <a:endParaRPr lang="en-US" sz="2500" dirty="0"/>
          </a:p>
        </p:txBody>
      </p:sp>
      <p:sp>
        <p:nvSpPr>
          <p:cNvPr id="4" name="Text 2"/>
          <p:cNvSpPr/>
          <p:nvPr/>
        </p:nvSpPr>
        <p:spPr>
          <a:xfrm>
            <a:off x="864037" y="2953226"/>
            <a:ext cx="6150054" cy="118514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In classification tasks, KNN predicts the class of a new data point by finding the most common class among its k nearest neighbors.</a:t>
            </a:r>
            <a:endParaRPr lang="en-US" sz="1900" dirty="0"/>
          </a:p>
        </p:txBody>
      </p:sp>
      <p:sp>
        <p:nvSpPr>
          <p:cNvPr id="5" name="Text 3"/>
          <p:cNvSpPr/>
          <p:nvPr/>
        </p:nvSpPr>
        <p:spPr>
          <a:xfrm>
            <a:off x="864037" y="4360545"/>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Uses majority voting to determine the class</a:t>
            </a:r>
            <a:endParaRPr lang="en-US" sz="1900" dirty="0"/>
          </a:p>
        </p:txBody>
      </p:sp>
      <p:sp>
        <p:nvSpPr>
          <p:cNvPr id="6" name="Text 4"/>
          <p:cNvSpPr/>
          <p:nvPr/>
        </p:nvSpPr>
        <p:spPr>
          <a:xfrm>
            <a:off x="864037" y="4841915"/>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Works well for multi-class problems</a:t>
            </a:r>
            <a:endParaRPr lang="en-US" sz="1900" dirty="0"/>
          </a:p>
        </p:txBody>
      </p:sp>
      <p:sp>
        <p:nvSpPr>
          <p:cNvPr id="7" name="Text 5"/>
          <p:cNvSpPr/>
          <p:nvPr/>
        </p:nvSpPr>
        <p:spPr>
          <a:xfrm>
            <a:off x="864037" y="5323284"/>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Output is a discrete class label</a:t>
            </a:r>
            <a:endParaRPr lang="en-US" sz="1900" dirty="0"/>
          </a:p>
        </p:txBody>
      </p:sp>
      <p:sp>
        <p:nvSpPr>
          <p:cNvPr id="8" name="Text 6"/>
          <p:cNvSpPr/>
          <p:nvPr/>
        </p:nvSpPr>
        <p:spPr>
          <a:xfrm>
            <a:off x="864037" y="5940504"/>
            <a:ext cx="6150054" cy="1185148"/>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Example: Classifying emails as spam or not spam based on features like word frequency, sender information, etc.</a:t>
            </a:r>
            <a:endParaRPr lang="en-US" sz="1900" dirty="0"/>
          </a:p>
        </p:txBody>
      </p:sp>
      <p:sp>
        <p:nvSpPr>
          <p:cNvPr id="9" name="Text 7"/>
          <p:cNvSpPr/>
          <p:nvPr/>
        </p:nvSpPr>
        <p:spPr>
          <a:xfrm>
            <a:off x="7623929" y="2303859"/>
            <a:ext cx="3220164" cy="402550"/>
          </a:xfrm>
          <a:prstGeom prst="rect">
            <a:avLst/>
          </a:prstGeom>
          <a:noFill/>
          <a:ln/>
        </p:spPr>
        <p:txBody>
          <a:bodyPr wrap="none" lIns="0" tIns="0" rIns="0" bIns="0" rtlCol="0" anchor="t"/>
          <a:lstStyle/>
          <a:p>
            <a:pPr algn="l" indent="0" marL="0">
              <a:lnSpc>
                <a:spcPts val="3150"/>
              </a:lnSpc>
              <a:buNone/>
            </a:pPr>
            <a:r>
              <a:rPr lang="en-US" sz="2500" b="1" spc="-76" kern="0" dirty="0">
                <a:solidFill>
                  <a:srgbClr val="000000"/>
                </a:solidFill>
                <a:latin typeface="Inter Bold" pitchFamily="34" charset="0"/>
                <a:ea typeface="Inter Bold" pitchFamily="34" charset="-122"/>
                <a:cs typeface="Inter Bold" pitchFamily="34" charset="-120"/>
              </a:rPr>
              <a:t>Regression with KNN</a:t>
            </a:r>
            <a:endParaRPr lang="en-US" sz="2500" dirty="0"/>
          </a:p>
        </p:txBody>
      </p:sp>
      <p:sp>
        <p:nvSpPr>
          <p:cNvPr id="10" name="Text 8"/>
          <p:cNvSpPr/>
          <p:nvPr/>
        </p:nvSpPr>
        <p:spPr>
          <a:xfrm>
            <a:off x="7623929" y="2953226"/>
            <a:ext cx="6150054" cy="790099"/>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In regression tasks, KNN predicts a continuous value by averaging the values of its k nearest neighbors.</a:t>
            </a:r>
            <a:endParaRPr lang="en-US" sz="1900" dirty="0"/>
          </a:p>
        </p:txBody>
      </p:sp>
      <p:sp>
        <p:nvSpPr>
          <p:cNvPr id="11" name="Text 9"/>
          <p:cNvSpPr/>
          <p:nvPr/>
        </p:nvSpPr>
        <p:spPr>
          <a:xfrm>
            <a:off x="7623929" y="3965496"/>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Uses mean or median of neighbor values</a:t>
            </a:r>
            <a:endParaRPr lang="en-US" sz="1900" dirty="0"/>
          </a:p>
        </p:txBody>
      </p:sp>
      <p:sp>
        <p:nvSpPr>
          <p:cNvPr id="12" name="Text 10"/>
          <p:cNvSpPr/>
          <p:nvPr/>
        </p:nvSpPr>
        <p:spPr>
          <a:xfrm>
            <a:off x="7623929" y="4446865"/>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Predicts numerical values rather than categories</a:t>
            </a:r>
            <a:endParaRPr lang="en-US" sz="1900" dirty="0"/>
          </a:p>
        </p:txBody>
      </p:sp>
      <p:sp>
        <p:nvSpPr>
          <p:cNvPr id="13" name="Text 11"/>
          <p:cNvSpPr/>
          <p:nvPr/>
        </p:nvSpPr>
        <p:spPr>
          <a:xfrm>
            <a:off x="7623929" y="4928235"/>
            <a:ext cx="6150054" cy="395049"/>
          </a:xfrm>
          <a:prstGeom prst="rect">
            <a:avLst/>
          </a:prstGeom>
          <a:noFill/>
          <a:ln/>
        </p:spPr>
        <p:txBody>
          <a:bodyPr wrap="none" lIns="0" tIns="0" rIns="0" bIns="0" rtlCol="0" anchor="t"/>
          <a:lstStyle/>
          <a:p>
            <a:pPr algn="l" marL="342900" indent="-342900">
              <a:lnSpc>
                <a:spcPts val="3100"/>
              </a:lnSpc>
              <a:buSzPct val="100000"/>
              <a:buChar char="•"/>
            </a:pPr>
            <a:r>
              <a:rPr lang="en-US" sz="1900" spc="-39" kern="0" dirty="0">
                <a:solidFill>
                  <a:srgbClr val="272525"/>
                </a:solidFill>
                <a:latin typeface="Inter" pitchFamily="34" charset="0"/>
                <a:ea typeface="Inter" pitchFamily="34" charset="-122"/>
                <a:cs typeface="Inter" pitchFamily="34" charset="-120"/>
              </a:rPr>
              <a:t>Output is a continuous value</a:t>
            </a:r>
            <a:endParaRPr lang="en-US" sz="1900" dirty="0"/>
          </a:p>
        </p:txBody>
      </p:sp>
      <p:sp>
        <p:nvSpPr>
          <p:cNvPr id="14" name="Text 12"/>
          <p:cNvSpPr/>
          <p:nvPr/>
        </p:nvSpPr>
        <p:spPr>
          <a:xfrm>
            <a:off x="7623929" y="5545455"/>
            <a:ext cx="6150054" cy="790099"/>
          </a:xfrm>
          <a:prstGeom prst="rect">
            <a:avLst/>
          </a:prstGeom>
          <a:noFill/>
          <a:ln/>
        </p:spPr>
        <p:txBody>
          <a:bodyPr wrap="square" lIns="0" tIns="0" rIns="0" bIns="0" rtlCol="0" anchor="t"/>
          <a:lstStyle/>
          <a:p>
            <a:pPr algn="l" indent="0" marL="0">
              <a:lnSpc>
                <a:spcPts val="3100"/>
              </a:lnSpc>
              <a:buNone/>
            </a:pPr>
            <a:r>
              <a:rPr lang="en-US" sz="1900" spc="-39" kern="0" dirty="0">
                <a:solidFill>
                  <a:srgbClr val="272525"/>
                </a:solidFill>
                <a:latin typeface="Inter" pitchFamily="34" charset="0"/>
                <a:ea typeface="Inter" pitchFamily="34" charset="-122"/>
                <a:cs typeface="Inter" pitchFamily="34" charset="-120"/>
              </a:rPr>
              <a:t>Example: Predicting house prices based on features of similar houses in the neighborhood.</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8179" y="526018"/>
            <a:ext cx="6783229" cy="622459"/>
          </a:xfrm>
          <a:prstGeom prst="rect">
            <a:avLst/>
          </a:prstGeom>
          <a:noFill/>
          <a:ln/>
        </p:spPr>
        <p:txBody>
          <a:bodyPr wrap="none" lIns="0" tIns="0" rIns="0" bIns="0" rtlCol="0" anchor="t"/>
          <a:lstStyle/>
          <a:p>
            <a:pPr algn="l" indent="0" marL="0">
              <a:lnSpc>
                <a:spcPts val="4900"/>
              </a:lnSpc>
              <a:buNone/>
            </a:pPr>
            <a:r>
              <a:rPr lang="en-US" sz="3900" b="1" spc="-118" kern="0" dirty="0">
                <a:solidFill>
                  <a:srgbClr val="000000"/>
                </a:solidFill>
                <a:latin typeface="Inter Bold" pitchFamily="34" charset="0"/>
                <a:ea typeface="Inter Bold" pitchFamily="34" charset="-122"/>
                <a:cs typeface="Inter Bold" pitchFamily="34" charset="-120"/>
              </a:rPr>
              <a:t>Optimizing KNN Performance</a:t>
            </a:r>
            <a:endParaRPr lang="en-US" sz="3900" dirty="0"/>
          </a:p>
        </p:txBody>
      </p:sp>
      <p:sp>
        <p:nvSpPr>
          <p:cNvPr id="3" name="Shape 1"/>
          <p:cNvSpPr/>
          <p:nvPr/>
        </p:nvSpPr>
        <p:spPr>
          <a:xfrm>
            <a:off x="668179" y="1530191"/>
            <a:ext cx="1661755" cy="1112877"/>
          </a:xfrm>
          <a:prstGeom prst="roundRect">
            <a:avLst>
              <a:gd name="adj" fmla="val 7205"/>
            </a:avLst>
          </a:prstGeom>
          <a:solidFill>
            <a:srgbClr val="DADBF1"/>
          </a:solidFill>
          <a:ln w="7620">
            <a:solidFill>
              <a:srgbClr val="C0C1D7"/>
            </a:solidFill>
            <a:prstDash val="solid"/>
          </a:ln>
        </p:spPr>
      </p:sp>
      <p:pic>
        <p:nvPicPr>
          <p:cNvPr id="4" name="Image 0" descr="preencoded.png">    </p:cNvPr>
          <p:cNvPicPr>
            <a:picLocks noChangeAspect="1"/>
          </p:cNvPicPr>
          <p:nvPr/>
        </p:nvPicPr>
        <p:blipFill>
          <a:blip r:embed="rId1"/>
          <a:stretch>
            <a:fillRect/>
          </a:stretch>
        </p:blipFill>
        <p:spPr>
          <a:xfrm>
            <a:off x="1364813" y="1918811"/>
            <a:ext cx="268367" cy="335518"/>
          </a:xfrm>
          <a:prstGeom prst="rect">
            <a:avLst/>
          </a:prstGeom>
        </p:spPr>
      </p:pic>
      <p:sp>
        <p:nvSpPr>
          <p:cNvPr id="5" name="Text 2"/>
          <p:cNvSpPr/>
          <p:nvPr/>
        </p:nvSpPr>
        <p:spPr>
          <a:xfrm>
            <a:off x="2520791" y="1721048"/>
            <a:ext cx="2490192" cy="311348"/>
          </a:xfrm>
          <a:prstGeom prst="rect">
            <a:avLst/>
          </a:prstGeom>
          <a:noFill/>
          <a:ln/>
        </p:spPr>
        <p:txBody>
          <a:bodyPr wrap="none" lIns="0" tIns="0" rIns="0" bIns="0" rtlCol="0" anchor="t"/>
          <a:lstStyle/>
          <a:p>
            <a:pPr algn="l" indent="0" marL="0">
              <a:lnSpc>
                <a:spcPts val="2450"/>
              </a:lnSpc>
              <a:buNone/>
            </a:pPr>
            <a:r>
              <a:rPr lang="en-US" sz="1950" b="1" spc="-59" kern="0" dirty="0">
                <a:solidFill>
                  <a:srgbClr val="272525"/>
                </a:solidFill>
                <a:latin typeface="Inter Bold" pitchFamily="34" charset="0"/>
                <a:ea typeface="Inter Bold" pitchFamily="34" charset="-122"/>
                <a:cs typeface="Inter Bold" pitchFamily="34" charset="-120"/>
              </a:rPr>
              <a:t>Data Preprocessing</a:t>
            </a:r>
            <a:endParaRPr lang="en-US" sz="1950" dirty="0"/>
          </a:p>
        </p:txBody>
      </p:sp>
      <p:sp>
        <p:nvSpPr>
          <p:cNvPr id="6" name="Text 3"/>
          <p:cNvSpPr/>
          <p:nvPr/>
        </p:nvSpPr>
        <p:spPr>
          <a:xfrm>
            <a:off x="2520791" y="2146935"/>
            <a:ext cx="4115276" cy="305276"/>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Normalize features to ensure equal contribution</a:t>
            </a:r>
            <a:endParaRPr lang="en-US" sz="1500" dirty="0"/>
          </a:p>
        </p:txBody>
      </p:sp>
      <p:sp>
        <p:nvSpPr>
          <p:cNvPr id="7" name="Shape 4"/>
          <p:cNvSpPr/>
          <p:nvPr/>
        </p:nvSpPr>
        <p:spPr>
          <a:xfrm>
            <a:off x="2425303" y="2633543"/>
            <a:ext cx="11441549" cy="11430"/>
          </a:xfrm>
          <a:prstGeom prst="roundRect">
            <a:avLst>
              <a:gd name="adj" fmla="val 701529"/>
            </a:avLst>
          </a:prstGeom>
          <a:solidFill>
            <a:srgbClr val="C0C1D7"/>
          </a:solidFill>
          <a:ln/>
        </p:spPr>
      </p:sp>
      <p:sp>
        <p:nvSpPr>
          <p:cNvPr id="8" name="Shape 5"/>
          <p:cNvSpPr/>
          <p:nvPr/>
        </p:nvSpPr>
        <p:spPr>
          <a:xfrm>
            <a:off x="668179" y="2738437"/>
            <a:ext cx="3323511" cy="1112877"/>
          </a:xfrm>
          <a:prstGeom prst="roundRect">
            <a:avLst>
              <a:gd name="adj" fmla="val 7205"/>
            </a:avLst>
          </a:prstGeom>
          <a:solidFill>
            <a:srgbClr val="DADBF1"/>
          </a:solidFill>
          <a:ln w="7620">
            <a:solidFill>
              <a:srgbClr val="C0C1D7"/>
            </a:solidFill>
            <a:prstDash val="solid"/>
          </a:ln>
        </p:spPr>
      </p:sp>
      <p:pic>
        <p:nvPicPr>
          <p:cNvPr id="9" name="Image 1" descr="preencoded.png">    </p:cNvPr>
          <p:cNvPicPr>
            <a:picLocks noChangeAspect="1"/>
          </p:cNvPicPr>
          <p:nvPr/>
        </p:nvPicPr>
        <p:blipFill>
          <a:blip r:embed="rId2"/>
          <a:stretch>
            <a:fillRect/>
          </a:stretch>
        </p:blipFill>
        <p:spPr>
          <a:xfrm>
            <a:off x="2195751" y="3127057"/>
            <a:ext cx="268367" cy="335518"/>
          </a:xfrm>
          <a:prstGeom prst="rect">
            <a:avLst/>
          </a:prstGeom>
        </p:spPr>
      </p:pic>
      <p:sp>
        <p:nvSpPr>
          <p:cNvPr id="10" name="Text 6"/>
          <p:cNvSpPr/>
          <p:nvPr/>
        </p:nvSpPr>
        <p:spPr>
          <a:xfrm>
            <a:off x="4182547" y="2929295"/>
            <a:ext cx="2490192" cy="311348"/>
          </a:xfrm>
          <a:prstGeom prst="rect">
            <a:avLst/>
          </a:prstGeom>
          <a:noFill/>
          <a:ln/>
        </p:spPr>
        <p:txBody>
          <a:bodyPr wrap="none" lIns="0" tIns="0" rIns="0" bIns="0" rtlCol="0" anchor="t"/>
          <a:lstStyle/>
          <a:p>
            <a:pPr algn="l" indent="0" marL="0">
              <a:lnSpc>
                <a:spcPts val="2450"/>
              </a:lnSpc>
              <a:buNone/>
            </a:pPr>
            <a:r>
              <a:rPr lang="en-US" sz="1950" b="1" spc="-59" kern="0" dirty="0">
                <a:solidFill>
                  <a:srgbClr val="272525"/>
                </a:solidFill>
                <a:latin typeface="Inter Bold" pitchFamily="34" charset="0"/>
                <a:ea typeface="Inter Bold" pitchFamily="34" charset="-122"/>
                <a:cs typeface="Inter Bold" pitchFamily="34" charset="-120"/>
              </a:rPr>
              <a:t>Parameter Tuning</a:t>
            </a:r>
            <a:endParaRPr lang="en-US" sz="1950" dirty="0"/>
          </a:p>
        </p:txBody>
      </p:sp>
      <p:sp>
        <p:nvSpPr>
          <p:cNvPr id="11" name="Text 7"/>
          <p:cNvSpPr/>
          <p:nvPr/>
        </p:nvSpPr>
        <p:spPr>
          <a:xfrm>
            <a:off x="4182547" y="3355181"/>
            <a:ext cx="3481149" cy="305276"/>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Find optimal k value and distance metric</a:t>
            </a:r>
            <a:endParaRPr lang="en-US" sz="1500" dirty="0"/>
          </a:p>
        </p:txBody>
      </p:sp>
      <p:sp>
        <p:nvSpPr>
          <p:cNvPr id="12" name="Shape 8"/>
          <p:cNvSpPr/>
          <p:nvPr/>
        </p:nvSpPr>
        <p:spPr>
          <a:xfrm>
            <a:off x="4087058" y="3841790"/>
            <a:ext cx="9779794" cy="11430"/>
          </a:xfrm>
          <a:prstGeom prst="roundRect">
            <a:avLst>
              <a:gd name="adj" fmla="val 701529"/>
            </a:avLst>
          </a:prstGeom>
          <a:solidFill>
            <a:srgbClr val="C0C1D7"/>
          </a:solidFill>
          <a:ln/>
        </p:spPr>
      </p:sp>
      <p:sp>
        <p:nvSpPr>
          <p:cNvPr id="13" name="Shape 9"/>
          <p:cNvSpPr/>
          <p:nvPr/>
        </p:nvSpPr>
        <p:spPr>
          <a:xfrm>
            <a:off x="668179" y="3946684"/>
            <a:ext cx="4985266" cy="1112877"/>
          </a:xfrm>
          <a:prstGeom prst="roundRect">
            <a:avLst>
              <a:gd name="adj" fmla="val 7205"/>
            </a:avLst>
          </a:prstGeom>
          <a:solidFill>
            <a:srgbClr val="DADBF1"/>
          </a:solidFill>
          <a:ln w="7620">
            <a:solidFill>
              <a:srgbClr val="C0C1D7"/>
            </a:solidFill>
            <a:prstDash val="solid"/>
          </a:ln>
        </p:spPr>
      </p:sp>
      <p:sp>
        <p:nvSpPr>
          <p:cNvPr id="14" name="Text 10"/>
          <p:cNvSpPr/>
          <p:nvPr/>
        </p:nvSpPr>
        <p:spPr>
          <a:xfrm>
            <a:off x="3026569" y="4335304"/>
            <a:ext cx="268367" cy="335518"/>
          </a:xfrm>
          <a:prstGeom prst="rect">
            <a:avLst/>
          </a:prstGeom>
          <a:noFill/>
          <a:ln/>
        </p:spPr>
        <p:txBody>
          <a:bodyPr wrap="none" lIns="0" tIns="0" rIns="0" bIns="0" rtlCol="0" anchor="t"/>
          <a:lstStyle/>
          <a:p>
            <a:pPr algn="ctr" indent="0" marL="0">
              <a:lnSpc>
                <a:spcPts val="3350"/>
              </a:lnSpc>
              <a:buNone/>
            </a:pPr>
            <a:r>
              <a:rPr lang="en-US" sz="2100" b="1" spc="-56" kern="0" dirty="0">
                <a:solidFill>
                  <a:srgbClr val="272525"/>
                </a:solidFill>
                <a:latin typeface="Inter Bold" pitchFamily="34" charset="0"/>
                <a:ea typeface="Inter Bold" pitchFamily="34" charset="-122"/>
                <a:cs typeface="Inter Bold" pitchFamily="34" charset="-120"/>
              </a:rPr>
              <a:t>3</a:t>
            </a:r>
            <a:endParaRPr lang="en-US" sz="2100" dirty="0"/>
          </a:p>
        </p:txBody>
      </p:sp>
      <p:sp>
        <p:nvSpPr>
          <p:cNvPr id="15" name="Text 11"/>
          <p:cNvSpPr/>
          <p:nvPr/>
        </p:nvSpPr>
        <p:spPr>
          <a:xfrm>
            <a:off x="5844302" y="4137541"/>
            <a:ext cx="2930009" cy="311348"/>
          </a:xfrm>
          <a:prstGeom prst="rect">
            <a:avLst/>
          </a:prstGeom>
          <a:noFill/>
          <a:ln/>
        </p:spPr>
        <p:txBody>
          <a:bodyPr wrap="none" lIns="0" tIns="0" rIns="0" bIns="0" rtlCol="0" anchor="t"/>
          <a:lstStyle/>
          <a:p>
            <a:pPr algn="l" indent="0" marL="0">
              <a:lnSpc>
                <a:spcPts val="2450"/>
              </a:lnSpc>
              <a:buNone/>
            </a:pPr>
            <a:r>
              <a:rPr lang="en-US" sz="1950" b="1" spc="-59" kern="0" dirty="0">
                <a:solidFill>
                  <a:srgbClr val="272525"/>
                </a:solidFill>
                <a:latin typeface="Inter Bold" pitchFamily="34" charset="0"/>
                <a:ea typeface="Inter Bold" pitchFamily="34" charset="-122"/>
                <a:cs typeface="Inter Bold" pitchFamily="34" charset="-120"/>
              </a:rPr>
              <a:t>Dimensionality Reduction</a:t>
            </a:r>
            <a:endParaRPr lang="en-US" sz="1950" dirty="0"/>
          </a:p>
        </p:txBody>
      </p:sp>
      <p:sp>
        <p:nvSpPr>
          <p:cNvPr id="16" name="Text 12"/>
          <p:cNvSpPr/>
          <p:nvPr/>
        </p:nvSpPr>
        <p:spPr>
          <a:xfrm>
            <a:off x="5844302" y="4563428"/>
            <a:ext cx="5635585" cy="305276"/>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Apply PCA or feature selection to combat curse of dimensionality</a:t>
            </a:r>
            <a:endParaRPr lang="en-US" sz="1500" dirty="0"/>
          </a:p>
        </p:txBody>
      </p:sp>
      <p:sp>
        <p:nvSpPr>
          <p:cNvPr id="17" name="Shape 13"/>
          <p:cNvSpPr/>
          <p:nvPr/>
        </p:nvSpPr>
        <p:spPr>
          <a:xfrm>
            <a:off x="5748814" y="5050036"/>
            <a:ext cx="8118038" cy="11430"/>
          </a:xfrm>
          <a:prstGeom prst="roundRect">
            <a:avLst>
              <a:gd name="adj" fmla="val 701529"/>
            </a:avLst>
          </a:prstGeom>
          <a:solidFill>
            <a:srgbClr val="C0C1D7"/>
          </a:solidFill>
          <a:ln/>
        </p:spPr>
      </p:sp>
      <p:sp>
        <p:nvSpPr>
          <p:cNvPr id="18" name="Shape 14"/>
          <p:cNvSpPr/>
          <p:nvPr/>
        </p:nvSpPr>
        <p:spPr>
          <a:xfrm>
            <a:off x="668179" y="5154930"/>
            <a:ext cx="6647021" cy="1112877"/>
          </a:xfrm>
          <a:prstGeom prst="roundRect">
            <a:avLst>
              <a:gd name="adj" fmla="val 7205"/>
            </a:avLst>
          </a:prstGeom>
          <a:solidFill>
            <a:srgbClr val="DADBF1"/>
          </a:solidFill>
          <a:ln w="7620">
            <a:solidFill>
              <a:srgbClr val="C0C1D7"/>
            </a:solidFill>
            <a:prstDash val="solid"/>
          </a:ln>
        </p:spPr>
      </p:sp>
      <p:pic>
        <p:nvPicPr>
          <p:cNvPr id="19" name="Image 2" descr="preencoded.png">    </p:cNvPr>
          <p:cNvPicPr>
            <a:picLocks noChangeAspect="1"/>
          </p:cNvPicPr>
          <p:nvPr/>
        </p:nvPicPr>
        <p:blipFill>
          <a:blip r:embed="rId3"/>
          <a:stretch>
            <a:fillRect/>
          </a:stretch>
        </p:blipFill>
        <p:spPr>
          <a:xfrm>
            <a:off x="3857506" y="5543550"/>
            <a:ext cx="268367" cy="335518"/>
          </a:xfrm>
          <a:prstGeom prst="rect">
            <a:avLst/>
          </a:prstGeom>
        </p:spPr>
      </p:pic>
      <p:sp>
        <p:nvSpPr>
          <p:cNvPr id="20" name="Text 15"/>
          <p:cNvSpPr/>
          <p:nvPr/>
        </p:nvSpPr>
        <p:spPr>
          <a:xfrm>
            <a:off x="7506057" y="5345787"/>
            <a:ext cx="2656046" cy="311348"/>
          </a:xfrm>
          <a:prstGeom prst="rect">
            <a:avLst/>
          </a:prstGeom>
          <a:noFill/>
          <a:ln/>
        </p:spPr>
        <p:txBody>
          <a:bodyPr wrap="none" lIns="0" tIns="0" rIns="0" bIns="0" rtlCol="0" anchor="t"/>
          <a:lstStyle/>
          <a:p>
            <a:pPr algn="l" indent="0" marL="0">
              <a:lnSpc>
                <a:spcPts val="2450"/>
              </a:lnSpc>
              <a:buNone/>
            </a:pPr>
            <a:r>
              <a:rPr lang="en-US" sz="1950" b="1" spc="-59" kern="0" dirty="0">
                <a:solidFill>
                  <a:srgbClr val="272525"/>
                </a:solidFill>
                <a:latin typeface="Inter Bold" pitchFamily="34" charset="0"/>
                <a:ea typeface="Inter Bold" pitchFamily="34" charset="-122"/>
                <a:cs typeface="Inter Bold" pitchFamily="34" charset="-120"/>
              </a:rPr>
              <a:t>Algorithm Optimization</a:t>
            </a:r>
            <a:endParaRPr lang="en-US" sz="1950" dirty="0"/>
          </a:p>
        </p:txBody>
      </p:sp>
      <p:sp>
        <p:nvSpPr>
          <p:cNvPr id="21" name="Text 16"/>
          <p:cNvSpPr/>
          <p:nvPr/>
        </p:nvSpPr>
        <p:spPr>
          <a:xfrm>
            <a:off x="7506057" y="5771674"/>
            <a:ext cx="4533900" cy="305276"/>
          </a:xfrm>
          <a:prstGeom prst="rect">
            <a:avLst/>
          </a:prstGeom>
          <a:noFill/>
          <a:ln/>
        </p:spPr>
        <p:txBody>
          <a:bodyPr wrap="non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Use KD-trees or ball trees for faster neighbor search</a:t>
            </a:r>
            <a:endParaRPr lang="en-US" sz="1500" dirty="0"/>
          </a:p>
        </p:txBody>
      </p:sp>
      <p:sp>
        <p:nvSpPr>
          <p:cNvPr id="22" name="Text 17"/>
          <p:cNvSpPr/>
          <p:nvPr/>
        </p:nvSpPr>
        <p:spPr>
          <a:xfrm>
            <a:off x="668179" y="6482477"/>
            <a:ext cx="13294043" cy="1221105"/>
          </a:xfrm>
          <a:prstGeom prst="rect">
            <a:avLst/>
          </a:prstGeom>
          <a:noFill/>
          <a:ln/>
        </p:spPr>
        <p:txBody>
          <a:bodyPr wrap="square" lIns="0" tIns="0" rIns="0" bIns="0" rtlCol="0" anchor="t"/>
          <a:lstStyle/>
          <a:p>
            <a:pPr algn="l" indent="0" marL="0">
              <a:lnSpc>
                <a:spcPts val="2400"/>
              </a:lnSpc>
              <a:buNone/>
            </a:pPr>
            <a:r>
              <a:rPr lang="en-US" sz="1500" spc="-30" kern="0" dirty="0">
                <a:solidFill>
                  <a:srgbClr val="272525"/>
                </a:solidFill>
                <a:latin typeface="Inter" pitchFamily="34" charset="0"/>
                <a:ea typeface="Inter" pitchFamily="34" charset="-122"/>
                <a:cs typeface="Inter" pitchFamily="34" charset="-120"/>
              </a:rPr>
              <a:t>To improve KNN performance, start with proper data preprocessing including normalization to ensure all features contribute equally. Then tune parameters like k value and distance metrics through cross-validation. For high-dimensional data, apply dimensionality reduction techniques to combat the curse of dimensionality. Finally, implement algorithmic optimizations like KD-trees or ball trees to speed up the neighbor search process, especially for large datasets.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3777" y="923211"/>
            <a:ext cx="10387013" cy="646509"/>
          </a:xfrm>
          <a:prstGeom prst="rect">
            <a:avLst/>
          </a:prstGeom>
          <a:noFill/>
          <a:ln/>
        </p:spPr>
        <p:txBody>
          <a:bodyPr wrap="none" lIns="0" tIns="0" rIns="0" bIns="0" rtlCol="0" anchor="t"/>
          <a:lstStyle/>
          <a:p>
            <a:pPr algn="l" indent="0" marL="0">
              <a:lnSpc>
                <a:spcPts val="5050"/>
              </a:lnSpc>
              <a:buNone/>
            </a:pPr>
            <a:r>
              <a:rPr lang="en-US" sz="4050" b="1" spc="-122" kern="0" dirty="0">
                <a:solidFill>
                  <a:srgbClr val="000000"/>
                </a:solidFill>
                <a:latin typeface="Inter Bold" pitchFamily="34" charset="0"/>
                <a:ea typeface="Inter Bold" pitchFamily="34" charset="-122"/>
                <a:cs typeface="Inter Bold" pitchFamily="34" charset="-120"/>
              </a:rPr>
              <a:t>KNN vs Other Machine Learning Algorithms</a:t>
            </a:r>
            <a:endParaRPr lang="en-US" sz="4050" dirty="0"/>
          </a:p>
        </p:txBody>
      </p:sp>
      <p:sp>
        <p:nvSpPr>
          <p:cNvPr id="3" name="Shape 1"/>
          <p:cNvSpPr/>
          <p:nvPr/>
        </p:nvSpPr>
        <p:spPr>
          <a:xfrm>
            <a:off x="693777" y="1966198"/>
            <a:ext cx="13242846" cy="5340191"/>
          </a:xfrm>
          <a:prstGeom prst="roundRect">
            <a:avLst>
              <a:gd name="adj" fmla="val 1559"/>
            </a:avLst>
          </a:prstGeom>
          <a:noFill/>
          <a:ln w="7620">
            <a:solidFill>
              <a:srgbClr val="000000">
                <a:alpha val="8000"/>
              </a:srgbClr>
            </a:solidFill>
            <a:prstDash val="solid"/>
          </a:ln>
        </p:spPr>
      </p:sp>
      <p:sp>
        <p:nvSpPr>
          <p:cNvPr id="4" name="Shape 2"/>
          <p:cNvSpPr/>
          <p:nvPr/>
        </p:nvSpPr>
        <p:spPr>
          <a:xfrm>
            <a:off x="701397" y="1973818"/>
            <a:ext cx="13227606" cy="570309"/>
          </a:xfrm>
          <a:prstGeom prst="rect">
            <a:avLst/>
          </a:prstGeom>
          <a:solidFill>
            <a:srgbClr val="FFFFFF">
              <a:alpha val="4000"/>
            </a:srgbClr>
          </a:solidFill>
          <a:ln/>
        </p:spPr>
      </p:sp>
      <p:sp>
        <p:nvSpPr>
          <p:cNvPr id="5" name="Text 3"/>
          <p:cNvSpPr/>
          <p:nvPr/>
        </p:nvSpPr>
        <p:spPr>
          <a:xfrm>
            <a:off x="899874" y="2100382"/>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Algorithm</a:t>
            </a:r>
            <a:endParaRPr lang="en-US" sz="1550" dirty="0"/>
          </a:p>
        </p:txBody>
      </p:sp>
      <p:sp>
        <p:nvSpPr>
          <p:cNvPr id="6" name="Text 4"/>
          <p:cNvSpPr/>
          <p:nvPr/>
        </p:nvSpPr>
        <p:spPr>
          <a:xfrm>
            <a:off x="4210526" y="2100382"/>
            <a:ext cx="290274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Advantages</a:t>
            </a:r>
            <a:endParaRPr lang="en-US" sz="1550" dirty="0"/>
          </a:p>
        </p:txBody>
      </p:sp>
      <p:sp>
        <p:nvSpPr>
          <p:cNvPr id="7" name="Text 5"/>
          <p:cNvSpPr/>
          <p:nvPr/>
        </p:nvSpPr>
        <p:spPr>
          <a:xfrm>
            <a:off x="7517368" y="2100382"/>
            <a:ext cx="290274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Disadvantages</a:t>
            </a:r>
            <a:endParaRPr lang="en-US" sz="1550" dirty="0"/>
          </a:p>
        </p:txBody>
      </p:sp>
      <p:sp>
        <p:nvSpPr>
          <p:cNvPr id="8" name="Text 6"/>
          <p:cNvSpPr/>
          <p:nvPr/>
        </p:nvSpPr>
        <p:spPr>
          <a:xfrm>
            <a:off x="10824210" y="2100382"/>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Best Use Cases</a:t>
            </a:r>
            <a:endParaRPr lang="en-US" sz="1550" dirty="0"/>
          </a:p>
        </p:txBody>
      </p:sp>
      <p:sp>
        <p:nvSpPr>
          <p:cNvPr id="9" name="Shape 7"/>
          <p:cNvSpPr/>
          <p:nvPr/>
        </p:nvSpPr>
        <p:spPr>
          <a:xfrm>
            <a:off x="701397" y="2544128"/>
            <a:ext cx="13227606" cy="1204674"/>
          </a:xfrm>
          <a:prstGeom prst="rect">
            <a:avLst/>
          </a:prstGeom>
          <a:solidFill>
            <a:srgbClr val="000000">
              <a:alpha val="4000"/>
            </a:srgbClr>
          </a:solidFill>
          <a:ln/>
        </p:spPr>
      </p:sp>
      <p:sp>
        <p:nvSpPr>
          <p:cNvPr id="10" name="Text 8"/>
          <p:cNvSpPr/>
          <p:nvPr/>
        </p:nvSpPr>
        <p:spPr>
          <a:xfrm>
            <a:off x="899874" y="2670691"/>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KNN</a:t>
            </a:r>
            <a:endParaRPr lang="en-US" sz="1550" dirty="0"/>
          </a:p>
        </p:txBody>
      </p:sp>
      <p:sp>
        <p:nvSpPr>
          <p:cNvPr id="11" name="Text 9"/>
          <p:cNvSpPr/>
          <p:nvPr/>
        </p:nvSpPr>
        <p:spPr>
          <a:xfrm>
            <a:off x="4210526" y="2670691"/>
            <a:ext cx="2902744" cy="951548"/>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Simple, no training phase, works with any number of classes</a:t>
            </a:r>
            <a:endParaRPr lang="en-US" sz="1550" dirty="0"/>
          </a:p>
        </p:txBody>
      </p:sp>
      <p:sp>
        <p:nvSpPr>
          <p:cNvPr id="12" name="Text 10"/>
          <p:cNvSpPr/>
          <p:nvPr/>
        </p:nvSpPr>
        <p:spPr>
          <a:xfrm>
            <a:off x="7517368" y="2670691"/>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Slow with large datasets, sensitive to irrelevant features</a:t>
            </a:r>
            <a:endParaRPr lang="en-US" sz="1550" dirty="0"/>
          </a:p>
        </p:txBody>
      </p:sp>
      <p:sp>
        <p:nvSpPr>
          <p:cNvPr id="13" name="Text 11"/>
          <p:cNvSpPr/>
          <p:nvPr/>
        </p:nvSpPr>
        <p:spPr>
          <a:xfrm>
            <a:off x="10824210" y="2670691"/>
            <a:ext cx="290655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Small to medium datasets with few features</a:t>
            </a:r>
            <a:endParaRPr lang="en-US" sz="1550" dirty="0"/>
          </a:p>
        </p:txBody>
      </p:sp>
      <p:sp>
        <p:nvSpPr>
          <p:cNvPr id="14" name="Shape 12"/>
          <p:cNvSpPr/>
          <p:nvPr/>
        </p:nvSpPr>
        <p:spPr>
          <a:xfrm>
            <a:off x="701397" y="3748802"/>
            <a:ext cx="13227606" cy="887492"/>
          </a:xfrm>
          <a:prstGeom prst="rect">
            <a:avLst/>
          </a:prstGeom>
          <a:solidFill>
            <a:srgbClr val="FFFFFF">
              <a:alpha val="4000"/>
            </a:srgbClr>
          </a:solidFill>
          <a:ln/>
        </p:spPr>
      </p:sp>
      <p:sp>
        <p:nvSpPr>
          <p:cNvPr id="15" name="Text 13"/>
          <p:cNvSpPr/>
          <p:nvPr/>
        </p:nvSpPr>
        <p:spPr>
          <a:xfrm>
            <a:off x="899874" y="3875365"/>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Decision Trees</a:t>
            </a:r>
            <a:endParaRPr lang="en-US" sz="1550" dirty="0"/>
          </a:p>
        </p:txBody>
      </p:sp>
      <p:sp>
        <p:nvSpPr>
          <p:cNvPr id="16" name="Text 14"/>
          <p:cNvSpPr/>
          <p:nvPr/>
        </p:nvSpPr>
        <p:spPr>
          <a:xfrm>
            <a:off x="4210526" y="3875365"/>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Easy to interpret, handles mixed data types</a:t>
            </a:r>
            <a:endParaRPr lang="en-US" sz="1550" dirty="0"/>
          </a:p>
        </p:txBody>
      </p:sp>
      <p:sp>
        <p:nvSpPr>
          <p:cNvPr id="17" name="Text 15"/>
          <p:cNvSpPr/>
          <p:nvPr/>
        </p:nvSpPr>
        <p:spPr>
          <a:xfrm>
            <a:off x="7517368" y="3875365"/>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Can overfit, unstable with small variations in data</a:t>
            </a:r>
            <a:endParaRPr lang="en-US" sz="1550" dirty="0"/>
          </a:p>
        </p:txBody>
      </p:sp>
      <p:sp>
        <p:nvSpPr>
          <p:cNvPr id="18" name="Text 16"/>
          <p:cNvSpPr/>
          <p:nvPr/>
        </p:nvSpPr>
        <p:spPr>
          <a:xfrm>
            <a:off x="10824210" y="3875365"/>
            <a:ext cx="290655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Categorical data, feature importance analysis</a:t>
            </a:r>
            <a:endParaRPr lang="en-US" sz="1550" dirty="0"/>
          </a:p>
        </p:txBody>
      </p:sp>
      <p:sp>
        <p:nvSpPr>
          <p:cNvPr id="19" name="Shape 17"/>
          <p:cNvSpPr/>
          <p:nvPr/>
        </p:nvSpPr>
        <p:spPr>
          <a:xfrm>
            <a:off x="701397" y="4636294"/>
            <a:ext cx="13227606" cy="887492"/>
          </a:xfrm>
          <a:prstGeom prst="rect">
            <a:avLst/>
          </a:prstGeom>
          <a:solidFill>
            <a:srgbClr val="000000">
              <a:alpha val="4000"/>
            </a:srgbClr>
          </a:solidFill>
          <a:ln/>
        </p:spPr>
      </p:sp>
      <p:sp>
        <p:nvSpPr>
          <p:cNvPr id="20" name="Text 18"/>
          <p:cNvSpPr/>
          <p:nvPr/>
        </p:nvSpPr>
        <p:spPr>
          <a:xfrm>
            <a:off x="899874" y="4762857"/>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Random Forest</a:t>
            </a:r>
            <a:endParaRPr lang="en-US" sz="1550" dirty="0"/>
          </a:p>
        </p:txBody>
      </p:sp>
      <p:sp>
        <p:nvSpPr>
          <p:cNvPr id="21" name="Text 19"/>
          <p:cNvSpPr/>
          <p:nvPr/>
        </p:nvSpPr>
        <p:spPr>
          <a:xfrm>
            <a:off x="4210526" y="4762857"/>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Robust to overfitting, handles large datasets</a:t>
            </a:r>
            <a:endParaRPr lang="en-US" sz="1550" dirty="0"/>
          </a:p>
        </p:txBody>
      </p:sp>
      <p:sp>
        <p:nvSpPr>
          <p:cNvPr id="22" name="Text 20"/>
          <p:cNvSpPr/>
          <p:nvPr/>
        </p:nvSpPr>
        <p:spPr>
          <a:xfrm>
            <a:off x="7517368" y="4762857"/>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Black box model, computationally intensive</a:t>
            </a:r>
            <a:endParaRPr lang="en-US" sz="1550" dirty="0"/>
          </a:p>
        </p:txBody>
      </p:sp>
      <p:sp>
        <p:nvSpPr>
          <p:cNvPr id="23" name="Text 21"/>
          <p:cNvSpPr/>
          <p:nvPr/>
        </p:nvSpPr>
        <p:spPr>
          <a:xfrm>
            <a:off x="10824210" y="4762857"/>
            <a:ext cx="290655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Complex datasets with many features</a:t>
            </a:r>
            <a:endParaRPr lang="en-US" sz="1550" dirty="0"/>
          </a:p>
        </p:txBody>
      </p:sp>
      <p:sp>
        <p:nvSpPr>
          <p:cNvPr id="24" name="Shape 22"/>
          <p:cNvSpPr/>
          <p:nvPr/>
        </p:nvSpPr>
        <p:spPr>
          <a:xfrm>
            <a:off x="701397" y="5523786"/>
            <a:ext cx="13227606" cy="887492"/>
          </a:xfrm>
          <a:prstGeom prst="rect">
            <a:avLst/>
          </a:prstGeom>
          <a:solidFill>
            <a:srgbClr val="FFFFFF">
              <a:alpha val="4000"/>
            </a:srgbClr>
          </a:solidFill>
          <a:ln/>
        </p:spPr>
      </p:sp>
      <p:sp>
        <p:nvSpPr>
          <p:cNvPr id="25" name="Text 23"/>
          <p:cNvSpPr/>
          <p:nvPr/>
        </p:nvSpPr>
        <p:spPr>
          <a:xfrm>
            <a:off x="899874" y="5650349"/>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SVM</a:t>
            </a:r>
            <a:endParaRPr lang="en-US" sz="1550" dirty="0"/>
          </a:p>
        </p:txBody>
      </p:sp>
      <p:sp>
        <p:nvSpPr>
          <p:cNvPr id="26" name="Text 24"/>
          <p:cNvSpPr/>
          <p:nvPr/>
        </p:nvSpPr>
        <p:spPr>
          <a:xfrm>
            <a:off x="4210526" y="5650349"/>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Effective in high dimensions, memory efficient</a:t>
            </a:r>
            <a:endParaRPr lang="en-US" sz="1550" dirty="0"/>
          </a:p>
        </p:txBody>
      </p:sp>
      <p:sp>
        <p:nvSpPr>
          <p:cNvPr id="27" name="Text 25"/>
          <p:cNvSpPr/>
          <p:nvPr/>
        </p:nvSpPr>
        <p:spPr>
          <a:xfrm>
            <a:off x="7517368" y="5650349"/>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Difficult parameter tuning, slow training with large datasets</a:t>
            </a:r>
            <a:endParaRPr lang="en-US" sz="1550" dirty="0"/>
          </a:p>
        </p:txBody>
      </p:sp>
      <p:sp>
        <p:nvSpPr>
          <p:cNvPr id="28" name="Text 26"/>
          <p:cNvSpPr/>
          <p:nvPr/>
        </p:nvSpPr>
        <p:spPr>
          <a:xfrm>
            <a:off x="10824210" y="5650349"/>
            <a:ext cx="290655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Text classification, image recognition</a:t>
            </a:r>
            <a:endParaRPr lang="en-US" sz="1550" dirty="0"/>
          </a:p>
        </p:txBody>
      </p:sp>
      <p:sp>
        <p:nvSpPr>
          <p:cNvPr id="29" name="Shape 27"/>
          <p:cNvSpPr/>
          <p:nvPr/>
        </p:nvSpPr>
        <p:spPr>
          <a:xfrm>
            <a:off x="701397" y="6411278"/>
            <a:ext cx="13227606" cy="887492"/>
          </a:xfrm>
          <a:prstGeom prst="rect">
            <a:avLst/>
          </a:prstGeom>
          <a:solidFill>
            <a:srgbClr val="000000">
              <a:alpha val="4000"/>
            </a:srgbClr>
          </a:solidFill>
          <a:ln/>
        </p:spPr>
      </p:sp>
      <p:sp>
        <p:nvSpPr>
          <p:cNvPr id="30" name="Text 28"/>
          <p:cNvSpPr/>
          <p:nvPr/>
        </p:nvSpPr>
        <p:spPr>
          <a:xfrm>
            <a:off x="899874" y="6537841"/>
            <a:ext cx="2906554" cy="317183"/>
          </a:xfrm>
          <a:prstGeom prst="rect">
            <a:avLst/>
          </a:prstGeom>
          <a:noFill/>
          <a:ln/>
        </p:spPr>
        <p:txBody>
          <a:bodyPr wrap="non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Neural Networks</a:t>
            </a:r>
            <a:endParaRPr lang="en-US" sz="1550" dirty="0"/>
          </a:p>
        </p:txBody>
      </p:sp>
      <p:sp>
        <p:nvSpPr>
          <p:cNvPr id="31" name="Text 29"/>
          <p:cNvSpPr/>
          <p:nvPr/>
        </p:nvSpPr>
        <p:spPr>
          <a:xfrm>
            <a:off x="4210526" y="6537841"/>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Captures complex patterns, highly accurate</a:t>
            </a:r>
            <a:endParaRPr lang="en-US" sz="1550" dirty="0"/>
          </a:p>
        </p:txBody>
      </p:sp>
      <p:sp>
        <p:nvSpPr>
          <p:cNvPr id="32" name="Text 30"/>
          <p:cNvSpPr/>
          <p:nvPr/>
        </p:nvSpPr>
        <p:spPr>
          <a:xfrm>
            <a:off x="7517368" y="6537841"/>
            <a:ext cx="290274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Requires large data, computationally expensive</a:t>
            </a:r>
            <a:endParaRPr lang="en-US" sz="1550" dirty="0"/>
          </a:p>
        </p:txBody>
      </p:sp>
      <p:sp>
        <p:nvSpPr>
          <p:cNvPr id="33" name="Text 31"/>
          <p:cNvSpPr/>
          <p:nvPr/>
        </p:nvSpPr>
        <p:spPr>
          <a:xfrm>
            <a:off x="10824210" y="6537841"/>
            <a:ext cx="2906554" cy="634365"/>
          </a:xfrm>
          <a:prstGeom prst="rect">
            <a:avLst/>
          </a:prstGeom>
          <a:noFill/>
          <a:ln/>
        </p:spPr>
        <p:txBody>
          <a:bodyPr wrap="square" lIns="0" tIns="0" rIns="0" bIns="0" rtlCol="0" anchor="t"/>
          <a:lstStyle/>
          <a:p>
            <a:pPr algn="l" indent="0" marL="0">
              <a:lnSpc>
                <a:spcPts val="2450"/>
              </a:lnSpc>
              <a:buNone/>
            </a:pPr>
            <a:r>
              <a:rPr lang="en-US" sz="1550" spc="-31" kern="0" dirty="0">
                <a:solidFill>
                  <a:srgbClr val="272525"/>
                </a:solidFill>
                <a:latin typeface="Inter" pitchFamily="34" charset="0"/>
                <a:ea typeface="Inter" pitchFamily="34" charset="-122"/>
                <a:cs typeface="Inter" pitchFamily="34" charset="-120"/>
              </a:rPr>
              <a:t>Image/speech recognition, complex predictions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1766" y="794861"/>
            <a:ext cx="11832550" cy="737711"/>
          </a:xfrm>
          <a:prstGeom prst="rect">
            <a:avLst/>
          </a:prstGeom>
          <a:noFill/>
          <a:ln/>
        </p:spPr>
        <p:txBody>
          <a:bodyPr wrap="none" lIns="0" tIns="0" rIns="0" bIns="0" rtlCol="0" anchor="t"/>
          <a:lstStyle/>
          <a:p>
            <a:pPr algn="l" indent="0" marL="0">
              <a:lnSpc>
                <a:spcPts val="5800"/>
              </a:lnSpc>
              <a:buNone/>
            </a:pPr>
            <a:r>
              <a:rPr lang="en-US" sz="4600" b="1" spc="-139" kern="0" dirty="0">
                <a:solidFill>
                  <a:srgbClr val="000000"/>
                </a:solidFill>
                <a:latin typeface="Inter Bold" pitchFamily="34" charset="0"/>
                <a:ea typeface="Inter Bold" pitchFamily="34" charset="-122"/>
                <a:cs typeface="Inter Bold" pitchFamily="34" charset="-120"/>
              </a:rPr>
              <a:t>Summary: Key Points About KNN Algorithm</a:t>
            </a:r>
            <a:endParaRPr lang="en-US" sz="4600" dirty="0"/>
          </a:p>
        </p:txBody>
      </p:sp>
      <p:sp>
        <p:nvSpPr>
          <p:cNvPr id="3" name="Text 1"/>
          <p:cNvSpPr/>
          <p:nvPr/>
        </p:nvSpPr>
        <p:spPr>
          <a:xfrm>
            <a:off x="1741884" y="2286357"/>
            <a:ext cx="2950726" cy="368737"/>
          </a:xfrm>
          <a:prstGeom prst="rect">
            <a:avLst/>
          </a:prstGeom>
          <a:noFill/>
          <a:ln/>
        </p:spPr>
        <p:txBody>
          <a:bodyPr wrap="none" lIns="0" tIns="0" rIns="0" bIns="0" rtlCol="0" anchor="t"/>
          <a:lstStyle/>
          <a:p>
            <a:pPr algn="r" indent="0" marL="0">
              <a:lnSpc>
                <a:spcPts val="2900"/>
              </a:lnSpc>
              <a:buNone/>
            </a:pPr>
            <a:r>
              <a:rPr lang="en-US" sz="2300" b="1" spc="-70" kern="0" dirty="0">
                <a:solidFill>
                  <a:srgbClr val="272525"/>
                </a:solidFill>
                <a:latin typeface="Inter Bold" pitchFamily="34" charset="0"/>
                <a:ea typeface="Inter Bold" pitchFamily="34" charset="-122"/>
                <a:cs typeface="Inter Bold" pitchFamily="34" charset="-120"/>
              </a:rPr>
              <a:t>Core Concept</a:t>
            </a:r>
            <a:endParaRPr lang="en-US" sz="2300" dirty="0"/>
          </a:p>
        </p:txBody>
      </p:sp>
      <p:sp>
        <p:nvSpPr>
          <p:cNvPr id="4" name="Text 2"/>
          <p:cNvSpPr/>
          <p:nvPr/>
        </p:nvSpPr>
        <p:spPr>
          <a:xfrm>
            <a:off x="791766" y="2790825"/>
            <a:ext cx="3900845" cy="1447800"/>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KNN classifies data points based on the majority class of their k nearest neighbors, using distance metrics to determine proximity</a:t>
            </a:r>
            <a:endParaRPr lang="en-US" sz="1750" dirty="0"/>
          </a:p>
        </p:txBody>
      </p:sp>
      <p:pic>
        <p:nvPicPr>
          <p:cNvPr id="5" name="Image 0" descr="preencoded.png">    </p:cNvPr>
          <p:cNvPicPr>
            <a:picLocks noChangeAspect="1"/>
          </p:cNvPicPr>
          <p:nvPr/>
        </p:nvPicPr>
        <p:blipFill>
          <a:blip r:embed="rId1"/>
          <a:stretch>
            <a:fillRect/>
          </a:stretch>
        </p:blipFill>
        <p:spPr>
          <a:xfrm>
            <a:off x="5031938" y="2426613"/>
            <a:ext cx="4566404" cy="4566404"/>
          </a:xfrm>
          <a:prstGeom prst="rect">
            <a:avLst/>
          </a:prstGeom>
        </p:spPr>
      </p:pic>
      <p:pic>
        <p:nvPicPr>
          <p:cNvPr id="6" name="Image 1" descr="preencoded.png">    </p:cNvPr>
          <p:cNvPicPr>
            <a:picLocks noChangeAspect="1"/>
          </p:cNvPicPr>
          <p:nvPr/>
        </p:nvPicPr>
        <p:blipFill>
          <a:blip r:embed="rId2"/>
          <a:stretch>
            <a:fillRect/>
          </a:stretch>
        </p:blipFill>
        <p:spPr>
          <a:xfrm>
            <a:off x="6033492" y="3350419"/>
            <a:ext cx="338495" cy="423029"/>
          </a:xfrm>
          <a:prstGeom prst="rect">
            <a:avLst/>
          </a:prstGeom>
        </p:spPr>
      </p:pic>
      <p:sp>
        <p:nvSpPr>
          <p:cNvPr id="7" name="Text 3"/>
          <p:cNvSpPr/>
          <p:nvPr/>
        </p:nvSpPr>
        <p:spPr>
          <a:xfrm>
            <a:off x="9937671" y="1985010"/>
            <a:ext cx="2950726" cy="368737"/>
          </a:xfrm>
          <a:prstGeom prst="rect">
            <a:avLst/>
          </a:prstGeom>
          <a:noFill/>
          <a:ln/>
        </p:spPr>
        <p:txBody>
          <a:bodyPr wrap="none" lIns="0" tIns="0" rIns="0" bIns="0" rtlCol="0" anchor="t"/>
          <a:lstStyle/>
          <a:p>
            <a:pPr algn="l" indent="0" marL="0">
              <a:lnSpc>
                <a:spcPts val="2900"/>
              </a:lnSpc>
              <a:buNone/>
            </a:pPr>
            <a:r>
              <a:rPr lang="en-US" sz="2300" b="1" spc="-70" kern="0" dirty="0">
                <a:solidFill>
                  <a:srgbClr val="272525"/>
                </a:solidFill>
                <a:latin typeface="Inter Bold" pitchFamily="34" charset="0"/>
                <a:ea typeface="Inter Bold" pitchFamily="34" charset="-122"/>
                <a:cs typeface="Inter Bold" pitchFamily="34" charset="-120"/>
              </a:rPr>
              <a:t>Key Parameters</a:t>
            </a:r>
            <a:endParaRPr lang="en-US" sz="2300" dirty="0"/>
          </a:p>
        </p:txBody>
      </p:sp>
      <p:sp>
        <p:nvSpPr>
          <p:cNvPr id="8" name="Text 4"/>
          <p:cNvSpPr/>
          <p:nvPr/>
        </p:nvSpPr>
        <p:spPr>
          <a:xfrm>
            <a:off x="9937671" y="2489478"/>
            <a:ext cx="3900964" cy="108585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The value of k and the choice of distance metric are critical for optimal performance</a:t>
            </a:r>
            <a:endParaRPr lang="en-US" sz="1750" dirty="0"/>
          </a:p>
        </p:txBody>
      </p:sp>
      <p:pic>
        <p:nvPicPr>
          <p:cNvPr id="9" name="Image 2" descr="preencoded.png">    </p:cNvPr>
          <p:cNvPicPr>
            <a:picLocks noChangeAspect="1"/>
          </p:cNvPicPr>
          <p:nvPr/>
        </p:nvPicPr>
        <p:blipFill>
          <a:blip r:embed="rId3"/>
          <a:stretch>
            <a:fillRect/>
          </a:stretch>
        </p:blipFill>
        <p:spPr>
          <a:xfrm>
            <a:off x="5031938" y="2426613"/>
            <a:ext cx="4566404" cy="4566404"/>
          </a:xfrm>
          <a:prstGeom prst="rect">
            <a:avLst/>
          </a:prstGeom>
        </p:spPr>
      </p:pic>
      <p:pic>
        <p:nvPicPr>
          <p:cNvPr id="10" name="Image 3" descr="preencoded.png">    </p:cNvPr>
          <p:cNvPicPr>
            <a:picLocks noChangeAspect="1"/>
          </p:cNvPicPr>
          <p:nvPr/>
        </p:nvPicPr>
        <p:blipFill>
          <a:blip r:embed="rId4"/>
          <a:stretch>
            <a:fillRect/>
          </a:stretch>
        </p:blipFill>
        <p:spPr>
          <a:xfrm>
            <a:off x="7893606" y="3085743"/>
            <a:ext cx="338495" cy="423029"/>
          </a:xfrm>
          <a:prstGeom prst="rect">
            <a:avLst/>
          </a:prstGeom>
        </p:spPr>
      </p:pic>
      <p:sp>
        <p:nvSpPr>
          <p:cNvPr id="11" name="Text 5"/>
          <p:cNvSpPr/>
          <p:nvPr/>
        </p:nvSpPr>
        <p:spPr>
          <a:xfrm>
            <a:off x="10050780" y="3914656"/>
            <a:ext cx="2950726" cy="368737"/>
          </a:xfrm>
          <a:prstGeom prst="rect">
            <a:avLst/>
          </a:prstGeom>
          <a:noFill/>
          <a:ln/>
        </p:spPr>
        <p:txBody>
          <a:bodyPr wrap="none" lIns="0" tIns="0" rIns="0" bIns="0" rtlCol="0" anchor="t"/>
          <a:lstStyle/>
          <a:p>
            <a:pPr algn="l" indent="0" marL="0">
              <a:lnSpc>
                <a:spcPts val="2900"/>
              </a:lnSpc>
              <a:buNone/>
            </a:pPr>
            <a:r>
              <a:rPr lang="en-US" sz="2300" b="1" spc="-70" kern="0" dirty="0">
                <a:solidFill>
                  <a:srgbClr val="272525"/>
                </a:solidFill>
                <a:latin typeface="Inter Bold" pitchFamily="34" charset="0"/>
                <a:ea typeface="Inter Bold" pitchFamily="34" charset="-122"/>
                <a:cs typeface="Inter Bold" pitchFamily="34" charset="-120"/>
              </a:rPr>
              <a:t>Strengths</a:t>
            </a:r>
            <a:endParaRPr lang="en-US" sz="2300" dirty="0"/>
          </a:p>
        </p:txBody>
      </p:sp>
      <p:sp>
        <p:nvSpPr>
          <p:cNvPr id="12" name="Text 6"/>
          <p:cNvSpPr/>
          <p:nvPr/>
        </p:nvSpPr>
        <p:spPr>
          <a:xfrm>
            <a:off x="10050780" y="4419124"/>
            <a:ext cx="3787854" cy="108585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Simple implementation, no training phase, works for both classification and regression</a:t>
            </a:r>
            <a:endParaRPr lang="en-US" sz="1750" dirty="0"/>
          </a:p>
        </p:txBody>
      </p:sp>
      <p:pic>
        <p:nvPicPr>
          <p:cNvPr id="13" name="Image 4" descr="preencoded.png">    </p:cNvPr>
          <p:cNvPicPr>
            <a:picLocks noChangeAspect="1"/>
          </p:cNvPicPr>
          <p:nvPr/>
        </p:nvPicPr>
        <p:blipFill>
          <a:blip r:embed="rId5"/>
          <a:stretch>
            <a:fillRect/>
          </a:stretch>
        </p:blipFill>
        <p:spPr>
          <a:xfrm>
            <a:off x="5031938" y="2426613"/>
            <a:ext cx="4566404" cy="4566404"/>
          </a:xfrm>
          <a:prstGeom prst="rect">
            <a:avLst/>
          </a:prstGeom>
        </p:spPr>
      </p:pic>
      <p:pic>
        <p:nvPicPr>
          <p:cNvPr id="14" name="Image 5" descr="preencoded.png">    </p:cNvPr>
          <p:cNvPicPr>
            <a:picLocks noChangeAspect="1"/>
          </p:cNvPicPr>
          <p:nvPr/>
        </p:nvPicPr>
        <p:blipFill>
          <a:blip r:embed="rId6"/>
          <a:stretch>
            <a:fillRect/>
          </a:stretch>
        </p:blipFill>
        <p:spPr>
          <a:xfrm>
            <a:off x="8720257" y="4772978"/>
            <a:ext cx="338495" cy="423029"/>
          </a:xfrm>
          <a:prstGeom prst="rect">
            <a:avLst/>
          </a:prstGeom>
        </p:spPr>
      </p:pic>
      <p:sp>
        <p:nvSpPr>
          <p:cNvPr id="15" name="Text 7"/>
          <p:cNvSpPr/>
          <p:nvPr/>
        </p:nvSpPr>
        <p:spPr>
          <a:xfrm>
            <a:off x="9937671" y="5844302"/>
            <a:ext cx="2950726" cy="368737"/>
          </a:xfrm>
          <a:prstGeom prst="rect">
            <a:avLst/>
          </a:prstGeom>
          <a:noFill/>
          <a:ln/>
        </p:spPr>
        <p:txBody>
          <a:bodyPr wrap="none" lIns="0" tIns="0" rIns="0" bIns="0" rtlCol="0" anchor="t"/>
          <a:lstStyle/>
          <a:p>
            <a:pPr algn="l" indent="0" marL="0">
              <a:lnSpc>
                <a:spcPts val="2900"/>
              </a:lnSpc>
              <a:buNone/>
            </a:pPr>
            <a:r>
              <a:rPr lang="en-US" sz="2300" b="1" spc="-70" kern="0" dirty="0">
                <a:solidFill>
                  <a:srgbClr val="272525"/>
                </a:solidFill>
                <a:latin typeface="Inter Bold" pitchFamily="34" charset="0"/>
                <a:ea typeface="Inter Bold" pitchFamily="34" charset="-122"/>
                <a:cs typeface="Inter Bold" pitchFamily="34" charset="-120"/>
              </a:rPr>
              <a:t>Limitations</a:t>
            </a:r>
            <a:endParaRPr lang="en-US" sz="2300" dirty="0"/>
          </a:p>
        </p:txBody>
      </p:sp>
      <p:sp>
        <p:nvSpPr>
          <p:cNvPr id="16" name="Text 8"/>
          <p:cNvSpPr/>
          <p:nvPr/>
        </p:nvSpPr>
        <p:spPr>
          <a:xfrm>
            <a:off x="9937671" y="6348770"/>
            <a:ext cx="3900964" cy="108585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Computationally expensive for large datasets, sensitive to the curse of dimensionality</a:t>
            </a:r>
            <a:endParaRPr lang="en-US" sz="1750" dirty="0"/>
          </a:p>
        </p:txBody>
      </p:sp>
      <p:pic>
        <p:nvPicPr>
          <p:cNvPr id="17" name="Image 6" descr="preencoded.png">    </p:cNvPr>
          <p:cNvPicPr>
            <a:picLocks noChangeAspect="1"/>
          </p:cNvPicPr>
          <p:nvPr/>
        </p:nvPicPr>
        <p:blipFill>
          <a:blip r:embed="rId7"/>
          <a:stretch>
            <a:fillRect/>
          </a:stretch>
        </p:blipFill>
        <p:spPr>
          <a:xfrm>
            <a:off x="5031938" y="2426613"/>
            <a:ext cx="4566404" cy="4566404"/>
          </a:xfrm>
          <a:prstGeom prst="rect">
            <a:avLst/>
          </a:prstGeom>
        </p:spPr>
      </p:pic>
      <p:pic>
        <p:nvPicPr>
          <p:cNvPr id="18" name="Image 7" descr="preencoded.png">    </p:cNvPr>
          <p:cNvPicPr>
            <a:picLocks noChangeAspect="1"/>
          </p:cNvPicPr>
          <p:nvPr/>
        </p:nvPicPr>
        <p:blipFill>
          <a:blip r:embed="rId8"/>
          <a:stretch>
            <a:fillRect/>
          </a:stretch>
        </p:blipFill>
        <p:spPr>
          <a:xfrm>
            <a:off x="7370921" y="6080522"/>
            <a:ext cx="338495" cy="423029"/>
          </a:xfrm>
          <a:prstGeom prst="rect">
            <a:avLst/>
          </a:prstGeom>
        </p:spPr>
      </p:pic>
      <p:sp>
        <p:nvSpPr>
          <p:cNvPr id="19" name="Text 9"/>
          <p:cNvSpPr/>
          <p:nvPr/>
        </p:nvSpPr>
        <p:spPr>
          <a:xfrm>
            <a:off x="1741884" y="5361861"/>
            <a:ext cx="2950726" cy="368737"/>
          </a:xfrm>
          <a:prstGeom prst="rect">
            <a:avLst/>
          </a:prstGeom>
          <a:noFill/>
          <a:ln/>
        </p:spPr>
        <p:txBody>
          <a:bodyPr wrap="none" lIns="0" tIns="0" rIns="0" bIns="0" rtlCol="0" anchor="t"/>
          <a:lstStyle/>
          <a:p>
            <a:pPr algn="r" indent="0" marL="0">
              <a:lnSpc>
                <a:spcPts val="2900"/>
              </a:lnSpc>
              <a:buNone/>
            </a:pPr>
            <a:r>
              <a:rPr lang="en-US" sz="2300" b="1" spc="-70" kern="0" dirty="0">
                <a:solidFill>
                  <a:srgbClr val="272525"/>
                </a:solidFill>
                <a:latin typeface="Inter Bold" pitchFamily="34" charset="0"/>
                <a:ea typeface="Inter Bold" pitchFamily="34" charset="-122"/>
                <a:cs typeface="Inter Bold" pitchFamily="34" charset="-120"/>
              </a:rPr>
              <a:t>Applications</a:t>
            </a:r>
            <a:endParaRPr lang="en-US" sz="2300" dirty="0"/>
          </a:p>
        </p:txBody>
      </p:sp>
      <p:sp>
        <p:nvSpPr>
          <p:cNvPr id="20" name="Text 10"/>
          <p:cNvSpPr/>
          <p:nvPr/>
        </p:nvSpPr>
        <p:spPr>
          <a:xfrm>
            <a:off x="791766" y="5866328"/>
            <a:ext cx="3900845" cy="1085850"/>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Recommendation systems, spam detection, customer segmentation, and speech recognition</a:t>
            </a:r>
            <a:endParaRPr lang="en-US" sz="1750" dirty="0"/>
          </a:p>
        </p:txBody>
      </p:sp>
      <p:pic>
        <p:nvPicPr>
          <p:cNvPr id="21" name="Image 8" descr="preencoded.png">    </p:cNvPr>
          <p:cNvPicPr>
            <a:picLocks noChangeAspect="1"/>
          </p:cNvPicPr>
          <p:nvPr/>
        </p:nvPicPr>
        <p:blipFill>
          <a:blip r:embed="rId9"/>
          <a:stretch>
            <a:fillRect/>
          </a:stretch>
        </p:blipFill>
        <p:spPr>
          <a:xfrm>
            <a:off x="5031938" y="2426613"/>
            <a:ext cx="4566404" cy="4566404"/>
          </a:xfrm>
          <a:prstGeom prst="rect">
            <a:avLst/>
          </a:prstGeom>
        </p:spPr>
      </p:pic>
      <p:pic>
        <p:nvPicPr>
          <p:cNvPr id="22" name="Image 9" descr="preencoded.png">    </p:cNvPr>
          <p:cNvPicPr>
            <a:picLocks noChangeAspect="1"/>
          </p:cNvPicPr>
          <p:nvPr/>
        </p:nvPicPr>
        <p:blipFill>
          <a:blip r:embed="rId10"/>
          <a:stretch>
            <a:fillRect/>
          </a:stretch>
        </p:blipFill>
        <p:spPr>
          <a:xfrm>
            <a:off x="5710476" y="5201364"/>
            <a:ext cx="338495" cy="4230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2025-04-27T11:34:48Z</dcterms:created>
  <dcterms:modified xsi:type="dcterms:W3CDTF">2025-04-27T11:34:48Z</dcterms:modified>
</cp:coreProperties>
</file>