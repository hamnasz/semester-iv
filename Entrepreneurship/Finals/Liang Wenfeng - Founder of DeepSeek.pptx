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0" r:id="rId3"/>
    <p:sldId id="256" r:id="rId4"/>
    <p:sldId id="271" r:id="rId5"/>
    <p:sldId id="268" r:id="rId6"/>
    <p:sldId id="272" r:id="rId7"/>
    <p:sldId id="269" r:id="rId8"/>
    <p:sldId id="260" r:id="rId9"/>
    <p:sldId id="261" r:id="rId10"/>
    <p:sldId id="263" r:id="rId11"/>
    <p:sldId id="264" r:id="rId12"/>
    <p:sldId id="265" r:id="rId13"/>
    <p:sldId id="273" r:id="rId14"/>
    <p:sldId id="274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147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16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03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8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5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7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62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823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3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25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05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60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199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ACB2A9A-1449-45B9-BF6D-1964A9CB1743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3E963C6-3B57-40BB-9800-4D587434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28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C2A2418-0E5A-4445-33C1-ADF94C3C03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Liang </a:t>
            </a:r>
            <a:r>
              <a:rPr lang="en-US" dirty="0" err="1"/>
              <a:t>Wenfeng</a:t>
            </a:r>
            <a:r>
              <a:rPr lang="en-US" dirty="0"/>
              <a:t>: Pioneering Success in Entrepreneurship and Artificial Intelligence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97D7BB5E-A2E7-1F7A-4363-B9B56FFBD8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Exploring the Journey of </a:t>
            </a:r>
            <a:r>
              <a:rPr lang="en-US" dirty="0" err="1"/>
              <a:t>DeepSeek's</a:t>
            </a:r>
            <a:r>
              <a:rPr lang="en-US" dirty="0"/>
              <a:t> Visionary Founder​</a:t>
            </a:r>
          </a:p>
        </p:txBody>
      </p:sp>
    </p:spTree>
    <p:extLst>
      <p:ext uri="{BB962C8B-B14F-4D97-AF65-F5344CB8AC3E}">
        <p14:creationId xmlns:p14="http://schemas.microsoft.com/office/powerpoint/2010/main" val="27114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059EFF-25FE-5189-659A-BF38BE34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way to predict the future is to create it.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6CD35D-33CF-7F4E-A519-7B0A8DF03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17314" y="5029199"/>
            <a:ext cx="6583033" cy="997857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dirty="0" err="1"/>
              <a:t>DeepSeek’s</a:t>
            </a:r>
            <a:r>
              <a:rPr lang="en-US" dirty="0"/>
              <a:t> Founder Disrupted the AI Industry with Vision &amp; Strategy</a:t>
            </a:r>
          </a:p>
        </p:txBody>
      </p:sp>
    </p:spTree>
    <p:extLst>
      <p:ext uri="{BB962C8B-B14F-4D97-AF65-F5344CB8AC3E}">
        <p14:creationId xmlns:p14="http://schemas.microsoft.com/office/powerpoint/2010/main" val="1218686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E5B3CC-8532-FC42-0979-A224D1BE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Life and Education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E17F9-B668-FF27-1380-65243EB1A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4A7049-9877-508A-B038-1D82531C5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46AC6F-B112-D08F-DF89-3F4EAF557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University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96873D-5354-D2F8-8737-CA4CAA0D1534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/>
              <a:t>Born in 1985 in Zhanjiang, Guangdong, China, to a family of educators.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68AC4D-49E6-101D-487A-5DC57DF68E4E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/>
              <a:t>Excelled academically, leading to top scores in the Gaokao examination.​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93C8D0-FC5D-7A50-359A-1CD2C5102532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Attended Zhejiang University, earning both bachelor's and master's degrees in electronic information engineering.</a:t>
            </a:r>
          </a:p>
        </p:txBody>
      </p:sp>
      <p:pic>
        <p:nvPicPr>
          <p:cNvPr id="1026" name="Picture 2" descr="Who Is Liang Wenfeng, the Founder of AI Disruptor DeepSeek? | Entrepreneur">
            <a:extLst>
              <a:ext uri="{FF2B5EF4-FFF2-40B4-BE49-F238E27FC236}">
                <a16:creationId xmlns:a16="http://schemas.microsoft.com/office/drawing/2014/main" id="{F347212A-4910-2B1A-B00B-AE304C471BB6}"/>
              </a:ext>
            </a:extLst>
          </p:cNvPr>
          <p:cNvPicPr>
            <a:picLocks noGrp="1" noChangeAspect="1" noChangeArrowheads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8" b="560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idu releases reasoning AI model to take on DeepSeek | Fortune">
            <a:extLst>
              <a:ext uri="{FF2B5EF4-FFF2-40B4-BE49-F238E27FC236}">
                <a16:creationId xmlns:a16="http://schemas.microsoft.com/office/drawing/2014/main" id="{87926AB3-3B38-AFFA-E2F1-CF8B1D25957C}"/>
              </a:ext>
            </a:extLst>
          </p:cNvPr>
          <p:cNvPicPr>
            <a:picLocks noGrp="1" noChangeAspect="1" noChangeArrowheads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9" b="561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et Liang Wenfeng, founder of latest AI sensation, DeepSeek ...">
            <a:extLst>
              <a:ext uri="{FF2B5EF4-FFF2-40B4-BE49-F238E27FC236}">
                <a16:creationId xmlns:a16="http://schemas.microsoft.com/office/drawing/2014/main" id="{430A4C56-BD78-DCA1-AD72-414A819094B7}"/>
              </a:ext>
            </a:extLst>
          </p:cNvPr>
          <p:cNvPicPr>
            <a:picLocks noGrp="1" noChangeAspect="1" noChangeArrowheads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" r="1716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22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0ABD-7442-367A-4297-09259DBA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92F7-1B25-3A70-96BC-69CE7165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Steps into Entrepreneurship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684588-622A-1BC4-D975-0F7A220BC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36273"/>
            <a:ext cx="10093149" cy="1644035"/>
          </a:xfrm>
        </p:spPr>
        <p:txBody>
          <a:bodyPr>
            <a:noAutofit/>
          </a:bodyPr>
          <a:lstStyle/>
          <a:p>
            <a:r>
              <a:rPr lang="en-US" dirty="0"/>
              <a:t>Founded High-Flyer Quantitative Hedge Fund (2015)</a:t>
            </a:r>
          </a:p>
          <a:p>
            <a:pPr lvl="1"/>
            <a:r>
              <a:rPr lang="en-US" sz="1800" dirty="0"/>
              <a:t>Used AI-powered stock trading</a:t>
            </a:r>
          </a:p>
          <a:p>
            <a:pPr lvl="1"/>
            <a:r>
              <a:rPr lang="en-US" sz="1800" dirty="0"/>
              <a:t>Managed over 100 billion yuan ($14 billion USD) in assets</a:t>
            </a:r>
          </a:p>
          <a:p>
            <a:pPr lvl="1"/>
            <a:r>
              <a:rPr lang="en-US" sz="1800" dirty="0"/>
              <a:t>Revolutionized algorithmic trading in China</a:t>
            </a:r>
          </a:p>
          <a:p>
            <a:r>
              <a:rPr lang="en-US" dirty="0"/>
              <a:t>Key Lesson for Entrepreneurs:</a:t>
            </a:r>
          </a:p>
          <a:p>
            <a:pPr lvl="1"/>
            <a:r>
              <a:rPr lang="en-US" sz="1800" dirty="0"/>
              <a:t>Identify gaps in the market – AI in finance was an emerging field.</a:t>
            </a:r>
          </a:p>
          <a:p>
            <a:pPr lvl="1"/>
            <a:r>
              <a:rPr lang="en-US" sz="1800" dirty="0"/>
              <a:t>Leverage technology – Used AI to outperform traditional trading methods.</a:t>
            </a:r>
          </a:p>
        </p:txBody>
      </p:sp>
    </p:spTree>
    <p:extLst>
      <p:ext uri="{BB962C8B-B14F-4D97-AF65-F5344CB8AC3E}">
        <p14:creationId xmlns:p14="http://schemas.microsoft.com/office/powerpoint/2010/main" val="2031357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12372-C06C-F960-5268-4EAB6815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8A25-90F1-5151-6D12-1E08AC2A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Vision and Foresight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7B4A42-4267-3287-BA56-1DABE9A9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10093149" cy="1644035"/>
          </a:xfrm>
        </p:spPr>
        <p:txBody>
          <a:bodyPr/>
          <a:lstStyle/>
          <a:p>
            <a:r>
              <a:rPr lang="en-US" b="1" dirty="0"/>
              <a:t>Anticipating AI's Rise: </a:t>
            </a:r>
            <a:r>
              <a:rPr lang="en-US" dirty="0"/>
              <a:t>In 2021, began acquiring NVIDIA GPUs, foreseeing their critical role in future AI developments.​ </a:t>
            </a: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</a:rPr>
              <a:t>(</a:t>
            </a:r>
            <a:r>
              <a:rPr lang="en-US" sz="1400" i="1" dirty="0" err="1">
                <a:solidFill>
                  <a:schemeClr val="accent3">
                    <a:lumMod val="75000"/>
                  </a:schemeClr>
                </a:solidFill>
              </a:rPr>
              <a:t>Encyclopaedia</a:t>
            </a: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</a:rPr>
              <a:t> Britannica)</a:t>
            </a:r>
          </a:p>
          <a:p>
            <a:r>
              <a:rPr lang="en-US" b="1" dirty="0"/>
              <a:t>Navigating Challenges: </a:t>
            </a:r>
            <a:r>
              <a:rPr lang="en-US" dirty="0"/>
              <a:t>This strategic move mitigated the impact of subsequent U.S. export restrictions on advanced AI chips to China. </a:t>
            </a: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</a:rPr>
              <a:t>(​</a:t>
            </a:r>
            <a:r>
              <a:rPr lang="en-US" sz="1400" i="1" dirty="0" err="1">
                <a:solidFill>
                  <a:schemeClr val="accent3">
                    <a:lumMod val="75000"/>
                  </a:schemeClr>
                </a:solidFill>
              </a:rPr>
              <a:t>Encyclopaedia</a:t>
            </a:r>
            <a:r>
              <a:rPr lang="en-US" sz="1400" i="1" dirty="0">
                <a:solidFill>
                  <a:schemeClr val="accent3">
                    <a:lumMod val="75000"/>
                  </a:schemeClr>
                </a:solidFill>
              </a:rPr>
              <a:t> Britannica, aidigitalx.com)</a:t>
            </a:r>
            <a:endParaRPr lang="en-US" i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7562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4BEDE-C607-5758-C5D8-BCB7A846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C3DF-58E6-4713-9BBD-C5F57E99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Steps into Entrepreneurship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F1C3348-B046-8BB8-3771-B39D9F3B9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36273"/>
            <a:ext cx="10093149" cy="1644035"/>
          </a:xfrm>
        </p:spPr>
        <p:txBody>
          <a:bodyPr>
            <a:noAutofit/>
          </a:bodyPr>
          <a:lstStyle/>
          <a:p>
            <a:r>
              <a:rPr lang="en-US" dirty="0"/>
              <a:t>In </a:t>
            </a:r>
            <a:r>
              <a:rPr lang="en-US" b="1" dirty="0"/>
              <a:t>2021</a:t>
            </a:r>
            <a:r>
              <a:rPr lang="en-US" dirty="0"/>
              <a:t>, started purchasing </a:t>
            </a:r>
            <a:r>
              <a:rPr lang="en-US" b="1" dirty="0"/>
              <a:t>NVIDIA GPUs </a:t>
            </a:r>
            <a:r>
              <a:rPr lang="en-US" dirty="0"/>
              <a:t>in bulk</a:t>
            </a:r>
          </a:p>
          <a:p>
            <a:pPr lvl="1"/>
            <a:r>
              <a:rPr lang="en-US" sz="1800" b="1" dirty="0"/>
              <a:t>Why? </a:t>
            </a:r>
            <a:r>
              <a:rPr lang="en-US" sz="1800" dirty="0"/>
              <a:t>He predicted that AI computing power would soon face restrictions</a:t>
            </a:r>
          </a:p>
          <a:p>
            <a:pPr lvl="1"/>
            <a:r>
              <a:rPr lang="en-US" sz="1800" b="1" dirty="0"/>
              <a:t>Outcome: </a:t>
            </a:r>
            <a:r>
              <a:rPr lang="en-US" sz="1800" dirty="0"/>
              <a:t>When the US banned chip exports to China, </a:t>
            </a:r>
            <a:r>
              <a:rPr lang="en-US" sz="1800" dirty="0" err="1"/>
              <a:t>DeepSeek</a:t>
            </a:r>
            <a:r>
              <a:rPr lang="en-US" sz="1800" dirty="0"/>
              <a:t> was unaffected</a:t>
            </a:r>
          </a:p>
          <a:p>
            <a:r>
              <a:rPr lang="en-US" b="1" dirty="0"/>
              <a:t>Entrepreneurial Takeaway:</a:t>
            </a:r>
          </a:p>
          <a:p>
            <a:pPr lvl="1"/>
            <a:r>
              <a:rPr lang="en-US" sz="1800" b="1" dirty="0"/>
              <a:t>Think ahead of the curve </a:t>
            </a:r>
            <a:r>
              <a:rPr lang="en-US" sz="1800" dirty="0"/>
              <a:t>– Make moves before others realize the opportunity.</a:t>
            </a:r>
          </a:p>
          <a:p>
            <a:pPr lvl="1"/>
            <a:r>
              <a:rPr lang="en-US" sz="1800" b="1" dirty="0"/>
              <a:t>Prepare for obstacles </a:t>
            </a:r>
            <a:r>
              <a:rPr lang="en-US" sz="1800" dirty="0"/>
              <a:t>– Successful businesses anticipate </a:t>
            </a:r>
            <a:r>
              <a:rPr lang="en-US" sz="1800" b="1" dirty="0"/>
              <a:t>crises</a:t>
            </a:r>
            <a:r>
              <a:rPr lang="en-US" sz="1800" dirty="0"/>
              <a:t> and </a:t>
            </a:r>
            <a:r>
              <a:rPr lang="en-US" sz="1800" b="1" dirty="0"/>
              <a:t>solve problems </a:t>
            </a:r>
            <a:r>
              <a:rPr lang="en-US" sz="1800" dirty="0"/>
              <a:t>before they arise.</a:t>
            </a:r>
          </a:p>
        </p:txBody>
      </p:sp>
    </p:spTree>
    <p:extLst>
      <p:ext uri="{BB962C8B-B14F-4D97-AF65-F5344CB8AC3E}">
        <p14:creationId xmlns:p14="http://schemas.microsoft.com/office/powerpoint/2010/main" val="4624735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FF5B8-B5B9-2327-F819-47472A2F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9AD5DC3-1C6D-A0A3-88E7-F6FA4E0115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Founding of </a:t>
            </a:r>
            <a:r>
              <a:rPr lang="en-US" dirty="0" err="1"/>
              <a:t>DeepSeek</a:t>
            </a:r>
            <a:endParaRPr lang="en-US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69AE4766-1235-E349-1429-7C9F1C4890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2023, founded </a:t>
            </a:r>
            <a:r>
              <a:rPr lang="en-US" dirty="0" err="1"/>
              <a:t>DeepSeek</a:t>
            </a:r>
            <a:r>
              <a:rPr lang="en-US" dirty="0"/>
              <a:t> with a modest capital of $1.4 million, focusing on artificial general intelligence.​ </a:t>
            </a:r>
            <a:r>
              <a:rPr lang="en-US" sz="1400" i="1" dirty="0">
                <a:solidFill>
                  <a:srgbClr val="FFFF00"/>
                </a:solidFill>
              </a:rPr>
              <a:t>(aidigitalx.com, </a:t>
            </a:r>
            <a:r>
              <a:rPr lang="en-US" sz="1400" i="1" dirty="0" err="1">
                <a:solidFill>
                  <a:srgbClr val="FFFF00"/>
                </a:solidFill>
              </a:rPr>
              <a:t>Encyclopaedia</a:t>
            </a:r>
            <a:r>
              <a:rPr lang="en-US" sz="1400" i="1" dirty="0">
                <a:solidFill>
                  <a:srgbClr val="FFFF00"/>
                </a:solidFill>
              </a:rPr>
              <a:t> Britannica)</a:t>
            </a:r>
            <a:endParaRPr lang="en-US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885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BB0EC5D-1DAB-C692-0BEA-E30B6BC8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Founding </a:t>
            </a:r>
            <a:r>
              <a:rPr lang="en-US" dirty="0" err="1"/>
              <a:t>DeepSeek</a:t>
            </a:r>
            <a:r>
              <a:rPr lang="en-US" dirty="0"/>
              <a:t> – Creating a New AI Giant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48EF02C1-C6E3-909A-43C9-2CCFD3BFC8D7}"/>
              </a:ext>
            </a:extLst>
          </p:cNvPr>
          <p:cNvSpPr txBox="1">
            <a:spLocks/>
          </p:cNvSpPr>
          <p:nvPr/>
        </p:nvSpPr>
        <p:spPr>
          <a:xfrm>
            <a:off x="1154954" y="2826326"/>
            <a:ext cx="10043988" cy="30580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Founded in 2023 with just $1.4 million capital</a:t>
            </a:r>
          </a:p>
          <a:p>
            <a:r>
              <a:rPr lang="en-US" b="1" dirty="0"/>
              <a:t>Mission: </a:t>
            </a:r>
            <a:r>
              <a:rPr lang="en-US" dirty="0"/>
              <a:t>To develop artificial general intelligence (AGI) at a lower cost</a:t>
            </a:r>
          </a:p>
          <a:p>
            <a:r>
              <a:rPr lang="en-US" b="1" dirty="0"/>
              <a:t>First Big Release </a:t>
            </a:r>
            <a:r>
              <a:rPr lang="en-US" dirty="0"/>
              <a:t>– DeepSeek-V2 (2024)</a:t>
            </a:r>
          </a:p>
          <a:p>
            <a:pPr lvl="1"/>
            <a:r>
              <a:rPr lang="en-US" sz="1800" dirty="0"/>
              <a:t>	</a:t>
            </a:r>
            <a:r>
              <a:rPr lang="en-US" sz="1800" b="1" dirty="0"/>
              <a:t>Cheaper</a:t>
            </a:r>
            <a:r>
              <a:rPr lang="en-US" sz="1800" dirty="0"/>
              <a:t> than OpenAI’s ChatGPT &amp; Google Gemini</a:t>
            </a:r>
          </a:p>
          <a:p>
            <a:pPr lvl="1"/>
            <a:r>
              <a:rPr lang="en-US" sz="1800" dirty="0"/>
              <a:t>	</a:t>
            </a:r>
            <a:r>
              <a:rPr lang="en-US" sz="1800" b="1" dirty="0"/>
              <a:t>Faster</a:t>
            </a:r>
            <a:r>
              <a:rPr lang="en-US" sz="1800" dirty="0"/>
              <a:t> and more </a:t>
            </a:r>
            <a:r>
              <a:rPr lang="en-US" sz="1800" b="1" dirty="0"/>
              <a:t>efficient</a:t>
            </a:r>
            <a:r>
              <a:rPr lang="en-US" sz="1800" dirty="0"/>
              <a:t> than other Chinese AI models</a:t>
            </a:r>
          </a:p>
          <a:p>
            <a:pPr lvl="1"/>
            <a:r>
              <a:rPr lang="en-US" sz="1800" dirty="0"/>
              <a:t>	</a:t>
            </a:r>
            <a:r>
              <a:rPr lang="en-US" sz="1800" b="1" dirty="0"/>
              <a:t>Disrupted the market </a:t>
            </a:r>
            <a:r>
              <a:rPr lang="en-US" sz="1800" dirty="0"/>
              <a:t>→ Started an </a:t>
            </a:r>
            <a:r>
              <a:rPr lang="en-US" sz="1800" b="1" dirty="0"/>
              <a:t>AI price war </a:t>
            </a:r>
            <a:r>
              <a:rPr lang="en-US" sz="1800" dirty="0"/>
              <a:t>in China</a:t>
            </a:r>
          </a:p>
          <a:p>
            <a:r>
              <a:rPr lang="en-US" b="1" dirty="0"/>
              <a:t>Lesson: </a:t>
            </a:r>
            <a:r>
              <a:rPr lang="en-US" dirty="0"/>
              <a:t>Disruptive innovation can help small startups compete with giants.</a:t>
            </a:r>
          </a:p>
        </p:txBody>
      </p:sp>
    </p:spTree>
    <p:extLst>
      <p:ext uri="{BB962C8B-B14F-4D97-AF65-F5344CB8AC3E}">
        <p14:creationId xmlns:p14="http://schemas.microsoft.com/office/powerpoint/2010/main" val="4041384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6AD3-AAA5-5B39-F582-DD94EA556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Breakthroughs and Market Impact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01F884-D71F-44CC-D77D-FF1D65B6B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6982"/>
            <a:ext cx="10093149" cy="3454859"/>
          </a:xfrm>
        </p:spPr>
        <p:txBody>
          <a:bodyPr>
            <a:noAutofit/>
          </a:bodyPr>
          <a:lstStyle/>
          <a:p>
            <a:r>
              <a:rPr lang="en-US" b="1" dirty="0" err="1"/>
              <a:t>DeepSeek’s</a:t>
            </a:r>
            <a:r>
              <a:rPr lang="en-US" b="1" dirty="0"/>
              <a:t> AI Model Success</a:t>
            </a:r>
          </a:p>
          <a:p>
            <a:pPr lvl="1"/>
            <a:r>
              <a:rPr lang="en-US" sz="1800" b="1" dirty="0"/>
              <a:t>Jan 2025: #1 </a:t>
            </a:r>
            <a:r>
              <a:rPr lang="en-US" sz="1800" dirty="0"/>
              <a:t>on U.S. iOS App Store</a:t>
            </a:r>
          </a:p>
          <a:p>
            <a:pPr lvl="1"/>
            <a:r>
              <a:rPr lang="en-US" sz="1800" dirty="0"/>
              <a:t>Surpassed </a:t>
            </a:r>
            <a:r>
              <a:rPr lang="en-US" sz="1800" b="1" dirty="0"/>
              <a:t>ChatGPT</a:t>
            </a:r>
            <a:r>
              <a:rPr lang="en-US" sz="1800" dirty="0"/>
              <a:t> in free user downloads</a:t>
            </a:r>
          </a:p>
          <a:p>
            <a:pPr lvl="1"/>
            <a:r>
              <a:rPr lang="en-US" sz="1800" dirty="0"/>
              <a:t>Became </a:t>
            </a:r>
            <a:r>
              <a:rPr lang="en-US" sz="1800" b="1" dirty="0"/>
              <a:t>China’s leading AI model </a:t>
            </a:r>
            <a:r>
              <a:rPr lang="en-US" sz="1800" dirty="0"/>
              <a:t>competing with OpenAI &amp; Google</a:t>
            </a:r>
          </a:p>
          <a:p>
            <a:r>
              <a:rPr lang="en-US" b="1" dirty="0"/>
              <a:t>What Made </a:t>
            </a:r>
            <a:r>
              <a:rPr lang="en-US" b="1" dirty="0" err="1"/>
              <a:t>DeepSeek</a:t>
            </a:r>
            <a:r>
              <a:rPr lang="en-US" b="1" dirty="0"/>
              <a:t> Stand Out?</a:t>
            </a:r>
          </a:p>
          <a:p>
            <a:pPr lvl="1"/>
            <a:r>
              <a:rPr lang="en-US" sz="1800" b="1" dirty="0"/>
              <a:t>Cost-Effective AI </a:t>
            </a:r>
            <a:r>
              <a:rPr lang="en-US" sz="1800" dirty="0"/>
              <a:t>– Offered high-quality </a:t>
            </a:r>
            <a:r>
              <a:rPr lang="en-US" sz="1800" b="1" dirty="0"/>
              <a:t>AI</a:t>
            </a:r>
            <a:r>
              <a:rPr lang="en-US" sz="1800" dirty="0"/>
              <a:t> at a </a:t>
            </a:r>
            <a:r>
              <a:rPr lang="en-US" sz="1800" b="1" dirty="0"/>
              <a:t>lower price</a:t>
            </a:r>
          </a:p>
          <a:p>
            <a:pPr lvl="1"/>
            <a:r>
              <a:rPr lang="en-US" sz="1800" b="1" dirty="0"/>
              <a:t>Technological Efficiency </a:t>
            </a:r>
            <a:r>
              <a:rPr lang="en-US" sz="1800" dirty="0"/>
              <a:t>– Focused on </a:t>
            </a:r>
            <a:r>
              <a:rPr lang="en-US" sz="1800" b="1" dirty="0"/>
              <a:t>optimized algorithms </a:t>
            </a:r>
            <a:r>
              <a:rPr lang="en-US" sz="1800" dirty="0"/>
              <a:t>for speed</a:t>
            </a:r>
          </a:p>
          <a:p>
            <a:pPr lvl="1"/>
            <a:r>
              <a:rPr lang="en-US" sz="1800" b="1" dirty="0"/>
              <a:t>Global Expansion Strategy </a:t>
            </a:r>
            <a:r>
              <a:rPr lang="en-US" sz="1800" dirty="0"/>
              <a:t>– Reached </a:t>
            </a:r>
            <a:r>
              <a:rPr lang="en-US" sz="1800" b="1" dirty="0"/>
              <a:t>international markets </a:t>
            </a:r>
            <a:r>
              <a:rPr lang="en-US" sz="1800" dirty="0"/>
              <a:t>quickly</a:t>
            </a:r>
          </a:p>
        </p:txBody>
      </p:sp>
    </p:spTree>
    <p:extLst>
      <p:ext uri="{BB962C8B-B14F-4D97-AF65-F5344CB8AC3E}">
        <p14:creationId xmlns:p14="http://schemas.microsoft.com/office/powerpoint/2010/main" val="390183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0879-D2B5-4839-2191-C4087BC9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1955-B53A-C02B-CCDF-A2DCE38F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&amp; Company Culture at </a:t>
            </a:r>
            <a:r>
              <a:rPr lang="en-US" dirty="0" err="1"/>
              <a:t>DeepSeek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675A7C-F5E4-F3CF-2C78-80F98D948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80855"/>
            <a:ext cx="10093149" cy="3203477"/>
          </a:xfrm>
        </p:spPr>
        <p:txBody>
          <a:bodyPr>
            <a:noAutofit/>
          </a:bodyPr>
          <a:lstStyle/>
          <a:p>
            <a:r>
              <a:rPr lang="en-US" dirty="0"/>
              <a:t>Hired </a:t>
            </a:r>
            <a:r>
              <a:rPr lang="en-US" b="1" dirty="0"/>
              <a:t>Based on Talent, Not Experience</a:t>
            </a:r>
          </a:p>
          <a:p>
            <a:pPr lvl="1"/>
            <a:r>
              <a:rPr lang="en-US" sz="1800" dirty="0"/>
              <a:t>Recruited </a:t>
            </a:r>
            <a:r>
              <a:rPr lang="en-US" sz="1800" b="1" dirty="0"/>
              <a:t>engineers with raw skills </a:t>
            </a:r>
            <a:r>
              <a:rPr lang="en-US" sz="1800" dirty="0"/>
              <a:t>rather than those with </a:t>
            </a:r>
            <a:r>
              <a:rPr lang="en-US" sz="1800" b="1" dirty="0"/>
              <a:t>years of experience</a:t>
            </a:r>
          </a:p>
          <a:p>
            <a:r>
              <a:rPr lang="en-US" b="1" dirty="0"/>
              <a:t>Encouraged Fast Iteration &amp; Learning</a:t>
            </a:r>
          </a:p>
          <a:p>
            <a:pPr lvl="1"/>
            <a:r>
              <a:rPr lang="en-US" sz="1800" dirty="0"/>
              <a:t>Employees were encouraged to </a:t>
            </a:r>
            <a:r>
              <a:rPr lang="en-US" sz="1800" b="1" dirty="0"/>
              <a:t>take risks </a:t>
            </a:r>
            <a:r>
              <a:rPr lang="en-US" sz="1800" dirty="0"/>
              <a:t>and </a:t>
            </a:r>
            <a:r>
              <a:rPr lang="en-US" sz="1800" b="1" dirty="0"/>
              <a:t>fail fast, learn fast</a:t>
            </a:r>
          </a:p>
          <a:p>
            <a:r>
              <a:rPr lang="en-US" b="1" dirty="0"/>
              <a:t>Maintained Work-Life Balance </a:t>
            </a:r>
            <a:r>
              <a:rPr lang="en-US" dirty="0"/>
              <a:t>(Unlike China's 996 Culture)</a:t>
            </a:r>
          </a:p>
          <a:p>
            <a:pPr lvl="1"/>
            <a:r>
              <a:rPr lang="en-US" sz="1800" dirty="0"/>
              <a:t>Allowed flexibility, leading to </a:t>
            </a:r>
            <a:r>
              <a:rPr lang="en-US" sz="1800" b="1" dirty="0"/>
              <a:t>higher creativity &amp; productivity</a:t>
            </a:r>
          </a:p>
          <a:p>
            <a:r>
              <a:rPr lang="en-US" b="1" dirty="0"/>
              <a:t>Key Lesson:</a:t>
            </a:r>
          </a:p>
          <a:p>
            <a:pPr lvl="1"/>
            <a:r>
              <a:rPr lang="en-US" sz="1800" b="1" dirty="0"/>
              <a:t>A great entrepreneur builds a great team.</a:t>
            </a:r>
          </a:p>
        </p:txBody>
      </p:sp>
    </p:spTree>
    <p:extLst>
      <p:ext uri="{BB962C8B-B14F-4D97-AF65-F5344CB8AC3E}">
        <p14:creationId xmlns:p14="http://schemas.microsoft.com/office/powerpoint/2010/main" val="3836433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7956E-3D5C-4909-26DC-C4CAD554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4B85-4354-9EE8-DCDE-29CFFD318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Leadership and Organizational Culture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AE72D9-9110-541A-24C5-A515A3D48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3429000"/>
            <a:ext cx="10093149" cy="1644035"/>
          </a:xfrm>
        </p:spPr>
        <p:txBody>
          <a:bodyPr>
            <a:normAutofit/>
          </a:bodyPr>
          <a:lstStyle/>
          <a:p>
            <a:r>
              <a:rPr lang="en-US" b="1" dirty="0"/>
              <a:t>National Hero: </a:t>
            </a:r>
            <a:r>
              <a:rPr lang="en-US" dirty="0"/>
              <a:t>Celebrated for his contributions to AI technology, symbolizing the realization of the "China Dream.“ </a:t>
            </a:r>
            <a:r>
              <a:rPr lang="en-US" sz="1400" i="1" dirty="0"/>
              <a:t>(​The Times)</a:t>
            </a:r>
          </a:p>
          <a:p>
            <a:r>
              <a:rPr lang="en-US" b="1" dirty="0"/>
              <a:t>Government Recognition: </a:t>
            </a:r>
            <a:r>
              <a:rPr lang="en-US" dirty="0"/>
              <a:t>Participated in high-level symposiums with Chinese leadership, highlighting his role in advancing national tech competitiveness. ​</a:t>
            </a:r>
            <a:r>
              <a:rPr lang="en-US" sz="1400" i="1" dirty="0"/>
              <a:t>(The Times, </a:t>
            </a:r>
            <a:r>
              <a:rPr lang="en-US" sz="1400" i="1" dirty="0" err="1"/>
              <a:t>Encyclopaedia</a:t>
            </a:r>
            <a:r>
              <a:rPr lang="en-US" sz="1400" i="1" dirty="0"/>
              <a:t> Britannica)</a:t>
            </a:r>
          </a:p>
        </p:txBody>
      </p:sp>
    </p:spTree>
    <p:extLst>
      <p:ext uri="{BB962C8B-B14F-4D97-AF65-F5344CB8AC3E}">
        <p14:creationId xmlns:p14="http://schemas.microsoft.com/office/powerpoint/2010/main" val="2755270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9C2F-C99A-417E-8FEB-73919E5D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60D6-0DD3-F023-AF0C-E8965798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in Successful Entrepreneurship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64B184-5E28-B371-B8FE-8F821DF4A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70" y="2878393"/>
            <a:ext cx="10309459" cy="2696497"/>
          </a:xfrm>
        </p:spPr>
        <p:txBody>
          <a:bodyPr>
            <a:noAutofit/>
          </a:bodyPr>
          <a:lstStyle/>
          <a:p>
            <a:r>
              <a:rPr lang="en-US" b="1" dirty="0"/>
              <a:t>Visionary Thinking: </a:t>
            </a:r>
            <a:r>
              <a:rPr lang="en-US" dirty="0"/>
              <a:t>Identified and acted upon emerging technological trends ahead of the curve.​</a:t>
            </a:r>
          </a:p>
          <a:p>
            <a:r>
              <a:rPr lang="en-US" b="1" dirty="0"/>
              <a:t>Resilience: </a:t>
            </a:r>
            <a:r>
              <a:rPr lang="en-US" dirty="0"/>
              <a:t>Overcame geopolitical challenges through strategic planning and resourcefulness.​</a:t>
            </a:r>
          </a:p>
          <a:p>
            <a:r>
              <a:rPr lang="en-US" b="1" dirty="0"/>
              <a:t>Innovation: </a:t>
            </a:r>
            <a:r>
              <a:rPr lang="en-US" dirty="0"/>
              <a:t>Consistently pushed the boundaries of AI development, setting new industry standards.​</a:t>
            </a:r>
          </a:p>
          <a:p>
            <a:r>
              <a:rPr lang="en-US" b="1" dirty="0"/>
              <a:t>Leadership: </a:t>
            </a:r>
            <a:r>
              <a:rPr lang="en-US" dirty="0"/>
              <a:t>Cultivated a company culture that values talent, creativity, and employee well-being.</a:t>
            </a:r>
          </a:p>
        </p:txBody>
      </p:sp>
    </p:spTree>
    <p:extLst>
      <p:ext uri="{BB962C8B-B14F-4D97-AF65-F5344CB8AC3E}">
        <p14:creationId xmlns:p14="http://schemas.microsoft.com/office/powerpoint/2010/main" val="419860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73FB-A786-0B5F-C3BB-EA3802DD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E521-3BBA-FBB8-5BDE-0D13E7E59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Overcoming Barriers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6150DF-3EFA-3EDC-841C-9A1640957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70" y="2435048"/>
            <a:ext cx="10309459" cy="3947279"/>
          </a:xfrm>
        </p:spPr>
        <p:txBody>
          <a:bodyPr>
            <a:noAutofit/>
          </a:bodyPr>
          <a:lstStyle/>
          <a:p>
            <a:r>
              <a:rPr lang="en-US" b="1" dirty="0"/>
              <a:t>Geopolitical Challenges</a:t>
            </a:r>
          </a:p>
          <a:p>
            <a:pPr lvl="1"/>
            <a:r>
              <a:rPr lang="en-US" sz="1800" dirty="0"/>
              <a:t>U.S. chip bans &amp; AI regulations threatened </a:t>
            </a:r>
            <a:r>
              <a:rPr lang="en-US" sz="1800" dirty="0" err="1"/>
              <a:t>DeepSeek’s</a:t>
            </a:r>
            <a:r>
              <a:rPr lang="en-US" sz="1800" dirty="0"/>
              <a:t> growth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Pre-bought NVIDIA GPUs and developed AI chips locally</a:t>
            </a:r>
          </a:p>
          <a:p>
            <a:r>
              <a:rPr lang="en-US" b="1" dirty="0"/>
              <a:t>Competing with Giants (OpenAI, Google, Baidu)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Focused on efficiency, affordability, and faster execution</a:t>
            </a:r>
          </a:p>
          <a:p>
            <a:r>
              <a:rPr lang="en-US" b="1" dirty="0"/>
              <a:t>Scaling AI Training Costs</a:t>
            </a:r>
          </a:p>
          <a:p>
            <a:pPr lvl="1"/>
            <a:r>
              <a:rPr lang="en-US" sz="1800" b="1" dirty="0"/>
              <a:t>Solution: </a:t>
            </a:r>
            <a:r>
              <a:rPr lang="en-US" sz="1800" dirty="0"/>
              <a:t>Used innovative optimization methods to train AI models faster &amp; cheaper</a:t>
            </a:r>
          </a:p>
          <a:p>
            <a:r>
              <a:rPr lang="en-US" b="1" dirty="0"/>
              <a:t>Lesson for Entrepreneurs: </a:t>
            </a:r>
          </a:p>
          <a:p>
            <a:pPr marL="0" indent="0">
              <a:buNone/>
            </a:pPr>
            <a:r>
              <a:rPr lang="en-US" i="1" dirty="0"/>
              <a:t>“Every big idea faces roadblocks. The winners are those who find solutions before others even realize the problem.”</a:t>
            </a:r>
          </a:p>
        </p:txBody>
      </p:sp>
    </p:spTree>
    <p:extLst>
      <p:ext uri="{BB962C8B-B14F-4D97-AF65-F5344CB8AC3E}">
        <p14:creationId xmlns:p14="http://schemas.microsoft.com/office/powerpoint/2010/main" val="1697578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43AB-B646-18DD-4F65-56B89EFD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423CDFE-7A2D-396C-25B2-F84ACF962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Takeaways for Entrepreneurs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57C37264-4A18-4F20-5C4F-D079765F3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“Success in entrepreneurship is about making the right bets at the right time.”</a:t>
            </a:r>
            <a:r>
              <a:rPr lang="en-US" dirty="0"/>
              <a:t> – Liang </a:t>
            </a:r>
            <a:r>
              <a:rPr lang="en-US" dirty="0" err="1"/>
              <a:t>Wenfeng</a:t>
            </a:r>
            <a:endParaRPr lang="en-US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8425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4387A-1C79-CF2A-1D85-1E8602B96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9DD6-800D-F02A-5E26-4DDB6906D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for Entrepreneurs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FF0843-5CAE-BAB1-A860-168B54F22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270" y="2878393"/>
            <a:ext cx="10309459" cy="2696497"/>
          </a:xfrm>
        </p:spPr>
        <p:txBody>
          <a:bodyPr>
            <a:noAutofit/>
          </a:bodyPr>
          <a:lstStyle/>
          <a:p>
            <a:r>
              <a:rPr lang="en-US" b="1" dirty="0"/>
              <a:t>Timing Matters </a:t>
            </a:r>
            <a:r>
              <a:rPr lang="en-US" dirty="0"/>
              <a:t>– Invest in emerging trends early.</a:t>
            </a:r>
          </a:p>
          <a:p>
            <a:r>
              <a:rPr lang="en-US" b="1" dirty="0"/>
              <a:t>Be Resourceful </a:t>
            </a:r>
            <a:r>
              <a:rPr lang="en-US" dirty="0"/>
              <a:t>– Overcome challenges with smart planning.</a:t>
            </a:r>
          </a:p>
          <a:p>
            <a:r>
              <a:rPr lang="en-US" b="1" dirty="0"/>
              <a:t>Focus on Innovation </a:t>
            </a:r>
            <a:r>
              <a:rPr lang="en-US" dirty="0"/>
              <a:t>– Always be one step ahead of competitors.</a:t>
            </a:r>
          </a:p>
          <a:p>
            <a:r>
              <a:rPr lang="en-US" b="1" dirty="0"/>
              <a:t>Build a Strong Team </a:t>
            </a:r>
            <a:r>
              <a:rPr lang="en-US" dirty="0"/>
              <a:t>– Hire smart people and let them innovate.</a:t>
            </a:r>
          </a:p>
          <a:p>
            <a:r>
              <a:rPr lang="en-US" b="1" dirty="0"/>
              <a:t>Think Globally </a:t>
            </a:r>
            <a:r>
              <a:rPr lang="en-US" dirty="0"/>
              <a:t>– Don’t limit your market to one region.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Note</a:t>
            </a:r>
            <a:r>
              <a:rPr lang="en-US" dirty="0"/>
              <a:t>: This presentation is based on information available up to </a:t>
            </a:r>
            <a:r>
              <a:rPr lang="en-US" b="1" i="1" dirty="0"/>
              <a:t>March 17, 2025.</a:t>
            </a:r>
          </a:p>
        </p:txBody>
      </p:sp>
    </p:spTree>
    <p:extLst>
      <p:ext uri="{BB962C8B-B14F-4D97-AF65-F5344CB8AC3E}">
        <p14:creationId xmlns:p14="http://schemas.microsoft.com/office/powerpoint/2010/main" val="357918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851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Liang Wenfeng: Pioneering Success in Entrepreneurship and Artificial Intelligence</vt:lpstr>
      <vt:lpstr>The best way to predict the future is to create it.</vt:lpstr>
      <vt:lpstr>Early Life and Education</vt:lpstr>
      <vt:lpstr>First Steps into Entrepreneurship</vt:lpstr>
      <vt:lpstr>Strategic Vision and Foresight</vt:lpstr>
      <vt:lpstr>First Steps into Entrepreneurship</vt:lpstr>
      <vt:lpstr>Founding of DeepSeek</vt:lpstr>
      <vt:lpstr>Founding DeepSeek – Creating a New AI Giant</vt:lpstr>
      <vt:lpstr>Breakthroughs and Market Impact</vt:lpstr>
      <vt:lpstr>Leadership &amp; Company Culture at DeepSeek</vt:lpstr>
      <vt:lpstr>Leadership and Organizational Culture</vt:lpstr>
      <vt:lpstr>Lessons in Successful Entrepreneurship</vt:lpstr>
      <vt:lpstr>Challenges &amp; Overcoming Barriers</vt:lpstr>
      <vt:lpstr>Key Takeaways for Entrepreneurs</vt:lpstr>
      <vt:lpstr>Key Takeaways for Entrepreneurs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Hamna Mirza</dc:creator>
  <cp:lastModifiedBy>Hamna Mirza</cp:lastModifiedBy>
  <cp:revision>6</cp:revision>
  <dcterms:created xsi:type="dcterms:W3CDTF">2025-03-17T14:09:09Z</dcterms:created>
  <dcterms:modified xsi:type="dcterms:W3CDTF">2025-03-17T15:25:42Z</dcterms:modified>
</cp:coreProperties>
</file>