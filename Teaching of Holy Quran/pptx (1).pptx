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73" r:id="rId2"/>
    <p:sldId id="258" r:id="rId3"/>
    <p:sldId id="830" r:id="rId4"/>
    <p:sldId id="832" r:id="rId5"/>
    <p:sldId id="840" r:id="rId6"/>
    <p:sldId id="841" r:id="rId7"/>
    <p:sldId id="843" r:id="rId8"/>
    <p:sldId id="844" r:id="rId9"/>
    <p:sldId id="842" r:id="rId10"/>
    <p:sldId id="846" r:id="rId11"/>
    <p:sldId id="847" r:id="rId12"/>
    <p:sldId id="848" r:id="rId13"/>
    <p:sldId id="845" r:id="rId14"/>
    <p:sldId id="83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mair Nawaz" initials="UN" lastIdx="1" clrIdx="0">
    <p:extLst>
      <p:ext uri="{19B8F6BF-5375-455C-9EA6-DF929625EA0E}">
        <p15:presenceInfo xmlns:p15="http://schemas.microsoft.com/office/powerpoint/2012/main" userId="d5bfc6435d97ff2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00000"/>
    <a:srgbClr val="D32A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E893-7750-B6EE-B589-33DAC7CA0E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20984E-9625-8ABF-76FC-F03770A596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8012F0-0693-E0CC-D9CA-7B50443B49AE}"/>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C01CF41E-8291-1914-68FD-E74D33EDA07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4FDCD32-92DE-A0EC-5936-8D0F5B90CA9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45873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405-F4E4-B9A0-27B5-94C6A63C8C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D1B906-20DF-2AF4-3F15-0049C62A6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98DD4-EEE8-910C-98E8-0E9B6A6E50E7}"/>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F0DEABA2-C2AB-1F91-0BFC-E7969DD3487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85298A4E-5473-EBA3-B88F-4D9398EF6DA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560949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9B41-A82D-3BDB-94AA-6A8856F8CD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819C72-6147-AF4B-5C74-878E316175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965D60-8B79-3B5F-73F7-29A1DB99F42B}"/>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2BF8AEC2-D308-40DF-CD30-17509876AB8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EDFF4A5-4086-264F-38C5-35EA6853D34C}"/>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379013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EBDAD-B38F-EFAB-07C6-F6CBEFE4D8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44C8C8-1E80-897E-8652-788DEA3E7B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A384B3-9C2A-B8A8-3540-FDB3C4D9B0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660829-9BD1-9013-42AC-BE46435DFDAE}"/>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6" name="Footer Placeholder 5">
            <a:extLst>
              <a:ext uri="{FF2B5EF4-FFF2-40B4-BE49-F238E27FC236}">
                <a16:creationId xmlns:a16="http://schemas.microsoft.com/office/drawing/2014/main" id="{03145577-DE21-579D-0F40-44971858147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B02AAEB-7AB3-B670-7407-625CF434A75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65111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2CF39-0B3F-F31B-5C7E-1C4943C3BF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075CA8-A968-6C34-CE7A-10E4DE3A8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441F9A-61D6-D1FA-20E8-7978E63CE1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7CFA4E-01B0-6975-B81A-D4E46C664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1405D-3AC7-8E42-91FF-317050E22B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CEDA66-EDCE-DCEA-15C2-0CC5CA14E680}"/>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8" name="Footer Placeholder 7">
            <a:extLst>
              <a:ext uri="{FF2B5EF4-FFF2-40B4-BE49-F238E27FC236}">
                <a16:creationId xmlns:a16="http://schemas.microsoft.com/office/drawing/2014/main" id="{7B044467-C82C-067F-0B58-966D48D4E299}"/>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E6768598-CE3A-8361-B457-20595281FF3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911980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B9D1-50DF-02E7-9926-F5C7D5366F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4563D9-6CFA-A712-C693-824CAFB4C695}"/>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4" name="Footer Placeholder 3">
            <a:extLst>
              <a:ext uri="{FF2B5EF4-FFF2-40B4-BE49-F238E27FC236}">
                <a16:creationId xmlns:a16="http://schemas.microsoft.com/office/drawing/2014/main" id="{0DA8CD63-653A-33C0-B1CB-5DA6B628C5D8}"/>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7DCB65D-668C-ED3B-0FAA-2E1073EC8A98}"/>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339009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335476-16C6-0E5C-61BA-6CAB92B572D6}"/>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3" name="Footer Placeholder 2">
            <a:extLst>
              <a:ext uri="{FF2B5EF4-FFF2-40B4-BE49-F238E27FC236}">
                <a16:creationId xmlns:a16="http://schemas.microsoft.com/office/drawing/2014/main" id="{7B101ADE-CB58-5442-A11E-2D7A622E46A1}"/>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D4E13809-4952-2BF2-7EFC-996CBFCF8E9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390440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E385-817B-5628-E202-DA20AA497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BBDC99-9535-2D29-045E-DD97FF043A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680349-74AD-745E-C7EC-47326B647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DE5C2-3B8B-75D0-14D7-40CEE845D15F}"/>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6" name="Footer Placeholder 5">
            <a:extLst>
              <a:ext uri="{FF2B5EF4-FFF2-40B4-BE49-F238E27FC236}">
                <a16:creationId xmlns:a16="http://schemas.microsoft.com/office/drawing/2014/main" id="{5D8B6A9F-9A97-8C9E-DD37-C954FD7C647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9BCA8F8-6E79-504C-9835-87205C649348}"/>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6671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9778-BE58-CFD5-4883-1076AA04E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9F9E52-E154-125B-66AF-31546D9742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F8E642-732C-52EF-CDE1-EBE0D22FA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9D67A-DE2C-2529-7D4B-2EADC6079831}"/>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6" name="Footer Placeholder 5">
            <a:extLst>
              <a:ext uri="{FF2B5EF4-FFF2-40B4-BE49-F238E27FC236}">
                <a16:creationId xmlns:a16="http://schemas.microsoft.com/office/drawing/2014/main" id="{037D9319-7ECF-DCF4-03DC-6F3B012C30B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F5AD639-F600-039B-86BE-19EA19AE058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01457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87C5-362A-5D02-B5FA-0A27DBF482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202F7F-5DD6-7B99-F459-B081E3B0E5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646DB5-F6A5-1D32-83B0-F9761848E4F8}"/>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8DC10353-A63E-5060-7C9D-C4A3B01D863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CD4085C-4F88-7749-E4B5-9E771E7E7C07}"/>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16913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FB67C3-0339-22AE-CD58-4A312AC908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81E0DB-E7A7-5A8E-5214-AC4DC40AF3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62A8E3-FADA-7913-CFC7-8D9443C9760A}"/>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1EDA245F-E5FB-7CEC-E6B2-682EFE797D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4B10EA1-A722-5915-20E9-BD638DA0A23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13060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2EDA46-49C1-AA8C-CF1E-EDB425968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46C0B6-41F2-736B-A4F4-D3B549B605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B0358F-8EEC-F6EC-17DD-99E1025132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02AAD06A-5DDE-FA56-49D2-FBC225A65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8762A4A7-41EB-8685-9B8E-C1551DA93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spTree>
    <p:extLst>
      <p:ext uri="{BB962C8B-B14F-4D97-AF65-F5344CB8AC3E}">
        <p14:creationId xmlns:p14="http://schemas.microsoft.com/office/powerpoint/2010/main" val="426660878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339636" y="0"/>
            <a:ext cx="12531635"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p:cNvPicPr>
            <a:picLocks noChangeAspect="1"/>
          </p:cNvPicPr>
          <p:nvPr/>
        </p:nvPicPr>
        <p:blipFill>
          <a:blip r:embed="rId2"/>
          <a:stretch>
            <a:fillRect/>
          </a:stretch>
        </p:blipFill>
        <p:spPr>
          <a:xfrm>
            <a:off x="847344" y="888274"/>
            <a:ext cx="9380873" cy="4049486"/>
          </a:xfrm>
          <a:prstGeom prst="rect">
            <a:avLst/>
          </a:prstGeom>
        </p:spPr>
      </p:pic>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4" y="888274"/>
            <a:ext cx="9380872" cy="3866924"/>
          </a:xfrm>
        </p:spPr>
        <p:txBody>
          <a:bodyPr/>
          <a:lstStyle/>
          <a:p>
            <a:endParaRPr lang="en-GB" dirty="0"/>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1519722"/>
            <a:ext cx="9961228" cy="4581741"/>
          </a:xfrm>
        </p:spPr>
        <p:txBody>
          <a:bodyPr/>
          <a:lstStyle/>
          <a:p>
            <a:pPr marL="0" indent="0" algn="ctr">
              <a:buNone/>
            </a:pPr>
            <a:r>
              <a:rPr lang="en-GB" b="1" dirty="0" smtClean="0">
                <a:latin typeface="Arial" charset="0"/>
                <a:ea typeface="Arial" charset="0"/>
                <a:cs typeface="Arial" charset="0"/>
              </a:rPr>
              <a:t>Teaching of Holy Quran-IV</a:t>
            </a:r>
          </a:p>
          <a:p>
            <a:pPr marL="0" indent="0" algn="ctr">
              <a:buNone/>
            </a:pPr>
            <a:r>
              <a:rPr lang="en-GB" b="1" dirty="0" smtClean="0">
                <a:latin typeface="Arial" charset="0"/>
                <a:ea typeface="Arial" charset="0"/>
                <a:cs typeface="Arial" charset="0"/>
              </a:rPr>
              <a:t>ISL-202</a:t>
            </a:r>
          </a:p>
          <a:p>
            <a:pPr marL="0" indent="0">
              <a:buNone/>
            </a:pPr>
            <a:r>
              <a:rPr lang="en-GB" dirty="0" smtClean="0">
                <a:latin typeface="Arial" charset="0"/>
                <a:ea typeface="Arial" charset="0"/>
                <a:cs typeface="Arial" charset="0"/>
              </a:rPr>
              <a:t>Week# 03:</a:t>
            </a:r>
          </a:p>
          <a:p>
            <a:pPr marL="0" indent="0">
              <a:buNone/>
            </a:pPr>
            <a:endParaRPr lang="en-GB" dirty="0">
              <a:latin typeface="Arial" charset="0"/>
              <a:ea typeface="Arial" charset="0"/>
              <a:cs typeface="Arial" charset="0"/>
            </a:endParaRPr>
          </a:p>
          <a:p>
            <a:pPr marL="0" indent="0" algn="ctr">
              <a:buNone/>
            </a:pPr>
            <a:r>
              <a:rPr lang="en-US" dirty="0" smtClean="0"/>
              <a:t>“Talking </a:t>
            </a:r>
            <a:r>
              <a:rPr lang="en-US" dirty="0"/>
              <a:t>without </a:t>
            </a:r>
            <a:r>
              <a:rPr lang="en-US" dirty="0" smtClean="0"/>
              <a:t>knowledge’’</a:t>
            </a:r>
            <a:endParaRPr lang="en-GB" dirty="0" smtClean="0">
              <a:latin typeface="Arial" charset="0"/>
              <a:ea typeface="Arial" charset="0"/>
              <a:cs typeface="Arial" charset="0"/>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47252" y="1519722"/>
            <a:ext cx="2039974" cy="5144283"/>
          </a:xfrm>
          <a:prstGeom prst="rect">
            <a:avLst/>
          </a:prstGeom>
        </p:spPr>
      </p:pic>
    </p:spTree>
    <p:extLst>
      <p:ext uri="{BB962C8B-B14F-4D97-AF65-F5344CB8AC3E}">
        <p14:creationId xmlns:p14="http://schemas.microsoft.com/office/powerpoint/2010/main" val="323934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الانعام:93</a:t>
            </a:r>
          </a:p>
          <a:p>
            <a:pPr marL="0" indent="0" algn="ctr">
              <a:buNone/>
            </a:pPr>
            <a:r>
              <a:rPr lang="ur-PK" dirty="0">
                <a:latin typeface="Al Qalam Quran Majeed Web" panose="02010000000000000000" pitchFamily="2" charset="-78"/>
                <a:cs typeface="Al Qalam Quran Majeed Web" panose="02010000000000000000" pitchFamily="2" charset="-78"/>
              </a:rPr>
              <a:t>و</a:t>
            </a:r>
            <a:r>
              <a:rPr lang="ur-PK" b="1" dirty="0">
                <a:latin typeface="Al Qalam Quran Majeed Web" panose="02010000000000000000" pitchFamily="2" charset="-78"/>
                <a:cs typeface="Al Qalam Quran Majeed Web" panose="02010000000000000000" pitchFamily="2" charset="-78"/>
              </a:rPr>
              <a:t>َ مَنْ اَظْلَمُ مِمَّنِ افْتَرٰى عَلَى اللّٰهِ كَذِبًا اَوْ قَالَ اُوْحِیَ اِلَیَّ وَ لَمْ یُوْحَ اِلَیْهِ شَیْءٌ وَّ مَنْ قَالَ سَاُنْزِلُ مِثْلَ مَاۤ اَنْزَلَ اللّٰهُؕ-وَ </a:t>
            </a:r>
            <a:r>
              <a:rPr lang="ur-PK" b="1" dirty="0" smtClean="0">
                <a:latin typeface="Al Qalam Quran Majeed Web" panose="02010000000000000000" pitchFamily="2" charset="-78"/>
                <a:cs typeface="Al Qalam Quran Majeed Web" panose="02010000000000000000" pitchFamily="2" charset="-78"/>
              </a:rPr>
              <a:t>لَوْ</a:t>
            </a:r>
            <a:endParaRPr lang="en-US" b="1" dirty="0" smtClean="0">
              <a:latin typeface="Al Qalam Quran Majeed Web" panose="02010000000000000000" pitchFamily="2" charset="-78"/>
              <a:cs typeface="Al Qalam Quran Majeed Web" panose="02010000000000000000" pitchFamily="2" charset="-78"/>
            </a:endParaRPr>
          </a:p>
          <a:p>
            <a:pPr marL="0" indent="0" algn="ctr">
              <a:buNone/>
            </a:pPr>
            <a:r>
              <a:rPr lang="ur-PK" b="1" dirty="0" smtClean="0">
                <a:latin typeface="Al Qalam Quran Majeed Web" panose="02010000000000000000" pitchFamily="2" charset="-78"/>
                <a:cs typeface="Al Qalam Quran Majeed Web" panose="02010000000000000000" pitchFamily="2" charset="-78"/>
              </a:rPr>
              <a:t> </a:t>
            </a:r>
            <a:r>
              <a:rPr lang="ur-PK" b="1" dirty="0">
                <a:latin typeface="Al Qalam Quran Majeed Web" panose="02010000000000000000" pitchFamily="2" charset="-78"/>
                <a:cs typeface="Al Qalam Quran Majeed Web" panose="02010000000000000000" pitchFamily="2" charset="-78"/>
              </a:rPr>
              <a:t>تَرٰۤى اِذِ الظّٰلِمُوْنَ فِیْ غَمَرٰتِ الْمَوْتِ وَ الْمَلٰٓىٕكَةُ بَاسِطُوْۤا اَیْدِیْهِمْۚ-اَخْرِجُوْۤا اَنْفُسَكُمْؕ-اَلْیَوْمَ تُجْزَوْنَ </a:t>
            </a:r>
            <a:r>
              <a:rPr lang="ur-PK" b="1" dirty="0" smtClean="0">
                <a:latin typeface="Al Qalam Quran Majeed Web" panose="02010000000000000000" pitchFamily="2" charset="-78"/>
                <a:cs typeface="Al Qalam Quran Majeed Web" panose="02010000000000000000" pitchFamily="2" charset="-78"/>
              </a:rPr>
              <a:t>عَذَابَ </a:t>
            </a:r>
            <a:r>
              <a:rPr lang="ur-PK" b="1" dirty="0">
                <a:latin typeface="Al Qalam Quran Majeed Web" panose="02010000000000000000" pitchFamily="2" charset="-78"/>
                <a:cs typeface="Al Qalam Quran Majeed Web" panose="02010000000000000000" pitchFamily="2" charset="-78"/>
              </a:rPr>
              <a:t>الْهُوْنِ بِمَا </a:t>
            </a:r>
            <a:endParaRPr lang="en-US" b="1" dirty="0" smtClean="0">
              <a:latin typeface="Al Qalam Quran Majeed Web" panose="02010000000000000000" pitchFamily="2" charset="-78"/>
              <a:cs typeface="Al Qalam Quran Majeed Web" panose="02010000000000000000" pitchFamily="2" charset="-78"/>
            </a:endParaRPr>
          </a:p>
          <a:p>
            <a:pPr marL="0" indent="0" algn="ctr">
              <a:buNone/>
            </a:pPr>
            <a:r>
              <a:rPr lang="ur-PK" b="1" dirty="0" smtClean="0">
                <a:latin typeface="Al Qalam Quran Majeed Web" panose="02010000000000000000" pitchFamily="2" charset="-78"/>
                <a:cs typeface="Al Qalam Quran Majeed Web" panose="02010000000000000000" pitchFamily="2" charset="-78"/>
              </a:rPr>
              <a:t>كُنْتُمْ </a:t>
            </a:r>
            <a:r>
              <a:rPr lang="ur-PK" b="1" dirty="0">
                <a:latin typeface="Al Qalam Quran Majeed Web" panose="02010000000000000000" pitchFamily="2" charset="-78"/>
                <a:cs typeface="Al Qalam Quran Majeed Web" panose="02010000000000000000" pitchFamily="2" charset="-78"/>
              </a:rPr>
              <a:t>تَقُوْلُوْنَ عَلَى اللّٰهِ غَیْرَ الْحَقِّ وَ كُنْتُمْ عَنْ اٰیٰتِهٖ </a:t>
            </a:r>
            <a:r>
              <a:rPr lang="ur-PK" b="1" dirty="0" smtClean="0">
                <a:latin typeface="Al Qalam Quran Majeed Web" panose="02010000000000000000" pitchFamily="2" charset="-78"/>
                <a:cs typeface="Al Qalam Quran Majeed Web" panose="02010000000000000000" pitchFamily="2" charset="-78"/>
              </a:rPr>
              <a:t>تَسْتَكْبِرُوْنَ</a:t>
            </a:r>
          </a:p>
          <a:p>
            <a:pPr marL="0" indent="0" algn="ctr">
              <a:buNone/>
            </a:pPr>
            <a:endParaRPr lang="ur-PK" sz="3600" b="1" u="sng" dirty="0">
              <a:latin typeface="Jameel Noori Nastaleeq" panose="02000503000000020004" pitchFamily="2" charset="-78"/>
              <a:ea typeface="Arial" charset="0"/>
              <a:cs typeface="Jameel Noori Nastaleeq" panose="02000503000000020004" pitchFamily="2" charset="-78"/>
            </a:endParaRPr>
          </a:p>
          <a:p>
            <a:pPr marL="0" indent="0" algn="ctr">
              <a:buNone/>
            </a:pPr>
            <a:r>
              <a:rPr lang="ur-PK" sz="3200" dirty="0">
                <a:latin typeface="Jameel Noori Nastaleeq" panose="02000503000000020004" pitchFamily="2" charset="-78"/>
                <a:ea typeface="Arial" charset="0"/>
                <a:cs typeface="Jameel Noori Nastaleeq" panose="02000503000000020004" pitchFamily="2" charset="-78"/>
              </a:rPr>
              <a:t>اور اس سے بڑھ کر ظالم کون؟ جو اللہ پر جھوٹ باندھے یا کہے: میری طرف وحی کی گئی حالانکہ اس کی طرف کسی شے کی وحی نہیں بھیجی گئی اور جو کہے : میں بھی ابھی ایسا اُتار دوں گا جیسا اللہ نے اتارا ہے۔ اور اگر تم دیکھو جب ظالم موت کی سختیوں میں ہوتے ہیں اور فرشتے ہاتھ پھیلاتے ہوئے کہتے ہیں کہ اپنی جانیں نکالو۔ آج تمہیں ذلت کا عذاب دیا جائے گا اس کے بدلے میں جو تم اللہ پر ناحق باتیں کہتے تھے اور اس کی آیتوں سے تکبر کرتے تھے۔</a:t>
            </a: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239890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462528"/>
            <a:ext cx="11808823" cy="4872958"/>
          </a:xfrm>
        </p:spPr>
        <p:txBody>
          <a:bodyPr>
            <a:normAutofit fontScale="92500"/>
          </a:bodyPr>
          <a:lstStyle/>
          <a:p>
            <a:pPr marL="0" indent="0" algn="ctr">
              <a:buNone/>
            </a:pPr>
            <a:r>
              <a:rPr lang="ur-PK" sz="3200" b="1" u="sng" dirty="0" smtClean="0">
                <a:solidFill>
                  <a:srgbClr val="000000"/>
                </a:solidFill>
                <a:latin typeface="Jameel Noori Nastaleeq" panose="02000503000000020004" pitchFamily="2" charset="-78"/>
                <a:cs typeface="Jameel Noori Nastaleeq" panose="02000503000000020004" pitchFamily="2" charset="-78"/>
              </a:rPr>
              <a:t>تفسیر</a:t>
            </a:r>
            <a:endParaRPr lang="en-US" sz="3200" b="1" u="sng" dirty="0" smtClean="0">
              <a:solidFill>
                <a:srgbClr val="000000"/>
              </a:solidFill>
              <a:latin typeface="Jameel Noori Nastaleeq" panose="02000503000000020004" pitchFamily="2" charset="-78"/>
              <a:cs typeface="Jameel Noori Nastaleeq" panose="02000503000000020004" pitchFamily="2" charset="-78"/>
            </a:endParaRPr>
          </a:p>
          <a:p>
            <a:pPr algn="r" rtl="1">
              <a:buFont typeface="Wingdings" panose="05000000000000000000" pitchFamily="2" charset="2"/>
              <a:buChar char="q"/>
            </a:pPr>
            <a:r>
              <a:rPr lang="ar-SA" b="1" dirty="0" smtClean="0">
                <a:solidFill>
                  <a:srgbClr val="000000"/>
                </a:solidFill>
                <a:latin typeface="Arial" panose="020B0604020202020204" pitchFamily="34" charset="0"/>
                <a:cs typeface="Jameel Noori Nastaleeq" panose="02000503000000020004" pitchFamily="2" charset="-78"/>
              </a:rPr>
              <a:t>{</a:t>
            </a:r>
            <a:r>
              <a:rPr lang="ar-SA" dirty="0">
                <a:solidFill>
                  <a:srgbClr val="000000"/>
                </a:solidFill>
                <a:cs typeface="Al Qalam Quran Majeed Web2_D"/>
              </a:rPr>
              <a:t> </a:t>
            </a:r>
            <a:r>
              <a:rPr lang="ar-SA" dirty="0">
                <a:solidFill>
                  <a:srgbClr val="000000"/>
                </a:solidFill>
                <a:latin typeface="Al Qalam Quran Majeed Web" panose="02010000000000000000" pitchFamily="2" charset="-78"/>
                <a:cs typeface="Al Qalam Quran Majeed Web" panose="02010000000000000000" pitchFamily="2" charset="-78"/>
              </a:rPr>
              <a:t>وَ مَنْ اَظْلَمُ مِمَّنِ افْتَرٰى عَلَى اللّٰهِ كَذِبًا</a:t>
            </a:r>
            <a:r>
              <a:rPr lang="ar-SA" b="1" dirty="0">
                <a:solidFill>
                  <a:srgbClr val="000000"/>
                </a:solidFill>
                <a:latin typeface="Arial" panose="020B0604020202020204" pitchFamily="34" charset="0"/>
                <a:cs typeface="Jameel Noori Nastaleeq" panose="02000503000000020004" pitchFamily="2" charset="-78"/>
              </a:rPr>
              <a:t>: اور اس سے بڑھ کر ظالم کون؟ جو </a:t>
            </a:r>
            <a:r>
              <a:rPr lang="ar-SA" b="1" dirty="0">
                <a:solidFill>
                  <a:srgbClr val="000000"/>
                </a:solidFill>
                <a:latin typeface="Arial" panose="020B0604020202020204" pitchFamily="34" charset="0"/>
                <a:cs typeface="Al_Mushaf"/>
              </a:rPr>
              <a:t>اللہ</a:t>
            </a:r>
            <a:r>
              <a:rPr lang="ar-SA" b="1" dirty="0">
                <a:solidFill>
                  <a:srgbClr val="000000"/>
                </a:solidFill>
                <a:latin typeface="Arial" panose="020B0604020202020204" pitchFamily="34" charset="0"/>
                <a:cs typeface="Jameel Noori Nastaleeq" panose="02000503000000020004" pitchFamily="2" charset="-78"/>
              </a:rPr>
              <a:t> پر جھوٹ باندھے۔}</a:t>
            </a:r>
            <a:r>
              <a:rPr lang="ar-SA" dirty="0">
                <a:solidFill>
                  <a:srgbClr val="000000"/>
                </a:solidFill>
                <a:cs typeface="Jameel Noori Nastaleeq" panose="02000503000000020004" pitchFamily="2" charset="-78"/>
              </a:rPr>
              <a:t>یہ آیت مُسَیْلِمَہ کذّاب </a:t>
            </a:r>
            <a:r>
              <a:rPr lang="ar-SA" dirty="0" smtClean="0">
                <a:solidFill>
                  <a:srgbClr val="000000"/>
                </a:solidFill>
                <a:cs typeface="Jameel Noori Nastaleeq" panose="02000503000000020004" pitchFamily="2" charset="-78"/>
              </a:rPr>
              <a:t>کے</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 </a:t>
            </a:r>
            <a:r>
              <a:rPr lang="ar-SA" dirty="0">
                <a:solidFill>
                  <a:srgbClr val="000000"/>
                </a:solidFill>
                <a:cs typeface="Jameel Noori Nastaleeq" panose="02000503000000020004" pitchFamily="2" charset="-78"/>
              </a:rPr>
              <a:t>بارے میں نازل ہوئی جس نے یمن کے علاقے یمامہ میں نبوت کا جھوٹا دعویٰ کیا تھا۔ قبیلہ بنی حنیفہ کے چند لوگ اس کے فریب میں آگئے تھے ۔یہ </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کذاب </a:t>
            </a:r>
            <a:r>
              <a:rPr lang="ar-SA" dirty="0">
                <a:solidFill>
                  <a:srgbClr val="000000"/>
                </a:solidFill>
                <a:cs typeface="Jameel Noori Nastaleeq" panose="02000503000000020004" pitchFamily="2" charset="-78"/>
              </a:rPr>
              <a:t>،سیدنا ابوبکر صدیق </a:t>
            </a:r>
            <a:r>
              <a:rPr lang="ar-SA" dirty="0" smtClean="0">
                <a:solidFill>
                  <a:srgbClr val="000000"/>
                </a:solidFill>
                <a:latin typeface="Jameel Noori Nastaleeq" panose="02000503000000020004" pitchFamily="2" charset="-78"/>
                <a:cs typeface="Jameel Noori Nastaleeq" panose="02000503000000020004" pitchFamily="2" charset="-78"/>
              </a:rPr>
              <a:t>﷛</a:t>
            </a:r>
            <a:r>
              <a:rPr lang="ar-SA" dirty="0">
                <a:solidFill>
                  <a:srgbClr val="000000"/>
                </a:solidFill>
                <a:cs typeface="Al_Mushaf"/>
              </a:rPr>
              <a:t> </a:t>
            </a:r>
            <a:r>
              <a:rPr lang="ar-SA" dirty="0">
                <a:solidFill>
                  <a:srgbClr val="000000"/>
                </a:solidFill>
                <a:cs typeface="Jameel Noori Nastaleeq" panose="02000503000000020004" pitchFamily="2" charset="-78"/>
              </a:rPr>
              <a:t>کے زمانۂ خلافت میں حضرت وحشی </a:t>
            </a:r>
            <a:r>
              <a:rPr lang="ar-SA" dirty="0" smtClean="0">
                <a:solidFill>
                  <a:srgbClr val="000000"/>
                </a:solidFill>
                <a:latin typeface="Jameel Noori Nastaleeq" panose="02000503000000020004" pitchFamily="2" charset="-78"/>
                <a:cs typeface="Jameel Noori Nastaleeq" panose="02000503000000020004" pitchFamily="2" charset="-78"/>
              </a:rPr>
              <a:t>﷛</a:t>
            </a:r>
            <a:r>
              <a:rPr lang="ar-SA" dirty="0">
                <a:solidFill>
                  <a:srgbClr val="000000"/>
                </a:solidFill>
                <a:cs typeface="Jameel Noori Nastaleeq" panose="02000503000000020004" pitchFamily="2" charset="-78"/>
              </a:rPr>
              <a:t> کے ہاتھ سے قتل </a:t>
            </a:r>
            <a:r>
              <a:rPr lang="ar-SA" dirty="0" smtClean="0">
                <a:solidFill>
                  <a:srgbClr val="000000"/>
                </a:solidFill>
                <a:cs typeface="Jameel Noori Nastaleeq" panose="02000503000000020004" pitchFamily="2" charset="-78"/>
              </a:rPr>
              <a:t>ہوا۔اس </a:t>
            </a:r>
            <a:r>
              <a:rPr lang="ar-SA" dirty="0">
                <a:solidFill>
                  <a:srgbClr val="000000"/>
                </a:solidFill>
                <a:cs typeface="Jameel Noori Nastaleeq" panose="02000503000000020004" pitchFamily="2" charset="-78"/>
              </a:rPr>
              <a:t>کے بارے میں فرمایا کہ</a:t>
            </a:r>
            <a:r>
              <a:rPr lang="ar-SA" dirty="0">
                <a:solidFill>
                  <a:srgbClr val="000000"/>
                </a:solidFill>
              </a:rPr>
              <a:t>  </a:t>
            </a:r>
            <a:r>
              <a:rPr lang="ar-SA" dirty="0">
                <a:solidFill>
                  <a:srgbClr val="000000"/>
                </a:solidFill>
                <a:cs typeface="Jameel Noori Nastaleeq" panose="02000503000000020004" pitchFamily="2" charset="-78"/>
              </a:rPr>
              <a:t>اس سے بڑھ </a:t>
            </a:r>
            <a:r>
              <a:rPr lang="ar-SA" dirty="0" smtClean="0">
                <a:solidFill>
                  <a:srgbClr val="000000"/>
                </a:solidFill>
                <a:cs typeface="Jameel Noori Nastaleeq" panose="02000503000000020004" pitchFamily="2" charset="-78"/>
              </a:rPr>
              <a:t>کر</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 </a:t>
            </a:r>
            <a:r>
              <a:rPr lang="ar-SA" dirty="0">
                <a:solidFill>
                  <a:srgbClr val="000000"/>
                </a:solidFill>
                <a:cs typeface="Jameel Noori Nastaleeq" panose="02000503000000020004" pitchFamily="2" charset="-78"/>
              </a:rPr>
              <a:t>ظالم کون؟ جو </a:t>
            </a:r>
            <a:r>
              <a:rPr lang="ar-SA" dirty="0">
                <a:solidFill>
                  <a:srgbClr val="000000"/>
                </a:solidFill>
                <a:cs typeface="Al_Mushaf"/>
              </a:rPr>
              <a:t>اللہ</a:t>
            </a:r>
            <a:r>
              <a:rPr lang="ar-SA" dirty="0">
                <a:solidFill>
                  <a:srgbClr val="000000"/>
                </a:solidFill>
                <a:cs typeface="Jameel Noori Nastaleeq" panose="02000503000000020004" pitchFamily="2" charset="-78"/>
              </a:rPr>
              <a:t>  پر جھوٹ باندھے یا</a:t>
            </a:r>
            <a:r>
              <a:rPr lang="ar-SA" dirty="0">
                <a:solidFill>
                  <a:srgbClr val="000000"/>
                </a:solidFill>
              </a:rPr>
              <a:t>  </a:t>
            </a:r>
            <a:r>
              <a:rPr lang="ar-SA" dirty="0">
                <a:solidFill>
                  <a:srgbClr val="000000"/>
                </a:solidFill>
                <a:cs typeface="Jameel Noori Nastaleeq" panose="02000503000000020004" pitchFamily="2" charset="-78"/>
              </a:rPr>
              <a:t>نبوت کا جھوٹا دعویٰ کرے اور کہے کہ میری طرف وحی کی گئی حالانکہ اس کی طرف کسی شے کی وحی نہیں </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بھیجی </a:t>
            </a:r>
            <a:r>
              <a:rPr lang="ar-SA" dirty="0">
                <a:solidFill>
                  <a:srgbClr val="000000"/>
                </a:solidFill>
                <a:cs typeface="Jameel Noori Nastaleeq" panose="02000503000000020004" pitchFamily="2" charset="-78"/>
              </a:rPr>
              <a:t>گئی </a:t>
            </a:r>
            <a:r>
              <a:rPr lang="ar-SA" dirty="0" smtClean="0">
                <a:solidFill>
                  <a:srgbClr val="000000"/>
                </a:solidFill>
                <a:cs typeface="Jameel Noori Nastaleeq" panose="02000503000000020004" pitchFamily="2" charset="-78"/>
              </a:rPr>
              <a:t>۔</a:t>
            </a:r>
            <a:endParaRPr lang="ur-PK" dirty="0" smtClean="0">
              <a:solidFill>
                <a:srgbClr val="000000"/>
              </a:solidFill>
              <a:cs typeface="Jameel Noori Nastaleeq" panose="02000503000000020004" pitchFamily="2" charset="-78"/>
            </a:endParaRPr>
          </a:p>
          <a:p>
            <a:pPr algn="r" rtl="1">
              <a:buFont typeface="Wingdings" panose="05000000000000000000" pitchFamily="2" charset="2"/>
              <a:buChar char="q"/>
            </a:pPr>
            <a:r>
              <a:rPr lang="ur-PK" dirty="0">
                <a:solidFill>
                  <a:srgbClr val="000000"/>
                </a:solidFill>
                <a:latin typeface="Jameel Noori Nastaleeq" panose="02000503000000020004" pitchFamily="2" charset="-78"/>
                <a:ea typeface="Arial" charset="0"/>
                <a:cs typeface="Jameel Noori Nastaleeq" panose="02000503000000020004" pitchFamily="2" charset="-78"/>
              </a:rPr>
              <a:t> </a:t>
            </a:r>
            <a:r>
              <a:rPr lang="ar-SA" b="1" dirty="0">
                <a:solidFill>
                  <a:srgbClr val="000000"/>
                </a:solidFill>
                <a:latin typeface="Arial" panose="020B0604020202020204" pitchFamily="34" charset="0"/>
                <a:cs typeface="Al_Mushaf"/>
              </a:rPr>
              <a:t>{</a:t>
            </a:r>
            <a:r>
              <a:rPr lang="ar-SA" dirty="0">
                <a:solidFill>
                  <a:srgbClr val="000000"/>
                </a:solidFill>
                <a:cs typeface="Al_Mushaf"/>
              </a:rPr>
              <a:t> </a:t>
            </a:r>
            <a:r>
              <a:rPr lang="ar-SA" dirty="0">
                <a:solidFill>
                  <a:srgbClr val="000000"/>
                </a:solidFill>
                <a:cs typeface="Al Qalam Quran Majeed Web2_D"/>
              </a:rPr>
              <a:t>وَمَنْ قَالَ</a:t>
            </a:r>
            <a:r>
              <a:rPr lang="ar-SA" b="1" dirty="0">
                <a:solidFill>
                  <a:srgbClr val="000000"/>
                </a:solidFill>
                <a:latin typeface="Arial" panose="020B0604020202020204" pitchFamily="34" charset="0"/>
                <a:cs typeface="Jameel Noori Nastaleeq" panose="02000503000000020004" pitchFamily="2" charset="-78"/>
              </a:rPr>
              <a:t>:اور جس نے کہا۔} </a:t>
            </a:r>
            <a:r>
              <a:rPr lang="ar-SA" dirty="0">
                <a:solidFill>
                  <a:srgbClr val="000000"/>
                </a:solidFill>
                <a:cs typeface="Jameel Noori Nastaleeq" panose="02000503000000020004" pitchFamily="2" charset="-78"/>
              </a:rPr>
              <a:t>آیت کا یہ حصہ </a:t>
            </a:r>
            <a:r>
              <a:rPr lang="ar-SA" sz="2400" dirty="0">
                <a:solidFill>
                  <a:srgbClr val="000000"/>
                </a:solidFill>
                <a:cs typeface="Al_Mushaf"/>
              </a:rPr>
              <a:t>عبداللہ</a:t>
            </a:r>
            <a:r>
              <a:rPr lang="ar-SA" dirty="0">
                <a:solidFill>
                  <a:srgbClr val="000000"/>
                </a:solidFill>
                <a:cs typeface="Jameel Noori Nastaleeq" panose="02000503000000020004" pitchFamily="2" charset="-78"/>
              </a:rPr>
              <a:t> بن ابی سرح کے بارے میں نازل ہوا جو کاتب ِ وحی تھا۔ جب آیت</a:t>
            </a:r>
            <a:r>
              <a:rPr lang="ar-SA" b="1" dirty="0">
                <a:solidFill>
                  <a:srgbClr val="000000"/>
                </a:solidFill>
              </a:rPr>
              <a:t> ’’</a:t>
            </a:r>
            <a:r>
              <a:rPr lang="ar-SA" sz="2400" dirty="0">
                <a:solidFill>
                  <a:srgbClr val="000000"/>
                </a:solidFill>
                <a:latin typeface="Al Qalam Quran Majeed Web" panose="02010000000000000000" pitchFamily="2" charset="-78"/>
                <a:cs typeface="Al Qalam Quran Majeed Web" panose="02010000000000000000" pitchFamily="2" charset="-78"/>
              </a:rPr>
              <a:t> وَ لَقَدْ خَلَقْنَا </a:t>
            </a:r>
            <a:endParaRPr lang="ur-PK" sz="2400" dirty="0" smtClean="0">
              <a:solidFill>
                <a:srgbClr val="000000"/>
              </a:solidFill>
              <a:latin typeface="Al Qalam Quran Majeed Web" panose="02010000000000000000" pitchFamily="2" charset="-78"/>
              <a:cs typeface="Al Qalam Quran Majeed Web" panose="02010000000000000000" pitchFamily="2" charset="-78"/>
            </a:endParaRPr>
          </a:p>
          <a:p>
            <a:pPr marL="0" indent="0" algn="r" rtl="1">
              <a:buNone/>
            </a:pPr>
            <a:r>
              <a:rPr lang="ar-SA" sz="2400" dirty="0" smtClean="0">
                <a:solidFill>
                  <a:srgbClr val="000000"/>
                </a:solidFill>
                <a:latin typeface="Al Qalam Quran Majeed Web" panose="02010000000000000000" pitchFamily="2" charset="-78"/>
                <a:cs typeface="Al Qalam Quran Majeed Web" panose="02010000000000000000" pitchFamily="2" charset="-78"/>
              </a:rPr>
              <a:t>الْاِنْسَان</a:t>
            </a:r>
            <a:r>
              <a:rPr lang="ar-SA" b="1" dirty="0" smtClean="0">
                <a:solidFill>
                  <a:srgbClr val="000000"/>
                </a:solidFill>
                <a:latin typeface="Arial" panose="020B0604020202020204" pitchFamily="34" charset="0"/>
                <a:cs typeface="Jameel Noori Nastaleeq" panose="02000503000000020004" pitchFamily="2" charset="-78"/>
              </a:rPr>
              <a:t>‘‘</a:t>
            </a:r>
            <a:r>
              <a:rPr lang="ar-SA" b="1" dirty="0">
                <a:solidFill>
                  <a:srgbClr val="000000"/>
                </a:solidFill>
                <a:latin typeface="Arial" panose="020B0604020202020204" pitchFamily="34" charset="0"/>
                <a:cs typeface="Jameel Noori Nastaleeq" panose="02000503000000020004" pitchFamily="2" charset="-78"/>
              </a:rPr>
              <a:t> </a:t>
            </a:r>
            <a:r>
              <a:rPr lang="ar-SA" dirty="0">
                <a:solidFill>
                  <a:srgbClr val="000000"/>
                </a:solidFill>
                <a:cs typeface="Jameel Noori Nastaleeq" panose="02000503000000020004" pitchFamily="2" charset="-78"/>
              </a:rPr>
              <a:t>نازل ہوئی ، اس نے اس کو لکھا اور آخر تک پہنچتے پہنچتے انسانی پیدائش کی تفصیل پر مطلع ہو کر متعجب ہوا اور اس حالت </a:t>
            </a:r>
            <a:r>
              <a:rPr lang="ar-SA" dirty="0" smtClean="0">
                <a:solidFill>
                  <a:srgbClr val="000000"/>
                </a:solidFill>
                <a:cs typeface="Jameel Noori Nastaleeq" panose="02000503000000020004" pitchFamily="2" charset="-78"/>
              </a:rPr>
              <a:t>میں</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 </a:t>
            </a:r>
            <a:r>
              <a:rPr lang="ar-SA" dirty="0">
                <a:solidFill>
                  <a:srgbClr val="000000"/>
                </a:solidFill>
                <a:cs typeface="Jameel Noori Nastaleeq" panose="02000503000000020004" pitchFamily="2" charset="-78"/>
              </a:rPr>
              <a:t>آیت کا آخر ی حصہ </a:t>
            </a:r>
            <a:r>
              <a:rPr lang="ar-SA" b="1" dirty="0">
                <a:solidFill>
                  <a:srgbClr val="000000"/>
                </a:solidFill>
              </a:rPr>
              <a:t>’’</a:t>
            </a:r>
            <a:r>
              <a:rPr lang="ar-SA" sz="2400" dirty="0">
                <a:solidFill>
                  <a:srgbClr val="000000"/>
                </a:solidFill>
                <a:cs typeface="Al Qalam Quran Majeed Web2_D"/>
              </a:rPr>
              <a:t> </a:t>
            </a:r>
            <a:r>
              <a:rPr lang="ar-SA" sz="2400" dirty="0">
                <a:solidFill>
                  <a:srgbClr val="000000"/>
                </a:solidFill>
                <a:latin typeface="Al Qalam Quran Majeed Web" panose="02010000000000000000" pitchFamily="2" charset="-78"/>
                <a:cs typeface="Al Qalam Quran Majeed Web" panose="02010000000000000000" pitchFamily="2" charset="-78"/>
              </a:rPr>
              <a:t>فَتَبٰرَكَ اللّٰهُ اَحْسَنُ </a:t>
            </a:r>
            <a:r>
              <a:rPr lang="ar-SA" sz="2400" dirty="0" smtClean="0">
                <a:solidFill>
                  <a:srgbClr val="000000"/>
                </a:solidFill>
                <a:latin typeface="Al Qalam Quran Majeed Web" panose="02010000000000000000" pitchFamily="2" charset="-78"/>
                <a:cs typeface="Al Qalam Quran Majeed Web" panose="02010000000000000000" pitchFamily="2" charset="-78"/>
              </a:rPr>
              <a:t>الْخٰلِقِیْن</a:t>
            </a:r>
            <a:r>
              <a:rPr lang="ar-SA" b="1" dirty="0" smtClean="0">
                <a:solidFill>
                  <a:srgbClr val="000000"/>
                </a:solidFill>
                <a:latin typeface="Arial" panose="020B0604020202020204" pitchFamily="34" charset="0"/>
                <a:cs typeface="Jameel Noori Nastaleeq" panose="02000503000000020004" pitchFamily="2" charset="-78"/>
              </a:rPr>
              <a:t>‘‘</a:t>
            </a:r>
            <a:r>
              <a:rPr lang="ar-SA" dirty="0">
                <a:solidFill>
                  <a:srgbClr val="000000"/>
                </a:solidFill>
                <a:cs typeface="Jameel Noori Nastaleeq" panose="02000503000000020004" pitchFamily="2" charset="-78"/>
              </a:rPr>
              <a:t> بے اختیار اس کی زبان پر جاری ہوگیا ۔ اس پر اس کو یہ گھمنڈ ہوا کہ مجھ پر وحی آنے لگی </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اور </a:t>
            </a:r>
            <a:r>
              <a:rPr lang="ar-SA" dirty="0">
                <a:solidFill>
                  <a:srgbClr val="000000"/>
                </a:solidFill>
                <a:cs typeface="Jameel Noori Nastaleeq" panose="02000503000000020004" pitchFamily="2" charset="-78"/>
              </a:rPr>
              <a:t>مرتد ہوگیا، یہ نہ سمجھا کہ نورِ وحی اور قوت و حسنِ کلام کی وجہ سے آیت کا آخری کلمہ خود زبان پر آگیا ہے اور اِس میں اُس کی قابلیت کا کوئی دخل نہ تھا۔</a:t>
            </a:r>
            <a:endParaRPr lang="ur-PK"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967054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462528"/>
            <a:ext cx="11808823" cy="4872958"/>
          </a:xfrm>
        </p:spPr>
        <p:txBody>
          <a:bodyPr>
            <a:normAutofit/>
          </a:bodyPr>
          <a:lstStyle/>
          <a:p>
            <a:pPr marL="0" indent="0" algn="ctr">
              <a:buNone/>
            </a:pPr>
            <a:r>
              <a:rPr lang="ur-PK" sz="3200" b="1" u="sng" dirty="0" smtClean="0">
                <a:solidFill>
                  <a:srgbClr val="000000"/>
                </a:solidFill>
                <a:latin typeface="Jameel Noori Nastaleeq" panose="02000503000000020004" pitchFamily="2" charset="-78"/>
                <a:cs typeface="Jameel Noori Nastaleeq" panose="02000503000000020004" pitchFamily="2" charset="-78"/>
              </a:rPr>
              <a:t>تفسیر</a:t>
            </a:r>
          </a:p>
          <a:p>
            <a:pPr algn="r" rtl="1">
              <a:buFont typeface="Wingdings" panose="05000000000000000000" pitchFamily="2" charset="2"/>
              <a:buChar char="q"/>
            </a:pPr>
            <a:r>
              <a:rPr lang="ur-PK" sz="3200" b="1" u="sng" dirty="0" smtClean="0">
                <a:solidFill>
                  <a:srgbClr val="000000"/>
                </a:solidFill>
                <a:latin typeface="Jameel Noori Nastaleeq" panose="02000503000000020004" pitchFamily="2" charset="-78"/>
                <a:ea typeface="Arial" charset="0"/>
                <a:cs typeface="Jameel Noori Nastaleeq" panose="02000503000000020004" pitchFamily="2" charset="-78"/>
              </a:rPr>
              <a:t> </a:t>
            </a:r>
            <a:r>
              <a:rPr lang="ar-SA" sz="2400" b="1" dirty="0">
                <a:solidFill>
                  <a:srgbClr val="000000"/>
                </a:solidFill>
                <a:latin typeface="Arial" panose="020B0604020202020204" pitchFamily="34" charset="0"/>
                <a:cs typeface="Al_Mushaf"/>
              </a:rPr>
              <a:t>{</a:t>
            </a:r>
            <a:r>
              <a:rPr lang="ar-SA" sz="2400" dirty="0">
                <a:solidFill>
                  <a:srgbClr val="000000"/>
                </a:solidFill>
                <a:cs typeface="Al Qalam Quran Majeed Web2_D"/>
              </a:rPr>
              <a:t> </a:t>
            </a:r>
            <a:r>
              <a:rPr lang="ar-SA" sz="2400" dirty="0">
                <a:solidFill>
                  <a:srgbClr val="000000"/>
                </a:solidFill>
                <a:latin typeface="Al Qalam Quran Majeed Web" panose="02010000000000000000" pitchFamily="2" charset="-78"/>
                <a:cs typeface="Al Qalam Quran Majeed Web" panose="02010000000000000000" pitchFamily="2" charset="-78"/>
              </a:rPr>
              <a:t>وَ لَوْ تَرٰى</a:t>
            </a:r>
            <a:r>
              <a:rPr lang="ar-SA" sz="2400" dirty="0">
                <a:solidFill>
                  <a:srgbClr val="000000"/>
                </a:solidFill>
                <a:cs typeface="Al Qalam Quran Majeed Web2_D"/>
              </a:rPr>
              <a:t> </a:t>
            </a:r>
            <a:r>
              <a:rPr lang="ar-SA" b="1" dirty="0">
                <a:solidFill>
                  <a:srgbClr val="000000"/>
                </a:solidFill>
                <a:latin typeface="Arial" panose="020B0604020202020204" pitchFamily="34" charset="0"/>
                <a:cs typeface="Jameel Noori Nastaleeq" panose="02000503000000020004" pitchFamily="2" charset="-78"/>
              </a:rPr>
              <a:t>: اور اگر تم دیکھو۔}</a:t>
            </a:r>
            <a:r>
              <a:rPr lang="ar-SA" dirty="0">
                <a:solidFill>
                  <a:srgbClr val="000000"/>
                </a:solidFill>
                <a:cs typeface="Jameel Noori Nastaleeq" panose="02000503000000020004" pitchFamily="2" charset="-78"/>
              </a:rPr>
              <a:t> یہاں سے کافروں کی موت کے وقت کے حالات بیان ہوئے ہیں ، فرمایا کہ اگر تم کافروں کی حالت دیکھو </a:t>
            </a:r>
            <a:r>
              <a:rPr lang="ar-SA" dirty="0" smtClean="0">
                <a:solidFill>
                  <a:srgbClr val="000000"/>
                </a:solidFill>
                <a:cs typeface="Jameel Noori Nastaleeq" panose="02000503000000020004" pitchFamily="2" charset="-78"/>
              </a:rPr>
              <a:t>تو</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 </a:t>
            </a:r>
            <a:r>
              <a:rPr lang="ar-SA" dirty="0">
                <a:solidFill>
                  <a:srgbClr val="000000"/>
                </a:solidFill>
                <a:cs typeface="Jameel Noori Nastaleeq" panose="02000503000000020004" pitchFamily="2" charset="-78"/>
              </a:rPr>
              <a:t>بڑی خوفناک حالت دیکھو گے جب ظالم موت کی سختیوں میں ہوتے ہیں اور فرشتے ارواح قبض کرنے کے لئے جھڑکتے جاتے ہیں اور کہتے جاتے </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ہیں </a:t>
            </a:r>
            <a:r>
              <a:rPr lang="ar-SA" dirty="0">
                <a:solidFill>
                  <a:srgbClr val="000000"/>
                </a:solidFill>
                <a:cs typeface="Jameel Noori Nastaleeq" panose="02000503000000020004" pitchFamily="2" charset="-78"/>
              </a:rPr>
              <a:t>کہ اپنی جانیں نکالو۔ آج تمہیں اس کے بدلے میں ذلت کا عذاب دیا جائے گاجو تم</a:t>
            </a:r>
            <a:r>
              <a:rPr lang="ar-SA" dirty="0">
                <a:solidFill>
                  <a:srgbClr val="000000"/>
                </a:solidFill>
              </a:rPr>
              <a:t>  </a:t>
            </a:r>
            <a:r>
              <a:rPr lang="ar-SA" dirty="0">
                <a:solidFill>
                  <a:srgbClr val="000000"/>
                </a:solidFill>
                <a:cs typeface="Jameel Noori Nastaleeq" panose="02000503000000020004" pitchFamily="2" charset="-78"/>
              </a:rPr>
              <a:t>نبوت اور وحی کے جھوٹے دعوے کرکے اور </a:t>
            </a:r>
            <a:r>
              <a:rPr lang="ar-SA" sz="2400" dirty="0">
                <a:solidFill>
                  <a:srgbClr val="000000"/>
                </a:solidFill>
                <a:cs typeface="Al_Mushaf"/>
              </a:rPr>
              <a:t>اللہ</a:t>
            </a:r>
            <a:r>
              <a:rPr lang="ar-SA" dirty="0">
                <a:solidFill>
                  <a:srgbClr val="000000"/>
                </a:solidFill>
                <a:cs typeface="Jameel Noori Nastaleeq" panose="02000503000000020004" pitchFamily="2" charset="-78"/>
              </a:rPr>
              <a:t> </a:t>
            </a:r>
            <a:r>
              <a:rPr lang="ar-SA" dirty="0" smtClean="0">
                <a:solidFill>
                  <a:srgbClr val="000000"/>
                </a:solidFill>
                <a:cs typeface="Jameel Noori Nastaleeq" panose="02000503000000020004" pitchFamily="2" charset="-78"/>
              </a:rPr>
              <a:t>کے </a:t>
            </a:r>
            <a:r>
              <a:rPr lang="ar-SA" dirty="0">
                <a:solidFill>
                  <a:srgbClr val="000000"/>
                </a:solidFill>
                <a:cs typeface="Jameel Noori Nastaleeq" panose="02000503000000020004" pitchFamily="2" charset="-78"/>
              </a:rPr>
              <a:t>لئے </a:t>
            </a:r>
            <a:endParaRPr lang="ur-PK" dirty="0" smtClean="0">
              <a:solidFill>
                <a:srgbClr val="000000"/>
              </a:solidFill>
              <a:cs typeface="Jameel Noori Nastaleeq" panose="02000503000000020004" pitchFamily="2" charset="-78"/>
            </a:endParaRPr>
          </a:p>
          <a:p>
            <a:pPr marL="0" indent="0" algn="r" rtl="1">
              <a:buNone/>
            </a:pPr>
            <a:r>
              <a:rPr lang="ar-SA" dirty="0" smtClean="0">
                <a:solidFill>
                  <a:srgbClr val="000000"/>
                </a:solidFill>
                <a:cs typeface="Jameel Noori Nastaleeq" panose="02000503000000020004" pitchFamily="2" charset="-78"/>
              </a:rPr>
              <a:t>شریک </a:t>
            </a:r>
            <a:r>
              <a:rPr lang="ar-SA" dirty="0">
                <a:solidFill>
                  <a:srgbClr val="000000"/>
                </a:solidFill>
                <a:cs typeface="Jameel Noori Nastaleeq" panose="02000503000000020004" pitchFamily="2" charset="-78"/>
              </a:rPr>
              <a:t>اور بیوی بچے بتا کر </a:t>
            </a:r>
            <a:r>
              <a:rPr lang="ar-SA" sz="2400" dirty="0" smtClean="0">
                <a:solidFill>
                  <a:srgbClr val="000000"/>
                </a:solidFill>
                <a:cs typeface="Al_Mushaf"/>
              </a:rPr>
              <a:t>اللہ</a:t>
            </a:r>
            <a:r>
              <a:rPr lang="ar-SA" dirty="0">
                <a:solidFill>
                  <a:srgbClr val="000000"/>
                </a:solidFill>
                <a:cs typeface="Al_Mushaf"/>
              </a:rPr>
              <a:t> </a:t>
            </a:r>
            <a:r>
              <a:rPr lang="ar-SA" dirty="0">
                <a:solidFill>
                  <a:srgbClr val="000000"/>
                </a:solidFill>
                <a:cs typeface="Jameel Noori Nastaleeq" panose="02000503000000020004" pitchFamily="2" charset="-78"/>
              </a:rPr>
              <a:t>پر ناحق باتیں کہتے تھے۔</a:t>
            </a:r>
            <a:endParaRPr lang="ur-PK"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71714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462528"/>
            <a:ext cx="11808823" cy="4872958"/>
          </a:xfrm>
        </p:spPr>
        <p:txBody>
          <a:bodyPr>
            <a:normAutofit/>
          </a:bodyPr>
          <a:lstStyle/>
          <a:p>
            <a:pPr marL="0" indent="0" algn="r">
              <a:buNone/>
            </a:pPr>
            <a:r>
              <a:rPr lang="ur-PK" sz="3200" b="1" u="sng" dirty="0" smtClean="0">
                <a:solidFill>
                  <a:srgbClr val="000000"/>
                </a:solidFill>
                <a:latin typeface="Jameel Noori Nastaleeq" panose="02000503000000020004" pitchFamily="2" charset="-78"/>
                <a:cs typeface="Jameel Noori Nastaleeq" panose="02000503000000020004" pitchFamily="2" charset="-78"/>
              </a:rPr>
              <a:t>النحل:116</a:t>
            </a:r>
          </a:p>
          <a:p>
            <a:pPr marL="0" indent="0" algn="ctr">
              <a:buNone/>
            </a:pPr>
            <a:r>
              <a:rPr lang="ur-PK" sz="3200" dirty="0">
                <a:solidFill>
                  <a:srgbClr val="333333"/>
                </a:solidFill>
                <a:latin typeface="Al-Qalam-V1"/>
              </a:rPr>
              <a:t>و</a:t>
            </a:r>
            <a:r>
              <a:rPr lang="ur-PK" sz="3200" b="1" dirty="0">
                <a:solidFill>
                  <a:srgbClr val="333333"/>
                </a:solidFill>
                <a:latin typeface="Al Qalam Quran Majeed Web" panose="02010000000000000000" pitchFamily="2" charset="-78"/>
                <a:cs typeface="Al Qalam Quran Majeed Web" panose="02010000000000000000" pitchFamily="2" charset="-78"/>
              </a:rPr>
              <a:t>َ لَا تَقُوْلُوْا لِمَا تَصِفُ اَلْسِنَتُكُمُ الْكَذِبَ هٰذَا حَلٰلٌ وَّ هٰذَا حَرَامٌ لِّتَفْتَرُوْا عَلَى اللّٰهِ الْكَذِبَؕ-اِنَّ </a:t>
            </a:r>
            <a:r>
              <a:rPr lang="ur-PK" sz="3200" b="1" dirty="0" smtClean="0">
                <a:solidFill>
                  <a:srgbClr val="333333"/>
                </a:solidFill>
                <a:latin typeface="Al Qalam Quran Majeed Web" panose="02010000000000000000" pitchFamily="2" charset="-78"/>
                <a:cs typeface="Al Qalam Quran Majeed Web" panose="02010000000000000000" pitchFamily="2" charset="-78"/>
              </a:rPr>
              <a:t>الَّذِیْنَ</a:t>
            </a:r>
          </a:p>
          <a:p>
            <a:pPr marL="0" indent="0" algn="ctr" rtl="1">
              <a:buNone/>
            </a:pPr>
            <a:r>
              <a:rPr lang="ur-PK" sz="3200" b="1" dirty="0" smtClean="0">
                <a:solidFill>
                  <a:srgbClr val="333333"/>
                </a:solidFill>
                <a:latin typeface="Al Qalam Quran Majeed Web" panose="02010000000000000000" pitchFamily="2" charset="-78"/>
                <a:cs typeface="Al Qalam Quran Majeed Web" panose="02010000000000000000" pitchFamily="2" charset="-78"/>
              </a:rPr>
              <a:t> </a:t>
            </a:r>
            <a:r>
              <a:rPr lang="ur-PK" sz="3200" b="1" dirty="0">
                <a:solidFill>
                  <a:srgbClr val="333333"/>
                </a:solidFill>
                <a:latin typeface="Al Qalam Quran Majeed Web" panose="02010000000000000000" pitchFamily="2" charset="-78"/>
                <a:cs typeface="Al Qalam Quran Majeed Web" panose="02010000000000000000" pitchFamily="2" charset="-78"/>
              </a:rPr>
              <a:t>یَفْتَرُوْنَ عَلَى اللّٰهِ الْكَذِبَ لَا </a:t>
            </a:r>
            <a:r>
              <a:rPr lang="ur-PK" sz="3200" b="1" dirty="0" smtClean="0">
                <a:solidFill>
                  <a:srgbClr val="333333"/>
                </a:solidFill>
                <a:latin typeface="Al Qalam Quran Majeed Web" panose="02010000000000000000" pitchFamily="2" charset="-78"/>
                <a:cs typeface="Al Qalam Quran Majeed Web" panose="02010000000000000000" pitchFamily="2" charset="-78"/>
              </a:rPr>
              <a:t>یُفْلِحُوْنَ۔</a:t>
            </a:r>
          </a:p>
          <a:p>
            <a:pPr marL="0" indent="0" algn="r" rtl="1">
              <a:buNone/>
            </a:pPr>
            <a:r>
              <a:rPr lang="ur-PK" sz="3200" b="1" dirty="0" smtClean="0">
                <a:solidFill>
                  <a:srgbClr val="333333"/>
                </a:solidFill>
                <a:latin typeface="Jameel Noori Nastaleeq" panose="02000503000000020004" pitchFamily="2" charset="-78"/>
                <a:cs typeface="Jameel Noori Nastaleeq" panose="02000503000000020004" pitchFamily="2" charset="-78"/>
              </a:rPr>
              <a:t>ترجمہ:</a:t>
            </a:r>
          </a:p>
          <a:p>
            <a:pPr marL="0" indent="0" algn="ctr" rtl="1">
              <a:buNone/>
            </a:pPr>
            <a:r>
              <a:rPr lang="ur-PK" sz="3200" dirty="0">
                <a:solidFill>
                  <a:srgbClr val="333333"/>
                </a:solidFill>
                <a:latin typeface="Jameel Noori Nastaleeq" panose="02000503000000020004" pitchFamily="2" charset="-78"/>
                <a:cs typeface="Jameel Noori Nastaleeq" panose="02000503000000020004" pitchFamily="2" charset="-78"/>
              </a:rPr>
              <a:t>اور تمہاری زبانیں جھوٹ بولتی ہیں اس لئے نہ کہو کہ یہ حلال ہے اور یہ حرام ہے کہ تم اللہ پر جھوٹ باندھو ۔ بیشک جو اللہ پر جھوٹ باندھتے ہیں وہ کامیاب نہ ہوں گے</a:t>
            </a:r>
            <a:endParaRPr lang="ur-PK" sz="3200" b="1" u="sng" dirty="0" smtClean="0">
              <a:solidFill>
                <a:srgbClr val="000000"/>
              </a:solidFill>
              <a:latin typeface="Jameel Noori Nastaleeq" panose="02000503000000020004" pitchFamily="2" charset="-78"/>
              <a:cs typeface="Jameel Noori Nastaleeq" panose="02000503000000020004" pitchFamily="2" charset="-78"/>
            </a:endParaRPr>
          </a:p>
          <a:p>
            <a:pPr marL="0" indent="0" algn="r">
              <a:buNone/>
            </a:pPr>
            <a:endParaRPr lang="ur-PK"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944070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462528"/>
            <a:ext cx="11808823" cy="4872958"/>
          </a:xfrm>
        </p:spPr>
        <p:txBody>
          <a:bodyPr>
            <a:normAutofit/>
          </a:bodyPr>
          <a:lstStyle/>
          <a:p>
            <a:pPr marL="0" indent="0" algn="r">
              <a:buNone/>
            </a:pPr>
            <a:r>
              <a:rPr lang="ur-PK" sz="3200" b="1" u="sng" dirty="0" smtClean="0">
                <a:solidFill>
                  <a:srgbClr val="000000"/>
                </a:solidFill>
                <a:latin typeface="Jameel Noori Nastaleeq" panose="02000503000000020004" pitchFamily="2" charset="-78"/>
                <a:cs typeface="Jameel Noori Nastaleeq" panose="02000503000000020004" pitchFamily="2" charset="-78"/>
              </a:rPr>
              <a:t>الاسرا:36</a:t>
            </a:r>
          </a:p>
          <a:p>
            <a:pPr marL="0" indent="0" algn="ctr">
              <a:buNone/>
            </a:pPr>
            <a:r>
              <a:rPr lang="kk-KZ" sz="3200" b="1" dirty="0">
                <a:solidFill>
                  <a:srgbClr val="333333"/>
                </a:solidFill>
                <a:latin typeface="Al-Qalam-V1"/>
                <a:cs typeface="Al Qalam Quran Majeed Web" panose="02010000000000000000" pitchFamily="2" charset="-78"/>
              </a:rPr>
              <a:t>وَ لَا تَقْفُ مَا لَیْسَ لَكَ بِهٖ </a:t>
            </a:r>
            <a:r>
              <a:rPr lang="kk-KZ" sz="3200" b="1" dirty="0" smtClean="0">
                <a:solidFill>
                  <a:srgbClr val="333333"/>
                </a:solidFill>
                <a:latin typeface="Al-Qalam-V1"/>
                <a:cs typeface="Al Qalam Quran Majeed Web" panose="02010000000000000000" pitchFamily="2" charset="-78"/>
              </a:rPr>
              <a:t>عِلْمٌؕ-</a:t>
            </a:r>
            <a:endParaRPr lang="ur-PK" sz="3200" b="1" dirty="0" smtClean="0">
              <a:solidFill>
                <a:srgbClr val="333333"/>
              </a:solidFill>
              <a:latin typeface="Al-Qalam-V1"/>
              <a:cs typeface="Al Qalam Quran Majeed Web" panose="02010000000000000000" pitchFamily="2" charset="-78"/>
            </a:endParaRPr>
          </a:p>
          <a:p>
            <a:pPr marL="0" indent="0" algn="ctr">
              <a:buNone/>
            </a:pPr>
            <a:r>
              <a:rPr lang="kk-KZ" sz="3200" b="1" dirty="0" smtClean="0">
                <a:solidFill>
                  <a:srgbClr val="333333"/>
                </a:solidFill>
                <a:latin typeface="Al-Qalam-V1"/>
                <a:cs typeface="Al Qalam Quran Majeed Web" panose="02010000000000000000" pitchFamily="2" charset="-78"/>
              </a:rPr>
              <a:t>اِنَّ </a:t>
            </a:r>
            <a:r>
              <a:rPr lang="kk-KZ" sz="3200" b="1" dirty="0">
                <a:solidFill>
                  <a:srgbClr val="333333"/>
                </a:solidFill>
                <a:latin typeface="Al-Qalam-V1"/>
                <a:cs typeface="Al Qalam Quran Majeed Web" panose="02010000000000000000" pitchFamily="2" charset="-78"/>
              </a:rPr>
              <a:t>السَّمْعَ وَ الْبَصَرَ وَ الْفُؤَادَ كُلُّ اُولٰٓىٕكَ كَانَ عَنْهُ مَسْـٴُـوْلًا</a:t>
            </a:r>
            <a:endParaRPr lang="ur-PK" sz="3200" b="1" dirty="0" smtClean="0">
              <a:solidFill>
                <a:srgbClr val="333333"/>
              </a:solidFill>
              <a:latin typeface="Al Qalam Quran Majeed Web" panose="02010000000000000000" pitchFamily="2" charset="-78"/>
              <a:cs typeface="Al Qalam Quran Majeed Web" panose="02010000000000000000" pitchFamily="2" charset="-78"/>
            </a:endParaRPr>
          </a:p>
          <a:p>
            <a:pPr marL="0" indent="0" algn="r" rtl="1">
              <a:buNone/>
            </a:pPr>
            <a:r>
              <a:rPr lang="ur-PK" sz="3200" b="1" dirty="0" smtClean="0">
                <a:solidFill>
                  <a:srgbClr val="333333"/>
                </a:solidFill>
                <a:latin typeface="Jameel Noori Nastaleeq" panose="02000503000000020004" pitchFamily="2" charset="-78"/>
                <a:cs typeface="Jameel Noori Nastaleeq" panose="02000503000000020004" pitchFamily="2" charset="-78"/>
              </a:rPr>
              <a:t>ترجمہ:</a:t>
            </a:r>
          </a:p>
          <a:p>
            <a:pPr marL="0" indent="0" algn="r" rtl="1">
              <a:buNone/>
            </a:pPr>
            <a:endParaRPr lang="ur-PK" sz="3200" b="1" dirty="0" smtClean="0">
              <a:solidFill>
                <a:srgbClr val="333333"/>
              </a:solidFill>
              <a:latin typeface="Jameel Noori Nastaleeq" panose="02000503000000020004" pitchFamily="2" charset="-78"/>
              <a:cs typeface="Jameel Noori Nastaleeq" panose="02000503000000020004" pitchFamily="2" charset="-78"/>
            </a:endParaRPr>
          </a:p>
          <a:p>
            <a:pPr marL="0" indent="0" algn="ctr" rtl="1">
              <a:buNone/>
            </a:pPr>
            <a:r>
              <a:rPr lang="ur-PK" sz="3200" dirty="0">
                <a:solidFill>
                  <a:srgbClr val="333333"/>
                </a:solidFill>
                <a:latin typeface="Jameel Noori Nastaleeq" panose="02000503000000020004" pitchFamily="2" charset="-78"/>
                <a:cs typeface="Jameel Noori Nastaleeq" panose="02000503000000020004" pitchFamily="2" charset="-78"/>
              </a:rPr>
              <a:t>اور اس بات کے پیچھے نہ پڑ جس کا تجھے علم نہیں بیشک کان اور آنکھ اور </a:t>
            </a:r>
            <a:r>
              <a:rPr lang="ur-PK" sz="3200" dirty="0" smtClean="0">
                <a:solidFill>
                  <a:srgbClr val="333333"/>
                </a:solidFill>
                <a:latin typeface="Jameel Noori Nastaleeq" panose="02000503000000020004" pitchFamily="2" charset="-78"/>
                <a:cs typeface="Jameel Noori Nastaleeq" panose="02000503000000020004" pitchFamily="2" charset="-78"/>
              </a:rPr>
              <a:t>دل</a:t>
            </a:r>
          </a:p>
          <a:p>
            <a:pPr marL="0" indent="0" algn="ctr" rtl="1">
              <a:buNone/>
            </a:pPr>
            <a:r>
              <a:rPr lang="ur-PK" sz="3200" dirty="0" smtClean="0">
                <a:solidFill>
                  <a:srgbClr val="333333"/>
                </a:solidFill>
                <a:latin typeface="Jameel Noori Nastaleeq" panose="02000503000000020004" pitchFamily="2" charset="-78"/>
                <a:cs typeface="Jameel Noori Nastaleeq" panose="02000503000000020004" pitchFamily="2" charset="-78"/>
              </a:rPr>
              <a:t> </a:t>
            </a:r>
            <a:r>
              <a:rPr lang="ur-PK" sz="3200" dirty="0">
                <a:solidFill>
                  <a:srgbClr val="333333"/>
                </a:solidFill>
                <a:latin typeface="Jameel Noori Nastaleeq" panose="02000503000000020004" pitchFamily="2" charset="-78"/>
                <a:cs typeface="Jameel Noori Nastaleeq" panose="02000503000000020004" pitchFamily="2" charset="-78"/>
              </a:rPr>
              <a:t>ان سب کے بارے میں سوال کیا جائے گا</a:t>
            </a:r>
            <a:endParaRPr lang="ur-PK"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39500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462528"/>
            <a:ext cx="11808823" cy="4872958"/>
          </a:xfrm>
        </p:spPr>
        <p:txBody>
          <a:bodyPr>
            <a:normAutofit fontScale="92500" lnSpcReduction="10000"/>
          </a:bodyPr>
          <a:lstStyle/>
          <a:p>
            <a:pPr marL="0" indent="0" algn="ctr">
              <a:buNone/>
            </a:pPr>
            <a:r>
              <a:rPr lang="ur-PK" sz="3200" b="1" u="sng" dirty="0" smtClean="0">
                <a:solidFill>
                  <a:srgbClr val="000000"/>
                </a:solidFill>
                <a:latin typeface="Jameel Noori Nastaleeq" panose="02000503000000020004" pitchFamily="2" charset="-78"/>
                <a:cs typeface="Jameel Noori Nastaleeq" panose="02000503000000020004" pitchFamily="2" charset="-78"/>
              </a:rPr>
              <a:t>تفسیر</a:t>
            </a:r>
          </a:p>
          <a:p>
            <a:pPr algn="r" rtl="1">
              <a:buFont typeface="Wingdings" panose="05000000000000000000" pitchFamily="2" charset="2"/>
              <a:buChar char="q"/>
            </a:pPr>
            <a:r>
              <a:rPr lang="ar-SA" b="1" dirty="0">
                <a:solidFill>
                  <a:srgbClr val="000000"/>
                </a:solidFill>
                <a:latin typeface="Jameel Noori Nastaleeq" panose="02000503000000020004" pitchFamily="2" charset="-78"/>
                <a:cs typeface="Jameel Noori Nastaleeq" panose="02000503000000020004" pitchFamily="2" charset="-78"/>
              </a:rPr>
              <a:t>{</a:t>
            </a:r>
            <a:r>
              <a:rPr lang="ar-SA" dirty="0">
                <a:solidFill>
                  <a:srgbClr val="000000"/>
                </a:solidFill>
                <a:latin typeface="Al Qalam Quran Majeed Web" panose="02010000000000000000" pitchFamily="2" charset="-78"/>
                <a:cs typeface="Al Qalam Quran Majeed Web" panose="02010000000000000000" pitchFamily="2" charset="-78"/>
              </a:rPr>
              <a:t>وَ لَا تَقْفُ مَا لَیْسَ لَكَ بِهٖ عِلْمٌ</a:t>
            </a:r>
            <a:r>
              <a:rPr lang="ar-SA" b="1" dirty="0">
                <a:solidFill>
                  <a:srgbClr val="000000"/>
                </a:solidFill>
                <a:latin typeface="Jameel Noori Nastaleeq" panose="02000503000000020004" pitchFamily="2" charset="-78"/>
                <a:cs typeface="Jameel Noori Nastaleeq" panose="02000503000000020004" pitchFamily="2" charset="-78"/>
              </a:rPr>
              <a:t>:اور اس بات کے پیچھے نہ پڑ جس کا تجھے علم نہیں ۔}</a:t>
            </a:r>
            <a:r>
              <a:rPr lang="ar-SA" dirty="0">
                <a:solidFill>
                  <a:srgbClr val="000000"/>
                </a:solidFill>
                <a:latin typeface="Jameel Noori Nastaleeq" panose="02000503000000020004" pitchFamily="2" charset="-78"/>
                <a:cs typeface="Jameel Noori Nastaleeq" panose="02000503000000020004" pitchFamily="2" charset="-78"/>
              </a:rPr>
              <a:t> یعنی جس چیز کو دیکھا نہ ہو اُس کے بارے میں  یہ نہ کہو کہ میں  نے دیکھا ہے اور جس بات کو سنا نہ ہو اس کے بارے میں یہ نہ کہو کہ میں  نے سنا ہے۔ ایک قول ہے کہ اس سے مراد یہ ہے کہ جھوٹی گواہی نہ دو۔ اور حضرت عبداللّٰہ بن عباس </a:t>
            </a:r>
            <a:r>
              <a:rPr lang="ar-SA" dirty="0" smtClean="0">
                <a:solidFill>
                  <a:srgbClr val="000000"/>
                </a:solidFill>
                <a:latin typeface="Jameel Noori Nastaleeq" panose="02000503000000020004" pitchFamily="2" charset="-78"/>
                <a:cs typeface="Jameel Noori Nastaleeq" panose="02000503000000020004" pitchFamily="2" charset="-78"/>
              </a:rPr>
              <a:t>﷜فرمایا </a:t>
            </a:r>
            <a:r>
              <a:rPr lang="ar-SA" dirty="0">
                <a:solidFill>
                  <a:srgbClr val="000000"/>
                </a:solidFill>
                <a:latin typeface="Jameel Noori Nastaleeq" panose="02000503000000020004" pitchFamily="2" charset="-78"/>
                <a:cs typeface="Jameel Noori Nastaleeq" panose="02000503000000020004" pitchFamily="2" charset="-78"/>
              </a:rPr>
              <a:t>’’اس سے مراد یہ ہے کہ کسی پرو ہ الزام نہ لگاؤ جو تم نہ جانتے </a:t>
            </a:r>
            <a:r>
              <a:rPr lang="ar-SA" dirty="0" smtClean="0">
                <a:solidFill>
                  <a:srgbClr val="000000"/>
                </a:solidFill>
                <a:latin typeface="Jameel Noori Nastaleeq" panose="02000503000000020004" pitchFamily="2" charset="-78"/>
                <a:cs typeface="Jameel Noori Nastaleeq" panose="02000503000000020004" pitchFamily="2" charset="-78"/>
              </a:rPr>
              <a:t>ہو</a:t>
            </a:r>
            <a:r>
              <a:rPr lang="ar-SA" dirty="0">
                <a:solidFill>
                  <a:srgbClr val="000000"/>
                </a:solidFill>
                <a:latin typeface="Jameel Noori Nastaleeq" panose="02000503000000020004" pitchFamily="2" charset="-78"/>
                <a:cs typeface="Jameel Noori Nastaleeq" panose="02000503000000020004" pitchFamily="2" charset="-78"/>
              </a:rPr>
              <a:t> ابو عبداللّٰہ محمد بن </a:t>
            </a:r>
            <a:r>
              <a:rPr lang="ar-SA" dirty="0" smtClean="0">
                <a:solidFill>
                  <a:srgbClr val="000000"/>
                </a:solidFill>
                <a:latin typeface="Jameel Noori Nastaleeq" panose="02000503000000020004" pitchFamily="2" charset="-78"/>
                <a:cs typeface="Jameel Noori Nastaleeq" panose="02000503000000020004" pitchFamily="2" charset="-78"/>
              </a:rPr>
              <a:t>احمد قرطبی</a:t>
            </a:r>
            <a:r>
              <a:rPr lang="ar-SA" dirty="0">
                <a:solidFill>
                  <a:srgbClr val="000000"/>
                </a:solidFill>
                <a:latin typeface="Jameel Noori Nastaleeq" panose="02000503000000020004" pitchFamily="2" charset="-78"/>
                <a:cs typeface="Jameel Noori Nastaleeq" panose="02000503000000020004" pitchFamily="2" charset="-78"/>
              </a:rPr>
              <a:t> </a:t>
            </a:r>
            <a:r>
              <a:rPr lang="ar-SA" dirty="0">
                <a:solidFill>
                  <a:srgbClr val="000000"/>
                </a:solidFill>
                <a:latin typeface="Al Qalam Quran Majeed Web" panose="02010000000000000000" pitchFamily="2" charset="-78"/>
                <a:cs typeface="Al Qalam Quran Majeed Web" panose="02010000000000000000" pitchFamily="2" charset="-78"/>
              </a:rPr>
              <a:t>رَحْمَۃُاللّٰہِ تَعَالٰی عَلَیْہِ</a:t>
            </a:r>
            <a:r>
              <a:rPr lang="ar-SA" dirty="0">
                <a:solidFill>
                  <a:srgbClr val="000000"/>
                </a:solidFill>
                <a:latin typeface="Jameel Noori Nastaleeq" panose="02000503000000020004" pitchFamily="2" charset="-78"/>
                <a:cs typeface="Jameel Noori Nastaleeq" panose="02000503000000020004" pitchFamily="2" charset="-78"/>
              </a:rPr>
              <a:t> فرماتے ہیں ’’خلاصہ یہ ہے کہ ا س آیت میں  جھوٹی گواہی دینے ،جھوٹے الزامات لگانے اور اس طرح کے دیگر جھوٹے اَقوال کی مُمانعت کی گئی </a:t>
            </a:r>
            <a:r>
              <a:rPr lang="ar-SA" dirty="0" smtClean="0">
                <a:solidFill>
                  <a:srgbClr val="000000"/>
                </a:solidFill>
                <a:latin typeface="Jameel Noori Nastaleeq" panose="02000503000000020004" pitchFamily="2" charset="-78"/>
                <a:cs typeface="Jameel Noori Nastaleeq" panose="02000503000000020004" pitchFamily="2" charset="-78"/>
              </a:rPr>
              <a:t>ہے</a:t>
            </a:r>
            <a:r>
              <a:rPr lang="ur-PK" dirty="0" smtClean="0">
                <a:solidFill>
                  <a:srgbClr val="000000"/>
                </a:solidFill>
                <a:latin typeface="Jameel Noori Nastaleeq" panose="02000503000000020004" pitchFamily="2" charset="-78"/>
                <a:cs typeface="Jameel Noori Nastaleeq" panose="02000503000000020004" pitchFamily="2" charset="-78"/>
              </a:rPr>
              <a:t>۔</a:t>
            </a:r>
          </a:p>
          <a:p>
            <a:pPr algn="r" rtl="1">
              <a:buFont typeface="Wingdings" panose="05000000000000000000" pitchFamily="2" charset="2"/>
              <a:buChar char="q"/>
            </a:pPr>
            <a:r>
              <a:rPr lang="ar-SA" b="1" dirty="0">
                <a:solidFill>
                  <a:srgbClr val="000000"/>
                </a:solidFill>
                <a:latin typeface="Arial" panose="020B0604020202020204" pitchFamily="34" charset="0"/>
                <a:cs typeface="Jameel Noori Nastaleeq" panose="02000503000000020004" pitchFamily="2" charset="-78"/>
              </a:rPr>
              <a:t>جھوٹی گواہی دینے اور غلط الزامات لگانے کی مذمت پر </a:t>
            </a:r>
            <a:r>
              <a:rPr lang="ar-SA" b="1" dirty="0" smtClean="0">
                <a:solidFill>
                  <a:srgbClr val="000000"/>
                </a:solidFill>
                <a:latin typeface="Arial" panose="020B0604020202020204" pitchFamily="34" charset="0"/>
                <a:cs typeface="Jameel Noori Nastaleeq" panose="02000503000000020004" pitchFamily="2" charset="-78"/>
              </a:rPr>
              <a:t>اَحادیث</a:t>
            </a:r>
            <a:r>
              <a:rPr lang="ur-PK" b="1" dirty="0" smtClean="0">
                <a:solidFill>
                  <a:srgbClr val="000000"/>
                </a:solidFill>
                <a:latin typeface="Arial" panose="020B0604020202020204" pitchFamily="34" charset="0"/>
                <a:cs typeface="Jameel Noori Nastaleeq" panose="02000503000000020004" pitchFamily="2" charset="-78"/>
              </a:rPr>
              <a:t>:</a:t>
            </a:r>
          </a:p>
          <a:p>
            <a:pPr algn="just" rtl="1">
              <a:spcAft>
                <a:spcPts val="0"/>
              </a:spcAft>
            </a:pPr>
            <a:r>
              <a:rPr lang="ar-SA" sz="3200" b="1" dirty="0">
                <a:solidFill>
                  <a:srgbClr val="000000"/>
                </a:solidFill>
                <a:latin typeface="Jameel Noori Nastaleeq" panose="02000503000000020004" pitchFamily="2" charset="-78"/>
                <a:cs typeface="Jameel Noori Nastaleeq" panose="02000503000000020004" pitchFamily="2" charset="-78"/>
              </a:rPr>
              <a:t>(1)…</a:t>
            </a:r>
            <a:r>
              <a:rPr lang="ar-SA" sz="3200" dirty="0">
                <a:solidFill>
                  <a:srgbClr val="000000"/>
                </a:solidFill>
                <a:latin typeface="Jameel Noori Nastaleeq" panose="02000503000000020004" pitchFamily="2" charset="-78"/>
                <a:cs typeface="Jameel Noori Nastaleeq" panose="02000503000000020004" pitchFamily="2" charset="-78"/>
              </a:rPr>
              <a:t>حضرت </a:t>
            </a:r>
            <a:r>
              <a:rPr lang="ar-SA" dirty="0">
                <a:solidFill>
                  <a:srgbClr val="000000"/>
                </a:solidFill>
                <a:latin typeface="Jameel Noori Nastaleeq" panose="02000503000000020004" pitchFamily="2" charset="-78"/>
                <a:cs typeface="Jameel Noori Nastaleeq" panose="02000503000000020004" pitchFamily="2" charset="-78"/>
              </a:rPr>
              <a:t>عبداللّٰہ </a:t>
            </a:r>
            <a:r>
              <a:rPr lang="ar-SA" sz="3200" dirty="0">
                <a:solidFill>
                  <a:srgbClr val="000000"/>
                </a:solidFill>
                <a:latin typeface="Jameel Noori Nastaleeq" panose="02000503000000020004" pitchFamily="2" charset="-78"/>
                <a:cs typeface="Jameel Noori Nastaleeq" panose="02000503000000020004" pitchFamily="2" charset="-78"/>
              </a:rPr>
              <a:t>بن عمر </a:t>
            </a:r>
            <a:r>
              <a:rPr lang="ar-SA" dirty="0">
                <a:solidFill>
                  <a:srgbClr val="000000"/>
                </a:solidFill>
                <a:latin typeface="Jameel Noori Nastaleeq" panose="02000503000000020004" pitchFamily="2" charset="-78"/>
                <a:cs typeface="Jameel Noori Nastaleeq" panose="02000503000000020004" pitchFamily="2" charset="-78"/>
              </a:rPr>
              <a:t>رَضِیَ اللّٰہُ تَعَالٰی عَنْہُمَا</a:t>
            </a:r>
            <a:r>
              <a:rPr lang="ar-SA" sz="3200" dirty="0">
                <a:solidFill>
                  <a:srgbClr val="000000"/>
                </a:solidFill>
                <a:latin typeface="Jameel Noori Nastaleeq" panose="02000503000000020004" pitchFamily="2" charset="-78"/>
                <a:cs typeface="Jameel Noori Nastaleeq" panose="02000503000000020004" pitchFamily="2" charset="-78"/>
              </a:rPr>
              <a:t>سے روایت ہے ، </a:t>
            </a:r>
            <a:r>
              <a:rPr lang="ar-SA" dirty="0">
                <a:solidFill>
                  <a:srgbClr val="000000"/>
                </a:solidFill>
                <a:latin typeface="Jameel Noori Nastaleeq" panose="02000503000000020004" pitchFamily="2" charset="-78"/>
                <a:cs typeface="Jameel Noori Nastaleeq" panose="02000503000000020004" pitchFamily="2" charset="-78"/>
              </a:rPr>
              <a:t>رسولُ اللّٰہ</a:t>
            </a:r>
            <a:r>
              <a:rPr lang="ar-SA" sz="3200" dirty="0">
                <a:solidFill>
                  <a:srgbClr val="000000"/>
                </a:solidFill>
                <a:latin typeface="Jameel Noori Nastaleeq" panose="02000503000000020004" pitchFamily="2" charset="-78"/>
                <a:cs typeface="Jameel Noori Nastaleeq" panose="02000503000000020004" pitchFamily="2" charset="-78"/>
              </a:rPr>
              <a:t> </a:t>
            </a:r>
            <a:r>
              <a:rPr lang="ar-SA" dirty="0">
                <a:solidFill>
                  <a:srgbClr val="000000"/>
                </a:solidFill>
                <a:latin typeface="Jameel Noori Nastaleeq" panose="02000503000000020004" pitchFamily="2" charset="-78"/>
                <a:cs typeface="Jameel Noori Nastaleeq" panose="02000503000000020004" pitchFamily="2" charset="-78"/>
              </a:rPr>
              <a:t>صَلَّی اللّٰہُ تَعَالٰی عَلَیْہِ وَاٰلِہٖ وَسَلَّمَ</a:t>
            </a:r>
            <a:r>
              <a:rPr lang="ar-SA" sz="3200" dirty="0">
                <a:solidFill>
                  <a:srgbClr val="000000"/>
                </a:solidFill>
                <a:latin typeface="Jameel Noori Nastaleeq" panose="02000503000000020004" pitchFamily="2" charset="-78"/>
                <a:cs typeface="Jameel Noori Nastaleeq" panose="02000503000000020004" pitchFamily="2" charset="-78"/>
              </a:rPr>
              <a:t> نے ارشاد فرمایا ’’ جھوٹے گواہ کے قدم ہٹنے بھی نہ پائیں  گے کہ </a:t>
            </a:r>
            <a:r>
              <a:rPr lang="ar-SA" dirty="0">
                <a:solidFill>
                  <a:srgbClr val="000000"/>
                </a:solidFill>
                <a:latin typeface="Jameel Noori Nastaleeq" panose="02000503000000020004" pitchFamily="2" charset="-78"/>
                <a:cs typeface="Jameel Noori Nastaleeq" panose="02000503000000020004" pitchFamily="2" charset="-78"/>
              </a:rPr>
              <a:t>اللّٰہ</a:t>
            </a:r>
            <a:r>
              <a:rPr lang="ar-SA" sz="3200" dirty="0">
                <a:solidFill>
                  <a:srgbClr val="000000"/>
                </a:solidFill>
                <a:latin typeface="Jameel Noori Nastaleeq" panose="02000503000000020004" pitchFamily="2" charset="-78"/>
                <a:cs typeface="Jameel Noori Nastaleeq" panose="02000503000000020004" pitchFamily="2" charset="-78"/>
              </a:rPr>
              <a:t> تعالیٰ اُس کے لیے جہنم واجب کر دے </a:t>
            </a:r>
            <a:r>
              <a:rPr lang="ar-SA" sz="3200" dirty="0" smtClean="0">
                <a:solidFill>
                  <a:srgbClr val="000000"/>
                </a:solidFill>
                <a:latin typeface="Jameel Noori Nastaleeq" panose="02000503000000020004" pitchFamily="2" charset="-78"/>
                <a:cs typeface="Jameel Noori Nastaleeq" panose="02000503000000020004" pitchFamily="2" charset="-78"/>
              </a:rPr>
              <a:t>گا</a:t>
            </a:r>
            <a:r>
              <a:rPr lang="ur-PK" sz="3200" dirty="0" smtClean="0">
                <a:solidFill>
                  <a:srgbClr val="000000"/>
                </a:solidFill>
                <a:latin typeface="Jameel Noori Nastaleeq" panose="02000503000000020004" pitchFamily="2" charset="-78"/>
                <a:cs typeface="Jameel Noori Nastaleeq" panose="02000503000000020004" pitchFamily="2" charset="-78"/>
              </a:rPr>
              <a:t>۔</a:t>
            </a:r>
          </a:p>
          <a:p>
            <a:pPr algn="just" rtl="1">
              <a:spcAft>
                <a:spcPts val="0"/>
              </a:spcAft>
            </a:pPr>
            <a:r>
              <a:rPr lang="ar-SA" sz="3200" dirty="0" smtClean="0">
                <a:solidFill>
                  <a:srgbClr val="000000"/>
                </a:solidFill>
                <a:latin typeface="Jameel Noori Nastaleeq" panose="02000503000000020004" pitchFamily="2" charset="-78"/>
                <a:cs typeface="Jameel Noori Nastaleeq" panose="02000503000000020004" pitchFamily="2" charset="-78"/>
              </a:rPr>
              <a:t> </a:t>
            </a:r>
            <a:r>
              <a:rPr lang="ar-SA" sz="3200" b="1" dirty="0" smtClean="0">
                <a:solidFill>
                  <a:srgbClr val="000000"/>
                </a:solidFill>
                <a:latin typeface="Jameel Noori Nastaleeq" panose="02000503000000020004" pitchFamily="2" charset="-78"/>
                <a:cs typeface="Jameel Noori Nastaleeq" panose="02000503000000020004" pitchFamily="2" charset="-78"/>
              </a:rPr>
              <a:t>(</a:t>
            </a:r>
            <a:r>
              <a:rPr lang="ar-SA" sz="3200" b="1" dirty="0">
                <a:solidFill>
                  <a:srgbClr val="000000"/>
                </a:solidFill>
                <a:latin typeface="Jameel Noori Nastaleeq" panose="02000503000000020004" pitchFamily="2" charset="-78"/>
                <a:cs typeface="Jameel Noori Nastaleeq" panose="02000503000000020004" pitchFamily="2" charset="-78"/>
              </a:rPr>
              <a:t>2)…</a:t>
            </a:r>
            <a:r>
              <a:rPr lang="ar-SA" sz="3200" dirty="0">
                <a:solidFill>
                  <a:srgbClr val="000000"/>
                </a:solidFill>
                <a:latin typeface="Jameel Noori Nastaleeq" panose="02000503000000020004" pitchFamily="2" charset="-78"/>
                <a:cs typeface="Jameel Noori Nastaleeq" panose="02000503000000020004" pitchFamily="2" charset="-78"/>
              </a:rPr>
              <a:t> حضرت معاذ بن انس </a:t>
            </a:r>
            <a:r>
              <a:rPr lang="ar-SA" dirty="0">
                <a:solidFill>
                  <a:srgbClr val="000000"/>
                </a:solidFill>
                <a:latin typeface="Jameel Noori Nastaleeq" panose="02000503000000020004" pitchFamily="2" charset="-78"/>
                <a:cs typeface="Jameel Noori Nastaleeq" panose="02000503000000020004" pitchFamily="2" charset="-78"/>
              </a:rPr>
              <a:t>رَضِیَ اللّٰہُ تَعَالٰی عَنْہُ</a:t>
            </a:r>
            <a:r>
              <a:rPr lang="ar-SA" sz="3200" dirty="0">
                <a:solidFill>
                  <a:srgbClr val="000000"/>
                </a:solidFill>
                <a:latin typeface="Jameel Noori Nastaleeq" panose="02000503000000020004" pitchFamily="2" charset="-78"/>
                <a:cs typeface="Jameel Noori Nastaleeq" panose="02000503000000020004" pitchFamily="2" charset="-78"/>
              </a:rPr>
              <a:t> سے روایت ہے ،رسول کریم </a:t>
            </a:r>
            <a:r>
              <a:rPr lang="ar-SA" dirty="0">
                <a:solidFill>
                  <a:srgbClr val="000000"/>
                </a:solidFill>
                <a:latin typeface="Jameel Noori Nastaleeq" panose="02000503000000020004" pitchFamily="2" charset="-78"/>
                <a:cs typeface="Jameel Noori Nastaleeq" panose="02000503000000020004" pitchFamily="2" charset="-78"/>
              </a:rPr>
              <a:t>صَلَّی اللّٰہُ تَعَالٰی عَلَیْہِ وَاٰلِہٖ وَسَلَّمَ </a:t>
            </a:r>
            <a:r>
              <a:rPr lang="ar-SA" sz="3200" dirty="0">
                <a:solidFill>
                  <a:srgbClr val="000000"/>
                </a:solidFill>
                <a:latin typeface="Jameel Noori Nastaleeq" panose="02000503000000020004" pitchFamily="2" charset="-78"/>
                <a:cs typeface="Jameel Noori Nastaleeq" panose="02000503000000020004" pitchFamily="2" charset="-78"/>
              </a:rPr>
              <a:t>نے ارشاد فرمایا ’’جو کسی مسلمان کو ذلیل کرنے کی غرض سے اس پر الزام عائد کرے تو </a:t>
            </a:r>
            <a:r>
              <a:rPr lang="ar-SA" dirty="0">
                <a:solidFill>
                  <a:srgbClr val="000000"/>
                </a:solidFill>
                <a:latin typeface="Jameel Noori Nastaleeq" panose="02000503000000020004" pitchFamily="2" charset="-78"/>
                <a:cs typeface="Jameel Noori Nastaleeq" panose="02000503000000020004" pitchFamily="2" charset="-78"/>
              </a:rPr>
              <a:t>اللّٰہ</a:t>
            </a:r>
            <a:r>
              <a:rPr lang="ar-SA" sz="3200" dirty="0">
                <a:solidFill>
                  <a:srgbClr val="000000"/>
                </a:solidFill>
                <a:latin typeface="Jameel Noori Nastaleeq" panose="02000503000000020004" pitchFamily="2" charset="-78"/>
                <a:cs typeface="Jameel Noori Nastaleeq" panose="02000503000000020004" pitchFamily="2" charset="-78"/>
              </a:rPr>
              <a:t> تعالیٰ جہنم کے پل پر اسے روک لے گا یہاں  تک کہ اپنے کہنے کے مطابق عذاب پا </a:t>
            </a:r>
            <a:r>
              <a:rPr lang="ar-SA" sz="3200" dirty="0" smtClean="0">
                <a:solidFill>
                  <a:srgbClr val="000000"/>
                </a:solidFill>
                <a:latin typeface="Jameel Noori Nastaleeq" panose="02000503000000020004" pitchFamily="2" charset="-78"/>
                <a:cs typeface="Jameel Noori Nastaleeq" panose="02000503000000020004" pitchFamily="2" charset="-78"/>
              </a:rPr>
              <a:t>لے</a:t>
            </a:r>
            <a:r>
              <a:rPr lang="ur-PK" sz="3200" dirty="0" smtClean="0">
                <a:solidFill>
                  <a:srgbClr val="000000"/>
                </a:solidFill>
                <a:latin typeface="Jameel Noori Nastaleeq" panose="02000503000000020004" pitchFamily="2" charset="-78"/>
                <a:cs typeface="Jameel Noori Nastaleeq" panose="02000503000000020004" pitchFamily="2" charset="-78"/>
              </a:rPr>
              <a:t>۔</a:t>
            </a:r>
            <a:endParaRPr lang="ur-PK" b="1" u="sng" dirty="0" smtClean="0">
              <a:solidFill>
                <a:srgbClr val="000000"/>
              </a:solidFill>
              <a:latin typeface="Jameel Noori Nastaleeq" panose="02000503000000020004" pitchFamily="2" charset="-78"/>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52172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271053"/>
            <a:ext cx="11808823" cy="5064433"/>
          </a:xfrm>
        </p:spPr>
        <p:txBody>
          <a:bodyPr>
            <a:normAutofit/>
          </a:bodyPr>
          <a:lstStyle/>
          <a:p>
            <a:pPr marL="0" indent="0" algn="r">
              <a:buNone/>
            </a:pPr>
            <a:r>
              <a:rPr lang="ur-PK" sz="3200" b="1" u="sng" dirty="0" smtClean="0">
                <a:latin typeface="Jameel Noori Nastaleeq" panose="02000503000000020004" pitchFamily="2" charset="-78"/>
                <a:ea typeface="Arial" charset="0"/>
                <a:cs typeface="Jameel Noori Nastaleeq" panose="02000503000000020004" pitchFamily="2" charset="-78"/>
              </a:rPr>
              <a:t>آلِ عمران:93</a:t>
            </a:r>
          </a:p>
          <a:p>
            <a:pPr marL="0" indent="0" algn="ctr" rtl="1">
              <a:buNone/>
            </a:pPr>
            <a:r>
              <a:rPr lang="ur-PK" b="1" dirty="0">
                <a:latin typeface="Al Qalam Quran Majeed Web" panose="02010000000000000000" pitchFamily="2" charset="-78"/>
                <a:cs typeface="Al Qalam Quran Majeed Web" panose="02010000000000000000" pitchFamily="2" charset="-78"/>
              </a:rPr>
              <a:t>كُلُّ  الطَّعَامِ  كَانَ  حِلًّا  لِّبَنِیْۤ  اِسْرَآءِیْلَ  اِلَّا  مَا  حَرَّمَ  اِسْرَآءِیْلُ  عَلٰى  نَفْسِهٖ  مِنْ  قَبْلِ  اَنْ  تُنَزَّلَ  </a:t>
            </a:r>
            <a:r>
              <a:rPr lang="ur-PK" b="1" dirty="0" smtClean="0">
                <a:latin typeface="Al Qalam Quran Majeed Web" panose="02010000000000000000" pitchFamily="2" charset="-78"/>
                <a:cs typeface="Al Qalam Quran Majeed Web" panose="02010000000000000000" pitchFamily="2" charset="-78"/>
              </a:rPr>
              <a:t>التَّوْرٰىةُؕ</a:t>
            </a:r>
          </a:p>
          <a:p>
            <a:pPr marL="0" indent="0" algn="ctr" rtl="1">
              <a:buNone/>
            </a:pPr>
            <a:r>
              <a:rPr lang="ur-PK" b="1" dirty="0" smtClean="0">
                <a:latin typeface="Al Qalam Quran Majeed Web" panose="02010000000000000000" pitchFamily="2" charset="-78"/>
                <a:cs typeface="Al Qalam Quran Majeed Web" panose="02010000000000000000" pitchFamily="2" charset="-78"/>
              </a:rPr>
              <a:t>-قُلْ</a:t>
            </a:r>
            <a:r>
              <a:rPr lang="ur-PK" b="1" dirty="0">
                <a:latin typeface="Al Qalam Quran Majeed Web" panose="02010000000000000000" pitchFamily="2" charset="-78"/>
                <a:cs typeface="Al Qalam Quran Majeed Web" panose="02010000000000000000" pitchFamily="2" charset="-78"/>
              </a:rPr>
              <a:t>  فَاْتُوْا  بِالتَّوْرٰىةِ  فَاتْلُوْهَاۤ  اِنْ  كُنْتُمْ  </a:t>
            </a:r>
            <a:r>
              <a:rPr lang="ur-PK" b="1" dirty="0" smtClean="0">
                <a:latin typeface="Al Qalam Quran Majeed Web" panose="02010000000000000000" pitchFamily="2" charset="-78"/>
                <a:cs typeface="Al Qalam Quran Majeed Web" panose="02010000000000000000" pitchFamily="2" charset="-78"/>
              </a:rPr>
              <a:t>صٰدِقِیْنَ</a:t>
            </a:r>
            <a:endParaRPr lang="en-US" b="1" dirty="0">
              <a:latin typeface="Al Qalam Quran Majeed Web" panose="02010000000000000000" pitchFamily="2" charset="-78"/>
              <a:cs typeface="Al Qalam Quran Majeed Web" panose="02010000000000000000" pitchFamily="2" charset="-78"/>
            </a:endParaRPr>
          </a:p>
          <a:p>
            <a:pPr marL="0" indent="0" algn="r" rtl="1">
              <a:buNone/>
            </a:pPr>
            <a:r>
              <a:rPr lang="ur-PK" b="1" u="sng" dirty="0" smtClean="0">
                <a:latin typeface="Jameel Noori Nastaleeq" panose="02000503000000020004" pitchFamily="2" charset="-78"/>
                <a:cs typeface="Jameel Noori Nastaleeq" panose="02000503000000020004" pitchFamily="2" charset="-78"/>
              </a:rPr>
              <a:t>ترجمہ:</a:t>
            </a:r>
          </a:p>
          <a:p>
            <a:pPr marL="0" indent="0" algn="ctr">
              <a:buNone/>
            </a:pPr>
            <a:r>
              <a:rPr lang="ur-PK" sz="3200" dirty="0">
                <a:solidFill>
                  <a:srgbClr val="333333"/>
                </a:solidFill>
                <a:latin typeface="Jameel Noori Nastaleeq" panose="02000503000000020004" pitchFamily="2" charset="-78"/>
                <a:cs typeface="Jameel Noori Nastaleeq" panose="02000503000000020004" pitchFamily="2" charset="-78"/>
              </a:rPr>
              <a:t>سب کھانے بنی اسرائیل کو حلال تھے مگر وہ جو یعقوب نے اپنے اوپر حرام کرلیا </a:t>
            </a:r>
            <a:r>
              <a:rPr lang="ur-PK" sz="3200" dirty="0" smtClean="0">
                <a:solidFill>
                  <a:srgbClr val="333333"/>
                </a:solidFill>
                <a:latin typeface="Jameel Noori Nastaleeq" panose="02000503000000020004" pitchFamily="2" charset="-78"/>
                <a:cs typeface="Jameel Noori Nastaleeq" panose="02000503000000020004" pitchFamily="2" charset="-78"/>
              </a:rPr>
              <a:t>تھا</a:t>
            </a:r>
            <a:endParaRPr lang="en-US" sz="3200" dirty="0" smtClean="0">
              <a:solidFill>
                <a:srgbClr val="333333"/>
              </a:solidFill>
              <a:latin typeface="Jameel Noori Nastaleeq" panose="02000503000000020004" pitchFamily="2" charset="-78"/>
              <a:cs typeface="Jameel Noori Nastaleeq" panose="02000503000000020004" pitchFamily="2" charset="-78"/>
            </a:endParaRPr>
          </a:p>
          <a:p>
            <a:pPr marL="0" indent="0" algn="ctr">
              <a:buNone/>
            </a:pPr>
            <a:r>
              <a:rPr lang="ur-PK" sz="3200" dirty="0" smtClean="0">
                <a:solidFill>
                  <a:srgbClr val="333333"/>
                </a:solidFill>
                <a:latin typeface="Jameel Noori Nastaleeq" panose="02000503000000020004" pitchFamily="2" charset="-78"/>
                <a:cs typeface="Jameel Noori Nastaleeq" panose="02000503000000020004" pitchFamily="2" charset="-78"/>
              </a:rPr>
              <a:t> </a:t>
            </a:r>
            <a:r>
              <a:rPr lang="ur-PK" sz="3200" dirty="0">
                <a:solidFill>
                  <a:srgbClr val="333333"/>
                </a:solidFill>
                <a:latin typeface="Jameel Noori Nastaleeq" panose="02000503000000020004" pitchFamily="2" charset="-78"/>
                <a:cs typeface="Jameel Noori Nastaleeq" panose="02000503000000020004" pitchFamily="2" charset="-78"/>
              </a:rPr>
              <a:t>توریت اترنے سے پہلے تم فرماؤ توریت لاکر پڑھو اگر سچے ہو</a:t>
            </a:r>
            <a:endParaRPr lang="ur-PK" sz="3200" b="1" u="sng"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666463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271053"/>
            <a:ext cx="11808823" cy="5430193"/>
          </a:xfrm>
        </p:spPr>
        <p:txBody>
          <a:bodyPr>
            <a:normAutofit/>
          </a:bodyPr>
          <a:lstStyle/>
          <a:p>
            <a:pPr marL="0" indent="0" algn="r">
              <a:buNone/>
            </a:pPr>
            <a:r>
              <a:rPr lang="ur-PK" sz="3200" b="1" u="sng" dirty="0" smtClean="0">
                <a:latin typeface="Jameel Noori Nastaleeq" panose="02000503000000020004" pitchFamily="2" charset="-78"/>
                <a:ea typeface="Arial" charset="0"/>
                <a:cs typeface="Jameel Noori Nastaleeq" panose="02000503000000020004" pitchFamily="2" charset="-78"/>
              </a:rPr>
              <a:t>آلِ عمران:93</a:t>
            </a:r>
            <a:endParaRPr lang="en-US" sz="3200" b="1" u="sng" dirty="0" smtClean="0">
              <a:latin typeface="Jameel Noori Nastaleeq" panose="02000503000000020004" pitchFamily="2" charset="-78"/>
              <a:ea typeface="Arial" charset="0"/>
              <a:cs typeface="Jameel Noori Nastaleeq" panose="02000503000000020004" pitchFamily="2" charset="-78"/>
            </a:endParaRPr>
          </a:p>
          <a:p>
            <a:pPr marL="0" indent="0" algn="r" rtl="1">
              <a:buNone/>
            </a:pPr>
            <a:r>
              <a:rPr lang="ur-PK" sz="2400" b="1" u="sng" dirty="0" smtClean="0">
                <a:solidFill>
                  <a:srgbClr val="000000"/>
                </a:solidFill>
                <a:latin typeface="Jameel Noori Nastaleeq" panose="02000503000000020004" pitchFamily="2" charset="-78"/>
                <a:cs typeface="Jameel Noori Nastaleeq" panose="02000503000000020004" pitchFamily="2" charset="-78"/>
              </a:rPr>
              <a:t>شانِ نزول:</a:t>
            </a:r>
            <a:endParaRPr lang="en-US" sz="2400" b="1" u="sng" dirty="0" smtClean="0">
              <a:solidFill>
                <a:srgbClr val="000000"/>
              </a:solidFill>
              <a:latin typeface="Jameel Noori Nastaleeq" panose="02000503000000020004" pitchFamily="2" charset="-78"/>
              <a:cs typeface="Jameel Noori Nastaleeq" panose="02000503000000020004" pitchFamily="2" charset="-78"/>
            </a:endParaRPr>
          </a:p>
          <a:p>
            <a:pPr marL="0" indent="0" algn="r" rtl="1">
              <a:buNone/>
            </a:pPr>
            <a:r>
              <a:rPr lang="ur-PK" dirty="0" smtClean="0">
                <a:solidFill>
                  <a:srgbClr val="000000"/>
                </a:solidFill>
                <a:latin typeface="Jameel Noori Nastaleeq" panose="02000503000000020004" pitchFamily="2" charset="-78"/>
                <a:cs typeface="Jameel Noori Nastaleeq" panose="02000503000000020004" pitchFamily="2" charset="-78"/>
              </a:rPr>
              <a:t>تیسرے </a:t>
            </a:r>
            <a:r>
              <a:rPr lang="ur-PK" dirty="0">
                <a:solidFill>
                  <a:srgbClr val="000000"/>
                </a:solidFill>
                <a:latin typeface="Jameel Noori Nastaleeq" panose="02000503000000020004" pitchFamily="2" charset="-78"/>
                <a:cs typeface="Jameel Noori Nastaleeq" panose="02000503000000020004" pitchFamily="2" charset="-78"/>
              </a:rPr>
              <a:t>پارے کی آخری آیات میں حضرت ابراہیم (علیہ السلام) اور ان کے خاندان کا ذکر کرنے کے بعد فرمایا کہ ان کا دین یہی اسلام ہے۔ جو کوئی اسلام سے انحراف کرے گا اس سے کوئی دوسرا دین قبول نہ ہوگا۔ جس پر یہودیوں نے یہ اعتراض کیا کہ یہ نبی اور اس کے پیروکار اونٹ کا گوشت کھاتے ہیں</a:t>
            </a:r>
            <a:r>
              <a:rPr lang="ur-PK" dirty="0" smtClean="0">
                <a:solidFill>
                  <a:srgbClr val="000000"/>
                </a:solidFill>
                <a:latin typeface="Jameel Noori Nastaleeq" panose="02000503000000020004" pitchFamily="2" charset="-78"/>
                <a:cs typeface="Jameel Noori Nastaleeq" panose="02000503000000020004" pitchFamily="2" charset="-78"/>
              </a:rPr>
              <a:t>۔</a:t>
            </a:r>
            <a:r>
              <a:rPr lang="ur-PK" dirty="0">
                <a:latin typeface="Jameel Noori Nastaleeq" panose="02000503000000020004" pitchFamily="2" charset="-78"/>
                <a:cs typeface="Jameel Noori Nastaleeq" panose="02000503000000020004" pitchFamily="2" charset="-78"/>
              </a:rPr>
              <a:t> </a:t>
            </a:r>
            <a:r>
              <a:rPr lang="ur-PK" dirty="0" smtClean="0">
                <a:latin typeface="Jameel Noori Nastaleeq" panose="02000503000000020004" pitchFamily="2" charset="-78"/>
                <a:cs typeface="Jameel Noori Nastaleeq" panose="02000503000000020004" pitchFamily="2" charset="-78"/>
              </a:rPr>
              <a:t>حالانکہ </a:t>
            </a:r>
            <a:r>
              <a:rPr lang="ur-PK" dirty="0">
                <a:latin typeface="Jameel Noori Nastaleeq" panose="02000503000000020004" pitchFamily="2" charset="-78"/>
                <a:cs typeface="Jameel Noori Nastaleeq" panose="02000503000000020004" pitchFamily="2" charset="-78"/>
              </a:rPr>
              <a:t>یعقوب (علیہ السلام) پر اونٹ کا گوشت حرام تھا لہٰذا ملت ابراہیم پر ہم ہیں تم نہیں</a:t>
            </a:r>
            <a:r>
              <a:rPr lang="ur-PK" dirty="0" smtClean="0">
                <a:latin typeface="Jameel Noori Nastaleeq" panose="02000503000000020004" pitchFamily="2" charset="-78"/>
                <a:cs typeface="Jameel Noori Nastaleeq" panose="02000503000000020004" pitchFamily="2" charset="-78"/>
              </a:rPr>
              <a:t>۔</a:t>
            </a:r>
          </a:p>
          <a:p>
            <a:pPr marL="0" indent="0" algn="r" rtl="1">
              <a:buNone/>
            </a:pPr>
            <a:r>
              <a:rPr lang="ur-PK" b="1" dirty="0" smtClean="0">
                <a:latin typeface="Jameel Noori Nastaleeq" panose="02000503000000020004" pitchFamily="2" charset="-78"/>
                <a:cs typeface="Jameel Noori Nastaleeq" panose="02000503000000020004" pitchFamily="2" charset="-78"/>
              </a:rPr>
              <a:t>جواب:</a:t>
            </a:r>
            <a:endParaRPr lang="en-US" dirty="0" smtClean="0">
              <a:solidFill>
                <a:srgbClr val="000000"/>
              </a:solidFill>
              <a:latin typeface="Jameel Noori Nastaleeq" panose="02000503000000020004" pitchFamily="2" charset="-78"/>
              <a:cs typeface="Jameel Noori Nastaleeq" panose="02000503000000020004" pitchFamily="2" charset="-78"/>
            </a:endParaRPr>
          </a:p>
          <a:p>
            <a:pPr algn="r" rtl="1">
              <a:buFont typeface="Wingdings" panose="05000000000000000000" pitchFamily="2" charset="2"/>
              <a:buChar char="q"/>
            </a:pPr>
            <a:r>
              <a:rPr lang="ur-PK" dirty="0">
                <a:latin typeface="Jameel Noori Nastaleeq" panose="02000503000000020004" pitchFamily="2" charset="-78"/>
                <a:ea typeface="Arial" charset="0"/>
                <a:cs typeface="Jameel Noori Nastaleeq" panose="02000503000000020004" pitchFamily="2" charset="-78"/>
              </a:rPr>
              <a:t>یہاں اس اعتراض کا جواب دیا گیا ہے کہ تم جھوٹ بولتے ہو جبکہ اللہ کا فرمان سچا ہے۔ </a:t>
            </a:r>
            <a:br>
              <a:rPr lang="ur-PK" dirty="0">
                <a:latin typeface="Jameel Noori Nastaleeq" panose="02000503000000020004" pitchFamily="2" charset="-78"/>
                <a:ea typeface="Arial" charset="0"/>
                <a:cs typeface="Jameel Noori Nastaleeq" panose="02000503000000020004" pitchFamily="2" charset="-78"/>
              </a:rPr>
            </a:br>
            <a:r>
              <a:rPr lang="ur-PK" dirty="0">
                <a:latin typeface="Jameel Noori Nastaleeq" panose="02000503000000020004" pitchFamily="2" charset="-78"/>
                <a:ea typeface="Arial" charset="0"/>
                <a:cs typeface="Jameel Noori Nastaleeq" panose="02000503000000020004" pitchFamily="2" charset="-78"/>
              </a:rPr>
              <a:t>یہودیوں کا دعو ٰی ہے کہ حضرت یعقوب (علیہ السلام) پر اونٹ کا گوشت حرام تھا جس کی وجہ سے یہودی اونٹ کا گوشت نہیں کھاتے۔ حالانکہ حضرت یعقوب (علیہ السلام) کو عرق النساء کی تکلیف تھی۔ جس سے پوری ٹانگ میں ایک درد اٹھتا ہے بسا اوقات یہ تکلیف اس قدر بڑھ جاتی ہے کہ مریض کے لیے ٹانگ گھسیٹ کر چلنا بھی مشکل ہوجاتا ہے۔ حضرت یعقوب (علیہ السلام) نے اس تکلیف میں پرہیز کے طور پر اونٹ کا گوشت کھانا چھوڑ دیا تھا۔</a:t>
            </a:r>
            <a:endParaRPr lang="ur-PK" dirty="0" smtClean="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771519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271053"/>
            <a:ext cx="11808823" cy="5430193"/>
          </a:xfrm>
        </p:spPr>
        <p:txBody>
          <a:bodyPr>
            <a:normAutofit lnSpcReduction="10000"/>
          </a:bodyPr>
          <a:lstStyle/>
          <a:p>
            <a:pPr algn="r" rtl="1">
              <a:buFont typeface="Wingdings" panose="05000000000000000000" pitchFamily="2" charset="2"/>
              <a:buChar char="q"/>
            </a:pPr>
            <a:r>
              <a:rPr lang="ur-PK" dirty="0" smtClean="0">
                <a:latin typeface="Jameel Noori Nastaleeq" panose="02000503000000020004" pitchFamily="2" charset="-78"/>
                <a:ea typeface="Arial" charset="0"/>
                <a:cs typeface="Jameel Noori Nastaleeq" panose="02000503000000020004" pitchFamily="2" charset="-78"/>
              </a:rPr>
              <a:t>بعض </a:t>
            </a:r>
            <a:r>
              <a:rPr lang="ur-PK" dirty="0">
                <a:latin typeface="Jameel Noori Nastaleeq" panose="02000503000000020004" pitchFamily="2" charset="-78"/>
                <a:ea typeface="Arial" charset="0"/>
                <a:cs typeface="Jameel Noori Nastaleeq" panose="02000503000000020004" pitchFamily="2" charset="-78"/>
              </a:rPr>
              <a:t>مفسرین نے لکھا ہے کہ انہوں نے نذر مانی تھی کہ اللہ تعالیٰ نے شفا عطا فرمائی تو میں کھانے کی محبوب چیز ترک کر دوں گا۔ جس وجہ سے انہوں نے اونٹ کا گوشت کھانا چھوڑ دیا تھا۔ ان کی شریعت میں ایسی نذر جائز تھی۔ اسلام میں ایسا کرنا جائز نہیں ہے باوجود اس کے کہ حضرت یعقوب (علیہ السلام) پر اونٹ کا گوشت حلال تھا</a:t>
            </a:r>
            <a:r>
              <a:rPr lang="ur-PK" dirty="0" smtClean="0">
                <a:latin typeface="Jameel Noori Nastaleeq" panose="02000503000000020004" pitchFamily="2" charset="-78"/>
                <a:ea typeface="Arial" charset="0"/>
                <a:cs typeface="Jameel Noori Nastaleeq" panose="02000503000000020004" pitchFamily="2" charset="-78"/>
              </a:rPr>
              <a:t>۔</a:t>
            </a:r>
          </a:p>
          <a:p>
            <a:pPr algn="r" rtl="1">
              <a:buFont typeface="Wingdings" panose="05000000000000000000" pitchFamily="2" charset="2"/>
              <a:buChar char="q"/>
            </a:pPr>
            <a:r>
              <a:rPr lang="ur-PK" dirty="0" smtClean="0">
                <a:solidFill>
                  <a:srgbClr val="000000"/>
                </a:solidFill>
                <a:latin typeface="Jameel Noori Nastaleeq" panose="02000503000000020004" pitchFamily="2" charset="-78"/>
                <a:cs typeface="Jameel Noori Nastaleeq" panose="02000503000000020004" pitchFamily="2" charset="-78"/>
              </a:rPr>
              <a:t>یہودیوں </a:t>
            </a:r>
            <a:r>
              <a:rPr lang="ur-PK" dirty="0">
                <a:solidFill>
                  <a:srgbClr val="000000"/>
                </a:solidFill>
                <a:latin typeface="Jameel Noori Nastaleeq" panose="02000503000000020004" pitchFamily="2" charset="-78"/>
                <a:cs typeface="Jameel Noori Nastaleeq" panose="02000503000000020004" pitchFamily="2" charset="-78"/>
              </a:rPr>
              <a:t>نے اسے اپنے طور پر حرام قرار دے لیا۔ یہ حقیقت جاننے کے باوجود یہودی پروپیگنڈہ کیا کرتے تھے کہ یہ عجیب رسول ہے کہ جس نے اللہ تعالیٰ کی حرام کردہ چیزوں کو اپنے لیے حلال قرار دے دیا ہے۔ لہٰذا یہ نبی ابراہیم (علیہ السلام) کے خاندان اور ان کی ملّت کے خلاف ہے۔ اس الزام کی وضاحت اس طرح کی جارہی ہے کہ اللہ تعالیٰ نے ہر پاک اور حلال کھانا اس میں اونٹ کا گوشت بھی شامل ہے حضرت یعقوب (علیہ السلام) پر حلال اور جائز قرار دیا تھا۔ سوائے اس کے جو کھانا حضرت یعقوب (علیہ السلام) نے تورات نازل ہونے سے پہلے علاج کے طور پر اپنے لیے حرام قرار دے لیا تھا۔ </a:t>
            </a:r>
            <a:br>
              <a:rPr lang="ur-PK" dirty="0">
                <a:solidFill>
                  <a:srgbClr val="000000"/>
                </a:solidFill>
                <a:latin typeface="Jameel Noori Nastaleeq" panose="02000503000000020004" pitchFamily="2" charset="-78"/>
                <a:cs typeface="Jameel Noori Nastaleeq" panose="02000503000000020004" pitchFamily="2" charset="-78"/>
              </a:rPr>
            </a:br>
            <a:r>
              <a:rPr lang="ur-PK" dirty="0">
                <a:solidFill>
                  <a:srgbClr val="000000"/>
                </a:solidFill>
                <a:latin typeface="Jameel Noori Nastaleeq" panose="02000503000000020004" pitchFamily="2" charset="-78"/>
                <a:cs typeface="Jameel Noori Nastaleeq" panose="02000503000000020004" pitchFamily="2" charset="-78"/>
              </a:rPr>
              <a:t>انہیں فرمائیں اگر تورات میں اونٹ کا گوشت حرام کیا گیا ہے تو میرے سامنے تورات لا کر پڑھو۔ اگر تم اپنے دعوے میں سچے ہو۔ اتنے کھلے چیلنج کے باوجود آج تک کوئی یہودی اصلی توراۃ میں یہ بات نہیں دکھا سکا۔ لیکن پھر بھی یہودی دعو ٰی کیے جا رہے ہیں کہ اونٹ کا گوشت حضرت یعقوب (علیہ السلام) پر حرام تھا حالانکہ حضرت یعقوب (علیہ السلام) نزول تورات سے پہلے فوت ہوچکے تھے۔ پھر حلال و حرام کا اختیار صرف اللہ تعالیٰ کو حاصل ہے کوئی بھی نبی اللہ تعالیٰ کے حلال کو حرام اور حرام کو حلال نہیں کرسکتا۔ ] التحریم :1] </a:t>
            </a:r>
            <a:br>
              <a:rPr lang="ur-PK" dirty="0">
                <a:solidFill>
                  <a:srgbClr val="000000"/>
                </a:solidFill>
                <a:latin typeface="Jameel Noori Nastaleeq" panose="02000503000000020004" pitchFamily="2" charset="-78"/>
                <a:cs typeface="Jameel Noori Nastaleeq" panose="02000503000000020004" pitchFamily="2" charset="-78"/>
              </a:rPr>
            </a:br>
            <a:r>
              <a:rPr lang="ur-PK" dirty="0">
                <a:solidFill>
                  <a:srgbClr val="000000"/>
                </a:solidFill>
                <a:latin typeface="Jameel Noori Nastaleeq" panose="02000503000000020004" pitchFamily="2" charset="-78"/>
                <a:cs typeface="Jameel Noori Nastaleeq" panose="02000503000000020004" pitchFamily="2" charset="-78"/>
              </a:rPr>
              <a:t>البتہ بطور علاج یا کسی چیز کو کھانے پر طبیعت آمادہ نہ ہو تو اسے چھوڑنے میں کوئی گناہ نہیں۔ جس طرح رسول اللہ (ﷺ) کے سامنے ضب (گوہ) کا سالن رکھا گیا آپ نے اس طرف ہاتھ نہیں بڑھایا جب کہ بعض صحابہ آپ کے سامنے کھا رہے تھے۔ انہوں نے آپ (ﷺ) سے عرض کی کہ آپ کیوں نہیں تناول فرماتے ؟ آپ نے فرمایا میری قوم میں یہ نہیں ہوتی اس لیے میری طبیعت اسے کھانے پر آمادہ نہیں ہے۔</a:t>
            </a:r>
            <a:endParaRPr lang="ur-PK" dirty="0" smtClean="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188118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271053"/>
            <a:ext cx="11808823" cy="5430193"/>
          </a:xfrm>
        </p:spPr>
        <p:txBody>
          <a:bodyPr>
            <a:normAutofit/>
          </a:bodyPr>
          <a:lstStyle/>
          <a:p>
            <a:pPr algn="r" rtl="1">
              <a:buFont typeface="Wingdings" panose="05000000000000000000" pitchFamily="2" charset="2"/>
              <a:buChar char="ü"/>
            </a:pPr>
            <a:r>
              <a:rPr lang="ur-PK" b="1" dirty="0" smtClean="0">
                <a:latin typeface="Jameel Noori Nastaleeq" panose="02000503000000020004" pitchFamily="2" charset="-78"/>
                <a:ea typeface="Arial" charset="0"/>
                <a:cs typeface="Jameel Noori Nastaleeq" panose="02000503000000020004" pitchFamily="2" charset="-78"/>
              </a:rPr>
              <a:t>حدیث سے دلائل:</a:t>
            </a:r>
          </a:p>
          <a:p>
            <a:pPr marL="0" indent="0" algn="r" rtl="1">
              <a:buNone/>
            </a:pPr>
            <a:r>
              <a:rPr lang="ur-PK" dirty="0">
                <a:latin typeface="Jameel Noori Nastaleeq" panose="02000503000000020004" pitchFamily="2" charset="-78"/>
                <a:ea typeface="Arial" charset="0"/>
                <a:cs typeface="Jameel Noori Nastaleeq" panose="02000503000000020004" pitchFamily="2" charset="-78"/>
              </a:rPr>
              <a:t> حضرت عبداللہ بن عباس (رض) بیان کرتے ہیں رسول اللہ (ﷺ) کے پاس یہودیوں کے ایک گروہ نے آپ سے کہا اے ابو القاسم! ہم آپ سے کچھ سوال کرنا چاہتے ہیں جسے نبی کے علاوہ کوئی نہیں جانتا۔ ان سوالوں میں ایک سوال یہ تھا کہ وہ کون سا کھانا ہے جو یعقوب (علیہ السلام) نے تورات نازل ہونے سے پہلے اپنے آپ پر حرام کرلیا تھا آپ نے فرمایا : میں تمہیں اس اللہ کی قسم دے کر پوچھتاہوں جس نے موسیٰ (علیہ السلام) پر تورات نازل کی کہ تمہیں معلوم ہے کہ یعقوب (علیہ السلام) ہت زیادہ بیمار ہوگئے اور بیماری نے طوالت اختیار کی تو انہوں نے اللہ کے لیے نذر مانی کہ اگر اللہ تعالیٰ انہیں شفا یاب کرے گا۔ تو وہ اپنے آپ پرسب سے محبوب کھانا‘ پینا (چھوڑ) حرام کرلیں گے اور ان کا پسندیدہ کھانا اونٹ کا گوشت اور پینا اونٹوں کا دودھ تھا انہوں نے کہا ہاں اللہ کی قسم ایسے ہی ہے۔“ </a:t>
            </a:r>
            <a:r>
              <a:rPr lang="ur-PK" b="1" dirty="0">
                <a:latin typeface="Jameel Noori Nastaleeq" panose="02000503000000020004" pitchFamily="2" charset="-78"/>
                <a:ea typeface="Arial" charset="0"/>
                <a:cs typeface="Jameel Noori Nastaleeq" panose="02000503000000020004" pitchFamily="2" charset="-78"/>
              </a:rPr>
              <a:t/>
            </a:r>
            <a:br>
              <a:rPr lang="ur-PK" b="1" dirty="0">
                <a:latin typeface="Jameel Noori Nastaleeq" panose="02000503000000020004" pitchFamily="2" charset="-78"/>
                <a:ea typeface="Arial" charset="0"/>
                <a:cs typeface="Jameel Noori Nastaleeq" panose="02000503000000020004" pitchFamily="2" charset="-78"/>
              </a:rPr>
            </a:br>
            <a:r>
              <a:rPr lang="ur-PK" b="1" dirty="0">
                <a:latin typeface="Jameel Noori Nastaleeq" panose="02000503000000020004" pitchFamily="2" charset="-78"/>
                <a:ea typeface="Arial" charset="0"/>
                <a:cs typeface="Jameel Noori Nastaleeq" panose="02000503000000020004" pitchFamily="2" charset="-78"/>
              </a:rPr>
              <a:t>مسائل :</a:t>
            </a:r>
            <a:br>
              <a:rPr lang="ur-PK" b="1" dirty="0">
                <a:latin typeface="Jameel Noori Nastaleeq" panose="02000503000000020004" pitchFamily="2" charset="-78"/>
                <a:ea typeface="Arial" charset="0"/>
                <a:cs typeface="Jameel Noori Nastaleeq" panose="02000503000000020004" pitchFamily="2" charset="-78"/>
              </a:rPr>
            </a:br>
            <a:r>
              <a:rPr lang="ur-PK" b="1" dirty="0">
                <a:latin typeface="Jameel Noori Nastaleeq" panose="02000503000000020004" pitchFamily="2" charset="-78"/>
                <a:ea typeface="Arial" charset="0"/>
                <a:cs typeface="Jameel Noori Nastaleeq" panose="02000503000000020004" pitchFamily="2" charset="-78"/>
              </a:rPr>
              <a:t>1۔ حضرت یعقوب (علیہ السلام) پر ہر حلال چیز کھانا جائز تھی</a:t>
            </a:r>
            <a:r>
              <a:rPr lang="ur-PK" b="1" dirty="0" smtClean="0">
                <a:latin typeface="Jameel Noori Nastaleeq" panose="02000503000000020004" pitchFamily="2" charset="-78"/>
                <a:ea typeface="Arial" charset="0"/>
                <a:cs typeface="Jameel Noori Nastaleeq" panose="02000503000000020004" pitchFamily="2" charset="-78"/>
              </a:rPr>
              <a:t>۔</a:t>
            </a:r>
          </a:p>
          <a:p>
            <a:pPr marL="0" indent="0" algn="r" rtl="1">
              <a:buNone/>
            </a:pPr>
            <a:r>
              <a:rPr lang="ur-PK" b="1" dirty="0">
                <a:latin typeface="Jameel Noori Nastaleeq" panose="02000503000000020004" pitchFamily="2" charset="-78"/>
                <a:cs typeface="Jameel Noori Nastaleeq" panose="02000503000000020004" pitchFamily="2" charset="-78"/>
              </a:rPr>
              <a:t>2۔ بیماری کی وجہ سے حلال چیز کھانا چھوڑی جا سکتی </a:t>
            </a:r>
            <a:r>
              <a:rPr lang="ur-PK" b="1" dirty="0" smtClean="0">
                <a:latin typeface="Jameel Noori Nastaleeq" panose="02000503000000020004" pitchFamily="2" charset="-78"/>
                <a:cs typeface="Jameel Noori Nastaleeq" panose="02000503000000020004" pitchFamily="2" charset="-78"/>
              </a:rPr>
              <a:t>ہے</a:t>
            </a:r>
          </a:p>
          <a:p>
            <a:pPr marL="0" indent="0" algn="r" rtl="1">
              <a:buNone/>
            </a:pPr>
            <a:r>
              <a:rPr lang="ur-PK" b="1" dirty="0">
                <a:latin typeface="Jameel Noori Nastaleeq" panose="02000503000000020004" pitchFamily="2" charset="-78"/>
                <a:cs typeface="Jameel Noori Nastaleeq" panose="02000503000000020004" pitchFamily="2" charset="-78"/>
              </a:rPr>
              <a:t>3۔ یہودیوں پر جانوروں کی چربی حرام کردی گئی تھی۔</a:t>
            </a:r>
            <a:endParaRPr lang="ur-PK" b="1" dirty="0" smtClean="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227884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195942" y="1271053"/>
            <a:ext cx="11808823" cy="5064433"/>
          </a:xfrm>
        </p:spPr>
        <p:txBody>
          <a:bodyPr>
            <a:normAutofit/>
          </a:bodyPr>
          <a:lstStyle/>
          <a:p>
            <a:pPr marL="0" indent="0" algn="r">
              <a:buNone/>
            </a:pPr>
            <a:r>
              <a:rPr lang="ur-PK" sz="3200" b="1" u="sng" dirty="0" smtClean="0">
                <a:latin typeface="Jameel Noori Nastaleeq" panose="02000503000000020004" pitchFamily="2" charset="-78"/>
                <a:ea typeface="Arial" charset="0"/>
                <a:cs typeface="Jameel Noori Nastaleeq" panose="02000503000000020004" pitchFamily="2" charset="-78"/>
              </a:rPr>
              <a:t>آلِ عمران:94</a:t>
            </a:r>
          </a:p>
          <a:p>
            <a:pPr marL="0" indent="0" algn="ctr" rtl="1">
              <a:buNone/>
            </a:pPr>
            <a:r>
              <a:rPr lang="ur-PK" b="1" dirty="0">
                <a:solidFill>
                  <a:srgbClr val="333333"/>
                </a:solidFill>
                <a:latin typeface="Al Qalam Quran Majeed Web" panose="02010000000000000000" pitchFamily="2" charset="-78"/>
                <a:cs typeface="Al Qalam Quran Majeed Web" panose="02010000000000000000" pitchFamily="2" charset="-78"/>
              </a:rPr>
              <a:t>فَمَنِ افْتَرٰى عَلَى اللّٰهِ الْكَذِبَ مِنْۢ بَعْدِ ذٰلِكَ فَاُولٰٓىٕكَ هُمُ </a:t>
            </a:r>
            <a:r>
              <a:rPr lang="ur-PK" b="1" dirty="0" smtClean="0">
                <a:solidFill>
                  <a:srgbClr val="333333"/>
                </a:solidFill>
                <a:latin typeface="Al Qalam Quran Majeed Web" panose="02010000000000000000" pitchFamily="2" charset="-78"/>
                <a:cs typeface="Al Qalam Quran Majeed Web" panose="02010000000000000000" pitchFamily="2" charset="-78"/>
              </a:rPr>
              <a:t>الظّٰلِمُوْنَ</a:t>
            </a:r>
          </a:p>
          <a:p>
            <a:pPr marL="0" indent="0" algn="r" rtl="1">
              <a:buNone/>
            </a:pPr>
            <a:r>
              <a:rPr lang="ur-PK" b="1" u="sng" dirty="0" smtClean="0">
                <a:latin typeface="Jameel Noori Nastaleeq" panose="02000503000000020004" pitchFamily="2" charset="-78"/>
                <a:cs typeface="Jameel Noori Nastaleeq" panose="02000503000000020004" pitchFamily="2" charset="-78"/>
              </a:rPr>
              <a:t>ترجمہ:</a:t>
            </a:r>
          </a:p>
          <a:p>
            <a:pPr marL="0" indent="0" algn="ctr">
              <a:buNone/>
            </a:pPr>
            <a:r>
              <a:rPr lang="ur-PK" dirty="0">
                <a:latin typeface="Jameel Noori Nastaleeq" panose="02000503000000020004" pitchFamily="2" charset="-78"/>
                <a:cs typeface="Jameel Noori Nastaleeq" panose="02000503000000020004" pitchFamily="2" charset="-78"/>
              </a:rPr>
              <a:t>تو اس کے بعد جو اللہ پر جھوٹ باندھے تو وہی ظالم ہیں۔</a:t>
            </a:r>
            <a:endParaRPr lang="ur-PK" sz="3200" b="1" u="sng"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800129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19163-209C-4AAC-9D0B-A21627686F3E}"/>
              </a:ext>
            </a:extLst>
          </p:cNvPr>
          <p:cNvSpPr>
            <a:spLocks noGrp="1"/>
          </p:cNvSpPr>
          <p:nvPr>
            <p:ph idx="1"/>
          </p:nvPr>
        </p:nvSpPr>
        <p:spPr>
          <a:xfrm>
            <a:off x="1162594" y="1169597"/>
            <a:ext cx="10045337" cy="5647777"/>
          </a:xfrm>
        </p:spPr>
        <p:txBody>
          <a:bodyPr>
            <a:noAutofit/>
          </a:bodyPr>
          <a:lstStyle/>
          <a:p>
            <a:pPr marL="0" indent="0" algn="ctr">
              <a:buNone/>
            </a:pPr>
            <a:endParaRPr lang="ur-PK" sz="2400" dirty="0" smtClean="0">
              <a:latin typeface="Jameel Noori Nastaleeq" panose="02000503000000000004" pitchFamily="2" charset="-78"/>
              <a:cs typeface="Jameel Noori Nastaleeq" panose="02000503000000000004" pitchFamily="2" charset="-78"/>
            </a:endParaRPr>
          </a:p>
          <a:p>
            <a:pPr marL="0" indent="0" algn="ctr">
              <a:buNone/>
            </a:pPr>
            <a:endParaRPr lang="ur-PK" sz="2400" dirty="0">
              <a:latin typeface="Jameel Noori Nastaleeq" panose="02000503000000000004" pitchFamily="2" charset="-78"/>
              <a:cs typeface="Jameel Noori Nastaleeq" panose="02000503000000000004" pitchFamily="2" charset="-78"/>
            </a:endParaRPr>
          </a:p>
          <a:p>
            <a:pPr marL="0" indent="0" algn="ctr">
              <a:buNone/>
            </a:pPr>
            <a:endParaRPr lang="ur-PK" sz="2400" dirty="0" smtClean="0">
              <a:latin typeface="Jameel Noori Nastaleeq" panose="02000503000000000004" pitchFamily="2" charset="-78"/>
              <a:cs typeface="Jameel Noori Nastaleeq" panose="02000503000000000004" pitchFamily="2" charset="-78"/>
            </a:endParaRPr>
          </a:p>
          <a:p>
            <a:pPr marL="0" indent="0" algn="ctr">
              <a:buNone/>
            </a:pPr>
            <a:endParaRPr lang="ur-PK" sz="2400" dirty="0">
              <a:latin typeface="Jameel Noori Nastaleeq" panose="02000503000000000004" pitchFamily="2" charset="-78"/>
              <a:cs typeface="Jameel Noori Nastaleeq" panose="02000503000000000004" pitchFamily="2" charset="-78"/>
            </a:endParaRPr>
          </a:p>
          <a:p>
            <a:pPr marL="0" indent="0" algn="ctr">
              <a:buNone/>
            </a:pPr>
            <a:endParaRPr lang="ur-PK" sz="2400" dirty="0" smtClean="0">
              <a:latin typeface="Jameel Noori Nastaleeq" panose="02000503000000000004" pitchFamily="2" charset="-78"/>
              <a:cs typeface="Jameel Noori Nastaleeq" panose="02000503000000000004" pitchFamily="2" charset="-78"/>
            </a:endParaRPr>
          </a:p>
          <a:p>
            <a:pPr marL="0" indent="0" algn="ctr">
              <a:buNone/>
            </a:pPr>
            <a:r>
              <a:rPr lang="en-US" sz="6600" dirty="0" smtClean="0">
                <a:latin typeface="Georgia" panose="02040502050405020303" pitchFamily="18" charset="0"/>
                <a:cs typeface="Jameel Noori Nastaleeq" panose="02000503000000000004" pitchFamily="2" charset="-78"/>
              </a:rPr>
              <a:t>Thank you</a:t>
            </a:r>
            <a:endParaRPr lang="ur-PK" sz="6600" dirty="0">
              <a:latin typeface="Georgia" panose="02040502050405020303" pitchFamily="18" charset="0"/>
              <a:cs typeface="Jameel Noori Nastaleeq" panose="02000503000000000004" pitchFamily="2" charset="-78"/>
            </a:endParaRPr>
          </a:p>
        </p:txBody>
      </p:sp>
      <p:grpSp>
        <p:nvGrpSpPr>
          <p:cNvPr id="8" name="Group 7">
            <a:extLst>
              <a:ext uri="{FF2B5EF4-FFF2-40B4-BE49-F238E27FC236}">
                <a16:creationId xmlns:a16="http://schemas.microsoft.com/office/drawing/2014/main" id="{3DB829FF-4C37-46B6-B4E2-5F205C614DC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7866F03-AB28-4076-A101-C05ED291683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CFF2093B-3FF1-45E4-8236-0C753316ADF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9BF863EB-B7C4-4845-A157-7BB371E924B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86F0B4C8-CC62-4891-9C99-B146F4A850B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818007ED-0B2B-42D8-9394-014EC0497A35}"/>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26482E21-91A3-466E-88F0-0149ECFB73F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BBDC86F-ED38-4A71-B98D-BFBFB34B9A3B}"/>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54098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2168</TotalTime>
  <Words>1032</Words>
  <Application>Microsoft Office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Al Qalam Quran Majeed Web</vt:lpstr>
      <vt:lpstr>Al Qalam Quran Majeed Web2_D</vt:lpstr>
      <vt:lpstr>Al_Mushaf</vt:lpstr>
      <vt:lpstr>Al-Qalam-V1</vt:lpstr>
      <vt:lpstr>Arial</vt:lpstr>
      <vt:lpstr>Calibri</vt:lpstr>
      <vt:lpstr>Calibri Light</vt:lpstr>
      <vt:lpstr>Georgia</vt:lpstr>
      <vt:lpstr>Jameel Noori Nastaleeq</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Kalsoom Akhtar</cp:lastModifiedBy>
  <cp:revision>265</cp:revision>
  <dcterms:created xsi:type="dcterms:W3CDTF">2024-06-21T09:49:54Z</dcterms:created>
  <dcterms:modified xsi:type="dcterms:W3CDTF">2025-02-25T05:10:54Z</dcterms:modified>
</cp:coreProperties>
</file>